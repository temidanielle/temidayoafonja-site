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8" r:id="rId7"/>
    <p:sldId id="260" r:id="rId9"/>
    <p:sldId id="259" r:id="rId8"/>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y="6858000" cx="12192000"/>
  <p:notesSz cx="6858000" cy="12192000"/>
  <p:embeddedFontLst>
    <p:embeddedFont>
      <p:font typeface="Cormorant Garamond"/>
      <p:regular r:id="rId52"/>
      <p:bold r:id="rId53"/>
      <p:italic r:id="rId54"/>
      <p:boldItalic r:id="rId55"/>
    </p:embeddedFont>
    <p:embeddedFont>
      <p:font typeface="Montserrat"/>
      <p:regular r:id="rId56"/>
      <p:bold r:id="rId57"/>
      <p:italic r:id="rId58"/>
      <p:boldItalic r:id="rId59"/>
    </p:embeddedFont>
    <p:embeddedFont>
      <p:font typeface="DM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4" roundtripDataSignature="AMtx7mg2fbYQZBg08h8m86bdTf8sIg6l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font" Target="fonts/CormorantGaramond-regular.fntdata"/><Relationship Id="rId53" Type="http://schemas.openxmlformats.org/officeDocument/2006/relationships/font" Target="fonts/CormorantGaramond-bold.fntdata"/><Relationship Id="rId54" Type="http://schemas.openxmlformats.org/officeDocument/2006/relationships/font" Target="fonts/CormorantGaramond-italic.fntdata"/><Relationship Id="rId55" Type="http://schemas.openxmlformats.org/officeDocument/2006/relationships/font" Target="fonts/CormorantGaramond-boldItalic.fntdata"/><Relationship Id="rId56" Type="http://schemas.openxmlformats.org/officeDocument/2006/relationships/font" Target="fonts/Montserrat-regular.fntdata"/><Relationship Id="rId57" Type="http://schemas.openxmlformats.org/officeDocument/2006/relationships/font" Target="fonts/Montserrat-bold.fntdata"/><Relationship Id="rId58" Type="http://schemas.openxmlformats.org/officeDocument/2006/relationships/font" Target="fonts/Montserrat-italic.fntdata"/><Relationship Id="rId59" Type="http://schemas.openxmlformats.org/officeDocument/2006/relationships/font" Target="fonts/Montserrat-boldItalic.fntdata"/><Relationship Id="rId60" Type="http://schemas.openxmlformats.org/officeDocument/2006/relationships/font" Target="fonts/DMSans-regular.fntdata"/><Relationship Id="rId61" Type="http://schemas.openxmlformats.org/officeDocument/2006/relationships/font" Target="fonts/DMSans-bold.fntdata"/><Relationship Id="rId62" Type="http://schemas.openxmlformats.org/officeDocument/2006/relationships/font" Target="fonts/DMSans-italic.fntdata"/><Relationship Id="rId63" Type="http://schemas.openxmlformats.org/officeDocument/2006/relationships/font" Target="fonts/DMSans-boldItalic.fntdata"/><Relationship Id="rId6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HOLDING SLIDE. 0:00–0:45. Segment 0–8.</a:t>
            </a:r>
            <a:br/>
            <a:br/>
            <a:r>
              <a:t>Hold while people arrive. Do not open with the framework. Open with the room you were in.</a:t>
            </a:r>
            <a:br/>
            <a:br/>
            <a:r>
              <a:t>The eighteen years and the programme figures belong in the spoken introduction only, framed as where the vantage comes from. They are never proof that a Capability Formation score moves.</a:t>
            </a:r>
            <a:br/>
            <a:br/>
            <a:r>
              <a:t>PRE-SESSION INSTRUMENT VERSION CHECK: confirm before the room opens that the deck, the workbook and the Field Kit all read Capability Formation Instrument Version 1.1. If any asset reads a different version, stop and reconcile before delivery. Data from different versions does not merge. (The opening-story script carries its own document version number; that is not an instrument version and does not need to match.)</a:t>
            </a:r>
            <a:br/>
            <a:br/>
            <a:r>
              <a:t>Ask the room as people join: who has already taken the Diagnostic? Those people rescore against the evidence protocol rather than recalling their previous number.</a:t>
            </a:r>
            <a:br/>
            <a:br/>
            <a:r>
              <a:t>RECORDING BOUNDARY: if recording, capture teaching segments only. Live scoring, participant discussion, voluntary reads and working time are never recorded. State this out loud before you start.</a:t>
            </a:r>
            <a:br/>
            <a:br/>
            <a:r>
              <a:t>Learner action: none.</a:t>
            </a: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f66acc603b_2_0:notes"/>
          <p:cNvSpPr/>
          <p:nvPr>
            <p:ph idx="2" type="sldImg"/>
          </p:nvPr>
        </p:nvSpPr>
        <p:spPr>
          <a:xfrm>
            <a:off x="685727" y="114303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g3f66acc603b_2_0:notes"/>
          <p:cNvSpPr txBox="1"/>
          <p:nvPr>
            <p:ph idx="1" type="body"/>
          </p:nvPr>
        </p:nvSpPr>
        <p:spPr>
          <a:xfrm>
            <a:off x="685800" y="4400667"/>
            <a:ext cx="5486400" cy="3600600"/>
          </a:xfrm>
          <a:prstGeom prst="rect">
            <a:avLst/>
          </a:prstGeom>
          <a:noFill/>
          <a:ln>
            <a:noFill/>
          </a:ln>
        </p:spPr>
        <p:txBody>
          <a:bodyPr anchorCtr="0" anchor="t" bIns="45700" lIns="91425" spcFirstLastPara="1" rIns="91425" wrap="square" tIns="45700">
            <a:noAutofit/>
          </a:bodyPr>
          <a:lstStyle/>
          <a:p>
            <a:r>
              <a:t>OPTIONAL — HIDDEN PRE-SESSION / PRODUCER SLIDE. Not part of the timed 0-8 live opening and does not count toward opening timing; the deck advances from Title directly into Welcome. Use only before the live session begins (informal room-reading while people arrive) or as a producer/facilitator prompt outside the timed sequence.</a:t>
            </a:r>
          </a:p>
          <a:p>
            <a:r>
              <a:t>WHAT TO SAY (if used pre-session): Put the poll in chat or use Maven/Zoom polling. Ask people to choose the nearest reason, not explain.</a:t>
            </a:r>
          </a:p>
          <a:p>
            <a:r>
              <a:t>TRAINER NOTE: This gives you the room without turning the session into personal consulting. Mention the top two patterns only if visible. Do not analyze individual answers.</a:t>
            </a:r>
          </a:p>
        </p:txBody>
      </p:sp>
      <p:sp>
        <p:nvSpPr>
          <p:cNvPr id="42" name="Google Shape;42;g3f66acc603b_2_0:notes"/>
          <p:cNvSpPr txBox="1"/>
          <p:nvPr>
            <p:ph idx="12" type="sldNum"/>
          </p:nvPr>
        </p:nvSpPr>
        <p:spPr>
          <a:xfrm>
            <a:off x="3884613" y="8685445"/>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2:15 to 3:15. BOUNDARY.</a:t>
            </a:r>
            <a:br/>
            <a:br/>
            <a:r>
              <a:t>Say the top line verbatim. People who came for permission to resign need to hear now that they will not get it here. People afraid of being told to leave need the same sentence.</a:t>
            </a:r>
            <a:br/>
            <a:br/>
            <a:r>
              <a:t>Say the promise sentence exactly as written: this read helps you determine what your current environment is building in you, what remains portable, and what category of move your evidence supports testing. Do not paraphrase it into "what kind of move the evidence supports" or "the move your position requires".</a:t>
            </a:r>
            <a:br/>
            <a:br/>
            <a:r>
              <a:t>State the recording boundary out loud even if you are not recording. It buys candour for the rest of the session.</a:t>
            </a:r>
            <a:br/>
            <a:br/>
            <a:r>
              <a:t>Safety language to keep available all session: state is not identity, exposure is not ability, current conditions are not a permanent verdict.</a:t>
            </a:r>
            <a:br/>
            <a:br/>
            <a:r>
              <a:t>Learner action: none. Workbook page 2 carries the same wording.</a:t>
            </a:r>
            <a:br/>
            <a:br/>
            <a:r>
              <a:t>[v4.11 — moved from slide face] What you score today is a position you occupy, and positions change. You will leave with a provisional read of your current state and the category of move your evidence supports testing. The specific move needs a read of context a group room does not have. Recording: teaching segments only; scoring, discussion and writing time are never recorded.</a:t>
            </a: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0:00 to 3:00, inside the 0–8 segment. THE OPENING STORY. Spoken, never read from the screen. Company unnamed.</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Deliver only the cleared wording. All four previously held beats are now confirmed for delivery: the exact public title and responsibilities, what was tested about portability outside the company, what was made deliberately visible to people with hiring or advancement power outside the company, and what became clear only after the role ended. The Story Evidence Table holds the line-by-line basis and status.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GOVERNING FRAME. The four facts were real; the reading of what they protected was incomplete. Deliver them as things she believed, at the time, were evidence of security — not as things that objectively made the position secure. The correction is about the reading, not the facts.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TONE: reflective in substance, restrained in delivery. Findings, not feelings. Short sentences. Not aggrieved, not therapeutic, not vindicating. If it sounds like processing rather than teaching, it has drifted.</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BEATS: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Eighteen years on the institutional side: development reviews, promotion slates, restructuring lists.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remit: first person appointed into the remit and its sole holder. True of both the original global remit and the employee experience and belonging remit that followed. Describe the remit in general terms; do not name the title.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four reasons she believed the position was secure, said plainly and in order, without building them into a case: she was the first and sole holder of the remit; executives trusted her judgment and asked for her read; her results and reviews were strong; the work was tied to commitments the organisation had made internally and publicly. Say them as what she believed made it secure, not as proof that it was.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event, flat and once: “In March 2026, a reorganisation absorbed the function I led.” Do not pause for effect.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correction, said exactly: “Every one of those facts was still true when the role ended. None could prevent a structural decision.” and “My performance had shaped my standing. It had not insulated the role from a change in structure.” Do not say “not one of them was protective” and do not say security had never come from performance.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turn: eighteen years of knowing how institutions read people did not produce a clear reading of her own position; you cannot see the outside of a building you are standing inside.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VERBATIM: “The room reads your position whether or not you have.”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name the company; name individuals; allege motive; describe internal deliberations she did not attend; claim knowledge of alternatives considered, why the timing occurred, whether performance affected the decision, or whether the commitments were sincere; mention severance, negotiation or anyone else affected; diagnose which of the four states she was in; use grievance language.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ASKED WHICH COMPANY: “I keep the company out of it. The point is not who did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carries the authority load of the session, because retention, turnover and effectiveness figures are barred from serving as evidence that a Capability Formation score moves.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the room goes quiet after the close, let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none.</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3:15 to 4:15. THE VANTAGE.</a:t>
            </a:r>
            <a:br/>
            <a:br/>
            <a:r>
              <a:t>Section 4 of the Field Kit, compressed. It establishes authority without a single statistic.</a:t>
            </a:r>
            <a:br/>
            <a:br/>
            <a:r>
              <a:t>Say the four questions slowly. Let the room notice that the performance rating is not among them.</a:t>
            </a:r>
            <a:br/>
            <a:br/>
            <a:r>
              <a:t>DO NOT say these four questions are Density and Optionality. They are not. A person can be hard to replace because of undocumented process, company-specific knowledge, weak succession, bottleneck ownership or plain institutional dependency, and none of that means the environment is still forming deeper capability. Replaceability is not Density. Say the closing line as written.</a:t>
            </a:r>
            <a:br/>
            <a:br/>
            <a:r>
              <a:t>Transition line into the next slide is on the slide: the room reads your position whether or not you have.</a:t>
            </a:r>
            <a:br/>
            <a:br/>
            <a:r>
              <a:t>Learner action: none.</a:t>
            </a:r>
            <a:br/>
            <a:br/>
            <a:r>
              <a:t>[v4.11 — moved from slide face] Full framing: these are questions institutional rooms often weigh; Density and Optionality read the formation and portability questions underneath them.</a:t>
            </a: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4:15 to 5:15. THE REFRAME. This is the category-creation moment.</a:t>
            </a:r>
            <a:br/>
            <a:br/>
            <a:r>
              <a:t>Do not disparage the stay-or-move question and do not tell the room they arrived with the wrong question. It is the right question. Honour it, then show the reading that sits under it.</a:t>
            </a:r>
            <a:br/>
            <a:br/>
            <a:r>
              <a:t>Say it as: you are not wrong to be asking whether to stay. You are asking it without a reading of the position you would be staying in or leaving.</a:t>
            </a:r>
            <a:br/>
            <a:br/>
            <a:r>
              <a:t>Likely resistance: someone wants a yes or no today. Name that openly and point back at the boundary slide by name.</a:t>
            </a:r>
            <a:br/>
            <a:br/>
            <a:r>
              <a:t>Learner action: none.</a:t>
            </a:r>
            <a:br/>
            <a:br/>
            <a:r>
              <a:t>[v4.11 — moved from slide face] It also outlasts whatever is in the headlines: this reads your position against the category of disruption rather than the current episode.</a:t>
            </a:r>
          </a:p>
          <a:p>
            <a:r>
              <a:t>CATEGORY DIFFERENTIATOR (say once, here — do not repeat elsewhere in the session): "Most career programs begin after you decide to leave. This workshop helps you determine whether leaving is even the right question." Say it plainly, without disparaging other programs, and move directly into Orientation.</a:t>
            </a: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5:15 to 6:30. ORIENTATION.</a:t>
            </a:r>
            <a:br/>
            <a:br/>
            <a:r>
              <a:t>Telling them the sequence lowers resistance to being corrected later.</a:t>
            </a:r>
            <a:br/>
            <a:br/>
            <a:r>
              <a:t>Say the number twelve out loud, twice. The full instrument is administered live on both passes. There is no proxy subset in this session.</a:t>
            </a:r>
            <a:br/>
            <a:br/>
            <a:r>
              <a:t>Likely misconception: the first score is the answer. Say plainly that the first score is raw material and the second one is the reading.</a:t>
            </a:r>
            <a:br/>
            <a:br/>
            <a:r>
              <a:t>Learner action: none. Workbook page 2.</a:t>
            </a:r>
            <a:br/>
            <a:br/>
            <a:r>
              <a:t>[v4.11 — moved from slide face] Framing for the first number: it is the reading you would have carried into a decision this week.</a:t>
            </a:r>
            <a:br/>
            <a:br/>
            <a:r>
              <a:t>[v4.11 — moved from slide face] Your first number is not a test you can fail. The word for what happens in between is calibration.</a:t>
            </a:r>
          </a:p>
        </p:txBody>
      </p:sp>
      <p:sp>
        <p:nvSpPr>
          <p:cNvPr id="142" name="Google Shape;14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6:30 to 8:00. OUTCOME. Closes the opening segment before Density and Optionality begin at minute 8.</a:t>
            </a:r>
          </a:p>
          <a:p>
            <a:r>
              <a:t>WHAT TO SAY: Read the five items plainly, in order. Do not editorialize or add a sixth promise. Let "by minute 105" land — it is a specific, checkable claim, not a motivational estimate.</a:t>
            </a:r>
          </a:p>
          <a:p>
            <a:r>
              <a:t>WHAT NOT TO SAY: Do not promise the process will be easy or comfortable. Do not promise a specific state or move category — that is what the session produces, not what it guarantees in advance.</a:t>
            </a:r>
          </a:p>
          <a:p>
            <a:r>
              <a:t>PARTICIPANT ACTION: None yet. Orienting to the session's shape before the instrument begins.</a:t>
            </a:r>
          </a:p>
          <a:p>
            <a:r>
              <a:t>TRANSITION: Say the closing line on the slide as written, then move directly into Density and Optionality.</a:t>
            </a:r>
          </a:p>
        </p:txBody>
      </p:sp>
      <p:sp>
        <p:nvSpPr>
          <p:cNvPr id="166" name="Google Shape;16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THEN CORRECT THE DEFINITION, THEN SCORE.</a:t>
            </a:r>
            <a:br>
              <a:rPr lang="en-US"/>
            </a:br>
            <a:br>
              <a:rPr lang="en-US"/>
            </a:br>
            <a:r>
              <a:rPr lang="en-US"/>
              <a:t>The definitional correction runs before the first score. If people score first and are corrected second, they defend the first number.</a:t>
            </a:r>
            <a:br>
              <a:rPr lang="en-US"/>
            </a:br>
            <a:br>
              <a:rPr lang="en-US"/>
            </a:br>
            <a:r>
              <a:rPr lang="en-US"/>
              <a:t>Name the misconception out loud the first time you say the word.</a:t>
            </a:r>
            <a:br>
              <a:rPr lang="en-US"/>
            </a:br>
            <a:br>
              <a:rPr lang="en-US"/>
            </a:br>
            <a:r>
              <a:rPr lang="en-US"/>
              <a:t>Learner action: none yet.</a:t>
            </a:r>
            <a:endParaRPr/>
          </a:p>
        </p:txBody>
      </p:sp>
      <p:sp>
        <p:nvSpPr>
          <p:cNvPr id="194" name="Google Shape;1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CORRECT, THEN SCORE.</a:t>
            </a:r>
            <a:br>
              <a:rPr lang="en-US"/>
            </a:br>
            <a:br>
              <a:rPr lang="en-US"/>
            </a:br>
            <a:r>
              <a:rPr lang="en-US"/>
              <a:t>The misconception here is quieter than the Density one. People hear Optionality as recruiter interest. Correct it before scoring.</a:t>
            </a:r>
            <a:br>
              <a:rPr lang="en-US"/>
            </a:br>
            <a:br>
              <a:rPr lang="en-US"/>
            </a:br>
            <a:r>
              <a:rPr lang="en-US"/>
              <a:t>Useful line: an offer is an outcome of Optionality, not a measure of it.</a:t>
            </a:r>
            <a:br>
              <a:rPr lang="en-US"/>
            </a:br>
            <a:br>
              <a:rPr lang="en-US"/>
            </a:br>
            <a:r>
              <a:rPr lang="en-US"/>
              <a:t>Learner action: none yet.</a:t>
            </a:r>
            <a:br>
              <a:rPr lang="en-US"/>
            </a:br>
            <a:br>
              <a:rPr lang="en-US"/>
            </a:br>
            <a:r>
              <a:rPr lang="en-US"/>
              <a:t>[v4.11 — moved from slide face] Optionality is whether you could rebuild elsewhere, and whether the right people can already see why.</a:t>
            </a:r>
            <a:endParaRPr/>
          </a:p>
        </p:txBody>
      </p:sp>
      <p:sp>
        <p:nvSpPr>
          <p:cNvPr id="212" name="Google Shape;21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BRIEF LIVE APPLICATION. Sixty to ninety seconds, taken from the definition block, not added to the session length.</a:t>
            </a:r>
            <a:br>
              <a:rPr lang="en-US"/>
            </a:br>
            <a:br>
              <a:rPr lang="en-US"/>
            </a:br>
            <a:r>
              <a:rPr lang="en-US"/>
              <a:t>Say both sentences and stop. Do not open a discussion about tools here; if one starts, park it for the appendix or Q&amp;A.</a:t>
            </a:r>
            <a:br>
              <a:rPr lang="en-US"/>
            </a:br>
            <a:br>
              <a:rPr lang="en-US"/>
            </a:br>
            <a:r>
              <a:rPr lang="en-US"/>
              <a:t>DO NOT: recommend AI tools, teach prompting, name vendors, or use future-proofing language. This is an application of Density and Optionality, and it stays inside that frame.</a:t>
            </a:r>
            <a:br>
              <a:rPr lang="en-US"/>
            </a:br>
            <a:br>
              <a:rPr lang="en-US"/>
            </a:br>
            <a:r>
              <a:rPr lang="en-US"/>
              <a:t>The appendix slide carries the fuller treatment. Workbook page 25 carries the take-home prompt.</a:t>
            </a:r>
            <a:br>
              <a:rPr lang="en-US"/>
            </a:br>
            <a:br>
              <a:rPr lang="en-US"/>
            </a:br>
            <a:r>
              <a:rPr lang="en-US"/>
              <a:t>Learner action: none.</a:t>
            </a:r>
            <a:br>
              <a:rPr lang="en-US"/>
            </a:br>
            <a:br>
              <a:rPr lang="en-US"/>
            </a:br>
            <a:r>
              <a:rPr lang="en-US"/>
              <a:t>[v4.11 — moved from slide face] That is a reason to read the two axes carefully; it is not a separate score.</a:t>
            </a:r>
            <a:endParaRPr/>
          </a:p>
        </p:txBody>
      </p:sp>
      <p:sp>
        <p:nvSpPr>
          <p:cNvPr id="230" name="Google Shape;2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ONE OF FOUR. Roughly two and a half minutes.</a:t>
            </a:r>
            <a:br>
              <a:rPr lang="en-US"/>
            </a:br>
            <a:br>
              <a:rPr lang="en-US"/>
            </a:br>
            <a:r>
              <a:rPr lang="en-US"/>
              <a:t>DO NOT ASK FOR EVIDENCE. This is the uncalibrated baseline and the evidence protocol has not been taught yet. Asking for evidence here collapses the entire two-pass design.</a:t>
            </a:r>
            <a:br>
              <a:rPr lang="en-US"/>
            </a:br>
            <a:br>
              <a:rPr lang="en-US"/>
            </a:br>
            <a:r>
              <a:rPr lang="en-US"/>
              <a:t>DO NOT SIGNAL that the numbers are about to change. No "we'll see how accurate that was", no knowing smile. The baseline is contaminated the moment the room expects to be corrected.</a:t>
            </a:r>
            <a:br>
              <a:rPr lang="en-US"/>
            </a:br>
            <a:br>
              <a:rPr lang="en-US"/>
            </a:br>
            <a:r>
              <a:rPr lang="en-US"/>
              <a:t>If asked whether they should justify a score: "Not yet. Score it as you read it. We will come back to evidence, and you will keep this number."</a:t>
            </a:r>
            <a:br>
              <a:rPr lang="en-US"/>
            </a:br>
            <a:br>
              <a:rPr lang="en-US"/>
            </a:br>
            <a:r>
              <a:rPr lang="en-US"/>
              <a:t>Learner action: score statements 1 to 3 on workbook page 4. Scores stay private.</a:t>
            </a:r>
            <a:br>
              <a:rPr lang="en-US"/>
            </a:br>
            <a:br>
              <a:rPr lang="en-US"/>
            </a:br>
            <a:r>
              <a:rPr lang="en-US"/>
              <a:t>Resist filling the silence.</a:t>
            </a:r>
            <a:endParaRPr/>
          </a:p>
        </p:txBody>
      </p:sp>
      <p:sp>
        <p:nvSpPr>
          <p:cNvPr id="247" name="Google Shape;24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TWO OF FOUR. Roughly two and a half minutes.</a:t>
            </a:r>
            <a:br>
              <a:rPr lang="en-US"/>
            </a:br>
            <a:br>
              <a:rPr lang="en-US"/>
            </a:br>
            <a:r>
              <a:rPr lang="en-US"/>
              <a:t>Statement 6 asks them to compare against six months ago. Some will want to argue with the window. Hold it: the window is what keeps hope out of the number.</a:t>
            </a:r>
            <a:br>
              <a:rPr lang="en-US"/>
            </a:br>
            <a:br>
              <a:rPr lang="en-US"/>
            </a:br>
            <a:r>
              <a:rPr lang="en-US"/>
              <a:t>Still no evidence lines.</a:t>
            </a:r>
            <a:br>
              <a:rPr lang="en-US"/>
            </a:br>
            <a:br>
              <a:rPr lang="en-US"/>
            </a:br>
            <a:r>
              <a:rPr lang="en-US"/>
              <a:t>Learner action: score statements 4 to 6 on workbook page 4.</a:t>
            </a:r>
            <a:endParaRPr/>
          </a:p>
        </p:txBody>
      </p:sp>
      <p:sp>
        <p:nvSpPr>
          <p:cNvPr id="269" name="Google Shape;2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Canonical axis score out of thirty. No fifteen-point subtotal exists in this build.</a:t>
            </a:r>
            <a:br>
              <a:rPr lang="en-US"/>
            </a:br>
            <a:br>
              <a:rPr lang="en-US"/>
            </a:br>
            <a:r>
              <a:rPr lang="en-US"/>
              <a:t>Do not collect these numbers. Private scoring produces more honest numbers.</a:t>
            </a:r>
            <a:br>
              <a:rPr lang="en-US"/>
            </a:br>
            <a:br>
              <a:rPr lang="en-US"/>
            </a:br>
            <a:r>
              <a:rPr lang="en-US"/>
              <a:t>If someone is on a laptop in Acrobat Reader, the total fills itself. If they are in a browser or on a phone, the fields still type but the total may not calculate; tell them to add the six by hand and keep going. Do not spend live time on viewer support.</a:t>
            </a:r>
            <a:br>
              <a:rPr lang="en-US"/>
            </a:br>
            <a:br>
              <a:rPr lang="en-US"/>
            </a:br>
            <a:r>
              <a:rPr lang="en-US"/>
              <a:t>Learner action: total six scores, write it down. Workbook page 4.</a:t>
            </a:r>
            <a:br>
              <a:rPr lang="en-US"/>
            </a:br>
            <a:br>
              <a:rPr lang="en-US"/>
            </a:br>
            <a:r>
              <a:rPr lang="en-US"/>
              <a:t>[v4.11 — moved from slide face] You will produce a second number later, on a different standard.</a:t>
            </a:r>
            <a:endParaRPr/>
          </a:p>
        </p:txBody>
      </p:sp>
      <p:sp>
        <p:nvSpPr>
          <p:cNvPr id="291" name="Google Shape;29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THREE OF FOUR. Roughly two and a half minutes.</a:t>
            </a:r>
            <a:br>
              <a:rPr lang="en-US"/>
            </a:br>
            <a:br>
              <a:rPr lang="en-US"/>
            </a:br>
            <a:r>
              <a:rPr lang="en-US"/>
              <a:t>Still no evidence lines.</a:t>
            </a:r>
            <a:br>
              <a:rPr lang="en-US"/>
            </a:br>
            <a:br>
              <a:rPr lang="en-US"/>
            </a:br>
            <a:r>
              <a:rPr lang="en-US"/>
              <a:t>Learner action: score statements 7 to 9 on workbook page 5.</a:t>
            </a:r>
            <a:endParaRPr/>
          </a:p>
        </p:txBody>
      </p:sp>
      <p:sp>
        <p:nvSpPr>
          <p:cNvPr id="309" name="Google Shape;3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FOUR OF FOUR. Roughly two and a half minutes.</a:t>
            </a:r>
            <a:br>
              <a:rPr lang="en-US"/>
            </a:br>
            <a:br>
              <a:rPr lang="en-US"/>
            </a:br>
            <a:r>
              <a:rPr lang="en-US"/>
              <a:t>Do not characterise which statements commonly move. You have no pilot data and a stated expectation contaminates the result.</a:t>
            </a:r>
            <a:br>
              <a:rPr lang="en-US"/>
            </a:br>
            <a:br>
              <a:rPr lang="en-US"/>
            </a:br>
            <a:r>
              <a:rPr lang="en-US"/>
              <a:t>Learner action: score statements 10 to 12 on workbook page 5.</a:t>
            </a:r>
            <a:endParaRPr/>
          </a:p>
        </p:txBody>
      </p:sp>
      <p:sp>
        <p:nvSpPr>
          <p:cNvPr id="331" name="Google Shape;33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a:t>
            </a:r>
            <a:br>
              <a:rPr lang="en-US"/>
            </a:br>
            <a:br>
              <a:rPr lang="en-US"/>
            </a:br>
            <a:r>
              <a:rPr lang="en-US"/>
              <a:t>That closing line matters. The first placement is not a warm-up; it is a record of the position they walked in with.</a:t>
            </a:r>
            <a:br>
              <a:rPr lang="en-US"/>
            </a:br>
            <a:br>
              <a:rPr lang="en-US"/>
            </a:br>
            <a:r>
              <a:rPr lang="en-US"/>
              <a:t>Learner action: total six scores. Workbook page 5.</a:t>
            </a:r>
            <a:endParaRPr/>
          </a:p>
        </p:txBody>
      </p:sp>
      <p:sp>
        <p:nvSpPr>
          <p:cNvPr id="353" name="Google Shape;35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a:t>
            </a:r>
            <a:br>
              <a:rPr lang="en-US"/>
            </a:br>
            <a:br>
              <a:rPr lang="en-US"/>
            </a:br>
            <a:r>
              <a:rPr lang="en-US"/>
              <a:t>The subtitle is the load-bearing sentence and it is deliberately not a claim about causation. Say it as written: your current state reveals a form of exposure your job title cannot. Do not say that your state determines your exposure.</a:t>
            </a:r>
            <a:br>
              <a:rPr lang="en-US"/>
            </a:br>
            <a:br>
              <a:rPr lang="en-US"/>
            </a:br>
            <a:r>
              <a:rPr lang="en-US"/>
              <a:t>Do not celebrate Compounding. The Field Kit case for that state is a person who thought it had nothing to tell them and was being passed over.</a:t>
            </a:r>
            <a:br>
              <a:rPr lang="en-US"/>
            </a:br>
            <a:br>
              <a:rPr lang="en-US"/>
            </a:br>
            <a:r>
              <a:rPr lang="en-US"/>
              <a:t>Learner action: none. Recognition should be quiet here.</a:t>
            </a:r>
            <a:endParaRPr/>
          </a:p>
        </p:txBody>
      </p:sp>
      <p:sp>
        <p:nvSpPr>
          <p:cNvPr id="371" name="Google Shape;37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PSYCHOLOGICAL SAFETY AND THE NINE-BOX. NEVER CUT UNDER TIME PRESSURE.</a:t>
            </a:r>
            <a:br>
              <a:rPr lang="en-US"/>
            </a:br>
            <a:br>
              <a:rPr lang="en-US"/>
            </a:br>
            <a:r>
              <a:rPr lang="en-US"/>
              <a:t>Every experienced participant has been rated on performance against potential in a talent review. A two-by-two with four named quadrants gets pattern-matched to that grid silently unless you kill the association out loud. Say the top line verbatim.</a:t>
            </a:r>
            <a:br>
              <a:rPr lang="en-US"/>
            </a:br>
            <a:br>
              <a:rPr lang="en-US"/>
            </a:br>
            <a:r>
              <a:rPr lang="en-US"/>
              <a:t>The fourth panel is load-bearing in Version 1.1. The two-pass design creates a risk the old design did not: participants concluding their first read was naive. Say it out loud. "Uncalibrated is not the same as wrong."</a:t>
            </a:r>
            <a:br>
              <a:rPr lang="en-US"/>
            </a:br>
            <a:br>
              <a:rPr lang="en-US"/>
            </a:br>
            <a:r>
              <a:rPr lang="en-US"/>
              <a:t>Expand each panel from the workbook wording on page 6; the slide carries the headline only.</a:t>
            </a:r>
            <a:br>
              <a:rPr lang="en-US"/>
            </a:br>
            <a:br>
              <a:rPr lang="en-US"/>
            </a:br>
            <a:r>
              <a:rPr lang="en-US"/>
              <a:t>ON THE OPTIONALITY PANEL, say it as written: a low Optionality score may reflect context-bound capability, weak translation, limited exposure, or a combination. It is not a verdict on ability or worth. Do NOT say it measures who has seen the work. Visibility alone does not create portability, and reducing the axis to visibility misreads half of it.</a:t>
            </a:r>
            <a:br>
              <a:rPr lang="en-US"/>
            </a:br>
            <a:br>
              <a:rPr lang="en-US"/>
            </a:br>
            <a:r>
              <a:rPr lang="en-US"/>
              <a:t>Someone in this room is about to discover that a successful role has stopped forming them. This slide is what keeps that discovery useful instead of shaming.</a:t>
            </a:r>
            <a:br>
              <a:rPr lang="en-US"/>
            </a:br>
            <a:br>
              <a:rPr lang="en-US"/>
            </a:br>
            <a:r>
              <a:rPr lang="en-US"/>
              <a:t>Learner action: none. Workbook page 6.</a:t>
            </a:r>
            <a:br>
              <a:rPr lang="en-US"/>
            </a:br>
            <a:br>
              <a:rPr lang="en-US"/>
            </a:br>
            <a:r>
              <a:rPr lang="en-US"/>
              <a:t>[v4.11 — moved from slide face] Fuller wording of the four distinctions is on workbook page 6 (safety page). State is not identity; people move between squares. A low Optionality score is not a verdict on ability or worth. Your first score is uncalibrated, not wrong.</a:t>
            </a:r>
            <a:endParaRPr/>
          </a:p>
        </p:txBody>
      </p:sp>
      <p:sp>
        <p:nvSpPr>
          <p:cNvPr id="399" name="Google Shape;3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FIRST PLACEMENT. Ninety seconds.</a:t>
            </a:r>
            <a:br>
              <a:rPr lang="en-US"/>
            </a:br>
            <a:br>
              <a:rPr lang="en-US"/>
            </a:br>
            <a:r>
              <a:rPr lang="en-US"/>
              <a:t>ROOM-LEVEL COUNT, ANONYMOUS: run the four-square count through the anonymous method chosen and tested before the room opened. Never a show of hands, never a one-word response. The session promises private scoring, and a public reveal breaks that promise first for the person whose square nobody else is in.</a:t>
            </a:r>
            <a:br>
              <a:rPr lang="en-US"/>
            </a:br>
            <a:br>
              <a:rPr lang="en-US"/>
            </a:br>
            <a:r>
              <a:rPr lang="en-US"/>
              <a:t>Capture anonymized totals only. Do not record who is in which square.</a:t>
            </a:r>
            <a:br>
              <a:rPr lang="en-US"/>
            </a:br>
            <a:br>
              <a:rPr lang="en-US"/>
            </a:br>
            <a:r>
              <a:rPr lang="en-US"/>
              <a:t>Do NOT interpret the distribution and do NOT say one square is usually heavier.</a:t>
            </a:r>
            <a:br>
              <a:rPr lang="en-US"/>
            </a:br>
            <a:br>
              <a:rPr lang="en-US"/>
            </a:br>
            <a:r>
              <a:rPr lang="en-US"/>
              <a:t>Make sure they write the confidence number. It is easy to skip, and it is one of the things the second placement is compared against.</a:t>
            </a:r>
            <a:br>
              <a:rPr lang="en-US"/>
            </a:br>
            <a:br>
              <a:rPr lang="en-US"/>
            </a:br>
            <a:r>
              <a:rPr lang="en-US"/>
              <a:t>Say "provisional" out loud. Say "you will do this again" out loud. It is what stops the first placement being heard as the verdict.</a:t>
            </a:r>
            <a:br>
              <a:rPr lang="en-US"/>
            </a:br>
            <a:br>
              <a:rPr lang="en-US"/>
            </a:br>
            <a:r>
              <a:rPr lang="en-US"/>
              <a:t>Spoken line, not on the slide: small changes matter more near a boundary by construction, because a one-point move can cross the band.</a:t>
            </a:r>
            <a:br>
              <a:rPr lang="en-US"/>
            </a:br>
            <a:br>
              <a:rPr lang="en-US"/>
            </a:br>
            <a:r>
              <a:rPr lang="en-US"/>
              <a:t>Learner action: tick a square, write a confidence number. Workbook page 7.</a:t>
            </a:r>
            <a:br>
              <a:rPr lang="en-US"/>
            </a:br>
            <a:br>
              <a:rPr lang="en-US"/>
            </a:br>
            <a:r>
              <a:rPr lang="en-US"/>
              <a:t>Record the initial four-square count silently. Do not display, chart, or read out the initial state distribution until after the corrected placement.</a:t>
            </a:r>
            <a:br>
              <a:rPr lang="en-US"/>
            </a:br>
            <a:br>
              <a:rPr lang="en-US"/>
            </a:br>
            <a:r>
              <a:rPr lang="en-US"/>
              <a:t>[v4.11 — moved from slide face] Confidence is one number beside the square; it is compared against the second placement.</a:t>
            </a:r>
            <a:endParaRPr/>
          </a:p>
        </p:txBody>
      </p:sp>
      <p:sp>
        <p:nvSpPr>
          <p:cNvPr id="419" name="Google Shape;41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31 to 33. STAGED RELEASE OF PART B. Allow two minutes for release, opening and navigation; do not treat it as instant.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Release Part B only after every first placement and confidence number in the room is complete. The first reading is only worth something if it was made before calibration was taught.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Tell the room to keep Part A open: they will need their initial Density and Optionality totals, their initial state, and their initial confidence to compare against later.</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two-hour calendar block is the binding constraint. The current designed core is 105 minutes, inside a two-hour calendar block. The final 15 minutes are reserved for Q&amp;A and applications.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open the second file (Part B).</a:t>
            </a:r>
            <a:endParaRPr/>
          </a:p>
        </p:txBody>
      </p:sp>
      <p:sp>
        <p:nvSpPr>
          <p:cNvPr id="449" name="Google Shape;44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CALIBRATION SEGMENT OPENS.</a:t>
            </a:r>
            <a:br>
              <a:rPr lang="en-US"/>
            </a:br>
            <a:br>
              <a:rPr lang="en-US"/>
            </a:br>
            <a:r>
              <a:rPr lang="en-US"/>
              <a:t>Frame this as a competence problem rather than an honesty problem. Nobody in the room is lying. The instrument is simply hard to point at yourself.</a:t>
            </a:r>
            <a:br>
              <a:rPr lang="en-US"/>
            </a:br>
            <a:br>
              <a:rPr lang="en-US"/>
            </a:br>
            <a:r>
              <a:rPr lang="en-US"/>
              <a:t>Say what is coming: the evidence protocol, three misreadings, then they score all twelve again.</a:t>
            </a:r>
            <a:endParaRPr/>
          </a:p>
        </p:txBody>
      </p:sp>
      <p:sp>
        <p:nvSpPr>
          <p:cNvPr id="463" name="Google Shape;46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PROTOCOL. Read aloud BEFORE the second pass, never before the first.</a:t>
            </a:r>
            <a:br>
              <a:rPr lang="en-US"/>
            </a:br>
            <a:br>
              <a:rPr lang="en-US"/>
            </a:br>
            <a:r>
              <a:rPr lang="en-US"/>
              <a:t>This is where the old asymmetric rule died. Do NOT say "a 3 or higher without an instance drops to a 2" and do NOT say "a 1 or 2 needs no defence". Both are withdrawn under Instrument Version 1.1. They manufactured downward movement and contradicted the fact that capable people underrate themselves.</a:t>
            </a:r>
            <a:br>
              <a:rPr lang="en-US"/>
            </a:br>
            <a:br>
              <a:rPr lang="en-US"/>
            </a:br>
            <a:r>
              <a:rPr lang="en-US"/>
              <a:t>SAY THE LOW-SCORE SENTENCE OUT LOUD: "A low score needs evidence too. If you are going to write a 2, I want to know what happened instead. Otherwise you are not being rigorous, you are being modest, and modesty is not a reading."</a:t>
            </a:r>
            <a:br>
              <a:rPr lang="en-US"/>
            </a:br>
            <a:br>
              <a:rPr lang="en-US"/>
            </a:br>
            <a:r>
              <a:rPr lang="en-US"/>
              <a:t>SAY THE MARKER SENTENCE OUT LOUD: "You are not scoring a three because you do not know. A three means mixed. A question mark means unsupported. Those are different findings."</a:t>
            </a:r>
            <a:br>
              <a:rPr lang="en-US"/>
            </a:br>
            <a:br>
              <a:rPr lang="en-US"/>
            </a:br>
            <a:r>
              <a:rPr lang="en-US"/>
              <a:t>Participants need permission for the question mark BEFORE they start, or they round down to look rigorous, which reproduces the exact artefact the old rule created.</a:t>
            </a:r>
            <a:br>
              <a:rPr lang="en-US"/>
            </a:br>
            <a:br>
              <a:rPr lang="en-US"/>
            </a:br>
            <a:r>
              <a:rPr lang="en-US"/>
              <a:t>One question mark only, and it stays inside the 1 to 5 scale. The workbook will not accept 0?, 6?, or two question marks.</a:t>
            </a:r>
            <a:br>
              <a:rPr lang="en-US"/>
            </a:br>
            <a:br>
              <a:rPr lang="en-US"/>
            </a:br>
            <a:r>
              <a:rPr lang="en-US"/>
              <a:t>Say the consequences: one or two marked items on an axis makes the placement provisional and triggers the neighbouring-score sensitivity check. Three or more and that axis is incomplete today.</a:t>
            </a:r>
            <a:br>
              <a:rPr lang="en-US"/>
            </a:br>
            <a:br>
              <a:rPr lang="en-US"/>
            </a:br>
            <a:r>
              <a:rPr lang="en-US"/>
              <a:t>Learner action: none yet. Protocol only. Workbook page 9.</a:t>
            </a:r>
            <a:endParaRPr/>
          </a:p>
        </p:txBody>
      </p:sp>
      <p:sp>
        <p:nvSpPr>
          <p:cNvPr id="481" name="Google Shape;48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ONE.</a:t>
            </a:r>
            <a:br>
              <a:rPr lang="en-US"/>
            </a:br>
            <a:br>
              <a:rPr lang="en-US"/>
            </a:br>
            <a:r>
              <a:rPr lang="en-US"/>
              <a:t>Read the wrong version in the voice of someone being reasonable, because they are. These examples are deliberately different from the ones in the Field Kit, so owners are not shown material they already bought.</a:t>
            </a:r>
            <a:br>
              <a:rPr lang="en-US"/>
            </a:br>
            <a:br>
              <a:rPr lang="en-US"/>
            </a:br>
            <a:r>
              <a:rPr lang="en-US"/>
              <a:t>Note the corrected version carries an evidence line for the LOW score too. Under Instrument Version 1.1 a 2 has to be defended like anything else. Model that out loud.</a:t>
            </a:r>
            <a:br>
              <a:rPr lang="en-US"/>
            </a:br>
            <a:br>
              <a:rPr lang="en-US"/>
            </a:br>
            <a:r>
              <a:rPr lang="en-US"/>
              <a:t>Ask: how many of you scored a plan rather than a fact? Do not predict the number of hands.</a:t>
            </a:r>
            <a:br>
              <a:rPr lang="en-US"/>
            </a:br>
            <a:br>
              <a:rPr lang="en-US"/>
            </a:br>
            <a:r>
              <a:rPr lang="en-US"/>
              <a:t>Learner action: mark any statement they now want to rescore.</a:t>
            </a:r>
            <a:br>
              <a:rPr lang="en-US"/>
            </a:br>
            <a:br>
              <a:rPr lang="en-US"/>
            </a:br>
            <a:r>
              <a:rPr lang="en-US"/>
              <a:t>[v4.11 — moved from slide face] Full corrected read (narrate): the evidence line says no qualifying instance in the window; it changes when the rotation does.</a:t>
            </a:r>
            <a:endParaRPr/>
          </a:p>
        </p:txBody>
      </p:sp>
      <p:sp>
        <p:nvSpPr>
          <p:cNvPr id="501" name="Google Shape;5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TWO.</a:t>
            </a:r>
            <a:br>
              <a:rPr lang="en-US"/>
            </a:br>
            <a:br>
              <a:rPr lang="en-US"/>
            </a:br>
            <a:r>
              <a:rPr lang="en-US"/>
              <a:t>Give this misreading time. Do not rush past it and do not soften it.</a:t>
            </a:r>
            <a:br>
              <a:rPr lang="en-US"/>
            </a:br>
            <a:br>
              <a:rPr lang="en-US"/>
            </a:br>
            <a:r>
              <a:rPr lang="en-US"/>
              <a:t>Safety line if needed: being needed by an environment is a real achievement. It is simply a different fact from being strengthened by it.</a:t>
            </a:r>
            <a:br>
              <a:rPr lang="en-US"/>
            </a:br>
            <a:br>
              <a:rPr lang="en-US"/>
            </a:br>
            <a:r>
              <a:rPr lang="en-US"/>
              <a:t>The promotion application follows immediately and belongs to this misreading. Keep the two together and take the time for both out of this block, not out of the rescore.</a:t>
            </a:r>
            <a:br>
              <a:rPr lang="en-US"/>
            </a:br>
            <a:br>
              <a:rPr lang="en-US"/>
            </a:br>
            <a:r>
              <a:rPr lang="en-US"/>
              <a:t>Learner action: mark statements to rescore.</a:t>
            </a:r>
            <a:br>
              <a:rPr lang="en-US"/>
            </a:br>
            <a:br>
              <a:rPr lang="en-US"/>
            </a:br>
            <a:r>
              <a:rPr lang="en-US"/>
              <a:t>[v4.11 — moved from slide face] Full example (narrate): named to the steering committee; nobody has called the work merely adequate in two years.</a:t>
            </a:r>
            <a:endParaRPr/>
          </a:p>
        </p:txBody>
      </p:sp>
      <p:sp>
        <p:nvSpPr>
          <p:cNvPr id="520" name="Google Shape;52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APPLICATION OF MISREADING TWO. Ninety seconds, taken from this block.</a:t>
            </a:r>
            <a:br>
              <a:rPr lang="en-US"/>
            </a:br>
            <a:br>
              <a:rPr lang="en-US"/>
            </a:br>
            <a:r>
              <a:rPr lang="en-US"/>
              <a:t>DO NOT claim that promotion produces Stagnation. What this describes is a possible fall in Density. Stagnant is a state on two axes, and nothing here reads Optionality at all. Someone whose Density falls after promotion while their Optionality stays high is not Stagnant, and only their own two totals can say where they are.</a:t>
            </a:r>
            <a:br>
              <a:rPr lang="en-US"/>
            </a:br>
            <a:br>
              <a:rPr lang="en-US"/>
            </a:br>
            <a:r>
              <a:rPr lang="en-US"/>
              <a:t>Title the moment as written: why promotion can stop forming a high performer. Say the guard sentence on the slide out loud.</a:t>
            </a:r>
            <a:br>
              <a:rPr lang="en-US"/>
            </a:br>
            <a:br>
              <a:rPr lang="en-US"/>
            </a:br>
            <a:r>
              <a:rPr lang="en-US"/>
              <a:t>If a recently promoted participant reacts, hold the frame: this is a question to score, not a diagnosis. Statement 1 and statement 5 are where it shows up.</a:t>
            </a:r>
            <a:br>
              <a:rPr lang="en-US"/>
            </a:br>
            <a:br>
              <a:rPr lang="en-US"/>
            </a:br>
            <a:r>
              <a:rPr lang="en-US"/>
              <a:t>This is an application of Density, not a new concept and not a career-course module.</a:t>
            </a:r>
            <a:br>
              <a:rPr lang="en-US"/>
            </a:br>
            <a:br>
              <a:rPr lang="en-US"/>
            </a:br>
            <a:r>
              <a:rPr lang="en-US"/>
              <a:t>Learner action: none live. Workbook page 25 after the session.</a:t>
            </a:r>
            <a:endParaRPr/>
          </a:p>
        </p:txBody>
      </p:sp>
      <p:sp>
        <p:nvSpPr>
          <p:cNvPr id="539" name="Google Shape;53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THREE.</a:t>
            </a:r>
            <a:br>
              <a:rPr lang="en-US"/>
            </a:br>
            <a:br>
              <a:rPr lang="en-US"/>
            </a:br>
            <a:r>
              <a:rPr lang="en-US"/>
              <a:t>This one prevents damage. A capable person reading a low number as a verdict is the failure mode of the whole instrument.</a:t>
            </a:r>
            <a:br>
              <a:rPr lang="en-US"/>
            </a:br>
            <a:br>
              <a:rPr lang="en-US"/>
            </a:br>
            <a:r>
              <a:rPr lang="en-US"/>
              <a:t>This is also where the symmetric protocol earns its keep: both versions score a 2, but only one of them has evidence under it. The number did not change. The reading did.</a:t>
            </a:r>
            <a:br>
              <a:rPr lang="en-US"/>
            </a:br>
            <a:br>
              <a:rPr lang="en-US"/>
            </a:br>
            <a:r>
              <a:rPr lang="en-US"/>
              <a:t>Learner action: mark statements to rescore.</a:t>
            </a:r>
            <a:endParaRPr/>
          </a:p>
        </p:txBody>
      </p:sp>
      <p:sp>
        <p:nvSpPr>
          <p:cNvPr id="556" name="Google Shape;55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ACCUMULATED ARGUMENT.</a:t>
            </a:r>
            <a:br>
              <a:rPr lang="en-US"/>
            </a:br>
            <a:br>
              <a:rPr lang="en-US"/>
            </a:br>
            <a:r>
              <a:rPr lang="en-US"/>
              <a:t>The whole map lands here in one piece rather than being dripped in before the first score. The first score is taken cold, on the protocol alone. That is what makes the second score a correction rather than a suggestion.</a:t>
            </a:r>
            <a:br>
              <a:rPr lang="en-US"/>
            </a:br>
            <a:br>
              <a:rPr lang="en-US"/>
            </a:br>
            <a:r>
              <a:rPr lang="en-US"/>
              <a:t>Read the entering belief, pause, ask who recognises it, then reveal. Never read both columns of a pair in sequence.</a:t>
            </a:r>
            <a:br>
              <a:rPr lang="en-US"/>
            </a:br>
            <a:br>
              <a:rPr lang="en-US"/>
            </a:br>
            <a:r>
              <a:rPr lang="en-US"/>
              <a:t>Hold the finished slide for fifteen seconds without speaking before you move to the rescore. The map does the persuading.</a:t>
            </a:r>
            <a:br>
              <a:rPr lang="en-US"/>
            </a:br>
            <a:br>
              <a:rPr lang="en-US"/>
            </a:br>
            <a:r>
              <a:rPr lang="en-US"/>
              <a:t>Learner action: none. Read it. Workbook page 10.</a:t>
            </a:r>
            <a:endParaRPr/>
          </a:p>
        </p:txBody>
      </p:sp>
      <p:sp>
        <p:nvSpPr>
          <p:cNvPr id="575" name="Google Shape;57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48 to 64. PASS TWO. SIXTEEN MINUTES. THE EVIDENTIARY CENTRE. NEVER CUT.</a:t>
            </a:r>
            <a:br>
              <a:rPr lang="en-US"/>
            </a:br>
            <a:br>
              <a:rPr lang="en-US"/>
            </a:br>
            <a:r>
              <a:rPr lang="en-US"/>
              <a:t>This is the segment to protect if you are running late. Compress the state-cost segment and the voluntary reads first, never this.</a:t>
            </a:r>
            <a:br>
              <a:rPr lang="en-US"/>
            </a:br>
            <a:br>
              <a:rPr lang="en-US"/>
            </a:br>
            <a:r>
              <a:rPr lang="en-US"/>
              <a:t>Abbreviated protocol only. Do not re-teach it.</a:t>
            </a:r>
            <a:br>
              <a:rPr lang="en-US"/>
            </a:br>
            <a:br>
              <a:rPr lang="en-US"/>
            </a:br>
            <a:r>
              <a:rPr lang="en-US"/>
              <a:t>EMPHASISE: do not erase the first number. The pair is the data.</a:t>
            </a:r>
            <a:br>
              <a:rPr lang="en-US"/>
            </a:br>
            <a:br>
              <a:rPr lang="en-US"/>
            </a:br>
            <a:r>
              <a:rPr lang="en-US"/>
              <a:t>Say the neutral formulation verbatim. Do not tell them their numbers are about to move, do not say most people change, do not predict quadrant changes.</a:t>
            </a:r>
            <a:br>
              <a:rPr lang="en-US"/>
            </a:br>
            <a:br>
              <a:rPr lang="en-US"/>
            </a:br>
            <a:r>
              <a:rPr lang="en-US"/>
              <a:t>Anyone who arrived having already taken the Diagnostic rescores against the protocol rather than recalling their previous number.</a:t>
            </a:r>
            <a:br>
              <a:rPr lang="en-US"/>
            </a:br>
            <a:br>
              <a:rPr lang="en-US"/>
            </a:br>
            <a:r>
              <a:rPr lang="en-US"/>
              <a:t>Some participants will find several items where the instance is not immediately available. That is where the time goes, and it is the right place for it to go. Do not state a number.</a:t>
            </a:r>
            <a:br>
              <a:rPr lang="en-US"/>
            </a:br>
            <a:br>
              <a:rPr lang="en-US"/>
            </a:br>
            <a:r>
              <a:rPr lang="en-US"/>
              <a:t>Learner action: rescore all twelve with evidence lines on workbook pages 12 to 15, keep both numbers, mark what cannot be supported.</a:t>
            </a:r>
            <a:br>
              <a:rPr lang="en-US"/>
            </a:br>
            <a:br>
              <a:rPr lang="en-US"/>
            </a:br>
            <a:r>
              <a:rPr lang="en-US"/>
              <a:t>[v4.11 — moved from slide face] After scoring, you compare your first and corrected readings and examine what, if anything, moved.</a:t>
            </a:r>
            <a:endParaRPr/>
          </a:p>
        </p:txBody>
      </p:sp>
      <p:sp>
        <p:nvSpPr>
          <p:cNvPr id="602" name="Google Shape;60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SECOND PLACEMENT. NEVER CUT.</a:t>
            </a:r>
            <a:br>
              <a:rPr lang="en-US"/>
            </a:br>
            <a:br>
              <a:rPr lang="en-US"/>
            </a:br>
            <a:r>
              <a:rPr lang="en-US"/>
              <a:t>Say the word "re-total" out loud. Participants otherwise carry the first number forward without noticing.</a:t>
            </a:r>
            <a:br>
              <a:rPr lang="en-US"/>
            </a:br>
            <a:br>
              <a:rPr lang="en-US"/>
            </a:br>
            <a:r>
              <a:rPr lang="en-US"/>
              <a:t>If any axis carries a question mark, the next slide runs before they place. Do not let a marked axis be placed without the neighbouring-score sensitivity check.</a:t>
            </a:r>
            <a:br>
              <a:rPr lang="en-US"/>
            </a:br>
            <a:br>
              <a:rPr lang="en-US"/>
            </a:br>
            <a:r>
              <a:rPr lang="en-US"/>
              <a:t>ROOM-LEVEL COUNT, ANONYMOUS: corrected confidence distribution and the four-square count again, through the anonymous method, as totals only.</a:t>
            </a:r>
            <a:br>
              <a:rPr lang="en-US"/>
            </a:br>
            <a:br>
              <a:rPr lang="en-US"/>
            </a:br>
            <a:r>
              <a:rPr lang="en-US"/>
              <a:t>DO NOT ask what moved until the placement is complete. That is the sequence rule and breaking it invalidates the movement counts.</a:t>
            </a:r>
            <a:br>
              <a:rPr lang="en-US"/>
            </a:br>
            <a:br>
              <a:rPr lang="en-US"/>
            </a:br>
            <a:r>
              <a:rPr lang="en-US"/>
              <a:t>Learner action: re-total, place again, record corrected confidence and date. Workbook page 16.</a:t>
            </a:r>
            <a:endParaRPr/>
          </a:p>
        </p:txBody>
      </p:sp>
      <p:sp>
        <p:nvSpPr>
          <p:cNvPr id="628" name="Google Shape;62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THE UNCERTAINTY PROCEDURE. NEVER CUT.</a:t>
            </a:r>
            <a:br>
              <a:rPr lang="en-US"/>
            </a:br>
            <a:br>
              <a:rPr lang="en-US"/>
            </a:br>
            <a:r>
              <a:rPr lang="en-US"/>
              <a:t>NAME IT: the neighbouring-score sensitivity check. Use that name every time, in the room and in the workbook.</a:t>
            </a:r>
            <a:br>
              <a:rPr lang="en-US"/>
            </a:br>
            <a:br>
              <a:rPr lang="en-US"/>
            </a:br>
            <a:r>
              <a:rPr lang="en-US"/>
              <a:t>SAY THE BOUNDARY OUT LOUD: this is an operational convention for the pilot. It is not a statistical confidence interval and it does not carry a margin of error. It asks one question: would a plausible neighbouring value change where you place yourself?</a:t>
            </a:r>
            <a:br>
              <a:rPr lang="en-US"/>
            </a:br>
            <a:br>
              <a:rPr lang="en-US"/>
            </a:br>
            <a:r>
              <a:rPr lang="en-US"/>
              <a:t>Uncertainty-marked scores stay bounded by 1 and 5. A 1? is never tested at 0. A 5? is never tested at 6.</a:t>
            </a:r>
            <a:br>
              <a:rPr lang="en-US"/>
            </a:br>
            <a:br>
              <a:rPr lang="en-US"/>
            </a:br>
            <a:r>
              <a:rPr lang="en-US"/>
              <a:t>When plausible neighbouring values change the placement, or when any of the three totals touches the 17 to 21 boundary band, no single state is assigned. Read both neighbouring states and mark the placement provisional.</a:t>
            </a:r>
            <a:br>
              <a:rPr lang="en-US"/>
            </a:br>
            <a:br>
              <a:rPr lang="en-US"/>
            </a:br>
            <a:r>
              <a:rPr lang="en-US"/>
              <a:t>Walk it on the board with one made-up example. Forty seconds, and it prevents five minutes of confusion.</a:t>
            </a:r>
            <a:br>
              <a:rPr lang="en-US"/>
            </a:br>
            <a:r>
              <a:rPr lang="en-US"/>
              <a:t>WORKED EXAMPLE: 4, 4, 4, 3, 4 and a 3-marked. Total 22. Lower the marked item: 21. Raise it: 23. The range touches 21, which is inside 17 to 21, so that person reads both neighbouring states rather than picking one.</a:t>
            </a:r>
            <a:br>
              <a:rPr lang="en-US"/>
            </a:br>
            <a:br>
              <a:rPr lang="en-US"/>
            </a:br>
            <a:r>
              <a:rPr lang="en-US"/>
              <a:t>INCOMPLETE AXIS: expect it, and say it as a finding. "Three or more items you could not support means we do not have ninety days of evidence on that axis. That is a result about the window, not about you. Usually leave, a transition, or a role you had only just started."</a:t>
            </a:r>
            <a:br>
              <a:rPr lang="en-US"/>
            </a:br>
            <a:br>
              <a:rPr lang="en-US"/>
            </a:br>
            <a:r>
              <a:rPr lang="en-US"/>
              <a:t>ROOM-LEVEL COUNT, ANONYMOUS, and this is the priority measure of the pilot: number of participants with one or more marked items; number with an incomplete axis; number for whom the check changed the placement or held it open. Collect all three through the anonymous method, as totals only. Never by hands.</a:t>
            </a:r>
            <a:br>
              <a:rPr lang="en-US"/>
            </a:br>
            <a:br>
              <a:rPr lang="en-US"/>
            </a:br>
            <a:r>
              <a:rPr lang="en-US"/>
              <a:t>Learner action: run the check, then place. Workbook page 16.</a:t>
            </a:r>
            <a:endParaRPr/>
          </a:p>
        </p:txBody>
      </p:sp>
      <p:sp>
        <p:nvSpPr>
          <p:cNvPr id="659" name="Google Shape;65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 THE MOVEMENT MOMENT.</a:t>
            </a:r>
            <a:br>
              <a:rPr lang="en-US"/>
            </a:br>
            <a:br>
              <a:rPr lang="en-US"/>
            </a:br>
            <a:r>
              <a:rPr lang="en-US"/>
              <a:t>ROOM-LEVEL COUNT, ANONYMOUS: three counts, through the anonymous method only. Asking who is Stagnant, whose square changed or whose confidence fell by a show of hands contradicts the privacy promise made at the start, and the people least likely to raise a hand are the ones the question is about. Totals only.</a:t>
            </a:r>
            <a:br>
              <a:rPr lang="en-US"/>
            </a:br>
            <a:br>
              <a:rPr lang="en-US"/>
            </a:br>
            <a:r>
              <a:rPr lang="en-US"/>
              <a:t>Say the calibration claim as written. They supplied the evidence, the interpretation and the corrected score. The room supplied a fixed window, a symmetrical evidence standard, named misreadings and a structured correction process. Do not say they calibrated against something other than themselves.</a:t>
            </a:r>
            <a:br>
              <a:rPr lang="en-US"/>
            </a:br>
            <a:br>
              <a:rPr lang="en-US"/>
            </a:br>
            <a:r>
              <a:rPr lang="en-US"/>
              <a:t>State no expectation before you count. Do not say most people's numbers move and do not say some change quadrant. After enough deliveries these become stated figures on this slide; until then they are questions, not claims.</a:t>
            </a:r>
            <a:br>
              <a:rPr lang="en-US"/>
            </a:br>
            <a:br>
              <a:rPr lang="en-US"/>
            </a:br>
            <a:r>
              <a:rPr lang="en-US"/>
              <a:t>IF NOBODY MOVES: do not improvise an explanation. Say plainly that this room scored strictly on the first pass, ask who found an instance harder to name than expected, and move on. A room that does not move is a finding, not a failure.</a:t>
            </a:r>
            <a:br>
              <a:rPr lang="en-US"/>
            </a:br>
            <a:br>
              <a:rPr lang="en-US"/>
            </a:br>
            <a:r>
              <a:rPr lang="en-US"/>
              <a:t>ON CONFIDENCE: say the line as written. A confidence number that fell can be useful when the original certainty rested on an untested assumption. Do not say a fall is automatically a good outcome. A fall caused by confusion about the protocol is not transformation, it is a delivery problem, and you want to know which one you produced. If several people report the drop came from not understanding the instruction, note it on the capture sheet as a delivery defect.</a:t>
            </a:r>
            <a:br>
              <a:rPr lang="en-US"/>
            </a:br>
            <a:br>
              <a:rPr lang="en-US"/>
            </a:br>
            <a:r>
              <a:rPr lang="en-US"/>
              <a:t>Learner action: complete workbook page 17 immediately after placement.</a:t>
            </a:r>
            <a:br>
              <a:rPr lang="en-US"/>
            </a:br>
            <a:br>
              <a:rPr lang="en-US"/>
            </a:br>
            <a:r>
              <a:rPr lang="en-US"/>
              <a:t>[v4.11 — moved from slide face] You calibrated the first reading against a fixed window, a symmetrical evidence standard and named misreadings rather than intuition alone. A confidence number that fell can be useful when the original certainty rested on an untested assumption.</a:t>
            </a:r>
            <a:endParaRPr/>
          </a:p>
        </p:txBody>
      </p:sp>
      <p:sp>
        <p:nvSpPr>
          <p:cNvPr id="682" name="Google Shape;68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a:t>
            </a:r>
            <a:br>
              <a:rPr lang="en-US"/>
            </a:br>
            <a:br>
              <a:rPr lang="en-US"/>
            </a:br>
            <a:r>
              <a:rPr lang="en-US"/>
              <a:t>This is the honest version of the argument for everything downstream, and it is true, so it lands as candour rather than as a pitch.</a:t>
            </a:r>
            <a:br>
              <a:rPr lang="en-US"/>
            </a:br>
            <a:br>
              <a:rPr lang="en-US"/>
            </a:br>
            <a:r>
              <a:rPr lang="en-US"/>
              <a:t>If someone challenges the instrument here: agree with the part that is true, a self-report is not an objective fact, and this slide says so. Then point at the mechanism. The claim is not that the score is accurate, reliable or validated. The claim is that the second reading is more evidence-disciplined and more defensible than the first.</a:t>
            </a:r>
            <a:br>
              <a:rPr lang="en-US"/>
            </a:br>
            <a:br>
              <a:rPr lang="en-US"/>
            </a:br>
            <a:r>
              <a:rPr lang="en-US"/>
              <a:t>Do not claim established accuracy, reliability or validity for the instrument. It is a pilot instrument at Version 1.1.</a:t>
            </a:r>
            <a:br>
              <a:rPr lang="en-US"/>
            </a:br>
            <a:br>
              <a:rPr lang="en-US"/>
            </a:br>
            <a:r>
              <a:rPr lang="en-US"/>
              <a:t>Do not mention any product here. The close handles that.</a:t>
            </a:r>
            <a:br>
              <a:rPr lang="en-US"/>
            </a:br>
            <a:br>
              <a:rPr lang="en-US"/>
            </a:br>
            <a:r>
              <a:rPr lang="en-US"/>
              <a:t>Learner action: none.</a:t>
            </a:r>
            <a:endParaRPr/>
          </a:p>
        </p:txBody>
      </p:sp>
      <p:sp>
        <p:nvSpPr>
          <p:cNvPr id="702" name="Google Shape;70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SEGMENT OPENING.</a:t>
            </a:r>
            <a:br>
              <a:rPr lang="en-US"/>
            </a:br>
            <a:br>
              <a:rPr lang="en-US"/>
            </a:br>
            <a:r>
              <a:rPr lang="en-US"/>
              <a:t>Name the cost precisely and give it away. What to do about it is the participant's to weigh.</a:t>
            </a:r>
            <a:br>
              <a:rPr lang="en-US"/>
            </a:br>
            <a:br>
              <a:rPr lang="en-US"/>
            </a:br>
            <a:r>
              <a:rPr lang="en-US"/>
              <a:t>The four state-cost readings are compressed to one overview slide. Teach all four briefly, then spend the remaining live time on the one or two squares that were heaviest in the room count.</a:t>
            </a:r>
            <a:br>
              <a:rPr lang="en-US"/>
            </a:br>
            <a:br>
              <a:rPr lang="en-US"/>
            </a:br>
            <a:r>
              <a:rPr lang="en-US"/>
              <a:t>Say the reference exactly: a concise reference is on workbook page 19, and the fuller treatment is in Section 5 of the Field Kit. The state cases are not in the workbook. Do not tell the room the full treatment is in the workbook.</a:t>
            </a:r>
            <a:br>
              <a:rPr lang="en-US"/>
            </a:br>
            <a:br>
              <a:rPr lang="en-US"/>
            </a:br>
            <a:r>
              <a:rPr lang="en-US"/>
              <a:t>Tell the room they only need to read their own square carefully. The other three are context.</a:t>
            </a:r>
            <a:endParaRPr/>
          </a:p>
        </p:txBody>
      </p:sp>
      <p:sp>
        <p:nvSpPr>
          <p:cNvPr id="717" name="Google Shape;71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COMPRESSED STATE COSTS.</a:t>
            </a:r>
            <a:br>
              <a:rPr lang="en-US"/>
            </a:br>
            <a:br>
              <a:rPr lang="en-US"/>
            </a:br>
            <a:r>
              <a:rPr lang="en-US"/>
              <a:t>Teach all four from this slide in about three minutes total, then go deep on the one or two squares that were heaviest in the room count. Do not walk all four in equal depth.</a:t>
            </a:r>
            <a:br>
              <a:rPr lang="en-US"/>
            </a:br>
            <a:br>
              <a:rPr lang="en-US"/>
            </a:br>
            <a:r>
              <a:rPr lang="en-US"/>
              <a:t>Say the reference as written: your short reference is in the workbook, the fuller treatment is in your Field Kit. Do not say the four readings are in the workbook in full. Workbook page 19 carries the short reference only, and the state cases are not in the workbook at all.</a:t>
            </a:r>
            <a:br>
              <a:rPr lang="en-US"/>
            </a:br>
            <a:br>
              <a:rPr lang="en-US"/>
            </a:br>
            <a:r>
              <a:rPr lang="en-US"/>
              <a:t>If Depth Trap is heavy in the anonymous count, spend the extra time there and say explicitly that translation is a category, not an instruction to exit. Some participants may interpret Depth Trap as an instruction to leave.</a:t>
            </a:r>
            <a:br>
              <a:rPr lang="en-US"/>
            </a:br>
            <a:br>
              <a:rPr lang="en-US"/>
            </a:br>
            <a:r>
              <a:rPr lang="en-US"/>
              <a:t>Compounding: deliver flatly.</a:t>
            </a:r>
            <a:br>
              <a:rPr lang="en-US"/>
            </a:br>
            <a:r>
              <a:rPr lang="en-US"/>
              <a:t>Fragile: what travels today may no longer be renewed by the work being done now.</a:t>
            </a:r>
            <a:br>
              <a:rPr lang="en-US"/>
            </a:br>
            <a:r>
              <a:rPr lang="en-US"/>
              <a:t>Stagnant: handle with the most care, and return to the safety slide.</a:t>
            </a:r>
            <a:br>
              <a:rPr lang="en-US"/>
            </a:br>
            <a:br>
              <a:rPr lang="en-US"/>
            </a:br>
            <a:r>
              <a:rPr lang="en-US"/>
              <a:t>The Field Kit cases stay in the Field Kit. Do not read them from the screen and do not say they are printed in the workbook.</a:t>
            </a:r>
            <a:br>
              <a:rPr lang="en-US"/>
            </a:br>
            <a:br>
              <a:rPr lang="en-US"/>
            </a:br>
            <a:r>
              <a:rPr lang="en-US"/>
              <a:t>[v4.11 — moved from slide face] Fuller state-cost reference (workbook page 19). Immediate cost, hidden cost, cost of waiting and false reassurance stay in the workbook and Field Kit. False-reassurance lines: Depth Trap ‘They could never replace me here.’ Compounding ‘I am doing well, so this square has nothing to tell me.’ Stagnant ‘I am well regarded here.’ Fragile ‘I could leave tomorrow.’</a:t>
            </a:r>
            <a:endParaRPr/>
          </a:p>
        </p:txBody>
      </p:sp>
      <p:sp>
        <p:nvSpPr>
          <p:cNvPr id="732" name="Google Shape;73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WORKBOOK PAGE 20.</a:t>
            </a:r>
            <a:br>
              <a:rPr lang="en-US"/>
            </a:br>
            <a:br>
              <a:rPr lang="en-US"/>
            </a:br>
            <a:r>
              <a:rPr lang="en-US"/>
              <a:t>Two to three minutes of quiet writing. Do not narrate over it.</a:t>
            </a:r>
            <a:br>
              <a:rPr lang="en-US"/>
            </a:br>
            <a:br>
              <a:rPr lang="en-US"/>
            </a:br>
            <a:r>
              <a:rPr lang="en-US"/>
              <a:t>Spoken line rather than a slide: a person moves between states, and the same role can change state around a person who did not move at all. Optionality can lag a change in Density. Small changes matter more near a boundary by construction.</a:t>
            </a:r>
            <a:br>
              <a:rPr lang="en-US"/>
            </a:br>
            <a:br>
              <a:rPr lang="en-US"/>
            </a:br>
            <a:r>
              <a:rPr lang="en-US"/>
              <a:t>CUT POINT: if you are more than four minutes behind at this slide, reduce this to ninety seconds and say "finish workbook page 20 after the session". Do NOT send unfinished state interpretation into the thirty-day evidence log on page 23. That log is for action and outcome evidence, not for unfinished state work. Never take the time from the rescore or the Next-Move Decision.</a:t>
            </a:r>
            <a:br>
              <a:rPr lang="en-US"/>
            </a:br>
            <a:br>
              <a:rPr lang="en-US"/>
            </a:br>
            <a:r>
              <a:rPr lang="en-US"/>
              <a:t>Learner action: complete workbook page 20.</a:t>
            </a:r>
            <a:endParaRPr/>
          </a:p>
        </p:txBody>
      </p:sp>
      <p:sp>
        <p:nvSpPr>
          <p:cNvPr id="769" name="Google Shape;76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Move categories and Next-Move Decision setup.</a:t>
            </a:r>
            <a:br>
              <a:rPr lang="en-US"/>
            </a:br>
            <a:br>
              <a:rPr lang="en-US"/>
            </a:br>
            <a:r>
              <a:rPr lang="en-US"/>
              <a:t>Do not prescribe by quadrant. If someone asks which one their square means, hand the question back: which of these does your evidence support?</a:t>
            </a:r>
            <a:br>
              <a:rPr lang="en-US"/>
            </a:br>
            <a:br>
              <a:rPr lang="en-US"/>
            </a:br>
            <a:r>
              <a:rPr lang="en-US"/>
              <a:t>SEVENTH CATEGORY: it is "Seek an external perspective", not "Seek a calibrated read". Calibration names the specific method they just went through and it is not a synonym for feedback. A trusted colleague can supply outside evidence, perspective, challenge or testimony; they are not thereby delivering calibration. If a participant blurs the two, correct it once, lightly.</a:t>
            </a:r>
            <a:br>
              <a:rPr lang="en-US"/>
            </a:br>
            <a:br>
              <a:rPr lang="en-US"/>
            </a:br>
            <a:r>
              <a:rPr lang="en-US"/>
              <a:t>Illustrative move categories may include, offered only if asked and only as possibilities, never as findings: Depth Trap toward translate or widen exposure; Fragile toward repair formation; Stagnant toward repair formation; Compounding toward translate or remain and deepen. These are not established pairings and no pilot data supports them.</a:t>
            </a:r>
            <a:br>
              <a:rPr lang="en-US"/>
            </a:br>
            <a:br>
              <a:rPr lang="en-US"/>
            </a:br>
            <a:r>
              <a:rPr lang="en-US"/>
              <a:t>Almost every category needs another person, which is why line 8 of the Next-Move Decision asks who.</a:t>
            </a:r>
            <a:br>
              <a:rPr lang="en-US"/>
            </a:br>
            <a:br>
              <a:rPr lang="en-US"/>
            </a:br>
            <a:r>
              <a:rPr lang="en-US"/>
              <a:t>Learner action: none yet.</a:t>
            </a:r>
            <a:endParaRPr/>
          </a:p>
        </p:txBody>
      </p:sp>
      <p:sp>
        <p:nvSpPr>
          <p:cNvPr id="790" name="Google Shape;79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THE PRIMARY ARTIFACT. Setup only; the writing happens in the next block.</a:t>
            </a:r>
            <a:br>
              <a:rPr lang="en-US"/>
            </a:br>
            <a:br>
              <a:rPr lang="en-US"/>
            </a:br>
            <a:r>
              <a:rPr lang="en-US"/>
              <a:t>TEN lines, on workbook page 22. This slide shows five of them at legible size. Read lines 01 to 05 aloud from the workbook rather than putting ten small lines on the screen.</a:t>
            </a:r>
            <a:br>
              <a:rPr lang="en-US"/>
            </a:br>
            <a:br>
              <a:rPr lang="en-US"/>
            </a:br>
            <a:r>
              <a:rPr lang="en-US"/>
              <a:t>Line 06 wording is fixed and appears identically on the slide, in the workbook and in the voluntary reads: "The category of move my evidence supports testing is". Never "the move my position requires".</a:t>
            </a:r>
            <a:br>
              <a:rPr lang="en-US"/>
            </a:br>
            <a:br>
              <a:rPr lang="en-US"/>
            </a:br>
            <a:r>
              <a:rPr lang="en-US"/>
              <a:t>Line 08 is the highest-leverage line on the page, because almost every move category needs another person and a plan naming nobody stays in the notebook.</a:t>
            </a:r>
            <a:br>
              <a:rPr lang="en-US"/>
            </a:br>
            <a:br>
              <a:rPr lang="en-US"/>
            </a:br>
            <a:r>
              <a:rPr lang="en-US"/>
              <a:t>Line 07 is provisional by design. Line 09 is what makes it responsible.</a:t>
            </a:r>
            <a:br>
              <a:rPr lang="en-US"/>
            </a:br>
            <a:br>
              <a:rPr lang="en-US"/>
            </a:br>
            <a:r>
              <a:rPr lang="en-US"/>
              <a:t>This page maps onto the Field Kit Self-Read Skeleton, so anyone who owns the Kit can carry today's page straight into it.</a:t>
            </a:r>
            <a:br>
              <a:rPr lang="en-US"/>
            </a:br>
            <a:br>
              <a:rPr lang="en-US"/>
            </a:br>
            <a:r>
              <a:rPr lang="en-US"/>
              <a:t>DO NOT COLLECT WORKBOOK RESPONSES. Capture only anonymized room-level counts and voluntarily shared, permissioned language. Do not collect individual move categories, individual first actions, the names of people participants intend to contact, employer names or any third-party name.</a:t>
            </a:r>
            <a:br>
              <a:rPr lang="en-US"/>
            </a:br>
            <a:br>
              <a:rPr lang="en-US"/>
            </a:br>
            <a:r>
              <a:rPr lang="en-US"/>
              <a:t>Learner action: complete all ten lines on workbook page 22.</a:t>
            </a:r>
            <a:endParaRPr/>
          </a:p>
        </p:txBody>
      </p:sp>
      <p:sp>
        <p:nvSpPr>
          <p:cNvPr id="817" name="Google Shape;81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88 to 96. SILENT WORK. EIGHT MINUTES. PROTECTED UNDER ALL TIME PRESSURE.</a:t>
            </a:r>
            <a:br>
              <a:rPr lang="en-US"/>
            </a:br>
            <a:br>
              <a:rPr lang="en-US"/>
            </a:br>
            <a:r>
              <a:rPr lang="en-US"/>
              <a:t>Never reduce this below eight minutes. If the room is running long, the time comes from the state-cost segment and the voluntary reads, never from here and never from the rescore.</a:t>
            </a:r>
            <a:br>
              <a:rPr lang="en-US"/>
            </a:br>
            <a:br>
              <a:rPr lang="en-US"/>
            </a:br>
            <a:r>
              <a:rPr lang="en-US"/>
              <a:t>Do not fill the silence, do not play music, do not narrate the countdown beyond the two-minute warning.</a:t>
            </a:r>
            <a:br>
              <a:rPr lang="en-US"/>
            </a:br>
            <a:br>
              <a:rPr lang="en-US"/>
            </a:br>
            <a:r>
              <a:rPr lang="en-US"/>
              <a:t>Stay visible and available for quiet questions.</a:t>
            </a:r>
            <a:br>
              <a:rPr lang="en-US"/>
            </a:br>
            <a:br>
              <a:rPr lang="en-US"/>
            </a:br>
            <a:r>
              <a:rPr lang="en-US"/>
              <a:t>If someone finishes early, ask them privately to write a second sentence under line 8.</a:t>
            </a:r>
            <a:endParaRPr/>
          </a:p>
        </p:txBody>
      </p:sp>
      <p:sp>
        <p:nvSpPr>
          <p:cNvPr id="845" name="Google Shape;845;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96 to 100. NAMED CUT POINT.</a:t>
            </a:r>
            <a:br>
              <a:rPr lang="en-US"/>
            </a:br>
            <a:br>
              <a:rPr lang="en-US"/>
            </a:br>
            <a:r>
              <a:rPr lang="en-US"/>
              <a:t>Take two concise reads maximum; take one if the room is behind. In a room over twenty, make this written rather than spoken and note on the capture sheet that the qualitative measure is degraded at that size.</a:t>
            </a:r>
            <a:br>
              <a:rPr lang="en-US"/>
            </a:br>
            <a:br>
              <a:rPr lang="en-US"/>
            </a:br>
            <a:r>
              <a:rPr lang="en-US"/>
              <a:t>The line is read exactly as written: the category of move my evidence supports testing is. If a participant says "requires", let it pass in their read and use the correct wording yourself.</a:t>
            </a:r>
            <a:br>
              <a:rPr lang="en-US"/>
            </a:br>
            <a:br>
              <a:rPr lang="en-US"/>
            </a:br>
            <a:r>
              <a:rPr lang="en-US"/>
              <a:t>When you respond, comment on the fit between evidence and category. Do not endorse or discourage the action itself. The boundary slide is what you are honouring.</a:t>
            </a:r>
            <a:br>
              <a:rPr lang="en-US"/>
            </a:br>
            <a:br>
              <a:rPr lang="en-US"/>
            </a:br>
            <a:r>
              <a:rPr lang="en-US"/>
              <a:t>PERMISSION SCRIPT, SAY IT BEFORE ANYONE READS: "If you read, keep it to lines six, seven and eight. No scores, no employer names, and no names of other people. If you want to name a relationship, name it generically, such as my skip-level or a former colleague. I would like to keep a note of the words some of you use, because it helps me improve the session. I will only write down a phrase if you tell me I can, and I will not attach your name to it."</a:t>
            </a:r>
            <a:br>
              <a:rPr lang="en-US"/>
            </a:br>
            <a:br>
              <a:rPr lang="en-US"/>
            </a:br>
            <a:r>
              <a:rPr lang="en-US"/>
              <a:t>Ask for permission per person, out loud, after they read. If they do not answer, treat that as no.</a:t>
            </a:r>
            <a:br>
              <a:rPr lang="en-US"/>
            </a:br>
            <a:br>
              <a:rPr lang="en-US"/>
            </a:br>
            <a:r>
              <a:rPr lang="en-US"/>
              <a:t>Do not record scores, states, employer names or third-party names in any circumstance.</a:t>
            </a:r>
            <a:br>
              <a:rPr lang="en-US"/>
            </a:br>
            <a:br>
              <a:rPr lang="en-US"/>
            </a:br>
            <a:r>
              <a:rPr lang="en-US"/>
              <a:t>[v4.11 — moved from slide face] Facilitator line: I will say what I notice about the reasoning. I will not tell you whether to do it.</a:t>
            </a:r>
            <a:endParaRPr/>
          </a:p>
        </p:txBody>
      </p:sp>
      <p:sp>
        <p:nvSpPr>
          <p:cNvPr id="859" name="Google Shape;859;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THE CLOSE.</a:t>
            </a:r>
            <a:br>
              <a:rPr lang="en-US"/>
            </a:br>
            <a:br>
              <a:rPr lang="en-US"/>
            </a:br>
            <a:r>
              <a:rPr lang="en-US"/>
              <a:t>Do not send everybody to the same place.</a:t>
            </a:r>
            <a:br>
              <a:rPr lang="en-US"/>
            </a:br>
            <a:br>
              <a:rPr lang="en-US"/>
            </a:br>
            <a:r>
              <a:rPr lang="en-US"/>
              <a:t>The Field Kit unlocks at the end of this session, not at purchase. Say that it is already theirs. It is not an offer.</a:t>
            </a:r>
            <a:br>
              <a:rPr lang="en-US"/>
            </a:br>
            <a:br>
              <a:rPr lang="en-US"/>
            </a:br>
            <a:r>
              <a:rPr lang="en-US"/>
              <a:t>The free Diagnostic is an uncalibrated public entry signal and it is for someone they would send it to. It is NOT the rescore tool. Say that plainly: you have been calibrated, and Section 7 of the Field Kit is what holds that standard.</a:t>
            </a:r>
            <a:br>
              <a:rPr lang="en-US"/>
            </a:br>
            <a:br>
              <a:rPr lang="en-US"/>
            </a:br>
            <a:r>
              <a:rPr lang="en-US"/>
              <a:t>The book is NOT mentioned here. It moves to the follow-up email, so the last live moment stays on the participant's own decision rather than on a purchase.</a:t>
            </a:r>
            <a:br>
              <a:rPr lang="en-US"/>
            </a:br>
            <a:br>
              <a:rPr lang="en-US"/>
            </a:br>
            <a:r>
              <a:rPr lang="en-US"/>
              <a:t>THE INDIVIDUAL WRITTEN POSITION READ IS DELIBERATELY ABSENT FROM THIS CLOSE. The offer is built and priced, but it is held off the public close until after pilot two. Do not gesture at it, do not mention it as coming, do not describe it as the next step for anyone, and do not take names for it here. There is no boundary route to it. If a participant asks unprompted, answer honestly and take it offline.</a:t>
            </a:r>
            <a:br>
              <a:rPr lang="en-US"/>
            </a:br>
            <a:br>
              <a:rPr lang="en-US"/>
            </a:br>
            <a:r>
              <a:rPr lang="en-US"/>
              <a:t>Learner action: none.</a:t>
            </a:r>
            <a:br>
              <a:rPr lang="en-US"/>
            </a:br>
            <a:br>
              <a:rPr lang="en-US"/>
            </a:br>
            <a:r>
              <a:rPr lang="en-US"/>
              <a:t>[v4.11 — moved from slide face] Nothing here is withheld; today’s read is complete on its own.</a:t>
            </a:r>
            <a:endParaRPr/>
          </a:p>
        </p:txBody>
      </p:sp>
      <p:sp>
        <p:nvSpPr>
          <p:cNvPr id="880" name="Google Shape;88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CLOSE.</a:t>
            </a:r>
            <a:br>
              <a:rPr lang="en-US"/>
            </a:br>
            <a:br>
              <a:rPr lang="en-US"/>
            </a:br>
            <a:r>
              <a:rPr lang="en-US"/>
              <a:t>End on the rescore date. A dated commitment is what converts diagnostic clarity into a decision you can measure.</a:t>
            </a:r>
            <a:br>
              <a:rPr lang="en-US"/>
            </a:br>
            <a:br>
              <a:rPr lang="en-US"/>
            </a:br>
            <a:r>
              <a:rPr lang="en-US"/>
              <a:t>Do not add an offer here. The previous slide did that work.</a:t>
            </a:r>
            <a:br>
              <a:rPr lang="en-US"/>
            </a:br>
            <a:br>
              <a:rPr lang="en-US"/>
            </a:br>
            <a:r>
              <a:rPr lang="en-US"/>
              <a:t>FINAL FACILITATOR TASKS, within twenty-four hours: write up the anonymized room-level counts while the room is fresh, including the three sensitivity-check counts; send the Field Kit and the Complete Session Record immediately; send the teaching-only replay within twenty-four hours if recording was used. Record no workbook responses, no employer names and no third-party names.</a:t>
            </a:r>
            <a:endParaRPr/>
          </a:p>
        </p:txBody>
      </p:sp>
      <p:sp>
        <p:nvSpPr>
          <p:cNvPr id="902" name="Google Shape;90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105 to 120. Q&amp;A AND OPTIONAL APPLICATIONS.</a:t>
            </a:r>
            <a:endParaRPr/>
          </a:p>
          <a:p>
            <a:r>
              <a:t>WHAT TO SAY: State the boundary line on the slide once, plainly, before opening the floor.</a:t>
            </a:r>
          </a:p>
          <a:p>
            <a:r>
              <a:t>MAY SUPPORT: Understanding a statement. Interpreting a boundary reading. Identifying an evidence-building question. Distinguishing move categories. Applying the read to a promotion or reorganization scenario. Knowing when to seek an external perspective (legal, financial, career counseling).</a:t>
            </a:r>
          </a:p>
          <a:p>
            <a:r>
              <a:t>DO NOT ANSWER: Whether someone should resign. Whether an employer will eliminate a role. Legal, immigration, financial, medical, compensation, or tax questions. Whether a score is good or bad.</a:t>
            </a:r>
          </a:p>
          <a:p>
            <a:r>
              <a:t>IF ASKED WHETHER A SCORE IS GOOD OR BAD: "There is no good or bad score here — there is only what your evidence currently supports and what it does not yet support."</a:t>
            </a:r>
          </a:p>
          <a:p>
            <a:r>
              <a:t>IF PRESSED FOR A STAY-OR-LEAVE ANSWER: Restate the boundary line rather than inventing a softer version of it.</a:t>
            </a:r>
          </a:p>
          <a:p>
            <a:r>
              <a:t>CLOSE: Thank the room. Point back to the rescore date already written in the workbook — no new slide needed.</a:t>
            </a:r>
          </a:p>
        </p:txBody>
      </p:sp>
      <p:sp>
        <p:nvSpPr>
          <p:cNvPr id="920" name="Google Shape;920;p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NOT IN THE CORE SCORING SEQUENCE.</a:t>
            </a:r>
            <a:br>
              <a:rPr lang="en-US"/>
            </a:br>
            <a:br>
              <a:rPr lang="en-US"/>
            </a:br>
            <a:r>
              <a:rPr lang="en-US"/>
              <a:t>Use in Q&amp;A, in the replay, or point people at workbook page 26. Do not run it inside the scoring sequence and do not let it displace the calibration work.</a:t>
            </a:r>
            <a:br>
              <a:rPr lang="en-US"/>
            </a:br>
            <a:br>
              <a:rPr lang="en-US"/>
            </a:br>
            <a:r>
              <a:rPr lang="en-US"/>
              <a:t>TITLE DISCIPLINE: this is "Position Exposure Signals". It is not layoff warning signs and it is never framed as a promise to predict. Say the standing boundary out loud whenever the slide is used: these signals do not predict a layoff, they identify questions that should be answered before you treat a position as secure.</a:t>
            </a:r>
            <a:br>
              <a:rPr lang="en-US"/>
            </a:br>
            <a:br>
              <a:rPr lang="en-US"/>
            </a:br>
            <a:r>
              <a:rPr lang="en-US"/>
              <a:t>If someone asks whether they are about to be made redundant, do not answer it. Hand back the questions and, where the stakes are high, name the seventh move category: seek an external perspective.</a:t>
            </a:r>
            <a:br>
              <a:rPr lang="en-US"/>
            </a:br>
            <a:br>
              <a:rPr lang="en-US"/>
            </a:br>
            <a:r>
              <a:rPr lang="en-US"/>
              <a:t>Nothing here is a claim about any employer, including any of mine.</a:t>
            </a:r>
            <a:endParaRPr/>
          </a:p>
        </p:txBody>
      </p:sp>
      <p:sp>
        <p:nvSpPr>
          <p:cNvPr id="935" name="Google Shape;93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FULLER TREATMENT OF THE BRIEF LIVE APPLICATION.</a:t>
            </a:r>
            <a:br>
              <a:rPr lang="en-US"/>
            </a:br>
            <a:br>
              <a:rPr lang="en-US"/>
            </a:br>
            <a:r>
              <a:rPr lang="en-US"/>
              <a:t>Use in Q&amp;A or in the replay. The live session carries the two sentences only.</a:t>
            </a:r>
            <a:br>
              <a:rPr lang="en-US"/>
            </a:br>
            <a:br>
              <a:rPr lang="en-US"/>
            </a:br>
            <a:r>
              <a:rPr lang="en-US"/>
              <a:t>DO NOT: name or recommend AI tools, teach prompting, recommend vendors, or use future-proofing language. Any of those turns a capability reading into a technology talk and the product is not that.</a:t>
            </a:r>
            <a:br>
              <a:rPr lang="en-US"/>
            </a:br>
            <a:br>
              <a:rPr lang="en-US"/>
            </a:br>
            <a:r>
              <a:rPr lang="en-US"/>
              <a:t>If pressed for tool advice, decline plainly and return to the axes: the question this instrument answers is what the work is forming in you and whether it travels.</a:t>
            </a:r>
            <a:br>
              <a:rPr lang="en-US"/>
            </a:br>
            <a:br>
              <a:rPr lang="en-US"/>
            </a:br>
            <a:r>
              <a:rPr lang="en-US"/>
              <a:t>Workbook page 25 carries the take-home prompt.</a:t>
            </a:r>
            <a:endParaRPr/>
          </a:p>
        </p:txBody>
      </p:sp>
      <p:sp>
        <p:nvSpPr>
          <p:cNvPr id="960" name="Google Shape;96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 name="Google Shape;97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MOVED OUT OF THE TIMED CORE IN v4.8. Use in the Q&amp;A time or the replay.</a:t>
            </a:r>
            <a:br>
              <a:rPr lang="en-US"/>
            </a:br>
            <a:br>
              <a:rPr lang="en-US"/>
            </a:br>
            <a:r>
              <a:rPr lang="en-US"/>
              <a:t>This is not a confidence module and not a mindset module. Do not build one. It is the operational content of "Translate what is built".</a:t>
            </a:r>
            <a:br>
              <a:rPr lang="en-US"/>
            </a:br>
            <a:br>
              <a:rPr lang="en-US"/>
            </a:br>
            <a:r>
              <a:rPr lang="en-US"/>
              <a:t>Say both sentences as written. Legibility is not bragging, it is evidence translated into language another context can understand. You do not need louder confidence, you need claims that can survive evidence.</a:t>
            </a:r>
            <a:br>
              <a:rPr lang="en-US"/>
            </a:br>
            <a:br>
              <a:rPr lang="en-US"/>
            </a:br>
            <a:r>
              <a:rPr lang="en-US"/>
              <a:t>Teach the three-part translation and stop: the problem, the outcome, the capability the work formed. Then say the discipline: remove adjectives about yourself.</a:t>
            </a:r>
            <a:br>
              <a:rPr lang="en-US"/>
            </a:br>
            <a:br>
              <a:rPr lang="en-US"/>
            </a:br>
            <a:r>
              <a:rPr lang="en-US"/>
              <a:t>A job interview is one application of this and may be named as one. Do not reposition the session as interview coaching or a job-search course, and do not take interview questions here; point at the workbook page and the appendix.</a:t>
            </a:r>
            <a:br>
              <a:rPr lang="en-US"/>
            </a:br>
            <a:br>
              <a:rPr lang="en-US"/>
            </a:br>
            <a:r>
              <a:rPr lang="en-US"/>
              <a:t>Learner action: none live. Workbook page 25 after the session, and the material stays on that page whether or not this slide is ever shown.</a:t>
            </a:r>
            <a:endParaRPr/>
          </a:p>
        </p:txBody>
      </p:sp>
      <p:sp>
        <p:nvSpPr>
          <p:cNvPr id="977" name="Google Shape;977;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15" name="Shape 15"/>
        <p:cNvGrpSpPr/>
        <p:nvPr/>
      </p:nvGrpSpPr>
      <p:grpSpPr>
        <a:xfrm>
          <a:off x="0" y="0"/>
          <a:ext cx="0" cy="0"/>
          <a:chOff x="0" y="0"/>
          <a:chExt cx="0" cy="0"/>
        </a:xfrm>
      </p:grpSpPr>
      <p:sp>
        <p:nvSpPr>
          <p:cNvPr id="16" name="Google Shape;16;p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7" name="Google Shape;17;p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a:t>
            </a:r>
            <a:endParaRPr/>
          </a:p>
        </p:txBody>
      </p:sp>
      <p:sp>
        <p:nvSpPr>
          <p:cNvPr id="18" name="Google Shape;18;p1"/>
          <p:cNvSpPr/>
          <p:nvPr/>
        </p:nvSpPr>
        <p:spPr>
          <a:xfrm>
            <a:off x="658368" y="1554480"/>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400"/>
              <a:buFont typeface="DM Sans"/>
              <a:buNone/>
            </a:pPr>
            <a:r>
              <a:rPr b="1" i="0" lang="en-US" sz="1500" u="none" cap="none" strike="noStrike">
                <a:solidFill>
                  <a:srgbClr val="C9A84C"/>
                </a:solidFill>
                <a:latin typeface="Montserrat"/>
                <a:ea typeface="Montserrat"/>
                <a:cs typeface="Montserrat"/>
                <a:sym typeface="Montserrat"/>
              </a:rPr>
              <a:t>A LIVE CAREER GROWTH ASSESSMENT</a:t>
            </a:r>
            <a:endParaRPr b="0" i="0" sz="1400" u="none" cap="none" strike="noStrike">
              <a:solidFill>
                <a:schemeClr val="dk1"/>
              </a:solidFill>
              <a:latin typeface="Calibri"/>
              <a:ea typeface="Calibri"/>
              <a:cs typeface="Calibri"/>
              <a:sym typeface="Calibri"/>
            </a:endParaRPr>
          </a:p>
        </p:txBody>
      </p:sp>
      <p:sp>
        <p:nvSpPr>
          <p:cNvPr id="19" name="Google Shape;19;p1"/>
          <p:cNvSpPr/>
          <p:nvPr/>
        </p:nvSpPr>
        <p:spPr>
          <a:xfrm>
            <a:off x="658368" y="1938528"/>
            <a:ext cx="8778240" cy="1417320"/>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FFFFFF"/>
              </a:buClr>
              <a:buSzPts val="5800"/>
              <a:buFont typeface="Cormorant Garamond"/>
              <a:buNone/>
            </a:pPr>
            <a:r>
              <a:rPr b="1" i="0" lang="en-US" sz="5700" u="none" cap="none" strike="noStrike">
                <a:solidFill>
                  <a:srgbClr val="FFFFFF"/>
                </a:solidFill>
                <a:latin typeface="Cormorant Garamond"/>
                <a:ea typeface="Cormorant Garamond"/>
                <a:cs typeface="Cormorant Garamond"/>
                <a:sym typeface="Cormorant Garamond"/>
              </a:rPr>
              <a:t>Decide Whether to Stay</a:t>
            </a:r>
            <a:endParaRPr b="1" i="0" sz="5800" u="none" cap="none" strike="noStrike">
              <a:solidFill>
                <a:schemeClr val="dk1"/>
              </a:solidFill>
              <a:latin typeface="Calibri"/>
              <a:ea typeface="Calibri"/>
              <a:cs typeface="Calibri"/>
              <a:sym typeface="Calibri"/>
            </a:endParaRPr>
          </a:p>
          <a:p>
            <a:pPr indent="0" lvl="0" marL="0" marR="0" rtl="0" algn="l">
              <a:lnSpc>
                <a:spcPct val="88000"/>
              </a:lnSpc>
              <a:spcBef>
                <a:spcPts val="0"/>
              </a:spcBef>
              <a:spcAft>
                <a:spcPts val="0"/>
              </a:spcAft>
              <a:buNone/>
            </a:pPr>
            <a:r>
              <a:rPr b="1" i="0" lang="en-US" sz="5700" u="none" cap="none" strike="noStrike">
                <a:solidFill>
                  <a:srgbClr val="FFFFFF"/>
                </a:solidFill>
                <a:latin typeface="Cormorant Garamond"/>
                <a:ea typeface="Cormorant Garamond"/>
                <a:cs typeface="Cormorant Garamond"/>
                <a:sym typeface="Cormorant Garamond"/>
              </a:rPr>
              <a:t>or Leave Your Job</a:t>
            </a:r>
            <a:endParaRPr/>
          </a:p>
        </p:txBody>
      </p:sp>
      <p:sp>
        <p:nvSpPr>
          <p:cNvPr id="20" name="Google Shape;20;p1"/>
          <p:cNvSpPr/>
          <p:nvPr/>
        </p:nvSpPr>
        <p:spPr>
          <a:xfrm>
            <a:off x="658368" y="3493008"/>
            <a:ext cx="10872216" cy="6766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1800"/>
              <a:buFont typeface="DM Sans"/>
              <a:buNone/>
            </a:pPr>
            <a:r>
              <a:rPr b="1" i="0" lang="en-US" sz="2200" u="none" cap="none" strike="noStrike">
                <a:solidFill>
                  <a:srgbClr val="B8C5D9"/>
                </a:solidFill>
                <a:latin typeface="Montserrat"/>
                <a:ea typeface="Montserrat"/>
                <a:cs typeface="Montserrat"/>
                <a:sym typeface="Montserrat"/>
              </a:rPr>
              <a:t>The Capability Position Read</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n-US" sz="1800" u="none" cap="none" strike="noStrike">
                <a:solidFill>
                  <a:srgbClr val="B8C5D9"/>
                </a:solidFill>
                <a:latin typeface="Montserrat"/>
                <a:ea typeface="Montserrat"/>
                <a:cs typeface="Montserrat"/>
                <a:sym typeface="Montserrat"/>
              </a:rPr>
              <a:t>Read what your current work is building before you decide.</a:t>
            </a:r>
            <a:endParaRPr/>
          </a:p>
        </p:txBody>
      </p:sp>
      <p:sp>
        <p:nvSpPr>
          <p:cNvPr id="21" name="Google Shape;21;p1"/>
          <p:cNvSpPr/>
          <p:nvPr/>
        </p:nvSpPr>
        <p:spPr>
          <a:xfrm>
            <a:off x="658368" y="4315968"/>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DM Sans"/>
              <a:buNone/>
            </a:pPr>
            <a:r>
              <a:rPr b="1" i="0" lang="en-US" sz="1500" u="none" cap="none" strike="noStrike">
                <a:solidFill>
                  <a:srgbClr val="FFFFFF"/>
                </a:solidFill>
                <a:latin typeface="DM Sans"/>
                <a:ea typeface="DM Sans"/>
                <a:cs typeface="DM Sans"/>
                <a:sym typeface="DM Sans"/>
              </a:rPr>
              <a:t>Temidayo Afonja</a:t>
            </a:r>
            <a:endParaRPr b="0" i="0" sz="1500" u="none" cap="none" strike="noStrike">
              <a:solidFill>
                <a:schemeClr val="dk1"/>
              </a:solidFill>
              <a:latin typeface="Calibri"/>
              <a:ea typeface="Calibri"/>
              <a:cs typeface="Calibri"/>
              <a:sym typeface="Calibri"/>
            </a:endParaRPr>
          </a:p>
        </p:txBody>
      </p:sp>
      <p:sp>
        <p:nvSpPr>
          <p:cNvPr id="22" name="Google Shape;22;p1"/>
          <p:cNvSpPr/>
          <p:nvPr/>
        </p:nvSpPr>
        <p:spPr>
          <a:xfrm>
            <a:off x="658368" y="4617720"/>
            <a:ext cx="1087221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1200"/>
              <a:buFont typeface="DM Sans"/>
              <a:buNone/>
            </a:pPr>
            <a:r>
              <a:rPr b="0" i="0" lang="en-US" sz="1200" u="none" cap="none" strike="noStrike">
                <a:solidFill>
                  <a:srgbClr val="A9B8D0"/>
                </a:solidFill>
                <a:latin typeface="DM Sans"/>
                <a:ea typeface="DM Sans"/>
                <a:cs typeface="DM Sans"/>
                <a:sym typeface="DM Sans"/>
              </a:rPr>
              <a:t>Founder, The Density Group. Author, The Capability Audit.</a:t>
            </a:r>
            <a:endParaRPr b="0" i="0" sz="1200" u="none" cap="none" strike="noStrike">
              <a:solidFill>
                <a:schemeClr val="dk1"/>
              </a:solidFill>
              <a:latin typeface="Calibri"/>
              <a:ea typeface="Calibri"/>
              <a:cs typeface="Calibri"/>
              <a:sym typeface="Calibri"/>
            </a:endParaRPr>
          </a:p>
        </p:txBody>
      </p:sp>
      <p:sp>
        <p:nvSpPr>
          <p:cNvPr id="23" name="Google Shape;23;p1"/>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p1"/>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 name="Google Shape;25;p1"/>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Google Shape;26;p1"/>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 name="TextBox 26"/>
          <p:cNvSpPr txBox="1"/>
          <p:nvPr/>
        </p:nvSpPr>
        <p:spPr>
          <a:xfrm>
            <a:off x="658368" y="5138928"/>
            <a:ext cx="10872216" cy="274320"/>
          </a:xfrm>
          <a:prstGeom prst="rect">
            <a:avLst/>
          </a:prstGeom>
          <a:noFill/>
        </p:spPr>
        <p:txBody>
          <a:bodyPr wrap="square" lIns="0" rIns="0" tIns="0" bIns="0">
            <a:spAutoFit/>
          </a:bodyPr>
          <a:lstStyle/>
          <a:p>
            <a:r>
              <a:rPr sz="1000" b="1" spc="180">
                <a:solidFill>
                  <a:srgbClr val="B8C5D9"/>
                </a:solidFill>
                <a:latin typeface="Montserrat"/>
              </a:rPr>
              <a:t>A CAPABILITY FORMATION WORKSHOP</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43" name="Shape 43"/>
        <p:cNvGrpSpPr/>
        <p:nvPr/>
      </p:nvGrpSpPr>
      <p:grpSpPr>
        <a:xfrm>
          <a:off x="0" y="0"/>
          <a:ext cx="0" cy="0"/>
          <a:chOff x="0" y="0"/>
          <a:chExt cx="0" cy="0"/>
        </a:xfrm>
      </p:grpSpPr>
      <p:sp>
        <p:nvSpPr>
          <p:cNvPr id="44" name="Google Shape;44;g3f66acc603b_2_0"/>
          <p:cNvSpPr/>
          <p:nvPr/>
        </p:nvSpPr>
        <p:spPr>
          <a:xfrm>
            <a:off x="0" y="6675120"/>
            <a:ext cx="12192000" cy="183000"/>
          </a:xfrm>
          <a:prstGeom prst="rect">
            <a:avLst/>
          </a:prstGeom>
          <a:solidFill>
            <a:srgbClr val="0F2347"/>
          </a:solidFill>
          <a:ln cap="flat" cmpd="sng" w="12700">
            <a:solidFill>
              <a:srgbClr val="0F23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g3f66acc603b_2_0"/>
          <p:cNvSpPr/>
          <p:nvPr/>
        </p:nvSpPr>
        <p:spPr>
          <a:xfrm>
            <a:off x="658386" y="548640"/>
            <a:ext cx="4572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Arial"/>
              <a:buNone/>
            </a:pPr>
            <a:r>
              <a:rPr b="1" lang="en-US" sz="900">
                <a:solidFill>
                  <a:srgbClr val="C9A84C"/>
                </a:solidFill>
                <a:latin typeface="Arial"/>
                <a:ea typeface="Arial"/>
                <a:cs typeface="Arial"/>
                <a:sym typeface="Arial"/>
              </a:rPr>
              <a:t>OPENING POLL</a:t>
            </a:r>
            <a:endParaRPr sz="900">
              <a:solidFill>
                <a:schemeClr val="dk1"/>
              </a:solidFill>
              <a:latin typeface="Arial"/>
              <a:ea typeface="Arial"/>
              <a:cs typeface="Arial"/>
              <a:sym typeface="Arial"/>
            </a:endParaRPr>
          </a:p>
        </p:txBody>
      </p:sp>
      <p:sp>
        <p:nvSpPr>
          <p:cNvPr id="46" name="Google Shape;46;g3f66acc603b_2_0"/>
          <p:cNvSpPr/>
          <p:nvPr/>
        </p:nvSpPr>
        <p:spPr>
          <a:xfrm>
            <a:off x="658386" y="1143000"/>
            <a:ext cx="98757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3400"/>
              <a:buFont typeface="Georgia"/>
              <a:buNone/>
            </a:pPr>
            <a:r>
              <a:rPr b="1" lang="en-US" sz="3400">
                <a:solidFill>
                  <a:srgbClr val="0F2347"/>
                </a:solidFill>
                <a:latin typeface="Georgia"/>
                <a:ea typeface="Georgia"/>
                <a:cs typeface="Georgia"/>
                <a:sym typeface="Georgia"/>
              </a:rPr>
              <a:t>What brought you here today?</a:t>
            </a:r>
            <a:endParaRPr sz="3400">
              <a:solidFill>
                <a:schemeClr val="dk1"/>
              </a:solidFill>
              <a:latin typeface="Arial"/>
              <a:ea typeface="Arial"/>
              <a:cs typeface="Arial"/>
              <a:sym typeface="Arial"/>
            </a:endParaRPr>
          </a:p>
        </p:txBody>
      </p:sp>
      <p:sp>
        <p:nvSpPr>
          <p:cNvPr id="47" name="Google Shape;47;g3f66acc603b_2_0"/>
          <p:cNvSpPr/>
          <p:nvPr/>
        </p:nvSpPr>
        <p:spPr>
          <a:xfrm>
            <a:off x="676674" y="1828800"/>
            <a:ext cx="8778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2B4C"/>
              </a:buClr>
              <a:buSzPts val="1600"/>
              <a:buFont typeface="Arial"/>
              <a:buNone/>
            </a:pPr>
            <a:r>
              <a:rPr lang="en-US" sz="1600">
                <a:solidFill>
                  <a:srgbClr val="152B4C"/>
                </a:solidFill>
                <a:latin typeface="Arial"/>
                <a:ea typeface="Arial"/>
                <a:cs typeface="Arial"/>
                <a:sym typeface="Arial"/>
              </a:rPr>
              <a:t>Choose the closest reason. No explanation needed.</a:t>
            </a:r>
            <a:endParaRPr sz="1600">
              <a:solidFill>
                <a:schemeClr val="dk1"/>
              </a:solidFill>
              <a:latin typeface="Arial"/>
              <a:ea typeface="Arial"/>
              <a:cs typeface="Arial"/>
              <a:sym typeface="Arial"/>
            </a:endParaRPr>
          </a:p>
        </p:txBody>
      </p:sp>
      <p:sp>
        <p:nvSpPr>
          <p:cNvPr id="48" name="Google Shape;48;g3f66acc603b_2_0"/>
          <p:cNvSpPr/>
          <p:nvPr/>
        </p:nvSpPr>
        <p:spPr>
          <a:xfrm>
            <a:off x="868703"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g3f66acc603b_2_0"/>
          <p:cNvSpPr/>
          <p:nvPr/>
        </p:nvSpPr>
        <p:spPr>
          <a:xfrm>
            <a:off x="1069877"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Promotion or larger role</a:t>
            </a:r>
            <a:endParaRPr sz="1500">
              <a:solidFill>
                <a:schemeClr val="dk1"/>
              </a:solidFill>
              <a:latin typeface="Arial"/>
              <a:ea typeface="Arial"/>
              <a:cs typeface="Arial"/>
              <a:sym typeface="Arial"/>
            </a:endParaRPr>
          </a:p>
        </p:txBody>
      </p:sp>
      <p:sp>
        <p:nvSpPr>
          <p:cNvPr id="50" name="Google Shape;50;g3f66acc603b_2_0"/>
          <p:cNvSpPr/>
          <p:nvPr/>
        </p:nvSpPr>
        <p:spPr>
          <a:xfrm>
            <a:off x="6080922"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 name="Google Shape;51;g3f66acc603b_2_0"/>
          <p:cNvSpPr/>
          <p:nvPr/>
        </p:nvSpPr>
        <p:spPr>
          <a:xfrm>
            <a:off x="6282095"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Reorganization or role change</a:t>
            </a:r>
            <a:endParaRPr sz="1500">
              <a:solidFill>
                <a:schemeClr val="dk1"/>
              </a:solidFill>
              <a:latin typeface="Arial"/>
              <a:ea typeface="Arial"/>
              <a:cs typeface="Arial"/>
              <a:sym typeface="Arial"/>
            </a:endParaRPr>
          </a:p>
        </p:txBody>
      </p:sp>
      <p:sp>
        <p:nvSpPr>
          <p:cNvPr id="52" name="Google Shape;52;g3f66acc603b_2_0"/>
          <p:cNvSpPr/>
          <p:nvPr/>
        </p:nvSpPr>
        <p:spPr>
          <a:xfrm>
            <a:off x="868703"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 name="Google Shape;53;g3f66acc603b_2_0"/>
          <p:cNvSpPr/>
          <p:nvPr/>
        </p:nvSpPr>
        <p:spPr>
          <a:xfrm>
            <a:off x="1069877"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Internal move decision</a:t>
            </a:r>
            <a:endParaRPr sz="1500">
              <a:solidFill>
                <a:schemeClr val="dk1"/>
              </a:solidFill>
              <a:latin typeface="Arial"/>
              <a:ea typeface="Arial"/>
              <a:cs typeface="Arial"/>
              <a:sym typeface="Arial"/>
            </a:endParaRPr>
          </a:p>
        </p:txBody>
      </p:sp>
      <p:sp>
        <p:nvSpPr>
          <p:cNvPr id="54" name="Google Shape;54;g3f66acc603b_2_0"/>
          <p:cNvSpPr/>
          <p:nvPr/>
        </p:nvSpPr>
        <p:spPr>
          <a:xfrm>
            <a:off x="6080922"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 name="Google Shape;55;g3f66acc603b_2_0"/>
          <p:cNvSpPr/>
          <p:nvPr/>
        </p:nvSpPr>
        <p:spPr>
          <a:xfrm>
            <a:off x="6282095"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External opportunity</a:t>
            </a:r>
            <a:endParaRPr sz="1500">
              <a:solidFill>
                <a:schemeClr val="dk1"/>
              </a:solidFill>
              <a:latin typeface="Arial"/>
              <a:ea typeface="Arial"/>
              <a:cs typeface="Arial"/>
              <a:sym typeface="Arial"/>
            </a:endParaRPr>
          </a:p>
        </p:txBody>
      </p:sp>
      <p:sp>
        <p:nvSpPr>
          <p:cNvPr id="56" name="Google Shape;56;g3f66acc603b_2_0"/>
          <p:cNvSpPr/>
          <p:nvPr/>
        </p:nvSpPr>
        <p:spPr>
          <a:xfrm>
            <a:off x="868703"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 name="Google Shape;57;g3f66acc603b_2_0"/>
          <p:cNvSpPr/>
          <p:nvPr/>
        </p:nvSpPr>
        <p:spPr>
          <a:xfrm>
            <a:off x="1069877"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My role feels static</a:t>
            </a:r>
            <a:endParaRPr sz="1500">
              <a:solidFill>
                <a:schemeClr val="dk1"/>
              </a:solidFill>
              <a:latin typeface="Arial"/>
              <a:ea typeface="Arial"/>
              <a:cs typeface="Arial"/>
              <a:sym typeface="Arial"/>
            </a:endParaRPr>
          </a:p>
        </p:txBody>
      </p:sp>
      <p:sp>
        <p:nvSpPr>
          <p:cNvPr id="58" name="Google Shape;58;g3f66acc603b_2_0"/>
          <p:cNvSpPr/>
          <p:nvPr/>
        </p:nvSpPr>
        <p:spPr>
          <a:xfrm>
            <a:off x="6080922"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 name="Google Shape;59;g3f66acc603b_2_0"/>
          <p:cNvSpPr/>
          <p:nvPr/>
        </p:nvSpPr>
        <p:spPr>
          <a:xfrm>
            <a:off x="6282095"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General uncertainty</a:t>
            </a:r>
            <a:endParaRPr sz="1500">
              <a:solidFill>
                <a:schemeClr val="dk1"/>
              </a:solidFill>
              <a:latin typeface="Arial"/>
              <a:ea typeface="Arial"/>
              <a:cs typeface="Arial"/>
              <a:sym typeface="Arial"/>
            </a:endParaRPr>
          </a:p>
        </p:txBody>
      </p:sp>
      <p:sp>
        <p:nvSpPr>
          <p:cNvPr id="60" name="Google Shape;60;g3f66acc603b_2_0"/>
          <p:cNvSpPr/>
          <p:nvPr/>
        </p:nvSpPr>
        <p:spPr>
          <a:xfrm>
            <a:off x="658386" y="6464808"/>
            <a:ext cx="49377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760"/>
              <a:buFont typeface="Arial"/>
              <a:buNone/>
            </a:pPr>
            <a:r>
              <a:rPr b="1" lang="en-US" sz="760">
                <a:solidFill>
                  <a:srgbClr val="0F2347"/>
                </a:solidFill>
                <a:latin typeface="Arial"/>
                <a:ea typeface="Arial"/>
                <a:cs typeface="Arial"/>
                <a:sym typeface="Arial"/>
              </a:rPr>
              <a:t>TEMIDAYO AFONJA   |   TEMIDAYOAFONJA.COM</a:t>
            </a:r>
            <a:endParaRPr sz="760">
              <a:solidFill>
                <a:schemeClr val="dk1"/>
              </a:solidFill>
              <a:latin typeface="Arial"/>
              <a:ea typeface="Arial"/>
              <a:cs typeface="Arial"/>
              <a:sym typeface="Arial"/>
            </a:endParaRPr>
          </a:p>
        </p:txBody>
      </p:sp>
      <p:sp>
        <p:nvSpPr>
          <p:cNvPr id="61" name="Google Shape;61;g3f66acc603b_2_0"/>
          <p:cNvSpPr/>
          <p:nvPr/>
        </p:nvSpPr>
        <p:spPr>
          <a:xfrm>
            <a:off x="11430305" y="6464808"/>
            <a:ext cx="255900" cy="164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F0E8"/>
              </a:buClr>
              <a:buSzPts val="760"/>
              <a:buFont typeface="Arial"/>
              <a:buNone/>
            </a:pPr>
            <a:r>
              <a:rPr b="1" lang="en-US" sz="760">
                <a:solidFill>
                  <a:srgbClr val="F5F0E8"/>
                </a:solidFill>
                <a:latin typeface="Arial"/>
                <a:ea typeface="Arial"/>
                <a:cs typeface="Arial"/>
                <a:sym typeface="Arial"/>
              </a:rPr>
              <a:t>2</a:t>
            </a:r>
            <a:endParaRPr sz="760">
              <a:solidFill>
                <a:schemeClr val="dk1"/>
              </a:solidFill>
              <a:latin typeface="Arial"/>
              <a:ea typeface="Arial"/>
              <a:cs typeface="Arial"/>
              <a:sym typeface="Arial"/>
            </a:endParaRPr>
          </a:p>
        </p:txBody>
      </p:sp>
      <p:pic>
        <p:nvPicPr>
          <p:cNvPr descr="opening_poll_question_mark_icon_crop_clean.png" id="62" name="Google Shape;62;g3f66acc603b_2_0"/>
          <p:cNvPicPr preferRelativeResize="0"/>
          <p:nvPr/>
        </p:nvPicPr>
        <p:blipFill rotWithShape="1">
          <a:blip r:embed="rId3">
            <a:alphaModFix/>
          </a:blip>
          <a:srcRect b="0" l="0" r="0" t="0"/>
          <a:stretch/>
        </p:blipFill>
        <p:spPr>
          <a:xfrm>
            <a:off x="10195832" y="502920"/>
            <a:ext cx="1081007" cy="14173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7" name="Shape 67"/>
        <p:cNvGrpSpPr/>
        <p:nvPr/>
      </p:nvGrpSpPr>
      <p:grpSpPr>
        <a:xfrm>
          <a:off x="0" y="0"/>
          <a:ext cx="0" cy="0"/>
          <a:chOff x="0" y="0"/>
          <a:chExt cx="0" cy="0"/>
        </a:xfrm>
      </p:grpSpPr>
      <p:sp>
        <p:nvSpPr>
          <p:cNvPr id="68" name="Google Shape;68;p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9" name="Google Shape;69;p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a:t>
            </a:r>
            <a:endParaRPr/>
          </a:p>
        </p:txBody>
      </p:sp>
      <p:sp>
        <p:nvSpPr>
          <p:cNvPr id="70" name="Google Shape;70;p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BOUNDARY</a:t>
            </a:r>
            <a:endParaRPr b="0" i="0" sz="1100" u="none" cap="none" strike="noStrike">
              <a:solidFill>
                <a:schemeClr val="dk1"/>
              </a:solidFill>
              <a:latin typeface="Calibri"/>
              <a:ea typeface="Calibri"/>
              <a:cs typeface="Calibri"/>
              <a:sym typeface="Calibri"/>
            </a:endParaRPr>
          </a:p>
        </p:txBody>
      </p:sp>
      <p:sp>
        <p:nvSpPr>
          <p:cNvPr id="71" name="Google Shape;71;p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this read will not do</a:t>
            </a:r>
            <a:endParaRPr b="0" i="0" sz="3800" u="none" cap="none" strike="noStrike">
              <a:solidFill>
                <a:schemeClr val="dk1"/>
              </a:solidFill>
              <a:latin typeface="Calibri"/>
              <a:ea typeface="Calibri"/>
              <a:cs typeface="Calibri"/>
              <a:sym typeface="Calibri"/>
            </a:endParaRPr>
          </a:p>
        </p:txBody>
      </p:sp>
      <p:sp>
        <p:nvSpPr>
          <p:cNvPr id="72" name="Google Shape;72;p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Read this first. It is what you can hold me to.</a:t>
            </a:r>
            <a:endParaRPr b="0" i="0" sz="1500" u="none" cap="none" strike="noStrike">
              <a:solidFill>
                <a:schemeClr val="dk1"/>
              </a:solidFill>
              <a:latin typeface="Calibri"/>
              <a:ea typeface="Calibri"/>
              <a:cs typeface="Calibri"/>
              <a:sym typeface="Calibri"/>
            </a:endParaRPr>
          </a:p>
        </p:txBody>
      </p:sp>
      <p:sp>
        <p:nvSpPr>
          <p:cNvPr id="73" name="Google Shape;73;p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3"/>
          <p:cNvSpPr/>
          <p:nvPr/>
        </p:nvSpPr>
        <p:spPr>
          <a:xfrm>
            <a:off x="658368" y="184708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This read will not tell you to stay or leave.</a:t>
            </a:r>
            <a:endParaRPr b="0" i="0" sz="2600" u="none" cap="none" strike="noStrike">
              <a:solidFill>
                <a:schemeClr val="dk1"/>
              </a:solidFill>
              <a:latin typeface="Calibri"/>
              <a:ea typeface="Calibri"/>
              <a:cs typeface="Calibri"/>
              <a:sym typeface="Calibri"/>
            </a:endParaRPr>
          </a:p>
        </p:txBody>
      </p:sp>
      <p:sp>
        <p:nvSpPr>
          <p:cNvPr id="75" name="Google Shape;75;p3"/>
          <p:cNvSpPr/>
          <p:nvPr/>
        </p:nvSpPr>
        <p:spPr>
          <a:xfrm>
            <a:off x="658368" y="2432304"/>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It helps you determine what your current environment is building in you, what remains portable, and what category of move your evidence supports testing.</a:t>
            </a:r>
            <a:endParaRPr b="0" i="0" sz="2100" u="none" cap="none" strike="noStrike">
              <a:solidFill>
                <a:schemeClr val="dk1"/>
              </a:solidFill>
              <a:latin typeface="Calibri"/>
              <a:ea typeface="Calibri"/>
              <a:cs typeface="Calibri"/>
              <a:sym typeface="Calibri"/>
            </a:endParaRPr>
          </a:p>
        </p:txBody>
      </p:sp>
      <p:sp>
        <p:nvSpPr>
          <p:cNvPr id="76" name="Google Shape;76;p3"/>
          <p:cNvSpPr/>
          <p:nvPr/>
        </p:nvSpPr>
        <p:spPr>
          <a:xfrm>
            <a:off x="658368" y="358444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77" name="Google Shape;77;p3"/>
          <p:cNvSpPr/>
          <p:nvPr/>
        </p:nvSpPr>
        <p:spPr>
          <a:xfrm>
            <a:off x="658368"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3"/>
          <p:cNvSpPr/>
          <p:nvPr/>
        </p:nvSpPr>
        <p:spPr>
          <a:xfrm>
            <a:off x="877824"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PRIVATE SCORING</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Your scores, state, and workbook responses remain private. Only anonymous room-level counts are collected.</a:t>
            </a:r>
            <a:endParaRPr/>
          </a:p>
        </p:txBody>
      </p:sp>
      <p:sp>
        <p:nvSpPr>
          <p:cNvPr id="79" name="Google Shape;79;p3"/>
          <p:cNvSpPr/>
          <p:nvPr/>
        </p:nvSpPr>
        <p:spPr>
          <a:xfrm>
            <a:off x="6391656"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 name="Google Shape;80;p3"/>
          <p:cNvSpPr/>
          <p:nvPr/>
        </p:nvSpPr>
        <p:spPr>
          <a:xfrm>
            <a:off x="6611112"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RECORDING BOUNDARY</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Teaching segments only. Scoring, discussion, and writing time are never recorded.</a:t>
            </a:r>
            <a:endParaRPr/>
          </a:p>
        </p:txBody>
      </p:sp>
      <p:sp>
        <p:nvSpPr>
          <p:cNvPr id="81" name="Google Shape;81;p3"/>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3"/>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400"/>
              <a:buFont typeface="DM Sans"/>
              <a:buNone/>
            </a:pPr>
            <a:r>
              <a:rPr b="0" i="0" lang="en-US" sz="1400" u="none" cap="none" strike="noStrike">
                <a:solidFill>
                  <a:srgbClr val="0F2347"/>
                </a:solidFill>
                <a:latin typeface="DM Sans"/>
                <a:ea typeface="DM Sans"/>
                <a:cs typeface="DM Sans"/>
                <a:sym typeface="DM Sans"/>
              </a:rPr>
              <a:t>This read informs a career decision. It does not replace financial, legal, medical, immigration, contractual or family judgment.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7" name="Shape 87"/>
        <p:cNvGrpSpPr/>
        <p:nvPr/>
      </p:nvGrpSpPr>
      <p:grpSpPr>
        <a:xfrm>
          <a:off x="0" y="0"/>
          <a:ext cx="0" cy="0"/>
          <a:chOff x="0" y="0"/>
          <a:chExt cx="0" cy="0"/>
        </a:xfrm>
      </p:grpSpPr>
      <p:sp>
        <p:nvSpPr>
          <p:cNvPr id="88" name="Google Shape;88;p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9" name="Google Shape;89;p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a:t>
            </a:r>
            <a:endParaRPr/>
          </a:p>
        </p:txBody>
      </p:sp>
      <p:sp>
        <p:nvSpPr>
          <p:cNvPr id="90" name="Google Shape;90;p4"/>
          <p:cNvSpPr/>
          <p:nvPr/>
        </p:nvSpPr>
        <p:spPr>
          <a:xfrm>
            <a:off x="658368" y="347472"/>
            <a:ext cx="7223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WELCOME</a:t>
            </a:r>
            <a:endParaRPr b="0" i="0" sz="1300" u="none" cap="none" strike="noStrike">
              <a:solidFill>
                <a:schemeClr val="dk1"/>
              </a:solidFill>
              <a:latin typeface="Calibri"/>
              <a:ea typeface="Calibri"/>
              <a:cs typeface="Calibri"/>
              <a:sym typeface="Calibri"/>
            </a:endParaRPr>
          </a:p>
        </p:txBody>
      </p:sp>
      <p:sp>
        <p:nvSpPr>
          <p:cNvPr id="91" name="Google Shape;91;p4"/>
          <p:cNvSpPr/>
          <p:nvPr/>
        </p:nvSpPr>
        <p:spPr>
          <a:xfrm>
            <a:off x="658368" y="640080"/>
            <a:ext cx="7223760" cy="1188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50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Why I Built the Capability Position Read</a:t>
            </a:r>
            <a:endParaRPr b="0" i="0" sz="5000" u="none" cap="none" strike="noStrike">
              <a:solidFill>
                <a:schemeClr val="dk1"/>
              </a:solidFill>
              <a:latin typeface="Calibri"/>
              <a:ea typeface="Calibri"/>
              <a:cs typeface="Calibri"/>
              <a:sym typeface="Calibri"/>
            </a:endParaRPr>
          </a:p>
        </p:txBody>
      </p:sp>
      <p:sp>
        <p:nvSpPr>
          <p:cNvPr id="92" name="WelcomeNameCredential"/>
          <p:cNvSpPr txBox="1"/>
          <p:nvPr/>
        </p:nvSpPr>
        <p:spPr>
          <a:xfrm>
            <a:off x="658368" y="1874519"/>
            <a:ext cx="7223760" cy="685800"/>
          </a:xfrm>
          <a:prstGeom prst="rect">
            <a:avLst/>
          </a:prstGeom>
          <a:noFill/>
        </p:spPr>
        <p:txBody>
          <a:bodyPr wrap="square" lIns="0" rIns="0" tIns="0" bIns="0">
            <a:noAutofit/>
          </a:bodyPr>
          <a:lstStyle/>
          <a:p>
            <a:pPr>
              <a:lnSpc>
                <a:spcPct val="115000"/>
              </a:lnSpc>
            </a:pPr>
            <a:r>
              <a:rPr sz="1600" b="1" i="0">
                <a:solidFill>
                  <a:srgbClr val="0F2347"/>
                </a:solidFill>
                <a:latin typeface="DM Sans"/>
              </a:rPr>
              <a:t>Temidayo Afonja</a:t>
            </a:r>
          </a:p>
          <a:p>
            <a:pPr>
              <a:lnSpc>
                <a:spcPct val="120000"/>
              </a:lnSpc>
              <a:spcBef>
                <a:spcPts val="400"/>
              </a:spcBef>
            </a:pPr>
            <a:r>
              <a:rPr sz="1300" b="0" i="0">
                <a:solidFill>
                  <a:srgbClr val="0F2347"/>
                </a:solidFill>
                <a:latin typeface="DM Sans"/>
              </a:rPr>
              <a:t>Organizational capability strategist. Founder, The Density Group. Author, The Capability Audit.</a:t>
            </a:r>
          </a:p>
        </p:txBody>
      </p:sp>
      <p:sp>
        <p:nvSpPr>
          <p:cNvPr id="93" name="WelcomeBio"/>
          <p:cNvSpPr txBox="1"/>
          <p:nvPr/>
        </p:nvSpPr>
        <p:spPr>
          <a:xfrm>
            <a:off x="658368" y="2606040"/>
            <a:ext cx="7223760" cy="868680"/>
          </a:xfrm>
          <a:prstGeom prst="rect">
            <a:avLst/>
          </a:prstGeom>
          <a:noFill/>
        </p:spPr>
        <p:txBody>
          <a:bodyPr wrap="square" lIns="0" rIns="0" tIns="0" bIns="0">
            <a:noAutofit/>
          </a:bodyPr>
          <a:lstStyle/>
          <a:p>
            <a:pPr>
              <a:lnSpc>
                <a:spcPct val="125000"/>
              </a:lnSpc>
            </a:pPr>
            <a:r>
              <a:rPr sz="1400" b="0" i="0">
                <a:solidFill>
                  <a:srgbClr val="0F2347"/>
                </a:solidFill>
                <a:latin typeface="DM Sans"/>
              </a:rPr>
              <a:t>For nearly two decades, I worked inside enterprise rooms where performance, promotion, capability, and organizational change were assessed.</a:t>
            </a:r>
          </a:p>
        </p:txBody>
      </p:sp>
      <p:sp>
        <p:nvSpPr>
          <p:cNvPr id="94" name="WelcomeQuotePanel"/>
          <p:cNvSpPr/>
          <p:nvPr/>
        </p:nvSpPr>
        <p:spPr>
          <a:xfrm>
            <a:off x="658368" y="3611880"/>
            <a:ext cx="7223760" cy="960120"/>
          </a:xfrm>
          <a:prstGeom prst="roundRect">
            <a:avLst>
              <a:gd name="adj" fmla="val 6000"/>
            </a:avLst>
          </a:prstGeom>
          <a:solidFill>
            <a:srgbClr val="E8D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WelcomeQuoteBar"/>
          <p:cNvSpPr/>
          <p:nvPr/>
        </p:nvSpPr>
        <p:spPr>
          <a:xfrm>
            <a:off x="658368" y="3611880"/>
            <a:ext cx="64008" cy="96012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WelcomeQuoteText"/>
          <p:cNvSpPr txBox="1"/>
          <p:nvPr/>
        </p:nvSpPr>
        <p:spPr>
          <a:xfrm>
            <a:off x="932688" y="3776472"/>
            <a:ext cx="6720840" cy="685800"/>
          </a:xfrm>
          <a:prstGeom prst="rect">
            <a:avLst/>
          </a:prstGeom>
          <a:noFill/>
        </p:spPr>
        <p:txBody>
          <a:bodyPr wrap="square" lIns="0" rIns="0" tIns="0" bIns="0">
            <a:noAutofit/>
          </a:bodyPr>
          <a:lstStyle/>
          <a:p>
            <a:pPr>
              <a:lnSpc>
                <a:spcPct val="125000"/>
              </a:lnSpc>
            </a:pPr>
            <a:r>
              <a:rPr sz="1500" b="0" i="1">
                <a:solidFill>
                  <a:srgbClr val="0F2347"/>
                </a:solidFill>
                <a:latin typeface="DM Sans"/>
              </a:rPr>
              <a:t>“My performance had shaped my standing. It had not insulated the role from a change in structure.”</a:t>
            </a:r>
          </a:p>
        </p:txBody>
      </p:sp>
      <p:sp>
        <p:nvSpPr>
          <p:cNvPr id="97" name="WelcomeClosing"/>
          <p:cNvSpPr txBox="1"/>
          <p:nvPr/>
        </p:nvSpPr>
        <p:spPr>
          <a:xfrm>
            <a:off x="658368" y="4846320"/>
            <a:ext cx="7223760" cy="960120"/>
          </a:xfrm>
          <a:prstGeom prst="rect">
            <a:avLst/>
          </a:prstGeom>
          <a:noFill/>
        </p:spPr>
        <p:txBody>
          <a:bodyPr wrap="square" lIns="0" rIns="0" tIns="0" bIns="0">
            <a:noAutofit/>
          </a:bodyPr>
          <a:lstStyle/>
          <a:p>
            <a:pPr>
              <a:lnSpc>
                <a:spcPct val="125000"/>
              </a:lnSpc>
            </a:pPr>
            <a:r>
              <a:rPr sz="1400" b="0" i="0">
                <a:solidFill>
                  <a:srgbClr val="0F2347"/>
                </a:solidFill>
                <a:latin typeface="DM Sans"/>
              </a:rPr>
              <a:t>That experience led me to build a more disciplined way to read what a role is forming, what travels, and what category of move the evidence supports testing.</a:t>
            </a:r>
          </a:p>
        </p:txBody>
      </p:sp>
      <p:pic>
        <p:nvPicPr>
          <p:cNvPr id="98" name="WelcomeHeadshot" descr="temi-photo.jpg"/>
          <p:cNvPicPr>
            <a:picLocks noChangeAspect="1"/>
          </p:cNvPicPr>
          <p:nvPr/>
        </p:nvPicPr>
        <p:blipFill>
          <a:blip r:embed="rId3"/>
          <a:stretch>
            <a:fillRect/>
          </a:stretch>
        </p:blipFill>
        <p:spPr>
          <a:xfrm>
            <a:off x="8366760" y="2148840"/>
            <a:ext cx="2743200" cy="2743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1" name="Shape 101"/>
        <p:cNvGrpSpPr/>
        <p:nvPr/>
      </p:nvGrpSpPr>
      <p:grpSpPr>
        <a:xfrm>
          <a:off x="0" y="0"/>
          <a:ext cx="0" cy="0"/>
          <a:chOff x="0" y="0"/>
          <a:chExt cx="0" cy="0"/>
        </a:xfrm>
      </p:grpSpPr>
      <p:sp>
        <p:nvSpPr>
          <p:cNvPr id="102" name="Google Shape;102;p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03" name="Google Shape;103;p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5</a:t>
            </a:r>
            <a:endParaRPr/>
          </a:p>
        </p:txBody>
      </p:sp>
      <p:sp>
        <p:nvSpPr>
          <p:cNvPr id="104" name="Google Shape;104;p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VANTAGE</a:t>
            </a:r>
            <a:endParaRPr b="0" i="0" sz="1100" u="none" cap="none" strike="noStrike">
              <a:solidFill>
                <a:schemeClr val="dk1"/>
              </a:solidFill>
              <a:latin typeface="Calibri"/>
              <a:ea typeface="Calibri"/>
              <a:cs typeface="Calibri"/>
              <a:sym typeface="Calibri"/>
            </a:endParaRPr>
          </a:p>
        </p:txBody>
      </p:sp>
      <p:sp>
        <p:nvSpPr>
          <p:cNvPr id="105" name="Google Shape;105;p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gets weighed when the doors close</a:t>
            </a:r>
            <a:endParaRPr b="0" i="0" sz="3800" u="none" cap="none" strike="noStrike">
              <a:solidFill>
                <a:schemeClr val="dk1"/>
              </a:solidFill>
              <a:latin typeface="Calibri"/>
              <a:ea typeface="Calibri"/>
              <a:cs typeface="Calibri"/>
              <a:sym typeface="Calibri"/>
            </a:endParaRPr>
          </a:p>
        </p:txBody>
      </p:sp>
      <p:sp>
        <p:nvSpPr>
          <p:cNvPr id="106" name="Google Shape;106;p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questions. None of them appear on your review form.</a:t>
            </a:r>
            <a:endParaRPr b="0" i="0" sz="1500" u="none" cap="none" strike="noStrike">
              <a:solidFill>
                <a:schemeClr val="dk1"/>
              </a:solidFill>
              <a:latin typeface="Calibri"/>
              <a:ea typeface="Calibri"/>
              <a:cs typeface="Calibri"/>
              <a:sym typeface="Calibri"/>
            </a:endParaRPr>
          </a:p>
        </p:txBody>
      </p:sp>
      <p:sp>
        <p:nvSpPr>
          <p:cNvPr id="107" name="Google Shape;107;p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5"/>
          <p:cNvSpPr/>
          <p:nvPr/>
        </p:nvSpPr>
        <p:spPr>
          <a:xfrm>
            <a:off x="658368"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109" name="Google Shape;109;p5"/>
          <p:cNvSpPr/>
          <p:nvPr/>
        </p:nvSpPr>
        <p:spPr>
          <a:xfrm>
            <a:off x="1344168"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How hard would this person be to replace?</a:t>
            </a:r>
            <a:endParaRPr b="0" i="0" sz="2000" u="none" cap="none" strike="noStrike">
              <a:solidFill>
                <a:schemeClr val="dk1"/>
              </a:solidFill>
              <a:latin typeface="Calibri"/>
              <a:ea typeface="Calibri"/>
              <a:cs typeface="Calibri"/>
              <a:sym typeface="Calibri"/>
            </a:endParaRPr>
          </a:p>
        </p:txBody>
      </p:sp>
      <p:sp>
        <p:nvSpPr>
          <p:cNvPr id="110" name="Google Shape;110;p5"/>
          <p:cNvSpPr/>
          <p:nvPr/>
        </p:nvSpPr>
        <p:spPr>
          <a:xfrm>
            <a:off x="6208776"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111" name="Google Shape;111;p5"/>
          <p:cNvSpPr/>
          <p:nvPr/>
        </p:nvSpPr>
        <p:spPr>
          <a:xfrm>
            <a:off x="6894576"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Who outside this person’s manager can vouch for the work?</a:t>
            </a:r>
            <a:endParaRPr b="0" i="0" sz="2000" u="none" cap="none" strike="noStrike">
              <a:solidFill>
                <a:schemeClr val="dk1"/>
              </a:solidFill>
              <a:latin typeface="Calibri"/>
              <a:ea typeface="Calibri"/>
              <a:cs typeface="Calibri"/>
              <a:sym typeface="Calibri"/>
            </a:endParaRPr>
          </a:p>
        </p:txBody>
      </p:sp>
      <p:sp>
        <p:nvSpPr>
          <p:cNvPr id="112" name="Google Shape;112;p5"/>
          <p:cNvSpPr/>
          <p:nvPr/>
        </p:nvSpPr>
        <p:spPr>
          <a:xfrm>
            <a:off x="658368"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113" name="Google Shape;113;p5"/>
          <p:cNvSpPr/>
          <p:nvPr/>
        </p:nvSpPr>
        <p:spPr>
          <a:xfrm>
            <a:off x="1344168"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Is this capability current, or was it current?</a:t>
            </a:r>
            <a:endParaRPr b="0" i="0" sz="2000" u="none" cap="none" strike="noStrike">
              <a:solidFill>
                <a:schemeClr val="dk1"/>
              </a:solidFill>
              <a:latin typeface="Calibri"/>
              <a:ea typeface="Calibri"/>
              <a:cs typeface="Calibri"/>
              <a:sym typeface="Calibri"/>
            </a:endParaRPr>
          </a:p>
        </p:txBody>
      </p:sp>
      <p:sp>
        <p:nvSpPr>
          <p:cNvPr id="114" name="Google Shape;114;p5"/>
          <p:cNvSpPr/>
          <p:nvPr/>
        </p:nvSpPr>
        <p:spPr>
          <a:xfrm>
            <a:off x="6208776"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115" name="Google Shape;115;p5"/>
          <p:cNvSpPr/>
          <p:nvPr/>
        </p:nvSpPr>
        <p:spPr>
          <a:xfrm>
            <a:off x="6894576"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Does this person’s value travel, or does it only work here?</a:t>
            </a:r>
            <a:endParaRPr b="0" i="0" sz="2000" u="none" cap="none" strike="noStrike">
              <a:solidFill>
                <a:schemeClr val="dk1"/>
              </a:solidFill>
              <a:latin typeface="Calibri"/>
              <a:ea typeface="Calibri"/>
              <a:cs typeface="Calibri"/>
              <a:sym typeface="Calibri"/>
            </a:endParaRPr>
          </a:p>
        </p:txBody>
      </p:sp>
      <p:sp>
        <p:nvSpPr>
          <p:cNvPr id="116" name="Google Shape;116;p5"/>
          <p:cNvSpPr/>
          <p:nvPr/>
        </p:nvSpPr>
        <p:spPr>
          <a:xfrm>
            <a:off x="658368" y="4590288"/>
            <a:ext cx="10872216" cy="8412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Density and Optionality read the formation and portability questions underneath them.</a:t>
            </a:r>
            <a:endParaRPr b="0" i="0" sz="2000" u="none" cap="none" strike="noStrike">
              <a:solidFill>
                <a:schemeClr val="dk1"/>
              </a:solidFill>
              <a:latin typeface="Calibri"/>
              <a:ea typeface="Calibri"/>
              <a:cs typeface="Calibri"/>
              <a:sym typeface="Calibri"/>
            </a:endParaRPr>
          </a:p>
        </p:txBody>
      </p:sp>
      <p:sp>
        <p:nvSpPr>
          <p:cNvPr id="117" name="Google Shape;117;p5"/>
          <p:cNvSpPr/>
          <p:nvPr/>
        </p:nvSpPr>
        <p:spPr>
          <a:xfrm>
            <a:off x="658368" y="557784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5"/>
          <p:cNvSpPr/>
          <p:nvPr/>
        </p:nvSpPr>
        <p:spPr>
          <a:xfrm>
            <a:off x="658368" y="572414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room reads your position whether or not you have.</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3" name="Shape 123"/>
        <p:cNvGrpSpPr/>
        <p:nvPr/>
      </p:nvGrpSpPr>
      <p:grpSpPr>
        <a:xfrm>
          <a:off x="0" y="0"/>
          <a:ext cx="0" cy="0"/>
          <a:chOff x="0" y="0"/>
          <a:chExt cx="0" cy="0"/>
        </a:xfrm>
      </p:grpSpPr>
      <p:sp>
        <p:nvSpPr>
          <p:cNvPr id="124" name="Google Shape;124;p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25" name="Google Shape;125;p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6</a:t>
            </a:r>
            <a:endParaRPr/>
          </a:p>
        </p:txBody>
      </p:sp>
      <p:sp>
        <p:nvSpPr>
          <p:cNvPr id="126" name="Google Shape;126;p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REFRAME</a:t>
            </a:r>
            <a:endParaRPr b="0" i="0" sz="1100" u="none" cap="none" strike="noStrike">
              <a:solidFill>
                <a:schemeClr val="dk1"/>
              </a:solidFill>
              <a:latin typeface="Calibri"/>
              <a:ea typeface="Calibri"/>
              <a:cs typeface="Calibri"/>
              <a:sym typeface="Calibri"/>
            </a:endParaRPr>
          </a:p>
        </p:txBody>
      </p:sp>
      <p:sp>
        <p:nvSpPr>
          <p:cNvPr id="127" name="Google Shape;127;p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question underneath the question</a:t>
            </a:r>
            <a:endParaRPr b="0" i="0" sz="3800" u="none" cap="none" strike="noStrike">
              <a:solidFill>
                <a:schemeClr val="dk1"/>
              </a:solidFill>
              <a:latin typeface="Calibri"/>
              <a:ea typeface="Calibri"/>
              <a:cs typeface="Calibri"/>
              <a:sym typeface="Calibri"/>
            </a:endParaRPr>
          </a:p>
        </p:txBody>
      </p:sp>
      <p:sp>
        <p:nvSpPr>
          <p:cNvPr id="128" name="Google Shape;128;p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fair question, and a reading that sits upstream of it.</a:t>
            </a:r>
            <a:endParaRPr b="0" i="0" sz="1500" u="none" cap="none" strike="noStrike">
              <a:solidFill>
                <a:schemeClr val="dk1"/>
              </a:solidFill>
              <a:latin typeface="Calibri"/>
              <a:ea typeface="Calibri"/>
              <a:cs typeface="Calibri"/>
              <a:sym typeface="Calibri"/>
            </a:endParaRPr>
          </a:p>
        </p:txBody>
      </p:sp>
      <p:sp>
        <p:nvSpPr>
          <p:cNvPr id="129" name="Google Shape;129;p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p6"/>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CAME IN ASKING</a:t>
            </a:r>
            <a:endParaRPr b="0" i="0" sz="1100" u="none" cap="none" strike="noStrike">
              <a:solidFill>
                <a:schemeClr val="dk1"/>
              </a:solidFill>
              <a:latin typeface="Calibri"/>
              <a:ea typeface="Calibri"/>
              <a:cs typeface="Calibri"/>
              <a:sym typeface="Calibri"/>
            </a:endParaRPr>
          </a:p>
        </p:txBody>
      </p:sp>
      <p:sp>
        <p:nvSpPr>
          <p:cNvPr id="131" name="Google Shape;131;p6"/>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NEED TO READ FIRST</a:t>
            </a:r>
            <a:endParaRPr b="0" i="0" sz="1100" u="none" cap="none" strike="noStrike">
              <a:solidFill>
                <a:schemeClr val="dk1"/>
              </a:solidFill>
              <a:latin typeface="Calibri"/>
              <a:ea typeface="Calibri"/>
              <a:cs typeface="Calibri"/>
              <a:sym typeface="Calibri"/>
            </a:endParaRPr>
          </a:p>
        </p:txBody>
      </p:sp>
      <p:sp>
        <p:nvSpPr>
          <p:cNvPr id="132" name="Google Shape;132;p6"/>
          <p:cNvSpPr/>
          <p:nvPr/>
        </p:nvSpPr>
        <p:spPr>
          <a:xfrm>
            <a:off x="65836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89611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“Should I stay in this role, or should I go?”</a:t>
            </a:r>
            <a:endParaRPr b="0" i="0" sz="2400" u="none" cap="none" strike="noStrike">
              <a:solidFill>
                <a:schemeClr val="dk1"/>
              </a:solidFill>
              <a:latin typeface="Calibri"/>
              <a:ea typeface="Calibri"/>
              <a:cs typeface="Calibri"/>
              <a:sym typeface="Calibri"/>
            </a:endParaRPr>
          </a:p>
        </p:txBody>
      </p:sp>
      <p:sp>
        <p:nvSpPr>
          <p:cNvPr id="134" name="Google Shape;134;p6"/>
          <p:cNvSpPr/>
          <p:nvPr/>
        </p:nvSpPr>
        <p:spPr>
          <a:xfrm>
            <a:off x="623620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6"/>
          <p:cNvSpPr/>
          <p:nvPr/>
        </p:nvSpPr>
        <p:spPr>
          <a:xfrm>
            <a:off x="647395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“Is this position still forming me, and does what it built travel?”</a:t>
            </a:r>
            <a:endParaRPr b="0" i="0" sz="2400" u="none" cap="none" strike="noStrike">
              <a:solidFill>
                <a:schemeClr val="dk1"/>
              </a:solidFill>
              <a:latin typeface="Calibri"/>
              <a:ea typeface="Calibri"/>
              <a:cs typeface="Calibri"/>
              <a:sym typeface="Calibri"/>
            </a:endParaRPr>
          </a:p>
        </p:txBody>
      </p:sp>
      <p:sp>
        <p:nvSpPr>
          <p:cNvPr id="136" name="Google Shape;136;p6"/>
          <p:cNvSpPr/>
          <p:nvPr/>
        </p:nvSpPr>
        <p:spPr>
          <a:xfrm>
            <a:off x="658368" y="4133088"/>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first question is yours alone. The second sits upstream of it, and this room can read it more rigorously.</a:t>
            </a:r>
            <a:endParaRPr b="0" i="0" sz="2000" u="none" cap="none" strike="noStrike">
              <a:solidFill>
                <a:schemeClr val="dk1"/>
              </a:solidFill>
              <a:latin typeface="Calibri"/>
              <a:ea typeface="Calibri"/>
              <a:cs typeface="Calibri"/>
              <a:sym typeface="Calibri"/>
            </a:endParaRPr>
          </a:p>
        </p:txBody>
      </p:sp>
      <p:sp>
        <p:nvSpPr>
          <p:cNvPr id="137" name="Google Shape;137;p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3" name="Shape 143"/>
        <p:cNvGrpSpPr/>
        <p:nvPr/>
      </p:nvGrpSpPr>
      <p:grpSpPr>
        <a:xfrm>
          <a:off x="0" y="0"/>
          <a:ext cx="0" cy="0"/>
          <a:chOff x="0" y="0"/>
          <a:chExt cx="0" cy="0"/>
        </a:xfrm>
      </p:grpSpPr>
      <p:sp>
        <p:nvSpPr>
          <p:cNvPr id="144" name="Google Shape;144;p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45" name="Google Shape;145;p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7</a:t>
            </a:r>
            <a:endParaRPr/>
          </a:p>
        </p:txBody>
      </p:sp>
      <p:sp>
        <p:nvSpPr>
          <p:cNvPr id="146" name="Google Shape;146;p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ORIENTATION</a:t>
            </a:r>
            <a:endParaRPr b="0" i="0" sz="1100" u="none" cap="none" strike="noStrike">
              <a:solidFill>
                <a:schemeClr val="dk1"/>
              </a:solidFill>
              <a:latin typeface="Calibri"/>
              <a:ea typeface="Calibri"/>
              <a:cs typeface="Calibri"/>
              <a:sym typeface="Calibri"/>
            </a:endParaRPr>
          </a:p>
        </p:txBody>
      </p:sp>
      <p:sp>
        <p:nvSpPr>
          <p:cNvPr id="147" name="Google Shape;147;p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How the two-hour session works</a:t>
            </a:r>
            <a:endParaRPr b="0" i="0" sz="3800" u="none" cap="none" strike="noStrike">
              <a:solidFill>
                <a:schemeClr val="dk1"/>
              </a:solidFill>
              <a:latin typeface="Calibri"/>
              <a:ea typeface="Calibri"/>
              <a:cs typeface="Calibri"/>
              <a:sym typeface="Calibri"/>
            </a:endParaRPr>
          </a:p>
        </p:txBody>
      </p:sp>
      <p:sp>
        <p:nvSpPr>
          <p:cNvPr id="148" name="Google Shape;148;p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moves. You will score yourself twice, in full, both times.</a:t>
            </a:r>
            <a:endParaRPr b="0" i="0" sz="1500" u="none" cap="none" strike="noStrike">
              <a:solidFill>
                <a:schemeClr val="dk1"/>
              </a:solidFill>
              <a:latin typeface="Calibri"/>
              <a:ea typeface="Calibri"/>
              <a:cs typeface="Calibri"/>
              <a:sym typeface="Calibri"/>
            </a:endParaRPr>
          </a:p>
        </p:txBody>
      </p:sp>
      <p:sp>
        <p:nvSpPr>
          <p:cNvPr id="149" name="Google Shape;149;p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7"/>
          <p:cNvSpPr/>
          <p:nvPr/>
        </p:nvSpPr>
        <p:spPr>
          <a:xfrm>
            <a:off x="658368" y="1901952"/>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1</a:t>
            </a:r>
            <a:endParaRPr b="0" i="0" sz="2800" u="none" cap="none" strike="noStrike">
              <a:solidFill>
                <a:schemeClr val="dk1"/>
              </a:solidFill>
              <a:latin typeface="Calibri"/>
              <a:ea typeface="Calibri"/>
              <a:cs typeface="Calibri"/>
              <a:sym typeface="Calibri"/>
            </a:endParaRPr>
          </a:p>
        </p:txBody>
      </p:sp>
      <p:sp>
        <p:nvSpPr>
          <p:cNvPr id="151" name="Google Shape;151;p7"/>
          <p:cNvSpPr/>
          <p:nvPr/>
        </p:nvSpPr>
        <p:spPr>
          <a:xfrm>
            <a:off x="1298448" y="1901952"/>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Initial read</a:t>
            </a:r>
            <a:endParaRPr b="0" i="0" sz="2000" u="none" cap="none" strike="noStrike">
              <a:solidFill>
                <a:schemeClr val="dk1"/>
              </a:solidFill>
              <a:latin typeface="Calibri"/>
              <a:ea typeface="Calibri"/>
              <a:cs typeface="Calibri"/>
              <a:sym typeface="Calibri"/>
            </a:endParaRPr>
          </a:p>
        </p:txBody>
      </p:sp>
      <p:sp>
        <p:nvSpPr>
          <p:cNvPr id="152" name="Google Shape;152;p7"/>
          <p:cNvSpPr/>
          <p:nvPr/>
        </p:nvSpPr>
        <p:spPr>
          <a:xfrm>
            <a:off x="4498848" y="1901952"/>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All twelve statements. No evidence yet.</a:t>
            </a:r>
            <a:endParaRPr b="0" i="0" sz="2000" u="none" cap="none" strike="noStrike">
              <a:solidFill>
                <a:schemeClr val="dk1"/>
              </a:solidFill>
              <a:latin typeface="Calibri"/>
              <a:ea typeface="Calibri"/>
              <a:cs typeface="Calibri"/>
              <a:sym typeface="Calibri"/>
            </a:endParaRPr>
          </a:p>
        </p:txBody>
      </p:sp>
      <p:sp>
        <p:nvSpPr>
          <p:cNvPr id="153" name="Google Shape;153;p7"/>
          <p:cNvSpPr/>
          <p:nvPr/>
        </p:nvSpPr>
        <p:spPr>
          <a:xfrm>
            <a:off x="658368" y="2798064"/>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2</a:t>
            </a:r>
            <a:endParaRPr b="0" i="0" sz="2800" u="none" cap="none" strike="noStrike">
              <a:solidFill>
                <a:schemeClr val="dk1"/>
              </a:solidFill>
              <a:latin typeface="Calibri"/>
              <a:ea typeface="Calibri"/>
              <a:cs typeface="Calibri"/>
              <a:sym typeface="Calibri"/>
            </a:endParaRPr>
          </a:p>
        </p:txBody>
      </p:sp>
      <p:sp>
        <p:nvSpPr>
          <p:cNvPr id="154" name="Google Shape;154;p7"/>
          <p:cNvSpPr/>
          <p:nvPr/>
        </p:nvSpPr>
        <p:spPr>
          <a:xfrm>
            <a:off x="1298448" y="2798064"/>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Calibration</a:t>
            </a:r>
            <a:endParaRPr b="0" i="0" sz="2000" u="none" cap="none" strike="noStrike">
              <a:solidFill>
                <a:schemeClr val="dk1"/>
              </a:solidFill>
              <a:latin typeface="Calibri"/>
              <a:ea typeface="Calibri"/>
              <a:cs typeface="Calibri"/>
              <a:sym typeface="Calibri"/>
            </a:endParaRPr>
          </a:p>
        </p:txBody>
      </p:sp>
      <p:sp>
        <p:nvSpPr>
          <p:cNvPr id="155" name="Google Shape;155;p7"/>
          <p:cNvSpPr/>
          <p:nvPr/>
        </p:nvSpPr>
        <p:spPr>
          <a:xfrm>
            <a:off x="4498848" y="2798064"/>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evidence protocol and three common misreadings.</a:t>
            </a:r>
            <a:endParaRPr b="0" i="0" sz="2000" u="none" cap="none" strike="noStrike">
              <a:solidFill>
                <a:schemeClr val="dk1"/>
              </a:solidFill>
              <a:latin typeface="Calibri"/>
              <a:ea typeface="Calibri"/>
              <a:cs typeface="Calibri"/>
              <a:sym typeface="Calibri"/>
            </a:endParaRPr>
          </a:p>
        </p:txBody>
      </p:sp>
      <p:sp>
        <p:nvSpPr>
          <p:cNvPr id="156" name="Google Shape;156;p7"/>
          <p:cNvSpPr/>
          <p:nvPr/>
        </p:nvSpPr>
        <p:spPr>
          <a:xfrm>
            <a:off x="658368" y="3694176"/>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3</a:t>
            </a:r>
            <a:endParaRPr b="0" i="0" sz="2800" u="none" cap="none" strike="noStrike">
              <a:solidFill>
                <a:schemeClr val="dk1"/>
              </a:solidFill>
              <a:latin typeface="Calibri"/>
              <a:ea typeface="Calibri"/>
              <a:cs typeface="Calibri"/>
              <a:sym typeface="Calibri"/>
            </a:endParaRPr>
          </a:p>
        </p:txBody>
      </p:sp>
      <p:sp>
        <p:nvSpPr>
          <p:cNvPr id="157" name="Google Shape;157;p7"/>
          <p:cNvSpPr/>
          <p:nvPr/>
        </p:nvSpPr>
        <p:spPr>
          <a:xfrm>
            <a:off x="1298448" y="3694176"/>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Evidence-backed read</a:t>
            </a:r>
            <a:endParaRPr b="0" i="0" sz="2000" u="none" cap="none" strike="noStrike">
              <a:solidFill>
                <a:schemeClr val="dk1"/>
              </a:solidFill>
              <a:latin typeface="Calibri"/>
              <a:ea typeface="Calibri"/>
              <a:cs typeface="Calibri"/>
              <a:sym typeface="Calibri"/>
            </a:endParaRPr>
          </a:p>
        </p:txBody>
      </p:sp>
      <p:sp>
        <p:nvSpPr>
          <p:cNvPr id="158" name="Google Shape;158;p7"/>
          <p:cNvSpPr/>
          <p:nvPr/>
        </p:nvSpPr>
        <p:spPr>
          <a:xfrm>
            <a:off x="4498848" y="3694176"/>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same twelve, with evidence. You keep the first number.</a:t>
            </a:r>
            <a:endParaRPr b="0" i="0" sz="2000" u="none" cap="none" strike="noStrike">
              <a:solidFill>
                <a:schemeClr val="dk1"/>
              </a:solidFill>
              <a:latin typeface="Calibri"/>
              <a:ea typeface="Calibri"/>
              <a:cs typeface="Calibri"/>
              <a:sym typeface="Calibri"/>
            </a:endParaRPr>
          </a:p>
        </p:txBody>
      </p:sp>
      <p:sp>
        <p:nvSpPr>
          <p:cNvPr id="159" name="Google Shape;159;p7"/>
          <p:cNvSpPr/>
          <p:nvPr/>
        </p:nvSpPr>
        <p:spPr>
          <a:xfrm>
            <a:off x="658368" y="4590288"/>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4</a:t>
            </a:r>
            <a:endParaRPr b="0" i="0" sz="2800" u="none" cap="none" strike="noStrike">
              <a:solidFill>
                <a:schemeClr val="dk1"/>
              </a:solidFill>
              <a:latin typeface="Calibri"/>
              <a:ea typeface="Calibri"/>
              <a:cs typeface="Calibri"/>
              <a:sym typeface="Calibri"/>
            </a:endParaRPr>
          </a:p>
        </p:txBody>
      </p:sp>
      <p:sp>
        <p:nvSpPr>
          <p:cNvPr id="160" name="Google Shape;160;p7"/>
          <p:cNvSpPr/>
          <p:nvPr/>
        </p:nvSpPr>
        <p:spPr>
          <a:xfrm>
            <a:off x="1298448" y="4590288"/>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Decide</a:t>
            </a:r>
            <a:endParaRPr b="0" i="0" sz="2000" u="none" cap="none" strike="noStrike">
              <a:solidFill>
                <a:schemeClr val="dk1"/>
              </a:solidFill>
              <a:latin typeface="Calibri"/>
              <a:ea typeface="Calibri"/>
              <a:cs typeface="Calibri"/>
              <a:sym typeface="Calibri"/>
            </a:endParaRPr>
          </a:p>
        </p:txBody>
      </p:sp>
      <p:sp>
        <p:nvSpPr>
          <p:cNvPr id="161" name="Google Shape;161;p7"/>
          <p:cNvSpPr/>
          <p:nvPr/>
        </p:nvSpPr>
        <p:spPr>
          <a:xfrm>
            <a:off x="4498848" y="4590288"/>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place again, and write your Next-Move Decision.</a:t>
            </a:r>
            <a:endParaRPr b="0" i="0" sz="2000" u="none" cap="none" strike="noStrike">
              <a:solidFill>
                <a:schemeClr val="dk1"/>
              </a:solidFill>
              <a:latin typeface="Calibri"/>
              <a:ea typeface="Calibri"/>
              <a:cs typeface="Calibri"/>
              <a:sym typeface="Calibri"/>
            </a:endParaRPr>
          </a:p>
        </p:txBody>
      </p:sp>
      <p:sp>
        <p:nvSpPr>
          <p:cNvPr id="162" name="Google Shape;162;p7"/>
          <p:cNvSpPr/>
          <p:nvPr/>
        </p:nvSpPr>
        <p:spPr>
          <a:xfrm>
            <a:off x="658368" y="550468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p:nvPr/>
        </p:nvSpPr>
        <p:spPr>
          <a:xfrm>
            <a:off x="658368" y="565099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67" name="Shape 167"/>
        <p:cNvGrpSpPr/>
        <p:nvPr/>
      </p:nvGrpSpPr>
      <p:grpSpPr>
        <a:xfrm>
          <a:off x="0" y="0"/>
          <a:ext cx="0" cy="0"/>
          <a:chOff x="0" y="0"/>
          <a:chExt cx="0" cy="0"/>
        </a:xfrm>
      </p:grpSpPr>
      <p:sp>
        <p:nvSpPr>
          <p:cNvPr id="168" name="Google Shape;168;p8"/>
          <p:cNvSpPr txBox="1"/>
          <p:nvPr/>
        </p:nvSpPr>
        <p:spPr>
          <a:xfrm>
            <a:off x="658368" y="6355080"/>
            <a:ext cx="54864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0F2347"/>
                </a:solidFill>
                <a:latin typeface="DM Sans"/>
                <a:ea typeface="DM Sans"/>
                <a:cs typeface="DM Sans"/>
                <a:sym typeface="DM Sans"/>
              </a:rPr>
              <a:t>TEMIDAYO AFONJA   |   TEMIDAYOAFONJA.COM</a:t>
            </a:r>
            <a:endParaRPr/>
          </a:p>
        </p:txBody>
      </p:sp>
      <p:sp>
        <p:nvSpPr>
          <p:cNvPr id="169" name="Google Shape;169;p8"/>
          <p:cNvSpPr txBox="1"/>
          <p:nvPr/>
        </p:nvSpPr>
        <p:spPr>
          <a:xfrm>
            <a:off x="10625328" y="6355080"/>
            <a:ext cx="9144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8</a:t>
            </a:r>
            <a:endParaRPr/>
          </a:p>
        </p:txBody>
      </p:sp>
      <p:sp>
        <p:nvSpPr>
          <p:cNvPr id="170" name="Google Shape;170;p8"/>
          <p:cNvSpPr txBox="1"/>
          <p:nvPr/>
        </p:nvSpPr>
        <p:spPr>
          <a:xfrm>
            <a:off x="658368" y="347472"/>
            <a:ext cx="1088136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C9A84C"/>
                </a:solidFill>
                <a:latin typeface="DM Sans"/>
                <a:ea typeface="DM Sans"/>
                <a:cs typeface="DM Sans"/>
                <a:sym typeface="DM Sans"/>
              </a:rPr>
              <a:t>OUTCOME</a:t>
            </a:r>
            <a:endParaRPr/>
          </a:p>
        </p:txBody>
      </p:sp>
      <p:sp>
        <p:nvSpPr>
          <p:cNvPr id="171" name="Google Shape;171;p8"/>
          <p:cNvSpPr txBox="1"/>
          <p:nvPr/>
        </p:nvSpPr>
        <p:spPr>
          <a:xfrm>
            <a:off x="658368" y="621792"/>
            <a:ext cx="108813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600" u="none" cap="none" strike="noStrike">
                <a:solidFill>
                  <a:srgbClr val="0F2347"/>
                </a:solidFill>
                <a:latin typeface="Cormorant Garamond"/>
                <a:ea typeface="Cormorant Garamond"/>
                <a:cs typeface="Cormorant Garamond"/>
                <a:sym typeface="Cormorant Garamond"/>
              </a:rPr>
              <a:t>What You Will Leave With</a:t>
            </a:r>
            <a:endParaRPr/>
          </a:p>
        </p:txBody>
      </p:sp>
      <p:sp>
        <p:nvSpPr>
          <p:cNvPr id="172" name="Google Shape;172;p8"/>
          <p:cNvSpPr txBox="1"/>
          <p:nvPr/>
        </p:nvSpPr>
        <p:spPr>
          <a:xfrm>
            <a:off x="658368" y="1225296"/>
            <a:ext cx="10881360"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0F2347"/>
                </a:solidFill>
                <a:latin typeface="DM Sans"/>
                <a:ea typeface="DM Sans"/>
                <a:cs typeface="DM Sans"/>
                <a:sym typeface="DM Sans"/>
              </a:rPr>
              <a:t>By minute 105, you will have something concrete enough to revisit, not just a feeling about your role.</a:t>
            </a:r>
            <a:endParaRPr/>
          </a:p>
        </p:txBody>
      </p:sp>
      <p:sp>
        <p:nvSpPr>
          <p:cNvPr id="173" name="Google Shape;173;p8"/>
          <p:cNvSpPr/>
          <p:nvPr/>
        </p:nvSpPr>
        <p:spPr>
          <a:xfrm>
            <a:off x="658368" y="168249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4" name="Google Shape;174;p8"/>
          <p:cNvSpPr/>
          <p:nvPr/>
        </p:nvSpPr>
        <p:spPr>
          <a:xfrm>
            <a:off x="658368" y="1938528"/>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1</a:t>
            </a:r>
            <a:endParaRPr/>
          </a:p>
        </p:txBody>
      </p:sp>
      <p:sp>
        <p:nvSpPr>
          <p:cNvPr id="175" name="Google Shape;175;p8"/>
          <p:cNvSpPr txBox="1"/>
          <p:nvPr/>
        </p:nvSpPr>
        <p:spPr>
          <a:xfrm>
            <a:off x="1298448" y="1920240"/>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An initial and evidence-backed reading</a:t>
            </a:r>
            <a:endParaRPr/>
          </a:p>
        </p:txBody>
      </p:sp>
      <p:sp>
        <p:nvSpPr>
          <p:cNvPr id="176" name="Google Shape;176;p8"/>
          <p:cNvSpPr txBox="1"/>
          <p:nvPr/>
        </p:nvSpPr>
        <p:spPr>
          <a:xfrm>
            <a:off x="5193792" y="1920240"/>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The first read you arrived with, and the corrected read your evidence can defend.</a:t>
            </a:r>
            <a:endParaRPr/>
          </a:p>
        </p:txBody>
      </p:sp>
      <p:sp>
        <p:nvSpPr>
          <p:cNvPr id="177" name="Google Shape;177;p8"/>
          <p:cNvSpPr/>
          <p:nvPr/>
        </p:nvSpPr>
        <p:spPr>
          <a:xfrm>
            <a:off x="658368" y="2651760"/>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2</a:t>
            </a:r>
            <a:endParaRPr/>
          </a:p>
        </p:txBody>
      </p:sp>
      <p:sp>
        <p:nvSpPr>
          <p:cNvPr id="178" name="Google Shape;178;p8"/>
          <p:cNvSpPr txBox="1"/>
          <p:nvPr/>
        </p:nvSpPr>
        <p:spPr>
          <a:xfrm>
            <a:off x="1298448" y="2633472"/>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A provisional state or boundary reading</a:t>
            </a:r>
            <a:endParaRPr/>
          </a:p>
        </p:txBody>
      </p:sp>
      <p:sp>
        <p:nvSpPr>
          <p:cNvPr id="179" name="Google Shape;179;p8"/>
          <p:cNvSpPr txBox="1"/>
          <p:nvPr/>
        </p:nvSpPr>
        <p:spPr>
          <a:xfrm>
            <a:off x="5193792" y="2633472"/>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Compounding, Depth Trap, Stagnant, Fragile, or a boundary position that should stay open.</a:t>
            </a:r>
            <a:endParaRPr/>
          </a:p>
        </p:txBody>
      </p:sp>
      <p:sp>
        <p:nvSpPr>
          <p:cNvPr id="180" name="Google Shape;180;p8"/>
          <p:cNvSpPr/>
          <p:nvPr/>
        </p:nvSpPr>
        <p:spPr>
          <a:xfrm>
            <a:off x="658368" y="3364992"/>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3</a:t>
            </a:r>
            <a:endParaRPr/>
          </a:p>
        </p:txBody>
      </p:sp>
      <p:sp>
        <p:nvSpPr>
          <p:cNvPr id="181" name="Google Shape;181;p8"/>
          <p:cNvSpPr txBox="1"/>
          <p:nvPr/>
        </p:nvSpPr>
        <p:spPr>
          <a:xfrm>
            <a:off x="1298448" y="3346704"/>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One category of move to test</a:t>
            </a:r>
            <a:endParaRPr/>
          </a:p>
        </p:txBody>
      </p:sp>
      <p:sp>
        <p:nvSpPr>
          <p:cNvPr id="182" name="Google Shape;182;p8"/>
          <p:cNvSpPr txBox="1"/>
          <p:nvPr/>
        </p:nvSpPr>
        <p:spPr>
          <a:xfrm>
            <a:off x="5193792" y="3346704"/>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A direction to examine, not a command to stay or leave.</a:t>
            </a:r>
            <a:endParaRPr/>
          </a:p>
        </p:txBody>
      </p:sp>
      <p:sp>
        <p:nvSpPr>
          <p:cNvPr id="183" name="Google Shape;183;p8"/>
          <p:cNvSpPr/>
          <p:nvPr/>
        </p:nvSpPr>
        <p:spPr>
          <a:xfrm>
            <a:off x="658368" y="4078224"/>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4</a:t>
            </a:r>
            <a:endParaRPr/>
          </a:p>
        </p:txBody>
      </p:sp>
      <p:sp>
        <p:nvSpPr>
          <p:cNvPr id="184" name="Google Shape;184;p8"/>
          <p:cNvSpPr txBox="1"/>
          <p:nvPr/>
        </p:nvSpPr>
        <p:spPr>
          <a:xfrm>
            <a:off x="1298448" y="4059936"/>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A completed Next-Move Decision</a:t>
            </a:r>
            <a:endParaRPr/>
          </a:p>
        </p:txBody>
      </p:sp>
      <p:sp>
        <p:nvSpPr>
          <p:cNvPr id="185" name="Google Shape;185;p8"/>
          <p:cNvSpPr txBox="1"/>
          <p:nvPr/>
        </p:nvSpPr>
        <p:spPr>
          <a:xfrm>
            <a:off x="5193792" y="4059936"/>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The action, person, evidence condition, and rescore date you will carry out of the room.</a:t>
            </a:r>
            <a:endParaRPr/>
          </a:p>
        </p:txBody>
      </p:sp>
      <p:sp>
        <p:nvSpPr>
          <p:cNvPr id="186" name="Google Shape;186;p8"/>
          <p:cNvSpPr/>
          <p:nvPr/>
        </p:nvSpPr>
        <p:spPr>
          <a:xfrm>
            <a:off x="658368" y="4791456"/>
            <a:ext cx="438912" cy="438912"/>
          </a:xfrm>
          <a:prstGeom prst="roundRect">
            <a:avLst>
              <a:gd fmla="val 16667" name="adj"/>
            </a:avLst>
          </a:prstGeom>
          <a:solidFill>
            <a:srgbClr val="0F2347"/>
          </a:solidFill>
          <a:ln cap="flat" cmpd="sng" w="15225">
            <a:solidFill>
              <a:srgbClr val="C9A8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DM Sans"/>
                <a:ea typeface="DM Sans"/>
                <a:cs typeface="DM Sans"/>
                <a:sym typeface="DM Sans"/>
              </a:rPr>
              <a:t>5</a:t>
            </a:r>
            <a:endParaRPr/>
          </a:p>
        </p:txBody>
      </p:sp>
      <p:sp>
        <p:nvSpPr>
          <p:cNvPr id="187" name="Google Shape;187;p8"/>
          <p:cNvSpPr txBox="1"/>
          <p:nvPr/>
        </p:nvSpPr>
        <p:spPr>
          <a:xfrm>
            <a:off x="1298448" y="4773168"/>
            <a:ext cx="3749039"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F2347"/>
                </a:solidFill>
                <a:latin typeface="DM Sans"/>
                <a:ea typeface="DM Sans"/>
                <a:cs typeface="DM Sans"/>
                <a:sym typeface="DM Sans"/>
              </a:rPr>
              <a:t>A 30-day evidence process and 90-day rescore date</a:t>
            </a:r>
            <a:endParaRPr/>
          </a:p>
        </p:txBody>
      </p:sp>
      <p:sp>
        <p:nvSpPr>
          <p:cNvPr id="188" name="Google Shape;188;p8"/>
          <p:cNvSpPr txBox="1"/>
          <p:nvPr/>
        </p:nvSpPr>
        <p:spPr>
          <a:xfrm>
            <a:off x="5193792" y="4773168"/>
            <a:ext cx="630936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0F2347"/>
                </a:solidFill>
                <a:latin typeface="DM Sans"/>
                <a:ea typeface="DM Sans"/>
                <a:cs typeface="DM Sans"/>
                <a:sym typeface="DM Sans"/>
              </a:rPr>
              <a:t>A way to keep reading the position after today — including a live 30-Day Evidence Review — without turning one score into a verdict.</a:t>
            </a:r>
            <a:endParaRPr/>
          </a:p>
        </p:txBody>
      </p:sp>
      <p:sp>
        <p:nvSpPr>
          <p:cNvPr id="189" name="Google Shape;189;p8"/>
          <p:cNvSpPr/>
          <p:nvPr/>
        </p:nvSpPr>
        <p:spPr>
          <a:xfrm>
            <a:off x="658368" y="570585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8"/>
          <p:cNvSpPr txBox="1"/>
          <p:nvPr/>
        </p:nvSpPr>
        <p:spPr>
          <a:xfrm>
            <a:off x="658368" y="5806440"/>
            <a:ext cx="1083564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0F2347"/>
                </a:solidFill>
                <a:latin typeface="DM Sans"/>
                <a:ea typeface="DM Sans"/>
                <a:cs typeface="DM Sans"/>
                <a:sym typeface="DM Sans"/>
              </a:rPr>
              <a:t>This is the tangible outcome before Q&amp;A begins. The final 15 minutes help you apply it, not complete it.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5" name="Shape 195"/>
        <p:cNvGrpSpPr/>
        <p:nvPr/>
      </p:nvGrpSpPr>
      <p:grpSpPr>
        <a:xfrm>
          <a:off x="0" y="0"/>
          <a:ext cx="0" cy="0"/>
          <a:chOff x="0" y="0"/>
          <a:chExt cx="0" cy="0"/>
        </a:xfrm>
      </p:grpSpPr>
      <p:sp>
        <p:nvSpPr>
          <p:cNvPr id="196" name="Google Shape;196;p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97" name="Google Shape;197;p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9</a:t>
            </a:r>
            <a:endParaRPr/>
          </a:p>
        </p:txBody>
      </p:sp>
      <p:sp>
        <p:nvSpPr>
          <p:cNvPr id="198" name="Google Shape;198;p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ONE</a:t>
            </a:r>
            <a:endParaRPr b="0" i="0" sz="1100" u="none" cap="none" strike="noStrike">
              <a:solidFill>
                <a:schemeClr val="dk1"/>
              </a:solidFill>
              <a:latin typeface="Calibri"/>
              <a:ea typeface="Calibri"/>
              <a:cs typeface="Calibri"/>
              <a:sym typeface="Calibri"/>
            </a:endParaRPr>
          </a:p>
        </p:txBody>
      </p:sp>
      <p:sp>
        <p:nvSpPr>
          <p:cNvPr id="199" name="Google Shape;199;p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Density</a:t>
            </a:r>
            <a:endParaRPr b="0" i="0" sz="3800" u="none" cap="none" strike="noStrike">
              <a:solidFill>
                <a:schemeClr val="dk1"/>
              </a:solidFill>
              <a:latin typeface="Calibri"/>
              <a:ea typeface="Calibri"/>
              <a:cs typeface="Calibri"/>
              <a:sym typeface="Calibri"/>
            </a:endParaRPr>
          </a:p>
        </p:txBody>
      </p:sp>
      <p:sp>
        <p:nvSpPr>
          <p:cNvPr id="200" name="Google Shape;200;p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Learning velocity. Whether this environment is still forming you.</a:t>
            </a:r>
            <a:endParaRPr b="0" i="0" sz="1500" u="none" cap="none" strike="noStrike">
              <a:solidFill>
                <a:schemeClr val="dk1"/>
              </a:solidFill>
              <a:latin typeface="Calibri"/>
              <a:ea typeface="Calibri"/>
              <a:cs typeface="Calibri"/>
              <a:sym typeface="Calibri"/>
            </a:endParaRPr>
          </a:p>
        </p:txBody>
      </p:sp>
      <p:sp>
        <p:nvSpPr>
          <p:cNvPr id="201" name="Google Shape;201;p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Density is whether the environment is still forming deeper capability in you.</a:t>
            </a:r>
            <a:endParaRPr b="0" i="0" sz="2400" u="none" cap="none" strike="noStrike">
              <a:solidFill>
                <a:schemeClr val="dk1"/>
              </a:solidFill>
              <a:latin typeface="Calibri"/>
              <a:ea typeface="Calibri"/>
              <a:cs typeface="Calibri"/>
              <a:sym typeface="Calibri"/>
            </a:endParaRPr>
          </a:p>
        </p:txBody>
      </p:sp>
      <p:sp>
        <p:nvSpPr>
          <p:cNvPr id="203" name="Google Shape;203;p9"/>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property of your conditions, not your effort. A role can be exhausting and form nothing.</a:t>
            </a:r>
            <a:endParaRPr b="0" i="0" sz="2000" u="none" cap="none" strike="noStrike">
              <a:solidFill>
                <a:schemeClr val="dk1"/>
              </a:solidFill>
              <a:latin typeface="Calibri"/>
              <a:ea typeface="Calibri"/>
              <a:cs typeface="Calibri"/>
              <a:sym typeface="Calibri"/>
            </a:endParaRPr>
          </a:p>
        </p:txBody>
      </p:sp>
      <p:sp>
        <p:nvSpPr>
          <p:cNvPr id="204" name="Google Shape;204;p9"/>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9"/>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Density is not workload, busyness, pressure or intensity.</a:t>
            </a:r>
            <a:endParaRPr b="0" i="0" sz="2200" u="none" cap="none" strike="noStrike">
              <a:solidFill>
                <a:schemeClr val="dk1"/>
              </a:solidFill>
              <a:latin typeface="Calibri"/>
              <a:ea typeface="Calibri"/>
              <a:cs typeface="Calibri"/>
              <a:sym typeface="Calibri"/>
            </a:endParaRPr>
          </a:p>
        </p:txBody>
      </p:sp>
      <p:sp>
        <p:nvSpPr>
          <p:cNvPr id="206" name="Google Shape;206;p9"/>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hard week is not evidence of formation.</a:t>
            </a:r>
            <a:endParaRPr b="0" i="0" sz="2000" u="none" cap="none" strike="noStrike">
              <a:solidFill>
                <a:schemeClr val="dk1"/>
              </a:solidFill>
              <a:latin typeface="Calibri"/>
              <a:ea typeface="Calibri"/>
              <a:cs typeface="Calibri"/>
              <a:sym typeface="Calibri"/>
            </a:endParaRPr>
          </a:p>
        </p:txBody>
      </p:sp>
      <p:sp>
        <p:nvSpPr>
          <p:cNvPr id="207" name="Google Shape;207;p9"/>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9"/>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in a few minutes.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13" name="Shape 213"/>
        <p:cNvGrpSpPr/>
        <p:nvPr/>
      </p:nvGrpSpPr>
      <p:grpSpPr>
        <a:xfrm>
          <a:off x="0" y="0"/>
          <a:ext cx="0" cy="0"/>
          <a:chOff x="0" y="0"/>
          <a:chExt cx="0" cy="0"/>
        </a:xfrm>
      </p:grpSpPr>
      <p:sp>
        <p:nvSpPr>
          <p:cNvPr id="214" name="Google Shape;214;p1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15" name="Google Shape;215;p1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10</a:t>
            </a:r>
            <a:endParaRPr/>
          </a:p>
        </p:txBody>
      </p:sp>
      <p:sp>
        <p:nvSpPr>
          <p:cNvPr id="216" name="Google Shape;216;p1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TWO</a:t>
            </a:r>
            <a:endParaRPr b="0" i="0" sz="1100" u="none" cap="none" strike="noStrike">
              <a:solidFill>
                <a:schemeClr val="dk1"/>
              </a:solidFill>
              <a:latin typeface="Calibri"/>
              <a:ea typeface="Calibri"/>
              <a:cs typeface="Calibri"/>
              <a:sym typeface="Calibri"/>
            </a:endParaRPr>
          </a:p>
        </p:txBody>
      </p:sp>
      <p:sp>
        <p:nvSpPr>
          <p:cNvPr id="217" name="Google Shape;217;p1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Optionality</a:t>
            </a:r>
            <a:endParaRPr b="0" i="0" sz="3800" u="none" cap="none" strike="noStrike">
              <a:solidFill>
                <a:schemeClr val="dk1"/>
              </a:solidFill>
              <a:latin typeface="Calibri"/>
              <a:ea typeface="Calibri"/>
              <a:cs typeface="Calibri"/>
              <a:sym typeface="Calibri"/>
            </a:endParaRPr>
          </a:p>
        </p:txBody>
      </p:sp>
      <p:sp>
        <p:nvSpPr>
          <p:cNvPr id="218" name="Google Shape;218;p1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Market portability. Whether what you built is yours to carry.</a:t>
            </a:r>
            <a:endParaRPr b="0" i="0" sz="1500" u="none" cap="none" strike="noStrike">
              <a:solidFill>
                <a:schemeClr val="dk1"/>
              </a:solidFill>
              <a:latin typeface="Calibri"/>
              <a:ea typeface="Calibri"/>
              <a:cs typeface="Calibri"/>
              <a:sym typeface="Calibri"/>
            </a:endParaRPr>
          </a:p>
        </p:txBody>
      </p:sp>
      <p:sp>
        <p:nvSpPr>
          <p:cNvPr id="219" name="Google Shape;219;p1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10"/>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Optionality is the portability and legibility of what you have built.</a:t>
            </a:r>
            <a:endParaRPr b="0" i="0" sz="2400" u="none" cap="none" strike="noStrike">
              <a:solidFill>
                <a:schemeClr val="dk1"/>
              </a:solidFill>
              <a:latin typeface="Calibri"/>
              <a:ea typeface="Calibri"/>
              <a:cs typeface="Calibri"/>
              <a:sym typeface="Calibri"/>
            </a:endParaRPr>
          </a:p>
        </p:txBody>
      </p:sp>
      <p:sp>
        <p:nvSpPr>
          <p:cNvPr id="221" name="Google Shape;221;p10"/>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halves people collapse into one: whether the capability transfers, and whether anyone with power outside your manager has seen it.</a:t>
            </a:r>
            <a:endParaRPr b="0" i="0" sz="2000" u="none" cap="none" strike="noStrike">
              <a:solidFill>
                <a:schemeClr val="dk1"/>
              </a:solidFill>
              <a:latin typeface="Calibri"/>
              <a:ea typeface="Calibri"/>
              <a:cs typeface="Calibri"/>
              <a:sym typeface="Calibri"/>
            </a:endParaRPr>
          </a:p>
        </p:txBody>
      </p:sp>
      <p:sp>
        <p:nvSpPr>
          <p:cNvPr id="222" name="Google Shape;222;p10"/>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10"/>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Optionality is not having offers in hand.</a:t>
            </a:r>
            <a:endParaRPr b="0" i="0" sz="2200" u="none" cap="none" strike="noStrike">
              <a:solidFill>
                <a:schemeClr val="dk1"/>
              </a:solidFill>
              <a:latin typeface="Calibri"/>
              <a:ea typeface="Calibri"/>
              <a:cs typeface="Calibri"/>
              <a:sym typeface="Calibri"/>
            </a:endParaRPr>
          </a:p>
        </p:txBody>
      </p:sp>
      <p:sp>
        <p:nvSpPr>
          <p:cNvPr id="224" name="Google Shape;224;p10"/>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25" name="Google Shape;225;p1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1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Twelve in total.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31" name="Shape 231"/>
        <p:cNvGrpSpPr/>
        <p:nvPr/>
      </p:nvGrpSpPr>
      <p:grpSpPr>
        <a:xfrm>
          <a:off x="0" y="0"/>
          <a:ext cx="0" cy="0"/>
          <a:chOff x="0" y="0"/>
          <a:chExt cx="0" cy="0"/>
        </a:xfrm>
      </p:grpSpPr>
      <p:sp>
        <p:nvSpPr>
          <p:cNvPr id="232" name="Google Shape;232;p1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33" name="Google Shape;233;p1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11</a:t>
            </a:r>
            <a:endParaRPr/>
          </a:p>
        </p:txBody>
      </p:sp>
      <p:sp>
        <p:nvSpPr>
          <p:cNvPr id="234" name="Google Shape;234;p1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235" name="Google Shape;235;p1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AI changes about this reading</a:t>
            </a:r>
            <a:endParaRPr b="0" i="0" sz="3800" u="none" cap="none" strike="noStrike">
              <a:solidFill>
                <a:schemeClr val="dk1"/>
              </a:solidFill>
              <a:latin typeface="Calibri"/>
              <a:ea typeface="Calibri"/>
              <a:cs typeface="Calibri"/>
              <a:sym typeface="Calibri"/>
            </a:endParaRPr>
          </a:p>
        </p:txBody>
      </p:sp>
      <p:sp>
        <p:nvSpPr>
          <p:cNvPr id="236" name="Google Shape;236;p1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Sixty seconds. An application of the two axes, not a new axis.</a:t>
            </a:r>
            <a:endParaRPr b="0" i="0" sz="1500" u="none" cap="none" strike="noStrike">
              <a:solidFill>
                <a:schemeClr val="dk1"/>
              </a:solidFill>
              <a:latin typeface="Calibri"/>
              <a:ea typeface="Calibri"/>
              <a:cs typeface="Calibri"/>
              <a:sym typeface="Calibri"/>
            </a:endParaRPr>
          </a:p>
        </p:txBody>
      </p:sp>
      <p:sp>
        <p:nvSpPr>
          <p:cNvPr id="237" name="Google Shape;237;p1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11"/>
          <p:cNvSpPr/>
          <p:nvPr/>
        </p:nvSpPr>
        <p:spPr>
          <a:xfrm>
            <a:off x="658368" y="2011680"/>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400" u="none" cap="none" strike="noStrike">
              <a:solidFill>
                <a:schemeClr val="dk1"/>
              </a:solidFill>
              <a:latin typeface="Calibri"/>
              <a:ea typeface="Calibri"/>
              <a:cs typeface="Calibri"/>
              <a:sym typeface="Calibri"/>
            </a:endParaRPr>
          </a:p>
        </p:txBody>
      </p:sp>
      <p:sp>
        <p:nvSpPr>
          <p:cNvPr id="239" name="Google Shape;239;p11"/>
          <p:cNvSpPr/>
          <p:nvPr/>
        </p:nvSpPr>
        <p:spPr>
          <a:xfrm>
            <a:off x="658368" y="3529584"/>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11"/>
          <p:cNvSpPr/>
          <p:nvPr/>
        </p:nvSpPr>
        <p:spPr>
          <a:xfrm>
            <a:off x="914400" y="3712464"/>
            <a:ext cx="10360152" cy="6217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241" name="Google Shape;241;p11"/>
          <p:cNvSpPr/>
          <p:nvPr/>
        </p:nvSpPr>
        <p:spPr>
          <a:xfrm>
            <a:off x="658368" y="468172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42" name="Google Shape;242;p11"/>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1"/>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We will return to this in the take-home appendix.</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48" name="Shape 248"/>
        <p:cNvGrpSpPr/>
        <p:nvPr/>
      </p:nvGrpSpPr>
      <p:grpSpPr>
        <a:xfrm>
          <a:off x="0" y="0"/>
          <a:ext cx="0" cy="0"/>
          <a:chOff x="0" y="0"/>
          <a:chExt cx="0" cy="0"/>
        </a:xfrm>
      </p:grpSpPr>
      <p:sp>
        <p:nvSpPr>
          <p:cNvPr id="249" name="Google Shape;249;p1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50" name="Google Shape;250;p1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12</a:t>
            </a:r>
            <a:endParaRPr/>
          </a:p>
        </p:txBody>
      </p:sp>
      <p:sp>
        <p:nvSpPr>
          <p:cNvPr id="251" name="Google Shape;251;p1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52" name="Google Shape;252;p1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 to 3</a:t>
            </a:r>
            <a:endParaRPr b="0" i="0" sz="3800" u="none" cap="none" strike="noStrike">
              <a:solidFill>
                <a:schemeClr val="dk1"/>
              </a:solidFill>
              <a:latin typeface="Calibri"/>
              <a:ea typeface="Calibri"/>
              <a:cs typeface="Calibri"/>
              <a:sym typeface="Calibri"/>
            </a:endParaRPr>
          </a:p>
        </p:txBody>
      </p:sp>
      <p:sp>
        <p:nvSpPr>
          <p:cNvPr id="253" name="Google Shape;253;p1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Live, silent. 1 strongly disagree to 5 strongly agree.</a:t>
            </a:r>
            <a:endParaRPr b="0" i="0" sz="1500" u="none" cap="none" strike="noStrike">
              <a:solidFill>
                <a:schemeClr val="dk1"/>
              </a:solidFill>
              <a:latin typeface="Calibri"/>
              <a:ea typeface="Calibri"/>
              <a:cs typeface="Calibri"/>
              <a:sym typeface="Calibri"/>
            </a:endParaRPr>
          </a:p>
        </p:txBody>
      </p:sp>
      <p:sp>
        <p:nvSpPr>
          <p:cNvPr id="254" name="Google Shape;254;p1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12"/>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256" name="Google Shape;256;p12"/>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In the last ninety days I have been handed a problem I did not already know how to solve.</a:t>
            </a:r>
            <a:endParaRPr b="0" i="0" sz="2000" u="none" cap="none" strike="noStrike">
              <a:solidFill>
                <a:schemeClr val="dk1"/>
              </a:solidFill>
              <a:latin typeface="Calibri"/>
              <a:ea typeface="Calibri"/>
              <a:cs typeface="Calibri"/>
              <a:sym typeface="Calibri"/>
            </a:endParaRPr>
          </a:p>
        </p:txBody>
      </p:sp>
      <p:sp>
        <p:nvSpPr>
          <p:cNvPr id="257" name="Google Shape;257;p12"/>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58" name="Google Shape;258;p12"/>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259" name="Google Shape;259;p12"/>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work close enough to people who are better than me that I can watch how they think.</a:t>
            </a:r>
            <a:endParaRPr b="0" i="0" sz="2000" u="none" cap="none" strike="noStrike">
              <a:solidFill>
                <a:schemeClr val="dk1"/>
              </a:solidFill>
              <a:latin typeface="Calibri"/>
              <a:ea typeface="Calibri"/>
              <a:cs typeface="Calibri"/>
              <a:sym typeface="Calibri"/>
            </a:endParaRPr>
          </a:p>
        </p:txBody>
      </p:sp>
      <p:sp>
        <p:nvSpPr>
          <p:cNvPr id="260" name="Google Shape;260;p12"/>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1" name="Google Shape;261;p12"/>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262" name="Google Shape;262;p12"/>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My work is reviewed by someone who can tell the difference between good and adequate, and who says so directly.</a:t>
            </a:r>
            <a:endParaRPr b="0" i="0" sz="2000" u="none" cap="none" strike="noStrike">
              <a:solidFill>
                <a:schemeClr val="dk1"/>
              </a:solidFill>
              <a:latin typeface="Calibri"/>
              <a:ea typeface="Calibri"/>
              <a:cs typeface="Calibri"/>
              <a:sym typeface="Calibri"/>
            </a:endParaRPr>
          </a:p>
        </p:txBody>
      </p:sp>
      <p:sp>
        <p:nvSpPr>
          <p:cNvPr id="263" name="Google Shape;263;p12"/>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4" name="Google Shape;264;p12"/>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12"/>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70" name="Shape 270"/>
        <p:cNvGrpSpPr/>
        <p:nvPr/>
      </p:nvGrpSpPr>
      <p:grpSpPr>
        <a:xfrm>
          <a:off x="0" y="0"/>
          <a:ext cx="0" cy="0"/>
          <a:chOff x="0" y="0"/>
          <a:chExt cx="0" cy="0"/>
        </a:xfrm>
      </p:grpSpPr>
      <p:sp>
        <p:nvSpPr>
          <p:cNvPr id="271" name="Google Shape;271;p1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72" name="Google Shape;272;p1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13</a:t>
            </a:r>
            <a:endParaRPr/>
          </a:p>
        </p:txBody>
      </p:sp>
      <p:sp>
        <p:nvSpPr>
          <p:cNvPr id="273" name="Google Shape;273;p1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74" name="Google Shape;274;p1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4 to 6</a:t>
            </a:r>
            <a:endParaRPr b="0" i="0" sz="3800" u="none" cap="none" strike="noStrike">
              <a:solidFill>
                <a:schemeClr val="dk1"/>
              </a:solidFill>
              <a:latin typeface="Calibri"/>
              <a:ea typeface="Calibri"/>
              <a:cs typeface="Calibri"/>
              <a:sym typeface="Calibri"/>
            </a:endParaRPr>
          </a:p>
        </p:txBody>
      </p:sp>
      <p:sp>
        <p:nvSpPr>
          <p:cNvPr id="275" name="Google Shape;275;p1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continued. Same window, same instruction.</a:t>
            </a:r>
            <a:endParaRPr b="0" i="0" sz="1500" u="none" cap="none" strike="noStrike">
              <a:solidFill>
                <a:schemeClr val="dk1"/>
              </a:solidFill>
              <a:latin typeface="Calibri"/>
              <a:ea typeface="Calibri"/>
              <a:cs typeface="Calibri"/>
              <a:sym typeface="Calibri"/>
            </a:endParaRPr>
          </a:p>
        </p:txBody>
      </p:sp>
      <p:sp>
        <p:nvSpPr>
          <p:cNvPr id="276" name="Google Shape;276;p1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13"/>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278" name="Google Shape;278;p13"/>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feedback I receive changes what I do next, not just how I feel.</a:t>
            </a:r>
            <a:endParaRPr b="0" i="0" sz="2000" u="none" cap="none" strike="noStrike">
              <a:solidFill>
                <a:schemeClr val="dk1"/>
              </a:solidFill>
              <a:latin typeface="Calibri"/>
              <a:ea typeface="Calibri"/>
              <a:cs typeface="Calibri"/>
              <a:sym typeface="Calibri"/>
            </a:endParaRPr>
          </a:p>
        </p:txBody>
      </p:sp>
      <p:sp>
        <p:nvSpPr>
          <p:cNvPr id="279" name="Google Shape;279;p13"/>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0" name="Google Shape;280;p13"/>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5</a:t>
            </a:r>
            <a:endParaRPr b="0" i="0" sz="3000" u="none" cap="none" strike="noStrike">
              <a:solidFill>
                <a:schemeClr val="dk1"/>
              </a:solidFill>
              <a:latin typeface="Calibri"/>
              <a:ea typeface="Calibri"/>
              <a:cs typeface="Calibri"/>
              <a:sym typeface="Calibri"/>
            </a:endParaRPr>
          </a:p>
        </p:txBody>
      </p:sp>
      <p:sp>
        <p:nvSpPr>
          <p:cNvPr id="281" name="Google Shape;281;p13"/>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regularly operate at the edge of my competence rather than the comfortable center of it.</a:t>
            </a:r>
            <a:endParaRPr b="0" i="0" sz="2000" u="none" cap="none" strike="noStrike">
              <a:solidFill>
                <a:schemeClr val="dk1"/>
              </a:solidFill>
              <a:latin typeface="Calibri"/>
              <a:ea typeface="Calibri"/>
              <a:cs typeface="Calibri"/>
              <a:sym typeface="Calibri"/>
            </a:endParaRPr>
          </a:p>
        </p:txBody>
      </p:sp>
      <p:sp>
        <p:nvSpPr>
          <p:cNvPr id="282" name="Google Shape;282;p13"/>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3" name="Google Shape;283;p13"/>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6</a:t>
            </a:r>
            <a:endParaRPr b="0" i="0" sz="3000" u="none" cap="none" strike="noStrike">
              <a:solidFill>
                <a:schemeClr val="dk1"/>
              </a:solidFill>
              <a:latin typeface="Calibri"/>
              <a:ea typeface="Calibri"/>
              <a:cs typeface="Calibri"/>
              <a:sym typeface="Calibri"/>
            </a:endParaRPr>
          </a:p>
        </p:txBody>
      </p:sp>
      <p:sp>
        <p:nvSpPr>
          <p:cNvPr id="284" name="Google Shape;284;p13"/>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Looking back six months, the work I do now would have been genuinely hard for me then.</a:t>
            </a:r>
            <a:endParaRPr b="0" i="0" sz="2000" u="none" cap="none" strike="noStrike">
              <a:solidFill>
                <a:schemeClr val="dk1"/>
              </a:solidFill>
              <a:latin typeface="Calibri"/>
              <a:ea typeface="Calibri"/>
              <a:cs typeface="Calibri"/>
              <a:sym typeface="Calibri"/>
            </a:endParaRPr>
          </a:p>
        </p:txBody>
      </p:sp>
      <p:sp>
        <p:nvSpPr>
          <p:cNvPr id="285" name="Google Shape;285;p13"/>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6" name="Google Shape;286;p13"/>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13"/>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92" name="Shape 292"/>
        <p:cNvGrpSpPr/>
        <p:nvPr/>
      </p:nvGrpSpPr>
      <p:grpSpPr>
        <a:xfrm>
          <a:off x="0" y="0"/>
          <a:ext cx="0" cy="0"/>
          <a:chOff x="0" y="0"/>
          <a:chExt cx="0" cy="0"/>
        </a:xfrm>
      </p:grpSpPr>
      <p:sp>
        <p:nvSpPr>
          <p:cNvPr id="293" name="Google Shape;293;p1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94" name="Google Shape;294;p1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14</a:t>
            </a:r>
            <a:endParaRPr/>
          </a:p>
        </p:txBody>
      </p:sp>
      <p:sp>
        <p:nvSpPr>
          <p:cNvPr id="295" name="Google Shape;295;p1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96" name="Google Shape;296;p1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Density reading</a:t>
            </a:r>
            <a:endParaRPr b="0" i="0" sz="3800" u="none" cap="none" strike="noStrike">
              <a:solidFill>
                <a:schemeClr val="dk1"/>
              </a:solidFill>
              <a:latin typeface="Calibri"/>
              <a:ea typeface="Calibri"/>
              <a:cs typeface="Calibri"/>
              <a:sym typeface="Calibri"/>
            </a:endParaRPr>
          </a:p>
        </p:txBody>
      </p:sp>
      <p:sp>
        <p:nvSpPr>
          <p:cNvPr id="297" name="Google Shape;297;p1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Hold the number. Do not share it.</a:t>
            </a:r>
            <a:endParaRPr b="0" i="0" sz="1500" u="none" cap="none" strike="noStrike">
              <a:solidFill>
                <a:schemeClr val="dk1"/>
              </a:solidFill>
              <a:latin typeface="Calibri"/>
              <a:ea typeface="Calibri"/>
              <a:cs typeface="Calibri"/>
              <a:sym typeface="Calibri"/>
            </a:endParaRPr>
          </a:p>
        </p:txBody>
      </p:sp>
      <p:sp>
        <p:nvSpPr>
          <p:cNvPr id="298" name="Google Shape;298;p1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14"/>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p14"/>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INITIAL</a:t>
            </a:r>
            <a:endParaRPr b="0" i="0" sz="1100" u="none" cap="none" strike="noStrike">
              <a:solidFill>
                <a:schemeClr val="dk1"/>
              </a:solidFill>
              <a:latin typeface="Calibri"/>
              <a:ea typeface="Calibri"/>
              <a:cs typeface="Calibri"/>
              <a:sym typeface="Calibri"/>
            </a:endParaRPr>
          </a:p>
        </p:txBody>
      </p:sp>
      <p:sp>
        <p:nvSpPr>
          <p:cNvPr id="301" name="Google Shape;301;p14"/>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02" name="Google Shape;302;p14"/>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19 to 30 is high on this axis. 6 to 18 is low.</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Any score between 17 and 21 is a boundary, even a high one.</a:t>
            </a:r>
            <a:endParaRPr b="0" i="0" sz="2000" u="none" cap="none" strike="noStrike">
              <a:solidFill>
                <a:schemeClr val="dk1"/>
              </a:solidFill>
              <a:latin typeface="Calibri"/>
              <a:ea typeface="Calibri"/>
              <a:cs typeface="Calibri"/>
              <a:sym typeface="Calibri"/>
            </a:endParaRPr>
          </a:p>
        </p:txBody>
      </p:sp>
      <p:sp>
        <p:nvSpPr>
          <p:cNvPr id="303" name="Google Shape;303;p14"/>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Write it where you can see it. The pair of numbers is the point of today.</a:t>
            </a:r>
            <a:endParaRPr b="0" i="0" sz="2000" u="none" cap="none" strike="noStrike">
              <a:solidFill>
                <a:schemeClr val="dk1"/>
              </a:solidFill>
              <a:latin typeface="Calibri"/>
              <a:ea typeface="Calibri"/>
              <a:cs typeface="Calibri"/>
              <a:sym typeface="Calibri"/>
            </a:endParaRPr>
          </a:p>
        </p:txBody>
      </p:sp>
      <p:sp>
        <p:nvSpPr>
          <p:cNvPr id="304" name="Google Shape;304;p14"/>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14"/>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4. In Adobe Acrobat Reader the total calculates itself once all six boxes hold a valid score.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10" name="Shape 310"/>
        <p:cNvGrpSpPr/>
        <p:nvPr/>
      </p:nvGrpSpPr>
      <p:grpSpPr>
        <a:xfrm>
          <a:off x="0" y="0"/>
          <a:ext cx="0" cy="0"/>
          <a:chOff x="0" y="0"/>
          <a:chExt cx="0" cy="0"/>
        </a:xfrm>
      </p:grpSpPr>
      <p:sp>
        <p:nvSpPr>
          <p:cNvPr id="311" name="Google Shape;311;p1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12" name="Google Shape;312;p1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15</a:t>
            </a:r>
            <a:endParaRPr/>
          </a:p>
        </p:txBody>
      </p:sp>
      <p:sp>
        <p:nvSpPr>
          <p:cNvPr id="313" name="Google Shape;313;p1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14" name="Google Shape;314;p1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7 to 9</a:t>
            </a:r>
            <a:endParaRPr b="0" i="0" sz="3800" u="none" cap="none" strike="noStrike">
              <a:solidFill>
                <a:schemeClr val="dk1"/>
              </a:solidFill>
              <a:latin typeface="Calibri"/>
              <a:ea typeface="Calibri"/>
              <a:cs typeface="Calibri"/>
              <a:sym typeface="Calibri"/>
            </a:endParaRPr>
          </a:p>
        </p:txBody>
      </p:sp>
      <p:sp>
        <p:nvSpPr>
          <p:cNvPr id="315" name="Google Shape;315;p1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Same scale, same window.</a:t>
            </a:r>
            <a:endParaRPr b="0" i="0" sz="1500" u="none" cap="none" strike="noStrike">
              <a:solidFill>
                <a:schemeClr val="dk1"/>
              </a:solidFill>
              <a:latin typeface="Calibri"/>
              <a:ea typeface="Calibri"/>
              <a:cs typeface="Calibri"/>
              <a:sym typeface="Calibri"/>
            </a:endParaRPr>
          </a:p>
        </p:txBody>
      </p:sp>
      <p:sp>
        <p:nvSpPr>
          <p:cNvPr id="316" name="Google Shape;316;p1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p15"/>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7</a:t>
            </a:r>
            <a:endParaRPr b="0" i="0" sz="3000" u="none" cap="none" strike="noStrike">
              <a:solidFill>
                <a:schemeClr val="dk1"/>
              </a:solidFill>
              <a:latin typeface="Calibri"/>
              <a:ea typeface="Calibri"/>
              <a:cs typeface="Calibri"/>
              <a:sym typeface="Calibri"/>
            </a:endParaRPr>
          </a:p>
        </p:txBody>
      </p:sp>
      <p:sp>
        <p:nvSpPr>
          <p:cNvPr id="318" name="Google Shape;318;p15"/>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capability I am building would be valued by an employer in a different industry.</a:t>
            </a:r>
            <a:endParaRPr b="0" i="0" sz="2000" u="none" cap="none" strike="noStrike">
              <a:solidFill>
                <a:schemeClr val="dk1"/>
              </a:solidFill>
              <a:latin typeface="Calibri"/>
              <a:ea typeface="Calibri"/>
              <a:cs typeface="Calibri"/>
              <a:sym typeface="Calibri"/>
            </a:endParaRPr>
          </a:p>
        </p:txBody>
      </p:sp>
      <p:sp>
        <p:nvSpPr>
          <p:cNvPr id="319" name="Google Shape;319;p15"/>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0" name="Google Shape;320;p15"/>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8</a:t>
            </a:r>
            <a:endParaRPr b="0" i="0" sz="3000" u="none" cap="none" strike="noStrike">
              <a:solidFill>
                <a:schemeClr val="dk1"/>
              </a:solidFill>
              <a:latin typeface="Calibri"/>
              <a:ea typeface="Calibri"/>
              <a:cs typeface="Calibri"/>
              <a:sym typeface="Calibri"/>
            </a:endParaRPr>
          </a:p>
        </p:txBody>
      </p:sp>
      <p:sp>
        <p:nvSpPr>
          <p:cNvPr id="321" name="Google Shape;321;p15"/>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can describe what I do in terms of outcomes, not just my company’s internal language.</a:t>
            </a:r>
            <a:endParaRPr b="0" i="0" sz="2000" u="none" cap="none" strike="noStrike">
              <a:solidFill>
                <a:schemeClr val="dk1"/>
              </a:solidFill>
              <a:latin typeface="Calibri"/>
              <a:ea typeface="Calibri"/>
              <a:cs typeface="Calibri"/>
              <a:sym typeface="Calibri"/>
            </a:endParaRPr>
          </a:p>
        </p:txBody>
      </p:sp>
      <p:sp>
        <p:nvSpPr>
          <p:cNvPr id="322" name="Google Shape;322;p15"/>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3" name="Google Shape;323;p15"/>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9</a:t>
            </a:r>
            <a:endParaRPr b="0" i="0" sz="3000" u="none" cap="none" strike="noStrike">
              <a:solidFill>
                <a:schemeClr val="dk1"/>
              </a:solidFill>
              <a:latin typeface="Calibri"/>
              <a:ea typeface="Calibri"/>
              <a:cs typeface="Calibri"/>
              <a:sym typeface="Calibri"/>
            </a:endParaRPr>
          </a:p>
        </p:txBody>
      </p:sp>
      <p:sp>
        <p:nvSpPr>
          <p:cNvPr id="324" name="Google Shape;324;p15"/>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my role disappeared tomorrow, the capability I built would still be mine to carry.</a:t>
            </a:r>
            <a:endParaRPr b="0" i="0" sz="2000" u="none" cap="none" strike="noStrike">
              <a:solidFill>
                <a:schemeClr val="dk1"/>
              </a:solidFill>
              <a:latin typeface="Calibri"/>
              <a:ea typeface="Calibri"/>
              <a:cs typeface="Calibri"/>
              <a:sym typeface="Calibri"/>
            </a:endParaRPr>
          </a:p>
        </p:txBody>
      </p:sp>
      <p:sp>
        <p:nvSpPr>
          <p:cNvPr id="325" name="Google Shape;325;p15"/>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6" name="Google Shape;326;p15"/>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5"/>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32" name="Shape 332"/>
        <p:cNvGrpSpPr/>
        <p:nvPr/>
      </p:nvGrpSpPr>
      <p:grpSpPr>
        <a:xfrm>
          <a:off x="0" y="0"/>
          <a:ext cx="0" cy="0"/>
          <a:chOff x="0" y="0"/>
          <a:chExt cx="0" cy="0"/>
        </a:xfrm>
      </p:grpSpPr>
      <p:sp>
        <p:nvSpPr>
          <p:cNvPr id="333" name="Google Shape;333;p1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34" name="Google Shape;334;p1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16</a:t>
            </a:r>
            <a:endParaRPr/>
          </a:p>
        </p:txBody>
      </p:sp>
      <p:sp>
        <p:nvSpPr>
          <p:cNvPr id="335" name="Google Shape;335;p1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36" name="Google Shape;336;p1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10 to 12</a:t>
            </a:r>
            <a:endParaRPr b="0" i="0" sz="3800" u="none" cap="none" strike="noStrike">
              <a:solidFill>
                <a:schemeClr val="dk1"/>
              </a:solidFill>
              <a:latin typeface="Calibri"/>
              <a:ea typeface="Calibri"/>
              <a:cs typeface="Calibri"/>
              <a:sym typeface="Calibri"/>
            </a:endParaRPr>
          </a:p>
        </p:txBody>
      </p:sp>
      <p:sp>
        <p:nvSpPr>
          <p:cNvPr id="337" name="Google Shape;337;p1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continued. Last block of the first pass.</a:t>
            </a:r>
            <a:endParaRPr b="0" i="0" sz="1500" u="none" cap="none" strike="noStrike">
              <a:solidFill>
                <a:schemeClr val="dk1"/>
              </a:solidFill>
              <a:latin typeface="Calibri"/>
              <a:ea typeface="Calibri"/>
              <a:cs typeface="Calibri"/>
              <a:sym typeface="Calibri"/>
            </a:endParaRPr>
          </a:p>
        </p:txBody>
      </p:sp>
      <p:sp>
        <p:nvSpPr>
          <p:cNvPr id="338" name="Google Shape;338;p1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16"/>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10</a:t>
            </a:r>
            <a:endParaRPr b="0" i="0" sz="3000" u="none" cap="none" strike="noStrike">
              <a:solidFill>
                <a:schemeClr val="dk1"/>
              </a:solidFill>
              <a:latin typeface="Calibri"/>
              <a:ea typeface="Calibri"/>
              <a:cs typeface="Calibri"/>
              <a:sym typeface="Calibri"/>
            </a:endParaRPr>
          </a:p>
        </p:txBody>
      </p:sp>
      <p:sp>
        <p:nvSpPr>
          <p:cNvPr id="340" name="Google Shape;340;p16"/>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People with the power to hire or advance me, inside or outside my company, can already see what I am good at.</a:t>
            </a:r>
            <a:endParaRPr b="0" i="0" sz="2000" u="none" cap="none" strike="noStrike">
              <a:solidFill>
                <a:schemeClr val="dk1"/>
              </a:solidFill>
              <a:latin typeface="Calibri"/>
              <a:ea typeface="Calibri"/>
              <a:cs typeface="Calibri"/>
              <a:sym typeface="Calibri"/>
            </a:endParaRPr>
          </a:p>
        </p:txBody>
      </p:sp>
      <p:sp>
        <p:nvSpPr>
          <p:cNvPr id="341" name="Google Shape;341;p16"/>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2" name="Google Shape;342;p16"/>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11</a:t>
            </a:r>
            <a:endParaRPr b="0" i="0" sz="3000" u="none" cap="none" strike="noStrike">
              <a:solidFill>
                <a:schemeClr val="dk1"/>
              </a:solidFill>
              <a:latin typeface="Calibri"/>
              <a:ea typeface="Calibri"/>
              <a:cs typeface="Calibri"/>
              <a:sym typeface="Calibri"/>
            </a:endParaRPr>
          </a:p>
        </p:txBody>
      </p:sp>
      <p:sp>
        <p:nvSpPr>
          <p:cNvPr id="343" name="Google Shape;343;p16"/>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I am learning is a transferable capability rather than a company-specific procedure.</a:t>
            </a:r>
            <a:endParaRPr b="0" i="0" sz="2000" u="none" cap="none" strike="noStrike">
              <a:solidFill>
                <a:schemeClr val="dk1"/>
              </a:solidFill>
              <a:latin typeface="Calibri"/>
              <a:ea typeface="Calibri"/>
              <a:cs typeface="Calibri"/>
              <a:sym typeface="Calibri"/>
            </a:endParaRPr>
          </a:p>
        </p:txBody>
      </p:sp>
      <p:sp>
        <p:nvSpPr>
          <p:cNvPr id="344" name="Google Shape;344;p16"/>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5" name="Google Shape;345;p16"/>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12</a:t>
            </a:r>
            <a:endParaRPr b="0" i="0" sz="3000" u="none" cap="none" strike="noStrike">
              <a:solidFill>
                <a:schemeClr val="dk1"/>
              </a:solidFill>
              <a:latin typeface="Calibri"/>
              <a:ea typeface="Calibri"/>
              <a:cs typeface="Calibri"/>
              <a:sym typeface="Calibri"/>
            </a:endParaRPr>
          </a:p>
        </p:txBody>
      </p:sp>
      <p:sp>
        <p:nvSpPr>
          <p:cNvPr id="346" name="Google Shape;346;p16"/>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could rebuild a strong position somewhere else within a year.</a:t>
            </a:r>
            <a:endParaRPr b="0" i="0" sz="2000" u="none" cap="none" strike="noStrike">
              <a:solidFill>
                <a:schemeClr val="dk1"/>
              </a:solidFill>
              <a:latin typeface="Calibri"/>
              <a:ea typeface="Calibri"/>
              <a:cs typeface="Calibri"/>
              <a:sym typeface="Calibri"/>
            </a:endParaRPr>
          </a:p>
        </p:txBody>
      </p:sp>
      <p:sp>
        <p:nvSpPr>
          <p:cNvPr id="347" name="Google Shape;347;p16"/>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8" name="Google Shape;348;p16"/>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p16"/>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54" name="Shape 354"/>
        <p:cNvGrpSpPr/>
        <p:nvPr/>
      </p:nvGrpSpPr>
      <p:grpSpPr>
        <a:xfrm>
          <a:off x="0" y="0"/>
          <a:ext cx="0" cy="0"/>
          <a:chOff x="0" y="0"/>
          <a:chExt cx="0" cy="0"/>
        </a:xfrm>
      </p:grpSpPr>
      <p:sp>
        <p:nvSpPr>
          <p:cNvPr id="355" name="Google Shape;355;p1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56" name="Google Shape;356;p1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17</a:t>
            </a:r>
            <a:endParaRPr/>
          </a:p>
        </p:txBody>
      </p:sp>
      <p:sp>
        <p:nvSpPr>
          <p:cNvPr id="357" name="Google Shape;357;p1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58" name="Google Shape;358;p1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Optionality reading</a:t>
            </a:r>
            <a:endParaRPr b="0" i="0" sz="3800" u="none" cap="none" strike="noStrike">
              <a:solidFill>
                <a:schemeClr val="dk1"/>
              </a:solidFill>
              <a:latin typeface="Calibri"/>
              <a:ea typeface="Calibri"/>
              <a:cs typeface="Calibri"/>
              <a:sym typeface="Calibri"/>
            </a:endParaRPr>
          </a:p>
        </p:txBody>
      </p:sp>
      <p:sp>
        <p:nvSpPr>
          <p:cNvPr id="359" name="Google Shape;359;p1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You now hold two numbers and a position.</a:t>
            </a:r>
            <a:endParaRPr b="0" i="0" sz="1500" u="none" cap="none" strike="noStrike">
              <a:solidFill>
                <a:schemeClr val="dk1"/>
              </a:solidFill>
              <a:latin typeface="Calibri"/>
              <a:ea typeface="Calibri"/>
              <a:cs typeface="Calibri"/>
              <a:sym typeface="Calibri"/>
            </a:endParaRPr>
          </a:p>
        </p:txBody>
      </p:sp>
      <p:sp>
        <p:nvSpPr>
          <p:cNvPr id="360" name="Google Shape;360;p1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17"/>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p17"/>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INITIAL</a:t>
            </a:r>
            <a:endParaRPr b="0" i="0" sz="1100" u="none" cap="none" strike="noStrike">
              <a:solidFill>
                <a:schemeClr val="dk1"/>
              </a:solidFill>
              <a:latin typeface="Calibri"/>
              <a:ea typeface="Calibri"/>
              <a:cs typeface="Calibri"/>
              <a:sym typeface="Calibri"/>
            </a:endParaRPr>
          </a:p>
        </p:txBody>
      </p:sp>
      <p:sp>
        <p:nvSpPr>
          <p:cNvPr id="363" name="Google Shape;363;p17"/>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64" name="Google Shape;364;p17"/>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numbers is all the matrix needs. Cross them and you have a state.</a:t>
            </a:r>
            <a:endParaRPr b="0" i="0" sz="2000" u="none" cap="none" strike="noStrike">
              <a:solidFill>
                <a:schemeClr val="dk1"/>
              </a:solidFill>
              <a:latin typeface="Calibri"/>
              <a:ea typeface="Calibri"/>
              <a:cs typeface="Calibri"/>
              <a:sym typeface="Calibri"/>
            </a:endParaRPr>
          </a:p>
        </p:txBody>
      </p:sp>
      <p:sp>
        <p:nvSpPr>
          <p:cNvPr id="365" name="Google Shape;365;p17"/>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This is the reading you would have carried into a decision this week. Before we go further, we place it.</a:t>
            </a:r>
            <a:endParaRPr b="0" i="0" sz="2000" u="none" cap="none" strike="noStrike">
              <a:solidFill>
                <a:schemeClr val="dk1"/>
              </a:solidFill>
              <a:latin typeface="Calibri"/>
              <a:ea typeface="Calibri"/>
              <a:cs typeface="Calibri"/>
              <a:sym typeface="Calibri"/>
            </a:endParaRPr>
          </a:p>
        </p:txBody>
      </p:sp>
      <p:sp>
        <p:nvSpPr>
          <p:cNvPr id="366" name="Google Shape;366;p17"/>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17"/>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72" name="Shape 372"/>
        <p:cNvGrpSpPr/>
        <p:nvPr/>
      </p:nvGrpSpPr>
      <p:grpSpPr>
        <a:xfrm>
          <a:off x="0" y="0"/>
          <a:ext cx="0" cy="0"/>
          <a:chOff x="0" y="0"/>
          <a:chExt cx="0" cy="0"/>
        </a:xfrm>
      </p:grpSpPr>
      <p:sp>
        <p:nvSpPr>
          <p:cNvPr id="373" name="Google Shape;373;p1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74" name="Google Shape;374;p1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18</a:t>
            </a:r>
            <a:endParaRPr/>
          </a:p>
        </p:txBody>
      </p:sp>
      <p:sp>
        <p:nvSpPr>
          <p:cNvPr id="375" name="Google Shape;375;p1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MATRIX</a:t>
            </a:r>
            <a:endParaRPr b="0" i="0" sz="1100" u="none" cap="none" strike="noStrike">
              <a:solidFill>
                <a:schemeClr val="dk1"/>
              </a:solidFill>
              <a:latin typeface="Calibri"/>
              <a:ea typeface="Calibri"/>
              <a:cs typeface="Calibri"/>
              <a:sym typeface="Calibri"/>
            </a:endParaRPr>
          </a:p>
        </p:txBody>
      </p:sp>
      <p:sp>
        <p:nvSpPr>
          <p:cNvPr id="376" name="Google Shape;376;p1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four states</a:t>
            </a:r>
            <a:endParaRPr b="0" i="0" sz="3800" u="none" cap="none" strike="noStrike">
              <a:solidFill>
                <a:schemeClr val="dk1"/>
              </a:solidFill>
              <a:latin typeface="Calibri"/>
              <a:ea typeface="Calibri"/>
              <a:cs typeface="Calibri"/>
              <a:sym typeface="Calibri"/>
            </a:endParaRPr>
          </a:p>
        </p:txBody>
      </p:sp>
      <p:sp>
        <p:nvSpPr>
          <p:cNvPr id="377" name="Google Shape;377;p1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crossed with Optionality. Your current state reveals a form of exposure your job title cannot.</a:t>
            </a:r>
            <a:endParaRPr b="0" i="0" sz="1500" u="none" cap="none" strike="noStrike">
              <a:solidFill>
                <a:schemeClr val="dk1"/>
              </a:solidFill>
              <a:latin typeface="Calibri"/>
              <a:ea typeface="Calibri"/>
              <a:cs typeface="Calibri"/>
              <a:sym typeface="Calibri"/>
            </a:endParaRPr>
          </a:p>
        </p:txBody>
      </p:sp>
      <p:sp>
        <p:nvSpPr>
          <p:cNvPr id="378" name="Google Shape;378;p1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18"/>
          <p:cNvSpPr/>
          <p:nvPr/>
        </p:nvSpPr>
        <p:spPr>
          <a:xfrm>
            <a:off x="1463040"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0" name="Google Shape;380;p18"/>
          <p:cNvSpPr/>
          <p:nvPr/>
        </p:nvSpPr>
        <p:spPr>
          <a:xfrm>
            <a:off x="1664208"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DEPTH TRAP</a:t>
            </a:r>
            <a:endParaRPr b="0" i="0" sz="2200" u="none" cap="none" strike="noStrike">
              <a:solidFill>
                <a:schemeClr val="dk1"/>
              </a:solidFill>
              <a:latin typeface="Calibri"/>
              <a:ea typeface="Calibri"/>
              <a:cs typeface="Calibri"/>
              <a:sym typeface="Calibri"/>
            </a:endParaRPr>
          </a:p>
        </p:txBody>
      </p:sp>
      <p:sp>
        <p:nvSpPr>
          <p:cNvPr id="381" name="Google Shape;381;p18"/>
          <p:cNvSpPr/>
          <p:nvPr/>
        </p:nvSpPr>
        <p:spPr>
          <a:xfrm>
            <a:off x="1664208"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expertise fused to one context.</a:t>
            </a:r>
            <a:endParaRPr b="0" i="0" sz="1600" u="none" cap="none" strike="noStrike">
              <a:solidFill>
                <a:schemeClr val="dk1"/>
              </a:solidFill>
              <a:latin typeface="Calibri"/>
              <a:ea typeface="Calibri"/>
              <a:cs typeface="Calibri"/>
              <a:sym typeface="Calibri"/>
            </a:endParaRPr>
          </a:p>
        </p:txBody>
      </p:sp>
      <p:sp>
        <p:nvSpPr>
          <p:cNvPr id="382" name="Google Shape;382;p18"/>
          <p:cNvSpPr/>
          <p:nvPr/>
        </p:nvSpPr>
        <p:spPr>
          <a:xfrm>
            <a:off x="6094476"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18"/>
          <p:cNvSpPr/>
          <p:nvPr/>
        </p:nvSpPr>
        <p:spPr>
          <a:xfrm>
            <a:off x="6295644"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2200"/>
              <a:buFont typeface="DM Sans"/>
              <a:buNone/>
            </a:pPr>
            <a:r>
              <a:rPr b="1" i="0" lang="en-US" sz="2200" u="none" cap="none" strike="noStrike">
                <a:solidFill>
                  <a:srgbClr val="C1440E"/>
                </a:solidFill>
                <a:latin typeface="DM Sans"/>
                <a:ea typeface="DM Sans"/>
                <a:cs typeface="DM Sans"/>
                <a:sym typeface="DM Sans"/>
              </a:rPr>
              <a:t>COMPOUNDING</a:t>
            </a:r>
            <a:endParaRPr b="0" i="0" sz="2200" u="none" cap="none" strike="noStrike">
              <a:solidFill>
                <a:schemeClr val="dk1"/>
              </a:solidFill>
              <a:latin typeface="Calibri"/>
              <a:ea typeface="Calibri"/>
              <a:cs typeface="Calibri"/>
              <a:sym typeface="Calibri"/>
            </a:endParaRPr>
          </a:p>
        </p:txBody>
      </p:sp>
      <p:sp>
        <p:nvSpPr>
          <p:cNvPr id="384" name="Google Shape;384;p18"/>
          <p:cNvSpPr/>
          <p:nvPr/>
        </p:nvSpPr>
        <p:spPr>
          <a:xfrm>
            <a:off x="6295644"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capability that travels.</a:t>
            </a:r>
            <a:endParaRPr b="0" i="0" sz="1600" u="none" cap="none" strike="noStrike">
              <a:solidFill>
                <a:schemeClr val="dk1"/>
              </a:solidFill>
              <a:latin typeface="Calibri"/>
              <a:ea typeface="Calibri"/>
              <a:cs typeface="Calibri"/>
              <a:sym typeface="Calibri"/>
            </a:endParaRPr>
          </a:p>
        </p:txBody>
      </p:sp>
      <p:sp>
        <p:nvSpPr>
          <p:cNvPr id="385" name="Google Shape;385;p18"/>
          <p:cNvSpPr/>
          <p:nvPr/>
        </p:nvSpPr>
        <p:spPr>
          <a:xfrm>
            <a:off x="1463040"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18"/>
          <p:cNvSpPr/>
          <p:nvPr/>
        </p:nvSpPr>
        <p:spPr>
          <a:xfrm>
            <a:off x="1664208"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STAGNANT</a:t>
            </a:r>
            <a:endParaRPr b="0" i="0" sz="2200" u="none" cap="none" strike="noStrike">
              <a:solidFill>
                <a:schemeClr val="dk1"/>
              </a:solidFill>
              <a:latin typeface="Calibri"/>
              <a:ea typeface="Calibri"/>
              <a:cs typeface="Calibri"/>
              <a:sym typeface="Calibri"/>
            </a:endParaRPr>
          </a:p>
        </p:txBody>
      </p:sp>
      <p:sp>
        <p:nvSpPr>
          <p:cNvPr id="387" name="Google Shape;387;p18"/>
          <p:cNvSpPr/>
          <p:nvPr/>
        </p:nvSpPr>
        <p:spPr>
          <a:xfrm>
            <a:off x="1664208"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stopped asking more of you.</a:t>
            </a:r>
            <a:endParaRPr b="0" i="0" sz="1600" u="none" cap="none" strike="noStrike">
              <a:solidFill>
                <a:schemeClr val="dk1"/>
              </a:solidFill>
              <a:latin typeface="Calibri"/>
              <a:ea typeface="Calibri"/>
              <a:cs typeface="Calibri"/>
              <a:sym typeface="Calibri"/>
            </a:endParaRPr>
          </a:p>
        </p:txBody>
      </p:sp>
      <p:sp>
        <p:nvSpPr>
          <p:cNvPr id="388" name="Google Shape;388;p18"/>
          <p:cNvSpPr/>
          <p:nvPr/>
        </p:nvSpPr>
        <p:spPr>
          <a:xfrm>
            <a:off x="6094476"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8"/>
          <p:cNvSpPr/>
          <p:nvPr/>
        </p:nvSpPr>
        <p:spPr>
          <a:xfrm>
            <a:off x="6295644"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FRAGILE</a:t>
            </a:r>
            <a:endParaRPr b="0" i="0" sz="2200" u="none" cap="none" strike="noStrike">
              <a:solidFill>
                <a:schemeClr val="dk1"/>
              </a:solidFill>
              <a:latin typeface="Calibri"/>
              <a:ea typeface="Calibri"/>
              <a:cs typeface="Calibri"/>
              <a:sym typeface="Calibri"/>
            </a:endParaRPr>
          </a:p>
        </p:txBody>
      </p:sp>
      <p:sp>
        <p:nvSpPr>
          <p:cNvPr id="390" name="Google Shape;390;p18"/>
          <p:cNvSpPr/>
          <p:nvPr/>
        </p:nvSpPr>
        <p:spPr>
          <a:xfrm>
            <a:off x="6295644"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Options on paper, not enough depth beneath.</a:t>
            </a:r>
            <a:endParaRPr b="0" i="0" sz="1600" u="none" cap="none" strike="noStrike">
              <a:solidFill>
                <a:schemeClr val="dk1"/>
              </a:solidFill>
              <a:latin typeface="Calibri"/>
              <a:ea typeface="Calibri"/>
              <a:cs typeface="Calibri"/>
              <a:sym typeface="Calibri"/>
            </a:endParaRPr>
          </a:p>
        </p:txBody>
      </p:sp>
      <p:sp>
        <p:nvSpPr>
          <p:cNvPr id="391" name="Google Shape;391;p18"/>
          <p:cNvSpPr/>
          <p:nvPr/>
        </p:nvSpPr>
        <p:spPr>
          <a:xfrm>
            <a:off x="1463040" y="1901952"/>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392" name="Google Shape;392;p18"/>
          <p:cNvSpPr/>
          <p:nvPr/>
        </p:nvSpPr>
        <p:spPr>
          <a:xfrm>
            <a:off x="1463040" y="5340096"/>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393" name="Google Shape;393;p18"/>
          <p:cNvSpPr/>
          <p:nvPr/>
        </p:nvSpPr>
        <p:spPr>
          <a:xfrm>
            <a:off x="1463040" y="2212848"/>
            <a:ext cx="9262872" cy="30723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94" name="Google Shape;394;p18"/>
          <p:cNvCxnSpPr/>
          <p:nvPr/>
        </p:nvCxnSpPr>
        <p:spPr>
          <a:xfrm>
            <a:off x="6094476" y="2212848"/>
            <a:ext cx="0" cy="3072384"/>
          </a:xfrm>
          <a:prstGeom prst="straightConnector1">
            <a:avLst/>
          </a:prstGeom>
          <a:noFill/>
          <a:ln cap="flat" cmpd="sng" w="15875">
            <a:solidFill>
              <a:srgbClr val="0F2347"/>
            </a:solidFill>
            <a:prstDash val="solid"/>
            <a:miter lim="80"/>
            <a:headEnd len="sm" w="sm" type="none"/>
            <a:tailEnd len="sm" w="sm" type="none"/>
          </a:ln>
        </p:spPr>
      </p:cxnSp>
      <p:cxnSp>
        <p:nvCxnSpPr>
          <p:cNvPr id="395" name="Google Shape;395;p18"/>
          <p:cNvCxnSpPr/>
          <p:nvPr/>
        </p:nvCxnSpPr>
        <p:spPr>
          <a:xfrm>
            <a:off x="1463040" y="3749040"/>
            <a:ext cx="9262872"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00" name="Shape 400"/>
        <p:cNvGrpSpPr/>
        <p:nvPr/>
      </p:nvGrpSpPr>
      <p:grpSpPr>
        <a:xfrm>
          <a:off x="0" y="0"/>
          <a:ext cx="0" cy="0"/>
          <a:chOff x="0" y="0"/>
          <a:chExt cx="0" cy="0"/>
        </a:xfrm>
      </p:grpSpPr>
      <p:sp>
        <p:nvSpPr>
          <p:cNvPr id="401" name="Google Shape;401;p1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02" name="Google Shape;402;p1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19</a:t>
            </a:r>
            <a:endParaRPr/>
          </a:p>
        </p:txBody>
      </p:sp>
      <p:sp>
        <p:nvSpPr>
          <p:cNvPr id="403" name="Google Shape;403;p1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BEFORE YOU PLACE YOURSELF</a:t>
            </a:r>
            <a:endParaRPr b="0" i="0" sz="1100" u="none" cap="none" strike="noStrike">
              <a:solidFill>
                <a:schemeClr val="dk1"/>
              </a:solidFill>
              <a:latin typeface="Calibri"/>
              <a:ea typeface="Calibri"/>
              <a:cs typeface="Calibri"/>
              <a:sym typeface="Calibri"/>
            </a:endParaRPr>
          </a:p>
        </p:txBody>
      </p:sp>
      <p:sp>
        <p:nvSpPr>
          <p:cNvPr id="404" name="Google Shape;404;p1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 this before you place yourself</a:t>
            </a:r>
            <a:endParaRPr b="0" i="0" sz="3800" u="none" cap="none" strike="noStrike">
              <a:solidFill>
                <a:schemeClr val="dk1"/>
              </a:solidFill>
              <a:latin typeface="Calibri"/>
              <a:ea typeface="Calibri"/>
              <a:cs typeface="Calibri"/>
              <a:sym typeface="Calibri"/>
            </a:endParaRPr>
          </a:p>
        </p:txBody>
      </p:sp>
      <p:sp>
        <p:nvSpPr>
          <p:cNvPr id="405" name="Google Shape;405;p1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most important sentence in the session.</a:t>
            </a:r>
            <a:endParaRPr b="0" i="0" sz="1500" u="none" cap="none" strike="noStrike">
              <a:solidFill>
                <a:schemeClr val="dk1"/>
              </a:solidFill>
              <a:latin typeface="Calibri"/>
              <a:ea typeface="Calibri"/>
              <a:cs typeface="Calibri"/>
              <a:sym typeface="Calibri"/>
            </a:endParaRPr>
          </a:p>
        </p:txBody>
      </p:sp>
      <p:sp>
        <p:nvSpPr>
          <p:cNvPr id="406" name="Google Shape;406;p1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Not a performance rating, a potential rating, or a nine-box grid. It reads your conditions, not your worth.</a:t>
            </a:r>
            <a:endParaRPr b="0" i="0" sz="2400" u="none" cap="none" strike="noStrike">
              <a:solidFill>
                <a:schemeClr val="dk1"/>
              </a:solidFill>
              <a:latin typeface="Calibri"/>
              <a:ea typeface="Calibri"/>
              <a:cs typeface="Calibri"/>
              <a:sym typeface="Calibri"/>
            </a:endParaRPr>
          </a:p>
        </p:txBody>
      </p:sp>
      <p:sp>
        <p:nvSpPr>
          <p:cNvPr id="408" name="Google Shape;408;p19"/>
          <p:cNvSpPr/>
          <p:nvPr/>
        </p:nvSpPr>
        <p:spPr>
          <a:xfrm>
            <a:off x="658368" y="2980944"/>
            <a:ext cx="529437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Performance and formation differ</a:t>
            </a:r>
            <a:endParaRPr b="0" i="0" sz="1900" u="none" cap="none" strike="noStrike">
              <a:solidFill>
                <a:schemeClr val="dk1"/>
              </a:solidFill>
              <a:latin typeface="Calibri"/>
              <a:ea typeface="Calibri"/>
              <a:cs typeface="Calibri"/>
              <a:sym typeface="Calibri"/>
            </a:endParaRPr>
          </a:p>
        </p:txBody>
      </p:sp>
      <p:sp>
        <p:nvSpPr>
          <p:cNvPr id="409" name="Google Shape;409;p19"/>
          <p:cNvSpPr/>
          <p:nvPr/>
        </p:nvSpPr>
        <p:spPr>
          <a:xfrm>
            <a:off x="658368" y="3456432"/>
            <a:ext cx="529437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Strong reviews and flat formation are routine companions.</a:t>
            </a:r>
            <a:endParaRPr b="0" i="0" sz="1500" u="none" cap="none" strike="noStrike">
              <a:solidFill>
                <a:schemeClr val="dk1"/>
              </a:solidFill>
              <a:latin typeface="Calibri"/>
              <a:ea typeface="Calibri"/>
              <a:cs typeface="Calibri"/>
              <a:sym typeface="Calibri"/>
            </a:endParaRPr>
          </a:p>
        </p:txBody>
      </p:sp>
      <p:sp>
        <p:nvSpPr>
          <p:cNvPr id="410" name="Google Shape;410;p19"/>
          <p:cNvSpPr/>
          <p:nvPr/>
        </p:nvSpPr>
        <p:spPr>
          <a:xfrm>
            <a:off x="6236208" y="2980944"/>
            <a:ext cx="529437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State is not identity</a:t>
            </a:r>
            <a:endParaRPr b="0" i="0" sz="1900" u="none" cap="none" strike="noStrike">
              <a:solidFill>
                <a:schemeClr val="dk1"/>
              </a:solidFill>
              <a:latin typeface="Calibri"/>
              <a:ea typeface="Calibri"/>
              <a:cs typeface="Calibri"/>
              <a:sym typeface="Calibri"/>
            </a:endParaRPr>
          </a:p>
        </p:txBody>
      </p:sp>
      <p:sp>
        <p:nvSpPr>
          <p:cNvPr id="411" name="Google Shape;411;p19"/>
          <p:cNvSpPr/>
          <p:nvPr/>
        </p:nvSpPr>
        <p:spPr>
          <a:xfrm>
            <a:off x="6236208" y="3456432"/>
            <a:ext cx="529437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current condition, not a permanent address.</a:t>
            </a:r>
            <a:endParaRPr b="0" i="0" sz="1500" u="none" cap="none" strike="noStrike">
              <a:solidFill>
                <a:schemeClr val="dk1"/>
              </a:solidFill>
              <a:latin typeface="Calibri"/>
              <a:ea typeface="Calibri"/>
              <a:cs typeface="Calibri"/>
              <a:sym typeface="Calibri"/>
            </a:endParaRPr>
          </a:p>
        </p:txBody>
      </p:sp>
      <p:sp>
        <p:nvSpPr>
          <p:cNvPr id="412" name="Google Shape;412;p19"/>
          <p:cNvSpPr/>
          <p:nvPr/>
        </p:nvSpPr>
        <p:spPr>
          <a:xfrm>
            <a:off x="658368" y="4462272"/>
            <a:ext cx="529437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A low Optionality score is not a verdict</a:t>
            </a:r>
            <a:endParaRPr b="0" i="0" sz="1900" u="none" cap="none" strike="noStrike">
              <a:solidFill>
                <a:schemeClr val="dk1"/>
              </a:solidFill>
              <a:latin typeface="Calibri"/>
              <a:ea typeface="Calibri"/>
              <a:cs typeface="Calibri"/>
              <a:sym typeface="Calibri"/>
            </a:endParaRPr>
          </a:p>
        </p:txBody>
      </p:sp>
      <p:sp>
        <p:nvSpPr>
          <p:cNvPr id="413" name="Google Shape;413;p19"/>
          <p:cNvSpPr/>
          <p:nvPr/>
        </p:nvSpPr>
        <p:spPr>
          <a:xfrm>
            <a:off x="658368" y="4937760"/>
            <a:ext cx="529437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Context-bound capability, weak translation, or limited exposure.</a:t>
            </a:r>
            <a:endParaRPr b="0" i="0" sz="1500" u="none" cap="none" strike="noStrike">
              <a:solidFill>
                <a:schemeClr val="dk1"/>
              </a:solidFill>
              <a:latin typeface="Calibri"/>
              <a:ea typeface="Calibri"/>
              <a:cs typeface="Calibri"/>
              <a:sym typeface="Calibri"/>
            </a:endParaRPr>
          </a:p>
        </p:txBody>
      </p:sp>
      <p:sp>
        <p:nvSpPr>
          <p:cNvPr id="414" name="Google Shape;414;p19"/>
          <p:cNvSpPr/>
          <p:nvPr/>
        </p:nvSpPr>
        <p:spPr>
          <a:xfrm>
            <a:off x="6236208" y="4462272"/>
            <a:ext cx="529437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Your first score is not wrong</a:t>
            </a:r>
            <a:endParaRPr b="0" i="0" sz="1900" u="none" cap="none" strike="noStrike">
              <a:solidFill>
                <a:schemeClr val="dk1"/>
              </a:solidFill>
              <a:latin typeface="Calibri"/>
              <a:ea typeface="Calibri"/>
              <a:cs typeface="Calibri"/>
              <a:sym typeface="Calibri"/>
            </a:endParaRPr>
          </a:p>
        </p:txBody>
      </p:sp>
      <p:sp>
        <p:nvSpPr>
          <p:cNvPr id="415" name="Google Shape;415;p19"/>
          <p:cNvSpPr/>
          <p:nvPr/>
        </p:nvSpPr>
        <p:spPr>
          <a:xfrm>
            <a:off x="6236208" y="4937760"/>
            <a:ext cx="529437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Uncalibrated is not wrong.</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420" name="Shape 420"/>
        <p:cNvGrpSpPr/>
        <p:nvPr/>
      </p:nvGrpSpPr>
      <p:grpSpPr>
        <a:xfrm>
          <a:off x="0" y="0"/>
          <a:ext cx="0" cy="0"/>
          <a:chOff x="0" y="0"/>
          <a:chExt cx="0" cy="0"/>
        </a:xfrm>
      </p:grpSpPr>
      <p:sp>
        <p:nvSpPr>
          <p:cNvPr id="421" name="Google Shape;421;p2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22" name="Google Shape;422;p2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20</a:t>
            </a:r>
            <a:endParaRPr/>
          </a:p>
        </p:txBody>
      </p:sp>
      <p:sp>
        <p:nvSpPr>
          <p:cNvPr id="423" name="Google Shape;423;p2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FIRST PLACEMENT</a:t>
            </a:r>
            <a:endParaRPr b="0" i="0" sz="1100" u="none" cap="none" strike="noStrike">
              <a:solidFill>
                <a:schemeClr val="dk1"/>
              </a:solidFill>
              <a:latin typeface="Calibri"/>
              <a:ea typeface="Calibri"/>
              <a:cs typeface="Calibri"/>
              <a:sym typeface="Calibri"/>
            </a:endParaRPr>
          </a:p>
        </p:txBody>
      </p:sp>
      <p:sp>
        <p:nvSpPr>
          <p:cNvPr id="424" name="Google Shape;424;p2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First placement</a:t>
            </a:r>
            <a:endParaRPr b="0" i="0" sz="3800" u="none" cap="none" strike="noStrike">
              <a:solidFill>
                <a:schemeClr val="dk1"/>
              </a:solidFill>
              <a:latin typeface="Calibri"/>
              <a:ea typeface="Calibri"/>
              <a:cs typeface="Calibri"/>
              <a:sym typeface="Calibri"/>
            </a:endParaRPr>
          </a:p>
        </p:txBody>
      </p:sp>
      <p:sp>
        <p:nvSpPr>
          <p:cNvPr id="425" name="Google Shape;425;p2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initial read, placed. Privately, and provisionally.</a:t>
            </a:r>
            <a:endParaRPr b="0" i="0" sz="1500" u="none" cap="none" strike="noStrike">
              <a:solidFill>
                <a:schemeClr val="dk1"/>
              </a:solidFill>
              <a:latin typeface="Calibri"/>
              <a:ea typeface="Calibri"/>
              <a:cs typeface="Calibri"/>
              <a:sym typeface="Calibri"/>
            </a:endParaRPr>
          </a:p>
        </p:txBody>
      </p:sp>
      <p:sp>
        <p:nvSpPr>
          <p:cNvPr id="426" name="Google Shape;426;p2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20"/>
          <p:cNvSpPr/>
          <p:nvPr/>
        </p:nvSpPr>
        <p:spPr>
          <a:xfrm>
            <a:off x="65836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p20"/>
          <p:cNvSpPr/>
          <p:nvPr/>
        </p:nvSpPr>
        <p:spPr>
          <a:xfrm>
            <a:off x="85953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429" name="Google Shape;429;p20"/>
          <p:cNvSpPr/>
          <p:nvPr/>
        </p:nvSpPr>
        <p:spPr>
          <a:xfrm>
            <a:off x="358444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20"/>
          <p:cNvSpPr/>
          <p:nvPr/>
        </p:nvSpPr>
        <p:spPr>
          <a:xfrm>
            <a:off x="378561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431" name="Google Shape;431;p20"/>
          <p:cNvSpPr/>
          <p:nvPr/>
        </p:nvSpPr>
        <p:spPr>
          <a:xfrm>
            <a:off x="65836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2" name="Google Shape;432;p20"/>
          <p:cNvSpPr/>
          <p:nvPr/>
        </p:nvSpPr>
        <p:spPr>
          <a:xfrm>
            <a:off x="85953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433" name="Google Shape;433;p20"/>
          <p:cNvSpPr/>
          <p:nvPr/>
        </p:nvSpPr>
        <p:spPr>
          <a:xfrm>
            <a:off x="358444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4" name="Google Shape;434;p20"/>
          <p:cNvSpPr/>
          <p:nvPr/>
        </p:nvSpPr>
        <p:spPr>
          <a:xfrm>
            <a:off x="378561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435" name="Google Shape;435;p20"/>
          <p:cNvSpPr/>
          <p:nvPr/>
        </p:nvSpPr>
        <p:spPr>
          <a:xfrm>
            <a:off x="658368" y="199339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436" name="Google Shape;436;p20"/>
          <p:cNvSpPr/>
          <p:nvPr/>
        </p:nvSpPr>
        <p:spPr>
          <a:xfrm>
            <a:off x="658368" y="501091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437" name="Google Shape;437;p20"/>
          <p:cNvSpPr/>
          <p:nvPr/>
        </p:nvSpPr>
        <p:spPr>
          <a:xfrm>
            <a:off x="6967728" y="2103120"/>
            <a:ext cx="4562856"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Mark your square, then rate your confidence 1 to 5.</a:t>
            </a:r>
            <a:endParaRPr b="0" i="0" sz="2000" u="none" cap="none" strike="noStrike">
              <a:solidFill>
                <a:schemeClr val="dk1"/>
              </a:solidFill>
              <a:latin typeface="Calibri"/>
              <a:ea typeface="Calibri"/>
              <a:cs typeface="Calibri"/>
              <a:sym typeface="Calibri"/>
            </a:endParaRPr>
          </a:p>
        </p:txBody>
      </p:sp>
      <p:sp>
        <p:nvSpPr>
          <p:cNvPr id="438" name="Google Shape;438;p20"/>
          <p:cNvSpPr/>
          <p:nvPr/>
        </p:nvSpPr>
        <p:spPr>
          <a:xfrm>
            <a:off x="6967728" y="3401568"/>
            <a:ext cx="4562856" cy="155448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20"/>
          <p:cNvSpPr/>
          <p:nvPr/>
        </p:nvSpPr>
        <p:spPr>
          <a:xfrm>
            <a:off x="7187184" y="3566160"/>
            <a:ext cx="41239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BOUNDARY RULE</a:t>
            </a:r>
            <a:endParaRPr b="0" i="0" sz="1100" u="none" cap="none" strike="noStrike">
              <a:solidFill>
                <a:schemeClr val="dk1"/>
              </a:solidFill>
              <a:latin typeface="Calibri"/>
              <a:ea typeface="Calibri"/>
              <a:cs typeface="Calibri"/>
              <a:sym typeface="Calibri"/>
            </a:endParaRPr>
          </a:p>
        </p:txBody>
      </p:sp>
      <p:sp>
        <p:nvSpPr>
          <p:cNvPr id="440" name="Google Shape;440;p20"/>
          <p:cNvSpPr/>
          <p:nvPr/>
        </p:nvSpPr>
        <p:spPr>
          <a:xfrm>
            <a:off x="7187184" y="3858768"/>
            <a:ext cx="4123944"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If either score sits between 17 and 21, you are on a boundary. Read both neighbouring states.</a:t>
            </a:r>
            <a:endParaRPr b="0" i="0" sz="1800" u="none" cap="none" strike="noStrike">
              <a:solidFill>
                <a:schemeClr val="dk1"/>
              </a:solidFill>
              <a:latin typeface="Calibri"/>
              <a:ea typeface="Calibri"/>
              <a:cs typeface="Calibri"/>
              <a:sym typeface="Calibri"/>
            </a:endParaRPr>
          </a:p>
        </p:txBody>
      </p:sp>
      <p:sp>
        <p:nvSpPr>
          <p:cNvPr id="441" name="Google Shape;441;p2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2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Hold this lightly. You place again in about forty minutes. Workbook page 7.</a:t>
            </a:r>
            <a:endParaRPr b="0" i="0" sz="1600" u="none" cap="none" strike="noStrike">
              <a:solidFill>
                <a:schemeClr val="dk1"/>
              </a:solidFill>
              <a:latin typeface="Calibri"/>
              <a:ea typeface="Calibri"/>
              <a:cs typeface="Calibri"/>
              <a:sym typeface="Calibri"/>
            </a:endParaRPr>
          </a:p>
        </p:txBody>
      </p:sp>
      <p:sp>
        <p:nvSpPr>
          <p:cNvPr id="443" name="Google Shape;443;p20"/>
          <p:cNvSpPr/>
          <p:nvPr/>
        </p:nvSpPr>
        <p:spPr>
          <a:xfrm>
            <a:off x="658368" y="2304288"/>
            <a:ext cx="5852160" cy="2651760"/>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44" name="Google Shape;444;p20"/>
          <p:cNvCxnSpPr/>
          <p:nvPr/>
        </p:nvCxnSpPr>
        <p:spPr>
          <a:xfrm>
            <a:off x="3584448" y="2304288"/>
            <a:ext cx="0" cy="2651760"/>
          </a:xfrm>
          <a:prstGeom prst="straightConnector1">
            <a:avLst/>
          </a:prstGeom>
          <a:noFill/>
          <a:ln cap="flat" cmpd="sng" w="15875">
            <a:solidFill>
              <a:srgbClr val="0F2347"/>
            </a:solidFill>
            <a:prstDash val="solid"/>
            <a:miter lim="80"/>
            <a:headEnd len="sm" w="sm" type="none"/>
            <a:tailEnd len="sm" w="sm" type="none"/>
          </a:ln>
        </p:spPr>
      </p:cxnSp>
      <p:cxnSp>
        <p:nvCxnSpPr>
          <p:cNvPr id="445" name="Google Shape;445;p20"/>
          <p:cNvCxnSpPr/>
          <p:nvPr/>
        </p:nvCxnSpPr>
        <p:spPr>
          <a:xfrm>
            <a:off x="658368" y="3630168"/>
            <a:ext cx="585216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50" name="Shape 450"/>
        <p:cNvGrpSpPr/>
        <p:nvPr/>
      </p:nvGrpSpPr>
      <p:grpSpPr>
        <a:xfrm>
          <a:off x="0" y="0"/>
          <a:ext cx="0" cy="0"/>
          <a:chOff x="0" y="0"/>
          <a:chExt cx="0" cy="0"/>
        </a:xfrm>
      </p:grpSpPr>
      <p:sp>
        <p:nvSpPr>
          <p:cNvPr id="451" name="Google Shape;451;p2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52" name="Google Shape;452;p2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21</a:t>
            </a:r>
            <a:endParaRPr/>
          </a:p>
        </p:txBody>
      </p:sp>
      <p:sp>
        <p:nvSpPr>
          <p:cNvPr id="453" name="Google Shape;453;p21"/>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STAGED RELEASE  ·  MINUTE 31</a:t>
            </a:r>
            <a:endParaRPr b="0" i="0" sz="1500" u="none" cap="none" strike="noStrike">
              <a:solidFill>
                <a:schemeClr val="dk1"/>
              </a:solidFill>
              <a:latin typeface="Calibri"/>
              <a:ea typeface="Calibri"/>
              <a:cs typeface="Calibri"/>
              <a:sym typeface="Calibri"/>
            </a:endParaRPr>
          </a:p>
        </p:txBody>
      </p:sp>
      <p:sp>
        <p:nvSpPr>
          <p:cNvPr id="454" name="Google Shape;454;p21"/>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Open Part B now.</a:t>
            </a:r>
            <a:endParaRPr b="0" i="0" sz="6000" u="none" cap="none" strike="noStrike">
              <a:solidFill>
                <a:schemeClr val="dk1"/>
              </a:solidFill>
              <a:latin typeface="Calibri"/>
              <a:ea typeface="Calibri"/>
              <a:cs typeface="Calibri"/>
              <a:sym typeface="Calibri"/>
            </a:endParaRPr>
          </a:p>
        </p:txBody>
      </p:sp>
      <p:sp>
        <p:nvSpPr>
          <p:cNvPr id="455" name="Google Shape;455;p21"/>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Keep Part A open — you will need your initial totals, state, and confidence.</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Open Part B only after every first placement in the room is complete.</a:t>
            </a:r>
            <a:endParaRPr b="0" i="0" sz="2000" u="none" cap="none" strike="noStrike">
              <a:solidFill>
                <a:schemeClr val="dk1"/>
              </a:solidFill>
              <a:latin typeface="Calibri"/>
              <a:ea typeface="Calibri"/>
              <a:cs typeface="Calibri"/>
              <a:sym typeface="Calibri"/>
            </a:endParaRPr>
          </a:p>
        </p:txBody>
      </p:sp>
      <p:sp>
        <p:nvSpPr>
          <p:cNvPr id="456" name="Google Shape;456;p21"/>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p21"/>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21"/>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p21"/>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64" name="Shape 464"/>
        <p:cNvGrpSpPr/>
        <p:nvPr/>
      </p:nvGrpSpPr>
      <p:grpSpPr>
        <a:xfrm>
          <a:off x="0" y="0"/>
          <a:ext cx="0" cy="0"/>
          <a:chOff x="0" y="0"/>
          <a:chExt cx="0" cy="0"/>
        </a:xfrm>
      </p:grpSpPr>
      <p:sp>
        <p:nvSpPr>
          <p:cNvPr id="465" name="Google Shape;465;p2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66" name="Google Shape;466;p2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22</a:t>
            </a:r>
            <a:endParaRPr/>
          </a:p>
        </p:txBody>
      </p:sp>
      <p:sp>
        <p:nvSpPr>
          <p:cNvPr id="467" name="Google Shape;467;p22"/>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CALIBRATION</a:t>
            </a:r>
            <a:endParaRPr b="0" i="0" sz="1300" u="none" cap="none" strike="noStrike">
              <a:solidFill>
                <a:schemeClr val="dk1"/>
              </a:solidFill>
              <a:latin typeface="Calibri"/>
              <a:ea typeface="Calibri"/>
              <a:cs typeface="Calibri"/>
              <a:sym typeface="Calibri"/>
            </a:endParaRPr>
          </a:p>
        </p:txBody>
      </p:sp>
      <p:sp>
        <p:nvSpPr>
          <p:cNvPr id="468" name="Google Shape;468;p22"/>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Now we correct the reading.</a:t>
            </a:r>
            <a:endParaRPr b="0" i="0" sz="4600" u="none" cap="none" strike="noStrike">
              <a:solidFill>
                <a:schemeClr val="dk1"/>
              </a:solidFill>
              <a:latin typeface="Calibri"/>
              <a:ea typeface="Calibri"/>
              <a:cs typeface="Calibri"/>
              <a:sym typeface="Calibri"/>
            </a:endParaRPr>
          </a:p>
        </p:txBody>
      </p:sp>
      <p:sp>
        <p:nvSpPr>
          <p:cNvPr id="469" name="Google Shape;469;p22"/>
          <p:cNvSpPr/>
          <p:nvPr/>
        </p:nvSpPr>
        <p:spPr>
          <a:xfrm>
            <a:off x="658368" y="3310128"/>
            <a:ext cx="8915400" cy="12801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Three things stand between a self-score and a defensible one: an evidence standard, three characteristic misreadings, and the difference between being valued and being formed.</a:t>
            </a:r>
            <a:endParaRPr b="0" i="0" sz="2000" u="none" cap="none" strike="noStrike">
              <a:solidFill>
                <a:schemeClr val="dk1"/>
              </a:solidFill>
              <a:latin typeface="Calibri"/>
              <a:ea typeface="Calibri"/>
              <a:cs typeface="Calibri"/>
              <a:sym typeface="Calibri"/>
            </a:endParaRPr>
          </a:p>
        </p:txBody>
      </p:sp>
      <p:sp>
        <p:nvSpPr>
          <p:cNvPr id="470" name="Google Shape;470;p22"/>
          <p:cNvSpPr/>
          <p:nvPr/>
        </p:nvSpPr>
        <p:spPr>
          <a:xfrm>
            <a:off x="9930384" y="3310128"/>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1" name="Google Shape;471;p22"/>
          <p:cNvSpPr/>
          <p:nvPr/>
        </p:nvSpPr>
        <p:spPr>
          <a:xfrm>
            <a:off x="10396728" y="3310128"/>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22"/>
          <p:cNvSpPr/>
          <p:nvPr/>
        </p:nvSpPr>
        <p:spPr>
          <a:xfrm>
            <a:off x="9930384"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22"/>
          <p:cNvSpPr/>
          <p:nvPr/>
        </p:nvSpPr>
        <p:spPr>
          <a:xfrm>
            <a:off x="10396728"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2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5" name="Google Shape;475;p2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p2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7" name="Google Shape;477;p2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82" name="Shape 482"/>
        <p:cNvGrpSpPr/>
        <p:nvPr/>
      </p:nvGrpSpPr>
      <p:grpSpPr>
        <a:xfrm>
          <a:off x="0" y="0"/>
          <a:ext cx="0" cy="0"/>
          <a:chOff x="0" y="0"/>
          <a:chExt cx="0" cy="0"/>
        </a:xfrm>
      </p:grpSpPr>
      <p:sp>
        <p:nvSpPr>
          <p:cNvPr id="483" name="Google Shape;483;p2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84" name="Google Shape;484;p2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23</a:t>
            </a:r>
            <a:endParaRPr/>
          </a:p>
        </p:txBody>
      </p:sp>
      <p:sp>
        <p:nvSpPr>
          <p:cNvPr id="485" name="Google Shape;485;p2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STANDARD</a:t>
            </a:r>
            <a:endParaRPr b="0" i="0" sz="1100" u="none" cap="none" strike="noStrike">
              <a:solidFill>
                <a:schemeClr val="dk1"/>
              </a:solidFill>
              <a:latin typeface="Calibri"/>
              <a:ea typeface="Calibri"/>
              <a:cs typeface="Calibri"/>
              <a:sym typeface="Calibri"/>
            </a:endParaRPr>
          </a:p>
        </p:txBody>
      </p:sp>
      <p:sp>
        <p:nvSpPr>
          <p:cNvPr id="486" name="Google Shape;486;p2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evidence protocol</a:t>
            </a:r>
            <a:endParaRPr b="0" i="0" sz="3800" u="none" cap="none" strike="noStrike">
              <a:solidFill>
                <a:schemeClr val="dk1"/>
              </a:solidFill>
              <a:latin typeface="Calibri"/>
              <a:ea typeface="Calibri"/>
              <a:cs typeface="Calibri"/>
              <a:sym typeface="Calibri"/>
            </a:endParaRPr>
          </a:p>
        </p:txBody>
      </p:sp>
      <p:sp>
        <p:nvSpPr>
          <p:cNvPr id="487" name="Google Shape;487;p2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This is what your second reading has to survive.</a:t>
            </a:r>
            <a:endParaRPr b="0" i="0" sz="1500" u="none" cap="none" strike="noStrike">
              <a:solidFill>
                <a:schemeClr val="dk1"/>
              </a:solidFill>
              <a:latin typeface="Calibri"/>
              <a:ea typeface="Calibri"/>
              <a:cs typeface="Calibri"/>
              <a:sym typeface="Calibri"/>
            </a:endParaRPr>
          </a:p>
        </p:txBody>
      </p:sp>
      <p:sp>
        <p:nvSpPr>
          <p:cNvPr id="488" name="Google Shape;488;p2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9" name="Google Shape;489;p23"/>
          <p:cNvSpPr/>
          <p:nvPr/>
        </p:nvSpPr>
        <p:spPr>
          <a:xfrm>
            <a:off x="658368" y="1920240"/>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300"/>
              <a:buFont typeface="Cormorant Garamond"/>
              <a:buNone/>
            </a:pPr>
            <a:r>
              <a:rPr b="0" i="0" lang="en-US" sz="2300" u="none" cap="none" strike="noStrike">
                <a:solidFill>
                  <a:srgbClr val="0F2347"/>
                </a:solidFill>
                <a:latin typeface="Cormorant Garamond"/>
                <a:ea typeface="Cormorant Garamond"/>
                <a:cs typeface="Cormorant Garamond"/>
                <a:sym typeface="Cormorant Garamond"/>
              </a:rPr>
              <a:t>Every corrected score requires an evidence line from the last ninety days. Every score, in both directions.</a:t>
            </a:r>
            <a:endParaRPr b="0" i="0" sz="2300" u="none" cap="none" strike="noStrike">
              <a:solidFill>
                <a:schemeClr val="dk1"/>
              </a:solidFill>
              <a:latin typeface="Calibri"/>
              <a:ea typeface="Calibri"/>
              <a:cs typeface="Calibri"/>
              <a:sym typeface="Calibri"/>
            </a:endParaRPr>
          </a:p>
        </p:txBody>
      </p:sp>
      <p:sp>
        <p:nvSpPr>
          <p:cNvPr id="490" name="Google Shape;490;p23"/>
          <p:cNvSpPr/>
          <p:nvPr/>
        </p:nvSpPr>
        <p:spPr>
          <a:xfrm>
            <a:off x="658368" y="2889504"/>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4 or 5</a:t>
            </a:r>
            <a:endParaRPr b="0" i="0" sz="2000" u="none" cap="none" strike="noStrike">
              <a:solidFill>
                <a:schemeClr val="dk1"/>
              </a:solidFill>
              <a:latin typeface="Calibri"/>
              <a:ea typeface="Calibri"/>
              <a:cs typeface="Calibri"/>
              <a:sym typeface="Calibri"/>
            </a:endParaRPr>
          </a:p>
        </p:txBody>
      </p:sp>
      <p:sp>
        <p:nvSpPr>
          <p:cNvPr id="491" name="Google Shape;491;p23"/>
          <p:cNvSpPr/>
          <p:nvPr/>
        </p:nvSpPr>
        <p:spPr>
          <a:xfrm>
            <a:off x="2926080" y="2889504"/>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At least one clear positive instance from within the window.</a:t>
            </a:r>
            <a:endParaRPr b="0" i="0" sz="2000" u="none" cap="none" strike="noStrike">
              <a:solidFill>
                <a:schemeClr val="dk1"/>
              </a:solidFill>
              <a:latin typeface="Calibri"/>
              <a:ea typeface="Calibri"/>
              <a:cs typeface="Calibri"/>
              <a:sym typeface="Calibri"/>
            </a:endParaRPr>
          </a:p>
        </p:txBody>
      </p:sp>
      <p:sp>
        <p:nvSpPr>
          <p:cNvPr id="492" name="Google Shape;492;p23"/>
          <p:cNvSpPr/>
          <p:nvPr/>
        </p:nvSpPr>
        <p:spPr>
          <a:xfrm>
            <a:off x="658368" y="3602736"/>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3</a:t>
            </a:r>
            <a:endParaRPr b="0" i="0" sz="2000" u="none" cap="none" strike="noStrike">
              <a:solidFill>
                <a:schemeClr val="dk1"/>
              </a:solidFill>
              <a:latin typeface="Calibri"/>
              <a:ea typeface="Calibri"/>
              <a:cs typeface="Calibri"/>
              <a:sym typeface="Calibri"/>
            </a:endParaRPr>
          </a:p>
        </p:txBody>
      </p:sp>
      <p:sp>
        <p:nvSpPr>
          <p:cNvPr id="493" name="Google Shape;493;p23"/>
          <p:cNvSpPr/>
          <p:nvPr/>
        </p:nvSpPr>
        <p:spPr>
          <a:xfrm>
            <a:off x="2926080" y="3602736"/>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mixed or inconsistent pattern. A 3 is a reading, not an absence of one.</a:t>
            </a:r>
            <a:endParaRPr b="0" i="0" sz="2000" u="none" cap="none" strike="noStrike">
              <a:solidFill>
                <a:schemeClr val="dk1"/>
              </a:solidFill>
              <a:latin typeface="Calibri"/>
              <a:ea typeface="Calibri"/>
              <a:cs typeface="Calibri"/>
              <a:sym typeface="Calibri"/>
            </a:endParaRPr>
          </a:p>
        </p:txBody>
      </p:sp>
      <p:sp>
        <p:nvSpPr>
          <p:cNvPr id="494" name="Google Shape;494;p23"/>
          <p:cNvSpPr/>
          <p:nvPr/>
        </p:nvSpPr>
        <p:spPr>
          <a:xfrm>
            <a:off x="658368" y="4315968"/>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1 or 2</a:t>
            </a:r>
            <a:endParaRPr b="0" i="0" sz="2000" u="none" cap="none" strike="noStrike">
              <a:solidFill>
                <a:schemeClr val="dk1"/>
              </a:solidFill>
              <a:latin typeface="Calibri"/>
              <a:ea typeface="Calibri"/>
              <a:cs typeface="Calibri"/>
              <a:sym typeface="Calibri"/>
            </a:endParaRPr>
          </a:p>
        </p:txBody>
      </p:sp>
      <p:sp>
        <p:nvSpPr>
          <p:cNvPr id="495" name="Google Shape;495;p23"/>
          <p:cNvSpPr/>
          <p:nvPr/>
        </p:nvSpPr>
        <p:spPr>
          <a:xfrm>
            <a:off x="2926080" y="4315968"/>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repeatedly happened instead, a counterexample, or no qualifying instance in the window.</a:t>
            </a:r>
            <a:endParaRPr b="0" i="0" sz="2000" u="none" cap="none" strike="noStrike">
              <a:solidFill>
                <a:schemeClr val="dk1"/>
              </a:solidFill>
              <a:latin typeface="Calibri"/>
              <a:ea typeface="Calibri"/>
              <a:cs typeface="Calibri"/>
              <a:sym typeface="Calibri"/>
            </a:endParaRPr>
          </a:p>
        </p:txBody>
      </p:sp>
      <p:sp>
        <p:nvSpPr>
          <p:cNvPr id="496" name="Google Shape;496;p23"/>
          <p:cNvSpPr/>
          <p:nvPr/>
        </p:nvSpPr>
        <p:spPr>
          <a:xfrm>
            <a:off x="658368" y="504748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7" name="Google Shape;497;p23"/>
          <p:cNvSpPr/>
          <p:nvPr/>
        </p:nvSpPr>
        <p:spPr>
          <a:xfrm>
            <a:off x="914400" y="5212080"/>
            <a:ext cx="10360152"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Cannot support it either way? Write your most defensible number and add one question mark: 3?, 4?, 2?. A 3 means mixed. A question mark means unsupported.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02" name="Shape 502"/>
        <p:cNvGrpSpPr/>
        <p:nvPr/>
      </p:nvGrpSpPr>
      <p:grpSpPr>
        <a:xfrm>
          <a:off x="0" y="0"/>
          <a:ext cx="0" cy="0"/>
          <a:chOff x="0" y="0"/>
          <a:chExt cx="0" cy="0"/>
        </a:xfrm>
      </p:grpSpPr>
      <p:sp>
        <p:nvSpPr>
          <p:cNvPr id="503" name="Google Shape;503;p2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04" name="Google Shape;504;p2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24</a:t>
            </a:r>
            <a:endParaRPr/>
          </a:p>
        </p:txBody>
      </p:sp>
      <p:sp>
        <p:nvSpPr>
          <p:cNvPr id="505" name="Google Shape;505;p2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06" name="Google Shape;506;p2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Scoring the intended life</a:t>
            </a:r>
            <a:endParaRPr b="0" i="0" sz="3800" u="none" cap="none" strike="noStrike">
              <a:solidFill>
                <a:schemeClr val="dk1"/>
              </a:solidFill>
              <a:latin typeface="Calibri"/>
              <a:ea typeface="Calibri"/>
              <a:cs typeface="Calibri"/>
              <a:sym typeface="Calibri"/>
            </a:endParaRPr>
          </a:p>
        </p:txBody>
      </p:sp>
      <p:sp>
        <p:nvSpPr>
          <p:cNvPr id="507" name="Google Shape;507;p2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one.</a:t>
            </a:r>
            <a:endParaRPr b="0" i="0" sz="1500" u="none" cap="none" strike="noStrike">
              <a:solidFill>
                <a:schemeClr val="dk1"/>
              </a:solidFill>
              <a:latin typeface="Calibri"/>
              <a:ea typeface="Calibri"/>
              <a:cs typeface="Calibri"/>
              <a:sym typeface="Calibri"/>
            </a:endParaRPr>
          </a:p>
        </p:txBody>
      </p:sp>
      <p:sp>
        <p:nvSpPr>
          <p:cNvPr id="508" name="Google Shape;508;p2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9" name="Google Shape;509;p24"/>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10" name="Google Shape;510;p24"/>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11" name="Google Shape;511;p24"/>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2" name="Google Shape;512;p24"/>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“My rotation into the new function was approved last month. Statement 1 gets a 4.”</a:t>
            </a:r>
            <a:endParaRPr b="0" i="0" sz="1800" u="none" cap="none" strike="noStrike">
              <a:solidFill>
                <a:schemeClr val="dk1"/>
              </a:solidFill>
              <a:latin typeface="Calibri"/>
              <a:ea typeface="Calibri"/>
              <a:cs typeface="Calibri"/>
              <a:sym typeface="Calibri"/>
            </a:endParaRPr>
          </a:p>
        </p:txBody>
      </p:sp>
      <p:sp>
        <p:nvSpPr>
          <p:cNvPr id="513" name="Google Shape;513;p24"/>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4" name="Google Shape;514;p24"/>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The rotation starts in March. In the last ninety days I solved problems I already knew. Statement 1 scores a 2: no qualifying instance in the window.</a:t>
            </a:r>
            <a:endParaRPr b="0" i="0" sz="1800" u="none" cap="none" strike="noStrike">
              <a:solidFill>
                <a:schemeClr val="dk1"/>
              </a:solidFill>
              <a:latin typeface="Calibri"/>
              <a:ea typeface="Calibri"/>
              <a:cs typeface="Calibri"/>
              <a:sym typeface="Calibri"/>
            </a:endParaRPr>
          </a:p>
        </p:txBody>
      </p:sp>
      <p:sp>
        <p:nvSpPr>
          <p:cNvPr id="515" name="Google Shape;515;p24"/>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6" name="Google Shape;516;p24"/>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 intention is not evidence. The ninety-day window exists to keep hope out of the number.</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21" name="Shape 521"/>
        <p:cNvGrpSpPr/>
        <p:nvPr/>
      </p:nvGrpSpPr>
      <p:grpSpPr>
        <a:xfrm>
          <a:off x="0" y="0"/>
          <a:ext cx="0" cy="0"/>
          <a:chOff x="0" y="0"/>
          <a:chExt cx="0" cy="0"/>
        </a:xfrm>
      </p:grpSpPr>
      <p:sp>
        <p:nvSpPr>
          <p:cNvPr id="522" name="Google Shape;522;p2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23" name="Google Shape;523;p2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25</a:t>
            </a:r>
            <a:endParaRPr/>
          </a:p>
        </p:txBody>
      </p:sp>
      <p:sp>
        <p:nvSpPr>
          <p:cNvPr id="524" name="Google Shape;524;p2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25" name="Google Shape;525;p2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Confusing being valued with being formed</a:t>
            </a:r>
            <a:endParaRPr b="0" i="0" sz="3800" u="none" cap="none" strike="noStrike">
              <a:solidFill>
                <a:schemeClr val="dk1"/>
              </a:solidFill>
              <a:latin typeface="Calibri"/>
              <a:ea typeface="Calibri"/>
              <a:cs typeface="Calibri"/>
              <a:sym typeface="Calibri"/>
            </a:endParaRPr>
          </a:p>
        </p:txBody>
      </p:sp>
      <p:sp>
        <p:nvSpPr>
          <p:cNvPr id="526" name="Google Shape;526;p2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two.</a:t>
            </a:r>
            <a:endParaRPr b="0" i="0" sz="1500" u="none" cap="none" strike="noStrike">
              <a:solidFill>
                <a:schemeClr val="dk1"/>
              </a:solidFill>
              <a:latin typeface="Calibri"/>
              <a:ea typeface="Calibri"/>
              <a:cs typeface="Calibri"/>
              <a:sym typeface="Calibri"/>
            </a:endParaRPr>
          </a:p>
        </p:txBody>
      </p:sp>
      <p:sp>
        <p:nvSpPr>
          <p:cNvPr id="527" name="Google Shape;527;p2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8" name="Google Shape;528;p25"/>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29" name="Google Shape;529;p25"/>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30" name="Google Shape;530;p25"/>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1" name="Google Shape;531;p25"/>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“Three VPs ask for my read before anything ships. Statement 3 gets a 5.”</a:t>
            </a:r>
            <a:endParaRPr b="0" i="0" sz="1800" u="none" cap="none" strike="noStrike">
              <a:solidFill>
                <a:schemeClr val="dk1"/>
              </a:solidFill>
              <a:latin typeface="Calibri"/>
              <a:ea typeface="Calibri"/>
              <a:cs typeface="Calibri"/>
              <a:sym typeface="Calibri"/>
            </a:endParaRPr>
          </a:p>
        </p:txBody>
      </p:sp>
      <p:sp>
        <p:nvSpPr>
          <p:cNvPr id="532" name="Google Shape;532;p25"/>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25"/>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Being asked for my opinion is not review by someone who can tell good from adequate. Statement 3 scores a 2 — what happened instead was agreement.</a:t>
            </a:r>
            <a:endParaRPr b="0" i="0" sz="1800" u="none" cap="none" strike="noStrike">
              <a:solidFill>
                <a:schemeClr val="dk1"/>
              </a:solidFill>
              <a:latin typeface="Calibri"/>
              <a:ea typeface="Calibri"/>
              <a:cs typeface="Calibri"/>
              <a:sym typeface="Calibri"/>
            </a:endParaRPr>
          </a:p>
        </p:txBody>
      </p:sp>
      <p:sp>
        <p:nvSpPr>
          <p:cNvPr id="534" name="Google Shape;534;p25"/>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p25"/>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Praise, dependence, seniority and internal reputation can all coexist with declining formation.</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40" name="Shape 540"/>
        <p:cNvGrpSpPr/>
        <p:nvPr/>
      </p:nvGrpSpPr>
      <p:grpSpPr>
        <a:xfrm>
          <a:off x="0" y="0"/>
          <a:ext cx="0" cy="0"/>
          <a:chOff x="0" y="0"/>
          <a:chExt cx="0" cy="0"/>
        </a:xfrm>
      </p:grpSpPr>
      <p:sp>
        <p:nvSpPr>
          <p:cNvPr id="541" name="Google Shape;541;p2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42" name="Google Shape;542;p2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26</a:t>
            </a:r>
            <a:endParaRPr/>
          </a:p>
        </p:txBody>
      </p:sp>
      <p:sp>
        <p:nvSpPr>
          <p:cNvPr id="543" name="Google Shape;543;p2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544" name="Google Shape;544;p2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000"/>
              <a:buFont typeface="Cormorant Garamond"/>
              <a:buNone/>
            </a:pPr>
            <a:r>
              <a:rPr b="0" i="0" lang="en-US" sz="3000" u="none" cap="none" strike="noStrike">
                <a:solidFill>
                  <a:srgbClr val="0F2347"/>
                </a:solidFill>
                <a:latin typeface="Cormorant Garamond"/>
                <a:ea typeface="Cormorant Garamond"/>
                <a:cs typeface="Cormorant Garamond"/>
                <a:sym typeface="Cormorant Garamond"/>
              </a:rPr>
              <a:t>Why promotion can stop forming a high performer</a:t>
            </a:r>
            <a:endParaRPr b="0" i="0" sz="3000" u="none" cap="none" strike="noStrike">
              <a:solidFill>
                <a:schemeClr val="dk1"/>
              </a:solidFill>
              <a:latin typeface="Calibri"/>
              <a:ea typeface="Calibri"/>
              <a:cs typeface="Calibri"/>
              <a:sym typeface="Calibri"/>
            </a:endParaRPr>
          </a:p>
        </p:txBody>
      </p:sp>
      <p:sp>
        <p:nvSpPr>
          <p:cNvPr id="545" name="Google Shape;545;p2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same misreading, in the place it is hardest to see.</a:t>
            </a:r>
            <a:endParaRPr b="0" i="0" sz="1500" u="none" cap="none" strike="noStrike">
              <a:solidFill>
                <a:schemeClr val="dk1"/>
              </a:solidFill>
              <a:latin typeface="Calibri"/>
              <a:ea typeface="Calibri"/>
              <a:cs typeface="Calibri"/>
              <a:sym typeface="Calibri"/>
            </a:endParaRPr>
          </a:p>
        </p:txBody>
      </p:sp>
      <p:sp>
        <p:nvSpPr>
          <p:cNvPr id="546" name="Google Shape;546;p2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26"/>
          <p:cNvSpPr/>
          <p:nvPr/>
        </p:nvSpPr>
        <p:spPr>
          <a:xfrm>
            <a:off x="658368" y="201168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A promotion can increase responsibility, visibility and dependence while reducing formation.</a:t>
            </a:r>
            <a:endParaRPr b="0" i="0" sz="2400" u="none" cap="none" strike="noStrike">
              <a:solidFill>
                <a:schemeClr val="dk1"/>
              </a:solidFill>
              <a:latin typeface="Calibri"/>
              <a:ea typeface="Calibri"/>
              <a:cs typeface="Calibri"/>
              <a:sym typeface="Calibri"/>
            </a:endParaRPr>
          </a:p>
        </p:txBody>
      </p:sp>
      <p:sp>
        <p:nvSpPr>
          <p:cNvPr id="548" name="Google Shape;548;p26"/>
          <p:cNvSpPr/>
          <p:nvPr/>
        </p:nvSpPr>
        <p:spPr>
          <a:xfrm>
            <a:off x="658368" y="3054096"/>
            <a:ext cx="10872216" cy="129844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6"/>
          <p:cNvSpPr/>
          <p:nvPr/>
        </p:nvSpPr>
        <p:spPr>
          <a:xfrm>
            <a:off x="914400" y="3236976"/>
            <a:ext cx="10360152" cy="96926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high performer moves into approvals, representation and familiar judgment. Expectations rise while unfamiliar problems fall.</a:t>
            </a:r>
            <a:endParaRPr b="0" i="0" sz="2000" u="none" cap="none" strike="noStrike">
              <a:solidFill>
                <a:schemeClr val="dk1"/>
              </a:solidFill>
              <a:latin typeface="Calibri"/>
              <a:ea typeface="Calibri"/>
              <a:cs typeface="Calibri"/>
              <a:sym typeface="Calibri"/>
            </a:endParaRPr>
          </a:p>
        </p:txBody>
      </p:sp>
      <p:sp>
        <p:nvSpPr>
          <p:cNvPr id="550" name="Google Shape;550;p26"/>
          <p:cNvSpPr/>
          <p:nvPr/>
        </p:nvSpPr>
        <p:spPr>
          <a:xfrm>
            <a:off x="658368" y="4590288"/>
            <a:ext cx="10872216" cy="7863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This describes a possible change in Density. It does not assign a Career State without also reading Optionality.</a:t>
            </a:r>
            <a:endParaRPr b="0" i="0" sz="2000" u="none" cap="none" strike="noStrike">
              <a:solidFill>
                <a:schemeClr val="dk1"/>
              </a:solidFill>
              <a:latin typeface="Calibri"/>
              <a:ea typeface="Calibri"/>
              <a:cs typeface="Calibri"/>
              <a:sym typeface="Calibri"/>
            </a:endParaRPr>
          </a:p>
        </p:txBody>
      </p:sp>
      <p:sp>
        <p:nvSpPr>
          <p:cNvPr id="551" name="Google Shape;551;p26"/>
          <p:cNvSpPr/>
          <p:nvPr/>
        </p:nvSpPr>
        <p:spPr>
          <a:xfrm>
            <a:off x="658368" y="552297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2" name="Google Shape;552;p26"/>
          <p:cNvSpPr/>
          <p:nvPr/>
        </p:nvSpPr>
        <p:spPr>
          <a:xfrm>
            <a:off x="658368" y="566928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Score the work, not the title. 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7" name="Shape 557"/>
        <p:cNvGrpSpPr/>
        <p:nvPr/>
      </p:nvGrpSpPr>
      <p:grpSpPr>
        <a:xfrm>
          <a:off x="0" y="0"/>
          <a:ext cx="0" cy="0"/>
          <a:chOff x="0" y="0"/>
          <a:chExt cx="0" cy="0"/>
        </a:xfrm>
      </p:grpSpPr>
      <p:sp>
        <p:nvSpPr>
          <p:cNvPr id="558" name="Google Shape;558;p2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59" name="Google Shape;559;p2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27</a:t>
            </a:r>
            <a:endParaRPr/>
          </a:p>
        </p:txBody>
      </p:sp>
      <p:sp>
        <p:nvSpPr>
          <p:cNvPr id="560" name="Google Shape;560;p2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61" name="Google Shape;561;p2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Reading low Optionality as a verdict on ability</a:t>
            </a:r>
            <a:endParaRPr b="0" i="0" sz="3800" u="none" cap="none" strike="noStrike">
              <a:solidFill>
                <a:schemeClr val="dk1"/>
              </a:solidFill>
              <a:latin typeface="Calibri"/>
              <a:ea typeface="Calibri"/>
              <a:cs typeface="Calibri"/>
              <a:sym typeface="Calibri"/>
            </a:endParaRPr>
          </a:p>
        </p:txBody>
      </p:sp>
      <p:sp>
        <p:nvSpPr>
          <p:cNvPr id="562" name="Google Shape;562;p2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three.</a:t>
            </a:r>
            <a:endParaRPr b="0" i="0" sz="1500" u="none" cap="none" strike="noStrike">
              <a:solidFill>
                <a:schemeClr val="dk1"/>
              </a:solidFill>
              <a:latin typeface="Calibri"/>
              <a:ea typeface="Calibri"/>
              <a:cs typeface="Calibri"/>
              <a:sym typeface="Calibri"/>
            </a:endParaRPr>
          </a:p>
        </p:txBody>
      </p:sp>
      <p:sp>
        <p:nvSpPr>
          <p:cNvPr id="563" name="Google Shape;563;p2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4" name="Google Shape;564;p27"/>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65" name="Google Shape;565;p27"/>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66" name="Google Shape;566;p27"/>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7" name="Google Shape;567;p27"/>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Nobody outside can see me because I am not senior enough.”</a:t>
            </a:r>
            <a:endParaRPr b="0" i="0" sz="1800" u="none" cap="none" strike="noStrike">
              <a:solidFill>
                <a:schemeClr val="dk1"/>
              </a:solidFill>
              <a:latin typeface="Calibri"/>
              <a:ea typeface="Calibri"/>
              <a:cs typeface="Calibri"/>
              <a:sym typeface="Calibri"/>
            </a:endParaRPr>
          </a:p>
        </p:txBody>
      </p:sp>
      <p:sp>
        <p:nvSpPr>
          <p:cNvPr id="568" name="Google Shape;568;p27"/>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9" name="Google Shape;569;p27"/>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I have not published, spoken, or crossed a company boundary in three years. That is exposure — it tells me what to build.”</a:t>
            </a:r>
            <a:endParaRPr b="0" i="0" sz="1800" u="none" cap="none" strike="noStrike">
              <a:solidFill>
                <a:schemeClr val="dk1"/>
              </a:solidFill>
              <a:latin typeface="Calibri"/>
              <a:ea typeface="Calibri"/>
              <a:cs typeface="Calibri"/>
              <a:sym typeface="Calibri"/>
            </a:endParaRPr>
          </a:p>
        </p:txBody>
      </p:sp>
      <p:sp>
        <p:nvSpPr>
          <p:cNvPr id="570" name="Google Shape;570;p27"/>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p27"/>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low Optionality score may reflect context-bound capability, weak translation, limited exposure, or a combination. It is not a verdict on your ability or worth.</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76" name="Shape 576"/>
        <p:cNvGrpSpPr/>
        <p:nvPr/>
      </p:nvGrpSpPr>
      <p:grpSpPr>
        <a:xfrm>
          <a:off x="0" y="0"/>
          <a:ext cx="0" cy="0"/>
          <a:chOff x="0" y="0"/>
          <a:chExt cx="0" cy="0"/>
        </a:xfrm>
      </p:grpSpPr>
      <p:sp>
        <p:nvSpPr>
          <p:cNvPr id="577" name="Google Shape;577;p2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78" name="Google Shape;578;p2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28</a:t>
            </a:r>
            <a:endParaRPr/>
          </a:p>
        </p:txBody>
      </p:sp>
      <p:sp>
        <p:nvSpPr>
          <p:cNvPr id="579" name="Google Shape;579;p2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CORRECTION MAP</a:t>
            </a:r>
            <a:endParaRPr b="0" i="0" sz="1100" u="none" cap="none" strike="noStrike">
              <a:solidFill>
                <a:schemeClr val="dk1"/>
              </a:solidFill>
              <a:latin typeface="Calibri"/>
              <a:ea typeface="Calibri"/>
              <a:cs typeface="Calibri"/>
              <a:sym typeface="Calibri"/>
            </a:endParaRPr>
          </a:p>
        </p:txBody>
      </p:sp>
      <p:sp>
        <p:nvSpPr>
          <p:cNvPr id="580" name="Google Shape;580;p2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whole map</a:t>
            </a:r>
            <a:endParaRPr b="0" i="0" sz="3800" u="none" cap="none" strike="noStrike">
              <a:solidFill>
                <a:schemeClr val="dk1"/>
              </a:solidFill>
              <a:latin typeface="Calibri"/>
              <a:ea typeface="Calibri"/>
              <a:cs typeface="Calibri"/>
              <a:sym typeface="Calibri"/>
            </a:endParaRPr>
          </a:p>
        </p:txBody>
      </p:sp>
      <p:sp>
        <p:nvSpPr>
          <p:cNvPr id="581" name="Google Shape;581;p2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Five corrections. This is the argument for scoring again.</a:t>
            </a:r>
            <a:endParaRPr b="0" i="0" sz="1500" u="none" cap="none" strike="noStrike">
              <a:solidFill>
                <a:schemeClr val="dk1"/>
              </a:solidFill>
              <a:latin typeface="Calibri"/>
              <a:ea typeface="Calibri"/>
              <a:cs typeface="Calibri"/>
              <a:sym typeface="Calibri"/>
            </a:endParaRPr>
          </a:p>
        </p:txBody>
      </p:sp>
      <p:sp>
        <p:nvSpPr>
          <p:cNvPr id="582" name="Google Shape;582;p2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p28"/>
          <p:cNvSpPr/>
          <p:nvPr/>
        </p:nvSpPr>
        <p:spPr>
          <a:xfrm>
            <a:off x="65836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ENTERING BELIEF</a:t>
            </a:r>
            <a:endParaRPr b="0" i="0" sz="1100" u="none" cap="none" strike="noStrike">
              <a:solidFill>
                <a:schemeClr val="dk1"/>
              </a:solidFill>
              <a:latin typeface="Calibri"/>
              <a:ea typeface="Calibri"/>
              <a:cs typeface="Calibri"/>
              <a:sym typeface="Calibri"/>
            </a:endParaRPr>
          </a:p>
        </p:txBody>
      </p:sp>
      <p:sp>
        <p:nvSpPr>
          <p:cNvPr id="584" name="Google Shape;584;p28"/>
          <p:cNvSpPr/>
          <p:nvPr/>
        </p:nvSpPr>
        <p:spPr>
          <a:xfrm>
            <a:off x="623620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EXITING BELIEF</a:t>
            </a:r>
            <a:endParaRPr b="0" i="0" sz="1100" u="none" cap="none" strike="noStrike">
              <a:solidFill>
                <a:schemeClr val="dk1"/>
              </a:solidFill>
              <a:latin typeface="Calibri"/>
              <a:ea typeface="Calibri"/>
              <a:cs typeface="Calibri"/>
              <a:sym typeface="Calibri"/>
            </a:endParaRPr>
          </a:p>
        </p:txBody>
      </p:sp>
      <p:sp>
        <p:nvSpPr>
          <p:cNvPr id="585" name="Google Shape;585;p28"/>
          <p:cNvSpPr/>
          <p:nvPr/>
        </p:nvSpPr>
        <p:spPr>
          <a:xfrm>
            <a:off x="65836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work is demanding, so I must be growing.”</a:t>
            </a:r>
            <a:endParaRPr b="0" i="0" sz="1700" u="none" cap="none" strike="noStrike">
              <a:solidFill>
                <a:schemeClr val="dk1"/>
              </a:solidFill>
              <a:latin typeface="Calibri"/>
              <a:ea typeface="Calibri"/>
              <a:cs typeface="Calibri"/>
              <a:sym typeface="Calibri"/>
            </a:endParaRPr>
          </a:p>
        </p:txBody>
      </p:sp>
      <p:sp>
        <p:nvSpPr>
          <p:cNvPr id="586" name="Google Shape;586;p28"/>
          <p:cNvSpPr/>
          <p:nvPr/>
        </p:nvSpPr>
        <p:spPr>
          <a:xfrm>
            <a:off x="623620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demanding role can stop forming me and still feel full.”</a:t>
            </a:r>
            <a:endParaRPr b="0" i="0" sz="1700" u="none" cap="none" strike="noStrike">
              <a:solidFill>
                <a:schemeClr val="dk1"/>
              </a:solidFill>
              <a:latin typeface="Calibri"/>
              <a:ea typeface="Calibri"/>
              <a:cs typeface="Calibri"/>
              <a:sym typeface="Calibri"/>
            </a:endParaRPr>
          </a:p>
        </p:txBody>
      </p:sp>
      <p:sp>
        <p:nvSpPr>
          <p:cNvPr id="587" name="Google Shape;587;p28"/>
          <p:cNvSpPr/>
          <p:nvPr/>
        </p:nvSpPr>
        <p:spPr>
          <a:xfrm>
            <a:off x="658368" y="298094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8" name="Google Shape;588;p28"/>
          <p:cNvSpPr/>
          <p:nvPr/>
        </p:nvSpPr>
        <p:spPr>
          <a:xfrm>
            <a:off x="65836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 would have options if I decided to look.”</a:t>
            </a:r>
            <a:endParaRPr b="0" i="0" sz="1700" u="none" cap="none" strike="noStrike">
              <a:solidFill>
                <a:schemeClr val="dk1"/>
              </a:solidFill>
              <a:latin typeface="Calibri"/>
              <a:ea typeface="Calibri"/>
              <a:cs typeface="Calibri"/>
              <a:sym typeface="Calibri"/>
            </a:endParaRPr>
          </a:p>
        </p:txBody>
      </p:sp>
      <p:sp>
        <p:nvSpPr>
          <p:cNvPr id="589" name="Google Shape;589;p28"/>
          <p:cNvSpPr/>
          <p:nvPr/>
        </p:nvSpPr>
        <p:spPr>
          <a:xfrm>
            <a:off x="623620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“Options depend on whether people outside can already see what I am good at.”</a:t>
            </a:r>
            <a:endParaRPr b="0" i="0" sz="1700" u="none" cap="none" strike="noStrike">
              <a:solidFill>
                <a:schemeClr val="dk1"/>
              </a:solidFill>
              <a:latin typeface="Calibri"/>
              <a:ea typeface="Calibri"/>
              <a:cs typeface="Calibri"/>
              <a:sym typeface="Calibri"/>
            </a:endParaRPr>
          </a:p>
        </p:txBody>
      </p:sp>
      <p:sp>
        <p:nvSpPr>
          <p:cNvPr id="590" name="Google Shape;590;p28"/>
          <p:cNvSpPr/>
          <p:nvPr/>
        </p:nvSpPr>
        <p:spPr>
          <a:xfrm>
            <a:off x="658368" y="3767328"/>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1" name="Google Shape;591;p28"/>
          <p:cNvSpPr/>
          <p:nvPr/>
        </p:nvSpPr>
        <p:spPr>
          <a:xfrm>
            <a:off x="65836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“This is what my role gives me.”</a:t>
            </a:r>
            <a:endParaRPr b="0" i="0" sz="1700" u="none" cap="none" strike="noStrike">
              <a:solidFill>
                <a:schemeClr val="dk1"/>
              </a:solidFill>
              <a:latin typeface="Calibri"/>
              <a:ea typeface="Calibri"/>
              <a:cs typeface="Calibri"/>
              <a:sym typeface="Calibri"/>
            </a:endParaRPr>
          </a:p>
        </p:txBody>
      </p:sp>
      <p:sp>
        <p:nvSpPr>
          <p:cNvPr id="592" name="Google Shape;592;p28"/>
          <p:cNvSpPr/>
          <p:nvPr/>
        </p:nvSpPr>
        <p:spPr>
          <a:xfrm>
            <a:off x="623620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“I scored the ninety days I actually lived.”</a:t>
            </a:r>
            <a:endParaRPr b="0" i="0" sz="1700" u="none" cap="none" strike="noStrike">
              <a:solidFill>
                <a:schemeClr val="dk1"/>
              </a:solidFill>
              <a:latin typeface="Calibri"/>
              <a:ea typeface="Calibri"/>
              <a:cs typeface="Calibri"/>
              <a:sym typeface="Calibri"/>
            </a:endParaRPr>
          </a:p>
        </p:txBody>
      </p:sp>
      <p:sp>
        <p:nvSpPr>
          <p:cNvPr id="593" name="Google Shape;593;p28"/>
          <p:cNvSpPr/>
          <p:nvPr/>
        </p:nvSpPr>
        <p:spPr>
          <a:xfrm>
            <a:off x="658368" y="455371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4" name="Google Shape;594;p28"/>
          <p:cNvSpPr/>
          <p:nvPr/>
        </p:nvSpPr>
        <p:spPr>
          <a:xfrm>
            <a:off x="65836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“They rely on me here.”</a:t>
            </a:r>
            <a:endParaRPr b="0" i="0" sz="1700" u="none" cap="none" strike="noStrike">
              <a:solidFill>
                <a:schemeClr val="dk1"/>
              </a:solidFill>
              <a:latin typeface="Calibri"/>
              <a:ea typeface="Calibri"/>
              <a:cs typeface="Calibri"/>
              <a:sym typeface="Calibri"/>
            </a:endParaRPr>
          </a:p>
        </p:txBody>
      </p:sp>
      <p:sp>
        <p:nvSpPr>
          <p:cNvPr id="595" name="Google Shape;595;p28"/>
          <p:cNvSpPr/>
          <p:nvPr/>
        </p:nvSpPr>
        <p:spPr>
          <a:xfrm>
            <a:off x="623620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“Being needed and being formed are separate conditions.”</a:t>
            </a:r>
            <a:endParaRPr b="0" i="0" sz="1700" u="none" cap="none" strike="noStrike">
              <a:solidFill>
                <a:schemeClr val="dk1"/>
              </a:solidFill>
              <a:latin typeface="Calibri"/>
              <a:ea typeface="Calibri"/>
              <a:cs typeface="Calibri"/>
              <a:sym typeface="Calibri"/>
            </a:endParaRPr>
          </a:p>
        </p:txBody>
      </p:sp>
      <p:sp>
        <p:nvSpPr>
          <p:cNvPr id="596" name="Google Shape;596;p28"/>
          <p:cNvSpPr/>
          <p:nvPr/>
        </p:nvSpPr>
        <p:spPr>
          <a:xfrm>
            <a:off x="658368" y="534009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28"/>
          <p:cNvSpPr/>
          <p:nvPr/>
        </p:nvSpPr>
        <p:spPr>
          <a:xfrm>
            <a:off x="65836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“A low score means I am not good enough.”</a:t>
            </a:r>
            <a:endParaRPr b="0" i="0" sz="1700" u="none" cap="none" strike="noStrike">
              <a:solidFill>
                <a:schemeClr val="dk1"/>
              </a:solidFill>
              <a:latin typeface="Calibri"/>
              <a:ea typeface="Calibri"/>
              <a:cs typeface="Calibri"/>
              <a:sym typeface="Calibri"/>
            </a:endParaRPr>
          </a:p>
        </p:txBody>
      </p:sp>
      <p:sp>
        <p:nvSpPr>
          <p:cNvPr id="598" name="Google Shape;598;p28"/>
          <p:cNvSpPr/>
          <p:nvPr/>
        </p:nvSpPr>
        <p:spPr>
          <a:xfrm>
            <a:off x="623620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low Optionality score may be about translation or exposure, not ability.”</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03" name="Shape 603"/>
        <p:cNvGrpSpPr/>
        <p:nvPr/>
      </p:nvGrpSpPr>
      <p:grpSpPr>
        <a:xfrm>
          <a:off x="0" y="0"/>
          <a:ext cx="0" cy="0"/>
          <a:chOff x="0" y="0"/>
          <a:chExt cx="0" cy="0"/>
        </a:xfrm>
      </p:grpSpPr>
      <p:sp>
        <p:nvSpPr>
          <p:cNvPr id="604" name="Google Shape;604;p2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05" name="Google Shape;605;p2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29</a:t>
            </a:r>
            <a:endParaRPr/>
          </a:p>
        </p:txBody>
      </p:sp>
      <p:sp>
        <p:nvSpPr>
          <p:cNvPr id="606" name="Google Shape;606;p2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EVIDENCE-BACKED READ</a:t>
            </a:r>
            <a:endParaRPr b="0" i="0" sz="1100" u="none" cap="none" strike="noStrike">
              <a:solidFill>
                <a:schemeClr val="dk1"/>
              </a:solidFill>
              <a:latin typeface="Calibri"/>
              <a:ea typeface="Calibri"/>
              <a:cs typeface="Calibri"/>
              <a:sym typeface="Calibri"/>
            </a:endParaRPr>
          </a:p>
        </p:txBody>
      </p:sp>
      <p:sp>
        <p:nvSpPr>
          <p:cNvPr id="607" name="Google Shape;607;p2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Score all twelve again</a:t>
            </a:r>
            <a:endParaRPr b="0" i="0" sz="3800" u="none" cap="none" strike="noStrike">
              <a:solidFill>
                <a:schemeClr val="dk1"/>
              </a:solidFill>
              <a:latin typeface="Calibri"/>
              <a:ea typeface="Calibri"/>
              <a:cs typeface="Calibri"/>
              <a:sym typeface="Calibri"/>
            </a:endParaRPr>
          </a:p>
        </p:txBody>
      </p:sp>
      <p:sp>
        <p:nvSpPr>
          <p:cNvPr id="608" name="Google Shape;608;p2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Evidence in both directions. Do not change your first number.</a:t>
            </a:r>
            <a:endParaRPr b="0" i="0" sz="1500" u="none" cap="none" strike="noStrike">
              <a:solidFill>
                <a:schemeClr val="dk1"/>
              </a:solidFill>
              <a:latin typeface="Calibri"/>
              <a:ea typeface="Calibri"/>
              <a:cs typeface="Calibri"/>
              <a:sym typeface="Calibri"/>
            </a:endParaRPr>
          </a:p>
        </p:txBody>
      </p:sp>
      <p:sp>
        <p:nvSpPr>
          <p:cNvPr id="609" name="Google Shape;609;p2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29"/>
          <p:cNvSpPr/>
          <p:nvPr/>
        </p:nvSpPr>
        <p:spPr>
          <a:xfrm>
            <a:off x="658368" y="1975104"/>
            <a:ext cx="10872216" cy="15179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p29"/>
          <p:cNvSpPr/>
          <p:nvPr/>
        </p:nvSpPr>
        <p:spPr>
          <a:xfrm>
            <a:off x="914400" y="2139696"/>
            <a:ext cx="1036015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PROTOCOL, IN SHORT</a:t>
            </a:r>
            <a:endParaRPr b="0" i="0" sz="1100" u="none" cap="none" strike="noStrike">
              <a:solidFill>
                <a:schemeClr val="dk1"/>
              </a:solidFill>
              <a:latin typeface="Calibri"/>
              <a:ea typeface="Calibri"/>
              <a:cs typeface="Calibri"/>
              <a:sym typeface="Calibri"/>
            </a:endParaRPr>
          </a:p>
        </p:txBody>
      </p:sp>
      <p:sp>
        <p:nvSpPr>
          <p:cNvPr id="612" name="Google Shape;612;p29"/>
          <p:cNvSpPr/>
          <p:nvPr/>
        </p:nvSpPr>
        <p:spPr>
          <a:xfrm>
            <a:off x="91440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4 or 5</a:t>
            </a:r>
            <a:endParaRPr b="0" i="0" sz="1800" u="none" cap="none" strike="noStrike">
              <a:solidFill>
                <a:schemeClr val="dk1"/>
              </a:solidFill>
              <a:latin typeface="Calibri"/>
              <a:ea typeface="Calibri"/>
              <a:cs typeface="Calibri"/>
              <a:sym typeface="Calibri"/>
            </a:endParaRPr>
          </a:p>
        </p:txBody>
      </p:sp>
      <p:sp>
        <p:nvSpPr>
          <p:cNvPr id="613" name="Google Shape;613;p29"/>
          <p:cNvSpPr/>
          <p:nvPr/>
        </p:nvSpPr>
        <p:spPr>
          <a:xfrm>
            <a:off x="196596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one clear positive instance</a:t>
            </a:r>
            <a:endParaRPr b="0" i="0" sz="1700" u="none" cap="none" strike="noStrike">
              <a:solidFill>
                <a:schemeClr val="dk1"/>
              </a:solidFill>
              <a:latin typeface="Calibri"/>
              <a:ea typeface="Calibri"/>
              <a:cs typeface="Calibri"/>
              <a:sym typeface="Calibri"/>
            </a:endParaRPr>
          </a:p>
        </p:txBody>
      </p:sp>
      <p:sp>
        <p:nvSpPr>
          <p:cNvPr id="614" name="Google Shape;614;p29"/>
          <p:cNvSpPr/>
          <p:nvPr/>
        </p:nvSpPr>
        <p:spPr>
          <a:xfrm>
            <a:off x="603504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3</a:t>
            </a:r>
            <a:endParaRPr b="0" i="0" sz="1800" u="none" cap="none" strike="noStrike">
              <a:solidFill>
                <a:schemeClr val="dk1"/>
              </a:solidFill>
              <a:latin typeface="Calibri"/>
              <a:ea typeface="Calibri"/>
              <a:cs typeface="Calibri"/>
              <a:sym typeface="Calibri"/>
            </a:endParaRPr>
          </a:p>
        </p:txBody>
      </p:sp>
      <p:sp>
        <p:nvSpPr>
          <p:cNvPr id="615" name="Google Shape;615;p29"/>
          <p:cNvSpPr/>
          <p:nvPr/>
        </p:nvSpPr>
        <p:spPr>
          <a:xfrm>
            <a:off x="708660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mixed or inconsistent pattern</a:t>
            </a:r>
            <a:endParaRPr b="0" i="0" sz="1700" u="none" cap="none" strike="noStrike">
              <a:solidFill>
                <a:schemeClr val="dk1"/>
              </a:solidFill>
              <a:latin typeface="Calibri"/>
              <a:ea typeface="Calibri"/>
              <a:cs typeface="Calibri"/>
              <a:sym typeface="Calibri"/>
            </a:endParaRPr>
          </a:p>
        </p:txBody>
      </p:sp>
      <p:sp>
        <p:nvSpPr>
          <p:cNvPr id="616" name="Google Shape;616;p29"/>
          <p:cNvSpPr/>
          <p:nvPr/>
        </p:nvSpPr>
        <p:spPr>
          <a:xfrm>
            <a:off x="91440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1 or 2</a:t>
            </a:r>
            <a:endParaRPr b="0" i="0" sz="1800" u="none" cap="none" strike="noStrike">
              <a:solidFill>
                <a:schemeClr val="dk1"/>
              </a:solidFill>
              <a:latin typeface="Calibri"/>
              <a:ea typeface="Calibri"/>
              <a:cs typeface="Calibri"/>
              <a:sym typeface="Calibri"/>
            </a:endParaRPr>
          </a:p>
        </p:txBody>
      </p:sp>
      <p:sp>
        <p:nvSpPr>
          <p:cNvPr id="617" name="Google Shape;617;p29"/>
          <p:cNvSpPr/>
          <p:nvPr/>
        </p:nvSpPr>
        <p:spPr>
          <a:xfrm>
            <a:off x="196596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happened instead, or no qualifying instance</a:t>
            </a:r>
            <a:endParaRPr b="0" i="0" sz="1700" u="none" cap="none" strike="noStrike">
              <a:solidFill>
                <a:schemeClr val="dk1"/>
              </a:solidFill>
              <a:latin typeface="Calibri"/>
              <a:ea typeface="Calibri"/>
              <a:cs typeface="Calibri"/>
              <a:sym typeface="Calibri"/>
            </a:endParaRPr>
          </a:p>
        </p:txBody>
      </p:sp>
      <p:sp>
        <p:nvSpPr>
          <p:cNvPr id="618" name="Google Shape;618;p29"/>
          <p:cNvSpPr/>
          <p:nvPr/>
        </p:nvSpPr>
        <p:spPr>
          <a:xfrm>
            <a:off x="603504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a:t>
            </a:r>
            <a:endParaRPr b="0" i="0" sz="1800" u="none" cap="none" strike="noStrike">
              <a:solidFill>
                <a:schemeClr val="dk1"/>
              </a:solidFill>
              <a:latin typeface="Calibri"/>
              <a:ea typeface="Calibri"/>
              <a:cs typeface="Calibri"/>
              <a:sym typeface="Calibri"/>
            </a:endParaRPr>
          </a:p>
        </p:txBody>
      </p:sp>
      <p:sp>
        <p:nvSpPr>
          <p:cNvPr id="619" name="Google Shape;619;p29"/>
          <p:cNvSpPr/>
          <p:nvPr/>
        </p:nvSpPr>
        <p:spPr>
          <a:xfrm>
            <a:off x="708660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most defensible number, marked once: 3?, 4?, 2?</a:t>
            </a:r>
            <a:endParaRPr b="0" i="0" sz="1700" u="none" cap="none" strike="noStrike">
              <a:solidFill>
                <a:schemeClr val="dk1"/>
              </a:solidFill>
              <a:latin typeface="Calibri"/>
              <a:ea typeface="Calibri"/>
              <a:cs typeface="Calibri"/>
              <a:sym typeface="Calibri"/>
            </a:endParaRPr>
          </a:p>
        </p:txBody>
      </p:sp>
      <p:sp>
        <p:nvSpPr>
          <p:cNvPr id="620" name="Google Shape;620;p29"/>
          <p:cNvSpPr/>
          <p:nvPr/>
        </p:nvSpPr>
        <p:spPr>
          <a:xfrm>
            <a:off x="65836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Density  1 · 2 · 3 · 4 · 5 · 6</a:t>
            </a:r>
            <a:endParaRPr b="0" i="0" sz="2600" u="none" cap="none" strike="noStrike">
              <a:solidFill>
                <a:schemeClr val="dk1"/>
              </a:solidFill>
              <a:latin typeface="Calibri"/>
              <a:ea typeface="Calibri"/>
              <a:cs typeface="Calibri"/>
              <a:sym typeface="Calibri"/>
            </a:endParaRPr>
          </a:p>
        </p:txBody>
      </p:sp>
      <p:sp>
        <p:nvSpPr>
          <p:cNvPr id="621" name="Google Shape;621;p29"/>
          <p:cNvSpPr/>
          <p:nvPr/>
        </p:nvSpPr>
        <p:spPr>
          <a:xfrm>
            <a:off x="623620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Optionality  7 · 8 · 9 · 10 · 11 · 12</a:t>
            </a:r>
            <a:endParaRPr b="0" i="0" sz="2600" u="none" cap="none" strike="noStrike">
              <a:solidFill>
                <a:schemeClr val="dk1"/>
              </a:solidFill>
              <a:latin typeface="Calibri"/>
              <a:ea typeface="Calibri"/>
              <a:cs typeface="Calibri"/>
              <a:sym typeface="Calibri"/>
            </a:endParaRPr>
          </a:p>
        </p:txBody>
      </p:sp>
      <p:sp>
        <p:nvSpPr>
          <p:cNvPr id="622" name="Google Shape;622;p29"/>
          <p:cNvSpPr/>
          <p:nvPr/>
        </p:nvSpPr>
        <p:spPr>
          <a:xfrm>
            <a:off x="658368" y="4517136"/>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Workbook pages 12 to 15. Write the corrected number and the evidence line under it. Your first number stays where it is.</a:t>
            </a:r>
            <a:endParaRPr b="0" i="0" sz="2000" u="none" cap="none" strike="noStrike">
              <a:solidFill>
                <a:schemeClr val="dk1"/>
              </a:solidFill>
              <a:latin typeface="Calibri"/>
              <a:ea typeface="Calibri"/>
              <a:cs typeface="Calibri"/>
              <a:sym typeface="Calibri"/>
            </a:endParaRPr>
          </a:p>
        </p:txBody>
      </p:sp>
      <p:sp>
        <p:nvSpPr>
          <p:cNvPr id="623" name="Google Shape;623;p29"/>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4" name="Google Shape;624;p29"/>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29" name="Shape 629"/>
        <p:cNvGrpSpPr/>
        <p:nvPr/>
      </p:nvGrpSpPr>
      <p:grpSpPr>
        <a:xfrm>
          <a:off x="0" y="0"/>
          <a:ext cx="0" cy="0"/>
          <a:chOff x="0" y="0"/>
          <a:chExt cx="0" cy="0"/>
        </a:xfrm>
      </p:grpSpPr>
      <p:sp>
        <p:nvSpPr>
          <p:cNvPr id="630" name="Google Shape;630;p3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31" name="Google Shape;631;p3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30</a:t>
            </a:r>
            <a:endParaRPr/>
          </a:p>
        </p:txBody>
      </p:sp>
      <p:sp>
        <p:nvSpPr>
          <p:cNvPr id="632" name="Google Shape;632;p3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33" name="Google Shape;633;p3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Re-total and place again</a:t>
            </a:r>
            <a:endParaRPr b="0" i="0" sz="3800" u="none" cap="none" strike="noStrike">
              <a:solidFill>
                <a:schemeClr val="dk1"/>
              </a:solidFill>
              <a:latin typeface="Calibri"/>
              <a:ea typeface="Calibri"/>
              <a:cs typeface="Calibri"/>
              <a:sym typeface="Calibri"/>
            </a:endParaRPr>
          </a:p>
        </p:txBody>
      </p:sp>
      <p:sp>
        <p:nvSpPr>
          <p:cNvPr id="634" name="Google Shape;634;p3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New numbers. A fresh placement, not a review of the first one.</a:t>
            </a:r>
            <a:endParaRPr b="0" i="0" sz="1500" u="none" cap="none" strike="noStrike">
              <a:solidFill>
                <a:schemeClr val="dk1"/>
              </a:solidFill>
              <a:latin typeface="Calibri"/>
              <a:ea typeface="Calibri"/>
              <a:cs typeface="Calibri"/>
              <a:sym typeface="Calibri"/>
            </a:endParaRPr>
          </a:p>
        </p:txBody>
      </p:sp>
      <p:sp>
        <p:nvSpPr>
          <p:cNvPr id="635" name="Google Shape;635;p3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6" name="Google Shape;636;p30"/>
          <p:cNvSpPr/>
          <p:nvPr/>
        </p:nvSpPr>
        <p:spPr>
          <a:xfrm>
            <a:off x="65836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7" name="Google Shape;637;p30"/>
          <p:cNvSpPr/>
          <p:nvPr/>
        </p:nvSpPr>
        <p:spPr>
          <a:xfrm>
            <a:off x="89611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CORRECTED</a:t>
            </a:r>
            <a:endParaRPr b="0" i="0" sz="1100" u="none" cap="none" strike="noStrike">
              <a:solidFill>
                <a:schemeClr val="dk1"/>
              </a:solidFill>
              <a:latin typeface="Calibri"/>
              <a:ea typeface="Calibri"/>
              <a:cs typeface="Calibri"/>
              <a:sym typeface="Calibri"/>
            </a:endParaRPr>
          </a:p>
        </p:txBody>
      </p:sp>
      <p:sp>
        <p:nvSpPr>
          <p:cNvPr id="638" name="Google Shape;638;p30"/>
          <p:cNvSpPr/>
          <p:nvPr/>
        </p:nvSpPr>
        <p:spPr>
          <a:xfrm>
            <a:off x="89611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39" name="Google Shape;639;p30"/>
          <p:cNvSpPr/>
          <p:nvPr/>
        </p:nvSpPr>
        <p:spPr>
          <a:xfrm>
            <a:off x="623620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0" name="Google Shape;640;p30"/>
          <p:cNvSpPr/>
          <p:nvPr/>
        </p:nvSpPr>
        <p:spPr>
          <a:xfrm>
            <a:off x="647395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CORRECTED</a:t>
            </a:r>
            <a:endParaRPr b="0" i="0" sz="1100" u="none" cap="none" strike="noStrike">
              <a:solidFill>
                <a:schemeClr val="dk1"/>
              </a:solidFill>
              <a:latin typeface="Calibri"/>
              <a:ea typeface="Calibri"/>
              <a:cs typeface="Calibri"/>
              <a:sym typeface="Calibri"/>
            </a:endParaRPr>
          </a:p>
        </p:txBody>
      </p:sp>
      <p:sp>
        <p:nvSpPr>
          <p:cNvPr id="641" name="Google Shape;641;p30"/>
          <p:cNvSpPr/>
          <p:nvPr/>
        </p:nvSpPr>
        <p:spPr>
          <a:xfrm>
            <a:off x="647395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42" name="Google Shape;642;p30"/>
          <p:cNvSpPr/>
          <p:nvPr/>
        </p:nvSpPr>
        <p:spPr>
          <a:xfrm>
            <a:off x="658368" y="3145536"/>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both axes first. Then place, then record confidence and the date.</a:t>
            </a:r>
            <a:endParaRPr b="0" i="0" sz="2000" u="none" cap="none" strike="noStrike">
              <a:solidFill>
                <a:schemeClr val="dk1"/>
              </a:solidFill>
              <a:latin typeface="Calibri"/>
              <a:ea typeface="Calibri"/>
              <a:cs typeface="Calibri"/>
              <a:sym typeface="Calibri"/>
            </a:endParaRPr>
          </a:p>
        </p:txBody>
      </p:sp>
      <p:sp>
        <p:nvSpPr>
          <p:cNvPr id="643" name="Google Shape;643;p30"/>
          <p:cNvSpPr/>
          <p:nvPr/>
        </p:nvSpPr>
        <p:spPr>
          <a:xfrm>
            <a:off x="301752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p30"/>
          <p:cNvSpPr/>
          <p:nvPr/>
        </p:nvSpPr>
        <p:spPr>
          <a:xfrm>
            <a:off x="321868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645" name="Google Shape;645;p30"/>
          <p:cNvSpPr/>
          <p:nvPr/>
        </p:nvSpPr>
        <p:spPr>
          <a:xfrm>
            <a:off x="608076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6" name="Google Shape;646;p30"/>
          <p:cNvSpPr/>
          <p:nvPr/>
        </p:nvSpPr>
        <p:spPr>
          <a:xfrm>
            <a:off x="628192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647" name="Google Shape;647;p30"/>
          <p:cNvSpPr/>
          <p:nvPr/>
        </p:nvSpPr>
        <p:spPr>
          <a:xfrm>
            <a:off x="301752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30"/>
          <p:cNvSpPr/>
          <p:nvPr/>
        </p:nvSpPr>
        <p:spPr>
          <a:xfrm>
            <a:off x="321868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649" name="Google Shape;649;p30"/>
          <p:cNvSpPr/>
          <p:nvPr/>
        </p:nvSpPr>
        <p:spPr>
          <a:xfrm>
            <a:off x="608076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0" name="Google Shape;650;p30"/>
          <p:cNvSpPr/>
          <p:nvPr/>
        </p:nvSpPr>
        <p:spPr>
          <a:xfrm>
            <a:off x="628192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651" name="Google Shape;651;p30"/>
          <p:cNvSpPr/>
          <p:nvPr/>
        </p:nvSpPr>
        <p:spPr>
          <a:xfrm>
            <a:off x="3017520" y="3858768"/>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652" name="Google Shape;652;p30"/>
          <p:cNvSpPr/>
          <p:nvPr/>
        </p:nvSpPr>
        <p:spPr>
          <a:xfrm>
            <a:off x="3017520" y="5925312"/>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653" name="Google Shape;653;p30"/>
          <p:cNvSpPr/>
          <p:nvPr/>
        </p:nvSpPr>
        <p:spPr>
          <a:xfrm>
            <a:off x="3017520" y="4169664"/>
            <a:ext cx="6126480" cy="17007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54" name="Google Shape;654;p30"/>
          <p:cNvCxnSpPr/>
          <p:nvPr/>
        </p:nvCxnSpPr>
        <p:spPr>
          <a:xfrm>
            <a:off x="6080760" y="4169664"/>
            <a:ext cx="0" cy="1700784"/>
          </a:xfrm>
          <a:prstGeom prst="straightConnector1">
            <a:avLst/>
          </a:prstGeom>
          <a:noFill/>
          <a:ln cap="flat" cmpd="sng" w="15875">
            <a:solidFill>
              <a:srgbClr val="0F2347"/>
            </a:solidFill>
            <a:prstDash val="solid"/>
            <a:miter lim="80"/>
            <a:headEnd len="sm" w="sm" type="none"/>
            <a:tailEnd len="sm" w="sm" type="none"/>
          </a:ln>
        </p:spPr>
      </p:cxnSp>
      <p:cxnSp>
        <p:nvCxnSpPr>
          <p:cNvPr id="655" name="Google Shape;655;p30"/>
          <p:cNvCxnSpPr/>
          <p:nvPr/>
        </p:nvCxnSpPr>
        <p:spPr>
          <a:xfrm>
            <a:off x="3017520" y="5020056"/>
            <a:ext cx="612648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60" name="Shape 660"/>
        <p:cNvGrpSpPr/>
        <p:nvPr/>
      </p:nvGrpSpPr>
      <p:grpSpPr>
        <a:xfrm>
          <a:off x="0" y="0"/>
          <a:ext cx="0" cy="0"/>
          <a:chOff x="0" y="0"/>
          <a:chExt cx="0" cy="0"/>
        </a:xfrm>
      </p:grpSpPr>
      <p:sp>
        <p:nvSpPr>
          <p:cNvPr id="661" name="Google Shape;661;p3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62" name="Google Shape;662;p3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31</a:t>
            </a:r>
            <a:endParaRPr/>
          </a:p>
        </p:txBody>
      </p:sp>
      <p:sp>
        <p:nvSpPr>
          <p:cNvPr id="663" name="Google Shape;663;p3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64" name="Google Shape;664;p3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When the evidence remains uncertain</a:t>
            </a:r>
            <a:endParaRPr b="0" i="0" sz="3800" u="none" cap="none" strike="noStrike">
              <a:solidFill>
                <a:schemeClr val="dk1"/>
              </a:solidFill>
              <a:latin typeface="Calibri"/>
              <a:ea typeface="Calibri"/>
              <a:cs typeface="Calibri"/>
              <a:sym typeface="Calibri"/>
            </a:endParaRPr>
          </a:p>
        </p:txBody>
      </p:sp>
      <p:sp>
        <p:nvSpPr>
          <p:cNvPr id="665" name="Google Shape;665;p3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neighbouring-score sensitivity check. An operational pilot convention, not a statistical confidence interval.</a:t>
            </a:r>
            <a:endParaRPr b="0" i="0" sz="1500" u="none" cap="none" strike="noStrike">
              <a:solidFill>
                <a:schemeClr val="dk1"/>
              </a:solidFill>
              <a:latin typeface="Calibri"/>
              <a:ea typeface="Calibri"/>
              <a:cs typeface="Calibri"/>
              <a:sym typeface="Calibri"/>
            </a:endParaRPr>
          </a:p>
        </p:txBody>
      </p:sp>
      <p:sp>
        <p:nvSpPr>
          <p:cNvPr id="666" name="Google Shape;666;p3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7" name="Google Shape;667;p31"/>
          <p:cNvSpPr/>
          <p:nvPr/>
        </p:nvSpPr>
        <p:spPr>
          <a:xfrm>
            <a:off x="658368" y="2066544"/>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1</a:t>
            </a:r>
            <a:endParaRPr b="0" i="0" sz="2400" u="none" cap="none" strike="noStrike">
              <a:solidFill>
                <a:schemeClr val="dk1"/>
              </a:solidFill>
              <a:latin typeface="Calibri"/>
              <a:ea typeface="Calibri"/>
              <a:cs typeface="Calibri"/>
              <a:sym typeface="Calibri"/>
            </a:endParaRPr>
          </a:p>
        </p:txBody>
      </p:sp>
      <p:sp>
        <p:nvSpPr>
          <p:cNvPr id="668" name="Google Shape;668;p31"/>
          <p:cNvSpPr/>
          <p:nvPr/>
        </p:nvSpPr>
        <p:spPr>
          <a:xfrm>
            <a:off x="1152144" y="2066544"/>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the axis using the numbers exactly as you wrote them.</a:t>
            </a:r>
            <a:endParaRPr b="0" i="0" sz="2000" u="none" cap="none" strike="noStrike">
              <a:solidFill>
                <a:schemeClr val="dk1"/>
              </a:solidFill>
              <a:latin typeface="Calibri"/>
              <a:ea typeface="Calibri"/>
              <a:cs typeface="Calibri"/>
              <a:sym typeface="Calibri"/>
            </a:endParaRPr>
          </a:p>
        </p:txBody>
      </p:sp>
      <p:sp>
        <p:nvSpPr>
          <p:cNvPr id="669" name="Google Shape;669;p31"/>
          <p:cNvSpPr/>
          <p:nvPr/>
        </p:nvSpPr>
        <p:spPr>
          <a:xfrm>
            <a:off x="658368" y="2724912"/>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2</a:t>
            </a:r>
            <a:endParaRPr b="0" i="0" sz="2400" u="none" cap="none" strike="noStrike">
              <a:solidFill>
                <a:schemeClr val="dk1"/>
              </a:solidFill>
              <a:latin typeface="Calibri"/>
              <a:ea typeface="Calibri"/>
              <a:cs typeface="Calibri"/>
              <a:sym typeface="Calibri"/>
            </a:endParaRPr>
          </a:p>
        </p:txBody>
      </p:sp>
      <p:sp>
        <p:nvSpPr>
          <p:cNvPr id="670" name="Google Shape;670;p31"/>
          <p:cNvSpPr/>
          <p:nvPr/>
        </p:nvSpPr>
        <p:spPr>
          <a:xfrm>
            <a:off x="1152144" y="2724912"/>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lower.</a:t>
            </a:r>
            <a:endParaRPr b="0" i="0" sz="2000" u="none" cap="none" strike="noStrike">
              <a:solidFill>
                <a:schemeClr val="dk1"/>
              </a:solidFill>
              <a:latin typeface="Calibri"/>
              <a:ea typeface="Calibri"/>
              <a:cs typeface="Calibri"/>
              <a:sym typeface="Calibri"/>
            </a:endParaRPr>
          </a:p>
        </p:txBody>
      </p:sp>
      <p:sp>
        <p:nvSpPr>
          <p:cNvPr id="671" name="Google Shape;671;p31"/>
          <p:cNvSpPr/>
          <p:nvPr/>
        </p:nvSpPr>
        <p:spPr>
          <a:xfrm>
            <a:off x="658368" y="3383280"/>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3</a:t>
            </a:r>
            <a:endParaRPr b="0" i="0" sz="2400" u="none" cap="none" strike="noStrike">
              <a:solidFill>
                <a:schemeClr val="dk1"/>
              </a:solidFill>
              <a:latin typeface="Calibri"/>
              <a:ea typeface="Calibri"/>
              <a:cs typeface="Calibri"/>
              <a:sym typeface="Calibri"/>
            </a:endParaRPr>
          </a:p>
        </p:txBody>
      </p:sp>
      <p:sp>
        <p:nvSpPr>
          <p:cNvPr id="672" name="Google Shape;672;p31"/>
          <p:cNvSpPr/>
          <p:nvPr/>
        </p:nvSpPr>
        <p:spPr>
          <a:xfrm>
            <a:off x="1152144" y="3383280"/>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higher.</a:t>
            </a:r>
            <a:endParaRPr b="0" i="0" sz="2000" u="none" cap="none" strike="noStrike">
              <a:solidFill>
                <a:schemeClr val="dk1"/>
              </a:solidFill>
              <a:latin typeface="Calibri"/>
              <a:ea typeface="Calibri"/>
              <a:cs typeface="Calibri"/>
              <a:sym typeface="Calibri"/>
            </a:endParaRPr>
          </a:p>
        </p:txBody>
      </p:sp>
      <p:sp>
        <p:nvSpPr>
          <p:cNvPr id="673" name="Google Shape;673;p31"/>
          <p:cNvSpPr/>
          <p:nvPr/>
        </p:nvSpPr>
        <p:spPr>
          <a:xfrm>
            <a:off x="658368" y="4041648"/>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4</a:t>
            </a:r>
            <a:endParaRPr b="0" i="0" sz="2400" u="none" cap="none" strike="noStrike">
              <a:solidFill>
                <a:schemeClr val="dk1"/>
              </a:solidFill>
              <a:latin typeface="Calibri"/>
              <a:ea typeface="Calibri"/>
              <a:cs typeface="Calibri"/>
              <a:sym typeface="Calibri"/>
            </a:endParaRPr>
          </a:p>
        </p:txBody>
      </p:sp>
      <p:sp>
        <p:nvSpPr>
          <p:cNvPr id="674" name="Google Shape;674;p31"/>
          <p:cNvSpPr/>
          <p:nvPr/>
        </p:nvSpPr>
        <p:spPr>
          <a:xfrm>
            <a:off x="1152144" y="4041648"/>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all three stay on the same side of 19, and none lands between 17 and 21, place and mark it provisional.</a:t>
            </a:r>
            <a:endParaRPr b="0" i="0" sz="2000" u="none" cap="none" strike="noStrike">
              <a:solidFill>
                <a:schemeClr val="dk1"/>
              </a:solidFill>
              <a:latin typeface="Calibri"/>
              <a:ea typeface="Calibri"/>
              <a:cs typeface="Calibri"/>
              <a:sym typeface="Calibri"/>
            </a:endParaRPr>
          </a:p>
        </p:txBody>
      </p:sp>
      <p:sp>
        <p:nvSpPr>
          <p:cNvPr id="675" name="Google Shape;675;p31"/>
          <p:cNvSpPr/>
          <p:nvPr/>
        </p:nvSpPr>
        <p:spPr>
          <a:xfrm>
            <a:off x="658368" y="4700016"/>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5</a:t>
            </a:r>
            <a:endParaRPr b="0" i="0" sz="2400" u="none" cap="none" strike="noStrike">
              <a:solidFill>
                <a:schemeClr val="dk1"/>
              </a:solidFill>
              <a:latin typeface="Calibri"/>
              <a:ea typeface="Calibri"/>
              <a:cs typeface="Calibri"/>
              <a:sym typeface="Calibri"/>
            </a:endParaRPr>
          </a:p>
        </p:txBody>
      </p:sp>
      <p:sp>
        <p:nvSpPr>
          <p:cNvPr id="676" name="Google Shape;676;p31"/>
          <p:cNvSpPr/>
          <p:nvPr/>
        </p:nvSpPr>
        <p:spPr>
          <a:xfrm>
            <a:off x="1152144" y="4805321"/>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they do not, do not pick one square. Read both neighbouring states.</a:t>
            </a:r>
            <a:endParaRPr b="0" i="0" sz="2000" u="none" cap="none" strike="noStrike">
              <a:solidFill>
                <a:schemeClr val="dk1"/>
              </a:solidFill>
              <a:latin typeface="Calibri"/>
              <a:ea typeface="Calibri"/>
              <a:cs typeface="Calibri"/>
              <a:sym typeface="Calibri"/>
            </a:endParaRPr>
          </a:p>
        </p:txBody>
      </p:sp>
      <p:sp>
        <p:nvSpPr>
          <p:cNvPr id="677" name="Google Shape;677;p31"/>
          <p:cNvSpPr/>
          <p:nvPr/>
        </p:nvSpPr>
        <p:spPr>
          <a:xfrm>
            <a:off x="658368" y="5376672"/>
            <a:ext cx="10872216" cy="768096"/>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p31"/>
          <p:cNvSpPr/>
          <p:nvPr/>
        </p:nvSpPr>
        <p:spPr>
          <a:xfrm>
            <a:off x="914400" y="5504688"/>
            <a:ext cx="10360152" cy="53035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Keep every neighbouring score inside the 1 to 5 scale. A 1? is never tested at 0 and a 5? is never tested at 6. Three or more marked items on one axis: that axis is incomplete and you do not place on it today.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83" name="Shape 683"/>
        <p:cNvGrpSpPr/>
        <p:nvPr/>
      </p:nvGrpSpPr>
      <p:grpSpPr>
        <a:xfrm>
          <a:off x="0" y="0"/>
          <a:ext cx="0" cy="0"/>
          <a:chOff x="0" y="0"/>
          <a:chExt cx="0" cy="0"/>
        </a:xfrm>
      </p:grpSpPr>
      <p:sp>
        <p:nvSpPr>
          <p:cNvPr id="684" name="Google Shape;684;p3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85" name="Google Shape;685;p3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32</a:t>
            </a:r>
            <a:endParaRPr/>
          </a:p>
        </p:txBody>
      </p:sp>
      <p:sp>
        <p:nvSpPr>
          <p:cNvPr id="686" name="Google Shape;686;p3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MOVED</a:t>
            </a:r>
            <a:endParaRPr b="0" i="0" sz="1100" u="none" cap="none" strike="noStrike">
              <a:solidFill>
                <a:schemeClr val="dk1"/>
              </a:solidFill>
              <a:latin typeface="Calibri"/>
              <a:ea typeface="Calibri"/>
              <a:cs typeface="Calibri"/>
              <a:sym typeface="Calibri"/>
            </a:endParaRPr>
          </a:p>
        </p:txBody>
      </p:sp>
      <p:sp>
        <p:nvSpPr>
          <p:cNvPr id="687" name="Google Shape;687;p3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moved</a:t>
            </a:r>
            <a:endParaRPr b="0" i="0" sz="3800" u="none" cap="none" strike="noStrike">
              <a:solidFill>
                <a:schemeClr val="dk1"/>
              </a:solidFill>
              <a:latin typeface="Calibri"/>
              <a:ea typeface="Calibri"/>
              <a:cs typeface="Calibri"/>
              <a:sym typeface="Calibri"/>
            </a:endParaRPr>
          </a:p>
        </p:txBody>
      </p:sp>
      <p:sp>
        <p:nvSpPr>
          <p:cNvPr id="688" name="Google Shape;688;p3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Both readings, side by side. Three anonymous counts.</a:t>
            </a:r>
            <a:endParaRPr b="0" i="0" sz="1500" u="none" cap="none" strike="noStrike">
              <a:solidFill>
                <a:schemeClr val="dk1"/>
              </a:solidFill>
              <a:latin typeface="Calibri"/>
              <a:ea typeface="Calibri"/>
              <a:cs typeface="Calibri"/>
              <a:sym typeface="Calibri"/>
            </a:endParaRPr>
          </a:p>
        </p:txBody>
      </p:sp>
      <p:sp>
        <p:nvSpPr>
          <p:cNvPr id="689" name="Google Shape;689;p3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0" name="Google Shape;690;p32"/>
          <p:cNvSpPr/>
          <p:nvPr/>
        </p:nvSpPr>
        <p:spPr>
          <a:xfrm>
            <a:off x="658368" y="20116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at least one of your two axis totals change by two or more points?</a:t>
            </a:r>
            <a:endParaRPr b="0" i="0" sz="2100" u="none" cap="none" strike="noStrike">
              <a:solidFill>
                <a:schemeClr val="dk1"/>
              </a:solidFill>
              <a:latin typeface="Calibri"/>
              <a:ea typeface="Calibri"/>
              <a:cs typeface="Calibri"/>
              <a:sym typeface="Calibri"/>
            </a:endParaRPr>
          </a:p>
        </p:txBody>
      </p:sp>
      <p:sp>
        <p:nvSpPr>
          <p:cNvPr id="691" name="Google Shape;691;p32"/>
          <p:cNvSpPr/>
          <p:nvPr/>
        </p:nvSpPr>
        <p:spPr>
          <a:xfrm>
            <a:off x="9601200" y="20116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2" name="Google Shape;692;p32"/>
          <p:cNvSpPr/>
          <p:nvPr/>
        </p:nvSpPr>
        <p:spPr>
          <a:xfrm>
            <a:off x="658368" y="29260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square change between the first and second placement?</a:t>
            </a:r>
            <a:endParaRPr b="0" i="0" sz="2100" u="none" cap="none" strike="noStrike">
              <a:solidFill>
                <a:schemeClr val="dk1"/>
              </a:solidFill>
              <a:latin typeface="Calibri"/>
              <a:ea typeface="Calibri"/>
              <a:cs typeface="Calibri"/>
              <a:sym typeface="Calibri"/>
            </a:endParaRPr>
          </a:p>
        </p:txBody>
      </p:sp>
      <p:sp>
        <p:nvSpPr>
          <p:cNvPr id="693" name="Google Shape;693;p32"/>
          <p:cNvSpPr/>
          <p:nvPr/>
        </p:nvSpPr>
        <p:spPr>
          <a:xfrm>
            <a:off x="9601200" y="29260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4" name="Google Shape;694;p32"/>
          <p:cNvSpPr/>
          <p:nvPr/>
        </p:nvSpPr>
        <p:spPr>
          <a:xfrm>
            <a:off x="658368" y="38404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confidence go down, stay the same, or go up?</a:t>
            </a:r>
            <a:endParaRPr b="0" i="0" sz="2100" u="none" cap="none" strike="noStrike">
              <a:solidFill>
                <a:schemeClr val="dk1"/>
              </a:solidFill>
              <a:latin typeface="Calibri"/>
              <a:ea typeface="Calibri"/>
              <a:cs typeface="Calibri"/>
              <a:sym typeface="Calibri"/>
            </a:endParaRPr>
          </a:p>
        </p:txBody>
      </p:sp>
      <p:sp>
        <p:nvSpPr>
          <p:cNvPr id="695" name="Google Shape;695;p32"/>
          <p:cNvSpPr/>
          <p:nvPr/>
        </p:nvSpPr>
        <p:spPr>
          <a:xfrm>
            <a:off x="9601200" y="38404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6" name="Google Shape;696;p32"/>
          <p:cNvSpPr/>
          <p:nvPr/>
        </p:nvSpPr>
        <p:spPr>
          <a:xfrm>
            <a:off x="658368" y="4590288"/>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Nothing about your working life changed while you were scoring. Only the reading did.</a:t>
            </a:r>
            <a:endParaRPr b="0" i="0" sz="1900" u="none" cap="none" strike="noStrike">
              <a:solidFill>
                <a:schemeClr val="dk1"/>
              </a:solidFill>
              <a:latin typeface="Calibri"/>
              <a:ea typeface="Calibri"/>
              <a:cs typeface="Calibri"/>
              <a:sym typeface="Calibri"/>
            </a:endParaRPr>
          </a:p>
        </p:txBody>
      </p:sp>
      <p:sp>
        <p:nvSpPr>
          <p:cNvPr id="697" name="Google Shape;697;p32"/>
          <p:cNvSpPr/>
          <p:nvPr/>
        </p:nvSpPr>
        <p:spPr>
          <a:xfrm>
            <a:off x="658368" y="570585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32"/>
          <p:cNvSpPr/>
          <p:nvPr/>
        </p:nvSpPr>
        <p:spPr>
          <a:xfrm>
            <a:off x="658368" y="585216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03" name="Shape 703"/>
        <p:cNvGrpSpPr/>
        <p:nvPr/>
      </p:nvGrpSpPr>
      <p:grpSpPr>
        <a:xfrm>
          <a:off x="0" y="0"/>
          <a:ext cx="0" cy="0"/>
          <a:chOff x="0" y="0"/>
          <a:chExt cx="0" cy="0"/>
        </a:xfrm>
      </p:grpSpPr>
      <p:sp>
        <p:nvSpPr>
          <p:cNvPr id="704" name="Google Shape;704;p3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05" name="Google Shape;705;p3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33</a:t>
            </a:r>
            <a:endParaRPr/>
          </a:p>
        </p:txBody>
      </p:sp>
      <p:sp>
        <p:nvSpPr>
          <p:cNvPr id="706" name="Google Shape;706;p3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JUST HAPPENED</a:t>
            </a:r>
            <a:endParaRPr b="0" i="0" sz="1100" u="none" cap="none" strike="noStrike">
              <a:solidFill>
                <a:schemeClr val="dk1"/>
              </a:solidFill>
              <a:latin typeface="Calibri"/>
              <a:ea typeface="Calibri"/>
              <a:cs typeface="Calibri"/>
              <a:sym typeface="Calibri"/>
            </a:endParaRPr>
          </a:p>
        </p:txBody>
      </p:sp>
      <p:sp>
        <p:nvSpPr>
          <p:cNvPr id="707" name="Google Shape;707;p3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just happened</a:t>
            </a:r>
            <a:endParaRPr b="0" i="0" sz="3800" u="none" cap="none" strike="noStrike">
              <a:solidFill>
                <a:schemeClr val="dk1"/>
              </a:solidFill>
              <a:latin typeface="Calibri"/>
              <a:ea typeface="Calibri"/>
              <a:cs typeface="Calibri"/>
              <a:sym typeface="Calibri"/>
            </a:endParaRPr>
          </a:p>
        </p:txBody>
      </p:sp>
      <p:sp>
        <p:nvSpPr>
          <p:cNvPr id="708" name="Google Shape;708;p3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And what it says about every self-assessment you have ever completed.</a:t>
            </a:r>
            <a:endParaRPr b="0" i="0" sz="1500" u="none" cap="none" strike="noStrike">
              <a:solidFill>
                <a:schemeClr val="dk1"/>
              </a:solidFill>
              <a:latin typeface="Calibri"/>
              <a:ea typeface="Calibri"/>
              <a:cs typeface="Calibri"/>
              <a:sym typeface="Calibri"/>
            </a:endParaRPr>
          </a:p>
        </p:txBody>
      </p:sp>
      <p:sp>
        <p:nvSpPr>
          <p:cNvPr id="709" name="Google Shape;709;p3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p33"/>
          <p:cNvSpPr/>
          <p:nvPr/>
        </p:nvSpPr>
        <p:spPr>
          <a:xfrm>
            <a:off x="658368" y="1956816"/>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700"/>
              <a:buFont typeface="Cormorant Garamond"/>
              <a:buNone/>
            </a:pPr>
            <a:r>
              <a:rPr b="0" i="0" lang="en-US" sz="2700" u="none" cap="none" strike="noStrike">
                <a:solidFill>
                  <a:srgbClr val="0F2347"/>
                </a:solidFill>
                <a:latin typeface="Cormorant Garamond"/>
                <a:ea typeface="Cormorant Garamond"/>
                <a:cs typeface="Cormorant Garamond"/>
                <a:sym typeface="Cormorant Garamond"/>
              </a:rPr>
              <a:t>Self-assessment has a structural limitation: the same person supplies both the evidence and the judgment.</a:t>
            </a:r>
            <a:endParaRPr b="0" i="0" sz="2700" u="none" cap="none" strike="noStrike">
              <a:solidFill>
                <a:schemeClr val="dk1"/>
              </a:solidFill>
              <a:latin typeface="Calibri"/>
              <a:ea typeface="Calibri"/>
              <a:cs typeface="Calibri"/>
              <a:sym typeface="Calibri"/>
            </a:endParaRPr>
          </a:p>
        </p:txBody>
      </p:sp>
      <p:sp>
        <p:nvSpPr>
          <p:cNvPr id="711" name="Google Shape;711;p33"/>
          <p:cNvSpPr/>
          <p:nvPr/>
        </p:nvSpPr>
        <p:spPr>
          <a:xfrm>
            <a:off x="658368" y="3383280"/>
            <a:ext cx="1087221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It is not useless; it needs a disciplined correction process.</a:t>
            </a:r>
            <a:endParaRPr b="0" i="0" sz="2000" u="none" cap="none" strike="noStrike">
              <a:solidFill>
                <a:schemeClr val="dk1"/>
              </a:solidFill>
              <a:latin typeface="Calibri"/>
              <a:ea typeface="Calibri"/>
              <a:cs typeface="Calibri"/>
              <a:sym typeface="Calibri"/>
            </a:endParaRPr>
          </a:p>
        </p:txBody>
      </p:sp>
      <p:sp>
        <p:nvSpPr>
          <p:cNvPr id="712" name="Google Shape;712;p33"/>
          <p:cNvSpPr/>
          <p:nvPr/>
        </p:nvSpPr>
        <p:spPr>
          <a:xfrm>
            <a:off x="658368" y="4261104"/>
            <a:ext cx="10872216" cy="13898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3" name="Google Shape;713;p33"/>
          <p:cNvSpPr/>
          <p:nvPr/>
        </p:nvSpPr>
        <p:spPr>
          <a:xfrm>
            <a:off x="914400" y="4443984"/>
            <a:ext cx="10360152" cy="10607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What corrected your number was not new information. It was a fixed window, evidence in both directions, and three named misreadings. That is calibration.</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718" name="Shape 718"/>
        <p:cNvGrpSpPr/>
        <p:nvPr/>
      </p:nvGrpSpPr>
      <p:grpSpPr>
        <a:xfrm>
          <a:off x="0" y="0"/>
          <a:ext cx="0" cy="0"/>
          <a:chOff x="0" y="0"/>
          <a:chExt cx="0" cy="0"/>
        </a:xfrm>
      </p:grpSpPr>
      <p:sp>
        <p:nvSpPr>
          <p:cNvPr id="719" name="Google Shape;719;p3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20" name="Google Shape;720;p3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34</a:t>
            </a:r>
            <a:endParaRPr/>
          </a:p>
        </p:txBody>
      </p:sp>
      <p:sp>
        <p:nvSpPr>
          <p:cNvPr id="721" name="Google Shape;721;p34"/>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WHAT IT COSTS</a:t>
            </a:r>
            <a:endParaRPr b="0" i="0" sz="1300" u="none" cap="none" strike="noStrike">
              <a:solidFill>
                <a:schemeClr val="dk1"/>
              </a:solidFill>
              <a:latin typeface="Calibri"/>
              <a:ea typeface="Calibri"/>
              <a:cs typeface="Calibri"/>
              <a:sym typeface="Calibri"/>
            </a:endParaRPr>
          </a:p>
        </p:txBody>
      </p:sp>
      <p:sp>
        <p:nvSpPr>
          <p:cNvPr id="722" name="Google Shape;722;p34"/>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What your state is costing you.</a:t>
            </a:r>
            <a:endParaRPr b="0" i="0" sz="4600" u="none" cap="none" strike="noStrike">
              <a:solidFill>
                <a:schemeClr val="dk1"/>
              </a:solidFill>
              <a:latin typeface="Calibri"/>
              <a:ea typeface="Calibri"/>
              <a:cs typeface="Calibri"/>
              <a:sym typeface="Calibri"/>
            </a:endParaRPr>
          </a:p>
        </p:txBody>
      </p:sp>
      <p:sp>
        <p:nvSpPr>
          <p:cNvPr id="723" name="Google Shape;723;p34"/>
          <p:cNvSpPr/>
          <p:nvPr/>
        </p:nvSpPr>
        <p:spPr>
          <a:xfrm>
            <a:off x="658368" y="3310128"/>
            <a:ext cx="8915400" cy="100584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Not advice. Cost. Four readings per state: the immediate cost, the hidden cost, the cost of waiting, and the false reassurance that keeps you there.</a:t>
            </a:r>
            <a:endParaRPr b="0" i="0" sz="2000" u="none" cap="none" strike="noStrike">
              <a:solidFill>
                <a:schemeClr val="dk1"/>
              </a:solidFill>
              <a:latin typeface="Calibri"/>
              <a:ea typeface="Calibri"/>
              <a:cs typeface="Calibri"/>
              <a:sym typeface="Calibri"/>
            </a:endParaRPr>
          </a:p>
        </p:txBody>
      </p:sp>
      <p:sp>
        <p:nvSpPr>
          <p:cNvPr id="724" name="Google Shape;724;p34"/>
          <p:cNvSpPr/>
          <p:nvPr/>
        </p:nvSpPr>
        <p:spPr>
          <a:xfrm>
            <a:off x="658368" y="4443984"/>
            <a:ext cx="89154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DM Sans"/>
              <a:buNone/>
            </a:pPr>
            <a:r>
              <a:rPr b="0" i="0" lang="en-US" sz="1800" u="none" cap="none" strike="noStrike">
                <a:solidFill>
                  <a:srgbClr val="FFFFFF"/>
                </a:solidFill>
                <a:latin typeface="DM Sans"/>
                <a:ea typeface="DM Sans"/>
                <a:cs typeface="DM Sans"/>
                <a:sym typeface="DM Sans"/>
              </a:rPr>
              <a:t>A concise reference is on workbook page 19. The fuller treatment is in Section 5 of your Field Kit.</a:t>
            </a:r>
            <a:endParaRPr b="0" i="0" sz="1800" u="none" cap="none" strike="noStrike">
              <a:solidFill>
                <a:schemeClr val="dk1"/>
              </a:solidFill>
              <a:latin typeface="Calibri"/>
              <a:ea typeface="Calibri"/>
              <a:cs typeface="Calibri"/>
              <a:sym typeface="Calibri"/>
            </a:endParaRPr>
          </a:p>
        </p:txBody>
      </p:sp>
      <p:sp>
        <p:nvSpPr>
          <p:cNvPr id="725" name="Google Shape;725;p34"/>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6" name="Google Shape;726;p34"/>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p34"/>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8" name="Google Shape;728;p34"/>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33" name="Shape 733"/>
        <p:cNvGrpSpPr/>
        <p:nvPr/>
      </p:nvGrpSpPr>
      <p:grpSpPr>
        <a:xfrm>
          <a:off x="0" y="0"/>
          <a:ext cx="0" cy="0"/>
          <a:chOff x="0" y="0"/>
          <a:chExt cx="0" cy="0"/>
        </a:xfrm>
      </p:grpSpPr>
      <p:sp>
        <p:nvSpPr>
          <p:cNvPr id="734" name="Google Shape;734;p3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35" name="Google Shape;735;p3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35</a:t>
            </a:r>
            <a:endParaRPr/>
          </a:p>
        </p:txBody>
      </p:sp>
      <p:sp>
        <p:nvSpPr>
          <p:cNvPr id="736" name="Google Shape;736;p3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STATE COSTS</a:t>
            </a:r>
            <a:endParaRPr b="0" i="0" sz="1100" u="none" cap="none" strike="noStrike">
              <a:solidFill>
                <a:schemeClr val="dk1"/>
              </a:solidFill>
              <a:latin typeface="Calibri"/>
              <a:ea typeface="Calibri"/>
              <a:cs typeface="Calibri"/>
              <a:sym typeface="Calibri"/>
            </a:endParaRPr>
          </a:p>
        </p:txBody>
      </p:sp>
      <p:sp>
        <p:nvSpPr>
          <p:cNvPr id="737" name="Google Shape;737;p3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each state costs</a:t>
            </a:r>
            <a:endParaRPr b="0" i="0" sz="3800" u="none" cap="none" strike="noStrike">
              <a:solidFill>
                <a:schemeClr val="dk1"/>
              </a:solidFill>
              <a:latin typeface="Calibri"/>
              <a:ea typeface="Calibri"/>
              <a:cs typeface="Calibri"/>
              <a:sym typeface="Calibri"/>
            </a:endParaRPr>
          </a:p>
        </p:txBody>
      </p:sp>
      <p:sp>
        <p:nvSpPr>
          <p:cNvPr id="738" name="Google Shape;738;p3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All four, briefly. Your short reference is in the workbook.</a:t>
            </a:r>
            <a:endParaRPr b="0" i="0" sz="1500" u="none" cap="none" strike="noStrike">
              <a:solidFill>
                <a:schemeClr val="dk1"/>
              </a:solidFill>
              <a:latin typeface="Calibri"/>
              <a:ea typeface="Calibri"/>
              <a:cs typeface="Calibri"/>
              <a:sym typeface="Calibri"/>
            </a:endParaRPr>
          </a:p>
        </p:txBody>
      </p:sp>
      <p:sp>
        <p:nvSpPr>
          <p:cNvPr id="739" name="Google Shape;739;p3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0" name="Google Shape;740;p35"/>
          <p:cNvSpPr/>
          <p:nvPr/>
        </p:nvSpPr>
        <p:spPr>
          <a:xfrm>
            <a:off x="65836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1" name="Google Shape;741;p35"/>
          <p:cNvSpPr/>
          <p:nvPr/>
        </p:nvSpPr>
        <p:spPr>
          <a:xfrm>
            <a:off x="89611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DEPTH TRAP</a:t>
            </a:r>
            <a:endParaRPr b="0" i="0" sz="1800" u="none" cap="none" strike="noStrike">
              <a:solidFill>
                <a:schemeClr val="dk1"/>
              </a:solidFill>
              <a:latin typeface="Calibri"/>
              <a:ea typeface="Calibri"/>
              <a:cs typeface="Calibri"/>
              <a:sym typeface="Calibri"/>
            </a:endParaRPr>
          </a:p>
        </p:txBody>
      </p:sp>
      <p:sp>
        <p:nvSpPr>
          <p:cNvPr id="742" name="Google Shape;742;p35"/>
          <p:cNvSpPr/>
          <p:nvPr/>
        </p:nvSpPr>
        <p:spPr>
          <a:xfrm>
            <a:off x="89611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3" name="Google Shape;743;p35"/>
          <p:cNvSpPr/>
          <p:nvPr/>
        </p:nvSpPr>
        <p:spPr>
          <a:xfrm>
            <a:off x="89611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Value is deep but context-bound.</a:t>
            </a:r>
            <a:endParaRPr b="0" i="0" sz="1200" u="none" cap="none" strike="noStrike">
              <a:solidFill>
                <a:schemeClr val="dk1"/>
              </a:solidFill>
              <a:latin typeface="Calibri"/>
              <a:ea typeface="Calibri"/>
              <a:cs typeface="Calibri"/>
              <a:sym typeface="Calibri"/>
            </a:endParaRPr>
          </a:p>
        </p:txBody>
      </p:sp>
      <p:sp>
        <p:nvSpPr>
          <p:cNvPr id="744" name="Google Shape;744;p35"/>
          <p:cNvSpPr/>
          <p:nvPr/>
        </p:nvSpPr>
        <p:spPr>
          <a:xfrm>
            <a:off x="89611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5" name="Google Shape;745;p35"/>
          <p:cNvSpPr/>
          <p:nvPr/>
        </p:nvSpPr>
        <p:spPr>
          <a:xfrm>
            <a:off x="89611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46" name="Google Shape;746;p35"/>
          <p:cNvSpPr/>
          <p:nvPr/>
        </p:nvSpPr>
        <p:spPr>
          <a:xfrm>
            <a:off x="623620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7" name="Google Shape;747;p35"/>
          <p:cNvSpPr/>
          <p:nvPr/>
        </p:nvSpPr>
        <p:spPr>
          <a:xfrm>
            <a:off x="647395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800"/>
              <a:buFont typeface="DM Sans"/>
              <a:buNone/>
            </a:pPr>
            <a:r>
              <a:rPr b="1" i="0" lang="en-US" sz="1800" u="none" cap="none" strike="noStrike">
                <a:solidFill>
                  <a:srgbClr val="C1440E"/>
                </a:solidFill>
                <a:latin typeface="DM Sans"/>
                <a:ea typeface="DM Sans"/>
                <a:cs typeface="DM Sans"/>
                <a:sym typeface="DM Sans"/>
              </a:rPr>
              <a:t>COMPOUNDING</a:t>
            </a:r>
            <a:endParaRPr b="0" i="0" sz="1800" u="none" cap="none" strike="noStrike">
              <a:solidFill>
                <a:schemeClr val="dk1"/>
              </a:solidFill>
              <a:latin typeface="Calibri"/>
              <a:ea typeface="Calibri"/>
              <a:cs typeface="Calibri"/>
              <a:sym typeface="Calibri"/>
            </a:endParaRPr>
          </a:p>
        </p:txBody>
      </p:sp>
      <p:sp>
        <p:nvSpPr>
          <p:cNvPr id="748" name="Google Shape;748;p35"/>
          <p:cNvSpPr/>
          <p:nvPr/>
        </p:nvSpPr>
        <p:spPr>
          <a:xfrm>
            <a:off x="647395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9" name="Google Shape;749;p35"/>
          <p:cNvSpPr/>
          <p:nvPr/>
        </p:nvSpPr>
        <p:spPr>
          <a:xfrm>
            <a:off x="647395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A strong current position still requires renewal.</a:t>
            </a:r>
            <a:endParaRPr b="0" i="0" sz="1200" u="none" cap="none" strike="noStrike">
              <a:solidFill>
                <a:schemeClr val="dk1"/>
              </a:solidFill>
              <a:latin typeface="Calibri"/>
              <a:ea typeface="Calibri"/>
              <a:cs typeface="Calibri"/>
              <a:sym typeface="Calibri"/>
            </a:endParaRPr>
          </a:p>
        </p:txBody>
      </p:sp>
      <p:sp>
        <p:nvSpPr>
          <p:cNvPr id="750" name="Google Shape;750;p35"/>
          <p:cNvSpPr/>
          <p:nvPr/>
        </p:nvSpPr>
        <p:spPr>
          <a:xfrm>
            <a:off x="647395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1" name="Google Shape;751;p35"/>
          <p:cNvSpPr/>
          <p:nvPr/>
        </p:nvSpPr>
        <p:spPr>
          <a:xfrm>
            <a:off x="647395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2" name="Google Shape;752;p35"/>
          <p:cNvSpPr/>
          <p:nvPr/>
        </p:nvSpPr>
        <p:spPr>
          <a:xfrm>
            <a:off x="65836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3" name="Google Shape;753;p35"/>
          <p:cNvSpPr/>
          <p:nvPr/>
        </p:nvSpPr>
        <p:spPr>
          <a:xfrm>
            <a:off x="89611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STAGNANT</a:t>
            </a:r>
            <a:endParaRPr b="0" i="0" sz="1800" u="none" cap="none" strike="noStrike">
              <a:solidFill>
                <a:schemeClr val="dk1"/>
              </a:solidFill>
              <a:latin typeface="Calibri"/>
              <a:ea typeface="Calibri"/>
              <a:cs typeface="Calibri"/>
              <a:sym typeface="Calibri"/>
            </a:endParaRPr>
          </a:p>
        </p:txBody>
      </p:sp>
      <p:sp>
        <p:nvSpPr>
          <p:cNvPr id="754" name="Google Shape;754;p35"/>
          <p:cNvSpPr/>
          <p:nvPr/>
        </p:nvSpPr>
        <p:spPr>
          <a:xfrm>
            <a:off x="89611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5" name="Google Shape;755;p35"/>
          <p:cNvSpPr/>
          <p:nvPr/>
        </p:nvSpPr>
        <p:spPr>
          <a:xfrm>
            <a:off x="89611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Neither axis is accruing.</a:t>
            </a:r>
            <a:endParaRPr b="0" i="0" sz="1200" u="none" cap="none" strike="noStrike">
              <a:solidFill>
                <a:schemeClr val="dk1"/>
              </a:solidFill>
              <a:latin typeface="Calibri"/>
              <a:ea typeface="Calibri"/>
              <a:cs typeface="Calibri"/>
              <a:sym typeface="Calibri"/>
            </a:endParaRPr>
          </a:p>
        </p:txBody>
      </p:sp>
      <p:sp>
        <p:nvSpPr>
          <p:cNvPr id="756" name="Google Shape;756;p35"/>
          <p:cNvSpPr/>
          <p:nvPr/>
        </p:nvSpPr>
        <p:spPr>
          <a:xfrm>
            <a:off x="89611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7" name="Google Shape;757;p35"/>
          <p:cNvSpPr/>
          <p:nvPr/>
        </p:nvSpPr>
        <p:spPr>
          <a:xfrm>
            <a:off x="89611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8" name="Google Shape;758;p35"/>
          <p:cNvSpPr/>
          <p:nvPr/>
        </p:nvSpPr>
        <p:spPr>
          <a:xfrm>
            <a:off x="623620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9" name="Google Shape;759;p35"/>
          <p:cNvSpPr/>
          <p:nvPr/>
        </p:nvSpPr>
        <p:spPr>
          <a:xfrm>
            <a:off x="647395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FRAGILE</a:t>
            </a:r>
            <a:endParaRPr b="0" i="0" sz="1800" u="none" cap="none" strike="noStrike">
              <a:solidFill>
                <a:schemeClr val="dk1"/>
              </a:solidFill>
              <a:latin typeface="Calibri"/>
              <a:ea typeface="Calibri"/>
              <a:cs typeface="Calibri"/>
              <a:sym typeface="Calibri"/>
            </a:endParaRPr>
          </a:p>
        </p:txBody>
      </p:sp>
      <p:sp>
        <p:nvSpPr>
          <p:cNvPr id="760" name="Google Shape;760;p35"/>
          <p:cNvSpPr/>
          <p:nvPr/>
        </p:nvSpPr>
        <p:spPr>
          <a:xfrm>
            <a:off x="647395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1" name="Google Shape;761;p35"/>
          <p:cNvSpPr/>
          <p:nvPr/>
        </p:nvSpPr>
        <p:spPr>
          <a:xfrm>
            <a:off x="647395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What travels today is no longer being renewed.</a:t>
            </a:r>
            <a:endParaRPr b="0" i="0" sz="1200" u="none" cap="none" strike="noStrike">
              <a:solidFill>
                <a:schemeClr val="dk1"/>
              </a:solidFill>
              <a:latin typeface="Calibri"/>
              <a:ea typeface="Calibri"/>
              <a:cs typeface="Calibri"/>
              <a:sym typeface="Calibri"/>
            </a:endParaRPr>
          </a:p>
        </p:txBody>
      </p:sp>
      <p:sp>
        <p:nvSpPr>
          <p:cNvPr id="762" name="Google Shape;762;p35"/>
          <p:cNvSpPr/>
          <p:nvPr/>
        </p:nvSpPr>
        <p:spPr>
          <a:xfrm>
            <a:off x="647395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3" name="Google Shape;763;p35"/>
          <p:cNvSpPr/>
          <p:nvPr/>
        </p:nvSpPr>
        <p:spPr>
          <a:xfrm>
            <a:off x="647395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64" name="Google Shape;764;p35"/>
          <p:cNvSpPr/>
          <p:nvPr/>
        </p:nvSpPr>
        <p:spPr>
          <a:xfrm>
            <a:off x="658368" y="574243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5" name="Google Shape;765;p35"/>
          <p:cNvSpPr/>
          <p:nvPr/>
        </p:nvSpPr>
        <p:spPr>
          <a:xfrm>
            <a:off x="658368" y="588873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short reference is in the workbook. The fuller treatment is in your Field Kit.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770" name="Shape 770"/>
        <p:cNvGrpSpPr/>
        <p:nvPr/>
      </p:nvGrpSpPr>
      <p:grpSpPr>
        <a:xfrm>
          <a:off x="0" y="0"/>
          <a:ext cx="0" cy="0"/>
          <a:chOff x="0" y="0"/>
          <a:chExt cx="0" cy="0"/>
        </a:xfrm>
      </p:grpSpPr>
      <p:sp>
        <p:nvSpPr>
          <p:cNvPr id="771" name="Google Shape;771;p3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72" name="Google Shape;772;p3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36</a:t>
            </a:r>
            <a:endParaRPr/>
          </a:p>
        </p:txBody>
      </p:sp>
      <p:sp>
        <p:nvSpPr>
          <p:cNvPr id="773" name="Google Shape;773;p3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COST</a:t>
            </a:r>
            <a:endParaRPr b="0" i="0" sz="1100" u="none" cap="none" strike="noStrike">
              <a:solidFill>
                <a:schemeClr val="dk1"/>
              </a:solidFill>
              <a:latin typeface="Calibri"/>
              <a:ea typeface="Calibri"/>
              <a:cs typeface="Calibri"/>
              <a:sym typeface="Calibri"/>
            </a:endParaRPr>
          </a:p>
        </p:txBody>
      </p:sp>
      <p:sp>
        <p:nvSpPr>
          <p:cNvPr id="774" name="Google Shape;774;p3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Write your own cost</a:t>
            </a:r>
            <a:endParaRPr b="0" i="0" sz="3800" u="none" cap="none" strike="noStrike">
              <a:solidFill>
                <a:schemeClr val="dk1"/>
              </a:solidFill>
              <a:latin typeface="Calibri"/>
              <a:ea typeface="Calibri"/>
              <a:cs typeface="Calibri"/>
              <a:sym typeface="Calibri"/>
            </a:endParaRPr>
          </a:p>
        </p:txBody>
      </p:sp>
      <p:sp>
        <p:nvSpPr>
          <p:cNvPr id="775" name="Google Shape;775;p3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One square. Four readings. Your words, not mine. Workbook page 20.</a:t>
            </a:r>
            <a:endParaRPr b="0" i="0" sz="1500" u="none" cap="none" strike="noStrike">
              <a:solidFill>
                <a:schemeClr val="dk1"/>
              </a:solidFill>
              <a:latin typeface="Calibri"/>
              <a:ea typeface="Calibri"/>
              <a:cs typeface="Calibri"/>
              <a:sym typeface="Calibri"/>
            </a:endParaRPr>
          </a:p>
        </p:txBody>
      </p:sp>
      <p:sp>
        <p:nvSpPr>
          <p:cNvPr id="776" name="Google Shape;776;p3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7" name="Google Shape;777;p36"/>
          <p:cNvSpPr/>
          <p:nvPr/>
        </p:nvSpPr>
        <p:spPr>
          <a:xfrm>
            <a:off x="658368" y="2029968"/>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immediate cost</a:t>
            </a:r>
            <a:endParaRPr b="0" i="0" sz="2100" u="none" cap="none" strike="noStrike">
              <a:solidFill>
                <a:schemeClr val="dk1"/>
              </a:solidFill>
              <a:latin typeface="Calibri"/>
              <a:ea typeface="Calibri"/>
              <a:cs typeface="Calibri"/>
              <a:sym typeface="Calibri"/>
            </a:endParaRPr>
          </a:p>
        </p:txBody>
      </p:sp>
      <p:sp>
        <p:nvSpPr>
          <p:cNvPr id="778" name="Google Shape;778;p36"/>
          <p:cNvSpPr/>
          <p:nvPr/>
        </p:nvSpPr>
        <p:spPr>
          <a:xfrm>
            <a:off x="658368" y="254203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9" name="Google Shape;779;p36"/>
          <p:cNvSpPr/>
          <p:nvPr/>
        </p:nvSpPr>
        <p:spPr>
          <a:xfrm>
            <a:off x="658368" y="2816352"/>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hidden cost</a:t>
            </a:r>
            <a:endParaRPr b="0" i="0" sz="2100" u="none" cap="none" strike="noStrike">
              <a:solidFill>
                <a:schemeClr val="dk1"/>
              </a:solidFill>
              <a:latin typeface="Calibri"/>
              <a:ea typeface="Calibri"/>
              <a:cs typeface="Calibri"/>
              <a:sym typeface="Calibri"/>
            </a:endParaRPr>
          </a:p>
        </p:txBody>
      </p:sp>
      <p:sp>
        <p:nvSpPr>
          <p:cNvPr id="780" name="Google Shape;780;p36"/>
          <p:cNvSpPr/>
          <p:nvPr/>
        </p:nvSpPr>
        <p:spPr>
          <a:xfrm>
            <a:off x="658368" y="332841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36"/>
          <p:cNvSpPr/>
          <p:nvPr/>
        </p:nvSpPr>
        <p:spPr>
          <a:xfrm>
            <a:off x="658368" y="3602736"/>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cost of waiting</a:t>
            </a:r>
            <a:endParaRPr b="0" i="0" sz="2100" u="none" cap="none" strike="noStrike">
              <a:solidFill>
                <a:schemeClr val="dk1"/>
              </a:solidFill>
              <a:latin typeface="Calibri"/>
              <a:ea typeface="Calibri"/>
              <a:cs typeface="Calibri"/>
              <a:sym typeface="Calibri"/>
            </a:endParaRPr>
          </a:p>
        </p:txBody>
      </p:sp>
      <p:sp>
        <p:nvSpPr>
          <p:cNvPr id="782" name="Google Shape;782;p36"/>
          <p:cNvSpPr/>
          <p:nvPr/>
        </p:nvSpPr>
        <p:spPr>
          <a:xfrm>
            <a:off x="658368" y="4114800"/>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3" name="Google Shape;783;p36"/>
          <p:cNvSpPr/>
          <p:nvPr/>
        </p:nvSpPr>
        <p:spPr>
          <a:xfrm>
            <a:off x="658368" y="4389120"/>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false reassurance that keeps me here</a:t>
            </a:r>
            <a:endParaRPr b="0" i="0" sz="2100" u="none" cap="none" strike="noStrike">
              <a:solidFill>
                <a:schemeClr val="dk1"/>
              </a:solidFill>
              <a:latin typeface="Calibri"/>
              <a:ea typeface="Calibri"/>
              <a:cs typeface="Calibri"/>
              <a:sym typeface="Calibri"/>
            </a:endParaRPr>
          </a:p>
        </p:txBody>
      </p:sp>
      <p:sp>
        <p:nvSpPr>
          <p:cNvPr id="784" name="Google Shape;784;p36"/>
          <p:cNvSpPr/>
          <p:nvPr/>
        </p:nvSpPr>
        <p:spPr>
          <a:xfrm>
            <a:off x="658368" y="490118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5" name="Google Shape;785;p3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6" name="Google Shape;786;p3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one more quarter in this state takes from me, in one line. Standing still becomes a condition you can evaluate deliberately.</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91" name="Shape 791"/>
        <p:cNvGrpSpPr/>
        <p:nvPr/>
      </p:nvGrpSpPr>
      <p:grpSpPr>
        <a:xfrm>
          <a:off x="0" y="0"/>
          <a:ext cx="0" cy="0"/>
          <a:chOff x="0" y="0"/>
          <a:chExt cx="0" cy="0"/>
        </a:xfrm>
      </p:grpSpPr>
      <p:sp>
        <p:nvSpPr>
          <p:cNvPr id="792" name="Google Shape;792;p3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93" name="Google Shape;793;p3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37</a:t>
            </a:r>
            <a:endParaRPr/>
          </a:p>
        </p:txBody>
      </p:sp>
      <p:sp>
        <p:nvSpPr>
          <p:cNvPr id="794" name="Google Shape;794;p3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MOVE CATEGORIES</a:t>
            </a:r>
            <a:endParaRPr b="0" i="0" sz="1100" u="none" cap="none" strike="noStrike">
              <a:solidFill>
                <a:schemeClr val="dk1"/>
              </a:solidFill>
              <a:latin typeface="Calibri"/>
              <a:ea typeface="Calibri"/>
              <a:cs typeface="Calibri"/>
              <a:sym typeface="Calibri"/>
            </a:endParaRPr>
          </a:p>
        </p:txBody>
      </p:sp>
      <p:sp>
        <p:nvSpPr>
          <p:cNvPr id="795" name="Google Shape;795;p3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Seven categories of move</a:t>
            </a:r>
            <a:endParaRPr b="0" i="0" sz="3800" u="none" cap="none" strike="noStrike">
              <a:solidFill>
                <a:schemeClr val="dk1"/>
              </a:solidFill>
              <a:latin typeface="Calibri"/>
              <a:ea typeface="Calibri"/>
              <a:cs typeface="Calibri"/>
              <a:sym typeface="Calibri"/>
            </a:endParaRPr>
          </a:p>
        </p:txBody>
      </p:sp>
      <p:sp>
        <p:nvSpPr>
          <p:cNvPr id="796" name="Google Shape;796;p3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Direction, not a plan. Your evidence helps you choose which category to test. Workbook page 21.</a:t>
            </a:r>
            <a:endParaRPr b="0" i="0" sz="1500" u="none" cap="none" strike="noStrike">
              <a:solidFill>
                <a:schemeClr val="dk1"/>
              </a:solidFill>
              <a:latin typeface="Calibri"/>
              <a:ea typeface="Calibri"/>
              <a:cs typeface="Calibri"/>
              <a:sym typeface="Calibri"/>
            </a:endParaRPr>
          </a:p>
        </p:txBody>
      </p:sp>
      <p:sp>
        <p:nvSpPr>
          <p:cNvPr id="797" name="Google Shape;797;p3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8" name="Google Shape;798;p37"/>
          <p:cNvSpPr/>
          <p:nvPr/>
        </p:nvSpPr>
        <p:spPr>
          <a:xfrm>
            <a:off x="658368" y="1993392"/>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Remain and deepen</a:t>
            </a:r>
            <a:endParaRPr b="0" i="0" sz="2000" u="none" cap="none" strike="noStrike">
              <a:solidFill>
                <a:schemeClr val="dk1"/>
              </a:solidFill>
              <a:latin typeface="Calibri"/>
              <a:ea typeface="Calibri"/>
              <a:cs typeface="Calibri"/>
              <a:sym typeface="Calibri"/>
            </a:endParaRPr>
          </a:p>
        </p:txBody>
      </p:sp>
      <p:sp>
        <p:nvSpPr>
          <p:cNvPr id="799" name="Google Shape;799;p37"/>
          <p:cNvSpPr/>
          <p:nvPr/>
        </p:nvSpPr>
        <p:spPr>
          <a:xfrm>
            <a:off x="658368" y="2359152"/>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formation conditions are real and worth protecting.</a:t>
            </a:r>
            <a:endParaRPr b="0" i="0" sz="1600" u="none" cap="none" strike="noStrike">
              <a:solidFill>
                <a:schemeClr val="dk1"/>
              </a:solidFill>
              <a:latin typeface="Calibri"/>
              <a:ea typeface="Calibri"/>
              <a:cs typeface="Calibri"/>
              <a:sym typeface="Calibri"/>
            </a:endParaRPr>
          </a:p>
        </p:txBody>
      </p:sp>
      <p:sp>
        <p:nvSpPr>
          <p:cNvPr id="800" name="Google Shape;800;p37"/>
          <p:cNvSpPr/>
          <p:nvPr/>
        </p:nvSpPr>
        <p:spPr>
          <a:xfrm>
            <a:off x="658368" y="2926080"/>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Translate what is built</a:t>
            </a:r>
            <a:endParaRPr b="0" i="0" sz="2000" u="none" cap="none" strike="noStrike">
              <a:solidFill>
                <a:schemeClr val="dk1"/>
              </a:solidFill>
              <a:latin typeface="Calibri"/>
              <a:ea typeface="Calibri"/>
              <a:cs typeface="Calibri"/>
              <a:sym typeface="Calibri"/>
            </a:endParaRPr>
          </a:p>
        </p:txBody>
      </p:sp>
      <p:sp>
        <p:nvSpPr>
          <p:cNvPr id="801" name="Google Shape;801;p37"/>
          <p:cNvSpPr/>
          <p:nvPr/>
        </p:nvSpPr>
        <p:spPr>
          <a:xfrm>
            <a:off x="658368" y="3291840"/>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capability exists. The language for it does not.</a:t>
            </a:r>
            <a:endParaRPr b="0" i="0" sz="1600" u="none" cap="none" strike="noStrike">
              <a:solidFill>
                <a:schemeClr val="dk1"/>
              </a:solidFill>
              <a:latin typeface="Calibri"/>
              <a:ea typeface="Calibri"/>
              <a:cs typeface="Calibri"/>
              <a:sym typeface="Calibri"/>
            </a:endParaRPr>
          </a:p>
        </p:txBody>
      </p:sp>
      <p:sp>
        <p:nvSpPr>
          <p:cNvPr id="802" name="Google Shape;802;p37"/>
          <p:cNvSpPr/>
          <p:nvPr/>
        </p:nvSpPr>
        <p:spPr>
          <a:xfrm>
            <a:off x="658368" y="3858768"/>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Widen exposure</a:t>
            </a:r>
            <a:endParaRPr b="0" i="0" sz="2000" u="none" cap="none" strike="noStrike">
              <a:solidFill>
                <a:schemeClr val="dk1"/>
              </a:solidFill>
              <a:latin typeface="Calibri"/>
              <a:ea typeface="Calibri"/>
              <a:cs typeface="Calibri"/>
              <a:sym typeface="Calibri"/>
            </a:endParaRPr>
          </a:p>
        </p:txBody>
      </p:sp>
      <p:sp>
        <p:nvSpPr>
          <p:cNvPr id="803" name="Google Shape;803;p37"/>
          <p:cNvSpPr/>
          <p:nvPr/>
        </p:nvSpPr>
        <p:spPr>
          <a:xfrm>
            <a:off x="658368" y="4224528"/>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is good and the wrong people have seen it.</a:t>
            </a:r>
            <a:endParaRPr b="0" i="0" sz="1600" u="none" cap="none" strike="noStrike">
              <a:solidFill>
                <a:schemeClr val="dk1"/>
              </a:solidFill>
              <a:latin typeface="Calibri"/>
              <a:ea typeface="Calibri"/>
              <a:cs typeface="Calibri"/>
              <a:sym typeface="Calibri"/>
            </a:endParaRPr>
          </a:p>
        </p:txBody>
      </p:sp>
      <p:sp>
        <p:nvSpPr>
          <p:cNvPr id="804" name="Google Shape;804;p37"/>
          <p:cNvSpPr/>
          <p:nvPr/>
        </p:nvSpPr>
        <p:spPr>
          <a:xfrm>
            <a:off x="658368" y="4791456"/>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Test portability</a:t>
            </a:r>
            <a:endParaRPr b="0" i="0" sz="2000" u="none" cap="none" strike="noStrike">
              <a:solidFill>
                <a:schemeClr val="dk1"/>
              </a:solidFill>
              <a:latin typeface="Calibri"/>
              <a:ea typeface="Calibri"/>
              <a:cs typeface="Calibri"/>
              <a:sym typeface="Calibri"/>
            </a:endParaRPr>
          </a:p>
        </p:txBody>
      </p:sp>
      <p:sp>
        <p:nvSpPr>
          <p:cNvPr id="805" name="Google Shape;805;p37"/>
          <p:cNvSpPr/>
          <p:nvPr/>
        </p:nvSpPr>
        <p:spPr>
          <a:xfrm>
            <a:off x="658368" y="5157216"/>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Find out what travels before you need it to.</a:t>
            </a:r>
            <a:endParaRPr b="0" i="0" sz="1600" u="none" cap="none" strike="noStrike">
              <a:solidFill>
                <a:schemeClr val="dk1"/>
              </a:solidFill>
              <a:latin typeface="Calibri"/>
              <a:ea typeface="Calibri"/>
              <a:cs typeface="Calibri"/>
              <a:sym typeface="Calibri"/>
            </a:endParaRPr>
          </a:p>
        </p:txBody>
      </p:sp>
      <p:sp>
        <p:nvSpPr>
          <p:cNvPr id="806" name="Google Shape;806;p37"/>
          <p:cNvSpPr/>
          <p:nvPr/>
        </p:nvSpPr>
        <p:spPr>
          <a:xfrm>
            <a:off x="6236208" y="1993392"/>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Repair formation conditions</a:t>
            </a:r>
            <a:endParaRPr b="0" i="0" sz="2000" u="none" cap="none" strike="noStrike">
              <a:solidFill>
                <a:schemeClr val="dk1"/>
              </a:solidFill>
              <a:latin typeface="Calibri"/>
              <a:ea typeface="Calibri"/>
              <a:cs typeface="Calibri"/>
              <a:sym typeface="Calibri"/>
            </a:endParaRPr>
          </a:p>
        </p:txBody>
      </p:sp>
      <p:sp>
        <p:nvSpPr>
          <p:cNvPr id="807" name="Google Shape;807;p37"/>
          <p:cNvSpPr/>
          <p:nvPr/>
        </p:nvSpPr>
        <p:spPr>
          <a:xfrm>
            <a:off x="6236208" y="2359152"/>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Change the work, not the employer, first.</a:t>
            </a:r>
            <a:endParaRPr b="0" i="0" sz="1600" u="none" cap="none" strike="noStrike">
              <a:solidFill>
                <a:schemeClr val="dk1"/>
              </a:solidFill>
              <a:latin typeface="Calibri"/>
              <a:ea typeface="Calibri"/>
              <a:cs typeface="Calibri"/>
              <a:sym typeface="Calibri"/>
            </a:endParaRPr>
          </a:p>
        </p:txBody>
      </p:sp>
      <p:sp>
        <p:nvSpPr>
          <p:cNvPr id="808" name="Google Shape;808;p37"/>
          <p:cNvSpPr/>
          <p:nvPr/>
        </p:nvSpPr>
        <p:spPr>
          <a:xfrm>
            <a:off x="6236208" y="2926080"/>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Prepare for exit</a:t>
            </a:r>
            <a:endParaRPr b="0" i="0" sz="2000" u="none" cap="none" strike="noStrike">
              <a:solidFill>
                <a:schemeClr val="dk1"/>
              </a:solidFill>
              <a:latin typeface="Calibri"/>
              <a:ea typeface="Calibri"/>
              <a:cs typeface="Calibri"/>
              <a:sym typeface="Calibri"/>
            </a:endParaRPr>
          </a:p>
        </p:txBody>
      </p:sp>
      <p:sp>
        <p:nvSpPr>
          <p:cNvPr id="809" name="Google Shape;809;p37"/>
          <p:cNvSpPr/>
          <p:nvPr/>
        </p:nvSpPr>
        <p:spPr>
          <a:xfrm>
            <a:off x="6236208" y="3291840"/>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Your evidence gives you reason to prepare in case the conditions do not repair.</a:t>
            </a:r>
            <a:endParaRPr b="0" i="0" sz="1600" u="none" cap="none" strike="noStrike">
              <a:solidFill>
                <a:schemeClr val="dk1"/>
              </a:solidFill>
              <a:latin typeface="Calibri"/>
              <a:ea typeface="Calibri"/>
              <a:cs typeface="Calibri"/>
              <a:sym typeface="Calibri"/>
            </a:endParaRPr>
          </a:p>
        </p:txBody>
      </p:sp>
      <p:sp>
        <p:nvSpPr>
          <p:cNvPr id="810" name="Google Shape;810;p37"/>
          <p:cNvSpPr/>
          <p:nvPr/>
        </p:nvSpPr>
        <p:spPr>
          <a:xfrm>
            <a:off x="6236208" y="3858768"/>
            <a:ext cx="529437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Seek an external perspective</a:t>
            </a:r>
            <a:endParaRPr b="0" i="0" sz="2000" u="none" cap="none" strike="noStrike">
              <a:solidFill>
                <a:schemeClr val="dk1"/>
              </a:solidFill>
              <a:latin typeface="Calibri"/>
              <a:ea typeface="Calibri"/>
              <a:cs typeface="Calibri"/>
              <a:sym typeface="Calibri"/>
            </a:endParaRPr>
          </a:p>
        </p:txBody>
      </p:sp>
      <p:sp>
        <p:nvSpPr>
          <p:cNvPr id="811" name="Google Shape;811;p37"/>
          <p:cNvSpPr/>
          <p:nvPr/>
        </p:nvSpPr>
        <p:spPr>
          <a:xfrm>
            <a:off x="6236208" y="4224528"/>
            <a:ext cx="529437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High stakes, incomplete evidence, or a boundary position.</a:t>
            </a:r>
            <a:endParaRPr b="0" i="0" sz="1600" u="none" cap="none" strike="noStrike">
              <a:solidFill>
                <a:schemeClr val="dk1"/>
              </a:solidFill>
              <a:latin typeface="Calibri"/>
              <a:ea typeface="Calibri"/>
              <a:cs typeface="Calibri"/>
              <a:sym typeface="Calibri"/>
            </a:endParaRPr>
          </a:p>
        </p:txBody>
      </p:sp>
      <p:sp>
        <p:nvSpPr>
          <p:cNvPr id="812" name="Google Shape;812;p37"/>
          <p:cNvSpPr/>
          <p:nvPr/>
        </p:nvSpPr>
        <p:spPr>
          <a:xfrm>
            <a:off x="658368" y="577900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3" name="Google Shape;813;p37"/>
          <p:cNvSpPr/>
          <p:nvPr/>
        </p:nvSpPr>
        <p:spPr>
          <a:xfrm>
            <a:off x="658368" y="592531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No square prescribes a category. Your evidence and constraints still apply.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818" name="Shape 818"/>
        <p:cNvGrpSpPr/>
        <p:nvPr/>
      </p:nvGrpSpPr>
      <p:grpSpPr>
        <a:xfrm>
          <a:off x="0" y="0"/>
          <a:ext cx="0" cy="0"/>
          <a:chOff x="0" y="0"/>
          <a:chExt cx="0" cy="0"/>
        </a:xfrm>
      </p:grpSpPr>
      <p:sp>
        <p:nvSpPr>
          <p:cNvPr id="819" name="Google Shape;819;p3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20" name="Google Shape;820;p3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38</a:t>
            </a:r>
            <a:endParaRPr/>
          </a:p>
        </p:txBody>
      </p:sp>
      <p:sp>
        <p:nvSpPr>
          <p:cNvPr id="821" name="Google Shape;821;p3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ARTIFACT</a:t>
            </a:r>
            <a:endParaRPr b="0" i="0" sz="1100" u="none" cap="none" strike="noStrike">
              <a:solidFill>
                <a:schemeClr val="dk1"/>
              </a:solidFill>
              <a:latin typeface="Calibri"/>
              <a:ea typeface="Calibri"/>
              <a:cs typeface="Calibri"/>
              <a:sym typeface="Calibri"/>
            </a:endParaRPr>
          </a:p>
        </p:txBody>
      </p:sp>
      <p:sp>
        <p:nvSpPr>
          <p:cNvPr id="822" name="Google Shape;822;p3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Next-Move Decision</a:t>
            </a:r>
            <a:endParaRPr b="0" i="0" sz="3800" u="none" cap="none" strike="noStrike">
              <a:solidFill>
                <a:schemeClr val="dk1"/>
              </a:solidFill>
              <a:latin typeface="Calibri"/>
              <a:ea typeface="Calibri"/>
              <a:cs typeface="Calibri"/>
              <a:sym typeface="Calibri"/>
            </a:endParaRPr>
          </a:p>
        </p:txBody>
      </p:sp>
      <p:sp>
        <p:nvSpPr>
          <p:cNvPr id="823" name="Google Shape;823;p3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Ten lines on workbook page 22. These five carry the weight.</a:t>
            </a:r>
            <a:endParaRPr b="0" i="0" sz="1500" u="none" cap="none" strike="noStrike">
              <a:solidFill>
                <a:schemeClr val="dk1"/>
              </a:solidFill>
              <a:latin typeface="Calibri"/>
              <a:ea typeface="Calibri"/>
              <a:cs typeface="Calibri"/>
              <a:sym typeface="Calibri"/>
            </a:endParaRPr>
          </a:p>
        </p:txBody>
      </p:sp>
      <p:sp>
        <p:nvSpPr>
          <p:cNvPr id="824" name="Google Shape;824;p3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5" name="Google Shape;825;p38"/>
          <p:cNvSpPr/>
          <p:nvPr/>
        </p:nvSpPr>
        <p:spPr>
          <a:xfrm>
            <a:off x="658368" y="2029968"/>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06</a:t>
            </a:r>
            <a:endParaRPr b="0" i="0" sz="2600" u="none" cap="none" strike="noStrike">
              <a:solidFill>
                <a:schemeClr val="dk1"/>
              </a:solidFill>
              <a:latin typeface="Calibri"/>
              <a:ea typeface="Calibri"/>
              <a:cs typeface="Calibri"/>
              <a:sym typeface="Calibri"/>
            </a:endParaRPr>
          </a:p>
        </p:txBody>
      </p:sp>
      <p:sp>
        <p:nvSpPr>
          <p:cNvPr id="826" name="Google Shape;826;p38"/>
          <p:cNvSpPr/>
          <p:nvPr/>
        </p:nvSpPr>
        <p:spPr>
          <a:xfrm>
            <a:off x="1426464" y="2029968"/>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27" name="Google Shape;827;p38"/>
          <p:cNvSpPr/>
          <p:nvPr/>
        </p:nvSpPr>
        <p:spPr>
          <a:xfrm>
            <a:off x="1426464" y="2578608"/>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8" name="Google Shape;828;p38"/>
          <p:cNvSpPr/>
          <p:nvPr/>
        </p:nvSpPr>
        <p:spPr>
          <a:xfrm>
            <a:off x="658368" y="2779776"/>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07</a:t>
            </a:r>
            <a:endParaRPr b="0" i="0" sz="2600" u="none" cap="none" strike="noStrike">
              <a:solidFill>
                <a:schemeClr val="dk1"/>
              </a:solidFill>
              <a:latin typeface="Calibri"/>
              <a:ea typeface="Calibri"/>
              <a:cs typeface="Calibri"/>
              <a:sym typeface="Calibri"/>
            </a:endParaRPr>
          </a:p>
        </p:txBody>
      </p:sp>
      <p:sp>
        <p:nvSpPr>
          <p:cNvPr id="829" name="Google Shape;829;p38"/>
          <p:cNvSpPr/>
          <p:nvPr/>
        </p:nvSpPr>
        <p:spPr>
          <a:xfrm>
            <a:off x="1426464" y="2779776"/>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30" name="Google Shape;830;p38"/>
          <p:cNvSpPr/>
          <p:nvPr/>
        </p:nvSpPr>
        <p:spPr>
          <a:xfrm>
            <a:off x="1426464" y="3328416"/>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p38"/>
          <p:cNvSpPr/>
          <p:nvPr/>
        </p:nvSpPr>
        <p:spPr>
          <a:xfrm>
            <a:off x="658368" y="3529584"/>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08</a:t>
            </a:r>
            <a:endParaRPr b="0" i="0" sz="2600" u="none" cap="none" strike="noStrike">
              <a:solidFill>
                <a:schemeClr val="dk1"/>
              </a:solidFill>
              <a:latin typeface="Calibri"/>
              <a:ea typeface="Calibri"/>
              <a:cs typeface="Calibri"/>
              <a:sym typeface="Calibri"/>
            </a:endParaRPr>
          </a:p>
        </p:txBody>
      </p:sp>
      <p:sp>
        <p:nvSpPr>
          <p:cNvPr id="832" name="Google Shape;832;p38"/>
          <p:cNvSpPr/>
          <p:nvPr/>
        </p:nvSpPr>
        <p:spPr>
          <a:xfrm>
            <a:off x="1426464" y="3529584"/>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33" name="Google Shape;833;p38"/>
          <p:cNvSpPr/>
          <p:nvPr/>
        </p:nvSpPr>
        <p:spPr>
          <a:xfrm>
            <a:off x="1426464" y="4078224"/>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4" name="Google Shape;834;p38"/>
          <p:cNvSpPr/>
          <p:nvPr/>
        </p:nvSpPr>
        <p:spPr>
          <a:xfrm>
            <a:off x="658368" y="4279392"/>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09</a:t>
            </a:r>
            <a:endParaRPr b="0" i="0" sz="2600" u="none" cap="none" strike="noStrike">
              <a:solidFill>
                <a:schemeClr val="dk1"/>
              </a:solidFill>
              <a:latin typeface="Calibri"/>
              <a:ea typeface="Calibri"/>
              <a:cs typeface="Calibri"/>
              <a:sym typeface="Calibri"/>
            </a:endParaRPr>
          </a:p>
        </p:txBody>
      </p:sp>
      <p:sp>
        <p:nvSpPr>
          <p:cNvPr id="835" name="Google Shape;835;p38"/>
          <p:cNvSpPr/>
          <p:nvPr/>
        </p:nvSpPr>
        <p:spPr>
          <a:xfrm>
            <a:off x="1426464" y="4279392"/>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evidence that would cause me to revise this decision is…</a:t>
            </a:r>
            <a:endParaRPr b="0" i="0" sz="2200" u="none" cap="none" strike="noStrike">
              <a:solidFill>
                <a:schemeClr val="dk1"/>
              </a:solidFill>
              <a:latin typeface="Calibri"/>
              <a:ea typeface="Calibri"/>
              <a:cs typeface="Calibri"/>
              <a:sym typeface="Calibri"/>
            </a:endParaRPr>
          </a:p>
        </p:txBody>
      </p:sp>
      <p:sp>
        <p:nvSpPr>
          <p:cNvPr id="836" name="Google Shape;836;p38"/>
          <p:cNvSpPr/>
          <p:nvPr/>
        </p:nvSpPr>
        <p:spPr>
          <a:xfrm>
            <a:off x="1426464" y="4828032"/>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7" name="Google Shape;837;p38"/>
          <p:cNvSpPr/>
          <p:nvPr/>
        </p:nvSpPr>
        <p:spPr>
          <a:xfrm>
            <a:off x="658368" y="5029200"/>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10</a:t>
            </a:r>
            <a:endParaRPr b="0" i="0" sz="2600" u="none" cap="none" strike="noStrike">
              <a:solidFill>
                <a:schemeClr val="dk1"/>
              </a:solidFill>
              <a:latin typeface="Calibri"/>
              <a:ea typeface="Calibri"/>
              <a:cs typeface="Calibri"/>
              <a:sym typeface="Calibri"/>
            </a:endParaRPr>
          </a:p>
        </p:txBody>
      </p:sp>
      <p:sp>
        <p:nvSpPr>
          <p:cNvPr id="838" name="Google Shape;838;p38"/>
          <p:cNvSpPr/>
          <p:nvPr/>
        </p:nvSpPr>
        <p:spPr>
          <a:xfrm>
            <a:off x="1426464" y="5029200"/>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date I will rescore is…</a:t>
            </a:r>
            <a:endParaRPr b="0" i="0" sz="2200" u="none" cap="none" strike="noStrike">
              <a:solidFill>
                <a:schemeClr val="dk1"/>
              </a:solidFill>
              <a:latin typeface="Calibri"/>
              <a:ea typeface="Calibri"/>
              <a:cs typeface="Calibri"/>
              <a:sym typeface="Calibri"/>
            </a:endParaRPr>
          </a:p>
        </p:txBody>
      </p:sp>
      <p:sp>
        <p:nvSpPr>
          <p:cNvPr id="839" name="Google Shape;839;p38"/>
          <p:cNvSpPr/>
          <p:nvPr/>
        </p:nvSpPr>
        <p:spPr>
          <a:xfrm>
            <a:off x="1426464" y="5577840"/>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0" name="Google Shape;840;p38"/>
          <p:cNvSpPr/>
          <p:nvPr/>
        </p:nvSpPr>
        <p:spPr>
          <a:xfrm>
            <a:off x="658368" y="57607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1" name="Google Shape;841;p38"/>
          <p:cNvSpPr/>
          <p:nvPr/>
        </p:nvSpPr>
        <p:spPr>
          <a:xfrm>
            <a:off x="658368" y="590702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Lines 01 to 05 are in the workbook on page 22.</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6" name="Shape 846"/>
        <p:cNvGrpSpPr/>
        <p:nvPr/>
      </p:nvGrpSpPr>
      <p:grpSpPr>
        <a:xfrm>
          <a:off x="0" y="0"/>
          <a:ext cx="0" cy="0"/>
          <a:chOff x="0" y="0"/>
          <a:chExt cx="0" cy="0"/>
        </a:xfrm>
      </p:grpSpPr>
      <p:sp>
        <p:nvSpPr>
          <p:cNvPr id="847" name="Google Shape;847;p3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48" name="Google Shape;848;p3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39</a:t>
            </a:r>
            <a:endParaRPr/>
          </a:p>
        </p:txBody>
      </p:sp>
      <p:sp>
        <p:nvSpPr>
          <p:cNvPr id="849" name="Google Shape;849;p39"/>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EIGHT MINUTES, SILENT</a:t>
            </a:r>
            <a:endParaRPr b="0" i="0" sz="1500" u="none" cap="none" strike="noStrike">
              <a:solidFill>
                <a:schemeClr val="dk1"/>
              </a:solidFill>
              <a:latin typeface="Calibri"/>
              <a:ea typeface="Calibri"/>
              <a:cs typeface="Calibri"/>
              <a:sym typeface="Calibri"/>
            </a:endParaRPr>
          </a:p>
        </p:txBody>
      </p:sp>
      <p:sp>
        <p:nvSpPr>
          <p:cNvPr id="850" name="Google Shape;850;p39"/>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Working session</a:t>
            </a:r>
            <a:endParaRPr b="0" i="0" sz="6000" u="none" cap="none" strike="noStrike">
              <a:solidFill>
                <a:schemeClr val="dk1"/>
              </a:solidFill>
              <a:latin typeface="Calibri"/>
              <a:ea typeface="Calibri"/>
              <a:cs typeface="Calibri"/>
              <a:sym typeface="Calibri"/>
            </a:endParaRPr>
          </a:p>
        </p:txBody>
      </p:sp>
      <p:sp>
        <p:nvSpPr>
          <p:cNvPr id="851" name="Google Shape;851;p39"/>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Nobody talks, including me. Step away from the screen if that helps. You get a two-minute warning.</a:t>
            </a:r>
            <a:endParaRPr b="0" i="0" sz="2000" u="none" cap="none" strike="noStrike">
              <a:solidFill>
                <a:schemeClr val="dk1"/>
              </a:solidFill>
              <a:latin typeface="Calibri"/>
              <a:ea typeface="Calibri"/>
              <a:cs typeface="Calibri"/>
              <a:sym typeface="Calibri"/>
            </a:endParaRPr>
          </a:p>
        </p:txBody>
      </p:sp>
      <p:sp>
        <p:nvSpPr>
          <p:cNvPr id="852" name="Google Shape;852;p39"/>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p39"/>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4" name="Google Shape;854;p39"/>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p39"/>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60" name="Shape 860"/>
        <p:cNvGrpSpPr/>
        <p:nvPr/>
      </p:nvGrpSpPr>
      <p:grpSpPr>
        <a:xfrm>
          <a:off x="0" y="0"/>
          <a:ext cx="0" cy="0"/>
          <a:chOff x="0" y="0"/>
          <a:chExt cx="0" cy="0"/>
        </a:xfrm>
      </p:grpSpPr>
      <p:sp>
        <p:nvSpPr>
          <p:cNvPr id="861" name="Google Shape;861;p4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62" name="Google Shape;862;p4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40</a:t>
            </a:r>
            <a:endParaRPr/>
          </a:p>
        </p:txBody>
      </p:sp>
      <p:sp>
        <p:nvSpPr>
          <p:cNvPr id="863" name="Google Shape;863;p4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VOLUNTARY READS</a:t>
            </a:r>
            <a:endParaRPr b="0" i="0" sz="1100" u="none" cap="none" strike="noStrike">
              <a:solidFill>
                <a:schemeClr val="dk1"/>
              </a:solidFill>
              <a:latin typeface="Calibri"/>
              <a:ea typeface="Calibri"/>
              <a:cs typeface="Calibri"/>
              <a:sym typeface="Calibri"/>
            </a:endParaRPr>
          </a:p>
        </p:txBody>
      </p:sp>
      <p:sp>
        <p:nvSpPr>
          <p:cNvPr id="864" name="Google Shape;864;p4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Up to two of you, out loud</a:t>
            </a:r>
            <a:endParaRPr b="0" i="0" sz="3800" u="none" cap="none" strike="noStrike">
              <a:solidFill>
                <a:schemeClr val="dk1"/>
              </a:solidFill>
              <a:latin typeface="Calibri"/>
              <a:ea typeface="Calibri"/>
              <a:cs typeface="Calibri"/>
              <a:sym typeface="Calibri"/>
            </a:endParaRPr>
          </a:p>
        </p:txBody>
      </p:sp>
      <p:sp>
        <p:nvSpPr>
          <p:cNvPr id="865" name="Google Shape;865;p4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Lines 6, 7 and 8 only. No scores, no employer names, no third-party names.</a:t>
            </a:r>
            <a:endParaRPr b="0" i="0" sz="1500" u="none" cap="none" strike="noStrike">
              <a:solidFill>
                <a:schemeClr val="dk1"/>
              </a:solidFill>
              <a:latin typeface="Calibri"/>
              <a:ea typeface="Calibri"/>
              <a:cs typeface="Calibri"/>
              <a:sym typeface="Calibri"/>
            </a:endParaRPr>
          </a:p>
        </p:txBody>
      </p:sp>
      <p:sp>
        <p:nvSpPr>
          <p:cNvPr id="866" name="Google Shape;866;p4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7" name="Google Shape;867;p40"/>
          <p:cNvSpPr/>
          <p:nvPr/>
        </p:nvSpPr>
        <p:spPr>
          <a:xfrm>
            <a:off x="658368" y="21031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68" name="Google Shape;868;p40"/>
          <p:cNvSpPr/>
          <p:nvPr/>
        </p:nvSpPr>
        <p:spPr>
          <a:xfrm>
            <a:off x="658368" y="27066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9" name="Google Shape;869;p40"/>
          <p:cNvSpPr/>
          <p:nvPr/>
        </p:nvSpPr>
        <p:spPr>
          <a:xfrm>
            <a:off x="658368" y="30175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70" name="Google Shape;870;p40"/>
          <p:cNvSpPr/>
          <p:nvPr/>
        </p:nvSpPr>
        <p:spPr>
          <a:xfrm>
            <a:off x="658368" y="36210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1" name="Google Shape;871;p40"/>
          <p:cNvSpPr/>
          <p:nvPr/>
        </p:nvSpPr>
        <p:spPr>
          <a:xfrm>
            <a:off x="658368" y="39319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72" name="Google Shape;872;p40"/>
          <p:cNvSpPr/>
          <p:nvPr/>
        </p:nvSpPr>
        <p:spPr>
          <a:xfrm>
            <a:off x="658368" y="45354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3" name="Google Shape;873;p40"/>
          <p:cNvSpPr/>
          <p:nvPr/>
        </p:nvSpPr>
        <p:spPr>
          <a:xfrm>
            <a:off x="658368" y="4718304"/>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You are reading a decision, not asking for approval of it.</a:t>
            </a:r>
            <a:endParaRPr b="0" i="0" sz="2000" u="none" cap="none" strike="noStrike">
              <a:solidFill>
                <a:schemeClr val="dk1"/>
              </a:solidFill>
              <a:latin typeface="Calibri"/>
              <a:ea typeface="Calibri"/>
              <a:cs typeface="Calibri"/>
              <a:sym typeface="Calibri"/>
            </a:endParaRPr>
          </a:p>
        </p:txBody>
      </p:sp>
      <p:sp>
        <p:nvSpPr>
          <p:cNvPr id="874" name="Google Shape;874;p40"/>
          <p:cNvSpPr/>
          <p:nvPr/>
        </p:nvSpPr>
        <p:spPr>
          <a:xfrm>
            <a:off x="658368" y="5193792"/>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875" name="Google Shape;875;p40"/>
          <p:cNvSpPr/>
          <p:nvPr/>
        </p:nvSpPr>
        <p:spPr>
          <a:xfrm>
            <a:off x="658368" y="572414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6" name="Google Shape;876;p40"/>
          <p:cNvSpPr/>
          <p:nvPr/>
        </p:nvSpPr>
        <p:spPr>
          <a:xfrm>
            <a:off x="658368" y="587044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Hearing others can help you test whether yours is specific enough.</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81" name="Shape 881"/>
        <p:cNvGrpSpPr/>
        <p:nvPr/>
      </p:nvGrpSpPr>
      <p:grpSpPr>
        <a:xfrm>
          <a:off x="0" y="0"/>
          <a:ext cx="0" cy="0"/>
          <a:chOff x="0" y="0"/>
          <a:chExt cx="0" cy="0"/>
        </a:xfrm>
      </p:grpSpPr>
      <p:sp>
        <p:nvSpPr>
          <p:cNvPr id="882" name="Google Shape;882;p4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83" name="Google Shape;883;p4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41</a:t>
            </a:r>
            <a:endParaRPr/>
          </a:p>
        </p:txBody>
      </p:sp>
      <p:sp>
        <p:nvSpPr>
          <p:cNvPr id="884" name="Google Shape;884;p4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CLOSE</a:t>
            </a:r>
            <a:endParaRPr b="0" i="0" sz="1100" u="none" cap="none" strike="noStrike">
              <a:solidFill>
                <a:schemeClr val="dk1"/>
              </a:solidFill>
              <a:latin typeface="Calibri"/>
              <a:ea typeface="Calibri"/>
              <a:cs typeface="Calibri"/>
              <a:sym typeface="Calibri"/>
            </a:endParaRPr>
          </a:p>
        </p:txBody>
      </p:sp>
      <p:sp>
        <p:nvSpPr>
          <p:cNvPr id="885" name="Google Shape;885;p4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Where you go from here</a:t>
            </a:r>
            <a:endParaRPr b="0" i="0" sz="3800" u="none" cap="none" strike="noStrike">
              <a:solidFill>
                <a:schemeClr val="dk1"/>
              </a:solidFill>
              <a:latin typeface="Calibri"/>
              <a:ea typeface="Calibri"/>
              <a:cs typeface="Calibri"/>
              <a:sym typeface="Calibri"/>
            </a:endParaRPr>
          </a:p>
        </p:txBody>
      </p:sp>
      <p:sp>
        <p:nvSpPr>
          <p:cNvPr id="886" name="Google Shape;886;p4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Three things. Everything here is already yours.</a:t>
            </a:r>
            <a:endParaRPr b="0" i="0" sz="1500" u="none" cap="none" strike="noStrike">
              <a:solidFill>
                <a:schemeClr val="dk1"/>
              </a:solidFill>
              <a:latin typeface="Calibri"/>
              <a:ea typeface="Calibri"/>
              <a:cs typeface="Calibri"/>
              <a:sym typeface="Calibri"/>
            </a:endParaRPr>
          </a:p>
        </p:txBody>
      </p:sp>
      <p:sp>
        <p:nvSpPr>
          <p:cNvPr id="887" name="Google Shape;887;p4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8" name="Google Shape;888;p41"/>
          <p:cNvSpPr/>
          <p:nvPr/>
        </p:nvSpPr>
        <p:spPr>
          <a:xfrm>
            <a:off x="658368" y="1938528"/>
            <a:ext cx="10872216"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Your Field Kit</a:t>
            </a:r>
            <a:endParaRPr b="0" i="0" sz="2100" u="none" cap="none" strike="noStrike">
              <a:solidFill>
                <a:schemeClr val="dk1"/>
              </a:solidFill>
              <a:latin typeface="Calibri"/>
              <a:ea typeface="Calibri"/>
              <a:cs typeface="Calibri"/>
              <a:sym typeface="Calibri"/>
            </a:endParaRPr>
          </a:p>
        </p:txBody>
      </p:sp>
      <p:sp>
        <p:nvSpPr>
          <p:cNvPr id="889" name="Google Shape;889;p41"/>
          <p:cNvSpPr/>
          <p:nvPr/>
        </p:nvSpPr>
        <p:spPr>
          <a:xfrm>
            <a:off x="658368" y="23408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Yours now, unlocked today. Section 5 helps you work out what your state is costing you. Section 7 is your rescore.</a:t>
            </a:r>
            <a:endParaRPr b="0" i="0" sz="1600" u="none" cap="none" strike="noStrike">
              <a:solidFill>
                <a:schemeClr val="dk1"/>
              </a:solidFill>
              <a:latin typeface="Calibri"/>
              <a:ea typeface="Calibri"/>
              <a:cs typeface="Calibri"/>
              <a:sym typeface="Calibri"/>
            </a:endParaRPr>
          </a:p>
        </p:txBody>
      </p:sp>
      <p:sp>
        <p:nvSpPr>
          <p:cNvPr id="890" name="Google Shape;890;p41"/>
          <p:cNvSpPr/>
          <p:nvPr/>
        </p:nvSpPr>
        <p:spPr>
          <a:xfrm>
            <a:off x="658368" y="2962656"/>
            <a:ext cx="1087221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DM Sans"/>
              <a:buNone/>
            </a:pPr>
            <a:r>
              <a:rPr b="1" i="0" lang="en-US" sz="900" u="none" cap="none" strike="noStrike">
                <a:solidFill>
                  <a:srgbClr val="C9A84C"/>
                </a:solidFill>
                <a:latin typeface="DM Sans"/>
                <a:ea typeface="DM Sans"/>
                <a:cs typeface="DM Sans"/>
                <a:sym typeface="DM Sans"/>
              </a:rPr>
              <a:t>INCLUDED · UNLOCKED TODAY</a:t>
            </a:r>
            <a:endParaRPr b="0" i="0" sz="900" u="none" cap="none" strike="noStrike">
              <a:solidFill>
                <a:schemeClr val="dk1"/>
              </a:solidFill>
              <a:latin typeface="Calibri"/>
              <a:ea typeface="Calibri"/>
              <a:cs typeface="Calibri"/>
              <a:sym typeface="Calibri"/>
            </a:endParaRPr>
          </a:p>
        </p:txBody>
      </p:sp>
      <p:sp>
        <p:nvSpPr>
          <p:cNvPr id="891" name="Google Shape;891;p41"/>
          <p:cNvSpPr/>
          <p:nvPr/>
        </p:nvSpPr>
        <p:spPr>
          <a:xfrm>
            <a:off x="658368" y="3236976"/>
            <a:ext cx="10872216"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The thirty-day evidence process</a:t>
            </a:r>
            <a:endParaRPr b="0" i="0" sz="2100" u="none" cap="none" strike="noStrike">
              <a:solidFill>
                <a:schemeClr val="dk1"/>
              </a:solidFill>
              <a:latin typeface="Calibri"/>
              <a:ea typeface="Calibri"/>
              <a:cs typeface="Calibri"/>
              <a:sym typeface="Calibri"/>
            </a:endParaRPr>
          </a:p>
        </p:txBody>
      </p:sp>
      <p:sp>
        <p:nvSpPr>
          <p:cNvPr id="892" name="Google Shape;892;p41"/>
          <p:cNvSpPr/>
          <p:nvPr/>
        </p:nvSpPr>
        <p:spPr>
          <a:xfrm>
            <a:off x="658368" y="363931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One line a week (page 23). A live 30-Day Evidence Review with this cohort, then one short set of questions on day thirty.</a:t>
            </a:r>
            <a:endParaRPr b="0" i="0" sz="1600" u="none" cap="none" strike="noStrike">
              <a:solidFill>
                <a:schemeClr val="dk1"/>
              </a:solidFill>
              <a:latin typeface="Calibri"/>
              <a:ea typeface="Calibri"/>
              <a:cs typeface="Calibri"/>
              <a:sym typeface="Calibri"/>
            </a:endParaRPr>
          </a:p>
        </p:txBody>
      </p:sp>
      <p:sp>
        <p:nvSpPr>
          <p:cNvPr id="893" name="Google Shape;893;p41"/>
          <p:cNvSpPr/>
          <p:nvPr/>
        </p:nvSpPr>
        <p:spPr>
          <a:xfrm>
            <a:off x="658368" y="4261104"/>
            <a:ext cx="1087221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DM Sans"/>
              <a:buNone/>
            </a:pPr>
            <a:r>
              <a:rPr b="1" i="0" lang="en-US" sz="900" u="none" cap="none" strike="noStrike">
                <a:solidFill>
                  <a:srgbClr val="C9A84C"/>
                </a:solidFill>
                <a:latin typeface="DM Sans"/>
                <a:ea typeface="DM Sans"/>
                <a:cs typeface="DM Sans"/>
                <a:sym typeface="DM Sans"/>
              </a:rPr>
              <a:t>WORKBOOK PAGE 23</a:t>
            </a:r>
            <a:endParaRPr b="0" i="0" sz="900" u="none" cap="none" strike="noStrike">
              <a:solidFill>
                <a:schemeClr val="dk1"/>
              </a:solidFill>
              <a:latin typeface="Calibri"/>
              <a:ea typeface="Calibri"/>
              <a:cs typeface="Calibri"/>
              <a:sym typeface="Calibri"/>
            </a:endParaRPr>
          </a:p>
        </p:txBody>
      </p:sp>
      <p:sp>
        <p:nvSpPr>
          <p:cNvPr id="894" name="Google Shape;894;p41"/>
          <p:cNvSpPr/>
          <p:nvPr/>
        </p:nvSpPr>
        <p:spPr>
          <a:xfrm>
            <a:off x="658368" y="4535424"/>
            <a:ext cx="10872216" cy="34747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The ninety-day rescore</a:t>
            </a:r>
            <a:endParaRPr b="0" i="0" sz="2100" u="none" cap="none" strike="noStrike">
              <a:solidFill>
                <a:schemeClr val="dk1"/>
              </a:solidFill>
              <a:latin typeface="Calibri"/>
              <a:ea typeface="Calibri"/>
              <a:cs typeface="Calibri"/>
              <a:sym typeface="Calibri"/>
            </a:endParaRPr>
          </a:p>
        </p:txBody>
      </p:sp>
      <p:sp>
        <p:nvSpPr>
          <p:cNvPr id="895" name="Google Shape;895;p41"/>
          <p:cNvSpPr/>
          <p:nvPr/>
        </p:nvSpPr>
        <p:spPr>
          <a:xfrm>
            <a:off x="658368" y="493776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Section 7, the Quarterly Loop — the same evidence process. Put the date in line 10 before you leave.</a:t>
            </a:r>
            <a:endParaRPr b="0" i="0" sz="1600" u="none" cap="none" strike="noStrike">
              <a:solidFill>
                <a:schemeClr val="dk1"/>
              </a:solidFill>
              <a:latin typeface="Calibri"/>
              <a:ea typeface="Calibri"/>
              <a:cs typeface="Calibri"/>
              <a:sym typeface="Calibri"/>
            </a:endParaRPr>
          </a:p>
        </p:txBody>
      </p:sp>
      <p:sp>
        <p:nvSpPr>
          <p:cNvPr id="896" name="Google Shape;896;p41"/>
          <p:cNvSpPr/>
          <p:nvPr/>
        </p:nvSpPr>
        <p:spPr>
          <a:xfrm>
            <a:off x="658368" y="5559552"/>
            <a:ext cx="10872216"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900"/>
              <a:buFont typeface="DM Sans"/>
              <a:buNone/>
            </a:pPr>
            <a:r>
              <a:rPr b="1" i="0" lang="en-US" sz="900" u="none" cap="none" strike="noStrike">
                <a:solidFill>
                  <a:srgbClr val="C9A84C"/>
                </a:solidFill>
                <a:latin typeface="DM Sans"/>
                <a:ea typeface="DM Sans"/>
                <a:cs typeface="DM Sans"/>
                <a:sym typeface="DM Sans"/>
              </a:rPr>
              <a:t>YOUR FIELD KIT · SECTION 7</a:t>
            </a:r>
            <a:endParaRPr b="0" i="0" sz="900" u="none" cap="none" strike="noStrike">
              <a:solidFill>
                <a:schemeClr val="dk1"/>
              </a:solidFill>
              <a:latin typeface="Calibri"/>
              <a:ea typeface="Calibri"/>
              <a:cs typeface="Calibri"/>
              <a:sym typeface="Calibri"/>
            </a:endParaRPr>
          </a:p>
        </p:txBody>
      </p:sp>
      <p:sp>
        <p:nvSpPr>
          <p:cNvPr id="897" name="Google Shape;897;p41"/>
          <p:cNvSpPr/>
          <p:nvPr/>
        </p:nvSpPr>
        <p:spPr>
          <a:xfrm>
            <a:off x="658368" y="577900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8" name="Google Shape;898;p41"/>
          <p:cNvSpPr/>
          <p:nvPr/>
        </p:nvSpPr>
        <p:spPr>
          <a:xfrm>
            <a:off x="658368" y="5925312"/>
            <a:ext cx="10872216"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sz="1150" b="0" i="0">
                <a:solidFill>
                  <a:srgbClr val="0F2347"/>
                </a:solidFill>
                <a:latin typeface="DM Sans"/>
              </a:rPr>
              <a:t>Your 30-Day Evidence Review date is confirmed by email after this session — a live 45-minute group review, not a repeat of today's reading.</a:t>
            </a:r>
            <a:endParaRPr b="0" i="0" sz="1500" u="none" cap="none" strike="noStrike">
              <a:solidFill>
                <a:schemeClr val="dk1"/>
              </a:solidFill>
              <a:latin typeface="Calibri"/>
              <a:ea typeface="Calibri"/>
              <a:cs typeface="Calibri"/>
              <a:sym typeface="Calibri"/>
            </a:endParaRPr>
          </a:p>
          <a:p>
            <a:pPr>
              <a:lnSpc>
                <a:spcPct val="100000"/>
              </a:lnSpc>
              <a:spcBef>
                <a:spcPts val="400"/>
              </a:spcBef>
            </a:pPr>
            <a:r>
              <a:rPr sz="1150" b="1" i="0">
                <a:solidFill>
                  <a:srgbClr val="C1440E"/>
                </a:solidFill>
                <a:latin typeface="DM Sans"/>
              </a:rPr>
              <a:t>30-Day Evidence Review: [CONFIRMED DATE, TIME, TIME ZONE]</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903" name="Shape 903"/>
        <p:cNvGrpSpPr/>
        <p:nvPr/>
      </p:nvGrpSpPr>
      <p:grpSpPr>
        <a:xfrm>
          <a:off x="0" y="0"/>
          <a:ext cx="0" cy="0"/>
          <a:chOff x="0" y="0"/>
          <a:chExt cx="0" cy="0"/>
        </a:xfrm>
      </p:grpSpPr>
      <p:sp>
        <p:nvSpPr>
          <p:cNvPr id="904" name="Google Shape;904;p4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05" name="Google Shape;905;p4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42</a:t>
            </a:r>
            <a:endParaRPr/>
          </a:p>
        </p:txBody>
      </p:sp>
      <p:sp>
        <p:nvSpPr>
          <p:cNvPr id="906" name="Google Shape;906;p42"/>
          <p:cNvSpPr/>
          <p:nvPr/>
        </p:nvSpPr>
        <p:spPr>
          <a:xfrm>
            <a:off x="658368" y="1965960"/>
            <a:ext cx="1087221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BEFORE YOU GO</a:t>
            </a:r>
            <a:endParaRPr b="0" i="0" sz="1300" u="none" cap="none" strike="noStrike">
              <a:solidFill>
                <a:schemeClr val="dk1"/>
              </a:solidFill>
              <a:latin typeface="Calibri"/>
              <a:ea typeface="Calibri"/>
              <a:cs typeface="Calibri"/>
              <a:sym typeface="Calibri"/>
            </a:endParaRPr>
          </a:p>
        </p:txBody>
      </p:sp>
      <p:sp>
        <p:nvSpPr>
          <p:cNvPr id="907" name="Google Shape;907;p42"/>
          <p:cNvSpPr/>
          <p:nvPr/>
        </p:nvSpPr>
        <p:spPr>
          <a:xfrm>
            <a:off x="658368" y="2377440"/>
            <a:ext cx="9692640" cy="14630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You have read your position.</a:t>
            </a:r>
            <a:endParaRPr b="0" i="0" sz="4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The move is the next conversation.</a:t>
            </a:r>
            <a:endParaRPr b="0" i="0" sz="4400" u="none" cap="none" strike="noStrike">
              <a:solidFill>
                <a:schemeClr val="dk1"/>
              </a:solidFill>
              <a:latin typeface="Calibri"/>
              <a:ea typeface="Calibri"/>
              <a:cs typeface="Calibri"/>
              <a:sym typeface="Calibri"/>
            </a:endParaRPr>
          </a:p>
        </p:txBody>
      </p:sp>
      <p:sp>
        <p:nvSpPr>
          <p:cNvPr id="908" name="Google Shape;908;p42"/>
          <p:cNvSpPr/>
          <p:nvPr/>
        </p:nvSpPr>
        <p:spPr>
          <a:xfrm>
            <a:off x="658368" y="4297680"/>
            <a:ext cx="8476488"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Put a rescore date ninety days out before you close the workbook. When your reading changes, notice what changed. Share it only if you choose.</a:t>
            </a:r>
            <a:endParaRPr b="0" i="0" sz="2000" u="none" cap="none" strike="noStrike">
              <a:solidFill>
                <a:schemeClr val="dk1"/>
              </a:solidFill>
              <a:latin typeface="Calibri"/>
              <a:ea typeface="Calibri"/>
              <a:cs typeface="Calibri"/>
              <a:sym typeface="Calibri"/>
            </a:endParaRPr>
          </a:p>
        </p:txBody>
      </p:sp>
      <p:sp>
        <p:nvSpPr>
          <p:cNvPr id="909" name="Google Shape;909;p42"/>
          <p:cNvSpPr/>
          <p:nvPr/>
        </p:nvSpPr>
        <p:spPr>
          <a:xfrm>
            <a:off x="9930384" y="4297680"/>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0" name="Google Shape;910;p42"/>
          <p:cNvSpPr/>
          <p:nvPr/>
        </p:nvSpPr>
        <p:spPr>
          <a:xfrm>
            <a:off x="10396728" y="4297680"/>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1" name="Google Shape;911;p42"/>
          <p:cNvSpPr/>
          <p:nvPr/>
        </p:nvSpPr>
        <p:spPr>
          <a:xfrm>
            <a:off x="9930384"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p42"/>
          <p:cNvSpPr/>
          <p:nvPr/>
        </p:nvSpPr>
        <p:spPr>
          <a:xfrm>
            <a:off x="10396728"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p4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4" name="Google Shape;914;p4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5" name="Google Shape;915;p4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p4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43"/>
          <p:cNvSpPr/>
          <p:nvPr/>
        </p:nvSpPr>
        <p:spPr>
          <a:xfrm>
            <a:off x="0" y="0"/>
            <a:ext cx="12192000" cy="685800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3" name="Google Shape;923;p43"/>
          <p:cNvSpPr txBox="1"/>
          <p:nvPr/>
        </p:nvSpPr>
        <p:spPr>
          <a:xfrm>
            <a:off x="658368" y="5705856"/>
            <a:ext cx="51206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TEMIDAYO AFONJA | TEMIDAYOAFONJA.COM</a:t>
            </a:r>
            <a:endParaRPr/>
          </a:p>
        </p:txBody>
      </p:sp>
      <p:sp>
        <p:nvSpPr>
          <p:cNvPr id="924" name="Google Shape;924;p43"/>
          <p:cNvSpPr txBox="1"/>
          <p:nvPr/>
        </p:nvSpPr>
        <p:spPr>
          <a:xfrm>
            <a:off x="10652760" y="5705856"/>
            <a:ext cx="292608" cy="20116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sz="850">
                <a:solidFill>
                  <a:srgbClr val="B8C5D9"/>
                </a:solidFill>
                <a:latin typeface="Montserrat"/>
              </a:rPr>
              <a:t>43</a:t>
            </a:r>
            <a:endParaRPr b="0" i="0" sz="1400" u="none" cap="none" strike="noStrike">
              <a:solidFill>
                <a:srgbClr val="000000"/>
              </a:solidFill>
              <a:latin typeface="Arial"/>
              <a:ea typeface="Arial"/>
              <a:cs typeface="Arial"/>
              <a:sym typeface="Arial"/>
            </a:endParaRPr>
          </a:p>
        </p:txBody>
      </p:sp>
      <p:sp>
        <p:nvSpPr>
          <p:cNvPr id="925" name="Google Shape;925;p43"/>
          <p:cNvSpPr/>
          <p:nvPr/>
        </p:nvSpPr>
        <p:spPr>
          <a:xfrm>
            <a:off x="10314432" y="301752"/>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6" name="Google Shape;926;p43"/>
          <p:cNvSpPr/>
          <p:nvPr/>
        </p:nvSpPr>
        <p:spPr>
          <a:xfrm>
            <a:off x="10479024" y="301752"/>
            <a:ext cx="118872" cy="118872"/>
          </a:xfrm>
          <a:prstGeom prst="rect">
            <a:avLst/>
          </a:prstGeom>
          <a:solidFill>
            <a:srgbClr val="C1440E"/>
          </a:solidFill>
          <a:ln cap="flat" cmpd="sng" w="10150">
            <a:solidFill>
              <a:srgbClr val="C1440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7" name="Google Shape;927;p43"/>
          <p:cNvSpPr/>
          <p:nvPr/>
        </p:nvSpPr>
        <p:spPr>
          <a:xfrm>
            <a:off x="10314432"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8" name="Google Shape;928;p43"/>
          <p:cNvSpPr/>
          <p:nvPr/>
        </p:nvSpPr>
        <p:spPr>
          <a:xfrm>
            <a:off x="10479024"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9" name="Google Shape;929;p43"/>
          <p:cNvSpPr txBox="1"/>
          <p:nvPr/>
        </p:nvSpPr>
        <p:spPr>
          <a:xfrm>
            <a:off x="658368" y="1965960"/>
            <a:ext cx="950976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C9A84C"/>
                </a:solidFill>
                <a:latin typeface="Montserrat"/>
                <a:ea typeface="Montserrat"/>
                <a:cs typeface="Montserrat"/>
                <a:sym typeface="Montserrat"/>
              </a:rPr>
              <a:t>Q&amp;A · FINAL 15 MINUTES</a:t>
            </a:r>
            <a:endParaRPr/>
          </a:p>
        </p:txBody>
      </p:sp>
      <p:sp>
        <p:nvSpPr>
          <p:cNvPr id="930" name="Google Shape;930;p43"/>
          <p:cNvSpPr txBox="1"/>
          <p:nvPr/>
        </p:nvSpPr>
        <p:spPr>
          <a:xfrm>
            <a:off x="658368" y="2395728"/>
            <a:ext cx="9784080" cy="12344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600" u="none" cap="none" strike="noStrike">
                <a:solidFill>
                  <a:srgbClr val="FFFFFF"/>
                </a:solidFill>
                <a:latin typeface="Cormorant Garamond"/>
                <a:ea typeface="Cormorant Garamond"/>
                <a:cs typeface="Cormorant Garamond"/>
                <a:sym typeface="Cormorant Garamond"/>
              </a:rPr>
              <a:t>Questions and applications</a:t>
            </a:r>
            <a:endParaRPr/>
          </a:p>
        </p:txBody>
      </p:sp>
      <p:sp>
        <p:nvSpPr>
          <p:cNvPr id="931" name="Google Shape;931;p43"/>
          <p:cNvSpPr txBox="1"/>
          <p:nvPr/>
        </p:nvSpPr>
        <p:spPr>
          <a:xfrm>
            <a:off x="658368" y="3886200"/>
            <a:ext cx="8686800" cy="1143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100" u="none" cap="none" strike="noStrike">
                <a:solidFill>
                  <a:srgbClr val="B8C5D9"/>
                </a:solidFill>
                <a:latin typeface="Montserrat"/>
                <a:ea typeface="Montserrat"/>
                <a:cs typeface="Montserrat"/>
                <a:sym typeface="Montserrat"/>
              </a:rPr>
              <a:t>We can clarify the method, the move categories, and the application prompts.</a:t>
            </a:r>
            <a:endParaRPr/>
          </a:p>
          <a:p>
            <a:pPr indent="0" lvl="0" marL="0" marR="0" rtl="0" algn="l">
              <a:lnSpc>
                <a:spcPct val="100000"/>
              </a:lnSpc>
              <a:spcBef>
                <a:spcPts val="800"/>
              </a:spcBef>
              <a:spcAft>
                <a:spcPts val="0"/>
              </a:spcAft>
              <a:buNone/>
            </a:pPr>
            <a:r>
              <a:rPr b="0" i="0" lang="en-US" sz="2100" u="none" cap="none" strike="noStrike">
                <a:solidFill>
                  <a:srgbClr val="B8C5D9"/>
                </a:solidFill>
                <a:latin typeface="Montserrat"/>
                <a:ea typeface="Montserrat"/>
                <a:cs typeface="Montserrat"/>
                <a:sym typeface="Montserrat"/>
              </a:rPr>
              <a:t>Personal reads stay inside the boundary: no scores, employer names, or third-party names.</a:t>
            </a:r>
            <a:endParaRPr/>
          </a:p>
        </p:txBody>
      </p:sp>
      <p:sp>
        <p:nvSpPr>
          <p:cNvPr id="932" name="TextBox 931"/>
          <p:cNvSpPr txBox="1"/>
          <p:nvPr/>
        </p:nvSpPr>
        <p:spPr>
          <a:xfrm>
            <a:off x="658368" y="5102352"/>
            <a:ext cx="8686800" cy="384048"/>
          </a:xfrm>
          <a:prstGeom prst="rect">
            <a:avLst/>
          </a:prstGeom>
          <a:noFill/>
        </p:spPr>
        <p:txBody>
          <a:bodyPr wrap="square" lIns="0" rIns="0" tIns="0" bIns="0">
            <a:spAutoFit/>
          </a:bodyPr>
          <a:lstStyle/>
          <a:p>
            <a:pPr>
              <a:lnSpc>
                <a:spcPct val="110000"/>
              </a:lnSpc>
            </a:pPr>
            <a:r>
              <a:rPr sz="1300" i="1" b="1">
                <a:solidFill>
                  <a:srgbClr val="FFFFFF"/>
                </a:solidFill>
                <a:latin typeface="DM Sans"/>
              </a:rPr>
              <a:t>“I can help you clarify what your evidence supports. I cannot make the employment decision for you.”</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36" name="Shape 936"/>
        <p:cNvGrpSpPr/>
        <p:nvPr/>
      </p:nvGrpSpPr>
      <p:grpSpPr>
        <a:xfrm>
          <a:off x="0" y="0"/>
          <a:ext cx="0" cy="0"/>
          <a:chOff x="0" y="0"/>
          <a:chExt cx="0" cy="0"/>
        </a:xfrm>
      </p:grpSpPr>
      <p:sp>
        <p:nvSpPr>
          <p:cNvPr id="937" name="Google Shape;937;p4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38" name="Google Shape;938;p4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44</a:t>
            </a:r>
            <a:endParaRPr/>
          </a:p>
        </p:txBody>
      </p:sp>
      <p:sp>
        <p:nvSpPr>
          <p:cNvPr id="939" name="Google Shape;939;p4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40" name="Google Shape;940;p4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Position Exposure Signals</a:t>
            </a:r>
            <a:endParaRPr b="0" i="0" sz="3800" u="none" cap="none" strike="noStrike">
              <a:solidFill>
                <a:schemeClr val="dk1"/>
              </a:solidFill>
              <a:latin typeface="Calibri"/>
              <a:ea typeface="Calibri"/>
              <a:cs typeface="Calibri"/>
              <a:sym typeface="Calibri"/>
            </a:endParaRPr>
          </a:p>
        </p:txBody>
      </p:sp>
      <p:sp>
        <p:nvSpPr>
          <p:cNvPr id="941" name="Google Shape;941;p4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Questions to investigate, not predictions.</a:t>
            </a:r>
            <a:endParaRPr b="0" i="0" sz="1500" u="none" cap="none" strike="noStrike">
              <a:solidFill>
                <a:schemeClr val="dk1"/>
              </a:solidFill>
              <a:latin typeface="Calibri"/>
              <a:ea typeface="Calibri"/>
              <a:cs typeface="Calibri"/>
              <a:sym typeface="Calibri"/>
            </a:endParaRPr>
          </a:p>
        </p:txBody>
      </p:sp>
      <p:sp>
        <p:nvSpPr>
          <p:cNvPr id="942" name="Google Shape;942;p4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3" name="Google Shape;943;p44"/>
          <p:cNvSpPr/>
          <p:nvPr/>
        </p:nvSpPr>
        <p:spPr>
          <a:xfrm>
            <a:off x="65836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CURRENT ROLE</a:t>
            </a:r>
            <a:endParaRPr b="0" i="0" sz="1100" u="none" cap="none" strike="noStrike">
              <a:solidFill>
                <a:schemeClr val="dk1"/>
              </a:solidFill>
              <a:latin typeface="Calibri"/>
              <a:ea typeface="Calibri"/>
              <a:cs typeface="Calibri"/>
              <a:sym typeface="Calibri"/>
            </a:endParaRPr>
          </a:p>
        </p:txBody>
      </p:sp>
      <p:sp>
        <p:nvSpPr>
          <p:cNvPr id="944" name="Google Shape;944;p44"/>
          <p:cNvSpPr/>
          <p:nvPr/>
        </p:nvSpPr>
        <p:spPr>
          <a:xfrm>
            <a:off x="623620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 ROLE OR ORGANISATION YOU ARE CONSIDERING</a:t>
            </a:r>
            <a:endParaRPr b="0" i="0" sz="1100" u="none" cap="none" strike="noStrike">
              <a:solidFill>
                <a:schemeClr val="dk1"/>
              </a:solidFill>
              <a:latin typeface="Calibri"/>
              <a:ea typeface="Calibri"/>
              <a:cs typeface="Calibri"/>
              <a:sym typeface="Calibri"/>
            </a:endParaRPr>
          </a:p>
        </p:txBody>
      </p:sp>
      <p:sp>
        <p:nvSpPr>
          <p:cNvPr id="945" name="Google Shape;945;p44"/>
          <p:cNvSpPr/>
          <p:nvPr/>
        </p:nvSpPr>
        <p:spPr>
          <a:xfrm>
            <a:off x="65836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mandate being absorbed, narrowed, duplicated or repeatedly redefined?</a:t>
            </a:r>
            <a:endParaRPr b="0" i="0" sz="1700" u="none" cap="none" strike="noStrike">
              <a:solidFill>
                <a:schemeClr val="dk1"/>
              </a:solidFill>
              <a:latin typeface="Calibri"/>
              <a:ea typeface="Calibri"/>
              <a:cs typeface="Calibri"/>
              <a:sym typeface="Calibri"/>
            </a:endParaRPr>
          </a:p>
        </p:txBody>
      </p:sp>
      <p:sp>
        <p:nvSpPr>
          <p:cNvPr id="946" name="Google Shape;946;p44"/>
          <p:cNvSpPr/>
          <p:nvPr/>
        </p:nvSpPr>
        <p:spPr>
          <a:xfrm>
            <a:off x="65836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Does the position depend on one sponsor?</a:t>
            </a:r>
            <a:endParaRPr b="0" i="0" sz="1700" u="none" cap="none" strike="noStrike">
              <a:solidFill>
                <a:schemeClr val="dk1"/>
              </a:solidFill>
              <a:latin typeface="Calibri"/>
              <a:ea typeface="Calibri"/>
              <a:cs typeface="Calibri"/>
              <a:sym typeface="Calibri"/>
            </a:endParaRPr>
          </a:p>
        </p:txBody>
      </p:sp>
      <p:sp>
        <p:nvSpPr>
          <p:cNvPr id="947" name="Google Shape;947;p44"/>
          <p:cNvSpPr/>
          <p:nvPr/>
        </p:nvSpPr>
        <p:spPr>
          <a:xfrm>
            <a:off x="65836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most of the value legible only inside one context?</a:t>
            </a:r>
            <a:endParaRPr b="0" i="0" sz="1700" u="none" cap="none" strike="noStrike">
              <a:solidFill>
                <a:schemeClr val="dk1"/>
              </a:solidFill>
              <a:latin typeface="Calibri"/>
              <a:ea typeface="Calibri"/>
              <a:cs typeface="Calibri"/>
              <a:sym typeface="Calibri"/>
            </a:endParaRPr>
          </a:p>
        </p:txBody>
      </p:sp>
      <p:sp>
        <p:nvSpPr>
          <p:cNvPr id="948" name="Google Shape;948;p44"/>
          <p:cNvSpPr/>
          <p:nvPr/>
        </p:nvSpPr>
        <p:spPr>
          <a:xfrm>
            <a:off x="65836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work becoming less formative while expectations remain high?</a:t>
            </a:r>
            <a:endParaRPr b="0" i="0" sz="1700" u="none" cap="none" strike="noStrike">
              <a:solidFill>
                <a:schemeClr val="dk1"/>
              </a:solidFill>
              <a:latin typeface="Calibri"/>
              <a:ea typeface="Calibri"/>
              <a:cs typeface="Calibri"/>
              <a:sym typeface="Calibri"/>
            </a:endParaRPr>
          </a:p>
        </p:txBody>
      </p:sp>
      <p:sp>
        <p:nvSpPr>
          <p:cNvPr id="949" name="Google Shape;949;p44"/>
          <p:cNvSpPr/>
          <p:nvPr/>
        </p:nvSpPr>
        <p:spPr>
          <a:xfrm>
            <a:off x="65836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organisation redesigning the work without a clear future role for the capability?</a:t>
            </a:r>
            <a:endParaRPr b="0" i="0" sz="1700" u="none" cap="none" strike="noStrike">
              <a:solidFill>
                <a:schemeClr val="dk1"/>
              </a:solidFill>
              <a:latin typeface="Calibri"/>
              <a:ea typeface="Calibri"/>
              <a:cs typeface="Calibri"/>
              <a:sym typeface="Calibri"/>
            </a:endParaRPr>
          </a:p>
        </p:txBody>
      </p:sp>
      <p:sp>
        <p:nvSpPr>
          <p:cNvPr id="950" name="Google Shape;950;p44"/>
          <p:cNvSpPr/>
          <p:nvPr/>
        </p:nvSpPr>
        <p:spPr>
          <a:xfrm>
            <a:off x="623620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Why is the role open?</a:t>
            </a:r>
            <a:endParaRPr b="0" i="0" sz="1700" u="none" cap="none" strike="noStrike">
              <a:solidFill>
                <a:schemeClr val="dk1"/>
              </a:solidFill>
              <a:latin typeface="Calibri"/>
              <a:ea typeface="Calibri"/>
              <a:cs typeface="Calibri"/>
              <a:sym typeface="Calibri"/>
            </a:endParaRPr>
          </a:p>
        </p:txBody>
      </p:sp>
      <p:sp>
        <p:nvSpPr>
          <p:cNvPr id="951" name="Google Shape;951;p44"/>
          <p:cNvSpPr/>
          <p:nvPr/>
        </p:nvSpPr>
        <p:spPr>
          <a:xfrm>
            <a:off x="623620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work has been added, removed or consolidated in the past year?</a:t>
            </a:r>
            <a:endParaRPr b="0" i="0" sz="1700" u="none" cap="none" strike="noStrike">
              <a:solidFill>
                <a:schemeClr val="dk1"/>
              </a:solidFill>
              <a:latin typeface="Calibri"/>
              <a:ea typeface="Calibri"/>
              <a:cs typeface="Calibri"/>
              <a:sym typeface="Calibri"/>
            </a:endParaRPr>
          </a:p>
        </p:txBody>
      </p:sp>
      <p:sp>
        <p:nvSpPr>
          <p:cNvPr id="952" name="Google Shape;952;p44"/>
          <p:cNvSpPr/>
          <p:nvPr/>
        </p:nvSpPr>
        <p:spPr>
          <a:xfrm>
            <a:off x="623620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Who can distinguish excellent work from adequate work?</a:t>
            </a:r>
            <a:endParaRPr b="0" i="0" sz="1700" u="none" cap="none" strike="noStrike">
              <a:solidFill>
                <a:schemeClr val="dk1"/>
              </a:solidFill>
              <a:latin typeface="Calibri"/>
              <a:ea typeface="Calibri"/>
              <a:cs typeface="Calibri"/>
              <a:sym typeface="Calibri"/>
            </a:endParaRPr>
          </a:p>
        </p:txBody>
      </p:sp>
      <p:sp>
        <p:nvSpPr>
          <p:cNvPr id="953" name="Google Shape;953;p44"/>
          <p:cNvSpPr/>
          <p:nvPr/>
        </p:nvSpPr>
        <p:spPr>
          <a:xfrm>
            <a:off x="623620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Where have people in this role moved next?</a:t>
            </a:r>
            <a:endParaRPr b="0" i="0" sz="1700" u="none" cap="none" strike="noStrike">
              <a:solidFill>
                <a:schemeClr val="dk1"/>
              </a:solidFill>
              <a:latin typeface="Calibri"/>
              <a:ea typeface="Calibri"/>
              <a:cs typeface="Calibri"/>
              <a:sym typeface="Calibri"/>
            </a:endParaRPr>
          </a:p>
        </p:txBody>
      </p:sp>
      <p:sp>
        <p:nvSpPr>
          <p:cNvPr id="954" name="Google Shape;954;p44"/>
          <p:cNvSpPr/>
          <p:nvPr/>
        </p:nvSpPr>
        <p:spPr>
          <a:xfrm>
            <a:off x="623620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How is AI changing the actual work?</a:t>
            </a:r>
            <a:endParaRPr b="0" i="0" sz="1700" u="none" cap="none" strike="noStrike">
              <a:solidFill>
                <a:schemeClr val="dk1"/>
              </a:solidFill>
              <a:latin typeface="Calibri"/>
              <a:ea typeface="Calibri"/>
              <a:cs typeface="Calibri"/>
              <a:sym typeface="Calibri"/>
            </a:endParaRPr>
          </a:p>
        </p:txBody>
      </p:sp>
      <p:sp>
        <p:nvSpPr>
          <p:cNvPr id="955" name="Google Shape;955;p44"/>
          <p:cNvSpPr/>
          <p:nvPr/>
        </p:nvSpPr>
        <p:spPr>
          <a:xfrm>
            <a:off x="658368" y="563270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6" name="Google Shape;956;p44"/>
          <p:cNvSpPr/>
          <p:nvPr/>
        </p:nvSpPr>
        <p:spPr>
          <a:xfrm>
            <a:off x="658368" y="5724144"/>
            <a:ext cx="10872216" cy="4206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1" i="0" lang="en-US" sz="1500" u="none" cap="none" strike="noStrike">
                <a:solidFill>
                  <a:srgbClr val="0F2347"/>
                </a:solidFill>
                <a:latin typeface="DM Sans"/>
                <a:ea typeface="DM Sans"/>
                <a:cs typeface="DM Sans"/>
                <a:sym typeface="DM Sans"/>
              </a:rPr>
              <a:t>These signals do not predict a layoff. They identify questions that should be answered before you treat a position as secure.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61" name="Shape 961"/>
        <p:cNvGrpSpPr/>
        <p:nvPr/>
      </p:nvGrpSpPr>
      <p:grpSpPr>
        <a:xfrm>
          <a:off x="0" y="0"/>
          <a:ext cx="0" cy="0"/>
          <a:chOff x="0" y="0"/>
          <a:chExt cx="0" cy="0"/>
        </a:xfrm>
      </p:grpSpPr>
      <p:sp>
        <p:nvSpPr>
          <p:cNvPr id="962" name="Google Shape;962;p4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63" name="Google Shape;963;p4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45</a:t>
            </a:r>
            <a:endParaRPr/>
          </a:p>
        </p:txBody>
      </p:sp>
      <p:sp>
        <p:nvSpPr>
          <p:cNvPr id="964" name="Google Shape;964;p4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65" name="Google Shape;965;p4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AI and Compounding</a:t>
            </a:r>
            <a:endParaRPr b="0" i="0" sz="3800" u="none" cap="none" strike="noStrike">
              <a:solidFill>
                <a:schemeClr val="dk1"/>
              </a:solidFill>
              <a:latin typeface="Calibri"/>
              <a:ea typeface="Calibri"/>
              <a:cs typeface="Calibri"/>
              <a:sym typeface="Calibri"/>
            </a:endParaRPr>
          </a:p>
        </p:txBody>
      </p:sp>
      <p:sp>
        <p:nvSpPr>
          <p:cNvPr id="966" name="Google Shape;966;p4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two axes. Not a technology session.</a:t>
            </a:r>
            <a:endParaRPr b="0" i="0" sz="1500" u="none" cap="none" strike="noStrike">
              <a:solidFill>
                <a:schemeClr val="dk1"/>
              </a:solidFill>
              <a:latin typeface="Calibri"/>
              <a:ea typeface="Calibri"/>
              <a:cs typeface="Calibri"/>
              <a:sym typeface="Calibri"/>
            </a:endParaRPr>
          </a:p>
        </p:txBody>
      </p:sp>
      <p:sp>
        <p:nvSpPr>
          <p:cNvPr id="967" name="Google Shape;967;p4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45"/>
          <p:cNvSpPr/>
          <p:nvPr/>
        </p:nvSpPr>
        <p:spPr>
          <a:xfrm>
            <a:off x="658368" y="1975104"/>
            <a:ext cx="10872216" cy="10972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200"/>
              <a:buFont typeface="Cormorant Garamond"/>
              <a:buNone/>
            </a:pPr>
            <a:r>
              <a:rPr b="0" i="0" lang="en-US" sz="22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200" u="none" cap="none" strike="noStrike">
              <a:solidFill>
                <a:schemeClr val="dk1"/>
              </a:solidFill>
              <a:latin typeface="Calibri"/>
              <a:ea typeface="Calibri"/>
              <a:cs typeface="Calibri"/>
              <a:sym typeface="Calibri"/>
            </a:endParaRPr>
          </a:p>
        </p:txBody>
      </p:sp>
      <p:sp>
        <p:nvSpPr>
          <p:cNvPr id="969" name="Google Shape;969;p45"/>
          <p:cNvSpPr/>
          <p:nvPr/>
        </p:nvSpPr>
        <p:spPr>
          <a:xfrm>
            <a:off x="658368" y="331012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p45"/>
          <p:cNvSpPr/>
          <p:nvPr/>
        </p:nvSpPr>
        <p:spPr>
          <a:xfrm>
            <a:off x="914400" y="3493008"/>
            <a:ext cx="10360152" cy="60350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971" name="Google Shape;971;p45"/>
          <p:cNvSpPr/>
          <p:nvPr/>
        </p:nvSpPr>
        <p:spPr>
          <a:xfrm>
            <a:off x="658368" y="4443984"/>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Read it through the statements you already scored: statement 1 for unfamiliar problems, statement 5 for the edge of competence, statement 11 for what transfers.</a:t>
            </a:r>
            <a:endParaRPr b="0" i="0" sz="1900" u="none" cap="none" strike="noStrike">
              <a:solidFill>
                <a:schemeClr val="dk1"/>
              </a:solidFill>
              <a:latin typeface="Calibri"/>
              <a:ea typeface="Calibri"/>
              <a:cs typeface="Calibri"/>
              <a:sym typeface="Calibri"/>
            </a:endParaRPr>
          </a:p>
        </p:txBody>
      </p:sp>
      <p:sp>
        <p:nvSpPr>
          <p:cNvPr id="972" name="Google Shape;972;p45"/>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3" name="Google Shape;973;p45"/>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 which part of your output is becoming easier to reproduce, and which part of your work is deepening judgment another context would value?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78" name="Shape 978"/>
        <p:cNvGrpSpPr/>
        <p:nvPr/>
      </p:nvGrpSpPr>
      <p:grpSpPr>
        <a:xfrm>
          <a:off x="0" y="0"/>
          <a:ext cx="0" cy="0"/>
          <a:chOff x="0" y="0"/>
          <a:chExt cx="0" cy="0"/>
        </a:xfrm>
      </p:grpSpPr>
      <p:sp>
        <p:nvSpPr>
          <p:cNvPr id="979" name="Google Shape;979;p4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80" name="Google Shape;980;p4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46</a:t>
            </a:r>
            <a:endParaRPr/>
          </a:p>
        </p:txBody>
      </p:sp>
      <p:sp>
        <p:nvSpPr>
          <p:cNvPr id="981" name="Google Shape;981;p4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82" name="Google Shape;982;p4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translation actually means</a:t>
            </a:r>
            <a:endParaRPr b="0" i="0" sz="3800" u="none" cap="none" strike="noStrike">
              <a:solidFill>
                <a:schemeClr val="dk1"/>
              </a:solidFill>
              <a:latin typeface="Calibri"/>
              <a:ea typeface="Calibri"/>
              <a:cs typeface="Calibri"/>
              <a:sym typeface="Calibri"/>
            </a:endParaRPr>
          </a:p>
        </p:txBody>
      </p:sp>
      <p:sp>
        <p:nvSpPr>
          <p:cNvPr id="983" name="Google Shape;983;p4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second move category. Not part of the timed core.</a:t>
            </a:r>
            <a:endParaRPr b="0" i="0" sz="1500" u="none" cap="none" strike="noStrike">
              <a:solidFill>
                <a:schemeClr val="dk1"/>
              </a:solidFill>
              <a:latin typeface="Calibri"/>
              <a:ea typeface="Calibri"/>
              <a:cs typeface="Calibri"/>
              <a:sym typeface="Calibri"/>
            </a:endParaRPr>
          </a:p>
        </p:txBody>
      </p:sp>
      <p:sp>
        <p:nvSpPr>
          <p:cNvPr id="984" name="Google Shape;984;p4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p46"/>
          <p:cNvSpPr/>
          <p:nvPr/>
        </p:nvSpPr>
        <p:spPr>
          <a:xfrm>
            <a:off x="658368" y="1975104"/>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Legibility is not bragging. It is evidence translated into language another context can understand.</a:t>
            </a:r>
            <a:endParaRPr b="0" i="0" sz="2400" u="none" cap="none" strike="noStrike">
              <a:solidFill>
                <a:schemeClr val="dk1"/>
              </a:solidFill>
              <a:latin typeface="Calibri"/>
              <a:ea typeface="Calibri"/>
              <a:cs typeface="Calibri"/>
              <a:sym typeface="Calibri"/>
            </a:endParaRPr>
          </a:p>
        </p:txBody>
      </p:sp>
      <p:sp>
        <p:nvSpPr>
          <p:cNvPr id="986" name="Google Shape;986;p46"/>
          <p:cNvSpPr/>
          <p:nvPr/>
        </p:nvSpPr>
        <p:spPr>
          <a:xfrm>
            <a:off x="6583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7" name="Google Shape;987;p46"/>
          <p:cNvSpPr/>
          <p:nvPr/>
        </p:nvSpPr>
        <p:spPr>
          <a:xfrm>
            <a:off x="8778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problem</a:t>
            </a:r>
            <a:endParaRPr b="0" i="0" sz="1900" u="none" cap="none" strike="noStrike">
              <a:solidFill>
                <a:schemeClr val="dk1"/>
              </a:solidFill>
              <a:latin typeface="Calibri"/>
              <a:ea typeface="Calibri"/>
              <a:cs typeface="Calibri"/>
              <a:sym typeface="Calibri"/>
            </a:endParaRPr>
          </a:p>
        </p:txBody>
      </p:sp>
      <p:sp>
        <p:nvSpPr>
          <p:cNvPr id="988" name="Google Shape;988;p46"/>
          <p:cNvSpPr/>
          <p:nvPr/>
        </p:nvSpPr>
        <p:spPr>
          <a:xfrm>
            <a:off x="8778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was actually hard, stated without your job title.</a:t>
            </a:r>
            <a:endParaRPr b="0" i="0" sz="1600" u="none" cap="none" strike="noStrike">
              <a:solidFill>
                <a:schemeClr val="dk1"/>
              </a:solidFill>
              <a:latin typeface="Calibri"/>
              <a:ea typeface="Calibri"/>
              <a:cs typeface="Calibri"/>
              <a:sym typeface="Calibri"/>
            </a:endParaRPr>
          </a:p>
        </p:txBody>
      </p:sp>
      <p:sp>
        <p:nvSpPr>
          <p:cNvPr id="989" name="Google Shape;989;p46"/>
          <p:cNvSpPr/>
          <p:nvPr/>
        </p:nvSpPr>
        <p:spPr>
          <a:xfrm>
            <a:off x="43159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0" name="Google Shape;990;p46"/>
          <p:cNvSpPr/>
          <p:nvPr/>
        </p:nvSpPr>
        <p:spPr>
          <a:xfrm>
            <a:off x="45354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outcome</a:t>
            </a:r>
            <a:endParaRPr b="0" i="0" sz="1900" u="none" cap="none" strike="noStrike">
              <a:solidFill>
                <a:schemeClr val="dk1"/>
              </a:solidFill>
              <a:latin typeface="Calibri"/>
              <a:ea typeface="Calibri"/>
              <a:cs typeface="Calibri"/>
              <a:sym typeface="Calibri"/>
            </a:endParaRPr>
          </a:p>
        </p:txBody>
      </p:sp>
      <p:sp>
        <p:nvSpPr>
          <p:cNvPr id="991" name="Google Shape;991;p46"/>
          <p:cNvSpPr/>
          <p:nvPr/>
        </p:nvSpPr>
        <p:spPr>
          <a:xfrm>
            <a:off x="45354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changed, in terms someone outside can weigh.</a:t>
            </a:r>
            <a:endParaRPr b="0" i="0" sz="1600" u="none" cap="none" strike="noStrike">
              <a:solidFill>
                <a:schemeClr val="dk1"/>
              </a:solidFill>
              <a:latin typeface="Calibri"/>
              <a:ea typeface="Calibri"/>
              <a:cs typeface="Calibri"/>
              <a:sym typeface="Calibri"/>
            </a:endParaRPr>
          </a:p>
        </p:txBody>
      </p:sp>
      <p:sp>
        <p:nvSpPr>
          <p:cNvPr id="992" name="Google Shape;992;p46"/>
          <p:cNvSpPr/>
          <p:nvPr/>
        </p:nvSpPr>
        <p:spPr>
          <a:xfrm>
            <a:off x="79735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46"/>
          <p:cNvSpPr/>
          <p:nvPr/>
        </p:nvSpPr>
        <p:spPr>
          <a:xfrm>
            <a:off x="81930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capability</a:t>
            </a:r>
            <a:endParaRPr b="0" i="0" sz="1900" u="none" cap="none" strike="noStrike">
              <a:solidFill>
                <a:schemeClr val="dk1"/>
              </a:solidFill>
              <a:latin typeface="Calibri"/>
              <a:ea typeface="Calibri"/>
              <a:cs typeface="Calibri"/>
              <a:sym typeface="Calibri"/>
            </a:endParaRPr>
          </a:p>
        </p:txBody>
      </p:sp>
      <p:sp>
        <p:nvSpPr>
          <p:cNvPr id="994" name="Google Shape;994;p46"/>
          <p:cNvSpPr/>
          <p:nvPr/>
        </p:nvSpPr>
        <p:spPr>
          <a:xfrm>
            <a:off x="81930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the work formed in you that would travel.</a:t>
            </a:r>
            <a:endParaRPr b="0" i="0" sz="1600" u="none" cap="none" strike="noStrike">
              <a:solidFill>
                <a:schemeClr val="dk1"/>
              </a:solidFill>
              <a:latin typeface="Calibri"/>
              <a:ea typeface="Calibri"/>
              <a:cs typeface="Calibri"/>
              <a:sym typeface="Calibri"/>
            </a:endParaRPr>
          </a:p>
        </p:txBody>
      </p:sp>
      <p:sp>
        <p:nvSpPr>
          <p:cNvPr id="995" name="Google Shape;995;p46"/>
          <p:cNvSpPr/>
          <p:nvPr/>
        </p:nvSpPr>
        <p:spPr>
          <a:xfrm>
            <a:off x="658368" y="4718304"/>
            <a:ext cx="10872216" cy="548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You do not need louder confidence. You need claims that can survive evidence.</a:t>
            </a:r>
            <a:endParaRPr b="0" i="0" sz="2100" u="none" cap="none" strike="noStrike">
              <a:solidFill>
                <a:schemeClr val="dk1"/>
              </a:solidFill>
              <a:latin typeface="Calibri"/>
              <a:ea typeface="Calibri"/>
              <a:cs typeface="Calibri"/>
              <a:sym typeface="Calibri"/>
            </a:endParaRPr>
          </a:p>
        </p:txBody>
      </p:sp>
      <p:sp>
        <p:nvSpPr>
          <p:cNvPr id="996" name="Google Shape;996;p46"/>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46"/>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