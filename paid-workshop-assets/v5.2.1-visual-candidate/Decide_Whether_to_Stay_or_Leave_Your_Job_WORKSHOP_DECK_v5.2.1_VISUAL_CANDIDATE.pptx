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60" r:id="rId9"/>
    <p:sldId id="259" r:id="rId8"/>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HOLDING SLIDE. 0:00–0:45. Segment 0–8.</a:t>
            </a:r>
            <a:br/>
            <a:br/>
            <a:r>
              <a:t>Hold while people arrive. Do not open with the framework. Open with the room you were in.</a:t>
            </a:r>
            <a:br/>
            <a:br/>
            <a:r>
              <a:t>The eighteen years and the programme figures belong in the spoken introduction only, framed as where the vantage comes from. They are never proof that a Capability Formation score moves.</a:t>
            </a:r>
            <a:br/>
            <a:br/>
            <a:r>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br/>
            <a:r>
              <a:t>Ask the room as people join: who has already taken the Diagnostic? Those people rescore against the evidence protocol rather than recalling their previous number.</a:t>
            </a:r>
            <a:br/>
            <a:br/>
            <a:r>
              <a:t>RECORDING BOUNDARY: if recording, capture teaching segments only. Live scoring, participant discussion, voluntary reads and working time are never recorded. State this out loud before you start.</a:t>
            </a:r>
            <a:br/>
            <a:br/>
            <a:r>
              <a:t>Learner action: none.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r>
              <a:t>OPTIONAL — HIDDEN PRE-SESSION / PRODUCER SLIDE. Not part of the timed 0-8 live opening and does not count toward opening timing; the deck advances from Title directly into Welcome. Use only before the live session begins (informal room-reading while people arrive) or as a producer/facilitator prompt outside the timed sequence.</a:t>
            </a:r>
          </a:p>
          <a:p>
            <a:r>
              <a:t>WHAT TO SAY (if used pre-session): Put the poll in chat or use Maven/Zoom polling. Ask people to choose the nearest reason, not explain.</a:t>
            </a:r>
          </a:p>
          <a:p>
            <a:r>
              <a:t>TRAINER NOTE: This gives you the room without turning the session into personal consulting. Mention the top two patterns only if visible. Do not analyze individual answers.</a:t>
            </a: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2:15 to 3:15. BOUNDARY.</a:t>
            </a:r>
            <a:br/>
            <a:br/>
            <a:r>
              <a:t>Say the top line verbatim. People who came for permission to resign need to hear now that they will not get it here. People afraid of being told to leave need the same sentence.</a:t>
            </a:r>
            <a:br/>
            <a:br/>
            <a:r>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br/>
            <a:r>
              <a:t>State the recording boundary out loud even if you are not recording. It buys candour for the rest of the session.</a:t>
            </a:r>
            <a:br/>
            <a:br/>
            <a:r>
              <a:t>Safety language to keep available all session: state is not identity, exposure is not ability, current conditions are not a permanent verdict.</a:t>
            </a:r>
            <a:br/>
            <a:br/>
            <a:r>
              <a:t>Learner action: none. Workbook page 2 carries the same wording.</a:t>
            </a:r>
            <a:br/>
            <a:br/>
            <a:r>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 to 3:00, inside the 0–8 segment. THE OPENING STORY. Spoken, never read from the screen. Company unnamed.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3:15 to 4:15. THE VANTAGE.</a:t>
            </a:r>
            <a:br/>
            <a:br/>
            <a:r>
              <a:t>Section 4 of the Field Kit, compressed. It establishes authority without a single statistic.</a:t>
            </a:r>
            <a:br/>
            <a:br/>
            <a:r>
              <a:t>Say the four questions slowly. Let the room notice that the performance rating is not among them.</a:t>
            </a:r>
            <a:br/>
            <a:br/>
            <a:r>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br/>
            <a:r>
              <a:t>Transition line into the next slide is on the slide: the room reads your position whether or not you have.</a:t>
            </a:r>
            <a:br/>
            <a:br/>
            <a:r>
              <a:t>Learner action: none.</a:t>
            </a:r>
            <a:br/>
            <a:br/>
            <a:r>
              <a:t>[v4.11 — moved from slide face] Full framing: these are questions institutional rooms often weigh; Density and Optionality read the formation and portability questions underneath them.</a:t>
            </a: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4:15 to 5:15. THE REFRAME. This is the category-creation moment.</a:t>
            </a:r>
            <a:br/>
            <a:br/>
            <a:r>
              <a:t>Do not disparage the stay-or-move question and do not tell the room they arrived with the wrong question. It is the right question. Honour it, then show the reading that sits under it.</a:t>
            </a:r>
            <a:br/>
            <a:br/>
            <a:r>
              <a:t>Say it as: you are not wrong to be asking whether to stay. You are asking it without a reading of the position you would be staying in or leaving.</a:t>
            </a:r>
            <a:br/>
            <a:br/>
            <a:r>
              <a:t>Likely resistance: someone wants a yes or no today. Name that openly and point back at the boundary slide by name.</a:t>
            </a:r>
            <a:br/>
            <a:br/>
            <a:r>
              <a:t>Learner action: none.</a:t>
            </a:r>
            <a:br/>
            <a:br/>
            <a:r>
              <a:t>[v4.11 — moved from slide face] It also outlasts whatever is in the headlines: this reads your position against the category of disruption rather than the current episode.</a:t>
            </a: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5:15 to 6:30. ORIENTATION.</a:t>
            </a:r>
            <a:br/>
            <a:br/>
            <a:r>
              <a:t>Telling them the sequence lowers resistance to being corrected later.</a:t>
            </a:r>
            <a:br/>
            <a:br/>
            <a:r>
              <a:t>Say the number twelve out loud, twice. The full instrument is administered live on both passes. There is no proxy subset in this session.</a:t>
            </a:r>
            <a:br/>
            <a:br/>
            <a:r>
              <a:t>Likely misconception: the first score is the answer. Say plainly that the first score is raw material and the second one is the reading.</a:t>
            </a:r>
            <a:br/>
            <a:br/>
            <a:r>
              <a:t>Learner action: none. Workbook page 2.</a:t>
            </a:r>
            <a:br/>
            <a:br/>
            <a:r>
              <a:t>[v4.11 — moved from slide face] Framing for the first number: it is the reading you would have carried into a decision this week.</a:t>
            </a:r>
            <a:br/>
            <a:br/>
            <a:r>
              <a:t>[v4.11 — moved from slide face] Your first number is not a test you can fail. The word for what happens in between is calibration.</a:t>
            </a: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6:30 to 8:00. OUTCOME. Closes the opening segment before Density and Optionality begin at minute 8.</a:t>
            </a:r>
          </a:p>
          <a:p>
            <a:r>
              <a:t>WHAT TO SAY: Read the five items plainly, in order. Do not editorialize or add a sixth promise. Let "by minute 105" land — it is a specific, checkable claim, not a motivational estimate.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a:t>
            </a:r>
            <a:endParaRPr/>
          </a:p>
        </p:txBody>
      </p:sp>
      <p:sp>
        <p:nvSpPr>
          <p:cNvPr id="18" name="Google Shape;18;p1"/>
          <p:cNvSpPr/>
          <p:nvPr/>
        </p:nvSpPr>
        <p:spPr>
          <a:xfrm>
            <a:off x="658368" y="155448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400"/>
              <a:buFont typeface="DM Sans"/>
              <a:buNone/>
            </a:pPr>
            <a:r>
              <a:rPr b="1" i="0" lang="en-US" sz="1500" u="none" cap="none" strike="noStrike">
                <a:solidFill>
                  <a:srgbClr val="C9A84C"/>
                </a:solidFill>
                <a:latin typeface="Montserrat"/>
                <a:ea typeface="Montserrat"/>
                <a:cs typeface="Montserrat"/>
                <a:sym typeface="Montserrat"/>
              </a:rPr>
              <a:t>A LIVE CAREER GROWTH ASSESSMENT</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658368" y="1938528"/>
            <a:ext cx="8778240" cy="141732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5800"/>
              <a:buFont typeface="Cormorant Garamond"/>
              <a:buNone/>
            </a:pPr>
            <a:r>
              <a:rPr b="1" i="0" lang="en-US" sz="5700" u="none" cap="none" strike="noStrike">
                <a:solidFill>
                  <a:srgbClr val="FFFFFF"/>
                </a:solidFill>
                <a:latin typeface="Cormorant Garamond"/>
                <a:ea typeface="Cormorant Garamond"/>
                <a:cs typeface="Cormorant Garamond"/>
                <a:sym typeface="Cormorant Garamond"/>
              </a:rPr>
              <a:t>Decide Whether to Stay</a:t>
            </a:r>
            <a:endParaRPr b="1" i="0" sz="58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None/>
            </a:pPr>
            <a:r>
              <a:rPr b="1" i="0" lang="en-US" sz="5700" u="none" cap="none" strike="noStrike">
                <a:solidFill>
                  <a:srgbClr val="FFFFFF"/>
                </a:solidFill>
                <a:latin typeface="Cormorant Garamond"/>
                <a:ea typeface="Cormorant Garamond"/>
                <a:cs typeface="Cormorant Garamond"/>
                <a:sym typeface="Cormorant Garamond"/>
              </a:rPr>
              <a:t>or Leave Your Job</a:t>
            </a:r>
            <a:endParaRPr/>
          </a:p>
        </p:txBody>
      </p:sp>
      <p:sp>
        <p:nvSpPr>
          <p:cNvPr id="20" name="Google Shape;20;p1"/>
          <p:cNvSpPr/>
          <p:nvPr/>
        </p:nvSpPr>
        <p:spPr>
          <a:xfrm>
            <a:off x="658368" y="3493008"/>
            <a:ext cx="10872216" cy="6766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800"/>
              <a:buFont typeface="DM Sans"/>
              <a:buNone/>
            </a:pPr>
            <a:r>
              <a:rPr b="1" i="0" lang="en-US" sz="2200" u="none" cap="none" strike="noStrike">
                <a:solidFill>
                  <a:srgbClr val="B8C5D9"/>
                </a:solidFill>
                <a:latin typeface="Montserrat"/>
                <a:ea typeface="Montserrat"/>
                <a:cs typeface="Montserrat"/>
                <a:sym typeface="Montserrat"/>
              </a:rPr>
              <a:t>The Capability Position Read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rgbClr val="B8C5D9"/>
                </a:solidFill>
                <a:latin typeface="Montserrat"/>
                <a:ea typeface="Montserrat"/>
                <a:cs typeface="Montserrat"/>
                <a:sym typeface="Montserrat"/>
              </a:rPr>
              <a:t>Read what your current work is building before you decide.</a:t>
            </a:r>
            <a:endParaRPr/>
          </a:p>
        </p:txBody>
      </p:sp>
      <p:sp>
        <p:nvSpPr>
          <p:cNvPr id="21" name="Google Shape;21;p1"/>
          <p:cNvSpPr/>
          <p:nvPr/>
        </p:nvSpPr>
        <p:spPr>
          <a:xfrm>
            <a:off x="658368" y="4315968"/>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DM Sans"/>
              <a:buNone/>
            </a:pPr>
            <a:r>
              <a:rPr b="1" i="0" lang="en-US" sz="1500" u="none" cap="none" strike="noStrike">
                <a:solidFill>
                  <a:srgbClr val="FFFFFF"/>
                </a:solidFill>
                <a:latin typeface="DM Sans"/>
                <a:ea typeface="DM Sans"/>
                <a:cs typeface="DM Sans"/>
                <a:sym typeface="DM Sans"/>
              </a:rPr>
              <a:t>Temidayo Afonja</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658368" y="461772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200"/>
              <a:buFont typeface="DM Sans"/>
              <a:buNone/>
            </a:pPr>
            <a:r>
              <a:rPr b="0" i="0" lang="en-US" sz="1200" u="none" cap="none" strike="noStrike">
                <a:solidFill>
                  <a:srgbClr val="A9B8D0"/>
                </a:solidFill>
                <a:latin typeface="DM Sans"/>
                <a:ea typeface="DM Sans"/>
                <a:cs typeface="DM Sans"/>
                <a:sym typeface="DM Sans"/>
              </a:rPr>
              <a:t>Founder, The Density Group. Author, The Capability Audit.</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TextBox 26"/>
          <p:cNvSpPr txBox="1"/>
          <p:nvPr/>
        </p:nvSpPr>
        <p:spPr>
          <a:xfrm>
            <a:off x="658368" y="5138928"/>
            <a:ext cx="10872216" cy="274320"/>
          </a:xfrm>
          <a:prstGeom prst="rect">
            <a:avLst/>
          </a:prstGeom>
          <a:noFill/>
        </p:spPr>
        <p:txBody>
          <a:bodyPr wrap="square" lIns="0" rIns="0" tIns="0" bIns="0">
            <a:spAutoFit/>
          </a:bodyPr>
          <a:lstStyle/>
          <a:p>
            <a:r>
              <a:rPr sz="1000" b="1" spc="180">
                <a:solidFill>
                  <a:srgbClr val="B8C5D9"/>
                </a:solidFill>
                <a:latin typeface="Montserrat"/>
              </a:rPr>
              <a:t>A CAPABILITY FORMATION WORKSHOP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90" name="Google Shape;90;p4"/>
          <p:cNvSpPr/>
          <p:nvPr/>
        </p:nvSpPr>
        <p:spPr>
          <a:xfrm>
            <a:off x="658368" y="347472"/>
            <a:ext cx="7223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WELCOME</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640080"/>
            <a:ext cx="722376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Why I Built the Capability Position Read</a:t>
            </a:r>
            <a:endParaRPr b="0" i="0" sz="5000" u="none" cap="none" strike="noStrike">
              <a:solidFill>
                <a:schemeClr val="dk1"/>
              </a:solidFill>
              <a:latin typeface="Calibri"/>
              <a:ea typeface="Calibri"/>
              <a:cs typeface="Calibri"/>
              <a:sym typeface="Calibri"/>
            </a:endParaRPr>
          </a:p>
        </p:txBody>
      </p:sp>
      <p:sp>
        <p:nvSpPr>
          <p:cNvPr id="92" name="WelcomeNameCredential"/>
          <p:cNvSpPr txBox="1"/>
          <p:nvPr/>
        </p:nvSpPr>
        <p:spPr>
          <a:xfrm>
            <a:off x="658368" y="1874519"/>
            <a:ext cx="7223760" cy="685800"/>
          </a:xfrm>
          <a:prstGeom prst="rect">
            <a:avLst/>
          </a:prstGeom>
          <a:noFill/>
        </p:spPr>
        <p:txBody>
          <a:bodyPr wrap="square" lIns="0" rIns="0" tIns="0" bIns="0">
            <a:noAutofit/>
          </a:bodyPr>
          <a:lstStyle/>
          <a:p>
            <a:pPr>
              <a:lnSpc>
                <a:spcPct val="115000"/>
              </a:lnSpc>
            </a:pPr>
            <a:r>
              <a:rPr sz="1600" b="1" i="0">
                <a:solidFill>
                  <a:srgbClr val="0F2347"/>
                </a:solidFill>
                <a:latin typeface="DM Sans"/>
              </a:rPr>
              <a:t>Temidayo Afonja</a:t>
            </a:r>
          </a:p>
          <a:p>
            <a:pPr>
              <a:lnSpc>
                <a:spcPct val="120000"/>
              </a:lnSpc>
              <a:spcBef>
                <a:spcPts val="400"/>
              </a:spcBef>
            </a:pPr>
            <a:r>
              <a:rPr sz="1300" b="0" i="0">
                <a:solidFill>
                  <a:srgbClr val="0F2347"/>
                </a:solidFill>
                <a:latin typeface="DM Sans"/>
              </a:rPr>
              <a:t>Organizational capability strategist. Founder, The Density Group. Author, The Capability Audit.</a:t>
            </a:r>
          </a:p>
        </p:txBody>
      </p:sp>
      <p:sp>
        <p:nvSpPr>
          <p:cNvPr id="93" name="WelcomeBio"/>
          <p:cNvSpPr txBox="1"/>
          <p:nvPr/>
        </p:nvSpPr>
        <p:spPr>
          <a:xfrm>
            <a:off x="658368" y="2606040"/>
            <a:ext cx="7223760" cy="868680"/>
          </a:xfrm>
          <a:prstGeom prst="rect">
            <a:avLst/>
          </a:prstGeom>
          <a:noFill/>
        </p:spPr>
        <p:txBody>
          <a:bodyPr wrap="square" lIns="0" rIns="0" tIns="0" bIns="0">
            <a:noAutofit/>
          </a:bodyPr>
          <a:lstStyle/>
          <a:p>
            <a:pPr>
              <a:lnSpc>
                <a:spcPct val="125000"/>
              </a:lnSpc>
            </a:pPr>
            <a:r>
              <a:rPr sz="1400" b="0" i="0">
                <a:solidFill>
                  <a:srgbClr val="0F2347"/>
                </a:solidFill>
                <a:latin typeface="DM Sans"/>
              </a:rPr>
              <a:t>For nearly two decades, I worked inside enterprise rooms where performance, promotion, capability, and organizational change were assessed.</a:t>
            </a:r>
          </a:p>
        </p:txBody>
      </p:sp>
      <p:sp>
        <p:nvSpPr>
          <p:cNvPr id="94" name="WelcomeQuotePanel"/>
          <p:cNvSpPr/>
          <p:nvPr/>
        </p:nvSpPr>
        <p:spPr>
          <a:xfrm>
            <a:off x="658368" y="3611880"/>
            <a:ext cx="7223760" cy="960120"/>
          </a:xfrm>
          <a:prstGeom prst="roundRect">
            <a:avLst>
              <a:gd name="adj" fmla="val 6000"/>
            </a:avLst>
          </a:prstGeom>
          <a:solidFill>
            <a:srgbClr val="E8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elcomeQuoteBar"/>
          <p:cNvSpPr/>
          <p:nvPr/>
        </p:nvSpPr>
        <p:spPr>
          <a:xfrm>
            <a:off x="658368" y="3611880"/>
            <a:ext cx="64008" cy="96012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elcomeQuoteText"/>
          <p:cNvSpPr txBox="1"/>
          <p:nvPr/>
        </p:nvSpPr>
        <p:spPr>
          <a:xfrm>
            <a:off x="932688" y="3776472"/>
            <a:ext cx="6720840" cy="685800"/>
          </a:xfrm>
          <a:prstGeom prst="rect">
            <a:avLst/>
          </a:prstGeom>
          <a:noFill/>
        </p:spPr>
        <p:txBody>
          <a:bodyPr wrap="square" lIns="0" rIns="0" tIns="0" bIns="0">
            <a:noAutofit/>
          </a:bodyPr>
          <a:lstStyle/>
          <a:p>
            <a:pPr>
              <a:lnSpc>
                <a:spcPct val="125000"/>
              </a:lnSpc>
            </a:pPr>
            <a:r>
              <a:rPr sz="1500" b="0" i="1">
                <a:solidFill>
                  <a:srgbClr val="0F2347"/>
                </a:solidFill>
                <a:latin typeface="DM Sans"/>
              </a:rPr>
              <a:t>“My performance had shaped my standing. It had not insulated the role from a change in structure.”</a:t>
            </a:r>
          </a:p>
        </p:txBody>
      </p:sp>
      <p:sp>
        <p:nvSpPr>
          <p:cNvPr id="97" name="WelcomeClosing"/>
          <p:cNvSpPr txBox="1"/>
          <p:nvPr/>
        </p:nvSpPr>
        <p:spPr>
          <a:xfrm>
            <a:off x="658368" y="4846320"/>
            <a:ext cx="7223760" cy="960120"/>
          </a:xfrm>
          <a:prstGeom prst="rect">
            <a:avLst/>
          </a:prstGeom>
          <a:noFill/>
        </p:spPr>
        <p:txBody>
          <a:bodyPr wrap="square" lIns="0" rIns="0" tIns="0" bIns="0">
            <a:noAutofit/>
          </a:bodyPr>
          <a:lstStyle/>
          <a:p>
            <a:pPr>
              <a:lnSpc>
                <a:spcPct val="125000"/>
              </a:lnSpc>
            </a:pPr>
            <a:r>
              <a:rPr sz="1400" b="0" i="0">
                <a:solidFill>
                  <a:srgbClr val="0F2347"/>
                </a:solidFill>
                <a:latin typeface="DM Sans"/>
              </a:rPr>
              <a:t>That experience led me to build a more disciplined way to read what a role is forming, what travels, and what category of move the evidence supports testing.</a:t>
            </a:r>
          </a:p>
        </p:txBody>
      </p:sp>
      <p:pic>
        <p:nvPicPr>
          <p:cNvPr id="98" name="WelcomeHeadshot" descr="temi-photo.jpg"/>
          <p:cNvPicPr>
            <a:picLocks noChangeAspect="1"/>
          </p:cNvPicPr>
          <p:nvPr/>
        </p:nvPicPr>
        <p:blipFill>
          <a:blip r:embed="rId3"/>
          <a:stretch>
            <a:fillRect/>
          </a:stretch>
        </p:blipFill>
        <p:spPr>
          <a:xfrm>
            <a:off x="8366760" y="2148840"/>
            <a:ext cx="2743200" cy="2743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
        <p:nvSpPr>
          <p:cNvPr id="191" name="Outcome1Card"/>
          <p:cNvSpPr/>
          <p:nvPr/>
        </p:nvSpPr>
        <p:spPr>
          <a:xfrm>
            <a:off x="658368"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utcome1Badge"/>
          <p:cNvSpPr/>
          <p:nvPr/>
        </p:nvSpPr>
        <p:spPr>
          <a:xfrm>
            <a:off x="914400"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193" name="Outcome1Text"/>
          <p:cNvSpPr txBox="1"/>
          <p:nvPr/>
        </p:nvSpPr>
        <p:spPr>
          <a:xfrm>
            <a:off x="914400" y="2816352"/>
            <a:ext cx="2929128" cy="2496312"/>
          </a:xfrm>
          <a:prstGeom prst="rect">
            <a:avLst/>
          </a:prstGeom>
          <a:noFill/>
        </p:spPr>
        <p:txBody>
          <a:bodyPr wrap="square" lIns="0" rIns="0" tIns="0" bIns="0">
            <a:noAutofit/>
          </a:bodyPr>
          <a:lstStyle/>
          <a:p>
            <a:pPr>
              <a:lnSpc>
                <a:spcPct val="115000"/>
              </a:lnSpc>
            </a:pPr>
            <a:r>
              <a:rPr sz="1250" b="1">
                <a:solidFill>
                  <a:srgbClr val="C9A84C"/>
                </a:solidFill>
                <a:latin typeface="Montserrat"/>
              </a:rPr>
              <a:t>A DEFENSIBLE READING</a:t>
            </a:r>
          </a:p>
          <a:p>
            <a:pPr>
              <a:lnSpc>
                <a:spcPct val="130000"/>
              </a:lnSpc>
              <a:spcBef>
                <a:spcPts val="800"/>
              </a:spcBef>
            </a:pPr>
            <a:r>
              <a:rPr sz="1250" b="0">
                <a:solidFill>
                  <a:srgbClr val="0F2347"/>
                </a:solidFill>
                <a:latin typeface="Montserrat"/>
              </a:rPr>
              <a:t>Your initial reading and the evidence-backed reading your recent work can support.</a:t>
            </a:r>
          </a:p>
        </p:txBody>
      </p:sp>
      <p:sp>
        <p:nvSpPr>
          <p:cNvPr id="194" name="Outcome2Card"/>
          <p:cNvSpPr/>
          <p:nvPr/>
        </p:nvSpPr>
        <p:spPr>
          <a:xfrm>
            <a:off x="4373880"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utcome2Badge"/>
          <p:cNvSpPr/>
          <p:nvPr/>
        </p:nvSpPr>
        <p:spPr>
          <a:xfrm>
            <a:off x="4629912"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196" name="Outcome2Text"/>
          <p:cNvSpPr txBox="1"/>
          <p:nvPr/>
        </p:nvSpPr>
        <p:spPr>
          <a:xfrm>
            <a:off x="4629912" y="2816352"/>
            <a:ext cx="2929128" cy="2496312"/>
          </a:xfrm>
          <a:prstGeom prst="rect">
            <a:avLst/>
          </a:prstGeom>
          <a:noFill/>
        </p:spPr>
        <p:txBody>
          <a:bodyPr wrap="square" lIns="0" rIns="0" tIns="0" bIns="0">
            <a:noAutofit/>
          </a:bodyPr>
          <a:lstStyle/>
          <a:p>
            <a:pPr>
              <a:lnSpc>
                <a:spcPct val="115000"/>
              </a:lnSpc>
            </a:pPr>
            <a:r>
              <a:rPr sz="1250" b="1">
                <a:solidFill>
                  <a:srgbClr val="C9A84C"/>
                </a:solidFill>
                <a:latin typeface="Montserrat"/>
              </a:rPr>
              <a:t>A PROVISIONAL POSITION</a:t>
            </a:r>
          </a:p>
          <a:p>
            <a:pPr>
              <a:lnSpc>
                <a:spcPct val="130000"/>
              </a:lnSpc>
              <a:spcBef>
                <a:spcPts val="800"/>
              </a:spcBef>
            </a:pPr>
            <a:r>
              <a:rPr sz="1250" b="0">
                <a:solidFill>
                  <a:srgbClr val="0F2347"/>
                </a:solidFill>
                <a:latin typeface="Montserrat"/>
              </a:rPr>
              <a:t>A state or boundary reading, plus one category of move to examine.</a:t>
            </a:r>
          </a:p>
        </p:txBody>
      </p:sp>
      <p:sp>
        <p:nvSpPr>
          <p:cNvPr id="197" name="Outcome3Card"/>
          <p:cNvSpPr/>
          <p:nvPr/>
        </p:nvSpPr>
        <p:spPr>
          <a:xfrm>
            <a:off x="8089392"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utcome3Badge"/>
          <p:cNvSpPr/>
          <p:nvPr/>
        </p:nvSpPr>
        <p:spPr>
          <a:xfrm>
            <a:off x="8345424"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199" name="Outcome3Text"/>
          <p:cNvSpPr txBox="1"/>
          <p:nvPr/>
        </p:nvSpPr>
        <p:spPr>
          <a:xfrm>
            <a:off x="8345424" y="2816352"/>
            <a:ext cx="2929128" cy="2496312"/>
          </a:xfrm>
          <a:prstGeom prst="rect">
            <a:avLst/>
          </a:prstGeom>
          <a:noFill/>
        </p:spPr>
        <p:txBody>
          <a:bodyPr wrap="square" lIns="0" rIns="0" tIns="0" bIns="0">
            <a:noAutofit/>
          </a:bodyPr>
          <a:lstStyle/>
          <a:p>
            <a:pPr>
              <a:lnSpc>
                <a:spcPct val="115000"/>
              </a:lnSpc>
            </a:pPr>
            <a:r>
              <a:rPr sz="1250" b="1">
                <a:solidFill>
                  <a:srgbClr val="C9A84C"/>
                </a:solidFill>
                <a:latin typeface="Montserrat"/>
              </a:rPr>
              <a:t>A DECISION PROCESS</a:t>
            </a:r>
          </a:p>
          <a:p>
            <a:pPr>
              <a:lnSpc>
                <a:spcPct val="130000"/>
              </a:lnSpc>
              <a:spcBef>
                <a:spcPts val="800"/>
              </a:spcBef>
            </a:pPr>
            <a:r>
              <a:rPr sz="1250" b="0">
                <a:solidFill>
                  <a:srgbClr val="0F2347"/>
                </a:solidFill>
                <a:latin typeface="Montserrat"/>
              </a:rPr>
              <a:t>A completed Next-Move Decision, live 30-Day Evidence Review, and 90-day rescore date.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116128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116128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73912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73912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116128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116128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73912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73912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
        <p:nvSpPr>
          <p:cNvPr id="416" name="GuardrailRustBadge1"/>
          <p:cNvSpPr/>
          <p:nvPr/>
        </p:nvSpPr>
        <p:spPr>
          <a:xfrm>
            <a:off x="65836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417" name="GuardrailRustBadge2"/>
          <p:cNvSpPr/>
          <p:nvPr/>
        </p:nvSpPr>
        <p:spPr>
          <a:xfrm>
            <a:off x="623620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418" name="GuardrailRustBadge3"/>
          <p:cNvSpPr/>
          <p:nvPr/>
        </p:nvSpPr>
        <p:spPr>
          <a:xfrm>
            <a:off x="65836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419" name="GuardrailRustBadge4"/>
          <p:cNvSpPr/>
          <p:nvPr/>
        </p:nvSpPr>
        <p:spPr>
          <a:xfrm>
            <a:off x="623620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420" name="Guardrail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Hold this lightly. You will place yourself again after calibration.</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116128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116128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116128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116128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116128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116128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1161288" y="4791456"/>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1161288" y="5157216"/>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73912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73912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73912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73912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73912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73912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4" name="MoveRustBadge1"/>
          <p:cNvSpPr/>
          <p:nvPr/>
        </p:nvSpPr>
        <p:spPr>
          <a:xfrm>
            <a:off x="65836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815" name="MoveRustBadge2"/>
          <p:cNvSpPr/>
          <p:nvPr/>
        </p:nvSpPr>
        <p:spPr>
          <a:xfrm>
            <a:off x="65836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816" name="MoveRustBadge3"/>
          <p:cNvSpPr/>
          <p:nvPr/>
        </p:nvSpPr>
        <p:spPr>
          <a:xfrm>
            <a:off x="65836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817" name="MoveRustBadge4"/>
          <p:cNvSpPr/>
          <p:nvPr/>
        </p:nvSpPr>
        <p:spPr>
          <a:xfrm>
            <a:off x="658368" y="4791456"/>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818" name="MoveRustBadge5"/>
          <p:cNvSpPr/>
          <p:nvPr/>
        </p:nvSpPr>
        <p:spPr>
          <a:xfrm>
            <a:off x="623620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5</a:t>
            </a:r>
          </a:p>
        </p:txBody>
      </p:sp>
      <p:sp>
        <p:nvSpPr>
          <p:cNvPr id="819" name="MoveRustBadge6"/>
          <p:cNvSpPr/>
          <p:nvPr/>
        </p:nvSpPr>
        <p:spPr>
          <a:xfrm>
            <a:off x="623620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6</a:t>
            </a:r>
          </a:p>
        </p:txBody>
      </p:sp>
      <p:sp>
        <p:nvSpPr>
          <p:cNvPr id="820" name="MoveRustBadge7"/>
          <p:cNvSpPr/>
          <p:nvPr/>
        </p:nvSpPr>
        <p:spPr>
          <a:xfrm>
            <a:off x="623620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7</a:t>
            </a:r>
          </a:p>
        </p:txBody>
      </p:sp>
      <p:sp>
        <p:nvSpPr>
          <p:cNvPr id="821" name="Moves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No square prescribes a category. Your evidence and constraints still apply.</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Up to two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assessment ends today. The evidence process continues.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Today's assessment is complete. The follow-through helps you test whether the reading changes.</a:t>
            </a:r>
            <a:endParaRPr b="0" i="0" sz="1500" u="none" cap="none" strike="noStrike">
              <a:solidFill>
                <a:schemeClr val="dk1"/>
              </a:solidFill>
              <a:latin typeface="Calibri"/>
              <a:ea typeface="Calibri"/>
              <a:cs typeface="Calibri"/>
              <a:sym typeface="Calibri"/>
            </a:endParaRPr>
          </a:p>
        </p:txBody>
      </p:sp>
      <p:sp>
        <p:nvSpPr>
          <p:cNvPr id="899" name="Close1Card"/>
          <p:cNvSpPr/>
          <p:nvPr/>
        </p:nvSpPr>
        <p:spPr>
          <a:xfrm>
            <a:off x="658368"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Close1Badge"/>
          <p:cNvSpPr/>
          <p:nvPr/>
        </p:nvSpPr>
        <p:spPr>
          <a:xfrm>
            <a:off x="914400"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901" name="Close1Text"/>
          <p:cNvSpPr txBox="1"/>
          <p:nvPr/>
        </p:nvSpPr>
        <p:spPr>
          <a:xfrm>
            <a:off x="914400" y="2724912"/>
            <a:ext cx="2929128" cy="2587752"/>
          </a:xfrm>
          <a:prstGeom prst="rect">
            <a:avLst/>
          </a:prstGeom>
          <a:noFill/>
        </p:spPr>
        <p:txBody>
          <a:bodyPr wrap="square" lIns="0" rIns="0" tIns="0" bIns="0">
            <a:noAutofit/>
          </a:bodyPr>
          <a:lstStyle/>
          <a:p>
            <a:pPr>
              <a:lnSpc>
                <a:spcPct val="115000"/>
              </a:lnSpc>
            </a:pPr>
            <a:r>
              <a:rPr sz="1200" b="1">
                <a:solidFill>
                  <a:srgbClr val="C9A84C"/>
                </a:solidFill>
                <a:latin typeface="Montserrat"/>
              </a:rPr>
              <a:t>YOUR FIELD KIT</a:t>
            </a:r>
          </a:p>
          <a:p>
            <a:pPr>
              <a:lnSpc>
                <a:spcPct val="130000"/>
              </a:lnSpc>
              <a:spcBef>
                <a:spcPts val="800"/>
              </a:spcBef>
            </a:pPr>
            <a:r>
              <a:rPr sz="1200" b="0">
                <a:solidFill>
                  <a:srgbClr val="0F2347"/>
                </a:solidFill>
                <a:latin typeface="Montserrat"/>
              </a:rPr>
              <a:t>Interpret what your state is costing and continue the same evidence discipline after the room.</a:t>
            </a:r>
          </a:p>
          <a:p>
            <a:pPr>
              <a:lnSpc>
                <a:spcPct val="120000"/>
              </a:lnSpc>
              <a:spcBef>
                <a:spcPts val="1000"/>
              </a:spcBef>
            </a:pPr>
            <a:r>
              <a:rPr sz="900" b="1">
                <a:solidFill>
                  <a:srgbClr val="C9A84C"/>
                </a:solidFill>
                <a:latin typeface="Montserrat"/>
              </a:rPr>
              <a:t>SECTION 5: STATE COSTS  ·  SECTION 7: RESCORE PROCESS</a:t>
            </a:r>
          </a:p>
        </p:txBody>
      </p:sp>
      <p:sp>
        <p:nvSpPr>
          <p:cNvPr id="902" name="Close2Card"/>
          <p:cNvSpPr/>
          <p:nvPr/>
        </p:nvSpPr>
        <p:spPr>
          <a:xfrm>
            <a:off x="4373880" y="1920240"/>
            <a:ext cx="3441192" cy="3611880"/>
          </a:xfrm>
          <a:prstGeom prst="roundRect">
            <a:avLst>
              <a:gd name="adj" fmla="val 4000"/>
            </a:avLst>
          </a:prstGeom>
          <a:solidFill>
            <a:srgbClr val="FFFFFF"/>
          </a:solidFill>
          <a:ln w="12700">
            <a:solidFill>
              <a:srgbClr val="C144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Close2Badge"/>
          <p:cNvSpPr/>
          <p:nvPr/>
        </p:nvSpPr>
        <p:spPr>
          <a:xfrm>
            <a:off x="4629912" y="2176272"/>
            <a:ext cx="402336" cy="40233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904" name="Close2Text"/>
          <p:cNvSpPr txBox="1"/>
          <p:nvPr/>
        </p:nvSpPr>
        <p:spPr>
          <a:xfrm>
            <a:off x="4629912" y="2724912"/>
            <a:ext cx="2929128" cy="2587752"/>
          </a:xfrm>
          <a:prstGeom prst="rect">
            <a:avLst/>
          </a:prstGeom>
          <a:noFill/>
        </p:spPr>
        <p:txBody>
          <a:bodyPr wrap="square" lIns="0" rIns="0" tIns="0" bIns="0">
            <a:noAutofit/>
          </a:bodyPr>
          <a:lstStyle/>
          <a:p>
            <a:pPr>
              <a:lnSpc>
                <a:spcPct val="115000"/>
              </a:lnSpc>
            </a:pPr>
            <a:r>
              <a:rPr sz="1200" b="1">
                <a:solidFill>
                  <a:srgbClr val="C9A84C"/>
                </a:solidFill>
                <a:latin typeface="Montserrat"/>
              </a:rPr>
              <a:t>YOUR 30-DAY EVIDENCE REVIEW</a:t>
            </a:r>
          </a:p>
          <a:p>
            <a:pPr>
              <a:lnSpc>
                <a:spcPct val="130000"/>
              </a:lnSpc>
              <a:spcBef>
                <a:spcPts val="800"/>
              </a:spcBef>
            </a:pPr>
            <a:r>
              <a:rPr sz="1200" b="0">
                <a:solidFill>
                  <a:srgbClr val="0F2347"/>
                </a:solidFill>
                <a:latin typeface="Montserrat"/>
              </a:rPr>
              <a:t>Return live to examine what changed and whether your original move category still holds.</a:t>
            </a:r>
          </a:p>
          <a:p>
            <a:pPr>
              <a:lnSpc>
                <a:spcPct val="120000"/>
              </a:lnSpc>
              <a:spcBef>
                <a:spcPts val="1000"/>
              </a:spcBef>
            </a:pPr>
            <a:r>
              <a:rPr sz="1100" b="1">
                <a:solidFill>
                  <a:srgbClr val="C1440E"/>
                </a:solidFill>
                <a:latin typeface="Montserrat"/>
              </a:rPr>
              <a:t>[CONFIRMED DATE, TIME, TIME ZONE]</a:t>
            </a:r>
          </a:p>
        </p:txBody>
      </p:sp>
      <p:sp>
        <p:nvSpPr>
          <p:cNvPr id="905" name="Close3Card"/>
          <p:cNvSpPr/>
          <p:nvPr/>
        </p:nvSpPr>
        <p:spPr>
          <a:xfrm>
            <a:off x="8089392"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Close3Badge"/>
          <p:cNvSpPr/>
          <p:nvPr/>
        </p:nvSpPr>
        <p:spPr>
          <a:xfrm>
            <a:off x="8345424"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907" name="Close3Text"/>
          <p:cNvSpPr txBox="1"/>
          <p:nvPr/>
        </p:nvSpPr>
        <p:spPr>
          <a:xfrm>
            <a:off x="8345424" y="2724912"/>
            <a:ext cx="2929128" cy="2587752"/>
          </a:xfrm>
          <a:prstGeom prst="rect">
            <a:avLst/>
          </a:prstGeom>
          <a:noFill/>
        </p:spPr>
        <p:txBody>
          <a:bodyPr wrap="square" lIns="0" rIns="0" tIns="0" bIns="0">
            <a:noAutofit/>
          </a:bodyPr>
          <a:lstStyle/>
          <a:p>
            <a:pPr>
              <a:lnSpc>
                <a:spcPct val="115000"/>
              </a:lnSpc>
            </a:pPr>
            <a:r>
              <a:rPr sz="1200" b="1">
                <a:solidFill>
                  <a:srgbClr val="C9A84C"/>
                </a:solidFill>
                <a:latin typeface="Montserrat"/>
              </a:rPr>
              <a:t>YOUR 90-DAY RESCORE</a:t>
            </a:r>
          </a:p>
          <a:p>
            <a:pPr>
              <a:lnSpc>
                <a:spcPct val="130000"/>
              </a:lnSpc>
              <a:spcBef>
                <a:spcPts val="800"/>
              </a:spcBef>
            </a:pPr>
            <a:r>
              <a:rPr sz="1200" b="0">
                <a:solidFill>
                  <a:srgbClr val="0F2347"/>
                </a:solidFill>
                <a:latin typeface="Montserrat"/>
              </a:rPr>
              <a:t>Repeat the evidence-backed reading and notice what changed in your work, evidence, or position.</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