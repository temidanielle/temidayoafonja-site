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HOLDING SLIDE. 0:00. Segment 0–8.</a:t>
            </a:r>
            <a:br>
              <a:rPr lang="en-US"/>
            </a:br>
            <a:br>
              <a:rPr lang="en-US"/>
            </a:br>
            <a:r>
              <a:rPr lang="en-US"/>
              <a:t>Hold while people arrive. Do not open with the framework. Open with the room you were in.</a:t>
            </a:r>
            <a:br>
              <a:rPr lang="en-US"/>
            </a:br>
            <a:br>
              <a:rPr lang="en-US"/>
            </a:br>
            <a:r>
              <a:rPr lang="en-US"/>
              <a:t>The eighteen years and the programme figures belong in the spoken introduction only, framed as where the vantage comes from. They are never proof that a Capability Formation score moves.</a:t>
            </a:r>
            <a:br>
              <a:rPr lang="en-US"/>
            </a:br>
            <a:br>
              <a:rPr lang="en-US"/>
            </a:br>
            <a:r>
              <a:rPr lang="en-US"/>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rPr lang="en-US"/>
            </a:br>
            <a:br>
              <a:rPr lang="en-US"/>
            </a:br>
            <a:r>
              <a:rPr lang="en-US"/>
              <a:t>Ask the room as people join: who has already taken the Diagnostic? Those people rescore against the evidence protocol rather than recalling their previous number.</a:t>
            </a:r>
            <a:br>
              <a:rPr lang="en-US"/>
            </a:br>
            <a:br>
              <a:rPr lang="en-US"/>
            </a:br>
            <a:r>
              <a:rPr lang="en-US"/>
              <a:t>RECORDING BOUNDARY: if recording, capture teaching segments only. Live scoring, participant discussion, voluntary reads and working time are never recorded. State this out loud before you start.</a:t>
            </a:r>
            <a:br>
              <a:rPr lang="en-US"/>
            </a:br>
            <a:br>
              <a:rPr lang="en-US"/>
            </a:br>
            <a:r>
              <a:rPr lang="en-US"/>
              <a:t>Learner action: none.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 name="Google Shape;3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3:00–5:00</a:t>
            </a:r>
            <a:br>
              <a:rPr lang="en-US"/>
            </a:br>
            <a:r>
              <a:rPr lang="en-US"/>
              <a:t>WHAT TO SAY: Put the poll in chat or use Maven/Zoom polling. Ask people to choose the nearest reason, not explain.</a:t>
            </a:r>
            <a:br>
              <a:rPr lang="en-US"/>
            </a:br>
            <a:r>
              <a:rPr lang="en-US"/>
              <a:t>TRAINER NOTE: This gives you the room without turning the session into personal consulting. Mention the top two patterns only if visible. Do not analyze individual answers.</a:t>
            </a:r>
            <a:endParaRP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BOUNDARY.</a:t>
            </a:r>
            <a:br>
              <a:rPr lang="en-US"/>
            </a:br>
            <a:br>
              <a:rPr lang="en-US"/>
            </a:br>
            <a:r>
              <a:rPr lang="en-US"/>
              <a:t>Say the top line verbatim. People who came for permission to resign need to hear now that they will not get it here. People afraid of being told to leave need the same sentence.</a:t>
            </a:r>
            <a:br>
              <a:rPr lang="en-US"/>
            </a:br>
            <a:br>
              <a:rPr lang="en-US"/>
            </a:br>
            <a:r>
              <a:rPr lang="en-US"/>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rPr lang="en-US"/>
            </a:br>
            <a:br>
              <a:rPr lang="en-US"/>
            </a:br>
            <a:r>
              <a:rPr lang="en-US"/>
              <a:t>State the recording boundary out loud even if you are not recording. It buys candour for the rest of the session.</a:t>
            </a:r>
            <a:br>
              <a:rPr lang="en-US"/>
            </a:br>
            <a:br>
              <a:rPr lang="en-US"/>
            </a:br>
            <a:r>
              <a:rPr lang="en-US"/>
              <a:t>Safety language to keep available all session: state is not identity, exposure is not ability, current conditions are not a permanent verdict.</a:t>
            </a:r>
            <a:br>
              <a:rPr lang="en-US"/>
            </a:br>
            <a:br>
              <a:rPr lang="en-US"/>
            </a:br>
            <a:r>
              <a:rPr lang="en-US"/>
              <a:t>Learner action: none. Workbook page 2 carries the same wording.</a:t>
            </a:r>
            <a:br>
              <a:rPr lang="en-US"/>
            </a:br>
            <a:br>
              <a:rPr lang="en-US"/>
            </a:br>
            <a:r>
              <a:rPr lang="en-US"/>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 to 3:00, inside the 0–8 segment. THE OPENING STORY. Spoken, never read from the screen. Company unnamed.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THE VANTAGE.</a:t>
            </a:r>
            <a:br>
              <a:rPr lang="en-US"/>
            </a:br>
            <a:br>
              <a:rPr lang="en-US"/>
            </a:br>
            <a:r>
              <a:rPr lang="en-US"/>
              <a:t>Section 4 of the Field Kit, compressed. It establishes authority without a single statistic.</a:t>
            </a:r>
            <a:br>
              <a:rPr lang="en-US"/>
            </a:br>
            <a:br>
              <a:rPr lang="en-US"/>
            </a:br>
            <a:r>
              <a:rPr lang="en-US"/>
              <a:t>Say the four questions slowly. Let the room notice that the performance rating is not among them.</a:t>
            </a:r>
            <a:br>
              <a:rPr lang="en-US"/>
            </a:br>
            <a:br>
              <a:rPr lang="en-US"/>
            </a:br>
            <a:r>
              <a:rPr lang="en-US"/>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rPr lang="en-US"/>
            </a:br>
            <a:br>
              <a:rPr lang="en-US"/>
            </a:br>
            <a:r>
              <a:rPr lang="en-US"/>
              <a:t>Transition line into the next slide is on the slide: the room reads your position whether or not you have.</a:t>
            </a:r>
            <a:br>
              <a:rPr lang="en-US"/>
            </a:br>
            <a:br>
              <a:rPr lang="en-US"/>
            </a:br>
            <a:r>
              <a:rPr lang="en-US"/>
              <a:t>Learner action: none.</a:t>
            </a:r>
            <a:br>
              <a:rPr lang="en-US"/>
            </a:br>
            <a:br>
              <a:rPr lang="en-US"/>
            </a:br>
            <a:r>
              <a:rPr lang="en-US"/>
              <a:t>[v4.11 — moved from slide face] Full framing: these are questions institutional rooms often weigh; Density and Optionality read the formation and portability questions underneath them.</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THE REFRAME. This is the category-creation moment.</a:t>
            </a:r>
            <a:br>
              <a:rPr lang="en-US"/>
            </a:br>
            <a:br>
              <a:rPr lang="en-US"/>
            </a:br>
            <a:r>
              <a:rPr lang="en-US"/>
              <a:t>Do not disparage the stay-or-move question and do not tell the room they arrived with the wrong question. It is the right question. Honour it, then show the reading that sits under it.</a:t>
            </a:r>
            <a:br>
              <a:rPr lang="en-US"/>
            </a:br>
            <a:br>
              <a:rPr lang="en-US"/>
            </a:br>
            <a:r>
              <a:rPr lang="en-US"/>
              <a:t>Say it as: you are not wrong to be asking whether to stay. You are asking it without a reading of the position you would be staying in or leaving.</a:t>
            </a:r>
            <a:br>
              <a:rPr lang="en-US"/>
            </a:br>
            <a:br>
              <a:rPr lang="en-US"/>
            </a:br>
            <a:r>
              <a:rPr lang="en-US"/>
              <a:t>Likely resistance: someone wants a yes or no today. Name that openly and point back at the boundary slide by name.</a:t>
            </a:r>
            <a:br>
              <a:rPr lang="en-US"/>
            </a:br>
            <a:br>
              <a:rPr lang="en-US"/>
            </a:br>
            <a:r>
              <a:rPr lang="en-US"/>
              <a:t>Learner action: none.</a:t>
            </a:r>
            <a:br>
              <a:rPr lang="en-US"/>
            </a:br>
            <a:br>
              <a:rPr lang="en-US"/>
            </a:br>
            <a:r>
              <a:rPr lang="en-US"/>
              <a:t>[v4.11 — moved from slide face] It also outlasts whatever is in the headlines: this reads your position against the category of disruption rather than the current episode.</a:t>
            </a:r>
            <a:endParaRP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ORIENTATION.</a:t>
            </a:r>
            <a:br>
              <a:rPr lang="en-US"/>
            </a:br>
            <a:br>
              <a:rPr lang="en-US"/>
            </a:br>
            <a:r>
              <a:rPr lang="en-US"/>
              <a:t>Telling them the sequence lowers resistance to being corrected later.</a:t>
            </a:r>
            <a:br>
              <a:rPr lang="en-US"/>
            </a:br>
            <a:br>
              <a:rPr lang="en-US"/>
            </a:br>
            <a:r>
              <a:rPr lang="en-US"/>
              <a:t>Say the number twelve out loud, twice. The full instrument is administered live on both passes. There is no proxy subset in this session.</a:t>
            </a:r>
            <a:br>
              <a:rPr lang="en-US"/>
            </a:br>
            <a:br>
              <a:rPr lang="en-US"/>
            </a:br>
            <a:r>
              <a:rPr lang="en-US"/>
              <a:t>Likely misconception: the first score is the answer. Say plainly that the first score is raw material and the second one is the reading.</a:t>
            </a:r>
            <a:br>
              <a:rPr lang="en-US"/>
            </a:br>
            <a:br>
              <a:rPr lang="en-US"/>
            </a:br>
            <a:r>
              <a:rPr lang="en-US"/>
              <a:t>Learner action: none. Workbook page 2.</a:t>
            </a:r>
            <a:br>
              <a:rPr lang="en-US"/>
            </a:br>
            <a:br>
              <a:rPr lang="en-US"/>
            </a:br>
            <a:r>
              <a:rPr lang="en-US"/>
              <a:t>[v4.11 — moved from slide face] Framing for the first number: it is the reading you would have carried into a decision this week.</a:t>
            </a:r>
            <a:br>
              <a:rPr lang="en-US"/>
            </a:br>
            <a:br>
              <a:rPr lang="en-US"/>
            </a:br>
            <a:r>
              <a:rPr lang="en-US"/>
              <a:t>[v4.11 — moved from slide face] Your first number is not a test you can fail. The word for what happens in between is calibration.</a:t>
            </a:r>
            <a:endParaRP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0 to 8. OUTCOME. Closes the opening segment before Density and Optionality begin at minute 8.</a:t>
            </a:r>
            <a:endParaRPr/>
          </a:p>
          <a:p>
            <a:r>
              <a:t>WHAT TO SAY: Read the five items plainly, in order. Do not editorialize or add a sixth promise. Let "by minute 105" land — it is a specific, checkable claim, not a motivational estimate.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a:t>
            </a:r>
            <a:endParaRPr/>
          </a:p>
        </p:txBody>
      </p:sp>
      <p:sp>
        <p:nvSpPr>
          <p:cNvPr id="18" name="Google Shape;18;p1"/>
          <p:cNvSpPr/>
          <p:nvPr/>
        </p:nvSpPr>
        <p:spPr>
          <a:xfrm>
            <a:off x="658368" y="155448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400"/>
              <a:buFont typeface="DM Sans"/>
              <a:buNone/>
            </a:pPr>
            <a:r>
              <a:rPr b="1" i="0" lang="en-US" sz="1500" u="none" cap="none" strike="noStrike">
                <a:solidFill>
                  <a:srgbClr val="C9A84C"/>
                </a:solidFill>
                <a:latin typeface="Montserrat"/>
                <a:ea typeface="Montserrat"/>
                <a:cs typeface="Montserrat"/>
                <a:sym typeface="Montserrat"/>
              </a:rPr>
              <a:t>A LIVE CAREER GROWTH ASSESSMENT</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658368" y="1938528"/>
            <a:ext cx="8778240" cy="141732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5800"/>
              <a:buFont typeface="Cormorant Garamond"/>
              <a:buNone/>
            </a:pPr>
            <a:r>
              <a:rPr b="1" i="0" lang="en-US" sz="5700" u="none" cap="none" strike="noStrike">
                <a:solidFill>
                  <a:srgbClr val="FFFFFF"/>
                </a:solidFill>
                <a:latin typeface="Cormorant Garamond"/>
                <a:ea typeface="Cormorant Garamond"/>
                <a:cs typeface="Cormorant Garamond"/>
                <a:sym typeface="Cormorant Garamond"/>
              </a:rPr>
              <a:t>Decide Whether to Stay</a:t>
            </a:r>
            <a:endParaRPr b="1" i="0" sz="58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None/>
            </a:pPr>
            <a:r>
              <a:rPr b="1" i="0" lang="en-US" sz="5700" u="none" cap="none" strike="noStrike">
                <a:solidFill>
                  <a:srgbClr val="FFFFFF"/>
                </a:solidFill>
                <a:latin typeface="Cormorant Garamond"/>
                <a:ea typeface="Cormorant Garamond"/>
                <a:cs typeface="Cormorant Garamond"/>
                <a:sym typeface="Cormorant Garamond"/>
              </a:rPr>
              <a:t>or Leave Your Job</a:t>
            </a:r>
            <a:endParaRPr/>
          </a:p>
        </p:txBody>
      </p:sp>
      <p:sp>
        <p:nvSpPr>
          <p:cNvPr id="20" name="Google Shape;20;p1"/>
          <p:cNvSpPr/>
          <p:nvPr/>
        </p:nvSpPr>
        <p:spPr>
          <a:xfrm>
            <a:off x="658368" y="3493008"/>
            <a:ext cx="10872216" cy="6766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800"/>
              <a:buFont typeface="DM Sans"/>
              <a:buNone/>
            </a:pPr>
            <a:r>
              <a:rPr b="1" i="0" lang="en-US" sz="2200" u="none" cap="none" strike="noStrike">
                <a:solidFill>
                  <a:srgbClr val="B8C5D9"/>
                </a:solidFill>
                <a:latin typeface="Montserrat"/>
                <a:ea typeface="Montserrat"/>
                <a:cs typeface="Montserrat"/>
                <a:sym typeface="Montserrat"/>
              </a:rPr>
              <a:t>The Capability Position Read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rgbClr val="B8C5D9"/>
                </a:solidFill>
                <a:latin typeface="Montserrat"/>
                <a:ea typeface="Montserrat"/>
                <a:cs typeface="Montserrat"/>
                <a:sym typeface="Montserrat"/>
              </a:rPr>
              <a:t>Read what your current work is building before you decide.</a:t>
            </a:r>
            <a:endParaRPr/>
          </a:p>
        </p:txBody>
      </p:sp>
      <p:sp>
        <p:nvSpPr>
          <p:cNvPr id="21" name="Google Shape;21;p1"/>
          <p:cNvSpPr/>
          <p:nvPr/>
        </p:nvSpPr>
        <p:spPr>
          <a:xfrm>
            <a:off x="658368" y="4315968"/>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DM Sans"/>
              <a:buNone/>
            </a:pPr>
            <a:r>
              <a:rPr b="1" i="0" lang="en-US" sz="1500" u="none" cap="none" strike="noStrike">
                <a:solidFill>
                  <a:srgbClr val="FFFFFF"/>
                </a:solidFill>
                <a:latin typeface="DM Sans"/>
                <a:ea typeface="DM Sans"/>
                <a:cs typeface="DM Sans"/>
                <a:sym typeface="DM Sans"/>
              </a:rPr>
              <a:t>Temidayo Afonja</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658368" y="461772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200"/>
              <a:buFont typeface="DM Sans"/>
              <a:buNone/>
            </a:pPr>
            <a:r>
              <a:rPr b="0" i="0" lang="en-US" sz="1200" u="none" cap="none" strike="noStrike">
                <a:solidFill>
                  <a:srgbClr val="A9B8D0"/>
                </a:solidFill>
                <a:latin typeface="DM Sans"/>
                <a:ea typeface="DM Sans"/>
                <a:cs typeface="DM Sans"/>
                <a:sym typeface="DM Sans"/>
              </a:rPr>
              <a:t>Founder, The Density Group. Author, The Capability Audit.</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TextBox 26"/>
          <p:cNvSpPr txBox="1"/>
          <p:nvPr/>
        </p:nvSpPr>
        <p:spPr>
          <a:xfrm>
            <a:off x="658368" y="5138928"/>
            <a:ext cx="10872216" cy="274320"/>
          </a:xfrm>
          <a:prstGeom prst="rect">
            <a:avLst/>
          </a:prstGeom>
          <a:noFill/>
        </p:spPr>
        <p:txBody>
          <a:bodyPr wrap="square" lIns="0" rIns="0" tIns="0" bIns="0">
            <a:spAutoFit/>
          </a:bodyPr>
          <a:lstStyle/>
          <a:p>
            <a:r>
              <a:rPr sz="1000" b="1" spc="180">
                <a:solidFill>
                  <a:srgbClr val="B8C5D9"/>
                </a:solidFill>
                <a:latin typeface="Montserrat"/>
              </a:rPr>
              <a:t>A CAPABILITY FORMATION WORKSHOP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31" name="Shape 31"/>
        <p:cNvGrpSpPr/>
        <p:nvPr/>
      </p:nvGrpSpPr>
      <p:grpSpPr>
        <a:xfrm>
          <a:off x="0" y="0"/>
          <a:ext cx="0" cy="0"/>
          <a:chOff x="0" y="0"/>
          <a:chExt cx="0" cy="0"/>
        </a:xfrm>
      </p:grpSpPr>
      <p:sp>
        <p:nvSpPr>
          <p:cNvPr id="32" name="Google Shape;32;p2"/>
          <p:cNvSpPr/>
          <p:nvPr/>
        </p:nvSpPr>
        <p:spPr>
          <a:xfrm>
            <a:off x="658368" y="6355080"/>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9B8D0"/>
                </a:solidFill>
                <a:latin typeface="DM Sans"/>
                <a:ea typeface="DM Sans"/>
                <a:cs typeface="DM Sans"/>
                <a:sym typeface="DM Sans"/>
              </a:rPr>
              <a:t>TEMIDAYO AFONJA   |   TEMIDAYOAFONJA.COM</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10616184" y="6355080"/>
            <a:ext cx="9144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a:t>
            </a:r>
            <a:endParaRPr/>
          </a:p>
        </p:txBody>
      </p:sp>
      <p:sp>
        <p:nvSpPr>
          <p:cNvPr id="34" name="Google Shape;34;p2"/>
          <p:cNvSpPr txBox="1"/>
          <p:nvPr/>
        </p:nvSpPr>
        <p:spPr>
          <a:xfrm>
            <a:off x="658368" y="1600200"/>
            <a:ext cx="64008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C9A84C"/>
                </a:solidFill>
                <a:latin typeface="DM Sans"/>
                <a:ea typeface="DM Sans"/>
                <a:cs typeface="DM Sans"/>
                <a:sym typeface="DM Sans"/>
              </a:rPr>
              <a:t>OPENING POLL</a:t>
            </a:r>
            <a:endParaRPr b="0" i="0" sz="1400" u="none" cap="none" strike="noStrike">
              <a:solidFill>
                <a:srgbClr val="000000"/>
              </a:solidFill>
              <a:latin typeface="Arial"/>
              <a:ea typeface="Arial"/>
              <a:cs typeface="Arial"/>
              <a:sym typeface="Arial"/>
            </a:endParaRPr>
          </a:p>
        </p:txBody>
      </p:sp>
      <p:sp>
        <p:nvSpPr>
          <p:cNvPr id="35" name="Google Shape;35;p2"/>
          <p:cNvSpPr txBox="1"/>
          <p:nvPr/>
        </p:nvSpPr>
        <p:spPr>
          <a:xfrm>
            <a:off x="658368" y="2057400"/>
            <a:ext cx="10058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FFFFFF"/>
                </a:solidFill>
                <a:latin typeface="Cormorant Garamond"/>
                <a:ea typeface="Cormorant Garamond"/>
                <a:cs typeface="Cormorant Garamond"/>
                <a:sym typeface="Cormorant Garamond"/>
              </a:rPr>
              <a:t>What brought you here today?</a:t>
            </a:r>
            <a:endParaRPr b="0" i="0" sz="1400" u="none" cap="none" strike="noStrike">
              <a:solidFill>
                <a:srgbClr val="000000"/>
              </a:solidFill>
              <a:latin typeface="Arial"/>
              <a:ea typeface="Arial"/>
              <a:cs typeface="Arial"/>
              <a:sym typeface="Arial"/>
            </a:endParaRPr>
          </a:p>
        </p:txBody>
      </p:sp>
      <p:sp>
        <p:nvSpPr>
          <p:cNvPr id="36" name="Google Shape;36;p2"/>
          <p:cNvSpPr txBox="1"/>
          <p:nvPr/>
        </p:nvSpPr>
        <p:spPr>
          <a:xfrm>
            <a:off x="658368" y="3429000"/>
            <a:ext cx="10058400" cy="1600200"/>
          </a:xfrm>
          <a:prstGeom prst="rect">
            <a:avLst/>
          </a:prstGeom>
          <a:noFill/>
          <a:ln>
            <a:noFill/>
          </a:ln>
        </p:spPr>
        <p:txBody>
          <a:bodyPr anchorCtr="0" anchor="t" bIns="0" lIns="0" spcFirstLastPara="1" rIns="0" wrap="square" tIns="0">
            <a:noAutofit/>
          </a:bodyPr>
          <a:lstStyle/>
          <a:p>
            <a:pPr indent="0" lvl="0" marL="0" marR="0" rtl="0" algn="l">
              <a:lnSpc>
                <a:spcPct val="177777"/>
              </a:lnSpc>
              <a:spcBef>
                <a:spcPts val="0"/>
              </a:spcBef>
              <a:spcAft>
                <a:spcPts val="0"/>
              </a:spcAft>
              <a:buClr>
                <a:srgbClr val="000000"/>
              </a:buClr>
              <a:buSzPts val="1800"/>
              <a:buFont typeface="Arial"/>
              <a:buNone/>
            </a:pPr>
            <a:r>
              <a:rPr b="0" i="0" lang="en-US" sz="1800" u="none" cap="none" strike="noStrike">
                <a:solidFill>
                  <a:srgbClr val="A9B8D0"/>
                </a:solidFill>
                <a:latin typeface="DM Sans"/>
                <a:ea typeface="DM Sans"/>
                <a:cs typeface="DM Sans"/>
                <a:sym typeface="DM Sans"/>
              </a:rPr>
              <a:t>Promotion  ·  Reorganization  ·  Internal move  ·  External opportunity</a:t>
            </a:r>
            <a:endParaRPr b="0" i="0" sz="1400" u="none" cap="none" strike="noStrike">
              <a:solidFill>
                <a:srgbClr val="000000"/>
              </a:solidFill>
              <a:latin typeface="Arial"/>
              <a:ea typeface="Arial"/>
              <a:cs typeface="Arial"/>
              <a:sym typeface="Arial"/>
            </a:endParaRPr>
          </a:p>
          <a:p>
            <a:pPr indent="0" lvl="0" marL="0" marR="0" rtl="0" algn="l">
              <a:lnSpc>
                <a:spcPct val="177777"/>
              </a:lnSpc>
              <a:spcBef>
                <a:spcPts val="0"/>
              </a:spcBef>
              <a:spcAft>
                <a:spcPts val="0"/>
              </a:spcAft>
              <a:buClr>
                <a:srgbClr val="000000"/>
              </a:buClr>
              <a:buSzPts val="1800"/>
              <a:buFont typeface="Arial"/>
              <a:buNone/>
            </a:pPr>
            <a:r>
              <a:rPr b="0" i="0" lang="en-US" sz="1800" u="none" cap="none" strike="noStrike">
                <a:solidFill>
                  <a:srgbClr val="A9B8D0"/>
                </a:solidFill>
                <a:latin typeface="DM Sans"/>
                <a:ea typeface="DM Sans"/>
                <a:cs typeface="DM Sans"/>
                <a:sym typeface="DM Sans"/>
              </a:rPr>
              <a:t>My role feels static  ·  General uncertainty</a:t>
            </a:r>
            <a:endParaRPr b="0" i="0" sz="1400" u="none" cap="none" strike="noStrike">
              <a:solidFill>
                <a:srgbClr val="000000"/>
              </a:solidFill>
              <a:latin typeface="Arial"/>
              <a:ea typeface="Arial"/>
              <a:cs typeface="Arial"/>
              <a:sym typeface="Arial"/>
            </a:endParaRPr>
          </a:p>
        </p:txBody>
      </p:sp>
      <p:cxnSp>
        <p:nvCxnSpPr>
          <p:cNvPr id="37" name="Google Shape;37;p2"/>
          <p:cNvCxnSpPr/>
          <p:nvPr/>
        </p:nvCxnSpPr>
        <p:spPr>
          <a:xfrm>
            <a:off x="658368" y="5486400"/>
            <a:ext cx="1828800" cy="0"/>
          </a:xfrm>
          <a:prstGeom prst="straightConnector1">
            <a:avLst/>
          </a:prstGeom>
          <a:noFill/>
          <a:ln cap="flat" cmpd="sng" w="12700">
            <a:solidFill>
              <a:srgbClr val="C9A84C"/>
            </a:solidFill>
            <a:prstDash val="solid"/>
            <a:round/>
            <a:headEnd len="sm" w="sm" type="none"/>
            <a:tailEnd len="sm" w="sm" type="none"/>
          </a:ln>
        </p:spPr>
      </p:cxnSp>
      <p:pic>
        <p:nvPicPr>
          <p:cNvPr descr="Businessman thinking (Provided by Getty Images)" id="38" name="Google Shape;38;p2"/>
          <p:cNvPicPr preferRelativeResize="0"/>
          <p:nvPr/>
        </p:nvPicPr>
        <p:blipFill>
          <a:blip r:embed="rId3">
            <a:alphaModFix/>
          </a:blip>
          <a:stretch>
            <a:fillRect/>
          </a:stretch>
        </p:blipFill>
        <p:spPr>
          <a:xfrm>
            <a:off x="8700824" y="738575"/>
            <a:ext cx="2315100" cy="15430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90" name="Google Shape;90;p4"/>
          <p:cNvSpPr/>
          <p:nvPr/>
        </p:nvSpPr>
        <p:spPr>
          <a:xfrm>
            <a:off x="658368" y="214884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WHERE THIS COMES FROM</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2578608"/>
            <a:ext cx="10872216" cy="8595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5000" u="none" cap="none" strike="noStrike">
                <a:solidFill>
                  <a:srgbClr val="FFFFFF"/>
                </a:solidFill>
                <a:latin typeface="Cormorant Garamond"/>
                <a:ea typeface="Cormorant Garamond"/>
                <a:cs typeface="Cormorant Garamond"/>
                <a:sym typeface="Cormorant Garamond"/>
              </a:rPr>
              <a:t>The room you are not in.</a:t>
            </a:r>
            <a:endParaRPr b="0" i="0" sz="5000" u="none" cap="none" strike="noStrike">
              <a:solidFill>
                <a:schemeClr val="dk1"/>
              </a:solidFill>
              <a:latin typeface="Calibri"/>
              <a:ea typeface="Calibri"/>
              <a:cs typeface="Calibri"/>
              <a:sym typeface="Calibri"/>
            </a:endParaRPr>
          </a:p>
        </p:txBody>
      </p:sp>
      <p:sp>
        <p:nvSpPr>
          <p:cNvPr id="92" name="Google Shape;92;p4"/>
          <p:cNvSpPr/>
          <p:nvPr/>
        </p:nvSpPr>
        <p:spPr>
          <a:xfrm>
            <a:off x="658368" y="3639312"/>
            <a:ext cx="8476488"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I had spent eighteen years inside the rooms where capability was assessed. In March 2026, I became the person outside the room.</a:t>
            </a:r>
            <a:endParaRPr b="0" i="0" sz="1800" u="none" cap="none" strike="noStrike">
              <a:solidFill>
                <a:schemeClr val="dk1"/>
              </a:solidFill>
              <a:latin typeface="Calibri"/>
              <a:ea typeface="Calibri"/>
              <a:cs typeface="Calibri"/>
              <a:sym typeface="Calibri"/>
            </a:endParaRPr>
          </a:p>
        </p:txBody>
      </p:sp>
      <p:sp>
        <p:nvSpPr>
          <p:cNvPr id="93" name="Google Shape;93;p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658368" y="1938528"/>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1</a:t>
            </a:r>
            <a:endParaRPr/>
          </a:p>
        </p:txBody>
      </p:sp>
      <p:sp>
        <p:nvSpPr>
          <p:cNvPr id="175" name="Google Shape;175;p8"/>
          <p:cNvSpPr txBox="1"/>
          <p:nvPr/>
        </p:nvSpPr>
        <p:spPr>
          <a:xfrm>
            <a:off x="1298448" y="1920240"/>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An initial and evidence-backed reading</a:t>
            </a:r>
            <a:endParaRPr/>
          </a:p>
        </p:txBody>
      </p:sp>
      <p:sp>
        <p:nvSpPr>
          <p:cNvPr id="176" name="Google Shape;176;p8"/>
          <p:cNvSpPr txBox="1"/>
          <p:nvPr/>
        </p:nvSpPr>
        <p:spPr>
          <a:xfrm>
            <a:off x="5193792" y="1920240"/>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first read you arrived with, and the corrected read your evidence can defend.</a:t>
            </a:r>
            <a:endParaRPr/>
          </a:p>
        </p:txBody>
      </p:sp>
      <p:sp>
        <p:nvSpPr>
          <p:cNvPr id="177" name="Google Shape;177;p8"/>
          <p:cNvSpPr/>
          <p:nvPr/>
        </p:nvSpPr>
        <p:spPr>
          <a:xfrm>
            <a:off x="658368" y="2651760"/>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2</a:t>
            </a:r>
            <a:endParaRPr/>
          </a:p>
        </p:txBody>
      </p:sp>
      <p:sp>
        <p:nvSpPr>
          <p:cNvPr id="178" name="Google Shape;178;p8"/>
          <p:cNvSpPr txBox="1"/>
          <p:nvPr/>
        </p:nvSpPr>
        <p:spPr>
          <a:xfrm>
            <a:off x="1298448" y="2633472"/>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provisional state or boundary reading</a:t>
            </a:r>
            <a:endParaRPr/>
          </a:p>
        </p:txBody>
      </p:sp>
      <p:sp>
        <p:nvSpPr>
          <p:cNvPr id="179" name="Google Shape;179;p8"/>
          <p:cNvSpPr txBox="1"/>
          <p:nvPr/>
        </p:nvSpPr>
        <p:spPr>
          <a:xfrm>
            <a:off x="5193792" y="2633472"/>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Compounding, Depth Trap, Stagnant, Fragile, or a boundary position that should stay open.</a:t>
            </a:r>
            <a:endParaRPr/>
          </a:p>
        </p:txBody>
      </p:sp>
      <p:sp>
        <p:nvSpPr>
          <p:cNvPr id="180" name="Google Shape;180;p8"/>
          <p:cNvSpPr/>
          <p:nvPr/>
        </p:nvSpPr>
        <p:spPr>
          <a:xfrm>
            <a:off x="658368" y="3364992"/>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3</a:t>
            </a:r>
            <a:endParaRPr/>
          </a:p>
        </p:txBody>
      </p:sp>
      <p:sp>
        <p:nvSpPr>
          <p:cNvPr id="181" name="Google Shape;181;p8"/>
          <p:cNvSpPr txBox="1"/>
          <p:nvPr/>
        </p:nvSpPr>
        <p:spPr>
          <a:xfrm>
            <a:off x="1298448" y="3346704"/>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One category of move to test</a:t>
            </a:r>
            <a:endParaRPr/>
          </a:p>
        </p:txBody>
      </p:sp>
      <p:sp>
        <p:nvSpPr>
          <p:cNvPr id="182" name="Google Shape;182;p8"/>
          <p:cNvSpPr txBox="1"/>
          <p:nvPr/>
        </p:nvSpPr>
        <p:spPr>
          <a:xfrm>
            <a:off x="5193792" y="3346704"/>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direction to examine, not a command to stay or leave.</a:t>
            </a:r>
            <a:endParaRPr/>
          </a:p>
        </p:txBody>
      </p:sp>
      <p:sp>
        <p:nvSpPr>
          <p:cNvPr id="183" name="Google Shape;183;p8"/>
          <p:cNvSpPr/>
          <p:nvPr/>
        </p:nvSpPr>
        <p:spPr>
          <a:xfrm>
            <a:off x="658368" y="4078224"/>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4</a:t>
            </a:r>
            <a:endParaRPr/>
          </a:p>
        </p:txBody>
      </p:sp>
      <p:sp>
        <p:nvSpPr>
          <p:cNvPr id="184" name="Google Shape;184;p8"/>
          <p:cNvSpPr txBox="1"/>
          <p:nvPr/>
        </p:nvSpPr>
        <p:spPr>
          <a:xfrm>
            <a:off x="1298448" y="4059936"/>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completed Next-Move Decision</a:t>
            </a:r>
            <a:endParaRPr/>
          </a:p>
        </p:txBody>
      </p:sp>
      <p:sp>
        <p:nvSpPr>
          <p:cNvPr id="185" name="Google Shape;185;p8"/>
          <p:cNvSpPr txBox="1"/>
          <p:nvPr/>
        </p:nvSpPr>
        <p:spPr>
          <a:xfrm>
            <a:off x="5193792" y="4059936"/>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action, person, evidence condition, and rescore date you will carry out of the room.</a:t>
            </a:r>
            <a:endParaRPr/>
          </a:p>
        </p:txBody>
      </p:sp>
      <p:sp>
        <p:nvSpPr>
          <p:cNvPr id="186" name="Google Shape;186;p8"/>
          <p:cNvSpPr/>
          <p:nvPr/>
        </p:nvSpPr>
        <p:spPr>
          <a:xfrm>
            <a:off x="658368" y="4791456"/>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5</a:t>
            </a:r>
            <a:endParaRPr/>
          </a:p>
        </p:txBody>
      </p:sp>
      <p:sp>
        <p:nvSpPr>
          <p:cNvPr id="187" name="Google Shape;187;p8"/>
          <p:cNvSpPr txBox="1"/>
          <p:nvPr/>
        </p:nvSpPr>
        <p:spPr>
          <a:xfrm>
            <a:off x="1298448" y="4773168"/>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30-day evidence process and 90-day rescore date</a:t>
            </a:r>
            <a:endParaRPr/>
          </a:p>
        </p:txBody>
      </p:sp>
      <p:sp>
        <p:nvSpPr>
          <p:cNvPr id="188" name="Google Shape;188;p8"/>
          <p:cNvSpPr txBox="1"/>
          <p:nvPr/>
        </p:nvSpPr>
        <p:spPr>
          <a:xfrm>
            <a:off x="5193792" y="4773168"/>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way to keep reading the position after today, without turning one score into a verdict.</a:t>
            </a:r>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65836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65836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23620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23620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65836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65836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23620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23620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65836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65836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65836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65836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65836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65836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658368" y="4791456"/>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658368" y="5157216"/>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23620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23620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23620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23620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23620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23620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2" name="Google Shape;812;p37"/>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3" name="Google Shape;813;p37"/>
          <p:cNvSpPr/>
          <p:nvPr/>
        </p:nvSpPr>
        <p:spPr>
          <a:xfrm>
            <a:off x="658368" y="5925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No square prescribes a category. Your evidence and constraints still apply.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Two or three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Three things. Everything here is already yours.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8" name="Google Shape;888;p41"/>
          <p:cNvSpPr/>
          <p:nvPr/>
        </p:nvSpPr>
        <p:spPr>
          <a:xfrm>
            <a:off x="658368" y="1938528"/>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Your Field Kit</a:t>
            </a:r>
            <a:endParaRPr b="0" i="0" sz="2100" u="none" cap="none" strike="noStrike">
              <a:solidFill>
                <a:schemeClr val="dk1"/>
              </a:solidFill>
              <a:latin typeface="Calibri"/>
              <a:ea typeface="Calibri"/>
              <a:cs typeface="Calibri"/>
              <a:sym typeface="Calibri"/>
            </a:endParaRPr>
          </a:p>
        </p:txBody>
      </p:sp>
      <p:sp>
        <p:nvSpPr>
          <p:cNvPr id="889" name="Google Shape;889;p41"/>
          <p:cNvSpPr/>
          <p:nvPr/>
        </p:nvSpPr>
        <p:spPr>
          <a:xfrm>
            <a:off x="658368" y="23408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Yours now, unlocked today. Section 5 helps you work out what your state is costing you. Section 7 is your rescore.</a:t>
            </a:r>
            <a:endParaRPr b="0" i="0" sz="1600" u="none" cap="none" strike="noStrike">
              <a:solidFill>
                <a:schemeClr val="dk1"/>
              </a:solidFill>
              <a:latin typeface="Calibri"/>
              <a:ea typeface="Calibri"/>
              <a:cs typeface="Calibri"/>
              <a:sym typeface="Calibri"/>
            </a:endParaRPr>
          </a:p>
        </p:txBody>
      </p:sp>
      <p:sp>
        <p:nvSpPr>
          <p:cNvPr id="890" name="Google Shape;890;p41"/>
          <p:cNvSpPr/>
          <p:nvPr/>
        </p:nvSpPr>
        <p:spPr>
          <a:xfrm>
            <a:off x="658368" y="2962656"/>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INCLUDED · UNLOCKED TODAY</a:t>
            </a:r>
            <a:endParaRPr b="0" i="0" sz="900" u="none" cap="none" strike="noStrike">
              <a:solidFill>
                <a:schemeClr val="dk1"/>
              </a:solidFill>
              <a:latin typeface="Calibri"/>
              <a:ea typeface="Calibri"/>
              <a:cs typeface="Calibri"/>
              <a:sym typeface="Calibri"/>
            </a:endParaRPr>
          </a:p>
        </p:txBody>
      </p:sp>
      <p:sp>
        <p:nvSpPr>
          <p:cNvPr id="891" name="Google Shape;891;p41"/>
          <p:cNvSpPr/>
          <p:nvPr/>
        </p:nvSpPr>
        <p:spPr>
          <a:xfrm>
            <a:off x="658368" y="3236976"/>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thirty-day evidence process</a:t>
            </a:r>
            <a:endParaRPr b="0" i="0" sz="2100" u="none" cap="none" strike="noStrike">
              <a:solidFill>
                <a:schemeClr val="dk1"/>
              </a:solidFill>
              <a:latin typeface="Calibri"/>
              <a:ea typeface="Calibri"/>
              <a:cs typeface="Calibri"/>
              <a:sym typeface="Calibri"/>
            </a:endParaRPr>
          </a:p>
        </p:txBody>
      </p:sp>
      <p:sp>
        <p:nvSpPr>
          <p:cNvPr id="892" name="Google Shape;892;p41"/>
          <p:cNvSpPr/>
          <p:nvPr/>
        </p:nvSpPr>
        <p:spPr>
          <a:xfrm>
            <a:off x="658368" y="3639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One line a week (page 23). One short set of questions on day thirty.</a:t>
            </a:r>
            <a:endParaRPr b="0" i="0" sz="1600" u="none" cap="none" strike="noStrike">
              <a:solidFill>
                <a:schemeClr val="dk1"/>
              </a:solidFill>
              <a:latin typeface="Calibri"/>
              <a:ea typeface="Calibri"/>
              <a:cs typeface="Calibri"/>
              <a:sym typeface="Calibri"/>
            </a:endParaRPr>
          </a:p>
        </p:txBody>
      </p:sp>
      <p:sp>
        <p:nvSpPr>
          <p:cNvPr id="893" name="Google Shape;893;p41"/>
          <p:cNvSpPr/>
          <p:nvPr/>
        </p:nvSpPr>
        <p:spPr>
          <a:xfrm>
            <a:off x="658368" y="4261104"/>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WORKBOOK PAGE 23</a:t>
            </a:r>
            <a:endParaRPr b="0" i="0" sz="900" u="none" cap="none" strike="noStrike">
              <a:solidFill>
                <a:schemeClr val="dk1"/>
              </a:solidFill>
              <a:latin typeface="Calibri"/>
              <a:ea typeface="Calibri"/>
              <a:cs typeface="Calibri"/>
              <a:sym typeface="Calibri"/>
            </a:endParaRPr>
          </a:p>
        </p:txBody>
      </p:sp>
      <p:sp>
        <p:nvSpPr>
          <p:cNvPr id="894" name="Google Shape;894;p41"/>
          <p:cNvSpPr/>
          <p:nvPr/>
        </p:nvSpPr>
        <p:spPr>
          <a:xfrm>
            <a:off x="658368" y="4535424"/>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ninety-day rescore</a:t>
            </a:r>
            <a:endParaRPr b="0" i="0" sz="2100" u="none" cap="none" strike="noStrike">
              <a:solidFill>
                <a:schemeClr val="dk1"/>
              </a:solidFill>
              <a:latin typeface="Calibri"/>
              <a:ea typeface="Calibri"/>
              <a:cs typeface="Calibri"/>
              <a:sym typeface="Calibri"/>
            </a:endParaRPr>
          </a:p>
        </p:txBody>
      </p:sp>
      <p:sp>
        <p:nvSpPr>
          <p:cNvPr id="895" name="Google Shape;895;p41"/>
          <p:cNvSpPr/>
          <p:nvPr/>
        </p:nvSpPr>
        <p:spPr>
          <a:xfrm>
            <a:off x="658368" y="49377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Section 7, the Quarterly Loop — the same evidence process. Put the date in line 10 before you leave.</a:t>
            </a:r>
            <a:endParaRPr b="0" i="0" sz="1600" u="none" cap="none" strike="noStrike">
              <a:solidFill>
                <a:schemeClr val="dk1"/>
              </a:solidFill>
              <a:latin typeface="Calibri"/>
              <a:ea typeface="Calibri"/>
              <a:cs typeface="Calibri"/>
              <a:sym typeface="Calibri"/>
            </a:endParaRPr>
          </a:p>
        </p:txBody>
      </p:sp>
      <p:sp>
        <p:nvSpPr>
          <p:cNvPr id="896" name="Google Shape;896;p41"/>
          <p:cNvSpPr/>
          <p:nvPr/>
        </p:nvSpPr>
        <p:spPr>
          <a:xfrm>
            <a:off x="658368" y="5559552"/>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YOUR FIELD KIT · SECTION 7</a:t>
            </a:r>
            <a:endParaRPr b="0" i="0" sz="9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