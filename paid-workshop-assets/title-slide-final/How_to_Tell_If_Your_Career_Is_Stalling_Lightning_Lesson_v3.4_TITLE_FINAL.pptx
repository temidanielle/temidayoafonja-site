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0:00-1:00</a:t>
            </a:r>
          </a:p>
          <a:p>
            <a:r>
              <a:rPr sz="1100">
                <a:latin typeface="Arial"/>
              </a:rPr>
              <a:t>WHAT TO SAY: Welcome. This is a 45-minute recognition lesson, not a diagnostic. You are here because something about your current work may deserve a more careful reading.</a:t>
            </a:r>
          </a:p>
          <a:p>
            <a:r>
              <a:rPr sz="1100">
                <a:latin typeface="Arial"/>
              </a:rPr>
              <a:t>WHAT NOT TO SAY: Do not promise a personalized answer. Do not mention pricing. Do not begin with the full framework.</a:t>
            </a:r>
          </a:p>
          <a:p>
            <a:r>
              <a:rPr sz="1100">
                <a:latin typeface="Arial"/>
              </a:rPr>
              <a:t>PARTICIPANT ACTION: None yet. Settling in.</a:t>
            </a:r>
          </a:p>
          <a:p>
            <a:r>
              <a:rPr sz="1100">
                <a:latin typeface="Arial"/>
              </a:rPr>
              <a:t>LIKELY MISUNDERSTANDING: Some may expect a scored assessment today. The boundary is stated plainly within the first five minutes — see slide 3.</a:t>
            </a:r>
          </a:p>
          <a:p>
            <a:r>
              <a:rPr sz="1100">
                <a:latin typeface="Arial"/>
              </a:rPr>
              <a:t>TRANSITION LINE: Before we get into it, let me tell you why I built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1:00-3:00 (approximately 75-90 seconds of scripted delivery, remainder is settling and the transition into the poll)</a:t>
            </a:r>
          </a:p>
          <a:p>
            <a:r>
              <a:rPr sz="1100">
                <a:latin typeface="Arial"/>
              </a:rPr>
              <a:t>CORE SCRIPT: "Welcome. I'm Temidayo Afonja. I am an organizational capability strategist, founder of The Density Group, and author of The Capability Audit.</a:t>
            </a:r>
          </a:p>
          <a:p>
            <a:r>
              <a:rPr sz="1100">
                <a:latin typeface="Arial"/>
              </a:rPr>
              <a:t>For nearly two decades, I worked inside organizations where performance, promotion, potential, and restructuring decisions were discussed. I understood how institutions assessed people and positions.</a:t>
            </a:r>
          </a:p>
          <a:p>
            <a:r>
              <a:rPr sz="1100">
                <a:latin typeface="Arial"/>
              </a:rPr>
              <a:t>Then, in 2026, a reorganization absorbed the function I led. My results were still strong. The trust I had built was still real. My performance had shaped my standing. It had not insulated the role from a change in structure.</a:t>
            </a:r>
          </a:p>
          <a:p>
            <a:r>
              <a:rPr sz="1100">
                <a:latin typeface="Arial"/>
              </a:rPr>
              <a:t>That experience sharpened a question I had already been studying: can a career begin to stall while the person is still performing well?</a:t>
            </a:r>
          </a:p>
          <a:p>
            <a:r>
              <a:rPr sz="1100">
                <a:latin typeface="Arial"/>
              </a:rPr>
              <a:t>That is the question we are going to examine today."</a:t>
            </a:r>
          </a:p>
          <a:p>
            <a:r>
              <a:rPr sz="1100">
                <a:latin typeface="Arial"/>
              </a:rPr>
              <a:t>TRANSITION LINE: "Before we begin, one boundary about what today can and cannot do." Then advance to the concise boundary slide.</a:t>
            </a:r>
          </a:p>
          <a:p>
            <a:r>
              <a:rPr sz="1100">
                <a:latin typeface="Arial"/>
              </a:rPr>
              <a:t>STORY GUARDRAILS — DO NOT: name the former employer. Name any individual. Allege motive. Discuss severance. Speculate about the restructuring decision. Use grievance language. Diagnose your own former Career State. Extend the story beyond 90 seconds.</a:t>
            </a:r>
          </a:p>
          <a:p>
            <a:r>
              <a:rPr sz="1100">
                <a:latin typeface="Arial"/>
              </a:rPr>
              <a:t>TONE: Reflective, restrained, specific, instructional.</a:t>
            </a:r>
          </a:p>
          <a:p>
            <a:r>
              <a:rPr sz="1100">
                <a:latin typeface="Arial"/>
              </a:rPr>
              <a:t>WHAT NOT TO SAY: Do not turn this into a therapeutic disclosure or a resume recitation. Do not let PwC/Deloitte/EY become the dominant proof — they are one supporting line, said once, not dwelt on.</a:t>
            </a:r>
          </a:p>
          <a:p>
            <a:r>
              <a:rPr sz="1100">
                <a:latin typeface="Arial"/>
              </a:rPr>
              <a:t>LIKELY MISUNDERSTANDING: Participants may want more detail about what happened. Do not supply it. The story exists to establish why this lesson exists, not to invite follow-up questions about your history.</a:t>
            </a:r>
          </a:p>
          <a:p>
            <a:r>
              <a:rPr sz="1100">
                <a:latin typeface="Arial"/>
              </a:rPr>
              <a:t>PARTICIPANT ACTION: Listening.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3:00-3:30</a:t>
            </a:r>
          </a:p>
          <a:p>
            <a:r>
              <a:rPr sz="1100">
                <a:latin typeface="Arial"/>
              </a:rPr>
              <a:t>WHAT TO SAY: Read the boundary statement once, plainly, exactly as written on the slide. This is the only place the boundary is stated — do not repeat it later.</a:t>
            </a:r>
          </a:p>
          <a:p>
            <a:r>
              <a:rPr sz="1100">
                <a:latin typeface="Arial"/>
              </a:rPr>
              <a:t>WHAT NOT TO SAY: Do not soften it, apologize for it, or expand it into a longer disclaimer.</a:t>
            </a:r>
          </a:p>
          <a:p>
            <a:r>
              <a:rPr sz="1100">
                <a:latin typeface="Arial"/>
              </a:rPr>
              <a:t>PARTICIPANT ACTION: None. Listening.</a:t>
            </a:r>
          </a:p>
          <a:p>
            <a:r>
              <a:rPr sz="1100">
                <a:latin typeface="Arial"/>
              </a:rPr>
              <a:t>LIKELY MISUNDERSTANDING: Some may still expect a scored assessment today even after hearing this. If it resurfaces later, redirect with this same line rather than inventing a new one.</a:t>
            </a:r>
          </a:p>
          <a:p>
            <a:r>
              <a:rPr sz="1100">
                <a:latin typeface="Arial"/>
              </a:rPr>
              <a:t>TRANSITION LINE: Now, let's find out what brought you into the room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3:30-5:00</a:t>
            </a:r>
          </a:p>
          <a:p>
            <a:r>
              <a:rPr sz="1100">
                <a:latin typeface="Arial"/>
              </a:rPr>
              <a:t>WHAT TO SAY: Put the poll in chat or use Maven/Zoom polling. Ask people to choose the nearest reason, not explain.</a:t>
            </a:r>
          </a:p>
          <a:p>
            <a:r>
              <a:rPr sz="1100">
                <a:latin typeface="Arial"/>
              </a:rPr>
              <a:t>WHAT NOT TO SAY: Do not analyze individual answers aloud.</a:t>
            </a:r>
          </a:p>
          <a:p>
            <a:r>
              <a:rPr sz="1100">
                <a:latin typeface="Arial"/>
              </a:rPr>
              <a:t>PARTICIPANT ACTION: Selects one option via chat or poll widget.</a:t>
            </a:r>
          </a:p>
          <a:p>
            <a:r>
              <a:rPr sz="1100">
                <a:latin typeface="Arial"/>
              </a:rPr>
              <a:t>LIKELY MISUNDERSTANDING: A participant may try to explain their situation in detail; thank them briefly and move on without engaging the specifics.</a:t>
            </a:r>
          </a:p>
          <a:p>
            <a:r>
              <a:rPr sz="1100">
                <a:latin typeface="Arial"/>
              </a:rPr>
              <a:t>TRANSITION LINE: Whatever brought you here, by the end of today you'll leave with three specific things. Here's what they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5:00-6:30</a:t>
            </a:r>
          </a:p>
          <a:p>
            <a:r>
              <a:rPr sz="1100">
                <a:latin typeface="Arial"/>
              </a:rPr>
              <a:t>WHAT TO SAY: Three things by minute 45: the difference between performance and growth, your own Career Stall Check completed against real evidence, and one next question worth investigating.</a:t>
            </a:r>
          </a:p>
          <a:p>
            <a:r>
              <a:rPr sz="1100">
                <a:latin typeface="Arial"/>
              </a:rPr>
              <a:t>WHAT NOT TO SAY: Do not promise a Career State, a score, or a stay-or-leave answer as an outcome. Do not restate the boundary here — it was already stated once, plainly, on slide 3. Repeating it dilutes it.</a:t>
            </a:r>
          </a:p>
          <a:p>
            <a:r>
              <a:rPr sz="1100">
                <a:latin typeface="Arial"/>
              </a:rPr>
              <a:t>PARTICIPANT ACTION: None yet. Orienting to the session's shape.</a:t>
            </a:r>
          </a:p>
          <a:p>
            <a:r>
              <a:rPr sz="1100">
                <a:latin typeface="Arial"/>
              </a:rPr>
              <a:t>LIKELY MISUNDERSTANDING: "A basis for deciding whether to go deeper" is a conversion objective, not a learning outcome — do not restate it as a fourth promise here.</a:t>
            </a:r>
          </a:p>
          <a:p>
            <a:r>
              <a:rPr sz="1100">
                <a:latin typeface="Arial"/>
              </a:rPr>
              <a:t>TRANSITION LINE: Here is the idea that ties all three signs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6:30-8:00</a:t>
            </a:r>
          </a:p>
          <a:p>
            <a:r>
              <a:rPr sz="1100">
                <a:latin typeface="Arial"/>
              </a:rPr>
              <a:t>WHAT TO SAY: This is the central line of the entire lesson. Read the four bullets steadily, then let "Performance matters. It is not the whole reading." land before moving on.</a:t>
            </a:r>
          </a:p>
          <a:p>
            <a:r>
              <a:rPr sz="1100">
                <a:latin typeface="Arial"/>
              </a:rPr>
              <a:t>WHAT NOT TO SAY: Do not imply performance does not matter. It does. It is simply a different signal than formation.</a:t>
            </a:r>
          </a:p>
          <a:p>
            <a:r>
              <a:rPr sz="1100">
                <a:latin typeface="Arial"/>
              </a:rPr>
              <a:t>PARTICIPANT ACTION: None. This is the pivot point into the three signs.</a:t>
            </a:r>
          </a:p>
          <a:p>
            <a:r>
              <a:rPr sz="1100">
                <a:latin typeface="Arial"/>
              </a:rPr>
              <a:t>LIKELY MISUNDERSTANDING: Someone may hear "performance does not matter." Correct plainly if it comes up: performance matters, it is just not the complete reading.</a:t>
            </a:r>
          </a:p>
          <a:p>
            <a:r>
              <a:rPr sz="1100">
                <a:latin typeface="Arial"/>
              </a:rPr>
              <a:t>TRANSITION LINE: Here are three specific ways capable people miss that distinction in their own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8:00-13:00</a:t>
            </a:r>
          </a:p>
          <a:p>
            <a:r>
              <a:rPr sz="1100">
                <a:latin typeface="Arial"/>
              </a:rPr>
              <a:t>WHAT TO SAY: High performers often use strong performance as proof that growth is happening. Separate delivery from formation. Read the test question slowly, then give 30-45 seconds for the quick check.</a:t>
            </a:r>
          </a:p>
          <a:p>
            <a:r>
              <a:rPr sz="1100">
                <a:latin typeface="Arial"/>
              </a:rPr>
              <a:t>EXAMPLE: A person can lead the same decision forum more smoothly each quarter without meeting a problem they do not already know how to solve.</a:t>
            </a:r>
          </a:p>
          <a:p>
            <a:r>
              <a:rPr sz="1100">
                <a:latin typeface="Arial"/>
              </a:rPr>
              <a:t>WHAT NOT TO SAY: Do not imply high performance is fake. It is real. It is simply a different signal.</a:t>
            </a:r>
          </a:p>
          <a:p>
            <a:r>
              <a:rPr sz="1100">
                <a:latin typeface="Arial"/>
              </a:rPr>
              <a:t>PARTICIPANT ACTION: Answers the quick check in chat, poll, or privately in writing — one word only.</a:t>
            </a:r>
          </a:p>
          <a:p>
            <a:r>
              <a:rPr sz="1100">
                <a:latin typeface="Arial"/>
              </a:rPr>
              <a:t>LIKELY MISUNDERSTANDING: Someone may say their work "feels" like growth because it is demanding. Demanding is not the same as unfamiliar. Redirect gently if it comes up.</a:t>
            </a:r>
          </a:p>
          <a:p>
            <a:r>
              <a:rPr sz="1100">
                <a:latin typeface="Arial"/>
              </a:rPr>
              <a:t>TRANSITION LINE: That is the first sign. Here is a second one that hides in plain sight because it feels like the opposite of a warning.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13:00-18:00</a:t>
            </a:r>
          </a:p>
          <a:p>
            <a:r>
              <a:rPr sz="1100">
                <a:latin typeface="Arial"/>
              </a:rPr>
              <a:t>WHAT TO SAY: Dependence is not bad. It is simply not the same as portability. A person can become essential to a system while their external story becomes harder to explain. Read the test question, then give the room 30-45 seconds for the quick check.</a:t>
            </a:r>
          </a:p>
          <a:p>
            <a:r>
              <a:rPr sz="1100">
                <a:latin typeface="Arial"/>
              </a:rPr>
              <a:t>WHAT NOT TO SAY: Do not call indispensability a trap. It can be earned and valuable. The risk is misreading it as automatically portable.</a:t>
            </a:r>
          </a:p>
          <a:p>
            <a:r>
              <a:rPr sz="1100">
                <a:latin typeface="Arial"/>
              </a:rPr>
              <a:t>PARTICIPANT ACTION: Answers the quick check in chat, poll, or privately in writing.</a:t>
            </a:r>
          </a:p>
          <a:p>
            <a:r>
              <a:rPr sz="1100">
                <a:latin typeface="Arial"/>
              </a:rPr>
              <a:t>LIKELY MISUNDERSTANDING: Someone may hear this as "being needed is bad." Correct plainly: being needed is good; assuming it travels is the misread.</a:t>
            </a:r>
          </a:p>
          <a:p>
            <a:r>
              <a:rPr sz="1100">
                <a:latin typeface="Arial"/>
              </a:rPr>
              <a:t>TRANSITION LINE: The third sign is the one that hides inside what looks like career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18:00-23:00</a:t>
            </a:r>
          </a:p>
          <a:p>
            <a:r>
              <a:rPr sz="1100">
                <a:latin typeface="Arial"/>
              </a:rPr>
              <a:t>WHAT TO SAY: Promotions can build capability. They can also move a person into approvals, representation, and familiar judgment. The point is to read the work, not the title. Give the room 30-45 seconds for the quick check after the test question.</a:t>
            </a:r>
          </a:p>
          <a:p>
            <a:r>
              <a:rPr sz="1100">
                <a:latin typeface="Arial"/>
              </a:rPr>
              <a:t>WHAT NOT TO SAY: This is not a diagnosis of anyone's specific promotion. It is a pattern worth noticing.</a:t>
            </a:r>
          </a:p>
          <a:p>
            <a:r>
              <a:rPr sz="1100">
                <a:latin typeface="Arial"/>
              </a:rPr>
              <a:t>PARTICIPANT ACTION: Answers the quick check in chat, poll, or privately in writing.</a:t>
            </a:r>
          </a:p>
          <a:p>
            <a:r>
              <a:rPr sz="1100">
                <a:latin typeface="Arial"/>
              </a:rPr>
              <a:t>LIKELY MISUNDERSTANDING: Someone may hear this as an argument against accepting promotions. It is not. It is an argument against assuming title growth is automatically capability growth.</a:t>
            </a:r>
          </a:p>
          <a:p>
            <a:r>
              <a:rPr sz="1100">
                <a:latin typeface="Arial"/>
              </a:rPr>
              <a:t>TRANSITION LINE: You've now tested three signs against your own last 90 days. Let's put that evidence somewhere you can keep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23:00-28:00</a:t>
            </a:r>
          </a:p>
          <a:p>
            <a:r>
              <a:rPr sz="1100">
                <a:latin typeface="Arial"/>
              </a:rPr>
              <a:t>WHAT TO SAY: Five quiet minutes. Open the Career Stall Check and write against your own last 90 days. No one will be called on.</a:t>
            </a:r>
          </a:p>
          <a:p>
            <a:r>
              <a:rPr sz="1100">
                <a:latin typeface="Arial"/>
              </a:rPr>
              <a:t>WHAT NOT TO SAY: Do not say this is the full assessment. Do not offer to review anyone's answers live.</a:t>
            </a:r>
          </a:p>
          <a:p>
            <a:r>
              <a:rPr sz="1100">
                <a:latin typeface="Arial"/>
              </a:rPr>
              <a:t>PARTICIPANT ACTION: Completes the four fields on the Career Stall Check handout privately.</a:t>
            </a:r>
          </a:p>
          <a:p>
            <a:r>
              <a:rPr sz="1100">
                <a:latin typeface="Arial"/>
              </a:rPr>
              <a:t>LIKELY MISUNDERSTANDING: Someone may ask if this produces a score or placement. It does not — redirect calmly: "That is what the full Position Read does. This is recognition."</a:t>
            </a:r>
          </a:p>
          <a:p>
            <a:r>
              <a:rPr sz="1100">
                <a:latin typeface="Arial"/>
              </a:rPr>
              <a:t>TRANSITION LINE: Before we go further, one caution about what a recognition exercise is and is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28:00-31:00</a:t>
            </a:r>
          </a:p>
          <a:p>
            <a:r>
              <a:rPr sz="1100">
                <a:latin typeface="Arial"/>
              </a:rPr>
              <a:t>WHAT TO SAY: Do not let the exercise become a verdict. Familiarity is a signal, not a diagnosis. Then deliver the one AI sentence on the slide, once, without expanding into a tools discussion.</a:t>
            </a:r>
          </a:p>
          <a:p>
            <a:r>
              <a:rPr sz="1100">
                <a:latin typeface="Arial"/>
              </a:rPr>
              <a:t>WHAT NOT TO SAY: No tool names. No prompting advice. No job-loss predictions. No industry forecasts. This is a single sentence, not a new section.</a:t>
            </a:r>
          </a:p>
          <a:p>
            <a:r>
              <a:rPr sz="1100">
                <a:latin typeface="Arial"/>
              </a:rPr>
              <a:t>PARTICIPANT ACTION: None. This is a settling beat before the bridge.</a:t>
            </a:r>
          </a:p>
          <a:p>
            <a:r>
              <a:rPr sz="1100">
                <a:latin typeface="Arial"/>
              </a:rPr>
              <a:t>LIKELY MISUNDERSTANDING: Someone may ask what AI tool to use. Decline: "That's outside today's scope — this is about the reading, not the tools."</a:t>
            </a:r>
          </a:p>
          <a:p>
            <a:r>
              <a:rPr sz="1100">
                <a:latin typeface="Arial"/>
              </a:rPr>
              <a:t>TRANSITION LINE: What you did in the last 28 minutes is one piece of a larger read. Let me show you what the rest of it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31:00-32:30</a:t>
            </a:r>
          </a:p>
          <a:p>
            <a:r>
              <a:rPr sz="1100">
                <a:latin typeface="Arial"/>
              </a:rPr>
              <a:t>WHAT TO SAY: This is factual, not a hard sell. Today gave you recognition. The workshop gives you the structured, evidence-backed read. Name Density and Optionality briefly here for the first time — this is the one place they belong.</a:t>
            </a:r>
          </a:p>
          <a:p>
            <a:r>
              <a:rPr sz="1100">
                <a:latin typeface="Arial"/>
              </a:rPr>
              <a:t>WHAT NOT TO SAY: Do not add scarcity. Do not overexplain every deliverable — read the list once and move.</a:t>
            </a:r>
          </a:p>
          <a:p>
            <a:r>
              <a:rPr sz="1100">
                <a:latin typeface="Arial"/>
              </a:rPr>
              <a:t>PARTICIPANT ACTION: Listening.</a:t>
            </a:r>
          </a:p>
          <a:p>
            <a:r>
              <a:rPr sz="1100">
                <a:latin typeface="Arial"/>
              </a:rPr>
              <a:t>LIKELY MISUNDERSTANDING: Someone may think today's exercise already produced a placement. Restate plainly: today was recognition; placement requires the full instrument.</a:t>
            </a:r>
          </a:p>
          <a:p>
            <a:r>
              <a:rPr sz="1100">
                <a:latin typeface="Arial"/>
              </a:rPr>
              <a:t>TRANSITION LINE: Here is exactly what that workshop is, and how to join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32:30-45:00 — this slide stays on screen for both the workshop introduction (32:30-34:00) and the full Q&amp;A block (34:00-45:00). Do not advance to a separate Q&amp;A slide.</a:t>
            </a:r>
          </a:p>
          <a:p>
            <a:r>
              <a:rPr sz="1100">
                <a:latin typeface="Arial"/>
              </a:rPr>
              <a:t/>
            </a:r>
          </a:p>
          <a:p>
            <a:r>
              <a:rPr sz="1100">
                <a:latin typeface="Arial"/>
              </a:rPr>
              <a:t>WORKSHOP INTRODUCTION (32:30-34:00)</a:t>
            </a:r>
          </a:p>
          <a:p>
            <a:r>
              <a:rPr sz="1100">
                <a:latin typeface="Arial"/>
              </a:rPr>
              <a:t>WHAT TO SAY: If today helped you recognize a pattern, the full Position Read is where that pattern gets examined with evidence. It is a two-hour live workshop, including Q&amp;A. Point to the registration CTA once, clearly.</a:t>
            </a:r>
          </a:p>
          <a:p>
            <a:r>
              <a:rPr sz="1100">
                <a:latin typeface="Arial"/>
              </a:rPr>
              <a:t>WHAT NOT TO SAY: Do not run a hard close. Do not imply the free lesson was incomplete on purpose — it was complete for recognition.</a:t>
            </a:r>
          </a:p>
          <a:p>
            <a:r>
              <a:rPr sz="1100">
                <a:latin typeface="Arial"/>
              </a:rPr>
              <a:t>LIKELY MISUNDERSTANDING: Someone may confuse the $249 launch price with a temporary discount. It is the public launch price for the first two paid deliveries, not a founding discount — correct this if it comes up.</a:t>
            </a:r>
          </a:p>
          <a:p>
            <a:r>
              <a:rPr sz="1100">
                <a:latin typeface="Arial"/>
              </a:rPr>
              <a:t>ACTION BEFORE DELIVERY: Replace the URL and QR placeholders with the confirmed Maven registration link and the confirmed Substack link before this deck goes live.</a:t>
            </a:r>
          </a:p>
          <a:p>
            <a:r>
              <a:rPr sz="1100">
                <a:latin typeface="Arial"/>
              </a:rPr>
              <a:t/>
            </a:r>
          </a:p>
          <a:p>
            <a:r>
              <a:rPr sz="1100">
                <a:latin typeface="Arial"/>
              </a:rPr>
              <a:t>Q&amp;A (34:00-45:00) — STAY ON THIS SLIDE</a:t>
            </a:r>
          </a:p>
          <a:p>
            <a:r>
              <a:rPr sz="1100">
                <a:latin typeface="Arial"/>
              </a:rPr>
              <a:t>Keep answers short. Answer the principle, not the person's career decision.</a:t>
            </a:r>
          </a:p>
          <a:p>
            <a:r>
              <a:rPr sz="1100">
                <a:latin typeface="Arial"/>
              </a:rPr>
              <a:t>GOOD Q&amp;A QUESTIONS: How do I tell the difference between performance and formation? What does portability mean? What kind of evidence counts?</a:t>
            </a:r>
          </a:p>
          <a:p>
            <a:r>
              <a:rPr sz="1100">
                <a:latin typeface="Arial"/>
              </a:rPr>
              <a:t>QUESTIONS TO REDIRECT: Should I leave? What state am I in? What should I do about my manager? Can you score my situation?</a:t>
            </a:r>
          </a:p>
          <a:p>
            <a:r>
              <a:rPr sz="1100">
                <a:latin typeface="Arial"/>
              </a:rPr>
              <a:t>Q&amp;A BOUNDARY (say this): "I can help you clarify what the pattern suggests examining. I cannot make the employment decision for you."</a:t>
            </a:r>
          </a:p>
          <a:p>
            <a:r>
              <a:rPr sz="1100">
                <a:latin typeface="Arial"/>
              </a:rPr>
              <a:t>IF ASKED WHY NO ONE IS SCORED HERE: "Questions about the ideas are welcome. Individual situations will not be scored or diagnosed in this room."</a:t>
            </a:r>
          </a:p>
          <a:p>
            <a:r>
              <a:rPr sz="1100">
                <a:latin typeface="Arial"/>
              </a:rPr>
              <a:t>WHAT NOT TO SAY: Do not score anyone's situation live. Do not name a Career State for anyone. Do not tell anyone to stay or leave.</a:t>
            </a:r>
          </a:p>
          <a:p>
            <a:r>
              <a:rPr sz="1100">
                <a:latin typeface="Arial"/>
              </a:rPr>
              <a:t>FACILITATOR REFERENCE: A hidden slide immediately after this one (not shown in the live sequence) holds this same Q&amp;A guidance in card form, in case you prefer glancing at Slide Sorter / Presenter view instead of these notes.</a:t>
            </a:r>
          </a:p>
          <a:p>
            <a:r>
              <a:rPr sz="1100">
                <a:latin typeface="Arial"/>
              </a:rPr>
              <a:t>CLOSE: Thank the room. The registration link and QR code are already on screen — no need to switch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THIS SLIDE IS HIDDEN — it does not appear during normal Slide Show playback (View &gt; Hide Slide is set). It is kept only as a facilitator-quick-reference card.</a:t>
            </a:r>
          </a:p>
          <a:p>
            <a:r>
              <a:rPr sz="1100">
                <a:latin typeface="Arial"/>
              </a:rPr>
              <a:t/>
            </a:r>
          </a:p>
          <a:p>
            <a:r>
              <a:rPr sz="1100">
                <a:latin typeface="Arial"/>
              </a:rPr>
              <a:t>Live Q&amp;A now happens on slide 13 (Invitation), which stays on screen from 32:30 through 45:00. The guidance below is duplicated there in note form; use whichever view is easier to glance at.</a:t>
            </a:r>
          </a:p>
          <a:p>
            <a:r>
              <a:rPr sz="1100">
                <a:latin typeface="Arial"/>
              </a:rPr>
              <a:t/>
            </a:r>
          </a:p>
          <a:p>
            <a:r>
              <a:rPr sz="1100">
                <a:latin typeface="Arial"/>
              </a:rPr>
              <a:t>GOOD Q&amp;A QUESTIONS: How do I tell the difference between performance and formation? What does portability mean? What kind of evidence counts?</a:t>
            </a:r>
          </a:p>
          <a:p>
            <a:r>
              <a:rPr sz="1100">
                <a:latin typeface="Arial"/>
              </a:rPr>
              <a:t>QUESTIONS TO REDIRECT: Should I leave? What state am I in? What should I do about my manager? Can you score my situation?</a:t>
            </a:r>
          </a:p>
          <a:p>
            <a:r>
              <a:rPr sz="1100">
                <a:latin typeface="Arial"/>
              </a:rPr>
              <a:t>BOUNDARY LINE: "I can help you clarify what the pattern suggests examining. I cannot make the employment decision for you."</a:t>
            </a:r>
          </a:p>
          <a:p>
            <a:r>
              <a:rPr sz="1100">
                <a:latin typeface="Arial"/>
              </a:rPr>
              <a:t>DO NOT unhide this slide and advance to it during a live session — the registration and pricing on slide 13 must stay visible for the whole Q&amp;A block.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Not part of the timed 45-minute session. Use only if delivering to a room with extra time, or share as a leave-behind slide in the deck PDF.</a:t>
            </a:r>
          </a:p>
          <a:p>
            <a:r>
              <a:rPr sz="1100">
                <a:latin typeface="Arial"/>
              </a:rPr>
              <a:t>WHAT TO SAY: Keep this short even here. This is about the reading, not tools.</a:t>
            </a:r>
          </a:p>
          <a:p>
            <a:r>
              <a:rPr sz="1100">
                <a:latin typeface="Arial"/>
              </a:rPr>
              <a:t>WHAT NOT TO SAY: No tool names. No prompting advice. No job-loss predictions. No industry forecasts.</a:t>
            </a:r>
          </a:p>
          <a:p>
            <a:r>
              <a:rPr sz="1100">
                <a:latin typeface="Arial"/>
              </a:rPr>
              <a:t>PARTICIPANT ACTION: None — this is reference material, not a live teaching beat.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itleNavyPanel"/>
          <p:cNvSpPr/>
          <p:nvPr/>
        </p:nvSpPr>
        <p:spPr>
          <a:xfrm>
            <a:off x="0" y="0"/>
            <a:ext cx="7589520" cy="544068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apabilityCurve1"/>
          <p:cNvCxnSpPr/>
          <p:nvPr/>
        </p:nvCxnSpPr>
        <p:spPr>
          <a:xfrm flipV="1">
            <a:off x="7909560" y="1600200"/>
            <a:ext cx="1554480" cy="3246120"/>
          </a:xfrm>
          <a:prstGeom prst="line">
            <a:avLst/>
          </a:prstGeom>
          <a:ln w="22225">
            <a:solidFill>
              <a:srgbClr val="E8DFCC"/>
            </a:solidFill>
          </a:ln>
        </p:spPr>
        <p:style>
          <a:lnRef idx="2">
            <a:schemeClr val="accent1"/>
          </a:lnRef>
          <a:fillRef idx="0">
            <a:schemeClr val="accent1"/>
          </a:fillRef>
          <a:effectRef idx="1">
            <a:schemeClr val="accent1"/>
          </a:effectRef>
          <a:fontRef idx="minor">
            <a:schemeClr val="tx1"/>
          </a:fontRef>
        </p:style>
      </p:cxnSp>
      <p:cxnSp>
        <p:nvCxnSpPr>
          <p:cNvPr id="4" name="CapabilityCurve2"/>
          <p:cNvCxnSpPr/>
          <p:nvPr/>
        </p:nvCxnSpPr>
        <p:spPr>
          <a:xfrm flipV="1">
            <a:off x="9464040" y="1371600"/>
            <a:ext cx="2423160" cy="228600"/>
          </a:xfrm>
          <a:prstGeom prst="line">
            <a:avLst/>
          </a:prstGeom>
          <a:ln w="22225">
            <a:solidFill>
              <a:srgbClr val="E8DFCC"/>
            </a:solidFill>
          </a:ln>
        </p:spPr>
        <p:style>
          <a:lnRef idx="2">
            <a:schemeClr val="accent1"/>
          </a:lnRef>
          <a:fillRef idx="0">
            <a:schemeClr val="accent1"/>
          </a:fillRef>
          <a:effectRef idx="1">
            <a:schemeClr val="accent1"/>
          </a:effectRef>
          <a:fontRef idx="minor">
            <a:schemeClr val="tx1"/>
          </a:fontRef>
        </p:style>
      </p:cxnSp>
      <p:pic>
        <p:nvPicPr>
          <p:cNvPr id="5" name="TitleHeadshot" descr="temi_cutout_crop.png"/>
          <p:cNvPicPr>
            <a:picLocks noChangeAspect="1"/>
          </p:cNvPicPr>
          <p:nvPr/>
        </p:nvPicPr>
        <p:blipFill>
          <a:blip r:embed="rId3"/>
          <a:stretch>
            <a:fillRect/>
          </a:stretch>
        </p:blipFill>
        <p:spPr>
          <a:xfrm>
            <a:off x="7859927" y="594360"/>
            <a:ext cx="4061361" cy="4343400"/>
          </a:xfrm>
          <a:prstGeom prst="rect">
            <a:avLst/>
          </a:prstGeom>
        </p:spPr>
      </p:pic>
      <p:sp>
        <p:nvSpPr>
          <p:cNvPr id="6" name="TitleLabel"/>
          <p:cNvSpPr txBox="1"/>
          <p:nvPr/>
        </p:nvSpPr>
        <p:spPr>
          <a:xfrm>
            <a:off x="658368" y="566928"/>
            <a:ext cx="6272784" cy="292608"/>
          </a:xfrm>
          <a:prstGeom prst="rect">
            <a:avLst/>
          </a:prstGeom>
          <a:noFill/>
        </p:spPr>
        <p:txBody>
          <a:bodyPr wrap="square" lIns="0" rIns="0" tIns="0" bIns="0">
            <a:noAutofit/>
          </a:bodyPr>
          <a:lstStyle/>
          <a:p>
            <a:pPr>
              <a:lnSpc>
                <a:spcPct val="108000"/>
              </a:lnSpc>
            </a:pPr>
            <a:r>
              <a:rPr sz="1300" b="1" i="0">
                <a:solidFill>
                  <a:srgbClr val="C9A84C"/>
                </a:solidFill>
                <a:latin typeface="Arial"/>
              </a:rPr>
              <a:t>FREE LIGHTNING LESSON  ·  45 MINUTES</a:t>
            </a:r>
          </a:p>
        </p:txBody>
      </p:sp>
      <p:sp>
        <p:nvSpPr>
          <p:cNvPr id="7" name="TitleMain"/>
          <p:cNvSpPr txBox="1"/>
          <p:nvPr/>
        </p:nvSpPr>
        <p:spPr>
          <a:xfrm>
            <a:off x="658368" y="1060704"/>
            <a:ext cx="6272784" cy="1600200"/>
          </a:xfrm>
          <a:prstGeom prst="rect">
            <a:avLst/>
          </a:prstGeom>
          <a:noFill/>
        </p:spPr>
        <p:txBody>
          <a:bodyPr wrap="square" lIns="0" rIns="0" tIns="0" bIns="0">
            <a:noAutofit/>
          </a:bodyPr>
          <a:lstStyle/>
          <a:p>
            <a:pPr>
              <a:lnSpc>
                <a:spcPct val="105000"/>
              </a:lnSpc>
            </a:pPr>
            <a:r>
              <a:rPr sz="4100" b="1" i="0">
                <a:solidFill>
                  <a:srgbClr val="F5F0E8"/>
                </a:solidFill>
                <a:latin typeface="Georgia"/>
              </a:rPr>
              <a:t>How to Tell If Your</a:t>
            </a:r>
          </a:p>
          <a:p>
            <a:pPr>
              <a:lnSpc>
                <a:spcPct val="105000"/>
              </a:lnSpc>
              <a:spcBef>
                <a:spcPts val="0"/>
              </a:spcBef>
            </a:pPr>
            <a:r>
              <a:rPr sz="4100" b="1" i="0">
                <a:solidFill>
                  <a:srgbClr val="F5F0E8"/>
                </a:solidFill>
                <a:latin typeface="Georgia"/>
              </a:rPr>
              <a:t>Career Is Stalling</a:t>
            </a:r>
          </a:p>
        </p:txBody>
      </p:sp>
      <p:sp>
        <p:nvSpPr>
          <p:cNvPr id="8" name="TitleSupportLine"/>
          <p:cNvSpPr txBox="1"/>
          <p:nvPr/>
        </p:nvSpPr>
        <p:spPr>
          <a:xfrm>
            <a:off x="658368" y="2907792"/>
            <a:ext cx="6272784" cy="685800"/>
          </a:xfrm>
          <a:prstGeom prst="rect">
            <a:avLst/>
          </a:prstGeom>
          <a:noFill/>
        </p:spPr>
        <p:txBody>
          <a:bodyPr wrap="square" lIns="0" rIns="0" tIns="0" bIns="0">
            <a:noAutofit/>
          </a:bodyPr>
          <a:lstStyle/>
          <a:p>
            <a:pPr>
              <a:lnSpc>
                <a:spcPct val="120000"/>
              </a:lnSpc>
            </a:pPr>
            <a:r>
              <a:rPr sz="1650" b="0" i="0">
                <a:solidFill>
                  <a:srgbClr val="F5F0E8"/>
                </a:solidFill>
                <a:latin typeface="Arial"/>
              </a:rPr>
              <a:t>Strong performance can hide a role that has stopped building you.</a:t>
            </a:r>
          </a:p>
        </p:txBody>
      </p:sp>
      <p:sp>
        <p:nvSpPr>
          <p:cNvPr id="9" name="TitleAuthorName"/>
          <p:cNvSpPr txBox="1"/>
          <p:nvPr/>
        </p:nvSpPr>
        <p:spPr>
          <a:xfrm>
            <a:off x="658368" y="4224528"/>
            <a:ext cx="6272784" cy="384048"/>
          </a:xfrm>
          <a:prstGeom prst="rect">
            <a:avLst/>
          </a:prstGeom>
          <a:noFill/>
        </p:spPr>
        <p:txBody>
          <a:bodyPr wrap="square" lIns="0" rIns="0" tIns="0" bIns="0">
            <a:noAutofit/>
          </a:bodyPr>
          <a:lstStyle/>
          <a:p>
            <a:pPr>
              <a:lnSpc>
                <a:spcPct val="108000"/>
              </a:lnSpc>
            </a:pPr>
            <a:r>
              <a:rPr sz="1800" b="1" i="0">
                <a:solidFill>
                  <a:srgbClr val="F5F0E8"/>
                </a:solidFill>
                <a:latin typeface="Georgia"/>
              </a:rPr>
              <a:t>Temidayo Afonja</a:t>
            </a:r>
          </a:p>
        </p:txBody>
      </p:sp>
      <p:sp>
        <p:nvSpPr>
          <p:cNvPr id="10" name="TitleAuthorCred"/>
          <p:cNvSpPr txBox="1"/>
          <p:nvPr/>
        </p:nvSpPr>
        <p:spPr>
          <a:xfrm>
            <a:off x="658368" y="4645152"/>
            <a:ext cx="6272784" cy="292608"/>
          </a:xfrm>
          <a:prstGeom prst="rect">
            <a:avLst/>
          </a:prstGeom>
          <a:noFill/>
        </p:spPr>
        <p:txBody>
          <a:bodyPr wrap="square" lIns="0" rIns="0" tIns="0" bIns="0">
            <a:noAutofit/>
          </a:bodyPr>
          <a:lstStyle/>
          <a:p>
            <a:pPr>
              <a:lnSpc>
                <a:spcPct val="108000"/>
              </a:lnSpc>
            </a:pPr>
            <a:r>
              <a:rPr sz="1150" b="0" i="0">
                <a:solidFill>
                  <a:srgbClr val="C9A84C"/>
                </a:solidFill>
                <a:latin typeface="Arial"/>
              </a:rPr>
              <a:t>Founder, The Density Group · Author, The Capability Audit</a:t>
            </a:r>
          </a:p>
        </p:txBody>
      </p:sp>
      <p:sp>
        <p:nvSpPr>
          <p:cNvPr id="11" name="TitleExplainerBand"/>
          <p:cNvSpPr txBox="1"/>
          <p:nvPr/>
        </p:nvSpPr>
        <p:spPr>
          <a:xfrm>
            <a:off x="658368" y="5577840"/>
            <a:ext cx="10874959" cy="658368"/>
          </a:xfrm>
          <a:prstGeom prst="rect">
            <a:avLst/>
          </a:prstGeom>
          <a:noFill/>
        </p:spPr>
        <p:txBody>
          <a:bodyPr wrap="square" lIns="0" rIns="0" tIns="0" bIns="0">
            <a:noAutofit/>
          </a:bodyPr>
          <a:lstStyle/>
          <a:p>
            <a:pPr>
              <a:lnSpc>
                <a:spcPct val="125000"/>
              </a:lnSpc>
            </a:pPr>
            <a:r>
              <a:rPr sz="1450" b="0" i="0">
                <a:solidFill>
                  <a:srgbClr val="0F2347"/>
                </a:solidFill>
                <a:latin typeface="Arial"/>
              </a:rPr>
              <a:t>Three signs your role may have stopped building your skills and future options, even while you are performing well.</a:t>
            </a:r>
          </a:p>
        </p:txBody>
      </p:sp>
      <p:sp>
        <p:nvSpPr>
          <p:cNvPr id="12" name="TitleFooterBrand"/>
          <p:cNvSpPr txBox="1"/>
          <p:nvPr/>
        </p:nvSpPr>
        <p:spPr>
          <a:xfrm>
            <a:off x="658368" y="6519672"/>
            <a:ext cx="5486400" cy="182880"/>
          </a:xfrm>
          <a:prstGeom prst="rect">
            <a:avLst/>
          </a:prstGeom>
          <a:noFill/>
        </p:spPr>
        <p:txBody>
          <a:bodyPr wrap="none" lIns="0" rIns="0" tIns="0" bIns="0">
            <a:spAutoFit/>
          </a:bodyPr>
          <a:lstStyle/>
          <a:p>
            <a:r>
              <a:rPr sz="760" b="1">
                <a:solidFill>
                  <a:srgbClr val="0F2347"/>
                </a:solidFill>
                <a:latin typeface="Arial"/>
              </a:rPr>
              <a:t>TEMIDAYO AFONJA   |   TEMIDAYOAFONJA.COM</a:t>
            </a:r>
          </a:p>
        </p:txBody>
      </p:sp>
      <p:sp>
        <p:nvSpPr>
          <p:cNvPr id="13" name="TitleFooterNum"/>
          <p:cNvSpPr txBox="1"/>
          <p:nvPr/>
        </p:nvSpPr>
        <p:spPr>
          <a:xfrm>
            <a:off x="11430000" y="6519672"/>
            <a:ext cx="256032" cy="182880"/>
          </a:xfrm>
          <a:prstGeom prst="rect">
            <a:avLst/>
          </a:prstGeom>
          <a:noFill/>
        </p:spPr>
        <p:txBody>
          <a:bodyPr wrap="none" lIns="0" rIns="0" tIns="0" bIns="0">
            <a:spAutoFit/>
          </a:bodyPr>
          <a:lstStyle/>
          <a:p>
            <a:r>
              <a:rPr sz="760" b="1">
                <a:solidFill>
                  <a:srgbClr val="0F2347"/>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WELCOME</a:t>
            </a:r>
          </a:p>
        </p:txBody>
      </p:sp>
      <p:sp>
        <p:nvSpPr>
          <p:cNvPr id="3" name="TextBox 2"/>
          <p:cNvSpPr txBox="1"/>
          <p:nvPr/>
        </p:nvSpPr>
        <p:spPr>
          <a:xfrm>
            <a:off x="658368" y="914400"/>
            <a:ext cx="6675120" cy="54864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Why I Built This Lesson</a:t>
            </a:r>
          </a:p>
        </p:txBody>
      </p:sp>
      <p:sp>
        <p:nvSpPr>
          <p:cNvPr id="4" name="Rectangle 3"/>
          <p:cNvSpPr/>
          <p:nvPr/>
        </p:nvSpPr>
        <p:spPr>
          <a:xfrm>
            <a:off x="676656" y="1600200"/>
            <a:ext cx="237744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47088"/>
            <a:ext cx="6492240" cy="320040"/>
          </a:xfrm>
          <a:prstGeom prst="rect">
            <a:avLst/>
          </a:prstGeom>
          <a:noFill/>
        </p:spPr>
        <p:txBody>
          <a:bodyPr wrap="square" lIns="0" rIns="0" tIns="0" bIns="0" anchor="t">
            <a:spAutoFit/>
          </a:bodyPr>
          <a:lstStyle/>
          <a:p>
            <a:pPr algn="l">
              <a:lnSpc>
                <a:spcPct val="115000"/>
              </a:lnSpc>
            </a:pPr>
            <a:r>
              <a:rPr sz="1900" b="1" i="0">
                <a:solidFill>
                  <a:srgbClr val="0F2347"/>
                </a:solidFill>
                <a:latin typeface="Georgia"/>
              </a:rPr>
              <a:t>Temidayo Afonja</a:t>
            </a:r>
          </a:p>
        </p:txBody>
      </p:sp>
      <p:sp>
        <p:nvSpPr>
          <p:cNvPr id="6" name="TextBox 5"/>
          <p:cNvSpPr txBox="1"/>
          <p:nvPr/>
        </p:nvSpPr>
        <p:spPr>
          <a:xfrm>
            <a:off x="658368" y="2212848"/>
            <a:ext cx="6492240" cy="502920"/>
          </a:xfrm>
          <a:prstGeom prst="rect">
            <a:avLst/>
          </a:prstGeom>
          <a:noFill/>
        </p:spPr>
        <p:txBody>
          <a:bodyPr wrap="square" lIns="0" rIns="0" tIns="0" bIns="0" anchor="t">
            <a:spAutoFit/>
          </a:bodyPr>
          <a:lstStyle/>
          <a:p>
            <a:pPr algn="l">
              <a:lnSpc>
                <a:spcPct val="130000"/>
              </a:lnSpc>
            </a:pPr>
            <a:r>
              <a:rPr sz="1200" b="0" i="1">
                <a:solidFill>
                  <a:srgbClr val="152B4C"/>
                </a:solidFill>
                <a:latin typeface="Arial"/>
              </a:rPr>
              <a:t>Organizational capability strategist. Founder, The Density Group. Author, The Capability Audit.</a:t>
            </a:r>
          </a:p>
        </p:txBody>
      </p:sp>
      <p:sp>
        <p:nvSpPr>
          <p:cNvPr id="7" name="TextBox 6"/>
          <p:cNvSpPr txBox="1"/>
          <p:nvPr/>
        </p:nvSpPr>
        <p:spPr>
          <a:xfrm>
            <a:off x="658368" y="2816352"/>
            <a:ext cx="6492240" cy="594360"/>
          </a:xfrm>
          <a:prstGeom prst="rect">
            <a:avLst/>
          </a:prstGeom>
          <a:noFill/>
        </p:spPr>
        <p:txBody>
          <a:bodyPr wrap="square" lIns="0" rIns="0" tIns="0" bIns="0" anchor="t">
            <a:spAutoFit/>
          </a:bodyPr>
          <a:lstStyle/>
          <a:p>
            <a:pPr algn="l">
              <a:lnSpc>
                <a:spcPct val="135000"/>
              </a:lnSpc>
            </a:pPr>
            <a:r>
              <a:rPr sz="1300" b="0" i="0">
                <a:solidFill>
                  <a:srgbClr val="152B4C"/>
                </a:solidFill>
                <a:latin typeface="Arial"/>
              </a:rPr>
              <a:t>For nearly two decades, I worked inside enterprise rooms where performance, promotion, capability, and organizational change were assessed.</a:t>
            </a:r>
          </a:p>
        </p:txBody>
      </p:sp>
      <p:sp>
        <p:nvSpPr>
          <p:cNvPr id="8" name="TextBox 7"/>
          <p:cNvSpPr txBox="1"/>
          <p:nvPr/>
        </p:nvSpPr>
        <p:spPr>
          <a:xfrm>
            <a:off x="658368" y="3493008"/>
            <a:ext cx="6492240" cy="320040"/>
          </a:xfrm>
          <a:prstGeom prst="rect">
            <a:avLst/>
          </a:prstGeom>
          <a:noFill/>
        </p:spPr>
        <p:txBody>
          <a:bodyPr wrap="square" lIns="0" rIns="0" tIns="0" bIns="0" anchor="t">
            <a:spAutoFit/>
          </a:bodyPr>
          <a:lstStyle/>
          <a:p>
            <a:pPr algn="l">
              <a:lnSpc>
                <a:spcPct val="115000"/>
              </a:lnSpc>
            </a:pPr>
            <a:r>
              <a:rPr sz="1500" b="1" i="1">
                <a:solidFill>
                  <a:srgbClr val="0F2347"/>
                </a:solidFill>
                <a:latin typeface="Georgia"/>
              </a:rPr>
              <a:t>In 2026, the question became personal.</a:t>
            </a:r>
          </a:p>
        </p:txBody>
      </p:sp>
      <p:sp>
        <p:nvSpPr>
          <p:cNvPr id="9" name="Rectangle 8"/>
          <p:cNvSpPr/>
          <p:nvPr/>
        </p:nvSpPr>
        <p:spPr>
          <a:xfrm>
            <a:off x="658368" y="3950208"/>
            <a:ext cx="6492240" cy="1051560"/>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0520"/>
            <a:ext cx="5989320" cy="777240"/>
          </a:xfrm>
          <a:prstGeom prst="rect">
            <a:avLst/>
          </a:prstGeom>
          <a:noFill/>
        </p:spPr>
        <p:txBody>
          <a:bodyPr wrap="square" lIns="0" rIns="0" tIns="0" bIns="0" anchor="t">
            <a:spAutoFit/>
          </a:bodyPr>
          <a:lstStyle/>
          <a:p>
            <a:pPr algn="l">
              <a:lnSpc>
                <a:spcPct val="125000"/>
              </a:lnSpc>
            </a:pPr>
            <a:r>
              <a:rPr sz="1600" b="1" i="1">
                <a:solidFill>
                  <a:srgbClr val="0F2347"/>
                </a:solidFill>
                <a:latin typeface="Georgia"/>
              </a:rPr>
              <a:t>“My performance had shaped my standing. It had not insulated the role from a change in structure.”</a:t>
            </a:r>
          </a:p>
        </p:txBody>
      </p:sp>
      <p:sp>
        <p:nvSpPr>
          <p:cNvPr id="11" name="TextBox 10"/>
          <p:cNvSpPr txBox="1"/>
          <p:nvPr/>
        </p:nvSpPr>
        <p:spPr>
          <a:xfrm>
            <a:off x="658368" y="5257800"/>
            <a:ext cx="6492240" cy="685800"/>
          </a:xfrm>
          <a:prstGeom prst="rect">
            <a:avLst/>
          </a:prstGeom>
          <a:noFill/>
        </p:spPr>
        <p:txBody>
          <a:bodyPr wrap="square" lIns="0" rIns="0" tIns="0" bIns="0" anchor="t">
            <a:spAutoFit/>
          </a:bodyPr>
          <a:lstStyle/>
          <a:p>
            <a:pPr algn="l">
              <a:lnSpc>
                <a:spcPct val="125000"/>
              </a:lnSpc>
            </a:pPr>
            <a:r>
              <a:rPr sz="1700" b="1" i="1">
                <a:solidFill>
                  <a:srgbClr val="0F2347"/>
                </a:solidFill>
                <a:latin typeface="Georgia"/>
              </a:rPr>
              <a:t>“Can a career begin to stall while the person is still performing well?”</a:t>
            </a:r>
          </a:p>
        </p:txBody>
      </p:sp>
      <p:sp>
        <p:nvSpPr>
          <p:cNvPr id="12" name="TextBox 11"/>
          <p:cNvSpPr txBox="1"/>
          <p:nvPr/>
        </p:nvSpPr>
        <p:spPr>
          <a:xfrm>
            <a:off x="658368" y="6053328"/>
            <a:ext cx="6492240" cy="274320"/>
          </a:xfrm>
          <a:prstGeom prst="rect">
            <a:avLst/>
          </a:prstGeom>
          <a:noFill/>
        </p:spPr>
        <p:txBody>
          <a:bodyPr wrap="square" lIns="0" rIns="0" tIns="0" bIns="0" anchor="t">
            <a:spAutoFit/>
          </a:bodyPr>
          <a:lstStyle/>
          <a:p>
            <a:pPr algn="l">
              <a:lnSpc>
                <a:spcPct val="115000"/>
              </a:lnSpc>
            </a:pPr>
            <a:r>
              <a:rPr sz="1050" b="0" i="1">
                <a:solidFill>
                  <a:srgbClr val="152B4C"/>
                </a:solidFill>
                <a:latin typeface="Arial"/>
              </a:rPr>
              <a:t>Experience across PwC, Deloitte, EY, and enterprise leadership.</a:t>
            </a:r>
          </a:p>
        </p:txBody>
      </p:sp>
      <p:pic>
        <p:nvPicPr>
          <p:cNvPr id="13" name="Picture 12" descr="temi-photo.jpg"/>
          <p:cNvPicPr>
            <a:picLocks noChangeAspect="1"/>
          </p:cNvPicPr>
          <p:nvPr/>
        </p:nvPicPr>
        <p:blipFill>
          <a:blip r:embed="rId2"/>
          <a:stretch>
            <a:fillRect/>
          </a:stretch>
        </p:blipFill>
        <p:spPr>
          <a:xfrm>
            <a:off x="8183879" y="1417320"/>
            <a:ext cx="3520440" cy="3520440"/>
          </a:xfrm>
          <a:prstGeom prst="rect">
            <a:avLst/>
          </a:prstGeom>
          <a:ln w="19050">
            <a:solidFill>
              <a:srgbClr val="C9A84C"/>
            </a:solidFill>
          </a:ln>
        </p:spPr>
      </p:pic>
      <p:sp>
        <p:nvSpPr>
          <p:cNvPr id="14" name="TextBox 13"/>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5" name="TextBox 14"/>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BOUNDARY</a:t>
            </a:r>
          </a:p>
        </p:txBody>
      </p:sp>
      <p:sp>
        <p:nvSpPr>
          <p:cNvPr id="3" name="TextBox 2"/>
          <p:cNvSpPr txBox="1"/>
          <p:nvPr/>
        </p:nvSpPr>
        <p:spPr>
          <a:xfrm>
            <a:off x="658368" y="1097280"/>
            <a:ext cx="987552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What this lesson will not do.</a:t>
            </a:r>
          </a:p>
        </p:txBody>
      </p:sp>
      <p:sp>
        <p:nvSpPr>
          <p:cNvPr id="4" name="Rectangle 3"/>
          <p:cNvSpPr/>
          <p:nvPr/>
        </p:nvSpPr>
        <p:spPr>
          <a:xfrm>
            <a:off x="676656" y="17830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6656" y="2103120"/>
            <a:ext cx="10058400" cy="1005840"/>
          </a:xfrm>
          <a:prstGeom prst="rect">
            <a:avLst/>
          </a:prstGeom>
          <a:noFill/>
        </p:spPr>
        <p:txBody>
          <a:bodyPr wrap="square" lIns="0" rIns="0" tIns="0" bIns="0" anchor="t">
            <a:spAutoFit/>
          </a:bodyPr>
          <a:lstStyle/>
          <a:p>
            <a:pPr algn="l">
              <a:lnSpc>
                <a:spcPct val="135000"/>
              </a:lnSpc>
            </a:pPr>
            <a:r>
              <a:rPr sz="1800" b="0" i="0">
                <a:solidFill>
                  <a:srgbClr val="152B4C"/>
                </a:solidFill>
                <a:latin typeface="Arial"/>
              </a:rPr>
              <a:t>This free lesson will not tell you whether to stay or leave, place you into a Career State, or replace the full Position Read. It will help you recognize three signs worth examining in your own work.</a:t>
            </a:r>
          </a:p>
        </p:txBody>
      </p:sp>
      <p:sp>
        <p:nvSpPr>
          <p:cNvPr id="6" name="TextBox 5"/>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7" name="TextBox 6"/>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OPENING POLL</a:t>
            </a:r>
          </a:p>
        </p:txBody>
      </p:sp>
      <p:sp>
        <p:nvSpPr>
          <p:cNvPr id="3" name="TextBox 2"/>
          <p:cNvSpPr txBox="1"/>
          <p:nvPr/>
        </p:nvSpPr>
        <p:spPr>
          <a:xfrm>
            <a:off x="658368" y="1143000"/>
            <a:ext cx="987552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What brought you here today?</a:t>
            </a:r>
          </a:p>
        </p:txBody>
      </p:sp>
      <p:sp>
        <p:nvSpPr>
          <p:cNvPr id="4" name="TextBox 3"/>
          <p:cNvSpPr txBox="1"/>
          <p:nvPr/>
        </p:nvSpPr>
        <p:spPr>
          <a:xfrm>
            <a:off x="676656" y="1828800"/>
            <a:ext cx="877824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Choose the closest reason. No explanation needed.</a:t>
            </a:r>
          </a:p>
        </p:txBody>
      </p:sp>
      <p:sp>
        <p:nvSpPr>
          <p:cNvPr id="5" name="Rectangle 4"/>
          <p:cNvSpPr/>
          <p:nvPr/>
        </p:nvSpPr>
        <p:spPr>
          <a:xfrm>
            <a:off x="868680" y="251460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67919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Promotion or larger role</a:t>
            </a:r>
          </a:p>
        </p:txBody>
      </p:sp>
      <p:sp>
        <p:nvSpPr>
          <p:cNvPr id="7" name="Rectangle 6"/>
          <p:cNvSpPr/>
          <p:nvPr/>
        </p:nvSpPr>
        <p:spPr>
          <a:xfrm>
            <a:off x="6080760" y="251460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81928" y="267919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Reorganization or role change</a:t>
            </a:r>
          </a:p>
        </p:txBody>
      </p:sp>
      <p:sp>
        <p:nvSpPr>
          <p:cNvPr id="9" name="Rectangle 8"/>
          <p:cNvSpPr/>
          <p:nvPr/>
        </p:nvSpPr>
        <p:spPr>
          <a:xfrm>
            <a:off x="868680" y="347472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63931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Internal move decision</a:t>
            </a:r>
          </a:p>
        </p:txBody>
      </p:sp>
      <p:sp>
        <p:nvSpPr>
          <p:cNvPr id="11" name="Rectangle 10"/>
          <p:cNvSpPr/>
          <p:nvPr/>
        </p:nvSpPr>
        <p:spPr>
          <a:xfrm>
            <a:off x="6080760" y="347472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3931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External opportunity</a:t>
            </a:r>
          </a:p>
        </p:txBody>
      </p:sp>
      <p:sp>
        <p:nvSpPr>
          <p:cNvPr id="13" name="Rectangle 12"/>
          <p:cNvSpPr/>
          <p:nvPr/>
        </p:nvSpPr>
        <p:spPr>
          <a:xfrm>
            <a:off x="868680" y="443484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599431"/>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My role feels static</a:t>
            </a:r>
          </a:p>
        </p:txBody>
      </p:sp>
      <p:sp>
        <p:nvSpPr>
          <p:cNvPr id="15" name="Rectangle 14"/>
          <p:cNvSpPr/>
          <p:nvPr/>
        </p:nvSpPr>
        <p:spPr>
          <a:xfrm>
            <a:off x="6080760" y="443484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4599431"/>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General uncertainty</a:t>
            </a:r>
          </a:p>
        </p:txBody>
      </p:sp>
      <p:pic>
        <p:nvPicPr>
          <p:cNvPr id="17" name="Picture 16" descr="poll_question_mark.png"/>
          <p:cNvPicPr>
            <a:picLocks noChangeAspect="1"/>
          </p:cNvPicPr>
          <p:nvPr/>
        </p:nvPicPr>
        <p:blipFill>
          <a:blip r:embed="rId2"/>
          <a:stretch>
            <a:fillRect/>
          </a:stretch>
        </p:blipFill>
        <p:spPr>
          <a:xfrm>
            <a:off x="10195560" y="502920"/>
            <a:ext cx="1081007" cy="1417320"/>
          </a:xfrm>
          <a:prstGeom prst="rect">
            <a:avLst/>
          </a:prstGeom>
        </p:spPr>
      </p:pic>
      <p:sp>
        <p:nvSpPr>
          <p:cNvPr id="18" name="TextBox 1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9" name="TextBox 1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WHAT YOU’LL LEAVE WITH</a:t>
            </a:r>
          </a:p>
        </p:txBody>
      </p:sp>
      <p:sp>
        <p:nvSpPr>
          <p:cNvPr id="3" name="TextBox 2"/>
          <p:cNvSpPr txBox="1"/>
          <p:nvPr/>
        </p:nvSpPr>
        <p:spPr>
          <a:xfrm>
            <a:off x="658368" y="1051560"/>
            <a:ext cx="1024128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Here’s What You’ll Leave With Today</a:t>
            </a:r>
          </a:p>
        </p:txBody>
      </p:sp>
      <p:sp>
        <p:nvSpPr>
          <p:cNvPr id="4" name="Rectangle 3"/>
          <p:cNvSpPr/>
          <p:nvPr/>
        </p:nvSpPr>
        <p:spPr>
          <a:xfrm>
            <a:off x="676656" y="1874519"/>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331720"/>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400300"/>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1</a:t>
            </a:r>
          </a:p>
        </p:txBody>
      </p:sp>
      <p:sp>
        <p:nvSpPr>
          <p:cNvPr id="7" name="TextBox 6"/>
          <p:cNvSpPr txBox="1"/>
          <p:nvPr/>
        </p:nvSpPr>
        <p:spPr>
          <a:xfrm>
            <a:off x="1261872" y="2313432"/>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THE DIFFERENCE</a:t>
            </a:r>
          </a:p>
        </p:txBody>
      </p:sp>
      <p:sp>
        <p:nvSpPr>
          <p:cNvPr id="8" name="TextBox 7"/>
          <p:cNvSpPr txBox="1"/>
          <p:nvPr/>
        </p:nvSpPr>
        <p:spPr>
          <a:xfrm>
            <a:off x="1261872" y="2679191"/>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How to distinguish strong performance from continuing career growth.</a:t>
            </a:r>
          </a:p>
        </p:txBody>
      </p:sp>
      <p:sp>
        <p:nvSpPr>
          <p:cNvPr id="9" name="Rounded Rectangle 8"/>
          <p:cNvSpPr/>
          <p:nvPr/>
        </p:nvSpPr>
        <p:spPr>
          <a:xfrm>
            <a:off x="713232" y="3520439"/>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89019"/>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2</a:t>
            </a:r>
          </a:p>
        </p:txBody>
      </p:sp>
      <p:sp>
        <p:nvSpPr>
          <p:cNvPr id="11" name="TextBox 10"/>
          <p:cNvSpPr txBox="1"/>
          <p:nvPr/>
        </p:nvSpPr>
        <p:spPr>
          <a:xfrm>
            <a:off x="1261872" y="3502151"/>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YOUR CAREER STALL CHECK</a:t>
            </a:r>
          </a:p>
        </p:txBody>
      </p:sp>
      <p:sp>
        <p:nvSpPr>
          <p:cNvPr id="12" name="TextBox 11"/>
          <p:cNvSpPr txBox="1"/>
          <p:nvPr/>
        </p:nvSpPr>
        <p:spPr>
          <a:xfrm>
            <a:off x="1261872" y="3867911"/>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A Career Stall Check grounded in one example from your last 90 days.</a:t>
            </a:r>
          </a:p>
        </p:txBody>
      </p:sp>
      <p:sp>
        <p:nvSpPr>
          <p:cNvPr id="13" name="Rounded Rectangle 12"/>
          <p:cNvSpPr/>
          <p:nvPr/>
        </p:nvSpPr>
        <p:spPr>
          <a:xfrm>
            <a:off x="713232" y="4709160"/>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777740"/>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3</a:t>
            </a:r>
          </a:p>
        </p:txBody>
      </p:sp>
      <p:sp>
        <p:nvSpPr>
          <p:cNvPr id="15" name="TextBox 14"/>
          <p:cNvSpPr txBox="1"/>
          <p:nvPr/>
        </p:nvSpPr>
        <p:spPr>
          <a:xfrm>
            <a:off x="1261872" y="4690872"/>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THE NEXT QUESTION</a:t>
            </a:r>
          </a:p>
        </p:txBody>
      </p:sp>
      <p:sp>
        <p:nvSpPr>
          <p:cNvPr id="16" name="TextBox 15"/>
          <p:cNvSpPr txBox="1"/>
          <p:nvPr/>
        </p:nvSpPr>
        <p:spPr>
          <a:xfrm>
            <a:off x="1261872" y="5056632"/>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What deserves closer examination before you decide to stay, reshape the role, or leave.</a:t>
            </a:r>
          </a:p>
        </p:txBody>
      </p:sp>
      <p:sp>
        <p:nvSpPr>
          <p:cNvPr id="17" name="TextBox 16"/>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8" name="TextBox 17"/>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THE CENTRAL INSIGHT</a:t>
            </a:r>
          </a:p>
        </p:txBody>
      </p:sp>
      <p:sp>
        <p:nvSpPr>
          <p:cNvPr id="3" name="TextBox 2"/>
          <p:cNvSpPr txBox="1"/>
          <p:nvPr/>
        </p:nvSpPr>
        <p:spPr>
          <a:xfrm>
            <a:off x="658368" y="1097280"/>
            <a:ext cx="10424160" cy="1234440"/>
          </a:xfrm>
          <a:prstGeom prst="rect">
            <a:avLst/>
          </a:prstGeom>
          <a:noFill/>
        </p:spPr>
        <p:txBody>
          <a:bodyPr wrap="square" lIns="0" rIns="0" tIns="0" bIns="0" anchor="t">
            <a:spAutoFit/>
          </a:bodyPr>
          <a:lstStyle/>
          <a:p>
            <a:pPr algn="l">
              <a:lnSpc>
                <a:spcPct val="112000"/>
              </a:lnSpc>
            </a:pPr>
            <a:r>
              <a:rPr sz="3200" b="1" i="0">
                <a:solidFill>
                  <a:srgbClr val="0F2347"/>
                </a:solidFill>
                <a:latin typeface="Georgia"/>
              </a:rPr>
              <a:t>A Role Can Reward You Long After It Stops Building You</a:t>
            </a:r>
          </a:p>
        </p:txBody>
      </p:sp>
      <p:sp>
        <p:nvSpPr>
          <p:cNvPr id="4" name="Rectangle 3"/>
          <p:cNvSpPr/>
          <p:nvPr/>
        </p:nvSpPr>
        <p:spPr>
          <a:xfrm>
            <a:off x="676656" y="233172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651760"/>
            <a:ext cx="9875520" cy="365760"/>
          </a:xfrm>
          <a:prstGeom prst="rect">
            <a:avLst/>
          </a:prstGeom>
          <a:noFill/>
        </p:spPr>
        <p:txBody>
          <a:bodyPr wrap="square" lIns="0" rIns="0" tIns="0" bIns="0" anchor="t">
            <a:spAutoFit/>
          </a:bodyPr>
          <a:lstStyle/>
          <a:p>
            <a:pPr algn="l">
              <a:lnSpc>
                <a:spcPct val="115000"/>
              </a:lnSpc>
            </a:pPr>
            <a:r>
              <a:rPr sz="1800" b="0" i="0">
                <a:solidFill>
                  <a:srgbClr val="152B4C"/>
                </a:solidFill>
                <a:latin typeface="Arial"/>
              </a:rPr>
              <a:t>Strong performance may tell you that you are delivering value.</a:t>
            </a:r>
          </a:p>
        </p:txBody>
      </p:sp>
      <p:sp>
        <p:nvSpPr>
          <p:cNvPr id="6" name="TextBox 5"/>
          <p:cNvSpPr txBox="1"/>
          <p:nvPr/>
        </p:nvSpPr>
        <p:spPr>
          <a:xfrm>
            <a:off x="749808" y="3154680"/>
            <a:ext cx="9875520" cy="365760"/>
          </a:xfrm>
          <a:prstGeom prst="rect">
            <a:avLst/>
          </a:prstGeom>
          <a:noFill/>
        </p:spPr>
        <p:txBody>
          <a:bodyPr wrap="square" lIns="0" rIns="0" tIns="0" bIns="0" anchor="t">
            <a:spAutoFit/>
          </a:bodyPr>
          <a:lstStyle/>
          <a:p>
            <a:pPr algn="l">
              <a:lnSpc>
                <a:spcPct val="115000"/>
              </a:lnSpc>
            </a:pPr>
            <a:r>
              <a:rPr sz="1800" b="0" i="0">
                <a:solidFill>
                  <a:srgbClr val="152B4C"/>
                </a:solidFill>
                <a:latin typeface="Arial"/>
              </a:rPr>
              <a:t>It does not, by itself, tell you whether the work is still:</a:t>
            </a:r>
          </a:p>
        </p:txBody>
      </p:sp>
      <p:sp>
        <p:nvSpPr>
          <p:cNvPr id="7" name="TextBox 6"/>
          <p:cNvSpPr txBox="1"/>
          <p:nvPr/>
        </p:nvSpPr>
        <p:spPr>
          <a:xfrm>
            <a:off x="1051560" y="3657600"/>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Expanding your judgment</a:t>
            </a:r>
          </a:p>
        </p:txBody>
      </p:sp>
      <p:sp>
        <p:nvSpPr>
          <p:cNvPr id="8" name="TextBox 7"/>
          <p:cNvSpPr txBox="1"/>
          <p:nvPr/>
        </p:nvSpPr>
        <p:spPr>
          <a:xfrm>
            <a:off x="1051560" y="4041648"/>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Exposing you to unfamiliar problems</a:t>
            </a:r>
          </a:p>
        </p:txBody>
      </p:sp>
      <p:sp>
        <p:nvSpPr>
          <p:cNvPr id="9" name="TextBox 8"/>
          <p:cNvSpPr txBox="1"/>
          <p:nvPr/>
        </p:nvSpPr>
        <p:spPr>
          <a:xfrm>
            <a:off x="1051560" y="4425696"/>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Building capability that travels</a:t>
            </a:r>
          </a:p>
        </p:txBody>
      </p:sp>
      <p:sp>
        <p:nvSpPr>
          <p:cNvPr id="10" name="TextBox 9"/>
          <p:cNvSpPr txBox="1"/>
          <p:nvPr/>
        </p:nvSpPr>
        <p:spPr>
          <a:xfrm>
            <a:off x="1051560" y="4809744"/>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Increasing your future options</a:t>
            </a:r>
          </a:p>
        </p:txBody>
      </p:sp>
      <p:sp>
        <p:nvSpPr>
          <p:cNvPr id="11" name="Rectangle 10"/>
          <p:cNvSpPr/>
          <p:nvPr/>
        </p:nvSpPr>
        <p:spPr>
          <a:xfrm>
            <a:off x="676656" y="5330952"/>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513831"/>
            <a:ext cx="9875520" cy="457200"/>
          </a:xfrm>
          <a:prstGeom prst="rect">
            <a:avLst/>
          </a:prstGeom>
          <a:noFill/>
        </p:spPr>
        <p:txBody>
          <a:bodyPr wrap="square" lIns="0" rIns="0" tIns="0" bIns="0" anchor="t">
            <a:spAutoFit/>
          </a:bodyPr>
          <a:lstStyle/>
          <a:p>
            <a:pPr algn="l">
              <a:lnSpc>
                <a:spcPct val="115000"/>
              </a:lnSpc>
            </a:pPr>
            <a:r>
              <a:rPr sz="1900" b="1" i="1">
                <a:solidFill>
                  <a:srgbClr val="0F2347"/>
                </a:solidFill>
                <a:latin typeface="Georgia"/>
              </a:rPr>
              <a:t>Performance matters. It is not the whole reading.</a:t>
            </a:r>
          </a:p>
        </p:txBody>
      </p:sp>
      <p:sp>
        <p:nvSpPr>
          <p:cNvPr id="13" name="TextBox 12"/>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4" name="TextBox 13"/>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1</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 Are Repeating,</a:t>
            </a:r>
          </a:p>
          <a:p>
            <a:pPr algn="l">
              <a:lnSpc>
                <a:spcPct val="110000"/>
              </a:lnSpc>
            </a:pPr>
            <a:r>
              <a:rPr sz="3200" b="1" i="0">
                <a:solidFill>
                  <a:srgbClr val="0F2347"/>
                </a:solidFill>
                <a:latin typeface="Georgia"/>
              </a:rPr>
              <a:t>Not Stretching</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You may be performing at a high level, but the work is no longer asking you to solve meaningfully unfamiliar problems.</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What problem have you solved in the last 90 days that you genuinely did not already know how to solve?</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In one word, is your recent work stretching, repeating, or unclear?</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2</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 Are Indispensable,</a:t>
            </a:r>
          </a:p>
          <a:p>
            <a:pPr algn="l">
              <a:lnSpc>
                <a:spcPct val="110000"/>
              </a:lnSpc>
            </a:pPr>
            <a:r>
              <a:rPr sz="3200" b="1" i="0">
                <a:solidFill>
                  <a:srgbClr val="0F2347"/>
                </a:solidFill>
                <a:latin typeface="Georgia"/>
              </a:rPr>
              <a:t>but Mainly Here</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The organization relies on you, but your value may be increasingly tied to its systems, internal language, relationships, processes, or history.</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Could someone outside your company explain your value without using your title or internal company language?</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Which has grown fastest: internal dependence, external visibility, or both?</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3</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Your Responsibility Is Growing</a:t>
            </a:r>
          </a:p>
          <a:p>
            <a:pPr algn="l">
              <a:lnSpc>
                <a:spcPct val="110000"/>
              </a:lnSpc>
            </a:pPr>
            <a:r>
              <a:rPr sz="3200" b="1" i="0">
                <a:solidFill>
                  <a:srgbClr val="0F2347"/>
                </a:solidFill>
                <a:latin typeface="Georgia"/>
              </a:rPr>
              <a:t>Faster Than Your Capability</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Your title, scope, and expectations may be increasing while the range of judgment, unfamiliar problems, or transferable capability being formed in you is narrowing.</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What capability do you have now that you did not have before your responsibilities increased?</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Which has grown faster: responsibility, learning, or visibility?</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CAREER STALL CHECK</a:t>
            </a:r>
          </a:p>
        </p:txBody>
      </p:sp>
      <p:sp>
        <p:nvSpPr>
          <p:cNvPr id="3" name="TextBox 2"/>
          <p:cNvSpPr txBox="1"/>
          <p:nvPr/>
        </p:nvSpPr>
        <p:spPr>
          <a:xfrm>
            <a:off x="658368" y="1097280"/>
            <a:ext cx="1005840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Five quiet minutes.</a:t>
            </a:r>
          </a:p>
        </p:txBody>
      </p:sp>
      <p:sp>
        <p:nvSpPr>
          <p:cNvPr id="4" name="TextBox 3"/>
          <p:cNvSpPr txBox="1"/>
          <p:nvPr/>
        </p:nvSpPr>
        <p:spPr>
          <a:xfrm>
            <a:off x="676656" y="1828800"/>
            <a:ext cx="969264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Write privately in the Career Stall Check. This is not the full assessment.</a:t>
            </a:r>
          </a:p>
        </p:txBody>
      </p:sp>
      <p:sp>
        <p:nvSpPr>
          <p:cNvPr id="5" name="Oval 4"/>
          <p:cNvSpPr/>
          <p:nvPr/>
        </p:nvSpPr>
        <p:spPr>
          <a:xfrm>
            <a:off x="713232" y="2423160"/>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91740"/>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1</a:t>
            </a:r>
          </a:p>
        </p:txBody>
      </p:sp>
      <p:sp>
        <p:nvSpPr>
          <p:cNvPr id="7" name="TextBox 6"/>
          <p:cNvSpPr txBox="1"/>
          <p:nvPr/>
        </p:nvSpPr>
        <p:spPr>
          <a:xfrm>
            <a:off x="1261872" y="2386584"/>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Which sign is most present for me?</a:t>
            </a:r>
          </a:p>
        </p:txBody>
      </p:sp>
      <p:sp>
        <p:nvSpPr>
          <p:cNvPr id="8" name="TextBox 7"/>
          <p:cNvSpPr txBox="1"/>
          <p:nvPr/>
        </p:nvSpPr>
        <p:spPr>
          <a:xfrm>
            <a:off x="1261872" y="2715768"/>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Repeating instead of stretching, indispensable but mainly here, or responsibility growing faster than capability.</a:t>
            </a:r>
          </a:p>
        </p:txBody>
      </p:sp>
      <p:sp>
        <p:nvSpPr>
          <p:cNvPr id="9" name="Oval 8"/>
          <p:cNvSpPr/>
          <p:nvPr/>
        </p:nvSpPr>
        <p:spPr>
          <a:xfrm>
            <a:off x="713232" y="3319272"/>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87852"/>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2</a:t>
            </a:r>
          </a:p>
        </p:txBody>
      </p:sp>
      <p:sp>
        <p:nvSpPr>
          <p:cNvPr id="11" name="TextBox 10"/>
          <p:cNvSpPr txBox="1"/>
          <p:nvPr/>
        </p:nvSpPr>
        <p:spPr>
          <a:xfrm>
            <a:off x="1261872" y="3282696"/>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is one example from the last 90 days?</a:t>
            </a:r>
          </a:p>
        </p:txBody>
      </p:sp>
      <p:sp>
        <p:nvSpPr>
          <p:cNvPr id="12" name="TextBox 11"/>
          <p:cNvSpPr txBox="1"/>
          <p:nvPr/>
        </p:nvSpPr>
        <p:spPr>
          <a:xfrm>
            <a:off x="1261872" y="3611879"/>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Use a lived example, not a plan, promise, title, or feeling.</a:t>
            </a:r>
          </a:p>
        </p:txBody>
      </p:sp>
      <p:sp>
        <p:nvSpPr>
          <p:cNvPr id="13" name="Oval 12"/>
          <p:cNvSpPr/>
          <p:nvPr/>
        </p:nvSpPr>
        <p:spPr>
          <a:xfrm>
            <a:off x="713232" y="4215383"/>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83963"/>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3</a:t>
            </a:r>
          </a:p>
        </p:txBody>
      </p:sp>
      <p:sp>
        <p:nvSpPr>
          <p:cNvPr id="15" name="TextBox 14"/>
          <p:cNvSpPr txBox="1"/>
          <p:nvPr/>
        </p:nvSpPr>
        <p:spPr>
          <a:xfrm>
            <a:off x="1261872" y="4178807"/>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capability, learning, or future option may not be growing?</a:t>
            </a:r>
          </a:p>
        </p:txBody>
      </p:sp>
      <p:sp>
        <p:nvSpPr>
          <p:cNvPr id="16" name="TextBox 15"/>
          <p:cNvSpPr txBox="1"/>
          <p:nvPr/>
        </p:nvSpPr>
        <p:spPr>
          <a:xfrm>
            <a:off x="1261872" y="4507992"/>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Name the specific thing, not a general sense that something is off.</a:t>
            </a:r>
          </a:p>
        </p:txBody>
      </p:sp>
      <p:sp>
        <p:nvSpPr>
          <p:cNvPr id="17" name="Oval 16"/>
          <p:cNvSpPr/>
          <p:nvPr/>
        </p:nvSpPr>
        <p:spPr>
          <a:xfrm>
            <a:off x="713232" y="5111496"/>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80076"/>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4</a:t>
            </a:r>
          </a:p>
        </p:txBody>
      </p:sp>
      <p:sp>
        <p:nvSpPr>
          <p:cNvPr id="19" name="TextBox 18"/>
          <p:cNvSpPr txBox="1"/>
          <p:nvPr/>
        </p:nvSpPr>
        <p:spPr>
          <a:xfrm>
            <a:off x="1261872" y="5074920"/>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is the next question I need to investigate?</a:t>
            </a:r>
          </a:p>
        </p:txBody>
      </p:sp>
      <p:sp>
        <p:nvSpPr>
          <p:cNvPr id="20" name="TextBox 19"/>
          <p:cNvSpPr txBox="1"/>
          <p:nvPr/>
        </p:nvSpPr>
        <p:spPr>
          <a:xfrm>
            <a:off x="1261872" y="5404104"/>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The question you would need to read more carefully before making a bigger career decision.</a:t>
            </a:r>
          </a:p>
        </p:txBody>
      </p:sp>
      <p:sp>
        <p:nvSpPr>
          <p:cNvPr id="21" name="TextBox 20"/>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22" name="TextBox 21"/>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INTERPRET WITHOUT DIAGNOSING</a:t>
            </a:r>
          </a:p>
        </p:txBody>
      </p:sp>
      <p:sp>
        <p:nvSpPr>
          <p:cNvPr id="3" name="TextBox 2"/>
          <p:cNvSpPr txBox="1"/>
          <p:nvPr/>
        </p:nvSpPr>
        <p:spPr>
          <a:xfrm>
            <a:off x="658368" y="1078992"/>
            <a:ext cx="987552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A recognition exercise is not a result.</a:t>
            </a:r>
          </a:p>
        </p:txBody>
      </p:sp>
      <p:sp>
        <p:nvSpPr>
          <p:cNvPr id="4" name="Rectangle 3"/>
          <p:cNvSpPr/>
          <p:nvPr/>
        </p:nvSpPr>
        <p:spPr>
          <a:xfrm>
            <a:off x="676656" y="219456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2606040"/>
            <a:ext cx="9784080" cy="2011680"/>
          </a:xfrm>
          <a:prstGeom prst="rect">
            <a:avLst/>
          </a:prstGeom>
          <a:noFill/>
        </p:spPr>
        <p:txBody>
          <a:bodyPr wrap="square" lIns="0" rIns="0" tIns="0" bIns="0" anchor="t">
            <a:spAutoFit/>
          </a:bodyPr>
          <a:lstStyle/>
          <a:p>
            <a:pPr algn="l">
              <a:lnSpc>
                <a:spcPct val="145000"/>
              </a:lnSpc>
            </a:pPr>
            <a:r>
              <a:rPr sz="1900" b="0" i="0">
                <a:solidFill>
                  <a:srgbClr val="152B4C"/>
                </a:solidFill>
                <a:latin typeface="Arial"/>
              </a:rPr>
              <a:t>If one sign felt familiar, that does not mean you should leave.</a:t>
            </a:r>
          </a:p>
          <a:p>
            <a:pPr algn="l">
              <a:lnSpc>
                <a:spcPct val="145000"/>
              </a:lnSpc>
            </a:pPr>
            <a:r>
              <a:rPr sz="1900" b="0" i="0">
                <a:solidFill>
                  <a:srgbClr val="152B4C"/>
                </a:solidFill>
                <a:latin typeface="Arial"/>
              </a:rPr>
              <a:t>If none felt familiar, that does not mean your role is fully compounding.</a:t>
            </a:r>
          </a:p>
          <a:p>
            <a:pPr algn="l">
              <a:lnSpc>
                <a:spcPct val="145000"/>
              </a:lnSpc>
            </a:pPr>
            <a:r>
              <a:rPr sz="1900" b="0" i="0">
                <a:solidFill>
                  <a:srgbClr val="152B4C"/>
                </a:solidFill>
                <a:latin typeface="Arial"/>
              </a:rPr>
              <a:t>Recognition tells you what may deserve examination.</a:t>
            </a:r>
          </a:p>
          <a:p>
            <a:pPr algn="l">
              <a:lnSpc>
                <a:spcPct val="145000"/>
              </a:lnSpc>
            </a:pPr>
            <a:r>
              <a:rPr sz="1900" b="0" i="0">
                <a:solidFill>
                  <a:srgbClr val="152B4C"/>
                </a:solidFill>
                <a:latin typeface="Arial"/>
              </a:rPr>
              <a:t>Assessment is what turns the observation into a more defensible read.</a:t>
            </a:r>
          </a:p>
        </p:txBody>
      </p:sp>
      <p:sp>
        <p:nvSpPr>
          <p:cNvPr id="6" name="Rectangle 5"/>
          <p:cNvSpPr/>
          <p:nvPr/>
        </p:nvSpPr>
        <p:spPr>
          <a:xfrm>
            <a:off x="676656" y="507492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257800"/>
            <a:ext cx="9966960" cy="640080"/>
          </a:xfrm>
          <a:prstGeom prst="rect">
            <a:avLst/>
          </a:prstGeom>
          <a:noFill/>
        </p:spPr>
        <p:txBody>
          <a:bodyPr wrap="square" lIns="0" rIns="0" tIns="0" bIns="0" anchor="t">
            <a:spAutoFit/>
          </a:bodyPr>
          <a:lstStyle/>
          <a:p>
            <a:pPr algn="l">
              <a:lnSpc>
                <a:spcPct val="130000"/>
              </a:lnSpc>
            </a:pPr>
            <a:r>
              <a:rPr sz="1400" b="0" i="1">
                <a:solidFill>
                  <a:srgbClr val="152B4C"/>
                </a:solidFill>
                <a:latin typeface="Arial"/>
              </a:rPr>
              <a:t>As routine output becomes easier to reproduce, the distinction between familiar performance and growing judgment becomes more consequential.</a:t>
            </a:r>
          </a:p>
        </p:txBody>
      </p:sp>
      <p:sp>
        <p:nvSpPr>
          <p:cNvPr id="8" name="TextBox 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9" name="TextBox 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THIS WAS ONE PIECE</a:t>
            </a:r>
          </a:p>
        </p:txBody>
      </p:sp>
      <p:sp>
        <p:nvSpPr>
          <p:cNvPr id="3" name="TextBox 2"/>
          <p:cNvSpPr txBox="1"/>
          <p:nvPr/>
        </p:nvSpPr>
        <p:spPr>
          <a:xfrm>
            <a:off x="658368" y="1371600"/>
            <a:ext cx="10424160" cy="1234440"/>
          </a:xfrm>
          <a:prstGeom prst="rect">
            <a:avLst/>
          </a:prstGeom>
          <a:noFill/>
        </p:spPr>
        <p:txBody>
          <a:bodyPr wrap="square" lIns="0" rIns="0" tIns="0" bIns="0" anchor="t">
            <a:spAutoFit/>
          </a:bodyPr>
          <a:lstStyle/>
          <a:p>
            <a:pPr algn="l">
              <a:lnSpc>
                <a:spcPct val="110000"/>
              </a:lnSpc>
            </a:pPr>
            <a:r>
              <a:rPr sz="3300" b="1" i="0">
                <a:solidFill>
                  <a:srgbClr val="0F2347"/>
                </a:solidFill>
                <a:latin typeface="Georgia"/>
              </a:rPr>
              <a:t>Recognition Is the</a:t>
            </a:r>
          </a:p>
          <a:p>
            <a:pPr algn="l">
              <a:lnSpc>
                <a:spcPct val="110000"/>
              </a:lnSpc>
            </a:pPr>
            <a:r>
              <a:rPr sz="3300" b="1" i="0">
                <a:solidFill>
                  <a:srgbClr val="0F2347"/>
                </a:solidFill>
                <a:latin typeface="Georgia"/>
              </a:rPr>
              <a:t>Beginning of the Read</a:t>
            </a:r>
          </a:p>
        </p:txBody>
      </p:sp>
      <p:sp>
        <p:nvSpPr>
          <p:cNvPr id="4" name="Rectangle 3"/>
          <p:cNvSpPr/>
          <p:nvPr/>
        </p:nvSpPr>
        <p:spPr>
          <a:xfrm>
            <a:off x="658368" y="2697480"/>
            <a:ext cx="5166360" cy="23317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45936" y="2697480"/>
            <a:ext cx="5166360" cy="23317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880360"/>
            <a:ext cx="4663440" cy="274320"/>
          </a:xfrm>
          <a:prstGeom prst="rect">
            <a:avLst/>
          </a:prstGeom>
          <a:noFill/>
        </p:spPr>
        <p:txBody>
          <a:bodyPr wrap="square" lIns="0" rIns="0" tIns="0" bIns="0" anchor="t">
            <a:spAutoFit/>
          </a:bodyPr>
          <a:lstStyle/>
          <a:p>
            <a:pPr algn="l">
              <a:lnSpc>
                <a:spcPct val="115000"/>
              </a:lnSpc>
            </a:pPr>
            <a:r>
              <a:rPr sz="1100" b="1" i="0" spc="150">
                <a:solidFill>
                  <a:srgbClr val="C9A84C"/>
                </a:solidFill>
                <a:latin typeface="Arial"/>
              </a:rPr>
              <a:t>TODAY: RECOGNITION</a:t>
            </a:r>
          </a:p>
        </p:txBody>
      </p:sp>
      <p:sp>
        <p:nvSpPr>
          <p:cNvPr id="7" name="TextBox 6"/>
          <p:cNvSpPr txBox="1"/>
          <p:nvPr/>
        </p:nvSpPr>
        <p:spPr>
          <a:xfrm>
            <a:off x="896112" y="3291840"/>
            <a:ext cx="4663440" cy="1554480"/>
          </a:xfrm>
          <a:prstGeom prst="rect">
            <a:avLst/>
          </a:prstGeom>
          <a:noFill/>
        </p:spPr>
        <p:txBody>
          <a:bodyPr wrap="square" lIns="0" rIns="0" tIns="0" bIns="0" anchor="t">
            <a:spAutoFit/>
          </a:bodyPr>
          <a:lstStyle/>
          <a:p>
            <a:pPr algn="l">
              <a:lnSpc>
                <a:spcPct val="140000"/>
              </a:lnSpc>
            </a:pPr>
            <a:r>
              <a:rPr sz="1900" b="1" i="0">
                <a:solidFill>
                  <a:srgbClr val="0F2347"/>
                </a:solidFill>
                <a:latin typeface="Georgia"/>
              </a:rPr>
              <a:t>Repeated work.</a:t>
            </a:r>
          </a:p>
          <a:p>
            <a:pPr algn="l">
              <a:lnSpc>
                <a:spcPct val="140000"/>
              </a:lnSpc>
            </a:pPr>
            <a:r>
              <a:rPr sz="1900" b="1" i="0">
                <a:solidFill>
                  <a:srgbClr val="0F2347"/>
                </a:solidFill>
                <a:latin typeface="Georgia"/>
              </a:rPr>
              <a:t>Context-bound value.</a:t>
            </a:r>
          </a:p>
          <a:p>
            <a:pPr algn="l">
              <a:lnSpc>
                <a:spcPct val="140000"/>
              </a:lnSpc>
            </a:pPr>
            <a:r>
              <a:rPr sz="1900" b="1" i="0">
                <a:solidFill>
                  <a:srgbClr val="0F2347"/>
                </a:solidFill>
                <a:latin typeface="Georgia"/>
              </a:rPr>
              <a:t>Responsibility without capability expansion.</a:t>
            </a:r>
          </a:p>
        </p:txBody>
      </p:sp>
      <p:sp>
        <p:nvSpPr>
          <p:cNvPr id="8" name="TextBox 7"/>
          <p:cNvSpPr txBox="1"/>
          <p:nvPr/>
        </p:nvSpPr>
        <p:spPr>
          <a:xfrm>
            <a:off x="6583680" y="2880360"/>
            <a:ext cx="4846320" cy="274320"/>
          </a:xfrm>
          <a:prstGeom prst="rect">
            <a:avLst/>
          </a:prstGeom>
          <a:noFill/>
        </p:spPr>
        <p:txBody>
          <a:bodyPr wrap="square" lIns="0" rIns="0" tIns="0" bIns="0" anchor="t">
            <a:spAutoFit/>
          </a:bodyPr>
          <a:lstStyle/>
          <a:p>
            <a:pPr algn="l">
              <a:lnSpc>
                <a:spcPct val="115000"/>
              </a:lnSpc>
            </a:pPr>
            <a:r>
              <a:rPr sz="1100" b="1" i="0" spc="100">
                <a:solidFill>
                  <a:srgbClr val="C1440E"/>
                </a:solidFill>
                <a:latin typeface="Arial"/>
              </a:rPr>
              <a:t>THE WORKSHOP: ASSESSMENT + DECISION</a:t>
            </a:r>
          </a:p>
        </p:txBody>
      </p:sp>
      <p:sp>
        <p:nvSpPr>
          <p:cNvPr id="9" name="TextBox 8"/>
          <p:cNvSpPr txBox="1"/>
          <p:nvPr/>
        </p:nvSpPr>
        <p:spPr>
          <a:xfrm>
            <a:off x="6583680" y="3291840"/>
            <a:ext cx="4846320" cy="1737360"/>
          </a:xfrm>
          <a:prstGeom prst="rect">
            <a:avLst/>
          </a:prstGeom>
          <a:noFill/>
        </p:spPr>
        <p:txBody>
          <a:bodyPr wrap="square" lIns="0" rIns="0" tIns="0" bIns="0" anchor="t">
            <a:spAutoFit/>
          </a:bodyPr>
          <a:lstStyle/>
          <a:p>
            <a:pPr algn="l">
              <a:lnSpc>
                <a:spcPct val="130000"/>
              </a:lnSpc>
            </a:pPr>
            <a:r>
              <a:rPr sz="1250" b="0" i="0">
                <a:solidFill>
                  <a:srgbClr val="0F2347"/>
                </a:solidFill>
                <a:latin typeface="Arial"/>
              </a:rPr>
              <a:t>The complete 12-statement initial read</a:t>
            </a:r>
          </a:p>
          <a:p>
            <a:pPr algn="l">
              <a:lnSpc>
                <a:spcPct val="130000"/>
              </a:lnSpc>
            </a:pPr>
            <a:r>
              <a:rPr sz="1250" b="0" i="0">
                <a:solidFill>
                  <a:srgbClr val="0F2347"/>
                </a:solidFill>
                <a:latin typeface="Arial"/>
              </a:rPr>
              <a:t>Evidence correction and an evidence-backed second read</a:t>
            </a:r>
          </a:p>
          <a:p>
            <a:pPr algn="l">
              <a:lnSpc>
                <a:spcPct val="130000"/>
              </a:lnSpc>
            </a:pPr>
            <a:r>
              <a:rPr sz="1250" b="0" i="0">
                <a:solidFill>
                  <a:srgbClr val="0F2347"/>
                </a:solidFill>
                <a:latin typeface="Arial"/>
              </a:rPr>
              <a:t>Provisional placement or boundary reading</a:t>
            </a:r>
          </a:p>
          <a:p>
            <a:pPr algn="l">
              <a:lnSpc>
                <a:spcPct val="130000"/>
              </a:lnSpc>
            </a:pPr>
            <a:r>
              <a:rPr sz="1250" b="0" i="0">
                <a:solidFill>
                  <a:srgbClr val="0F2347"/>
                </a:solidFill>
                <a:latin typeface="Arial"/>
              </a:rPr>
              <a:t>One category of move to test</a:t>
            </a:r>
          </a:p>
          <a:p>
            <a:pPr algn="l">
              <a:lnSpc>
                <a:spcPct val="130000"/>
              </a:lnSpc>
            </a:pPr>
            <a:r>
              <a:rPr sz="1250" b="0" i="0">
                <a:solidFill>
                  <a:srgbClr val="0F2347"/>
                </a:solidFill>
                <a:latin typeface="Arial"/>
              </a:rPr>
              <a:t>A completed Next-Move Decision</a:t>
            </a:r>
          </a:p>
          <a:p>
            <a:pPr algn="l">
              <a:lnSpc>
                <a:spcPct val="130000"/>
              </a:lnSpc>
            </a:pPr>
            <a:r>
              <a:rPr sz="1250" b="0" i="0">
                <a:solidFill>
                  <a:srgbClr val="0F2347"/>
                </a:solidFill>
                <a:latin typeface="Arial"/>
              </a:rPr>
              <a:t>A 30-day evidence process and a 90-day rescore date</a:t>
            </a:r>
          </a:p>
        </p:txBody>
      </p:sp>
      <p:sp>
        <p:nvSpPr>
          <p:cNvPr id="10" name="TextBox 9"/>
          <p:cNvSpPr txBox="1"/>
          <p:nvPr/>
        </p:nvSpPr>
        <p:spPr>
          <a:xfrm>
            <a:off x="658368" y="5303520"/>
            <a:ext cx="10698480" cy="365760"/>
          </a:xfrm>
          <a:prstGeom prst="rect">
            <a:avLst/>
          </a:prstGeom>
          <a:noFill/>
        </p:spPr>
        <p:txBody>
          <a:bodyPr wrap="square" lIns="0" rIns="0" tIns="0" bIns="0" anchor="t">
            <a:spAutoFit/>
          </a:bodyPr>
          <a:lstStyle/>
          <a:p>
            <a:pPr algn="l">
              <a:lnSpc>
                <a:spcPct val="130000"/>
              </a:lnSpc>
            </a:pPr>
            <a:r>
              <a:rPr sz="1300" b="0" i="1">
                <a:solidFill>
                  <a:srgbClr val="152B4C"/>
                </a:solidFill>
                <a:latin typeface="Arial"/>
              </a:rPr>
              <a:t>The full Capability Position Read measures these patterns more rigorously through Density and Optionality.</a:t>
            </a:r>
          </a:p>
        </p:txBody>
      </p:sp>
      <p:sp>
        <p:nvSpPr>
          <p:cNvPr id="11" name="TextBox 10"/>
          <p:cNvSpPr txBox="1"/>
          <p:nvPr/>
        </p:nvSpPr>
        <p:spPr>
          <a:xfrm>
            <a:off x="658368" y="5760720"/>
            <a:ext cx="10698480" cy="640080"/>
          </a:xfrm>
          <a:prstGeom prst="rect">
            <a:avLst/>
          </a:prstGeom>
          <a:noFill/>
        </p:spPr>
        <p:txBody>
          <a:bodyPr wrap="square" lIns="0" rIns="0" tIns="0" bIns="0" anchor="t">
            <a:spAutoFit/>
          </a:bodyPr>
          <a:lstStyle/>
          <a:p>
            <a:pPr algn="l">
              <a:lnSpc>
                <a:spcPct val="125000"/>
              </a:lnSpc>
            </a:pPr>
            <a:r>
              <a:rPr sz="1600" b="1" i="1">
                <a:solidFill>
                  <a:srgbClr val="0F2347"/>
                </a:solidFill>
                <a:latin typeface="Georgia"/>
              </a:rPr>
              <a:t>Most career advice begins after you decide to leave. This helps you determine whether leaving is even the right question.</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347"/>
        </a:solidFill>
        <a:effectLst/>
      </p:bgPr>
    </p:bg>
    <p:spTree>
      <p:nvGrpSpPr>
        <p:cNvPr id="1" name=""/>
        <p:cNvGrpSpPr/>
        <p:nvPr/>
      </p:nvGrpSpPr>
      <p:grpSpPr/>
      <p:sp>
        <p:nvSpPr>
          <p:cNvPr id="2" name="TextBox 1"/>
          <p:cNvSpPr txBox="1"/>
          <p:nvPr/>
        </p:nvSpPr>
        <p:spPr>
          <a:xfrm>
            <a:off x="658368" y="548640"/>
            <a:ext cx="4572000" cy="164592"/>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INVITATION</a:t>
            </a:r>
          </a:p>
        </p:txBody>
      </p:sp>
      <p:sp>
        <p:nvSpPr>
          <p:cNvPr id="3" name="TextBox 2"/>
          <p:cNvSpPr txBox="1"/>
          <p:nvPr/>
        </p:nvSpPr>
        <p:spPr>
          <a:xfrm>
            <a:off x="658368" y="1051560"/>
            <a:ext cx="8778240" cy="1234440"/>
          </a:xfrm>
          <a:prstGeom prst="rect">
            <a:avLst/>
          </a:prstGeom>
          <a:noFill/>
        </p:spPr>
        <p:txBody>
          <a:bodyPr wrap="square" lIns="0" rIns="0" tIns="0" bIns="0" anchor="t">
            <a:spAutoFit/>
          </a:bodyPr>
          <a:lstStyle/>
          <a:p>
            <a:pPr algn="l">
              <a:lnSpc>
                <a:spcPct val="105000"/>
              </a:lnSpc>
            </a:pPr>
            <a:r>
              <a:rPr sz="3800" b="1" i="0">
                <a:solidFill>
                  <a:srgbClr val="F5F0E8"/>
                </a:solidFill>
                <a:latin typeface="Georgia"/>
              </a:rPr>
              <a:t>Decide Whether to Stay</a:t>
            </a:r>
          </a:p>
          <a:p>
            <a:pPr algn="l">
              <a:lnSpc>
                <a:spcPct val="105000"/>
              </a:lnSpc>
            </a:pPr>
            <a:r>
              <a:rPr sz="3800" b="1" i="0">
                <a:solidFill>
                  <a:srgbClr val="F5F0E8"/>
                </a:solidFill>
                <a:latin typeface="Georgia"/>
              </a:rPr>
              <a:t>or Leave Your Job</a:t>
            </a:r>
          </a:p>
        </p:txBody>
      </p:sp>
      <p:sp>
        <p:nvSpPr>
          <p:cNvPr id="4" name="TextBox 3"/>
          <p:cNvSpPr txBox="1"/>
          <p:nvPr/>
        </p:nvSpPr>
        <p:spPr>
          <a:xfrm>
            <a:off x="676656" y="2542032"/>
            <a:ext cx="7772400" cy="365760"/>
          </a:xfrm>
          <a:prstGeom prst="rect">
            <a:avLst/>
          </a:prstGeom>
          <a:noFill/>
        </p:spPr>
        <p:txBody>
          <a:bodyPr wrap="square" lIns="0" rIns="0" tIns="0" bIns="0" anchor="t">
            <a:spAutoFit/>
          </a:bodyPr>
          <a:lstStyle/>
          <a:p>
            <a:pPr algn="l">
              <a:lnSpc>
                <a:spcPct val="115000"/>
              </a:lnSpc>
            </a:pPr>
            <a:r>
              <a:rPr sz="1900" b="0" i="0">
                <a:solidFill>
                  <a:srgbClr val="F5F0E8"/>
                </a:solidFill>
                <a:latin typeface="Arial"/>
              </a:rPr>
              <a:t>A Live Career Growth Assessment</a:t>
            </a:r>
          </a:p>
        </p:txBody>
      </p:sp>
      <p:sp>
        <p:nvSpPr>
          <p:cNvPr id="5" name="Rectangle 4"/>
          <p:cNvSpPr/>
          <p:nvPr/>
        </p:nvSpPr>
        <p:spPr>
          <a:xfrm>
            <a:off x="676656" y="3063240"/>
            <a:ext cx="47548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3383280"/>
            <a:ext cx="6766560" cy="411480"/>
          </a:xfrm>
          <a:prstGeom prst="rect">
            <a:avLst/>
          </a:prstGeom>
          <a:noFill/>
        </p:spPr>
        <p:txBody>
          <a:bodyPr wrap="square" lIns="0" rIns="0" tIns="0" bIns="0" anchor="t">
            <a:spAutoFit/>
          </a:bodyPr>
          <a:lstStyle/>
          <a:p>
            <a:pPr algn="l">
              <a:lnSpc>
                <a:spcPct val="115000"/>
              </a:lnSpc>
            </a:pPr>
            <a:r>
              <a:rPr sz="2400" b="1" i="0">
                <a:solidFill>
                  <a:srgbClr val="F5F0E8"/>
                </a:solidFill>
                <a:latin typeface="Georgia"/>
              </a:rPr>
              <a:t>The Capability Position Read</a:t>
            </a:r>
          </a:p>
        </p:txBody>
      </p:sp>
      <p:sp>
        <p:nvSpPr>
          <p:cNvPr id="7" name="TextBox 6"/>
          <p:cNvSpPr txBox="1"/>
          <p:nvPr/>
        </p:nvSpPr>
        <p:spPr>
          <a:xfrm>
            <a:off x="685800" y="3977639"/>
            <a:ext cx="6035040" cy="1463040"/>
          </a:xfrm>
          <a:prstGeom prst="rect">
            <a:avLst/>
          </a:prstGeom>
          <a:noFill/>
        </p:spPr>
        <p:txBody>
          <a:bodyPr wrap="square" lIns="0" rIns="0" tIns="0" bIns="0" anchor="t">
            <a:spAutoFit/>
          </a:bodyPr>
          <a:lstStyle/>
          <a:p>
            <a:pPr algn="l">
              <a:lnSpc>
                <a:spcPct val="130000"/>
              </a:lnSpc>
            </a:pPr>
            <a:r>
              <a:rPr sz="1300" b="0" i="0">
                <a:solidFill>
                  <a:srgbClr val="F5F0E8"/>
                </a:solidFill>
                <a:latin typeface="Arial"/>
              </a:rPr>
              <a:t>Two hours live</a:t>
            </a:r>
          </a:p>
          <a:p>
            <a:pPr algn="l">
              <a:lnSpc>
                <a:spcPct val="130000"/>
              </a:lnSpc>
            </a:pPr>
            <a:r>
              <a:rPr sz="1300" b="0" i="0">
                <a:solidFill>
                  <a:srgbClr val="F5F0E8"/>
                </a:solidFill>
                <a:latin typeface="Arial"/>
              </a:rPr>
              <a:t>105-minute guided Capability Position Read</a:t>
            </a:r>
          </a:p>
          <a:p>
            <a:pPr algn="l">
              <a:lnSpc>
                <a:spcPct val="130000"/>
              </a:lnSpc>
            </a:pPr>
            <a:r>
              <a:rPr sz="1300" b="0" i="0">
                <a:solidFill>
                  <a:srgbClr val="F5F0E8"/>
                </a:solidFill>
                <a:latin typeface="Arial"/>
              </a:rPr>
              <a:t>15-minute Q&amp;A and applications</a:t>
            </a:r>
          </a:p>
          <a:p>
            <a:pPr algn="l">
              <a:lnSpc>
                <a:spcPct val="130000"/>
              </a:lnSpc>
            </a:pPr>
            <a:r>
              <a:rPr sz="1300" b="0" i="0">
                <a:solidFill>
                  <a:srgbClr val="F5F0E8"/>
                </a:solidFill>
                <a:latin typeface="Arial"/>
              </a:rPr>
              <a:t>Field Kit included</a:t>
            </a:r>
          </a:p>
          <a:p>
            <a:pPr algn="l">
              <a:lnSpc>
                <a:spcPct val="130000"/>
              </a:lnSpc>
            </a:pPr>
            <a:r>
              <a:rPr sz="1300" b="0" i="0">
                <a:solidFill>
                  <a:srgbClr val="F5F0E8"/>
                </a:solidFill>
                <a:latin typeface="Arial"/>
              </a:rPr>
              <a:t>30-day evidence process, 90-day rescore</a:t>
            </a:r>
          </a:p>
          <a:p>
            <a:pPr algn="l">
              <a:lnSpc>
                <a:spcPct val="130000"/>
              </a:lnSpc>
            </a:pPr>
            <a:r>
              <a:rPr sz="1300" b="0" i="0">
                <a:solidFill>
                  <a:srgbClr val="F5F0E8"/>
                </a:solidFill>
                <a:latin typeface="Arial"/>
              </a:rPr>
              <a:t>15 seats  ·  $249 public launch price</a:t>
            </a:r>
          </a:p>
        </p:txBody>
      </p:sp>
      <p:sp>
        <p:nvSpPr>
          <p:cNvPr id="8" name="TextBox 7"/>
          <p:cNvSpPr txBox="1"/>
          <p:nvPr/>
        </p:nvSpPr>
        <p:spPr>
          <a:xfrm>
            <a:off x="685800" y="5504688"/>
            <a:ext cx="10607040" cy="457200"/>
          </a:xfrm>
          <a:prstGeom prst="rect">
            <a:avLst/>
          </a:prstGeom>
          <a:noFill/>
        </p:spPr>
        <p:txBody>
          <a:bodyPr wrap="square" lIns="0" rIns="0" tIns="0" bIns="0" anchor="t">
            <a:spAutoFit/>
          </a:bodyPr>
          <a:lstStyle/>
          <a:p>
            <a:pPr algn="l">
              <a:lnSpc>
                <a:spcPct val="130000"/>
              </a:lnSpc>
            </a:pPr>
            <a:r>
              <a:rPr sz="1200" b="0" i="1">
                <a:solidFill>
                  <a:srgbClr val="F5F0E8"/>
                </a:solidFill>
                <a:latin typeface="Arial"/>
              </a:rPr>
              <a:t>You will not be told to quit. You will leave with a more defensible reading of your current position and the category of move your evidence supports testing.</a:t>
            </a:r>
          </a:p>
        </p:txBody>
      </p:sp>
      <p:sp>
        <p:nvSpPr>
          <p:cNvPr id="9" name="Rectangle 8"/>
          <p:cNvSpPr/>
          <p:nvPr/>
        </p:nvSpPr>
        <p:spPr>
          <a:xfrm>
            <a:off x="685800" y="6053328"/>
            <a:ext cx="3108960" cy="41148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6190488"/>
            <a:ext cx="2743200" cy="182880"/>
          </a:xfrm>
          <a:prstGeom prst="rect">
            <a:avLst/>
          </a:prstGeom>
          <a:noFill/>
        </p:spPr>
        <p:txBody>
          <a:bodyPr wrap="square" lIns="0" rIns="0" tIns="0" bIns="0" anchor="t">
            <a:spAutoFit/>
          </a:bodyPr>
          <a:lstStyle/>
          <a:p>
            <a:pPr algn="l">
              <a:lnSpc>
                <a:spcPct val="115000"/>
              </a:lnSpc>
            </a:pPr>
            <a:r>
              <a:rPr sz="1050" b="1" i="0">
                <a:solidFill>
                  <a:srgbClr val="F5F0E8"/>
                </a:solidFill>
                <a:latin typeface="Arial"/>
              </a:rPr>
              <a:t>REGISTER — [URL PLACEHOLDER]</a:t>
            </a:r>
          </a:p>
        </p:txBody>
      </p:sp>
      <p:sp>
        <p:nvSpPr>
          <p:cNvPr id="11" name="Rectangle 10"/>
          <p:cNvSpPr/>
          <p:nvPr/>
        </p:nvSpPr>
        <p:spPr>
          <a:xfrm>
            <a:off x="8549640" y="3749039"/>
            <a:ext cx="1188720" cy="1188720"/>
          </a:xfrm>
          <a:prstGeom prst="rect">
            <a:avLst/>
          </a:prstGeom>
          <a:solidFill>
            <a:srgbClr val="F5F0E8"/>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4270248"/>
            <a:ext cx="1188720" cy="274320"/>
          </a:xfrm>
          <a:prstGeom prst="rect">
            <a:avLst/>
          </a:prstGeom>
          <a:noFill/>
        </p:spPr>
        <p:txBody>
          <a:bodyPr wrap="square" lIns="0" rIns="0" tIns="0" bIns="0" anchor="t">
            <a:spAutoFit/>
          </a:bodyPr>
          <a:lstStyle/>
          <a:p>
            <a:pPr algn="ctr">
              <a:lnSpc>
                <a:spcPct val="115000"/>
              </a:lnSpc>
            </a:pPr>
            <a:r>
              <a:rPr sz="1000" b="1" i="0">
                <a:solidFill>
                  <a:srgbClr val="0F2347"/>
                </a:solidFill>
                <a:latin typeface="Arial"/>
              </a:rPr>
              <a:t>[QR CODE]</a:t>
            </a:r>
          </a:p>
        </p:txBody>
      </p:sp>
      <p:sp>
        <p:nvSpPr>
          <p:cNvPr id="13" name="TextBox 12"/>
          <p:cNvSpPr txBox="1"/>
          <p:nvPr/>
        </p:nvSpPr>
        <p:spPr>
          <a:xfrm>
            <a:off x="6675120" y="6080760"/>
            <a:ext cx="4846320" cy="457200"/>
          </a:xfrm>
          <a:prstGeom prst="rect">
            <a:avLst/>
          </a:prstGeom>
          <a:noFill/>
        </p:spPr>
        <p:txBody>
          <a:bodyPr wrap="square" lIns="0" rIns="0" tIns="0" bIns="0" anchor="t">
            <a:spAutoFit/>
          </a:bodyPr>
          <a:lstStyle/>
          <a:p>
            <a:pPr algn="l">
              <a:lnSpc>
                <a:spcPct val="130000"/>
              </a:lnSpc>
            </a:pPr>
            <a:r>
              <a:rPr sz="950" b="0" i="0">
                <a:solidFill>
                  <a:srgbClr val="A9B8D0"/>
                </a:solidFill>
                <a:latin typeface="Arial"/>
              </a:rPr>
              <a:t>Not ready for the full read? Subscribe to Capability Formation.
[Substack URL placeholder]  ·  [Substack QR placeholder]</a:t>
            </a:r>
          </a:p>
        </p:txBody>
      </p:sp>
      <p:sp>
        <p:nvSpPr>
          <p:cNvPr id="14" name="TextBox 13"/>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F5F0E8"/>
                </a:solidFill>
                <a:latin typeface="Arial"/>
              </a:rPr>
              <a:t>TEMIDAYO AFONJA   |   TEMIDAYOAFONJA.COM</a:t>
            </a:r>
          </a:p>
        </p:txBody>
      </p:sp>
      <p:sp>
        <p:nvSpPr>
          <p:cNvPr id="15" name="TextBox 14"/>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F5F0E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Q&amp;A</a:t>
            </a:r>
          </a:p>
        </p:txBody>
      </p:sp>
      <p:sp>
        <p:nvSpPr>
          <p:cNvPr id="3" name="TextBox 2"/>
          <p:cNvSpPr txBox="1"/>
          <p:nvPr/>
        </p:nvSpPr>
        <p:spPr>
          <a:xfrm>
            <a:off x="658368" y="1097280"/>
            <a:ext cx="987552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Eleven minutes for questions.</a:t>
            </a:r>
          </a:p>
        </p:txBody>
      </p:sp>
      <p:sp>
        <p:nvSpPr>
          <p:cNvPr id="4" name="TextBox 3"/>
          <p:cNvSpPr txBox="1"/>
          <p:nvPr/>
        </p:nvSpPr>
        <p:spPr>
          <a:xfrm>
            <a:off x="676656" y="1810512"/>
            <a:ext cx="9509760" cy="411480"/>
          </a:xfrm>
          <a:prstGeom prst="rect">
            <a:avLst/>
          </a:prstGeom>
          <a:noFill/>
        </p:spPr>
        <p:txBody>
          <a:bodyPr wrap="square" lIns="0" rIns="0" tIns="0" bIns="0" anchor="t">
            <a:spAutoFit/>
          </a:bodyPr>
          <a:lstStyle/>
          <a:p>
            <a:pPr algn="l">
              <a:lnSpc>
                <a:spcPct val="115000"/>
              </a:lnSpc>
            </a:pPr>
            <a:r>
              <a:rPr sz="1400" b="0" i="0">
                <a:solidFill>
                  <a:srgbClr val="152B4C"/>
                </a:solidFill>
                <a:latin typeface="Arial"/>
              </a:rPr>
              <a:t>Questions about the ideas are welcome. Individual situations will not be scored or diagnosed in this room.</a:t>
            </a:r>
          </a:p>
        </p:txBody>
      </p:sp>
      <p:sp>
        <p:nvSpPr>
          <p:cNvPr id="5" name="Oval 4"/>
          <p:cNvSpPr/>
          <p:nvPr/>
        </p:nvSpPr>
        <p:spPr>
          <a:xfrm>
            <a:off x="713232" y="2423160"/>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91740"/>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1</a:t>
            </a:r>
          </a:p>
        </p:txBody>
      </p:sp>
      <p:sp>
        <p:nvSpPr>
          <p:cNvPr id="7" name="TextBox 6"/>
          <p:cNvSpPr txBox="1"/>
          <p:nvPr/>
        </p:nvSpPr>
        <p:spPr>
          <a:xfrm>
            <a:off x="1261872" y="2386584"/>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Good Q&amp;A questions</a:t>
            </a:r>
          </a:p>
        </p:txBody>
      </p:sp>
      <p:sp>
        <p:nvSpPr>
          <p:cNvPr id="8" name="TextBox 7"/>
          <p:cNvSpPr txBox="1"/>
          <p:nvPr/>
        </p:nvSpPr>
        <p:spPr>
          <a:xfrm>
            <a:off x="1261872" y="2715768"/>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How do I tell the difference between performance and formation? What does portability mean? What kind of evidence counts?</a:t>
            </a:r>
          </a:p>
        </p:txBody>
      </p:sp>
      <p:sp>
        <p:nvSpPr>
          <p:cNvPr id="9" name="Oval 8"/>
          <p:cNvSpPr/>
          <p:nvPr/>
        </p:nvSpPr>
        <p:spPr>
          <a:xfrm>
            <a:off x="713232" y="3502152"/>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570732"/>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2</a:t>
            </a:r>
          </a:p>
        </p:txBody>
      </p:sp>
      <p:sp>
        <p:nvSpPr>
          <p:cNvPr id="11" name="TextBox 10"/>
          <p:cNvSpPr txBox="1"/>
          <p:nvPr/>
        </p:nvSpPr>
        <p:spPr>
          <a:xfrm>
            <a:off x="1261872" y="3465576"/>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Questions to redirect</a:t>
            </a:r>
          </a:p>
        </p:txBody>
      </p:sp>
      <p:sp>
        <p:nvSpPr>
          <p:cNvPr id="12" name="TextBox 11"/>
          <p:cNvSpPr txBox="1"/>
          <p:nvPr/>
        </p:nvSpPr>
        <p:spPr>
          <a:xfrm>
            <a:off x="1261872" y="3794760"/>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Should I leave? What state am I in? What should I do about my manager? Can you score my situation?</a:t>
            </a:r>
          </a:p>
        </p:txBody>
      </p:sp>
      <p:sp>
        <p:nvSpPr>
          <p:cNvPr id="13" name="Oval 12"/>
          <p:cNvSpPr/>
          <p:nvPr/>
        </p:nvSpPr>
        <p:spPr>
          <a:xfrm>
            <a:off x="713232" y="4581144"/>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49724"/>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3</a:t>
            </a:r>
          </a:p>
        </p:txBody>
      </p:sp>
      <p:sp>
        <p:nvSpPr>
          <p:cNvPr id="15" name="TextBox 14"/>
          <p:cNvSpPr txBox="1"/>
          <p:nvPr/>
        </p:nvSpPr>
        <p:spPr>
          <a:xfrm>
            <a:off x="1261872" y="4544568"/>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Boundary line</a:t>
            </a:r>
          </a:p>
        </p:txBody>
      </p:sp>
      <p:sp>
        <p:nvSpPr>
          <p:cNvPr id="16" name="TextBox 15"/>
          <p:cNvSpPr txBox="1"/>
          <p:nvPr/>
        </p:nvSpPr>
        <p:spPr>
          <a:xfrm>
            <a:off x="1261872" y="4873752"/>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I can help you clarify what the pattern suggests examining. I cannot make the employment decision for you.</a:t>
            </a:r>
          </a:p>
        </p:txBody>
      </p:sp>
      <p:sp>
        <p:nvSpPr>
          <p:cNvPr id="17" name="Rectangle 16"/>
          <p:cNvSpPr/>
          <p:nvPr/>
        </p:nvSpPr>
        <p:spPr>
          <a:xfrm>
            <a:off x="658368" y="5989320"/>
            <a:ext cx="10881360" cy="50292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126480"/>
            <a:ext cx="10424160" cy="256032"/>
          </a:xfrm>
          <a:prstGeom prst="rect">
            <a:avLst/>
          </a:prstGeom>
          <a:noFill/>
        </p:spPr>
        <p:txBody>
          <a:bodyPr wrap="square" lIns="0" rIns="0" tIns="0" bIns="0" anchor="t">
            <a:spAutoFit/>
          </a:bodyPr>
          <a:lstStyle/>
          <a:p>
            <a:pPr algn="l">
              <a:lnSpc>
                <a:spcPct val="115000"/>
              </a:lnSpc>
            </a:pPr>
            <a:r>
              <a:rPr sz="1100" b="1" i="0">
                <a:solidFill>
                  <a:srgbClr val="C9A84C"/>
                </a:solidFill>
                <a:latin typeface="Arial"/>
              </a:rPr>
              <a:t>REGISTRATION STILL OPEN — Decide Whether to Stay or Leave Your Job  ·  [URL PLACEHOLDER]</a:t>
            </a:r>
          </a:p>
        </p:txBody>
      </p:sp>
      <p:sp>
        <p:nvSpPr>
          <p:cNvPr id="19" name="TextBox 18"/>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20" name="TextBox 19"/>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1440E"/>
                </a:solidFill>
                <a:latin typeface="Arial"/>
              </a:rPr>
              <a:t>APPENDIX  ·  NOT PART OF THE 45-MINUTE SESSION</a:t>
            </a:r>
          </a:p>
        </p:txBody>
      </p:sp>
      <p:sp>
        <p:nvSpPr>
          <p:cNvPr id="3" name="TextBox 2"/>
          <p:cNvSpPr txBox="1"/>
          <p:nvPr/>
        </p:nvSpPr>
        <p:spPr>
          <a:xfrm>
            <a:off x="658368" y="1097280"/>
            <a:ext cx="1005840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What AI Changes About This Reading</a:t>
            </a:r>
          </a:p>
        </p:txBody>
      </p:sp>
      <p:sp>
        <p:nvSpPr>
          <p:cNvPr id="4" name="TextBox 3"/>
          <p:cNvSpPr txBox="1"/>
          <p:nvPr/>
        </p:nvSpPr>
        <p:spPr>
          <a:xfrm>
            <a:off x="676656" y="1828800"/>
            <a:ext cx="950976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An application of the reading, not a technology lesson.</a:t>
            </a:r>
          </a:p>
        </p:txBody>
      </p:sp>
      <p:sp>
        <p:nvSpPr>
          <p:cNvPr id="5" name="Rectangle 4"/>
          <p:cNvSpPr/>
          <p:nvPr/>
        </p:nvSpPr>
        <p:spPr>
          <a:xfrm>
            <a:off x="676656" y="265176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971800"/>
            <a:ext cx="9875520" cy="2377440"/>
          </a:xfrm>
          <a:prstGeom prst="rect">
            <a:avLst/>
          </a:prstGeom>
          <a:noFill/>
        </p:spPr>
        <p:txBody>
          <a:bodyPr wrap="square" lIns="0" rIns="0" tIns="0" bIns="0" anchor="t">
            <a:spAutoFit/>
          </a:bodyPr>
          <a:lstStyle/>
          <a:p>
            <a:pPr algn="l">
              <a:lnSpc>
                <a:spcPct val="150000"/>
              </a:lnSpc>
            </a:pPr>
            <a:r>
              <a:rPr sz="1800" b="0" i="0">
                <a:solidFill>
                  <a:srgbClr val="152B4C"/>
                </a:solidFill>
                <a:latin typeface="Arial"/>
              </a:rPr>
              <a:t>Where AI makes routine output easier to reproduce, your position depends more heavily on judgment, learning velocity, and capability that travels across unfamiliar problems.</a:t>
            </a:r>
          </a:p>
          <a:p>
            <a:pPr algn="l">
              <a:lnSpc>
                <a:spcPct val="150000"/>
              </a:lnSpc>
            </a:pPr>
            <a:r>
              <a:rPr sz="1800" b="0" i="0">
                <a:solidFill>
                  <a:srgbClr val="152B4C"/>
                </a:solidFill>
                <a:latin typeface="Arial"/>
              </a:rPr>
              <a:t>Density and Optionality do not become less important.</a:t>
            </a:r>
          </a:p>
          <a:p>
            <a:pPr algn="l">
              <a:lnSpc>
                <a:spcPct val="150000"/>
              </a:lnSpc>
            </a:pPr>
            <a:r>
              <a:rPr sz="1800" b="0" i="0">
                <a:solidFill>
                  <a:srgbClr val="152B4C"/>
                </a:solidFill>
                <a:latin typeface="Arial"/>
              </a:rPr>
              <a:t>They become more consequential.</a:t>
            </a:r>
          </a:p>
        </p:txBody>
      </p:sp>
      <p:sp>
        <p:nvSpPr>
          <p:cNvPr id="7" name="TextBox 6"/>
          <p:cNvSpPr txBox="1"/>
          <p:nvPr/>
        </p:nvSpPr>
        <p:spPr>
          <a:xfrm>
            <a:off x="768096" y="5577840"/>
            <a:ext cx="9875520" cy="640080"/>
          </a:xfrm>
          <a:prstGeom prst="rect">
            <a:avLst/>
          </a:prstGeom>
          <a:noFill/>
        </p:spPr>
        <p:txBody>
          <a:bodyPr wrap="square" lIns="0" rIns="0" tIns="0" bIns="0" anchor="t">
            <a:spAutoFit/>
          </a:bodyPr>
          <a:lstStyle/>
          <a:p>
            <a:pPr algn="l">
              <a:lnSpc>
                <a:spcPct val="115000"/>
              </a:lnSpc>
            </a:pPr>
            <a:r>
              <a:rPr sz="1100" b="0" i="1">
                <a:solidFill>
                  <a:srgbClr val="152B4C"/>
                </a:solidFill>
                <a:latin typeface="Arial"/>
              </a:rPr>
              <a:t>Optional leave-behind slide. Present only if time and audience interest allow; not counted in the 45-minute core.</a:t>
            </a:r>
          </a:p>
        </p:txBody>
      </p:sp>
      <p:sp>
        <p:nvSpPr>
          <p:cNvPr id="8" name="TextBox 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9" name="TextBox 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