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spc="180">
                <a:solidFill>
                  <a:srgbClr val="0F2347"/>
                </a:solidFill>
                <a:latin typeface="DM Sans"/>
              </a:rPr>
              <a:t>FOUR STATES. ONE HONEST READING.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4A4A4A"/>
                </a:solidFill>
                <a:latin typeface="DM Sans"/>
              </a:rPr>
              <a:t>Density (how fast you grow) crossed with Optionality (how far it travels).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1600200"/>
            <a:ext cx="4905755" cy="1943100"/>
          </a:xfrm>
          <a:prstGeom prst="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39" y="1828800"/>
            <a:ext cx="453999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spc="150">
                <a:solidFill>
                  <a:srgbClr val="F5F0E8"/>
                </a:solidFill>
                <a:latin typeface="DM Sans"/>
              </a:rPr>
              <a:t>DEPTH TRAP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514600"/>
            <a:ext cx="43571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5F0E8"/>
                </a:solidFill>
                <a:latin typeface="DM Sans"/>
              </a:rPr>
              <a:t>Deep expertise fused to one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5F0E8"/>
                </a:solidFill>
                <a:latin typeface="DM Sans"/>
              </a:rPr>
              <a:t>context.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1636" y="1600200"/>
            <a:ext cx="4905755" cy="1943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4516" y="1828800"/>
            <a:ext cx="453999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spc="150">
                <a:solidFill>
                  <a:srgbClr val="F5F0E8"/>
                </a:solidFill>
                <a:latin typeface="DM Sans"/>
              </a:rPr>
              <a:t>COMPOUNDING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5955" y="2514600"/>
            <a:ext cx="43571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5F0E8"/>
                </a:solidFill>
                <a:latin typeface="DM Sans"/>
              </a:rPr>
              <a:t>Deep capability that travels.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5F0E8"/>
                </a:solidFill>
                <a:latin typeface="DM Sans"/>
              </a:rPr>
              <a:t>The destination.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3817620"/>
            <a:ext cx="4905755" cy="1943100"/>
          </a:xfrm>
          <a:prstGeom prst="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39" y="4046220"/>
            <a:ext cx="453999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spc="150">
                <a:solidFill>
                  <a:srgbClr val="F5F0E8"/>
                </a:solidFill>
                <a:latin typeface="DM Sans"/>
              </a:rPr>
              <a:t>STAGNANT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732020"/>
            <a:ext cx="43571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5F0E8"/>
                </a:solidFill>
                <a:latin typeface="DM Sans"/>
              </a:rPr>
              <a:t>The work stopped asking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5F0E8"/>
                </a:solidFill>
                <a:latin typeface="DM Sans"/>
              </a:rPr>
              <a:t>more of you.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3817620"/>
            <a:ext cx="4905755" cy="1943100"/>
          </a:xfrm>
          <a:prstGeom prst="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4046220"/>
            <a:ext cx="453999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spc="150">
                <a:solidFill>
                  <a:srgbClr val="F5F0E8"/>
                </a:solidFill>
                <a:latin typeface="DM Sans"/>
              </a:rPr>
              <a:t>FRAGILE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5955" y="4732020"/>
            <a:ext cx="43571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5F0E8"/>
                </a:solidFill>
                <a:latin typeface="DM Sans"/>
              </a:rPr>
              <a:t>Options on paper, not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5F0E8"/>
                </a:solidFill>
                <a:latin typeface="DM Sans"/>
              </a:rPr>
              <a:t>enough depth beneath.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08076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0F2347"/>
                </a:solidFill>
                <a:latin typeface="DM Sans"/>
              </a:rPr>
              <a:t>You will land in one of these before the halfway 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