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221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 spc="180">
                <a:solidFill>
                  <a:srgbClr val="0F2347"/>
                </a:solidFill>
                <a:latin typeface="DM Sans"/>
              </a:rPr>
              <a:t>FOUR STATES. ONE HONEST READING.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87221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  <a:latin typeface="DM Sans"/>
              </a:rPr>
              <a:t>Density (how fast you grow) crossed with Optionality (how far it travels).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737360"/>
            <a:ext cx="4860036" cy="1851659"/>
          </a:xfrm>
          <a:prstGeom prst="rect">
            <a:avLst/>
          </a:prstGeom>
          <a:solidFill>
            <a:srgbClr val="0F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spc="150">
                <a:solidFill>
                  <a:srgbClr val="F5F0E8"/>
                </a:solidFill>
                <a:latin typeface="DM Sans"/>
              </a:rPr>
              <a:t>DEPTH 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54680"/>
            <a:ext cx="43113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F5F0E8"/>
                </a:solidFill>
                <a:latin typeface="DM Sans"/>
              </a:rPr>
              <a:t>Deep expertise fused to one</a:t>
            </a:r>
          </a:p>
          <a:p>
            <a:pPr algn="ctr">
              <a:lnSpc>
                <a:spcPct val="120000"/>
              </a:lnSpc>
            </a:pPr>
            <a:r>
              <a:rPr sz="1500">
                <a:solidFill>
                  <a:srgbClr val="F5F0E8"/>
                </a:solidFill>
                <a:latin typeface="DM Sans"/>
              </a:rPr>
              <a:t>context.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1636" y="1737360"/>
            <a:ext cx="4860036" cy="1851659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1636" y="2240280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spc="150">
                <a:solidFill>
                  <a:srgbClr val="F5F0E8"/>
                </a:solidFill>
                <a:latin typeface="DM Sans"/>
              </a:rPr>
              <a:t>COMPOUNDING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956" y="3154680"/>
            <a:ext cx="43113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F5F0E8"/>
                </a:solidFill>
                <a:latin typeface="DM Sans"/>
              </a:rPr>
              <a:t>Deep capability that travels.</a:t>
            </a:r>
          </a:p>
          <a:p>
            <a:pPr algn="ctr">
              <a:lnSpc>
                <a:spcPct val="120000"/>
              </a:lnSpc>
            </a:pPr>
            <a:r>
              <a:rPr sz="1500">
                <a:solidFill>
                  <a:srgbClr val="F5F0E8"/>
                </a:solidFill>
                <a:latin typeface="DM Sans"/>
              </a:rPr>
              <a:t>The destination.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863339"/>
            <a:ext cx="4860036" cy="1851659"/>
          </a:xfrm>
          <a:prstGeom prst="rect">
            <a:avLst/>
          </a:prstGeom>
          <a:solidFill>
            <a:srgbClr val="0F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66259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spc="150">
                <a:solidFill>
                  <a:srgbClr val="F5F0E8"/>
                </a:solidFill>
                <a:latin typeface="DM Sans"/>
              </a:rPr>
              <a:t>STAGNANT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280659"/>
            <a:ext cx="43113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F5F0E8"/>
                </a:solidFill>
                <a:latin typeface="DM Sans"/>
              </a:rPr>
              <a:t>The work stopped asking</a:t>
            </a:r>
          </a:p>
          <a:p>
            <a:pPr algn="ctr">
              <a:lnSpc>
                <a:spcPct val="120000"/>
              </a:lnSpc>
            </a:pPr>
            <a:r>
              <a:rPr sz="1500">
                <a:solidFill>
                  <a:srgbClr val="F5F0E8"/>
                </a:solidFill>
                <a:latin typeface="DM Sans"/>
              </a:rPr>
              <a:t>more of you.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3863339"/>
            <a:ext cx="4860036" cy="1851659"/>
          </a:xfrm>
          <a:prstGeom prst="rect">
            <a:avLst/>
          </a:prstGeom>
          <a:solidFill>
            <a:srgbClr val="0F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4366259"/>
            <a:ext cx="486003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spc="150">
                <a:solidFill>
                  <a:srgbClr val="F5F0E8"/>
                </a:solidFill>
                <a:latin typeface="DM Sans"/>
              </a:rPr>
              <a:t>FRAGILE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5280659"/>
            <a:ext cx="43113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F5F0E8"/>
                </a:solidFill>
                <a:latin typeface="DM Sans"/>
              </a:rPr>
              <a:t>Options on paper, not</a:t>
            </a:r>
          </a:p>
          <a:p>
            <a:pPr algn="ctr">
              <a:lnSpc>
                <a:spcPct val="120000"/>
              </a:lnSpc>
            </a:pPr>
            <a:r>
              <a:rPr sz="1500">
                <a:solidFill>
                  <a:srgbClr val="F5F0E8"/>
                </a:solidFill>
                <a:latin typeface="DM Sans"/>
              </a:rPr>
              <a:t>enough depth beneath.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89320"/>
            <a:ext cx="1087221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F2347"/>
                </a:solidFill>
                <a:latin typeface="DM Sans"/>
              </a:rPr>
              <a:t>You will land in one of these before the halfway mark.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