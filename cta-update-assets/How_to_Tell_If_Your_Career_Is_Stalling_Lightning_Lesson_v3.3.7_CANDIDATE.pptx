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71" r:id="rId21"/>
    <p:sldId id="267" r:id="rId17"/>
    <p:sldId id="268" r:id="rId18"/>
    <p:sldId id="269" r:id="rId19"/>
    <p:sldId id="270" r:id="rId20"/>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0:00-1:00</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TO SAY: Welcome. This is a 45-minute recognition lesson, not a diagnostic. You are here because something about your current work may deserve a more careful reading.</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Do not promise a personalized answer. Do not mention pricing. Do not begin with the full framework.</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None yet. Settling in.</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LIKELY MISUNDERSTANDING: Some may expect a scored assessment today. The boundary is stated plainly within the first five minutes — see slide 3.</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TRANSITION LINE: Before we get into it, let me tell you why I built this session.</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68070e0c7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g3f68070e0c7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1:00-3:00 (approximately 75-90 seconds of scripted delivery, remainder is settling and the transition into the poll)</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CORE SCRIPT: "Welcome. I'm Temidayo Afonja. I am an organizational capability strategist, founder of The Density Group, and author of The Capability Audit.</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For nearly two decades, I worked inside organizations where performance, promotion, potential, and restructuring decisions were discussed. I understood how institutions assessed people and positions.</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Then, in 2026, a reorganization absorbed the function I led. My results were still strong. The trust I had built was still real. My performance had shaped my standing. It had not insulated the role from a change in structure.</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That experience sharpened a question I had already been studying: can a career begin to stall while the person is still performing well?</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That is the question we are going to examine today."</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TRANSITION LINE: "Before we begin, one boundary about what today can and cannot do." Then advance to the concise boundary slide.</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STORY GUARDRAILS — DO NOT: name the former employer. Name any individual. Allege motive. Discuss severance. Speculate about the restructuring decision. Use grievance language. Diagnose your own former Career State. Extend the story beyond 90 seconds.</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TONE: Reflective, restrained, specific, instructional.</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Do not turn this into a therapeutic disclosure or a resume recitation. Do not let PwC/Deloitte/EY become the dominant proof — they are one supporting line, said once, not dwelt on.</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LIKELY MISUNDERSTANDING: Participants may want more detail about what happened. Do not supply it. The story exists to establish why this lesson exists, not to invite follow-up questions about your history.</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Listening.</a:t>
            </a:r>
            <a:endParaRPr/>
          </a:p>
        </p:txBody>
      </p:sp>
      <p:sp>
        <p:nvSpPr>
          <p:cNvPr id="101" name="Google Shape;101;g3f68070e0c7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3:00-3:30</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TO SAY: Read the boundary statement once, plainly, exactly as written on the slide. This is the only place the boundary is stated — do not repeat it later.</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Do not soften it, apologize for it, or expand it into a longer disclaimer.</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None. Listening.</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LIKELY MISUNDERSTANDING: Some may still expect a scored assessment today even after hearing this. If it resurfaces later, redirect with this same line rather than inventing a new one.</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TRANSITION LINE: Now, let's find out what brought you into the room today.</a:t>
            </a:r>
            <a:endParaRPr/>
          </a:p>
        </p:txBody>
      </p:sp>
      <p:sp>
        <p:nvSpPr>
          <p:cNvPr id="119" name="Google Shape;119;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3:30-5:00</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TO SAY: Put the poll in chat or use Maven/Zoom polling. Ask people to choose the nearest reason, not explain.</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Do not analyze individual answers aloud.</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Selects one option via chat or poll widget.</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LIKELY MISUNDERSTANDING: A participant may try to explain their situation in detail; thank them briefly and move on without engaging the specifics.</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TRANSITION LINE: Whatever brought you here, by the end of today you'll leave with three specific things. Here's what they are.</a:t>
            </a:r>
            <a:endParaRPr/>
          </a:p>
        </p:txBody>
      </p:sp>
      <p:sp>
        <p:nvSpPr>
          <p:cNvPr id="129" name="Google Shape;129;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5:00-6:30</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TO SAY: By minute 45, you will have one pattern you can name, one recent example you can examine, and one next question worth investigating.</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Do not promise a Career State, a score, or a stay-or-leave answer as an outcome. Do not restate the boundary here — it was already stated once, plainly, on slide 3. Repeating it dilutes it.</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None yet. Orienting to the session's shape.</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LIKELY MISUNDERSTANDING: "A basis for deciding whether to go deeper" is a conversion objective, not a learning outcome — do not restate it as a fourth promise here.</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TRANSITION LINE: Here is the idea that ties all three signs together.</a:t>
            </a:r>
            <a:endParaRPr/>
          </a:p>
        </p:txBody>
      </p:sp>
      <p:sp>
        <p:nvSpPr>
          <p:cNvPr id="151" name="Google Shape;151;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6:30-8:00</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TO SAY: This is the central line of the entire lesson. Read the four bullets steadily, then let "Performance matters. It is not the whole picture." land before moving on.</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Do not imply performance does not matter. It does. It is simply a different signal than formation.</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None. This is the pivot point into the three signs.</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LIKELY MISUNDERSTANDING: Someone may hear "performance does not matter." Correct plainly if it comes up: performance matters, it is just not the complete reading.</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TRANSITION LINE: Here are three specific ways capable people miss that distinction in their own work.</a:t>
            </a:r>
            <a:endParaRPr/>
          </a:p>
        </p:txBody>
      </p:sp>
      <p:sp>
        <p:nvSpPr>
          <p:cNvPr id="173" name="Google Shape;173;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8:00-13:00</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TO SAY: High performers often use strong performance as proof that growth is happening. Separate delivery from formation. Read the test question slowly, then give 30-45 seconds for the quick check.</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EXAMPLE: A person can lead the same decision forum more smoothly each quarter without meeting a problem they do not already know how to solve.</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Do not imply high performance is fake. It is real. It is simply a different signal.</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Answers the quick check in chat, poll, or privately in writing — one word only.</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LIKELY MISUNDERSTANDING: Someone may say their work "feels" like growth because it is demanding. Demanding is not the same as unfamiliar. Redirect gently if it comes up.</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TRANSITION LINE: That is the first sign. Here is a second one that hides in plain sight because it feels like the opposite of a warning.</a:t>
            </a:r>
            <a:endParaRPr/>
          </a:p>
        </p:txBody>
      </p:sp>
      <p:sp>
        <p:nvSpPr>
          <p:cNvPr id="191" name="Google Shape;191;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13:00-18:00</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TO SAY: Dependence is not bad. It is simply not the same as portability. A person can become essential to a system while their external story becomes harder to explain. Read the test question, then give the room 30-45 seconds for the quick check.</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Do not call indispensability a trap. It can be earned and valuable. The risk is misreading it as automatically portable.</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Answers the quick check in chat, poll, or privately in writing.</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LIKELY MISUNDERSTANDING: Someone may hear this as "being needed is bad." Correct plainly: being needed is good; assuming it travels is the misread.</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TRANSITION LINE: The third sign is the one that hides inside what looks like career progress.</a:t>
            </a:r>
            <a:endParaRPr/>
          </a:p>
        </p:txBody>
      </p:sp>
      <p:sp>
        <p:nvSpPr>
          <p:cNvPr id="208" name="Google Shape;20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18:00-23:00</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TO SAY: Promotions can build capability. They can also move a person into approvals, representation, and familiar judgment. The point is to read the work, not the title. Give the room 30-45 seconds for the quick check after the test question.</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This is not a diagnosis of anyone's specific promotion. It is a pattern worth noticing.</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Answers the quick check in chat, poll, or privately in writing.</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LIKELY MISUNDERSTANDING: Someone may hear this as an argument against accepting promotions. It is not. It is an argument against assuming title growth is automatically capability growth.</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TRANSITION LINE: You've now tested three signs against your own last 90 days. Let's put that evidence somewhere you can keep it.</a:t>
            </a:r>
            <a:endParaRPr/>
          </a:p>
        </p:txBody>
      </p:sp>
      <p:sp>
        <p:nvSpPr>
          <p:cNvPr id="225" name="Google Shape;225;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23:00-28:00</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TO SAY: Five quiet minutes. Use a notebook, your notes app, or the Career Stall Check if you already have it open. No one will be called on.</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Do not say this is the full assessment. Do not collect answers. Do not offer to review anyone's answers during Q&amp;A. Do not score them.</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Answers the four prompts on this slide privately, in whatever they have on hand. The branded Career Stall Check can be sent afterward as an optional clean leave-behind. Nobody needs another file open in order to participate successfully.</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LIKELY MISUNDERSTANDING: Someone may ask if this produces a score or placement. It does not — redirect calmly: "That is what the full Position Read does. This is recognition."</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TRANSITION LINE: Before we go further, one caution about what a recognition exercise is and is not.</a:t>
            </a:r>
            <a:endParaRPr/>
          </a:p>
        </p:txBody>
      </p:sp>
      <p:sp>
        <p:nvSpPr>
          <p:cNvPr id="242" name="Google Shape;242;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28:00-31:00</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TO SAY: Do not let the exercise become a verdict. Familiarity is a signal, not a diagnosis. Then deliver the one AI sentence on the slide, once, without expanding into a tools discussion.</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No tool names. No prompting advice. No job-loss predictions. No industry forecasts. This is a single sentence, not a new section.</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None. This is a settling beat before the bridge.</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LIKELY MISUNDERSTANDING: Someone may ask what AI tool to use. Decline: "That's outside today's scope — this is about the reading, not the tools."</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TRANSITION LINE: Before we look at what the full read adds, be clear about what it costs to act on recognition alone.</a:t>
            </a:r>
            <a:endParaRPr/>
          </a:p>
        </p:txBody>
      </p:sp>
      <p:sp>
        <p:nvSpPr>
          <p:cNvPr id="268" name="Google Shape;268;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f68070e0c7_0_6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g3f68070e0c7_0_6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32:00-33:30.</a:t>
            </a:r>
          </a:p>
          <a:p/>
          <a:p>
            <a:r>
              <a:t>WHAT TO SAY: today gave you recognition — one pattern, one example, one question. September 16 is where that gets read with evidence. Name Density and Optionality briefly here; this is the one place they belong.</a:t>
            </a:r>
          </a:p>
          <a:p/>
          <a:p>
            <a:r>
              <a:t>WHAT NOT TO SAY: do not describe today as incomplete or as a teaser. Today is a complete recognition lesson. Do not add scarcity. Do not mention any paid group workshop — it is retired from active public sale.</a:t>
            </a:r>
          </a:p>
          <a:p/>
          <a:p>
            <a:r>
              <a:t>PARTICIPANT ACTION: listening.</a:t>
            </a:r>
          </a:p>
        </p:txBody>
      </p:sp>
      <p:sp>
        <p:nvSpPr>
          <p:cNvPr id="281" name="Google Shape;281;g3f68070e0c7_0_6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33:30-35:00 — ninety seconds only. At minute 35 advance to the Q&amp;A slide. This must not take time from the ten-minute Q&amp;A block.</a:t>
            </a:r>
          </a:p>
          <a:p/>
          <a:p>
            <a:r>
              <a:t>WHAT TO SAY: two ways to continue, and neither is required. The free session on September 16 is the primary route — sixty minutes, guided, complete on its own. The Field Kit is for people who would rather work privately and rerun the reading as conditions change.</a:t>
            </a:r>
          </a:p>
          <a:p/>
          <a:p>
            <a:r>
              <a:t>WHAT NOT TO SAY: do not describe the Field Kit as the full version of either lesson, as required, as included, or as more worksheets. Do not mention the retired paid group workshop, a price on the slide face, scarcity or a participant cap.</a:t>
            </a:r>
          </a:p>
          <a:p/>
          <a:p>
            <a:r>
              <a:t>FIELD KIT PRICING: the live website is the source of truth. Immediately before delivery, verify the current public price and purchase route. If both remain current, post the purchase link and current price in the live chat. The permanent replay slide stays price-free.</a:t>
            </a:r>
          </a:p>
          <a:p/>
          <a:p>
            <a:r>
              <a:t>PREBUILT CHAT MESSAGE — PRIMARY:</a:t>
            </a:r>
          </a:p>
          <a:p>
            <a:r>
              <a:t>Join the free September 16 session:</a:t>
            </a:r>
          </a:p>
          <a:p>
            <a:r>
              <a:t>https://maven.com/p/8b3c40/stay-or-leave-live-career-growth-assessment</a:t>
            </a:r>
          </a:p>
          <a:p/>
          <a:p>
            <a:r>
              <a:t>PREBUILT CHAT MESSAGE — SECONDARY:</a:t>
            </a:r>
          </a:p>
          <a:p>
            <a:r>
              <a:t>Prefer to continue privately? Explore the Capability Formation Field Kit:</a:t>
            </a:r>
          </a:p>
          <a:p>
            <a:r>
              <a:t>https://temidayoafonja.gumroad.com/l/czmqp</a:t>
            </a:r>
          </a:p>
          <a:p/>
          <a:p>
            <a:r>
              <a:t>Both QR codes on this slide resolve to those two links.</a:t>
            </a:r>
          </a:p>
        </p:txBody>
      </p:sp>
      <p:sp>
        <p:nvSpPr>
          <p:cNvPr id="298" name="Google Shape;298;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THIS SLIDE IS NOW LIVE — it is the dedicated Q&amp;A slide, shown from minute 35 through minute 45. Advance to it immediately after the ninety-second paid invitation ends. This is the v3.3 structural fix: the paid invitation no longer stays on screen through Q&amp;A.</a:t>
            </a:r>
          </a:p>
          <a:p/>
          <a:p>
            <a:r>
              <a:t>TIMING: 35:00-45:00 — ten minutes for questions. Keep answers short. Answer the principle, not the person's career decision.</a:t>
            </a:r>
          </a:p>
          <a:p/>
          <a:p>
            <a:r>
              <a:t>CLOSING CTA — read once, then take questions:</a:t>
            </a:r>
          </a:p>
          <a:p>
            <a:r>
              <a:t>Two ways to continue, and neither is required. The free guided read is on September 16. The Field Kit is the private alternative.</a:t>
            </a:r>
          </a:p>
          <a:p/>
          <a:p>
            <a:r>
              <a:t>PREBUILT CHAT MESSAGE — PRIMARY:</a:t>
            </a:r>
          </a:p>
          <a:p>
            <a:r>
              <a:t>Join the free September 16 session:</a:t>
            </a:r>
          </a:p>
          <a:p>
            <a:r>
              <a:t>https://maven.com/p/8b3c40/stay-or-leave-live-career-growth-assessment</a:t>
            </a:r>
          </a:p>
          <a:p/>
          <a:p>
            <a:r>
              <a:t>PREBUILT CHAT MESSAGE — SECONDARY:</a:t>
            </a:r>
          </a:p>
          <a:p>
            <a:r>
              <a:t>Prefer to continue privately? Explore the Capability Formation Field Kit:</a:t>
            </a:r>
          </a:p>
          <a:p>
            <a:r>
              <a:t>https://temidayoafonja.gumroad.com/l/czmqp</a:t>
            </a:r>
          </a:p>
          <a:p/>
          <a:p>
            <a:r>
              <a:t>Do not mention the retired paid group workshop, its former price, its former participant cap, or its former date. Do not post the retired newsletter CTA on this slide.</a:t>
            </a:r>
          </a:p>
          <a:p/>
          <a:p>
            <a:r>
              <a:t>TIMING IS UNCHANGED: 35:00-45:00, ten minutes for questions.</a:t>
            </a:r>
          </a:p>
        </p:txBody>
      </p:sp>
      <p:sp>
        <p:nvSpPr>
          <p:cNvPr id="317" name="Google Shape;317;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Not part of the timed 45-minute session. Use only if delivering to a room with extra time, or share as a leave-behind slide in the deck PDF.</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TO SAY: Keep this short even here. This is about the reading, not tools.</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No tool names. No prompting advice. No job-loss predictions. No industry forecasts.</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None — this is reference material, not a live teaching beat.</a:t>
            </a:r>
            <a:endParaRPr/>
          </a:p>
        </p:txBody>
      </p:sp>
      <p:sp>
        <p:nvSpPr>
          <p:cNvPr id="341" name="Google Shape;341;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265"/>
        <p:cNvGrpSpPr/>
        <p:nvPr/>
      </p:nvGrpSpPr>
      <p:grpSpPr>
        <a:xfrm>
          <a:off x="0" y="0"/>
          <a:ext cx="0" cy="0"/>
          <a:chOff x="0" y="0"/>
          <a:chExt cx="0" cy="0"/>
        </a:xfrm>
      </p:grpSpPr>
      <p:sp>
        <p:nvSpPr>
          <p:cNvPr id="966" name="Google Shape;266;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7" name="Google Shape;26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31:00-32:00</a:t>
            </a:r>
          </a:p>
          <a:p>
            <a:r>
              <a:t>CORE SCRIPT: "You are currently holding one pattern you recognised today. But acting on recognition alone carries massive risk. If you leave a role prematurely, you burn equity and momentum. If you stay in a role that has stopped forming you, your market value degrades. The free guided read on September 16 is where that risk gets examined with evidence rather than absorbed blind. You have to read the position before you absorb the risk."</a:t>
            </a:r>
          </a:p>
          <a:p>
            <a:r>
              <a:t>WHAT NOT TO SAY: The navy band names the Capability Position Read — that is the only offer language on this slide. Do not add the date, the price, the seat count or the enrollment link here; the full invitation lands two slides later. Do not soften "massive risk" into a hedge, and do not narrate both cards twice — let the room read them, then land the band.</a:t>
            </a:r>
          </a:p>
          <a:p>
            <a:r>
              <a:t>PARTICIPANT ACTION: None. Listening.</a:t>
            </a:r>
          </a:p>
          <a:p>
            <a:r>
              <a:t>LIKELY MISUNDERSTANDING: Someone may hear this as advice to stay put. It is not — both columns carry a cost. The point is that the cost is unreadable without a calibrated position.</a:t>
            </a:r>
          </a:p>
          <a:p>
            <a:r>
              <a:t>TRANSITION LINE: So what would it actually take to read the position properly? Here is what today gave you, and what it did not.</a:t>
            </a:r>
          </a:p>
        </p:txBody>
      </p:sp>
      <p:sp>
        <p:nvSpPr>
          <p:cNvPr id="968" name="Google Shape;268;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maven.com/p/8b3c40/stay-or-leave-live-career-growth-assessment" TargetMode="External"/><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hyperlink" Target="https://temidayoafonja.gumroad.com/l/czmqp" TargetMode="External"/><Relationship Id="rId7"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84" name="Shape 84"/>
        <p:cNvGrpSpPr/>
        <p:nvPr/>
      </p:nvGrpSpPr>
      <p:grpSpPr>
        <a:xfrm>
          <a:off x="0" y="0"/>
          <a:ext cx="0" cy="0"/>
          <a:chOff x="0" y="0"/>
          <a:chExt cx="0" cy="0"/>
        </a:xfrm>
      </p:grpSpPr>
      <p:sp>
        <p:nvSpPr>
          <p:cNvPr id="85" name="Google Shape;85;p13"/>
          <p:cNvSpPr txBox="1"/>
          <p:nvPr/>
        </p:nvSpPr>
        <p:spPr>
          <a:xfrm>
            <a:off x="658368" y="548640"/>
            <a:ext cx="86868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C9A84C"/>
                </a:solidFill>
                <a:latin typeface="Arial"/>
                <a:ea typeface="Arial"/>
                <a:cs typeface="Arial"/>
                <a:sym typeface="Arial"/>
              </a:rPr>
              <a:t>FREE LIGHTNING LESSON   ·   45 MINUTES</a:t>
            </a:r>
            <a:endParaRPr b="0" i="0" sz="1600" u="none" cap="none" strike="noStrike">
              <a:solidFill>
                <a:srgbClr val="000000"/>
              </a:solidFill>
              <a:latin typeface="Arial"/>
              <a:ea typeface="Arial"/>
              <a:cs typeface="Arial"/>
              <a:sym typeface="Arial"/>
            </a:endParaRPr>
          </a:p>
        </p:txBody>
      </p:sp>
      <p:sp>
        <p:nvSpPr>
          <p:cNvPr id="86" name="Google Shape;86;p13"/>
          <p:cNvSpPr/>
          <p:nvPr/>
        </p:nvSpPr>
        <p:spPr>
          <a:xfrm>
            <a:off x="10378440" y="914400"/>
            <a:ext cx="658368" cy="658368"/>
          </a:xfrm>
          <a:prstGeom prst="rect">
            <a:avLst/>
          </a:prstGeom>
          <a:solidFill>
            <a:srgbClr val="0F2347"/>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 name="Google Shape;87;p13"/>
          <p:cNvSpPr/>
          <p:nvPr/>
        </p:nvSpPr>
        <p:spPr>
          <a:xfrm>
            <a:off x="11109960" y="914400"/>
            <a:ext cx="658368" cy="658368"/>
          </a:xfrm>
          <a:prstGeom prst="rect">
            <a:avLst/>
          </a:prstGeom>
          <a:solidFill>
            <a:srgbClr val="C1440E"/>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p13"/>
          <p:cNvSpPr/>
          <p:nvPr/>
        </p:nvSpPr>
        <p:spPr>
          <a:xfrm>
            <a:off x="10378440" y="1645920"/>
            <a:ext cx="658368" cy="658368"/>
          </a:xfrm>
          <a:prstGeom prst="rect">
            <a:avLst/>
          </a:prstGeom>
          <a:solidFill>
            <a:srgbClr val="0F2347"/>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 name="Google Shape;89;p13"/>
          <p:cNvSpPr/>
          <p:nvPr/>
        </p:nvSpPr>
        <p:spPr>
          <a:xfrm>
            <a:off x="11109960" y="1645920"/>
            <a:ext cx="658368" cy="658368"/>
          </a:xfrm>
          <a:prstGeom prst="rect">
            <a:avLst/>
          </a:prstGeom>
          <a:solidFill>
            <a:srgbClr val="0F2347"/>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 name="Google Shape;90;p13"/>
          <p:cNvSpPr txBox="1"/>
          <p:nvPr/>
        </p:nvSpPr>
        <p:spPr>
          <a:xfrm>
            <a:off x="658368" y="1508760"/>
            <a:ext cx="8961120" cy="12344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4200"/>
              <a:buFont typeface="Arial"/>
              <a:buNone/>
            </a:pPr>
            <a:r>
              <a:rPr b="1" i="0" lang="en-US" sz="4200" u="none" cap="none" strike="noStrike">
                <a:solidFill>
                  <a:srgbClr val="F5F0E8"/>
                </a:solidFill>
                <a:latin typeface="Georgia"/>
                <a:ea typeface="Georgia"/>
                <a:cs typeface="Georgia"/>
                <a:sym typeface="Georgia"/>
              </a:rPr>
              <a:t>How to Tell If Your</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4200"/>
              <a:buFont typeface="Arial"/>
              <a:buNone/>
            </a:pPr>
            <a:r>
              <a:rPr b="1" i="0" lang="en-US" sz="4200" u="none" cap="none" strike="noStrike">
                <a:solidFill>
                  <a:srgbClr val="F5F0E8"/>
                </a:solidFill>
                <a:latin typeface="Georgia"/>
                <a:ea typeface="Georgia"/>
                <a:cs typeface="Georgia"/>
                <a:sym typeface="Georgia"/>
              </a:rPr>
              <a:t>Career Is Stalling</a:t>
            </a:r>
            <a:endParaRPr b="0" i="0" sz="1400" u="none" cap="none" strike="noStrike">
              <a:solidFill>
                <a:srgbClr val="000000"/>
              </a:solidFill>
              <a:latin typeface="Arial"/>
              <a:ea typeface="Arial"/>
              <a:cs typeface="Arial"/>
              <a:sym typeface="Arial"/>
            </a:endParaRPr>
          </a:p>
        </p:txBody>
      </p:sp>
      <p:sp>
        <p:nvSpPr>
          <p:cNvPr id="91" name="Google Shape;91;p13"/>
          <p:cNvSpPr txBox="1"/>
          <p:nvPr/>
        </p:nvSpPr>
        <p:spPr>
          <a:xfrm>
            <a:off x="676656" y="3657600"/>
            <a:ext cx="8869680"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rgbClr val="F5F0E8"/>
                </a:solidFill>
                <a:latin typeface="Arial"/>
                <a:ea typeface="Arial"/>
                <a:cs typeface="Arial"/>
                <a:sym typeface="Arial"/>
              </a:rPr>
              <a:t>Three signs your role may have stopped building your skills and future options, even while you are performing well.</a:t>
            </a:r>
            <a:endParaRPr b="0" i="0" sz="1400" u="none" cap="none" strike="noStrike">
              <a:solidFill>
                <a:srgbClr val="000000"/>
              </a:solidFill>
              <a:latin typeface="Arial"/>
              <a:ea typeface="Arial"/>
              <a:cs typeface="Arial"/>
              <a:sym typeface="Arial"/>
            </a:endParaRPr>
          </a:p>
        </p:txBody>
      </p:sp>
      <p:sp>
        <p:nvSpPr>
          <p:cNvPr id="92" name="Google Shape;92;p13"/>
          <p:cNvSpPr/>
          <p:nvPr/>
        </p:nvSpPr>
        <p:spPr>
          <a:xfrm>
            <a:off x="676656" y="4480560"/>
            <a:ext cx="47548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13"/>
          <p:cNvSpPr txBox="1"/>
          <p:nvPr/>
        </p:nvSpPr>
        <p:spPr>
          <a:xfrm>
            <a:off x="676656" y="4754880"/>
            <a:ext cx="8229600" cy="25603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000"/>
              <a:buFont typeface="Arial"/>
              <a:buNone/>
            </a:pPr>
            <a:r>
              <a:rPr b="1" i="0" lang="en-US" sz="1000" u="none" cap="none" strike="noStrike">
                <a:solidFill>
                  <a:srgbClr val="C9A84C"/>
                </a:solidFill>
                <a:latin typeface="Arial"/>
                <a:ea typeface="Arial"/>
                <a:cs typeface="Arial"/>
                <a:sym typeface="Arial"/>
              </a:rPr>
              <a:t>A CAPABILITY FORMATION LIGHTNING LESSON</a:t>
            </a:r>
            <a:endParaRPr b="0" i="0" sz="1400" u="none" cap="none" strike="noStrike">
              <a:solidFill>
                <a:srgbClr val="000000"/>
              </a:solidFill>
              <a:latin typeface="Arial"/>
              <a:ea typeface="Arial"/>
              <a:cs typeface="Arial"/>
              <a:sym typeface="Arial"/>
            </a:endParaRPr>
          </a:p>
        </p:txBody>
      </p:sp>
      <p:sp>
        <p:nvSpPr>
          <p:cNvPr id="94" name="Google Shape;94;p13"/>
          <p:cNvSpPr txBox="1"/>
          <p:nvPr/>
        </p:nvSpPr>
        <p:spPr>
          <a:xfrm>
            <a:off x="676656" y="5120640"/>
            <a:ext cx="4206240" cy="34747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2400"/>
              <a:buFont typeface="Arial"/>
              <a:buNone/>
            </a:pPr>
            <a:r>
              <a:rPr b="1" i="0" lang="en-US" sz="2400" u="none" cap="none" strike="noStrike">
                <a:solidFill>
                  <a:srgbClr val="F5F0E8"/>
                </a:solidFill>
                <a:latin typeface="Georgia"/>
                <a:ea typeface="Georgia"/>
                <a:cs typeface="Georgia"/>
                <a:sym typeface="Georgia"/>
              </a:rPr>
              <a:t>Temidayo Afonja</a:t>
            </a:r>
            <a:endParaRPr b="0" i="0" sz="1400" u="none" cap="none" strike="noStrike">
              <a:solidFill>
                <a:srgbClr val="000000"/>
              </a:solidFill>
              <a:latin typeface="Arial"/>
              <a:ea typeface="Arial"/>
              <a:cs typeface="Arial"/>
              <a:sym typeface="Arial"/>
            </a:endParaRPr>
          </a:p>
        </p:txBody>
      </p:sp>
      <p:sp>
        <p:nvSpPr>
          <p:cNvPr id="95" name="Google Shape;95;p13"/>
          <p:cNvSpPr txBox="1"/>
          <p:nvPr/>
        </p:nvSpPr>
        <p:spPr>
          <a:xfrm>
            <a:off x="676656" y="5568696"/>
            <a:ext cx="6583680" cy="21945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rgbClr val="F5F0E8"/>
                </a:solidFill>
                <a:latin typeface="Arial"/>
                <a:ea typeface="Arial"/>
                <a:cs typeface="Arial"/>
                <a:sym typeface="Arial"/>
              </a:rPr>
              <a:t>Founder, The Density Group  ·  Author, The Capability Audit.</a:t>
            </a:r>
            <a:endParaRPr b="0" i="0" sz="1400" u="none" cap="none" strike="noStrike">
              <a:solidFill>
                <a:srgbClr val="000000"/>
              </a:solidFill>
              <a:latin typeface="Arial"/>
              <a:ea typeface="Arial"/>
              <a:cs typeface="Arial"/>
              <a:sym typeface="Arial"/>
            </a:endParaRPr>
          </a:p>
        </p:txBody>
      </p:sp>
      <p:sp>
        <p:nvSpPr>
          <p:cNvPr id="96" name="Google Shape;96;p13"/>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F5F0E8"/>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97" name="Google Shape;97;p13"/>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F5F0E8"/>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02" name="Shape 102"/>
        <p:cNvGrpSpPr/>
        <p:nvPr/>
      </p:nvGrpSpPr>
      <p:grpSpPr>
        <a:xfrm>
          <a:off x="0" y="0"/>
          <a:ext cx="0" cy="0"/>
          <a:chOff x="0" y="0"/>
          <a:chExt cx="0" cy="0"/>
        </a:xfrm>
      </p:grpSpPr>
      <p:sp>
        <p:nvSpPr>
          <p:cNvPr id="103" name="Google Shape;103;p14"/>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chemeClr val="accent2"/>
                </a:solidFill>
                <a:latin typeface="Arial"/>
                <a:ea typeface="Arial"/>
                <a:cs typeface="Arial"/>
                <a:sym typeface="Arial"/>
              </a:rPr>
              <a:t>WELCOME</a:t>
            </a:r>
            <a:endParaRPr b="0" i="0" sz="1600" u="none" cap="none" strike="noStrike">
              <a:solidFill>
                <a:schemeClr val="accent2"/>
              </a:solidFill>
              <a:latin typeface="Arial"/>
              <a:ea typeface="Arial"/>
              <a:cs typeface="Arial"/>
              <a:sym typeface="Arial"/>
            </a:endParaRPr>
          </a:p>
        </p:txBody>
      </p:sp>
      <p:sp>
        <p:nvSpPr>
          <p:cNvPr id="104" name="Google Shape;104;p14"/>
          <p:cNvSpPr txBox="1"/>
          <p:nvPr/>
        </p:nvSpPr>
        <p:spPr>
          <a:xfrm>
            <a:off x="658368" y="914400"/>
            <a:ext cx="6675000" cy="492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Why I Built This Lesson</a:t>
            </a:r>
            <a:endParaRPr b="0" i="0" sz="1400" u="none" cap="none" strike="noStrike">
              <a:solidFill>
                <a:srgbClr val="000000"/>
              </a:solidFill>
              <a:latin typeface="Arial"/>
              <a:ea typeface="Arial"/>
              <a:cs typeface="Arial"/>
              <a:sym typeface="Arial"/>
            </a:endParaRPr>
          </a:p>
        </p:txBody>
      </p:sp>
      <p:sp>
        <p:nvSpPr>
          <p:cNvPr id="105" name="Google Shape;105;p14"/>
          <p:cNvSpPr/>
          <p:nvPr/>
        </p:nvSpPr>
        <p:spPr>
          <a:xfrm>
            <a:off x="676656" y="1600200"/>
            <a:ext cx="2377500" cy="2280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 name="Google Shape;106;p14"/>
          <p:cNvSpPr txBox="1"/>
          <p:nvPr/>
        </p:nvSpPr>
        <p:spPr>
          <a:xfrm>
            <a:off x="658368" y="1847088"/>
            <a:ext cx="6492300" cy="521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900"/>
              <a:buFont typeface="Arial"/>
              <a:buNone/>
            </a:pPr>
            <a:r>
              <a:rPr b="1" i="0" lang="en-US" sz="1900" u="none" cap="none" strike="noStrike">
                <a:solidFill>
                  <a:srgbClr val="0F2347"/>
                </a:solidFill>
                <a:latin typeface="Georgia"/>
                <a:ea typeface="Georgia"/>
                <a:cs typeface="Georgia"/>
                <a:sym typeface="Georgia"/>
              </a:rPr>
              <a:t>Temidayo Afonja - </a:t>
            </a:r>
            <a:r>
              <a:rPr b="1" i="0" lang="en-US" sz="1200" u="none" cap="none" strike="noStrike">
                <a:solidFill>
                  <a:srgbClr val="152B4C"/>
                </a:solidFill>
                <a:latin typeface="Georgia"/>
                <a:ea typeface="Georgia"/>
                <a:cs typeface="Georgia"/>
                <a:sym typeface="Georgia"/>
              </a:rPr>
              <a:t>Organizational capability strategist. Founder, The Density Group. Author, The Capability Audit.</a:t>
            </a:r>
            <a:endParaRPr b="1" i="0" sz="1200" u="none" cap="none" strike="noStrike">
              <a:solidFill>
                <a:srgbClr val="152B4C"/>
              </a:solidFill>
              <a:latin typeface="Georgia"/>
              <a:ea typeface="Georgia"/>
              <a:cs typeface="Georgia"/>
              <a:sym typeface="Georgia"/>
            </a:endParaRPr>
          </a:p>
        </p:txBody>
      </p:sp>
      <p:sp>
        <p:nvSpPr>
          <p:cNvPr id="107" name="Google Shape;107;p14"/>
          <p:cNvSpPr txBox="1"/>
          <p:nvPr/>
        </p:nvSpPr>
        <p:spPr>
          <a:xfrm>
            <a:off x="658375" y="2575125"/>
            <a:ext cx="6567600" cy="740400"/>
          </a:xfrm>
          <a:prstGeom prst="rect">
            <a:avLst/>
          </a:prstGeom>
          <a:noFill/>
          <a:ln>
            <a:noFill/>
          </a:ln>
        </p:spPr>
        <p:txBody>
          <a:bodyPr anchorCtr="0" anchor="t" bIns="0" lIns="0" spcFirstLastPara="1" rIns="0" wrap="square" tIns="0">
            <a:spAutoFit/>
          </a:bodyPr>
          <a:lstStyle/>
          <a:p>
            <a:pPr indent="0" lvl="0" marL="0" marR="0" rtl="0" algn="l">
              <a:lnSpc>
                <a:spcPct val="135000"/>
              </a:lnSpc>
              <a:spcBef>
                <a:spcPts val="0"/>
              </a:spcBef>
              <a:spcAft>
                <a:spcPts val="0"/>
              </a:spcAft>
              <a:buClr>
                <a:srgbClr val="000000"/>
              </a:buClr>
              <a:buSzPts val="1300"/>
              <a:buFont typeface="Arial"/>
              <a:buNone/>
            </a:pPr>
            <a:r>
              <a:rPr b="1" i="0" lang="en-US" sz="1300" u="none" cap="none" strike="noStrike">
                <a:solidFill>
                  <a:srgbClr val="0F2347"/>
                </a:solidFill>
                <a:latin typeface="Arial"/>
                <a:ea typeface="Arial"/>
                <a:cs typeface="Arial"/>
                <a:sym typeface="Arial"/>
              </a:rPr>
              <a:t>For nearly two decades, I worked inside enterprise rooms where performance, promotion, capability, and organizational change were assessed. Experience across PwC, Deloitte, EY, and enterprise leadership.</a:t>
            </a:r>
            <a:endParaRPr b="1" i="0" sz="1300" u="none" cap="none" strike="noStrike">
              <a:solidFill>
                <a:srgbClr val="0F2347"/>
              </a:solidFill>
              <a:latin typeface="Arial"/>
              <a:ea typeface="Arial"/>
              <a:cs typeface="Arial"/>
              <a:sym typeface="Arial"/>
            </a:endParaRPr>
          </a:p>
        </p:txBody>
      </p:sp>
      <p:sp>
        <p:nvSpPr>
          <p:cNvPr id="108" name="Google Shape;108;p14"/>
          <p:cNvSpPr txBox="1"/>
          <p:nvPr/>
        </p:nvSpPr>
        <p:spPr>
          <a:xfrm>
            <a:off x="658368" y="3612630"/>
            <a:ext cx="6492300" cy="292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900"/>
              <a:buFont typeface="Arial"/>
              <a:buNone/>
            </a:pPr>
            <a:r>
              <a:rPr b="1" i="1" lang="en-US" sz="1900" u="none" cap="none" strike="noStrike">
                <a:solidFill>
                  <a:schemeClr val="accent6"/>
                </a:solidFill>
                <a:latin typeface="Georgia"/>
                <a:ea typeface="Georgia"/>
                <a:cs typeface="Georgia"/>
                <a:sym typeface="Georgia"/>
              </a:rPr>
              <a:t>In 2026, the question became personal.</a:t>
            </a:r>
            <a:endParaRPr b="0" i="0" sz="1800" u="none" cap="none" strike="noStrike">
              <a:solidFill>
                <a:schemeClr val="accent6"/>
              </a:solidFill>
              <a:latin typeface="Arial"/>
              <a:ea typeface="Arial"/>
              <a:cs typeface="Arial"/>
              <a:sym typeface="Arial"/>
            </a:endParaRPr>
          </a:p>
        </p:txBody>
      </p:sp>
      <p:sp>
        <p:nvSpPr>
          <p:cNvPr id="109" name="Google Shape;109;p14"/>
          <p:cNvSpPr/>
          <p:nvPr/>
        </p:nvSpPr>
        <p:spPr>
          <a:xfrm>
            <a:off x="658368" y="4067296"/>
            <a:ext cx="6492300" cy="1051500"/>
          </a:xfrm>
          <a:prstGeom prst="roundRect">
            <a:avLst>
              <a:gd fmla="val 16667" name="adj"/>
            </a:avLst>
          </a:prstGeom>
          <a:solidFill>
            <a:schemeClr val="dk2"/>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 name="Google Shape;110;p14"/>
          <p:cNvSpPr txBox="1"/>
          <p:nvPr/>
        </p:nvSpPr>
        <p:spPr>
          <a:xfrm>
            <a:off x="914400" y="4277608"/>
            <a:ext cx="5989200" cy="6234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800"/>
              <a:buFont typeface="Arial"/>
              <a:buNone/>
            </a:pPr>
            <a:r>
              <a:rPr b="1" i="1" lang="en-US" sz="1800" u="none" cap="none" strike="noStrike">
                <a:solidFill>
                  <a:srgbClr val="F5F0E8"/>
                </a:solidFill>
                <a:latin typeface="Georgia"/>
                <a:ea typeface="Georgia"/>
                <a:cs typeface="Georgia"/>
                <a:sym typeface="Georgia"/>
              </a:rPr>
              <a:t>“My performance had shaped my standing. It had not insulated the role from a change in structure.”</a:t>
            </a:r>
            <a:endParaRPr b="0" i="0" sz="1800" u="none" cap="none" strike="noStrike">
              <a:solidFill>
                <a:srgbClr val="F5F0E8"/>
              </a:solidFill>
              <a:latin typeface="Arial"/>
              <a:ea typeface="Arial"/>
              <a:cs typeface="Arial"/>
              <a:sym typeface="Arial"/>
            </a:endParaRPr>
          </a:p>
        </p:txBody>
      </p:sp>
      <p:pic>
        <p:nvPicPr>
          <p:cNvPr descr="temi-photo.jpg" id="111" name="Google Shape;111;p14"/>
          <p:cNvPicPr preferRelativeResize="0"/>
          <p:nvPr/>
        </p:nvPicPr>
        <p:blipFill rotWithShape="1">
          <a:blip r:embed="rId3">
            <a:alphaModFix/>
          </a:blip>
          <a:srcRect b="0" l="0" r="0" t="0"/>
          <a:stretch/>
        </p:blipFill>
        <p:spPr>
          <a:xfrm>
            <a:off x="8165454" y="1991007"/>
            <a:ext cx="3520440" cy="3520440"/>
          </a:xfrm>
          <a:prstGeom prst="rect">
            <a:avLst/>
          </a:prstGeom>
          <a:noFill/>
          <a:ln>
            <a:noFill/>
          </a:ln>
        </p:spPr>
      </p:pic>
      <p:sp>
        <p:nvSpPr>
          <p:cNvPr id="112" name="Google Shape;112;p14"/>
          <p:cNvSpPr txBox="1"/>
          <p:nvPr/>
        </p:nvSpPr>
        <p:spPr>
          <a:xfrm>
            <a:off x="658368" y="6464808"/>
            <a:ext cx="4937700" cy="117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113" name="Google Shape;113;p14"/>
          <p:cNvSpPr txBox="1"/>
          <p:nvPr/>
        </p:nvSpPr>
        <p:spPr>
          <a:xfrm>
            <a:off x="11430000" y="6464808"/>
            <a:ext cx="255900" cy="1170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114" name="Google Shape;114;p14"/>
          <p:cNvSpPr/>
          <p:nvPr/>
        </p:nvSpPr>
        <p:spPr>
          <a:xfrm>
            <a:off x="662843" y="5316243"/>
            <a:ext cx="6492300" cy="1051500"/>
          </a:xfrm>
          <a:prstGeom prst="roundRect">
            <a:avLst>
              <a:gd fmla="val 16667" name="adj"/>
            </a:avLst>
          </a:prstGeom>
          <a:solidFill>
            <a:schemeClr val="accent6"/>
          </a:solidFill>
          <a:ln cap="flat" cmpd="sng" w="127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 name="Google Shape;115;p14"/>
          <p:cNvSpPr txBox="1"/>
          <p:nvPr/>
        </p:nvSpPr>
        <p:spPr>
          <a:xfrm>
            <a:off x="918875" y="5526555"/>
            <a:ext cx="5989200" cy="6234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800"/>
              <a:buFont typeface="Arial"/>
              <a:buNone/>
            </a:pPr>
            <a:r>
              <a:rPr b="1" i="1" lang="en-US" sz="1800" u="none" cap="none" strike="noStrike">
                <a:solidFill>
                  <a:srgbClr val="152B4C"/>
                </a:solidFill>
                <a:latin typeface="Georgia"/>
                <a:ea typeface="Georgia"/>
                <a:cs typeface="Georgia"/>
                <a:sym typeface="Georgia"/>
              </a:rPr>
              <a:t>“Can a career begin to stall while the person is still performing well?”</a:t>
            </a:r>
            <a:endParaRPr b="1" i="1" sz="1800" u="none" cap="none" strike="noStrike">
              <a:solidFill>
                <a:srgbClr val="F5F0E8"/>
              </a:solidFill>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20" name="Shape 120"/>
        <p:cNvGrpSpPr/>
        <p:nvPr/>
      </p:nvGrpSpPr>
      <p:grpSpPr>
        <a:xfrm>
          <a:off x="0" y="0"/>
          <a:ext cx="0" cy="0"/>
          <a:chOff x="0" y="0"/>
          <a:chExt cx="0" cy="0"/>
        </a:xfrm>
      </p:grpSpPr>
      <p:sp>
        <p:nvSpPr>
          <p:cNvPr id="121" name="Google Shape;121;p15"/>
          <p:cNvSpPr txBox="1"/>
          <p:nvPr/>
        </p:nvSpPr>
        <p:spPr>
          <a:xfrm>
            <a:off x="658368" y="1097280"/>
            <a:ext cx="9875400" cy="492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What This Lesson Will Do — and Won’t</a:t>
            </a:r>
            <a:endParaRPr b="0" i="0" sz="1400" u="none" cap="none" strike="noStrike">
              <a:solidFill>
                <a:srgbClr val="000000"/>
              </a:solidFill>
              <a:latin typeface="Arial"/>
              <a:ea typeface="Arial"/>
              <a:cs typeface="Arial"/>
              <a:sym typeface="Arial"/>
            </a:endParaRPr>
          </a:p>
        </p:txBody>
      </p:sp>
      <p:sp>
        <p:nvSpPr>
          <p:cNvPr id="122" name="Google Shape;122;p15"/>
          <p:cNvSpPr/>
          <p:nvPr/>
        </p:nvSpPr>
        <p:spPr>
          <a:xfrm>
            <a:off x="676656" y="178308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 name="Google Shape;123;p15"/>
          <p:cNvSpPr txBox="1"/>
          <p:nvPr/>
        </p:nvSpPr>
        <p:spPr>
          <a:xfrm>
            <a:off x="676656" y="2103120"/>
            <a:ext cx="10058400" cy="2971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400"/>
              <a:buFont typeface="Arial"/>
              <a:buNone/>
            </a:pPr>
            <a:r>
              <a:rPr b="1" i="0" lang="en-US" sz="1400" u="none" cap="none" strike="noStrike">
                <a:solidFill>
                  <a:srgbClr val="C9A84C"/>
                </a:solidFill>
                <a:latin typeface="Georgia"/>
                <a:ea typeface="Georgia"/>
                <a:cs typeface="Georgia"/>
                <a:sym typeface="Georgia"/>
              </a:rPr>
              <a:t>WHAT THIS LESSON DOES</a:t>
            </a:r>
            <a:endParaRPr b="1" i="0" sz="1400" u="none" cap="none" strike="noStrike">
              <a:solidFill>
                <a:srgbClr val="C9A84C"/>
              </a:solidFill>
              <a:latin typeface="Georgia"/>
              <a:ea typeface="Georgia"/>
              <a:cs typeface="Georgia"/>
              <a:sym typeface="Georgia"/>
            </a:endParaRPr>
          </a:p>
          <a:p>
            <a:pPr indent="0" lvl="0" marL="0" marR="0" rtl="0" algn="l">
              <a:lnSpc>
                <a:spcPct val="120000"/>
              </a:lnSpc>
              <a:spcBef>
                <a:spcPts val="300"/>
              </a:spcBef>
              <a:spcAft>
                <a:spcPts val="0"/>
              </a:spcAft>
              <a:buClr>
                <a:srgbClr val="000000"/>
              </a:buClr>
              <a:buSzPts val="2200"/>
              <a:buFont typeface="Arial"/>
              <a:buNone/>
            </a:pPr>
            <a:r>
              <a:rPr b="1" i="0" lang="en-US" sz="2200" u="none" cap="none" strike="noStrike">
                <a:solidFill>
                  <a:srgbClr val="152B4C"/>
                </a:solidFill>
                <a:latin typeface="Georgia"/>
                <a:ea typeface="Georgia"/>
                <a:cs typeface="Georgia"/>
                <a:sym typeface="Georgia"/>
              </a:rPr>
              <a:t>Recognize three patterns worth examining.</a:t>
            </a:r>
            <a:endParaRPr b="1" i="0" sz="2200" u="none" cap="none" strike="noStrike">
              <a:solidFill>
                <a:srgbClr val="152B4C"/>
              </a:solidFill>
              <a:latin typeface="Georgia"/>
              <a:ea typeface="Georgia"/>
              <a:cs typeface="Georgia"/>
              <a:sym typeface="Georgia"/>
            </a:endParaRPr>
          </a:p>
          <a:p>
            <a:pPr indent="0" lvl="0" marL="0" marR="0" rtl="0" algn="l">
              <a:lnSpc>
                <a:spcPct val="120000"/>
              </a:lnSpc>
              <a:spcBef>
                <a:spcPts val="2600"/>
              </a:spcBef>
              <a:spcAft>
                <a:spcPts val="0"/>
              </a:spcAft>
              <a:buClr>
                <a:srgbClr val="000000"/>
              </a:buClr>
              <a:buSzPts val="1400"/>
              <a:buFont typeface="Arial"/>
              <a:buNone/>
            </a:pPr>
            <a:r>
              <a:rPr b="1" i="0" lang="en-US" sz="1400" u="none" cap="none" strike="noStrike">
                <a:solidFill>
                  <a:srgbClr val="C1440E"/>
                </a:solidFill>
                <a:latin typeface="Georgia"/>
                <a:ea typeface="Georgia"/>
                <a:cs typeface="Georgia"/>
                <a:sym typeface="Georgia"/>
              </a:rPr>
              <a:t>WHAT IT DOES NOT DO</a:t>
            </a:r>
            <a:endParaRPr b="1" i="0" sz="1400" u="none" cap="none" strike="noStrike">
              <a:solidFill>
                <a:srgbClr val="C1440E"/>
              </a:solidFill>
              <a:latin typeface="Georgia"/>
              <a:ea typeface="Georgia"/>
              <a:cs typeface="Georgia"/>
              <a:sym typeface="Georgia"/>
            </a:endParaRPr>
          </a:p>
          <a:p>
            <a:pPr indent="0" lvl="0" marL="0" marR="0" rtl="0" algn="l">
              <a:lnSpc>
                <a:spcPct val="130000"/>
              </a:lnSpc>
              <a:spcBef>
                <a:spcPts val="500"/>
              </a:spcBef>
              <a:spcAft>
                <a:spcPts val="0"/>
              </a:spcAft>
              <a:buClr>
                <a:srgbClr val="000000"/>
              </a:buClr>
              <a:buSzPts val="1800"/>
              <a:buFont typeface="Arial"/>
              <a:buNone/>
            </a:pPr>
            <a:r>
              <a:rPr b="0" i="0" lang="en-US" sz="1800" u="none" cap="none" strike="noStrike">
                <a:solidFill>
                  <a:srgbClr val="152B4C"/>
                </a:solidFill>
                <a:latin typeface="Georgia"/>
                <a:ea typeface="Georgia"/>
                <a:cs typeface="Georgia"/>
                <a:sym typeface="Georgia"/>
              </a:rPr>
              <a:t>Tell you whether to stay or leave</a:t>
            </a:r>
            <a:endParaRPr b="0" i="0" sz="1800" u="none" cap="none" strike="noStrike">
              <a:solidFill>
                <a:srgbClr val="152B4C"/>
              </a:solidFill>
              <a:latin typeface="Georgia"/>
              <a:ea typeface="Georgia"/>
              <a:cs typeface="Georgia"/>
              <a:sym typeface="Georgia"/>
            </a:endParaRPr>
          </a:p>
          <a:p>
            <a:pPr indent="0" lvl="0" marL="0" marR="0" rtl="0" algn="l">
              <a:lnSpc>
                <a:spcPct val="130000"/>
              </a:lnSpc>
              <a:spcBef>
                <a:spcPts val="300"/>
              </a:spcBef>
              <a:spcAft>
                <a:spcPts val="0"/>
              </a:spcAft>
              <a:buClr>
                <a:srgbClr val="000000"/>
              </a:buClr>
              <a:buSzPts val="1800"/>
              <a:buFont typeface="Arial"/>
              <a:buNone/>
            </a:pPr>
            <a:r>
              <a:rPr b="0" i="0" lang="en-US" sz="1800" u="none" cap="none" strike="noStrike">
                <a:solidFill>
                  <a:srgbClr val="152B4C"/>
                </a:solidFill>
                <a:latin typeface="Georgia"/>
                <a:ea typeface="Georgia"/>
                <a:cs typeface="Georgia"/>
                <a:sym typeface="Georgia"/>
              </a:rPr>
              <a:t>Place you in a Career State</a:t>
            </a:r>
            <a:endParaRPr b="0" i="0" sz="1800" u="none" cap="none" strike="noStrike">
              <a:solidFill>
                <a:srgbClr val="152B4C"/>
              </a:solidFill>
              <a:latin typeface="Georgia"/>
              <a:ea typeface="Georgia"/>
              <a:cs typeface="Georgia"/>
              <a:sym typeface="Georgia"/>
            </a:endParaRPr>
          </a:p>
          <a:p>
            <a:pPr indent="0" lvl="0" marL="0" marR="0" rtl="0" algn="l">
              <a:lnSpc>
                <a:spcPct val="130000"/>
              </a:lnSpc>
              <a:spcBef>
                <a:spcPts val="300"/>
              </a:spcBef>
              <a:spcAft>
                <a:spcPts val="0"/>
              </a:spcAft>
              <a:buClr>
                <a:srgbClr val="000000"/>
              </a:buClr>
              <a:buSzPts val="1800"/>
              <a:buFont typeface="Arial"/>
              <a:buNone/>
            </a:pPr>
            <a:r>
              <a:rPr b="0" i="0" lang="en-US" sz="1800" u="none" cap="none" strike="noStrike">
                <a:solidFill>
                  <a:srgbClr val="152B4C"/>
                </a:solidFill>
                <a:latin typeface="Georgia"/>
                <a:ea typeface="Georgia"/>
                <a:cs typeface="Georgia"/>
                <a:sym typeface="Georgia"/>
              </a:rPr>
              <a:t>Give you a personalized employment decision</a:t>
            </a:r>
            <a:endParaRPr b="0" i="0" sz="1800" u="none" cap="none" strike="noStrike">
              <a:solidFill>
                <a:srgbClr val="152B4C"/>
              </a:solidFill>
              <a:latin typeface="Georgia"/>
              <a:ea typeface="Georgia"/>
              <a:cs typeface="Georgia"/>
              <a:sym typeface="Georgia"/>
            </a:endParaRPr>
          </a:p>
        </p:txBody>
      </p:sp>
      <p:sp>
        <p:nvSpPr>
          <p:cNvPr id="124" name="Google Shape;124;p15"/>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125" name="Google Shape;125;p15"/>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30" name="Shape 130"/>
        <p:cNvGrpSpPr/>
        <p:nvPr/>
      </p:nvGrpSpPr>
      <p:grpSpPr>
        <a:xfrm>
          <a:off x="0" y="0"/>
          <a:ext cx="0" cy="0"/>
          <a:chOff x="0" y="0"/>
          <a:chExt cx="0" cy="0"/>
        </a:xfrm>
      </p:grpSpPr>
      <p:sp>
        <p:nvSpPr>
          <p:cNvPr id="131" name="Google Shape;131;p16"/>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OPENING POLL</a:t>
            </a:r>
            <a:endParaRPr b="0" i="0" sz="1400" u="none" cap="none" strike="noStrike">
              <a:solidFill>
                <a:srgbClr val="000000"/>
              </a:solidFill>
              <a:latin typeface="Arial"/>
              <a:ea typeface="Arial"/>
              <a:cs typeface="Arial"/>
              <a:sym typeface="Arial"/>
            </a:endParaRPr>
          </a:p>
        </p:txBody>
      </p:sp>
      <p:sp>
        <p:nvSpPr>
          <p:cNvPr id="132" name="Google Shape;132;p16"/>
          <p:cNvSpPr txBox="1"/>
          <p:nvPr/>
        </p:nvSpPr>
        <p:spPr>
          <a:xfrm>
            <a:off x="658368" y="1143000"/>
            <a:ext cx="987552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What brought you here today?</a:t>
            </a:r>
            <a:endParaRPr b="0" i="0" sz="1400" u="none" cap="none" strike="noStrike">
              <a:solidFill>
                <a:srgbClr val="000000"/>
              </a:solidFill>
              <a:latin typeface="Arial"/>
              <a:ea typeface="Arial"/>
              <a:cs typeface="Arial"/>
              <a:sym typeface="Arial"/>
            </a:endParaRPr>
          </a:p>
        </p:txBody>
      </p:sp>
      <p:sp>
        <p:nvSpPr>
          <p:cNvPr id="133" name="Google Shape;133;p16"/>
          <p:cNvSpPr txBox="1"/>
          <p:nvPr/>
        </p:nvSpPr>
        <p:spPr>
          <a:xfrm>
            <a:off x="676656" y="1828800"/>
            <a:ext cx="8778300" cy="261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700"/>
              <a:buFont typeface="Arial"/>
              <a:buNone/>
            </a:pPr>
            <a:r>
              <a:rPr b="0" i="0" lang="en-US" sz="1700" u="none" cap="none" strike="noStrike">
                <a:solidFill>
                  <a:srgbClr val="152B4C"/>
                </a:solidFill>
                <a:latin typeface="Arial"/>
                <a:ea typeface="Arial"/>
                <a:cs typeface="Arial"/>
                <a:sym typeface="Arial"/>
              </a:rPr>
              <a:t>Choose the closest reason. </a:t>
            </a:r>
            <a:endParaRPr b="0" i="0" sz="1600" u="none" cap="none" strike="noStrike">
              <a:solidFill>
                <a:srgbClr val="000000"/>
              </a:solidFill>
              <a:latin typeface="Arial"/>
              <a:ea typeface="Arial"/>
              <a:cs typeface="Arial"/>
              <a:sym typeface="Arial"/>
            </a:endParaRPr>
          </a:p>
        </p:txBody>
      </p:sp>
      <p:sp>
        <p:nvSpPr>
          <p:cNvPr id="134" name="Google Shape;134;p16"/>
          <p:cNvSpPr/>
          <p:nvPr/>
        </p:nvSpPr>
        <p:spPr>
          <a:xfrm>
            <a:off x="868680" y="251460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 name="Google Shape;135;p16"/>
          <p:cNvSpPr txBox="1"/>
          <p:nvPr/>
        </p:nvSpPr>
        <p:spPr>
          <a:xfrm>
            <a:off x="1069848" y="267919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Promotion or larger role</a:t>
            </a:r>
            <a:endParaRPr b="1" i="0" sz="1600" u="none" cap="none" strike="noStrike">
              <a:solidFill>
                <a:srgbClr val="000000"/>
              </a:solidFill>
              <a:latin typeface="Arial"/>
              <a:ea typeface="Arial"/>
              <a:cs typeface="Arial"/>
              <a:sym typeface="Arial"/>
            </a:endParaRPr>
          </a:p>
        </p:txBody>
      </p:sp>
      <p:sp>
        <p:nvSpPr>
          <p:cNvPr id="136" name="Google Shape;136;p16"/>
          <p:cNvSpPr/>
          <p:nvPr/>
        </p:nvSpPr>
        <p:spPr>
          <a:xfrm>
            <a:off x="6080760" y="251460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 name="Google Shape;137;p16"/>
          <p:cNvSpPr txBox="1"/>
          <p:nvPr/>
        </p:nvSpPr>
        <p:spPr>
          <a:xfrm>
            <a:off x="6281928" y="267919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Reorganization or role change</a:t>
            </a:r>
            <a:endParaRPr b="1" i="0" sz="1600" u="none" cap="none" strike="noStrike">
              <a:solidFill>
                <a:srgbClr val="000000"/>
              </a:solidFill>
              <a:latin typeface="Arial"/>
              <a:ea typeface="Arial"/>
              <a:cs typeface="Arial"/>
              <a:sym typeface="Arial"/>
            </a:endParaRPr>
          </a:p>
        </p:txBody>
      </p:sp>
      <p:sp>
        <p:nvSpPr>
          <p:cNvPr id="138" name="Google Shape;138;p16"/>
          <p:cNvSpPr/>
          <p:nvPr/>
        </p:nvSpPr>
        <p:spPr>
          <a:xfrm>
            <a:off x="868680" y="347472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 name="Google Shape;139;p16"/>
          <p:cNvSpPr txBox="1"/>
          <p:nvPr/>
        </p:nvSpPr>
        <p:spPr>
          <a:xfrm>
            <a:off x="1069848" y="363931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Internal move decision</a:t>
            </a:r>
            <a:endParaRPr b="1" i="0" sz="1600" u="none" cap="none" strike="noStrike">
              <a:solidFill>
                <a:srgbClr val="000000"/>
              </a:solidFill>
              <a:latin typeface="Arial"/>
              <a:ea typeface="Arial"/>
              <a:cs typeface="Arial"/>
              <a:sym typeface="Arial"/>
            </a:endParaRPr>
          </a:p>
        </p:txBody>
      </p:sp>
      <p:sp>
        <p:nvSpPr>
          <p:cNvPr id="140" name="Google Shape;140;p16"/>
          <p:cNvSpPr/>
          <p:nvPr/>
        </p:nvSpPr>
        <p:spPr>
          <a:xfrm>
            <a:off x="6080760" y="347472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 name="Google Shape;141;p16"/>
          <p:cNvSpPr txBox="1"/>
          <p:nvPr/>
        </p:nvSpPr>
        <p:spPr>
          <a:xfrm>
            <a:off x="6281928" y="363931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External opportunity</a:t>
            </a:r>
            <a:endParaRPr b="1" i="0" sz="1600" u="none" cap="none" strike="noStrike">
              <a:solidFill>
                <a:srgbClr val="000000"/>
              </a:solidFill>
              <a:latin typeface="Arial"/>
              <a:ea typeface="Arial"/>
              <a:cs typeface="Arial"/>
              <a:sym typeface="Arial"/>
            </a:endParaRPr>
          </a:p>
        </p:txBody>
      </p:sp>
      <p:sp>
        <p:nvSpPr>
          <p:cNvPr id="142" name="Google Shape;142;p16"/>
          <p:cNvSpPr/>
          <p:nvPr/>
        </p:nvSpPr>
        <p:spPr>
          <a:xfrm>
            <a:off x="868680" y="443484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 name="Google Shape;143;p16"/>
          <p:cNvSpPr txBox="1"/>
          <p:nvPr/>
        </p:nvSpPr>
        <p:spPr>
          <a:xfrm>
            <a:off x="1069848" y="4599431"/>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My role feels static</a:t>
            </a:r>
            <a:endParaRPr b="1" i="0" sz="1600" u="none" cap="none" strike="noStrike">
              <a:solidFill>
                <a:srgbClr val="000000"/>
              </a:solidFill>
              <a:latin typeface="Arial"/>
              <a:ea typeface="Arial"/>
              <a:cs typeface="Arial"/>
              <a:sym typeface="Arial"/>
            </a:endParaRPr>
          </a:p>
        </p:txBody>
      </p:sp>
      <p:sp>
        <p:nvSpPr>
          <p:cNvPr id="144" name="Google Shape;144;p16"/>
          <p:cNvSpPr/>
          <p:nvPr/>
        </p:nvSpPr>
        <p:spPr>
          <a:xfrm>
            <a:off x="6080760" y="443484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 name="Google Shape;145;p16"/>
          <p:cNvSpPr txBox="1"/>
          <p:nvPr/>
        </p:nvSpPr>
        <p:spPr>
          <a:xfrm>
            <a:off x="6281928" y="4599431"/>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General uncertainty</a:t>
            </a:r>
            <a:endParaRPr b="1" i="0" sz="1600" u="none" cap="none" strike="noStrike">
              <a:solidFill>
                <a:srgbClr val="000000"/>
              </a:solidFill>
              <a:latin typeface="Arial"/>
              <a:ea typeface="Arial"/>
              <a:cs typeface="Arial"/>
              <a:sym typeface="Arial"/>
            </a:endParaRPr>
          </a:p>
        </p:txBody>
      </p:sp>
      <p:sp>
        <p:nvSpPr>
          <p:cNvPr id="146" name="Google Shape;146;p16"/>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147" name="Google Shape;147;p16"/>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52" name="Shape 152"/>
        <p:cNvGrpSpPr/>
        <p:nvPr/>
      </p:nvGrpSpPr>
      <p:grpSpPr>
        <a:xfrm>
          <a:off x="0" y="0"/>
          <a:ext cx="0" cy="0"/>
          <a:chOff x="0" y="0"/>
          <a:chExt cx="0" cy="0"/>
        </a:xfrm>
      </p:grpSpPr>
      <p:sp>
        <p:nvSpPr>
          <p:cNvPr id="153" name="Google Shape;153;p17"/>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C1440E"/>
                </a:solidFill>
                <a:latin typeface="Arial"/>
                <a:ea typeface="Arial"/>
                <a:cs typeface="Arial"/>
                <a:sym typeface="Arial"/>
              </a:rPr>
              <a:t>WHAT YOU’LL LEAVE WITH</a:t>
            </a:r>
            <a:endParaRPr b="0" i="0" sz="1600" u="none" cap="none" strike="noStrike">
              <a:solidFill>
                <a:srgbClr val="C1440E"/>
              </a:solidFill>
              <a:latin typeface="Arial"/>
              <a:ea typeface="Arial"/>
              <a:cs typeface="Arial"/>
              <a:sym typeface="Arial"/>
            </a:endParaRPr>
          </a:p>
        </p:txBody>
      </p:sp>
      <p:sp>
        <p:nvSpPr>
          <p:cNvPr id="154" name="Google Shape;154;p17"/>
          <p:cNvSpPr txBox="1"/>
          <p:nvPr/>
        </p:nvSpPr>
        <p:spPr>
          <a:xfrm>
            <a:off x="658368" y="1051560"/>
            <a:ext cx="1024128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What You’ll Leave With Today</a:t>
            </a:r>
            <a:endParaRPr b="0" i="0" sz="1400" u="none" cap="none" strike="noStrike">
              <a:solidFill>
                <a:srgbClr val="000000"/>
              </a:solidFill>
              <a:latin typeface="Arial"/>
              <a:ea typeface="Arial"/>
              <a:cs typeface="Arial"/>
              <a:sym typeface="Arial"/>
            </a:endParaRPr>
          </a:p>
        </p:txBody>
      </p:sp>
      <p:sp>
        <p:nvSpPr>
          <p:cNvPr id="155" name="Google Shape;155;p17"/>
          <p:cNvSpPr/>
          <p:nvPr/>
        </p:nvSpPr>
        <p:spPr>
          <a:xfrm>
            <a:off x="676656" y="1874519"/>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 name="Google Shape;156;p17"/>
          <p:cNvSpPr/>
          <p:nvPr/>
        </p:nvSpPr>
        <p:spPr>
          <a:xfrm>
            <a:off x="713232" y="2331720"/>
            <a:ext cx="320040" cy="320040"/>
          </a:xfrm>
          <a:prstGeom prst="roundRect">
            <a:avLst>
              <a:gd fmla="val 16667" name="adj"/>
            </a:avLst>
          </a:prstGeom>
          <a:solidFill>
            <a:srgbClr val="0F23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 name="Google Shape;157;p17"/>
          <p:cNvSpPr txBox="1"/>
          <p:nvPr/>
        </p:nvSpPr>
        <p:spPr>
          <a:xfrm>
            <a:off x="713232" y="2400300"/>
            <a:ext cx="320040" cy="18288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500"/>
              <a:buFont typeface="Arial"/>
              <a:buNone/>
            </a:pPr>
            <a:r>
              <a:rPr b="1" i="0" lang="en-US" sz="15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58" name="Google Shape;158;p17"/>
          <p:cNvSpPr txBox="1"/>
          <p:nvPr/>
        </p:nvSpPr>
        <p:spPr>
          <a:xfrm>
            <a:off x="1261872" y="2313432"/>
            <a:ext cx="9692640" cy="3200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1" i="0" lang="en-US" sz="1800" u="none" cap="none" strike="noStrike">
                <a:solidFill>
                  <a:srgbClr val="0F2347"/>
                </a:solidFill>
                <a:latin typeface="Georgia"/>
                <a:ea typeface="Georgia"/>
                <a:cs typeface="Georgia"/>
                <a:sym typeface="Georgia"/>
              </a:rPr>
              <a:t>SPOT THE PATTERN</a:t>
            </a:r>
            <a:endParaRPr b="0" i="0" sz="1400" u="none" cap="none" strike="noStrike">
              <a:solidFill>
                <a:srgbClr val="000000"/>
              </a:solidFill>
              <a:latin typeface="Arial"/>
              <a:ea typeface="Arial"/>
              <a:cs typeface="Arial"/>
              <a:sym typeface="Arial"/>
            </a:endParaRPr>
          </a:p>
        </p:txBody>
      </p:sp>
      <p:sp>
        <p:nvSpPr>
          <p:cNvPr id="159" name="Google Shape;159;p17"/>
          <p:cNvSpPr txBox="1"/>
          <p:nvPr/>
        </p:nvSpPr>
        <p:spPr>
          <a:xfrm>
            <a:off x="1261872" y="2679191"/>
            <a:ext cx="96927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152B4C"/>
                </a:solidFill>
                <a:latin typeface="Arial"/>
                <a:ea typeface="Arial"/>
                <a:cs typeface="Arial"/>
                <a:sym typeface="Arial"/>
              </a:rPr>
              <a:t>Recognize which of three career-stall patterns may deserve attention in your work.</a:t>
            </a:r>
            <a:endParaRPr b="0" i="0" sz="1400" u="none" cap="none" strike="noStrike">
              <a:solidFill>
                <a:srgbClr val="000000"/>
              </a:solidFill>
              <a:latin typeface="Arial"/>
              <a:ea typeface="Arial"/>
              <a:cs typeface="Arial"/>
              <a:sym typeface="Arial"/>
            </a:endParaRPr>
          </a:p>
        </p:txBody>
      </p:sp>
      <p:sp>
        <p:nvSpPr>
          <p:cNvPr id="160" name="Google Shape;160;p17"/>
          <p:cNvSpPr/>
          <p:nvPr/>
        </p:nvSpPr>
        <p:spPr>
          <a:xfrm>
            <a:off x="713232" y="3520439"/>
            <a:ext cx="320040" cy="320040"/>
          </a:xfrm>
          <a:prstGeom prst="roundRect">
            <a:avLst>
              <a:gd fmla="val 16667" name="adj"/>
            </a:avLst>
          </a:prstGeom>
          <a:solidFill>
            <a:srgbClr val="0F23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 name="Google Shape;161;p17"/>
          <p:cNvSpPr txBox="1"/>
          <p:nvPr/>
        </p:nvSpPr>
        <p:spPr>
          <a:xfrm>
            <a:off x="713232" y="3589019"/>
            <a:ext cx="320040" cy="18288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500"/>
              <a:buFont typeface="Arial"/>
              <a:buNone/>
            </a:pPr>
            <a:r>
              <a:rPr b="1" i="0" lang="en-US" sz="1500"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162" name="Google Shape;162;p17"/>
          <p:cNvSpPr txBox="1"/>
          <p:nvPr/>
        </p:nvSpPr>
        <p:spPr>
          <a:xfrm>
            <a:off x="1261872" y="3502151"/>
            <a:ext cx="9692640" cy="3200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1" i="0" lang="en-US" sz="1800" u="none" cap="none" strike="noStrike">
                <a:solidFill>
                  <a:srgbClr val="0F2347"/>
                </a:solidFill>
                <a:latin typeface="Georgia"/>
                <a:ea typeface="Georgia"/>
                <a:cs typeface="Georgia"/>
                <a:sym typeface="Georgia"/>
              </a:rPr>
              <a:t>TEST IT AGAINST RECENT WORK</a:t>
            </a:r>
            <a:endParaRPr b="0" i="0" sz="1400" u="none" cap="none" strike="noStrike">
              <a:solidFill>
                <a:srgbClr val="000000"/>
              </a:solidFill>
              <a:latin typeface="Arial"/>
              <a:ea typeface="Arial"/>
              <a:cs typeface="Arial"/>
              <a:sym typeface="Arial"/>
            </a:endParaRPr>
          </a:p>
        </p:txBody>
      </p:sp>
      <p:sp>
        <p:nvSpPr>
          <p:cNvPr id="163" name="Google Shape;163;p17"/>
          <p:cNvSpPr txBox="1"/>
          <p:nvPr/>
        </p:nvSpPr>
        <p:spPr>
          <a:xfrm>
            <a:off x="1261872" y="3867911"/>
            <a:ext cx="96927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152B4C"/>
                </a:solidFill>
                <a:latin typeface="Arial"/>
                <a:ea typeface="Arial"/>
                <a:cs typeface="Arial"/>
                <a:sym typeface="Arial"/>
              </a:rPr>
              <a:t>Use one example from your last 90 days rather than a plan, title, promise, or feeling.</a:t>
            </a:r>
            <a:endParaRPr b="0" i="0" sz="1400" u="none" cap="none" strike="noStrike">
              <a:solidFill>
                <a:srgbClr val="000000"/>
              </a:solidFill>
              <a:latin typeface="Arial"/>
              <a:ea typeface="Arial"/>
              <a:cs typeface="Arial"/>
              <a:sym typeface="Arial"/>
            </a:endParaRPr>
          </a:p>
        </p:txBody>
      </p:sp>
      <p:sp>
        <p:nvSpPr>
          <p:cNvPr id="164" name="Google Shape;164;p17"/>
          <p:cNvSpPr/>
          <p:nvPr/>
        </p:nvSpPr>
        <p:spPr>
          <a:xfrm>
            <a:off x="713232" y="4709160"/>
            <a:ext cx="320040" cy="320040"/>
          </a:xfrm>
          <a:prstGeom prst="roundRect">
            <a:avLst>
              <a:gd fmla="val 16667" name="adj"/>
            </a:avLst>
          </a:prstGeom>
          <a:solidFill>
            <a:srgbClr val="0F23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 name="Google Shape;165;p17"/>
          <p:cNvSpPr txBox="1"/>
          <p:nvPr/>
        </p:nvSpPr>
        <p:spPr>
          <a:xfrm>
            <a:off x="713232" y="4777740"/>
            <a:ext cx="320040" cy="18288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500"/>
              <a:buFont typeface="Arial"/>
              <a:buNone/>
            </a:pPr>
            <a:r>
              <a:rPr b="1" i="0" lang="en-US" sz="1500"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166" name="Google Shape;166;p17"/>
          <p:cNvSpPr txBox="1"/>
          <p:nvPr/>
        </p:nvSpPr>
        <p:spPr>
          <a:xfrm>
            <a:off x="1261872" y="4690872"/>
            <a:ext cx="9692640" cy="3200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1" i="0" lang="en-US" sz="1800" u="none" cap="none" strike="noStrike">
                <a:solidFill>
                  <a:srgbClr val="0F2347"/>
                </a:solidFill>
                <a:latin typeface="Georgia"/>
                <a:ea typeface="Georgia"/>
                <a:cs typeface="Georgia"/>
                <a:sym typeface="Georgia"/>
              </a:rPr>
              <a:t>NAME THE NEXT QUESTION</a:t>
            </a:r>
            <a:endParaRPr b="0" i="0" sz="1400" u="none" cap="none" strike="noStrike">
              <a:solidFill>
                <a:srgbClr val="000000"/>
              </a:solidFill>
              <a:latin typeface="Arial"/>
              <a:ea typeface="Arial"/>
              <a:cs typeface="Arial"/>
              <a:sym typeface="Arial"/>
            </a:endParaRPr>
          </a:p>
        </p:txBody>
      </p:sp>
      <p:sp>
        <p:nvSpPr>
          <p:cNvPr id="167" name="Google Shape;167;p17"/>
          <p:cNvSpPr txBox="1"/>
          <p:nvPr/>
        </p:nvSpPr>
        <p:spPr>
          <a:xfrm>
            <a:off x="1261872" y="5056632"/>
            <a:ext cx="9692700" cy="411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152B4C"/>
                </a:solidFill>
                <a:latin typeface="Arial"/>
                <a:ea typeface="Arial"/>
                <a:cs typeface="Arial"/>
                <a:sym typeface="Arial"/>
              </a:rPr>
              <a:t>Identify what deserves a closer reading before a larger career move.</a:t>
            </a:r>
            <a:endParaRPr b="0" i="0" sz="1400" u="none" cap="none" strike="noStrike">
              <a:solidFill>
                <a:srgbClr val="000000"/>
              </a:solidFill>
              <a:latin typeface="Arial"/>
              <a:ea typeface="Arial"/>
              <a:cs typeface="Arial"/>
              <a:sym typeface="Arial"/>
            </a:endParaRPr>
          </a:p>
        </p:txBody>
      </p:sp>
      <p:sp>
        <p:nvSpPr>
          <p:cNvPr id="168" name="Google Shape;168;p17"/>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169" name="Google Shape;169;p17"/>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74" name="Shape 174"/>
        <p:cNvGrpSpPr/>
        <p:nvPr/>
      </p:nvGrpSpPr>
      <p:grpSpPr>
        <a:xfrm>
          <a:off x="0" y="0"/>
          <a:ext cx="0" cy="0"/>
          <a:chOff x="0" y="0"/>
          <a:chExt cx="0" cy="0"/>
        </a:xfrm>
      </p:grpSpPr>
      <p:sp>
        <p:nvSpPr>
          <p:cNvPr id="175" name="Google Shape;175;p18"/>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chemeClr val="accent2"/>
                </a:solidFill>
                <a:latin typeface="Arial"/>
                <a:ea typeface="Arial"/>
                <a:cs typeface="Arial"/>
                <a:sym typeface="Arial"/>
              </a:rPr>
              <a:t>THE CENTRAL INSIGHT</a:t>
            </a:r>
            <a:endParaRPr b="0" i="0" sz="1600" u="none" cap="none" strike="noStrike">
              <a:solidFill>
                <a:schemeClr val="accent2"/>
              </a:solidFill>
              <a:latin typeface="Arial"/>
              <a:ea typeface="Arial"/>
              <a:cs typeface="Arial"/>
              <a:sym typeface="Arial"/>
            </a:endParaRPr>
          </a:p>
        </p:txBody>
      </p:sp>
      <p:sp>
        <p:nvSpPr>
          <p:cNvPr id="176" name="Google Shape;176;p18"/>
          <p:cNvSpPr txBox="1"/>
          <p:nvPr/>
        </p:nvSpPr>
        <p:spPr>
          <a:xfrm>
            <a:off x="658368" y="1097280"/>
            <a:ext cx="10424160" cy="123444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A Role Can Reward You Long After It Stops Building You</a:t>
            </a:r>
            <a:endParaRPr b="0" i="0" sz="1400" u="none" cap="none" strike="noStrike">
              <a:solidFill>
                <a:srgbClr val="000000"/>
              </a:solidFill>
              <a:latin typeface="Arial"/>
              <a:ea typeface="Arial"/>
              <a:cs typeface="Arial"/>
              <a:sym typeface="Arial"/>
            </a:endParaRPr>
          </a:p>
        </p:txBody>
      </p:sp>
      <p:sp>
        <p:nvSpPr>
          <p:cNvPr id="177" name="Google Shape;177;p18"/>
          <p:cNvSpPr/>
          <p:nvPr/>
        </p:nvSpPr>
        <p:spPr>
          <a:xfrm>
            <a:off x="676656" y="233172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8" name="Google Shape;178;p18"/>
          <p:cNvSpPr txBox="1"/>
          <p:nvPr/>
        </p:nvSpPr>
        <p:spPr>
          <a:xfrm>
            <a:off x="749808" y="2651760"/>
            <a:ext cx="9875520" cy="3657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rgbClr val="152B4C"/>
                </a:solidFill>
                <a:latin typeface="Arial"/>
                <a:ea typeface="Arial"/>
                <a:cs typeface="Arial"/>
                <a:sym typeface="Arial"/>
              </a:rPr>
              <a:t>Strong performance may tell you that you are delivering value.</a:t>
            </a:r>
            <a:endParaRPr b="0" i="0" sz="1400" u="none" cap="none" strike="noStrike">
              <a:solidFill>
                <a:srgbClr val="000000"/>
              </a:solidFill>
              <a:latin typeface="Arial"/>
              <a:ea typeface="Arial"/>
              <a:cs typeface="Arial"/>
              <a:sym typeface="Arial"/>
            </a:endParaRPr>
          </a:p>
        </p:txBody>
      </p:sp>
      <p:sp>
        <p:nvSpPr>
          <p:cNvPr id="179" name="Google Shape;179;p18"/>
          <p:cNvSpPr txBox="1"/>
          <p:nvPr/>
        </p:nvSpPr>
        <p:spPr>
          <a:xfrm>
            <a:off x="749808" y="3154680"/>
            <a:ext cx="9875520" cy="3657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rgbClr val="152B4C"/>
                </a:solidFill>
                <a:latin typeface="Arial"/>
                <a:ea typeface="Arial"/>
                <a:cs typeface="Arial"/>
                <a:sym typeface="Arial"/>
              </a:rPr>
              <a:t>It does not, by itself, tell you whether the work is still:</a:t>
            </a:r>
            <a:endParaRPr b="0" i="0" sz="1400" u="none" cap="none" strike="noStrike">
              <a:solidFill>
                <a:srgbClr val="000000"/>
              </a:solidFill>
              <a:latin typeface="Arial"/>
              <a:ea typeface="Arial"/>
              <a:cs typeface="Arial"/>
              <a:sym typeface="Arial"/>
            </a:endParaRPr>
          </a:p>
        </p:txBody>
      </p:sp>
      <p:sp>
        <p:nvSpPr>
          <p:cNvPr id="180" name="Google Shape;180;p18"/>
          <p:cNvSpPr txBox="1"/>
          <p:nvPr/>
        </p:nvSpPr>
        <p:spPr>
          <a:xfrm>
            <a:off x="1034833" y="3657600"/>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Expanding your judgment</a:t>
            </a:r>
            <a:endParaRPr b="0" i="0" sz="1400" u="none" cap="none" strike="noStrike">
              <a:solidFill>
                <a:srgbClr val="F5F0E8"/>
              </a:solidFill>
              <a:latin typeface="Arial"/>
              <a:ea typeface="Arial"/>
              <a:cs typeface="Arial"/>
              <a:sym typeface="Arial"/>
            </a:endParaRPr>
          </a:p>
        </p:txBody>
      </p:sp>
      <p:sp>
        <p:nvSpPr>
          <p:cNvPr id="181" name="Google Shape;181;p18"/>
          <p:cNvSpPr txBox="1"/>
          <p:nvPr/>
        </p:nvSpPr>
        <p:spPr>
          <a:xfrm>
            <a:off x="1051560" y="4041648"/>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Exposing you to unfamiliar problems</a:t>
            </a:r>
            <a:endParaRPr b="0" i="0" sz="1400" u="none" cap="none" strike="noStrike">
              <a:solidFill>
                <a:srgbClr val="F5F0E8"/>
              </a:solidFill>
              <a:latin typeface="Arial"/>
              <a:ea typeface="Arial"/>
              <a:cs typeface="Arial"/>
              <a:sym typeface="Arial"/>
            </a:endParaRPr>
          </a:p>
        </p:txBody>
      </p:sp>
      <p:sp>
        <p:nvSpPr>
          <p:cNvPr id="182" name="Google Shape;182;p18"/>
          <p:cNvSpPr txBox="1"/>
          <p:nvPr/>
        </p:nvSpPr>
        <p:spPr>
          <a:xfrm>
            <a:off x="1051560" y="4425696"/>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Building capability that travels</a:t>
            </a:r>
            <a:endParaRPr b="0" i="0" sz="1400" u="none" cap="none" strike="noStrike">
              <a:solidFill>
                <a:srgbClr val="F5F0E8"/>
              </a:solidFill>
              <a:latin typeface="Arial"/>
              <a:ea typeface="Arial"/>
              <a:cs typeface="Arial"/>
              <a:sym typeface="Arial"/>
            </a:endParaRPr>
          </a:p>
        </p:txBody>
      </p:sp>
      <p:sp>
        <p:nvSpPr>
          <p:cNvPr id="183" name="Google Shape;183;p18"/>
          <p:cNvSpPr txBox="1"/>
          <p:nvPr/>
        </p:nvSpPr>
        <p:spPr>
          <a:xfrm>
            <a:off x="1051560" y="4809744"/>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Increasing your future options</a:t>
            </a:r>
            <a:endParaRPr b="0" i="0" sz="1400" u="none" cap="none" strike="noStrike">
              <a:solidFill>
                <a:srgbClr val="F5F0E8"/>
              </a:solidFill>
              <a:latin typeface="Arial"/>
              <a:ea typeface="Arial"/>
              <a:cs typeface="Arial"/>
              <a:sym typeface="Arial"/>
            </a:endParaRPr>
          </a:p>
        </p:txBody>
      </p:sp>
      <p:sp>
        <p:nvSpPr>
          <p:cNvPr id="184" name="Google Shape;184;p18"/>
          <p:cNvSpPr/>
          <p:nvPr/>
        </p:nvSpPr>
        <p:spPr>
          <a:xfrm>
            <a:off x="676656" y="5481493"/>
            <a:ext cx="3840600" cy="2280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18"/>
          <p:cNvSpPr txBox="1"/>
          <p:nvPr/>
        </p:nvSpPr>
        <p:spPr>
          <a:xfrm>
            <a:off x="749808" y="5664372"/>
            <a:ext cx="9875400" cy="292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900"/>
              <a:buFont typeface="Arial"/>
              <a:buNone/>
            </a:pPr>
            <a:r>
              <a:rPr b="1" i="1" lang="en-US" sz="1900" u="none" cap="none" strike="noStrike">
                <a:solidFill>
                  <a:srgbClr val="0F2347"/>
                </a:solidFill>
                <a:latin typeface="Georgia"/>
                <a:ea typeface="Georgia"/>
                <a:cs typeface="Georgia"/>
                <a:sym typeface="Georgia"/>
              </a:rPr>
              <a:t>Performance matters. It is not the whole picture.</a:t>
            </a:r>
            <a:endParaRPr b="0" i="0" sz="1400" u="none" cap="none" strike="noStrike">
              <a:solidFill>
                <a:srgbClr val="000000"/>
              </a:solidFill>
              <a:latin typeface="Arial"/>
              <a:ea typeface="Arial"/>
              <a:cs typeface="Arial"/>
              <a:sym typeface="Arial"/>
            </a:endParaRPr>
          </a:p>
        </p:txBody>
      </p:sp>
      <p:sp>
        <p:nvSpPr>
          <p:cNvPr id="186" name="Google Shape;186;p18"/>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187" name="Google Shape;187;p18"/>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92" name="Shape 192"/>
        <p:cNvGrpSpPr/>
        <p:nvPr/>
      </p:nvGrpSpPr>
      <p:grpSpPr>
        <a:xfrm>
          <a:off x="0" y="0"/>
          <a:ext cx="0" cy="0"/>
          <a:chOff x="0" y="0"/>
          <a:chExt cx="0" cy="0"/>
        </a:xfrm>
      </p:grpSpPr>
      <p:sp>
        <p:nvSpPr>
          <p:cNvPr id="193" name="Google Shape;193;p19"/>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1600" u="none" cap="none" strike="noStrike">
                <a:solidFill>
                  <a:schemeClr val="accent2"/>
                </a:solidFill>
                <a:latin typeface="Arial"/>
                <a:ea typeface="Arial"/>
                <a:cs typeface="Arial"/>
                <a:sym typeface="Arial"/>
              </a:rPr>
              <a:t>SIGN 1</a:t>
            </a:r>
            <a:endParaRPr b="0" i="0" sz="1600" u="none" cap="none" strike="noStrike">
              <a:solidFill>
                <a:schemeClr val="accent2"/>
              </a:solidFill>
              <a:latin typeface="Arial"/>
              <a:ea typeface="Arial"/>
              <a:cs typeface="Arial"/>
              <a:sym typeface="Arial"/>
            </a:endParaRPr>
          </a:p>
        </p:txBody>
      </p:sp>
      <p:sp>
        <p:nvSpPr>
          <p:cNvPr id="194" name="Google Shape;194;p19"/>
          <p:cNvSpPr txBox="1"/>
          <p:nvPr/>
        </p:nvSpPr>
        <p:spPr>
          <a:xfrm>
            <a:off x="658368" y="1051560"/>
            <a:ext cx="10424160" cy="11887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You Are Repeating,</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Not Stretching</a:t>
            </a:r>
            <a:endParaRPr b="0" i="0" sz="1400" u="none" cap="none" strike="noStrike">
              <a:solidFill>
                <a:srgbClr val="000000"/>
              </a:solidFill>
              <a:latin typeface="Arial"/>
              <a:ea typeface="Arial"/>
              <a:cs typeface="Arial"/>
              <a:sym typeface="Arial"/>
            </a:endParaRPr>
          </a:p>
        </p:txBody>
      </p:sp>
      <p:sp>
        <p:nvSpPr>
          <p:cNvPr id="195" name="Google Shape;195;p19"/>
          <p:cNvSpPr/>
          <p:nvPr/>
        </p:nvSpPr>
        <p:spPr>
          <a:xfrm>
            <a:off x="676656" y="224028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6" name="Google Shape;196;p19"/>
          <p:cNvSpPr/>
          <p:nvPr/>
        </p:nvSpPr>
        <p:spPr>
          <a:xfrm>
            <a:off x="749808" y="2606040"/>
            <a:ext cx="5394960" cy="1828800"/>
          </a:xfrm>
          <a:prstGeom prst="roundRect">
            <a:avLst>
              <a:gd fmla="val 16667"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7" name="Google Shape;197;p19"/>
          <p:cNvSpPr txBox="1"/>
          <p:nvPr/>
        </p:nvSpPr>
        <p:spPr>
          <a:xfrm>
            <a:off x="950976" y="2862072"/>
            <a:ext cx="5029200" cy="146304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0F2347"/>
                </a:solidFill>
                <a:latin typeface="Georgia"/>
                <a:ea typeface="Georgia"/>
                <a:cs typeface="Georgia"/>
                <a:sym typeface="Georgia"/>
              </a:rPr>
              <a:t>You may be performing at a high level, but the work is no longer asking you to solve meaningfully unfamiliar problems.</a:t>
            </a:r>
            <a:endParaRPr b="0" i="0" sz="1400" u="none" cap="none" strike="noStrike">
              <a:solidFill>
                <a:srgbClr val="000000"/>
              </a:solidFill>
              <a:latin typeface="Arial"/>
              <a:ea typeface="Arial"/>
              <a:cs typeface="Arial"/>
              <a:sym typeface="Arial"/>
            </a:endParaRPr>
          </a:p>
        </p:txBody>
      </p:sp>
      <p:sp>
        <p:nvSpPr>
          <p:cNvPr id="198" name="Google Shape;198;p19"/>
          <p:cNvSpPr txBox="1"/>
          <p:nvPr/>
        </p:nvSpPr>
        <p:spPr>
          <a:xfrm>
            <a:off x="6446520" y="2606040"/>
            <a:ext cx="46635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rgbClr val="C9A84C"/>
                </a:solidFill>
                <a:latin typeface="Arial"/>
                <a:ea typeface="Arial"/>
                <a:cs typeface="Arial"/>
                <a:sym typeface="Arial"/>
              </a:rPr>
              <a:t>THE TEST</a:t>
            </a:r>
            <a:endParaRPr b="1" i="0" sz="1800" u="none" cap="none" strike="noStrike">
              <a:solidFill>
                <a:srgbClr val="000000"/>
              </a:solidFill>
              <a:latin typeface="Arial"/>
              <a:ea typeface="Arial"/>
              <a:cs typeface="Arial"/>
              <a:sym typeface="Arial"/>
            </a:endParaRPr>
          </a:p>
        </p:txBody>
      </p:sp>
      <p:sp>
        <p:nvSpPr>
          <p:cNvPr id="199" name="Google Shape;199;p19"/>
          <p:cNvSpPr txBox="1"/>
          <p:nvPr/>
        </p:nvSpPr>
        <p:spPr>
          <a:xfrm>
            <a:off x="6446520" y="2926080"/>
            <a:ext cx="4663500" cy="997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1" lang="en-US" sz="1800" u="none" cap="none" strike="noStrike">
                <a:solidFill>
                  <a:srgbClr val="0F2347"/>
                </a:solidFill>
                <a:latin typeface="Georgia"/>
                <a:ea typeface="Georgia"/>
                <a:cs typeface="Georgia"/>
                <a:sym typeface="Georgia"/>
              </a:rPr>
              <a:t>What problem have you solved in the last 90 days that you genuinely did not already know how to solve?</a:t>
            </a:r>
            <a:endParaRPr b="1" i="0" sz="1800" u="none" cap="none" strike="noStrike">
              <a:solidFill>
                <a:srgbClr val="0F2347"/>
              </a:solidFill>
              <a:latin typeface="Arial"/>
              <a:ea typeface="Arial"/>
              <a:cs typeface="Arial"/>
              <a:sym typeface="Arial"/>
            </a:endParaRPr>
          </a:p>
        </p:txBody>
      </p:sp>
      <p:sp>
        <p:nvSpPr>
          <p:cNvPr id="200" name="Google Shape;200;p19"/>
          <p:cNvSpPr/>
          <p:nvPr/>
        </p:nvSpPr>
        <p:spPr>
          <a:xfrm>
            <a:off x="749808" y="4709160"/>
            <a:ext cx="10332720" cy="777240"/>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1" name="Google Shape;201;p19"/>
          <p:cNvSpPr txBox="1"/>
          <p:nvPr/>
        </p:nvSpPr>
        <p:spPr>
          <a:xfrm>
            <a:off x="1005847" y="4864600"/>
            <a:ext cx="44637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1" i="0" lang="en-US" sz="1300" u="none" cap="none" strike="noStrike">
                <a:solidFill>
                  <a:srgbClr val="C9A84C"/>
                </a:solidFill>
                <a:latin typeface="Arial"/>
                <a:ea typeface="Arial"/>
                <a:cs typeface="Arial"/>
                <a:sym typeface="Arial"/>
              </a:rPr>
              <a:t>QUICK CHECK -</a:t>
            </a:r>
            <a:r>
              <a:rPr b="0" i="0" lang="en-US" sz="1300" u="none" cap="none" strike="noStrike">
                <a:solidFill>
                  <a:srgbClr val="C9A84C"/>
                </a:solidFill>
                <a:latin typeface="Arial"/>
                <a:ea typeface="Arial"/>
                <a:cs typeface="Arial"/>
                <a:sym typeface="Arial"/>
              </a:rPr>
              <a:t> live in the chat or in your own note </a:t>
            </a:r>
            <a:endParaRPr b="0" i="0" sz="1700" u="none" cap="none" strike="noStrike">
              <a:solidFill>
                <a:srgbClr val="000000"/>
              </a:solidFill>
              <a:latin typeface="Arial"/>
              <a:ea typeface="Arial"/>
              <a:cs typeface="Arial"/>
              <a:sym typeface="Arial"/>
            </a:endParaRPr>
          </a:p>
        </p:txBody>
      </p:sp>
      <p:sp>
        <p:nvSpPr>
          <p:cNvPr id="202" name="Google Shape;202;p19"/>
          <p:cNvSpPr txBox="1"/>
          <p:nvPr/>
        </p:nvSpPr>
        <p:spPr>
          <a:xfrm>
            <a:off x="1005840" y="5102352"/>
            <a:ext cx="9875400" cy="27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1" i="1" lang="en-US" sz="1800" u="none" cap="none" strike="noStrike">
                <a:solidFill>
                  <a:srgbClr val="F5F0E8"/>
                </a:solidFill>
                <a:latin typeface="Arial"/>
                <a:ea typeface="Arial"/>
                <a:cs typeface="Arial"/>
                <a:sym typeface="Arial"/>
              </a:rPr>
              <a:t>In one word, is your recent work stretching, repeating, or unclear?</a:t>
            </a:r>
            <a:endParaRPr b="1" i="0" sz="1800" u="none" cap="none" strike="noStrike">
              <a:solidFill>
                <a:srgbClr val="000000"/>
              </a:solidFill>
              <a:latin typeface="Arial"/>
              <a:ea typeface="Arial"/>
              <a:cs typeface="Arial"/>
              <a:sym typeface="Arial"/>
            </a:endParaRPr>
          </a:p>
        </p:txBody>
      </p:sp>
      <p:sp>
        <p:nvSpPr>
          <p:cNvPr id="203" name="Google Shape;203;p19"/>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04" name="Google Shape;204;p19"/>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09" name="Shape 209"/>
        <p:cNvGrpSpPr/>
        <p:nvPr/>
      </p:nvGrpSpPr>
      <p:grpSpPr>
        <a:xfrm>
          <a:off x="0" y="0"/>
          <a:ext cx="0" cy="0"/>
          <a:chOff x="0" y="0"/>
          <a:chExt cx="0" cy="0"/>
        </a:xfrm>
      </p:grpSpPr>
      <p:sp>
        <p:nvSpPr>
          <p:cNvPr id="210" name="Google Shape;210;p20"/>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1600" u="none" cap="none" strike="noStrike">
                <a:solidFill>
                  <a:schemeClr val="accent2"/>
                </a:solidFill>
                <a:latin typeface="Arial"/>
                <a:ea typeface="Arial"/>
                <a:cs typeface="Arial"/>
                <a:sym typeface="Arial"/>
              </a:rPr>
              <a:t>SIGN 2</a:t>
            </a:r>
            <a:endParaRPr b="0" i="0" sz="1600" u="none" cap="none" strike="noStrike">
              <a:solidFill>
                <a:schemeClr val="accent2"/>
              </a:solidFill>
              <a:latin typeface="Arial"/>
              <a:ea typeface="Arial"/>
              <a:cs typeface="Arial"/>
              <a:sym typeface="Arial"/>
            </a:endParaRPr>
          </a:p>
        </p:txBody>
      </p:sp>
      <p:sp>
        <p:nvSpPr>
          <p:cNvPr id="211" name="Google Shape;211;p20"/>
          <p:cNvSpPr txBox="1"/>
          <p:nvPr/>
        </p:nvSpPr>
        <p:spPr>
          <a:xfrm>
            <a:off x="658368" y="1051560"/>
            <a:ext cx="10424160" cy="11887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You Are Indispensable,</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but Mainly Here</a:t>
            </a:r>
            <a:endParaRPr b="0" i="0" sz="1400" u="none" cap="none" strike="noStrike">
              <a:solidFill>
                <a:srgbClr val="000000"/>
              </a:solidFill>
              <a:latin typeface="Arial"/>
              <a:ea typeface="Arial"/>
              <a:cs typeface="Arial"/>
              <a:sym typeface="Arial"/>
            </a:endParaRPr>
          </a:p>
        </p:txBody>
      </p:sp>
      <p:sp>
        <p:nvSpPr>
          <p:cNvPr id="212" name="Google Shape;212;p20"/>
          <p:cNvSpPr/>
          <p:nvPr/>
        </p:nvSpPr>
        <p:spPr>
          <a:xfrm>
            <a:off x="676656" y="224028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3" name="Google Shape;213;p20"/>
          <p:cNvSpPr/>
          <p:nvPr/>
        </p:nvSpPr>
        <p:spPr>
          <a:xfrm>
            <a:off x="749808" y="2606040"/>
            <a:ext cx="5394960" cy="1828800"/>
          </a:xfrm>
          <a:prstGeom prst="roundRect">
            <a:avLst>
              <a:gd fmla="val 16667"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4" name="Google Shape;214;p20"/>
          <p:cNvSpPr txBox="1"/>
          <p:nvPr/>
        </p:nvSpPr>
        <p:spPr>
          <a:xfrm>
            <a:off x="950976" y="2862072"/>
            <a:ext cx="5029200" cy="146304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0F2347"/>
                </a:solidFill>
                <a:latin typeface="Georgia"/>
                <a:ea typeface="Georgia"/>
                <a:cs typeface="Georgia"/>
                <a:sym typeface="Georgia"/>
              </a:rPr>
              <a:t>The organization relies on you, but your value may be increasingly tied to its systems, internal language, relationships, processes, or history.</a:t>
            </a:r>
            <a:endParaRPr b="0" i="0" sz="1400" u="none" cap="none" strike="noStrike">
              <a:solidFill>
                <a:srgbClr val="000000"/>
              </a:solidFill>
              <a:latin typeface="Arial"/>
              <a:ea typeface="Arial"/>
              <a:cs typeface="Arial"/>
              <a:sym typeface="Arial"/>
            </a:endParaRPr>
          </a:p>
        </p:txBody>
      </p:sp>
      <p:sp>
        <p:nvSpPr>
          <p:cNvPr id="215" name="Google Shape;215;p20"/>
          <p:cNvSpPr txBox="1"/>
          <p:nvPr/>
        </p:nvSpPr>
        <p:spPr>
          <a:xfrm>
            <a:off x="6446520" y="2606040"/>
            <a:ext cx="46635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rgbClr val="C9A84C"/>
                </a:solidFill>
                <a:latin typeface="Arial"/>
                <a:ea typeface="Arial"/>
                <a:cs typeface="Arial"/>
                <a:sym typeface="Arial"/>
              </a:rPr>
              <a:t>THE TEST</a:t>
            </a:r>
            <a:endParaRPr b="0" i="0" sz="1400" u="none" cap="none" strike="noStrike">
              <a:solidFill>
                <a:srgbClr val="000000"/>
              </a:solidFill>
              <a:latin typeface="Arial"/>
              <a:ea typeface="Arial"/>
              <a:cs typeface="Arial"/>
              <a:sym typeface="Arial"/>
            </a:endParaRPr>
          </a:p>
        </p:txBody>
      </p:sp>
      <p:sp>
        <p:nvSpPr>
          <p:cNvPr id="216" name="Google Shape;216;p20"/>
          <p:cNvSpPr txBox="1"/>
          <p:nvPr/>
        </p:nvSpPr>
        <p:spPr>
          <a:xfrm>
            <a:off x="6446520" y="2926080"/>
            <a:ext cx="4663500" cy="997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1" lang="en-US" sz="1800" u="none" cap="none" strike="noStrike">
                <a:solidFill>
                  <a:srgbClr val="0F2347"/>
                </a:solidFill>
                <a:latin typeface="Georgia"/>
                <a:ea typeface="Georgia"/>
                <a:cs typeface="Georgia"/>
                <a:sym typeface="Georgia"/>
              </a:rPr>
              <a:t>Could someone outside your company explain your value without using your title or internal company language?</a:t>
            </a:r>
            <a:endParaRPr b="1" i="0" sz="1800" u="none" cap="none" strike="noStrike">
              <a:solidFill>
                <a:srgbClr val="0F2347"/>
              </a:solidFill>
              <a:latin typeface="Arial"/>
              <a:ea typeface="Arial"/>
              <a:cs typeface="Arial"/>
              <a:sym typeface="Arial"/>
            </a:endParaRPr>
          </a:p>
        </p:txBody>
      </p:sp>
      <p:sp>
        <p:nvSpPr>
          <p:cNvPr id="217" name="Google Shape;217;p20"/>
          <p:cNvSpPr/>
          <p:nvPr/>
        </p:nvSpPr>
        <p:spPr>
          <a:xfrm>
            <a:off x="749808" y="4709160"/>
            <a:ext cx="10332720" cy="777240"/>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accent1"/>
              </a:solidFill>
              <a:latin typeface="Calibri"/>
              <a:ea typeface="Calibri"/>
              <a:cs typeface="Calibri"/>
              <a:sym typeface="Calibri"/>
            </a:endParaRPr>
          </a:p>
        </p:txBody>
      </p:sp>
      <p:sp>
        <p:nvSpPr>
          <p:cNvPr id="218" name="Google Shape;218;p20"/>
          <p:cNvSpPr txBox="1"/>
          <p:nvPr/>
        </p:nvSpPr>
        <p:spPr>
          <a:xfrm>
            <a:off x="1005840" y="4864608"/>
            <a:ext cx="18288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000"/>
              <a:buFont typeface="Arial"/>
              <a:buNone/>
            </a:pPr>
            <a:r>
              <a:rPr b="1" i="0" lang="en-US" sz="1300" u="none" cap="none" strike="noStrike">
                <a:solidFill>
                  <a:srgbClr val="C9A84C"/>
                </a:solidFill>
                <a:latin typeface="Arial"/>
                <a:ea typeface="Arial"/>
                <a:cs typeface="Arial"/>
                <a:sym typeface="Arial"/>
              </a:rPr>
              <a:t>QUICK CHECK</a:t>
            </a:r>
            <a:endParaRPr b="0" i="0" sz="1300" u="none" cap="none" strike="noStrike">
              <a:solidFill>
                <a:srgbClr val="000000"/>
              </a:solidFill>
              <a:latin typeface="Arial"/>
              <a:ea typeface="Arial"/>
              <a:cs typeface="Arial"/>
              <a:sym typeface="Arial"/>
            </a:endParaRPr>
          </a:p>
        </p:txBody>
      </p:sp>
      <p:sp>
        <p:nvSpPr>
          <p:cNvPr id="219" name="Google Shape;219;p20"/>
          <p:cNvSpPr txBox="1"/>
          <p:nvPr/>
        </p:nvSpPr>
        <p:spPr>
          <a:xfrm>
            <a:off x="1005840" y="5102352"/>
            <a:ext cx="9875400" cy="27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1" lang="en-US" sz="1800" u="none" cap="none" strike="noStrike">
                <a:solidFill>
                  <a:srgbClr val="F5F0E8"/>
                </a:solidFill>
                <a:latin typeface="Arial"/>
                <a:ea typeface="Arial"/>
                <a:cs typeface="Arial"/>
                <a:sym typeface="Arial"/>
              </a:rPr>
              <a:t>Which has grown fastest: internal dependence, external visibility, or both?</a:t>
            </a:r>
            <a:endParaRPr b="1" i="0" sz="1800" u="none" cap="none" strike="noStrike">
              <a:solidFill>
                <a:srgbClr val="000000"/>
              </a:solidFill>
              <a:latin typeface="Arial"/>
              <a:ea typeface="Arial"/>
              <a:cs typeface="Arial"/>
              <a:sym typeface="Arial"/>
            </a:endParaRPr>
          </a:p>
        </p:txBody>
      </p:sp>
      <p:sp>
        <p:nvSpPr>
          <p:cNvPr id="220" name="Google Shape;220;p20"/>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21" name="Google Shape;221;p20"/>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26" name="Shape 226"/>
        <p:cNvGrpSpPr/>
        <p:nvPr/>
      </p:nvGrpSpPr>
      <p:grpSpPr>
        <a:xfrm>
          <a:off x="0" y="0"/>
          <a:ext cx="0" cy="0"/>
          <a:chOff x="0" y="0"/>
          <a:chExt cx="0" cy="0"/>
        </a:xfrm>
      </p:grpSpPr>
      <p:sp>
        <p:nvSpPr>
          <p:cNvPr id="227" name="Google Shape;227;p21"/>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1600" u="none" cap="none" strike="noStrike">
                <a:solidFill>
                  <a:srgbClr val="C1440E"/>
                </a:solidFill>
                <a:latin typeface="Arial"/>
                <a:ea typeface="Arial"/>
                <a:cs typeface="Arial"/>
                <a:sym typeface="Arial"/>
              </a:rPr>
              <a:t>SIGN 3</a:t>
            </a:r>
            <a:endParaRPr b="0" i="0" sz="1600" u="none" cap="none" strike="noStrike">
              <a:solidFill>
                <a:srgbClr val="C1440E"/>
              </a:solidFill>
              <a:latin typeface="Arial"/>
              <a:ea typeface="Arial"/>
              <a:cs typeface="Arial"/>
              <a:sym typeface="Arial"/>
            </a:endParaRPr>
          </a:p>
        </p:txBody>
      </p:sp>
      <p:sp>
        <p:nvSpPr>
          <p:cNvPr id="228" name="Google Shape;228;p21"/>
          <p:cNvSpPr txBox="1"/>
          <p:nvPr/>
        </p:nvSpPr>
        <p:spPr>
          <a:xfrm>
            <a:off x="658368" y="1051560"/>
            <a:ext cx="10424160" cy="11887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Your Responsibility Is Growing</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Faster Than Your Capability</a:t>
            </a:r>
            <a:endParaRPr b="0" i="0" sz="1400" u="none" cap="none" strike="noStrike">
              <a:solidFill>
                <a:srgbClr val="000000"/>
              </a:solidFill>
              <a:latin typeface="Arial"/>
              <a:ea typeface="Arial"/>
              <a:cs typeface="Arial"/>
              <a:sym typeface="Arial"/>
            </a:endParaRPr>
          </a:p>
        </p:txBody>
      </p:sp>
      <p:sp>
        <p:nvSpPr>
          <p:cNvPr id="229" name="Google Shape;229;p21"/>
          <p:cNvSpPr/>
          <p:nvPr/>
        </p:nvSpPr>
        <p:spPr>
          <a:xfrm>
            <a:off x="676656" y="224028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0" name="Google Shape;230;p21"/>
          <p:cNvSpPr/>
          <p:nvPr/>
        </p:nvSpPr>
        <p:spPr>
          <a:xfrm>
            <a:off x="749808" y="2606040"/>
            <a:ext cx="5394960" cy="1828800"/>
          </a:xfrm>
          <a:prstGeom prst="roundRect">
            <a:avLst>
              <a:gd fmla="val 16667"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highlight>
                <a:schemeClr val="accent6"/>
              </a:highlight>
              <a:latin typeface="Calibri"/>
              <a:ea typeface="Calibri"/>
              <a:cs typeface="Calibri"/>
              <a:sym typeface="Calibri"/>
            </a:endParaRPr>
          </a:p>
        </p:txBody>
      </p:sp>
      <p:sp>
        <p:nvSpPr>
          <p:cNvPr id="231" name="Google Shape;231;p21"/>
          <p:cNvSpPr txBox="1"/>
          <p:nvPr/>
        </p:nvSpPr>
        <p:spPr>
          <a:xfrm>
            <a:off x="950976" y="2862072"/>
            <a:ext cx="5029200" cy="1282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1" i="0" lang="en-US" sz="1700" u="none" cap="none" strike="noStrike">
                <a:solidFill>
                  <a:srgbClr val="0F2347"/>
                </a:solidFill>
                <a:latin typeface="Georgia"/>
                <a:ea typeface="Georgia"/>
                <a:cs typeface="Georgia"/>
                <a:sym typeface="Georgia"/>
              </a:rPr>
              <a:t>Your title, scope, and expectations may be increasing while the range of judgment, unfamiliar problems, or transferable capability being formed in you is narrowing.</a:t>
            </a:r>
            <a:endParaRPr b="0" i="0" sz="1700" u="none" cap="none" strike="noStrike">
              <a:solidFill>
                <a:srgbClr val="000000"/>
              </a:solidFill>
              <a:latin typeface="Arial"/>
              <a:ea typeface="Arial"/>
              <a:cs typeface="Arial"/>
              <a:sym typeface="Arial"/>
            </a:endParaRPr>
          </a:p>
        </p:txBody>
      </p:sp>
      <p:sp>
        <p:nvSpPr>
          <p:cNvPr id="232" name="Google Shape;232;p21"/>
          <p:cNvSpPr txBox="1"/>
          <p:nvPr/>
        </p:nvSpPr>
        <p:spPr>
          <a:xfrm>
            <a:off x="6446520" y="2606040"/>
            <a:ext cx="46635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rgbClr val="C9A84C"/>
                </a:solidFill>
                <a:latin typeface="Arial"/>
                <a:ea typeface="Arial"/>
                <a:cs typeface="Arial"/>
                <a:sym typeface="Arial"/>
              </a:rPr>
              <a:t>THE TEST</a:t>
            </a:r>
            <a:endParaRPr b="0" i="0" sz="1400" u="none" cap="none" strike="noStrike">
              <a:solidFill>
                <a:srgbClr val="000000"/>
              </a:solidFill>
              <a:latin typeface="Arial"/>
              <a:ea typeface="Arial"/>
              <a:cs typeface="Arial"/>
              <a:sym typeface="Arial"/>
            </a:endParaRPr>
          </a:p>
        </p:txBody>
      </p:sp>
      <p:sp>
        <p:nvSpPr>
          <p:cNvPr id="233" name="Google Shape;233;p21"/>
          <p:cNvSpPr txBox="1"/>
          <p:nvPr/>
        </p:nvSpPr>
        <p:spPr>
          <a:xfrm>
            <a:off x="6446520" y="2926080"/>
            <a:ext cx="4663500" cy="942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1" i="1" lang="en-US" sz="1700" u="none" cap="none" strike="noStrike">
                <a:solidFill>
                  <a:srgbClr val="0F2347"/>
                </a:solidFill>
                <a:latin typeface="Georgia"/>
                <a:ea typeface="Georgia"/>
                <a:cs typeface="Georgia"/>
                <a:sym typeface="Georgia"/>
              </a:rPr>
              <a:t>What capability do you have now that you did not have before your responsibilities increased?</a:t>
            </a:r>
            <a:endParaRPr b="1" i="0" sz="1700" u="none" cap="none" strike="noStrike">
              <a:solidFill>
                <a:srgbClr val="000000"/>
              </a:solidFill>
              <a:latin typeface="Arial"/>
              <a:ea typeface="Arial"/>
              <a:cs typeface="Arial"/>
              <a:sym typeface="Arial"/>
            </a:endParaRPr>
          </a:p>
        </p:txBody>
      </p:sp>
      <p:sp>
        <p:nvSpPr>
          <p:cNvPr id="234" name="Google Shape;234;p21"/>
          <p:cNvSpPr/>
          <p:nvPr/>
        </p:nvSpPr>
        <p:spPr>
          <a:xfrm>
            <a:off x="749808" y="4709160"/>
            <a:ext cx="10332720" cy="7772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5" name="Google Shape;235;p21"/>
          <p:cNvSpPr txBox="1"/>
          <p:nvPr/>
        </p:nvSpPr>
        <p:spPr>
          <a:xfrm>
            <a:off x="1005840" y="4864608"/>
            <a:ext cx="18288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000"/>
              <a:buFont typeface="Arial"/>
              <a:buNone/>
            </a:pPr>
            <a:r>
              <a:rPr b="1" i="0" lang="en-US" sz="1300" u="none" cap="none" strike="noStrike">
                <a:solidFill>
                  <a:srgbClr val="C9A84C"/>
                </a:solidFill>
                <a:latin typeface="Arial"/>
                <a:ea typeface="Arial"/>
                <a:cs typeface="Arial"/>
                <a:sym typeface="Arial"/>
              </a:rPr>
              <a:t>QUICK CHECK</a:t>
            </a:r>
            <a:endParaRPr b="0" i="0" sz="1300" u="none" cap="none" strike="noStrike">
              <a:solidFill>
                <a:srgbClr val="000000"/>
              </a:solidFill>
              <a:latin typeface="Arial"/>
              <a:ea typeface="Arial"/>
              <a:cs typeface="Arial"/>
              <a:sym typeface="Arial"/>
            </a:endParaRPr>
          </a:p>
        </p:txBody>
      </p:sp>
      <p:sp>
        <p:nvSpPr>
          <p:cNvPr id="236" name="Google Shape;236;p21"/>
          <p:cNvSpPr txBox="1"/>
          <p:nvPr/>
        </p:nvSpPr>
        <p:spPr>
          <a:xfrm>
            <a:off x="1005840" y="5102352"/>
            <a:ext cx="9875400" cy="27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1" lang="en-US" sz="1800" u="none" cap="none" strike="noStrike">
                <a:solidFill>
                  <a:srgbClr val="F5F0E8"/>
                </a:solidFill>
                <a:latin typeface="Arial"/>
                <a:ea typeface="Arial"/>
                <a:cs typeface="Arial"/>
                <a:sym typeface="Arial"/>
              </a:rPr>
              <a:t>Which has grown faster: responsibility, learning, or visibility?</a:t>
            </a:r>
            <a:endParaRPr b="1" i="0" sz="1800" u="none" cap="none" strike="noStrike">
              <a:solidFill>
                <a:srgbClr val="000000"/>
              </a:solidFill>
              <a:latin typeface="Arial"/>
              <a:ea typeface="Arial"/>
              <a:cs typeface="Arial"/>
              <a:sym typeface="Arial"/>
            </a:endParaRPr>
          </a:p>
        </p:txBody>
      </p:sp>
      <p:sp>
        <p:nvSpPr>
          <p:cNvPr id="237" name="Google Shape;237;p21"/>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38" name="Google Shape;238;p21"/>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43" name="Shape 243"/>
        <p:cNvGrpSpPr/>
        <p:nvPr/>
      </p:nvGrpSpPr>
      <p:grpSpPr>
        <a:xfrm>
          <a:off x="0" y="0"/>
          <a:ext cx="0" cy="0"/>
          <a:chOff x="0" y="0"/>
          <a:chExt cx="0" cy="0"/>
        </a:xfrm>
      </p:grpSpPr>
      <p:sp>
        <p:nvSpPr>
          <p:cNvPr id="244" name="Google Shape;244;p22"/>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CAREER STALL CHECK</a:t>
            </a:r>
            <a:endParaRPr b="0" i="0" sz="1400" u="none" cap="none" strike="noStrike">
              <a:solidFill>
                <a:srgbClr val="000000"/>
              </a:solidFill>
              <a:latin typeface="Arial"/>
              <a:ea typeface="Arial"/>
              <a:cs typeface="Arial"/>
              <a:sym typeface="Arial"/>
            </a:endParaRPr>
          </a:p>
        </p:txBody>
      </p:sp>
      <p:sp>
        <p:nvSpPr>
          <p:cNvPr id="245" name="Google Shape;245;p22"/>
          <p:cNvSpPr txBox="1"/>
          <p:nvPr/>
        </p:nvSpPr>
        <p:spPr>
          <a:xfrm>
            <a:off x="658368" y="1097280"/>
            <a:ext cx="1005840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Five quiet minutes.</a:t>
            </a:r>
            <a:endParaRPr b="0" i="0" sz="1400" u="none" cap="none" strike="noStrike">
              <a:solidFill>
                <a:srgbClr val="000000"/>
              </a:solidFill>
              <a:latin typeface="Arial"/>
              <a:ea typeface="Arial"/>
              <a:cs typeface="Arial"/>
              <a:sym typeface="Arial"/>
            </a:endParaRPr>
          </a:p>
        </p:txBody>
      </p:sp>
      <p:sp>
        <p:nvSpPr>
          <p:cNvPr id="246" name="Google Shape;246;p22"/>
          <p:cNvSpPr txBox="1"/>
          <p:nvPr/>
        </p:nvSpPr>
        <p:spPr>
          <a:xfrm>
            <a:off x="676656" y="1828800"/>
            <a:ext cx="9692640"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0" i="0" lang="en-US" sz="1500" u="none" cap="none" strike="noStrike">
                <a:solidFill>
                  <a:srgbClr val="152B4C"/>
                </a:solidFill>
                <a:latin typeface="Arial"/>
                <a:ea typeface="Arial"/>
                <a:cs typeface="Arial"/>
                <a:sym typeface="Arial"/>
              </a:rPr>
              <a:t>Use a notebook, notes app, or the Career Stall Check if you already have it.</a:t>
            </a:r>
            <a:endParaRPr b="0" i="0" sz="1400" u="none" cap="none" strike="noStrike">
              <a:solidFill>
                <a:srgbClr val="000000"/>
              </a:solidFill>
              <a:latin typeface="Arial"/>
              <a:ea typeface="Arial"/>
              <a:cs typeface="Arial"/>
              <a:sym typeface="Arial"/>
            </a:endParaRPr>
          </a:p>
        </p:txBody>
      </p:sp>
      <p:sp>
        <p:nvSpPr>
          <p:cNvPr id="247" name="Google Shape;247;p22"/>
          <p:cNvSpPr/>
          <p:nvPr/>
        </p:nvSpPr>
        <p:spPr>
          <a:xfrm>
            <a:off x="713232" y="2423160"/>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8" name="Google Shape;248;p22"/>
          <p:cNvSpPr txBox="1"/>
          <p:nvPr/>
        </p:nvSpPr>
        <p:spPr>
          <a:xfrm>
            <a:off x="777240" y="2491740"/>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249" name="Google Shape;249;p22"/>
          <p:cNvSpPr txBox="1"/>
          <p:nvPr/>
        </p:nvSpPr>
        <p:spPr>
          <a:xfrm>
            <a:off x="1261872" y="2386584"/>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Which sign is most present for me?</a:t>
            </a:r>
            <a:endParaRPr b="0" i="0" sz="1600" u="none" cap="none" strike="noStrike">
              <a:solidFill>
                <a:srgbClr val="000000"/>
              </a:solidFill>
              <a:latin typeface="Arial"/>
              <a:ea typeface="Arial"/>
              <a:cs typeface="Arial"/>
              <a:sym typeface="Arial"/>
            </a:endParaRPr>
          </a:p>
        </p:txBody>
      </p:sp>
      <p:sp>
        <p:nvSpPr>
          <p:cNvPr id="250" name="Google Shape;250;p22"/>
          <p:cNvSpPr txBox="1"/>
          <p:nvPr/>
        </p:nvSpPr>
        <p:spPr>
          <a:xfrm>
            <a:off x="1261872" y="2715768"/>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Repeating instead of stretching, indispensable but mainly here, or responsibility growing faster than capability.</a:t>
            </a:r>
            <a:endParaRPr b="0" i="0" sz="1300" u="none" cap="none" strike="noStrike">
              <a:solidFill>
                <a:srgbClr val="000000"/>
              </a:solidFill>
              <a:latin typeface="Arial"/>
              <a:ea typeface="Arial"/>
              <a:cs typeface="Arial"/>
              <a:sym typeface="Arial"/>
            </a:endParaRPr>
          </a:p>
        </p:txBody>
      </p:sp>
      <p:sp>
        <p:nvSpPr>
          <p:cNvPr id="251" name="Google Shape;251;p22"/>
          <p:cNvSpPr/>
          <p:nvPr/>
        </p:nvSpPr>
        <p:spPr>
          <a:xfrm>
            <a:off x="713232" y="3319272"/>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2" name="Google Shape;252;p22"/>
          <p:cNvSpPr txBox="1"/>
          <p:nvPr/>
        </p:nvSpPr>
        <p:spPr>
          <a:xfrm>
            <a:off x="777240" y="3387852"/>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253" name="Google Shape;253;p22"/>
          <p:cNvSpPr txBox="1"/>
          <p:nvPr/>
        </p:nvSpPr>
        <p:spPr>
          <a:xfrm>
            <a:off x="1261872" y="3282696"/>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What is one example from the last 90 days?</a:t>
            </a:r>
            <a:endParaRPr b="0" i="0" sz="1600" u="none" cap="none" strike="noStrike">
              <a:solidFill>
                <a:srgbClr val="000000"/>
              </a:solidFill>
              <a:latin typeface="Arial"/>
              <a:ea typeface="Arial"/>
              <a:cs typeface="Arial"/>
              <a:sym typeface="Arial"/>
            </a:endParaRPr>
          </a:p>
        </p:txBody>
      </p:sp>
      <p:sp>
        <p:nvSpPr>
          <p:cNvPr id="254" name="Google Shape;254;p22"/>
          <p:cNvSpPr txBox="1"/>
          <p:nvPr/>
        </p:nvSpPr>
        <p:spPr>
          <a:xfrm>
            <a:off x="1261872" y="3611879"/>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Use a lived example, not a plan, promise, title, or feeling.</a:t>
            </a:r>
            <a:endParaRPr b="0" i="0" sz="1300" u="none" cap="none" strike="noStrike">
              <a:solidFill>
                <a:srgbClr val="000000"/>
              </a:solidFill>
              <a:latin typeface="Arial"/>
              <a:ea typeface="Arial"/>
              <a:cs typeface="Arial"/>
              <a:sym typeface="Arial"/>
            </a:endParaRPr>
          </a:p>
        </p:txBody>
      </p:sp>
      <p:sp>
        <p:nvSpPr>
          <p:cNvPr id="255" name="Google Shape;255;p22"/>
          <p:cNvSpPr/>
          <p:nvPr/>
        </p:nvSpPr>
        <p:spPr>
          <a:xfrm>
            <a:off x="713232" y="4215383"/>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6" name="Google Shape;256;p22"/>
          <p:cNvSpPr txBox="1"/>
          <p:nvPr/>
        </p:nvSpPr>
        <p:spPr>
          <a:xfrm>
            <a:off x="777240" y="4283963"/>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257" name="Google Shape;257;p22"/>
          <p:cNvSpPr txBox="1"/>
          <p:nvPr/>
        </p:nvSpPr>
        <p:spPr>
          <a:xfrm>
            <a:off x="1261872" y="4178807"/>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What capability, learning, or future option may not be growing?</a:t>
            </a:r>
            <a:endParaRPr b="0" i="0" sz="1600" u="none" cap="none" strike="noStrike">
              <a:solidFill>
                <a:srgbClr val="000000"/>
              </a:solidFill>
              <a:latin typeface="Arial"/>
              <a:ea typeface="Arial"/>
              <a:cs typeface="Arial"/>
              <a:sym typeface="Arial"/>
            </a:endParaRPr>
          </a:p>
        </p:txBody>
      </p:sp>
      <p:sp>
        <p:nvSpPr>
          <p:cNvPr id="258" name="Google Shape;258;p22"/>
          <p:cNvSpPr txBox="1"/>
          <p:nvPr/>
        </p:nvSpPr>
        <p:spPr>
          <a:xfrm>
            <a:off x="1261872" y="4507992"/>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Name the specific thing, not a general sense that something is off.</a:t>
            </a:r>
            <a:endParaRPr b="0" i="0" sz="1300" u="none" cap="none" strike="noStrike">
              <a:solidFill>
                <a:srgbClr val="000000"/>
              </a:solidFill>
              <a:latin typeface="Arial"/>
              <a:ea typeface="Arial"/>
              <a:cs typeface="Arial"/>
              <a:sym typeface="Arial"/>
            </a:endParaRPr>
          </a:p>
        </p:txBody>
      </p:sp>
      <p:sp>
        <p:nvSpPr>
          <p:cNvPr id="259" name="Google Shape;259;p22"/>
          <p:cNvSpPr/>
          <p:nvPr/>
        </p:nvSpPr>
        <p:spPr>
          <a:xfrm>
            <a:off x="713232" y="5111496"/>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0" name="Google Shape;260;p22"/>
          <p:cNvSpPr txBox="1"/>
          <p:nvPr/>
        </p:nvSpPr>
        <p:spPr>
          <a:xfrm>
            <a:off x="777240" y="5180076"/>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261" name="Google Shape;261;p22"/>
          <p:cNvSpPr txBox="1"/>
          <p:nvPr/>
        </p:nvSpPr>
        <p:spPr>
          <a:xfrm>
            <a:off x="1261872" y="5074920"/>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What is the next question I need to investigate?</a:t>
            </a:r>
            <a:endParaRPr b="0" i="0" sz="1600" u="none" cap="none" strike="noStrike">
              <a:solidFill>
                <a:srgbClr val="000000"/>
              </a:solidFill>
              <a:latin typeface="Arial"/>
              <a:ea typeface="Arial"/>
              <a:cs typeface="Arial"/>
              <a:sym typeface="Arial"/>
            </a:endParaRPr>
          </a:p>
        </p:txBody>
      </p:sp>
      <p:sp>
        <p:nvSpPr>
          <p:cNvPr id="262" name="Google Shape;262;p22"/>
          <p:cNvSpPr txBox="1"/>
          <p:nvPr/>
        </p:nvSpPr>
        <p:spPr>
          <a:xfrm>
            <a:off x="1261872" y="5404104"/>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The question you would need to read more carefully before making a bigger career decision.</a:t>
            </a:r>
            <a:endParaRPr b="0" i="0" sz="1300" u="none" cap="none" strike="noStrike">
              <a:solidFill>
                <a:srgbClr val="000000"/>
              </a:solidFill>
              <a:latin typeface="Arial"/>
              <a:ea typeface="Arial"/>
              <a:cs typeface="Arial"/>
              <a:sym typeface="Arial"/>
            </a:endParaRPr>
          </a:p>
        </p:txBody>
      </p:sp>
      <p:sp>
        <p:nvSpPr>
          <p:cNvPr id="263" name="Google Shape;263;p22"/>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64" name="Google Shape;264;p22"/>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69" name="Shape 269"/>
        <p:cNvGrpSpPr/>
        <p:nvPr/>
      </p:nvGrpSpPr>
      <p:grpSpPr>
        <a:xfrm>
          <a:off x="0" y="0"/>
          <a:ext cx="0" cy="0"/>
          <a:chOff x="0" y="0"/>
          <a:chExt cx="0" cy="0"/>
        </a:xfrm>
      </p:grpSpPr>
      <p:sp>
        <p:nvSpPr>
          <p:cNvPr id="270" name="Google Shape;270;p23"/>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INTERPRET WITHOUT DIAGNOSING</a:t>
            </a:r>
            <a:endParaRPr b="0" i="0" sz="1400" u="none" cap="none" strike="noStrike">
              <a:solidFill>
                <a:srgbClr val="000000"/>
              </a:solidFill>
              <a:latin typeface="Arial"/>
              <a:ea typeface="Arial"/>
              <a:cs typeface="Arial"/>
              <a:sym typeface="Arial"/>
            </a:endParaRPr>
          </a:p>
        </p:txBody>
      </p:sp>
      <p:sp>
        <p:nvSpPr>
          <p:cNvPr id="271" name="Google Shape;271;p23"/>
          <p:cNvSpPr txBox="1"/>
          <p:nvPr/>
        </p:nvSpPr>
        <p:spPr>
          <a:xfrm>
            <a:off x="658368" y="1078992"/>
            <a:ext cx="987552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000"/>
              <a:buFont typeface="Arial"/>
              <a:buNone/>
            </a:pPr>
            <a:r>
              <a:rPr b="1" i="0" lang="en-US" sz="3000" u="none" cap="none" strike="noStrike">
                <a:solidFill>
                  <a:srgbClr val="0F2347"/>
                </a:solidFill>
                <a:latin typeface="Georgia"/>
                <a:ea typeface="Georgia"/>
                <a:cs typeface="Georgia"/>
                <a:sym typeface="Georgia"/>
              </a:rPr>
              <a:t>A recognition exercise is not a result.</a:t>
            </a:r>
            <a:endParaRPr b="0" i="0" sz="1400" u="none" cap="none" strike="noStrike">
              <a:solidFill>
                <a:srgbClr val="000000"/>
              </a:solidFill>
              <a:latin typeface="Arial"/>
              <a:ea typeface="Arial"/>
              <a:cs typeface="Arial"/>
              <a:sym typeface="Arial"/>
            </a:endParaRPr>
          </a:p>
        </p:txBody>
      </p:sp>
      <p:sp>
        <p:nvSpPr>
          <p:cNvPr id="272" name="Google Shape;272;p23"/>
          <p:cNvSpPr/>
          <p:nvPr/>
        </p:nvSpPr>
        <p:spPr>
          <a:xfrm>
            <a:off x="676656" y="2194560"/>
            <a:ext cx="393192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3" name="Google Shape;273;p23"/>
          <p:cNvSpPr txBox="1"/>
          <p:nvPr/>
        </p:nvSpPr>
        <p:spPr>
          <a:xfrm>
            <a:off x="658383" y="2676437"/>
            <a:ext cx="9784200" cy="1939500"/>
          </a:xfrm>
          <a:prstGeom prst="rect">
            <a:avLst/>
          </a:prstGeom>
          <a:noFill/>
          <a:ln>
            <a:noFill/>
          </a:ln>
        </p:spPr>
        <p:txBody>
          <a:bodyPr anchorCtr="0" anchor="t" bIns="0" lIns="0" spcFirstLastPara="1" rIns="0" wrap="square" tIns="0">
            <a:spAutoFit/>
          </a:bodyPr>
          <a:lstStyle/>
          <a:p>
            <a:pPr indent="-342900" lvl="0" marL="457200" marR="0" rtl="0" algn="l">
              <a:lnSpc>
                <a:spcPct val="200000"/>
              </a:lnSpc>
              <a:spcBef>
                <a:spcPts val="0"/>
              </a:spcBef>
              <a:spcAft>
                <a:spcPts val="0"/>
              </a:spcAft>
              <a:buClr>
                <a:srgbClr val="152B4C"/>
              </a:buClr>
              <a:buSzPts val="1800"/>
              <a:buFont typeface="Arial"/>
              <a:buChar char="●"/>
            </a:pPr>
            <a:r>
              <a:rPr b="0" i="0" lang="en-US" sz="1800" u="none" cap="none" strike="noStrike">
                <a:solidFill>
                  <a:srgbClr val="152B4C"/>
                </a:solidFill>
                <a:latin typeface="Arial"/>
                <a:ea typeface="Arial"/>
                <a:cs typeface="Arial"/>
                <a:sym typeface="Arial"/>
              </a:rPr>
              <a:t>If one sign felt familiar, that does not mean you should leave.</a:t>
            </a:r>
            <a:endParaRPr b="0" i="0" sz="1800" u="none" cap="none" strike="noStrike">
              <a:solidFill>
                <a:srgbClr val="152B4C"/>
              </a:solidFill>
              <a:latin typeface="Arial"/>
              <a:ea typeface="Arial"/>
              <a:cs typeface="Arial"/>
              <a:sym typeface="Arial"/>
            </a:endParaRPr>
          </a:p>
          <a:p>
            <a:pPr indent="-342900" lvl="0" marL="457200" marR="0" rtl="0" algn="l">
              <a:lnSpc>
                <a:spcPct val="200000"/>
              </a:lnSpc>
              <a:spcBef>
                <a:spcPts val="0"/>
              </a:spcBef>
              <a:spcAft>
                <a:spcPts val="0"/>
              </a:spcAft>
              <a:buClr>
                <a:srgbClr val="152B4C"/>
              </a:buClr>
              <a:buSzPts val="1800"/>
              <a:buFont typeface="Arial"/>
              <a:buChar char="●"/>
            </a:pPr>
            <a:r>
              <a:rPr b="0" i="0" lang="en-US" sz="1800" u="none" cap="none" strike="noStrike">
                <a:solidFill>
                  <a:srgbClr val="152B4C"/>
                </a:solidFill>
                <a:latin typeface="Arial"/>
                <a:ea typeface="Arial"/>
                <a:cs typeface="Arial"/>
                <a:sym typeface="Arial"/>
              </a:rPr>
              <a:t>If none felt familiar, that does not mean your role is still building you.</a:t>
            </a:r>
            <a:endParaRPr b="0" i="0" sz="1800" u="none" cap="none" strike="noStrike">
              <a:solidFill>
                <a:srgbClr val="152B4C"/>
              </a:solidFill>
              <a:latin typeface="Arial"/>
              <a:ea typeface="Arial"/>
              <a:cs typeface="Arial"/>
              <a:sym typeface="Arial"/>
            </a:endParaRPr>
          </a:p>
          <a:p>
            <a:pPr indent="-342900" lvl="0" marL="457200" marR="0" rtl="0" algn="l">
              <a:lnSpc>
                <a:spcPct val="200000"/>
              </a:lnSpc>
              <a:spcBef>
                <a:spcPts val="0"/>
              </a:spcBef>
              <a:spcAft>
                <a:spcPts val="0"/>
              </a:spcAft>
              <a:buClr>
                <a:srgbClr val="152B4C"/>
              </a:buClr>
              <a:buSzPts val="1800"/>
              <a:buFont typeface="Arial"/>
              <a:buChar char="●"/>
            </a:pPr>
            <a:r>
              <a:rPr b="1" i="0" lang="en-US" sz="1800" u="none" cap="none" strike="noStrike">
                <a:solidFill>
                  <a:srgbClr val="152B4C"/>
                </a:solidFill>
                <a:latin typeface="Arial"/>
                <a:ea typeface="Arial"/>
                <a:cs typeface="Arial"/>
                <a:sym typeface="Arial"/>
              </a:rPr>
              <a:t>RECOGNITION TELLS YOU: </a:t>
            </a:r>
            <a:r>
              <a:rPr b="0" i="0" lang="en-US" sz="1800" u="none" cap="none" strike="noStrike">
                <a:solidFill>
                  <a:srgbClr val="152B4C"/>
                </a:solidFill>
                <a:latin typeface="Arial"/>
                <a:ea typeface="Arial"/>
                <a:cs typeface="Arial"/>
                <a:sym typeface="Arial"/>
              </a:rPr>
              <a:t>what may deserve examination.</a:t>
            </a:r>
            <a:endParaRPr b="0" i="0" sz="1800" u="none" cap="none" strike="noStrike">
              <a:solidFill>
                <a:srgbClr val="152B4C"/>
              </a:solidFill>
              <a:latin typeface="Arial"/>
              <a:ea typeface="Arial"/>
              <a:cs typeface="Arial"/>
              <a:sym typeface="Arial"/>
            </a:endParaRPr>
          </a:p>
          <a:p>
            <a:pPr indent="-342900" lvl="0" marL="457200" marR="0" rtl="0" algn="l">
              <a:lnSpc>
                <a:spcPct val="200000"/>
              </a:lnSpc>
              <a:spcBef>
                <a:spcPts val="0"/>
              </a:spcBef>
              <a:spcAft>
                <a:spcPts val="0"/>
              </a:spcAft>
              <a:buClr>
                <a:srgbClr val="152B4C"/>
              </a:buClr>
              <a:buSzPts val="1800"/>
              <a:buFont typeface="Arial"/>
              <a:buChar char="●"/>
            </a:pPr>
            <a:r>
              <a:rPr b="1" i="0" lang="en-US" sz="1800" u="none" cap="none" strike="noStrike">
                <a:solidFill>
                  <a:srgbClr val="152B4C"/>
                </a:solidFill>
                <a:latin typeface="Arial"/>
                <a:ea typeface="Arial"/>
                <a:cs typeface="Arial"/>
                <a:sym typeface="Arial"/>
              </a:rPr>
              <a:t>ASSESSMENT TELLS YOU: </a:t>
            </a:r>
            <a:r>
              <a:rPr b="0" i="0" lang="en-US" sz="1800" u="none" cap="none" strike="noStrike">
                <a:solidFill>
                  <a:srgbClr val="152B4C"/>
                </a:solidFill>
                <a:latin typeface="Arial"/>
                <a:ea typeface="Arial"/>
                <a:cs typeface="Arial"/>
                <a:sym typeface="Arial"/>
              </a:rPr>
              <a:t>what your evidence can support more defensibly.</a:t>
            </a:r>
            <a:endParaRPr b="0" i="0" sz="1800" u="none" cap="none" strike="noStrike">
              <a:solidFill>
                <a:srgbClr val="152B4C"/>
              </a:solidFill>
              <a:latin typeface="Arial"/>
              <a:ea typeface="Arial"/>
              <a:cs typeface="Arial"/>
              <a:sym typeface="Arial"/>
            </a:endParaRPr>
          </a:p>
        </p:txBody>
      </p:sp>
      <p:sp>
        <p:nvSpPr>
          <p:cNvPr id="274" name="Google Shape;274;p23"/>
          <p:cNvSpPr/>
          <p:nvPr/>
        </p:nvSpPr>
        <p:spPr>
          <a:xfrm>
            <a:off x="676656" y="5074920"/>
            <a:ext cx="393192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5" name="Google Shape;275;p23"/>
          <p:cNvSpPr txBox="1"/>
          <p:nvPr/>
        </p:nvSpPr>
        <p:spPr>
          <a:xfrm>
            <a:off x="768096" y="5257800"/>
            <a:ext cx="9966900" cy="531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400"/>
              <a:buFont typeface="Arial"/>
              <a:buNone/>
            </a:pPr>
            <a:r>
              <a:rPr b="1" i="1" lang="en-US" sz="1500" u="none" cap="none" strike="noStrike">
                <a:solidFill>
                  <a:srgbClr val="152B4C"/>
                </a:solidFill>
                <a:latin typeface="Arial"/>
                <a:ea typeface="Arial"/>
                <a:cs typeface="Arial"/>
                <a:sym typeface="Arial"/>
              </a:rPr>
              <a:t>As routine output becomes easier to reproduce, the distinction between familiar performance and growing judgment becomes more consequential.</a:t>
            </a:r>
            <a:endParaRPr b="1" i="0" sz="1500" u="none" cap="none" strike="noStrike">
              <a:solidFill>
                <a:srgbClr val="000000"/>
              </a:solidFill>
              <a:latin typeface="Arial"/>
              <a:ea typeface="Arial"/>
              <a:cs typeface="Arial"/>
              <a:sym typeface="Arial"/>
            </a:endParaRPr>
          </a:p>
        </p:txBody>
      </p:sp>
      <p:sp>
        <p:nvSpPr>
          <p:cNvPr id="276" name="Google Shape;276;p23"/>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77" name="Google Shape;277;p23"/>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00" name="Shape 900"/>
        <p:cNvGrpSpPr/>
        <p:nvPr/>
      </p:nvGrpSpPr>
      <p:grpSpPr>
        <a:xfrm>
          <a:off x="0" y="0"/>
          <a:ext cx="0" cy="0"/>
          <a:chOff x="0" y="0"/>
          <a:chExt cx="0" cy="0"/>
        </a:xfrm>
      </p:grpSpPr>
      <p:sp>
        <p:nvSpPr>
          <p:cNvPr id="901" name="Google Shape;901;p26"/>
          <p:cNvSpPr txBox="1"/>
          <p:nvPr/>
        </p:nvSpPr>
        <p:spPr>
          <a:xfrm>
            <a:off x="658368" y="548640"/>
            <a:ext cx="7772400" cy="246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spc="180" u="none" cap="none" strike="noStrike">
                <a:solidFill>
                  <a:srgbClr val="0F2347"/>
                </a:solidFill>
                <a:latin typeface="Arial"/>
                <a:ea typeface="Arial"/>
                <a:cs typeface="Arial"/>
                <a:sym typeface="Arial"/>
              </a:rPr>
              <a:t>ACTING ON RECOGNITION ALONE</a:t>
            </a:r>
            <a:endParaRPr b="1" i="0" sz="1600">
              <a:solidFill>
                <a:srgbClr val="0F2347"/>
              </a:solidFill>
              <a:latin typeface="Arial"/>
            </a:endParaRPr>
          </a:p>
        </p:txBody>
      </p:sp>
      <p:sp>
        <p:nvSpPr>
          <p:cNvPr id="902" name="Google Shape;902;p26"/>
          <p:cNvSpPr txBox="1"/>
          <p:nvPr/>
        </p:nvSpPr>
        <p:spPr>
          <a:xfrm>
            <a:off x="658368" y="1051560"/>
            <a:ext cx="10424160" cy="11887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3200"/>
              <a:buFont typeface="Georgia"/>
              <a:buNone/>
            </a:pPr>
            <a:r>
              <a:rPr b="1" i="0" lang="en-US" sz="3200" u="none" cap="none" strike="noStrike">
                <a:solidFill>
                  <a:srgbClr val="0F2347"/>
                </a:solidFill>
                <a:latin typeface="Georgia"/>
                <a:ea typeface="Georgia"/>
                <a:cs typeface="Georgia"/>
                <a:sym typeface="Georgia"/>
              </a:rPr>
              <a:t>The Risk of an</a:t>
            </a:r>
            <a:endParaRPr b="1" i="0" sz="3200">
              <a:solidFill>
                <a:srgbClr val="0F2347"/>
              </a:solidFill>
              <a:latin typeface="Georgia"/>
            </a:endParaRPr>
          </a:p>
          <a:p>
            <a:pPr indent="0" lvl="0" marL="0" marR="0" rtl="0" algn="l">
              <a:lnSpc>
                <a:spcPct val="110000"/>
              </a:lnSpc>
              <a:spcBef>
                <a:spcPts val="0"/>
              </a:spcBef>
              <a:spcAft>
                <a:spcPts val="0"/>
              </a:spcAft>
              <a:buClr>
                <a:srgbClr val="000000"/>
              </a:buClr>
              <a:buSzPts val="3200"/>
              <a:buFont typeface="Georgia"/>
              <a:buNone/>
            </a:pPr>
            <a:r>
              <a:rPr b="1" i="0" lang="en-US" sz="3200" u="none" cap="none" strike="noStrike">
                <a:solidFill>
                  <a:srgbClr val="0F2347"/>
                </a:solidFill>
                <a:latin typeface="Georgia"/>
                <a:ea typeface="Georgia"/>
                <a:cs typeface="Georgia"/>
                <a:sym typeface="Georgia"/>
              </a:rPr>
              <a:t>Uncalibrated Decision</a:t>
            </a:r>
            <a:endParaRPr b="1" i="0" sz="3200">
              <a:solidFill>
                <a:srgbClr val="0F2347"/>
              </a:solidFill>
              <a:latin typeface="Georgia"/>
            </a:endParaRPr>
          </a:p>
        </p:txBody>
      </p:sp>
      <p:sp>
        <p:nvSpPr>
          <p:cNvPr id="903" name="Google Shape;903;p26"/>
          <p:cNvSpPr/>
          <p:nvPr/>
        </p:nvSpPr>
        <p:spPr>
          <a:xfrm>
            <a:off x="676656" y="2240280"/>
            <a:ext cx="3840480" cy="27432"/>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buNone/>
            </a:pPr>
            <a:r>
              <a:t/>
            </a:r>
            <a:endParaRPr sz="1800"/>
          </a:p>
        </p:txBody>
      </p:sp>
      <p:sp>
        <p:nvSpPr>
          <p:cNvPr id="904" name="Google Shape;904;p26"/>
          <p:cNvSpPr/>
          <p:nvPr/>
        </p:nvSpPr>
        <p:spPr>
          <a:xfrm>
            <a:off x="749808" y="2606040"/>
            <a:ext cx="5120640" cy="1481328"/>
          </a:xfrm>
          <a:prstGeom prst="rect">
            <a:avLst/>
          </a:prstGeom>
          <a:noFill/>
          <a:ln w="12700" cap="flat" cmpd="sng" algn="ctr">
            <a:solidFill>
              <a:srgbClr val="0F2347"/>
            </a:solidFill>
            <a:prstDash val="solid"/>
            <a:miter lim="800000"/>
          </a:ln>
        </p:spPr>
        <p:txBody>
          <a:bodyPr anchorCtr="0" anchor="ctr" bIns="45700" lIns="91425" spcFirstLastPara="1" rIns="91425" wrap="square" tIns="45700">
            <a:noAutofit/>
          </a:bodyPr>
          <a:lstStyle/>
          <a:p>
            <a:pPr indent="0" lvl="0" marL="0" marR="0" rtl="0" algn="ctr">
              <a:lnSpc>
                <a:spcPct val="100000"/>
              </a:lnSpc>
              <a:buNone/>
            </a:pPr>
            <a:r>
              <a:t/>
            </a:r>
            <a:endParaRPr sz="1800"/>
          </a:p>
        </p:txBody>
      </p:sp>
      <p:sp>
        <p:nvSpPr>
          <p:cNvPr id="905" name="Google Shape;905;p26"/>
          <p:cNvSpPr txBox="1"/>
          <p:nvPr/>
        </p:nvSpPr>
        <p:spPr>
          <a:xfrm>
            <a:off x="950976" y="2843784"/>
            <a:ext cx="4718304"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Georgia"/>
              <a:buNone/>
            </a:pPr>
            <a:r>
              <a:rPr b="1" i="0" lang="en-US" sz="2000" u="none" cap="none" strike="noStrike">
                <a:solidFill>
                  <a:srgbClr val="C9A84C"/>
                </a:solidFill>
                <a:latin typeface="Georgia"/>
                <a:ea typeface="Georgia"/>
                <a:cs typeface="Georgia"/>
                <a:sym typeface="Georgia"/>
              </a:rPr>
              <a:t>Leaving prematurely</a:t>
            </a:r>
            <a:endParaRPr b="1" i="0" sz="2000">
              <a:solidFill>
                <a:srgbClr val="C9A84C"/>
              </a:solidFill>
              <a:latin typeface="Georgia"/>
            </a:endParaRPr>
          </a:p>
        </p:txBody>
      </p:sp>
      <p:sp>
        <p:nvSpPr>
          <p:cNvPr id="906" name="Google Shape;906;p26"/>
          <p:cNvSpPr txBox="1"/>
          <p:nvPr/>
        </p:nvSpPr>
        <p:spPr>
          <a:xfrm>
            <a:off x="950976" y="3282696"/>
            <a:ext cx="4718304" cy="7315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600"/>
              <a:buFont typeface="Georgia"/>
              <a:buNone/>
            </a:pPr>
            <a:r>
              <a:rPr b="0" i="0" lang="en-US" sz="1600" u="none" cap="none" strike="noStrike">
                <a:solidFill>
                  <a:srgbClr val="0F2347"/>
                </a:solidFill>
                <a:latin typeface="Georgia"/>
                <a:ea typeface="Georgia"/>
                <a:cs typeface="Georgia"/>
                <a:sym typeface="Georgia"/>
              </a:rPr>
              <a:t>Costs months of accumulated equity, internal network capital, and operational momentum.</a:t>
            </a:r>
            <a:endParaRPr b="0" i="0" sz="1600">
              <a:solidFill>
                <a:srgbClr val="0F2347"/>
              </a:solidFill>
              <a:latin typeface="Georgia"/>
            </a:endParaRPr>
          </a:p>
        </p:txBody>
      </p:sp>
      <p:sp>
        <p:nvSpPr>
          <p:cNvPr id="907" name="Google Shape;907;p26"/>
          <p:cNvSpPr/>
          <p:nvPr/>
        </p:nvSpPr>
        <p:spPr>
          <a:xfrm>
            <a:off x="6318504" y="2606040"/>
            <a:ext cx="5120640" cy="1481328"/>
          </a:xfrm>
          <a:prstGeom prst="rect">
            <a:avLst/>
          </a:prstGeom>
          <a:noFill/>
          <a:ln w="12700" cap="flat" cmpd="sng" algn="ctr">
            <a:solidFill>
              <a:srgbClr val="0F2347"/>
            </a:solidFill>
            <a:prstDash val="solid"/>
            <a:miter lim="800000"/>
          </a:ln>
        </p:spPr>
        <p:txBody>
          <a:bodyPr anchorCtr="0" anchor="ctr" bIns="45700" lIns="91425" spcFirstLastPara="1" rIns="91425" wrap="square" tIns="45700">
            <a:noAutofit/>
          </a:bodyPr>
          <a:lstStyle/>
          <a:p>
            <a:pPr indent="0" lvl="0" marL="0" marR="0" rtl="0" algn="ctr">
              <a:lnSpc>
                <a:spcPct val="100000"/>
              </a:lnSpc>
              <a:buNone/>
            </a:pPr>
            <a:r>
              <a:t/>
            </a:r>
            <a:endParaRPr sz="1800"/>
          </a:p>
        </p:txBody>
      </p:sp>
      <p:sp>
        <p:nvSpPr>
          <p:cNvPr id="908" name="Google Shape;908;p26"/>
          <p:cNvSpPr txBox="1"/>
          <p:nvPr/>
        </p:nvSpPr>
        <p:spPr>
          <a:xfrm>
            <a:off x="6519672" y="2843784"/>
            <a:ext cx="4718304"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Georgia"/>
              <a:buNone/>
            </a:pPr>
            <a:r>
              <a:rPr b="1" i="0" lang="en-US" sz="2000" u="none" cap="none" strike="noStrike">
                <a:solidFill>
                  <a:srgbClr val="C9A84C"/>
                </a:solidFill>
                <a:latin typeface="Georgia"/>
                <a:ea typeface="Georgia"/>
                <a:cs typeface="Georgia"/>
                <a:sym typeface="Georgia"/>
              </a:rPr>
              <a:t>Staying in a static role</a:t>
            </a:r>
            <a:endParaRPr b="1" i="0" sz="2000">
              <a:solidFill>
                <a:srgbClr val="C9A84C"/>
              </a:solidFill>
              <a:latin typeface="Georgia"/>
            </a:endParaRPr>
          </a:p>
        </p:txBody>
      </p:sp>
      <p:sp>
        <p:nvSpPr>
          <p:cNvPr id="909" name="Google Shape;909;p26"/>
          <p:cNvSpPr txBox="1"/>
          <p:nvPr/>
        </p:nvSpPr>
        <p:spPr>
          <a:xfrm>
            <a:off x="6519672" y="3282696"/>
            <a:ext cx="4718304" cy="7315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600"/>
              <a:buFont typeface="Georgia"/>
              <a:buNone/>
            </a:pPr>
            <a:r>
              <a:rPr b="0" i="0" lang="en-US" sz="1600" u="none" cap="none" strike="noStrike">
                <a:solidFill>
                  <a:srgbClr val="0F2347"/>
                </a:solidFill>
                <a:latin typeface="Georgia"/>
                <a:ea typeface="Georgia"/>
                <a:cs typeface="Georgia"/>
                <a:sym typeface="Georgia"/>
              </a:rPr>
              <a:t>Quietly degrades your external market value and limits your future options.</a:t>
            </a:r>
            <a:endParaRPr b="0" i="0" sz="1600">
              <a:solidFill>
                <a:srgbClr val="0F2347"/>
              </a:solidFill>
              <a:latin typeface="Georgia"/>
            </a:endParaRPr>
          </a:p>
        </p:txBody>
      </p:sp>
      <p:sp>
        <p:nvSpPr>
          <p:cNvPr id="910" name="Google Shape;910;p26"/>
          <p:cNvSpPr/>
          <p:nvPr/>
        </p:nvSpPr>
        <p:spPr>
          <a:xfrm>
            <a:off x="749808" y="4434840"/>
            <a:ext cx="10689336" cy="1097280"/>
          </a:xfrm>
          <a:prstGeom prst="rect">
            <a:avLst/>
          </a:prstGeom>
          <a:solidFill>
            <a:srgbClr val="0F2347"/>
          </a:solidFill>
          <a:ln>
            <a:noFill/>
          </a:ln>
        </p:spPr>
        <p:txBody>
          <a:bodyPr anchorCtr="0" anchor="ctr" bIns="45700" lIns="91425" spcFirstLastPara="1" rIns="91425" wrap="square" tIns="45700">
            <a:noAutofit/>
          </a:bodyPr>
          <a:lstStyle/>
          <a:p>
            <a:pPr indent="0" lvl="0" marL="0" marR="0" rtl="0" algn="ctr">
              <a:lnSpc>
                <a:spcPct val="100000"/>
              </a:lnSpc>
              <a:buNone/>
            </a:pPr>
            <a:r>
              <a:t/>
            </a:r>
            <a:endParaRPr sz="1800"/>
          </a:p>
        </p:txBody>
      </p:sp>
      <p:sp>
        <p:nvSpPr>
          <p:cNvPr id="911" name="Google Shape;911;p26"/>
          <p:cNvSpPr txBox="1"/>
          <p:nvPr/>
        </p:nvSpPr>
        <p:spPr>
          <a:xfrm>
            <a:off x="749808" y="4681728"/>
            <a:ext cx="10689336" cy="36576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00000"/>
              </a:buClr>
              <a:buSzPts val="2200"/>
              <a:buFont typeface="Georgia"/>
              <a:buNone/>
            </a:pPr>
            <a:r>
              <a:rPr b="1" i="0" lang="en-US" sz="2200" u="none" cap="none" strike="noStrike">
                <a:solidFill>
                  <a:srgbClr val="C9A84C"/>
                </a:solidFill>
                <a:latin typeface="Georgia"/>
                <a:ea typeface="Georgia"/>
                <a:cs typeface="Georgia"/>
                <a:sym typeface="Georgia"/>
              </a:rPr>
              <a:t>Read the position before you absorb the risk.</a:t>
            </a:r>
            <a:endParaRPr b="1" i="0" sz="2200">
              <a:solidFill>
                <a:srgbClr val="C9A84C"/>
              </a:solidFill>
              <a:latin typeface="Georgia"/>
            </a:endParaRPr>
          </a:p>
        </p:txBody>
      </p:sp>
      <p:sp>
        <p:nvSpPr>
          <p:cNvPr id="912" name="Google Shape;912;p26"/>
          <p:cNvSpPr txBox="1"/>
          <p:nvPr/>
        </p:nvSpPr>
        <p:spPr>
          <a:xfrm>
            <a:off x="749808" y="5138928"/>
            <a:ext cx="10689336" cy="25603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50"/>
              <a:buFont typeface="Arial"/>
              <a:buNone/>
            </a:pPr>
            <a:r>
              <a:rPr b="0" i="1" lang="en-US" sz="1350" u="none" cap="none" strike="noStrike">
                <a:solidFill>
                  <a:srgbClr val="F5F0E8"/>
                </a:solidFill>
                <a:latin typeface="Arial"/>
                <a:ea typeface="Arial"/>
                <a:cs typeface="Arial"/>
                <a:sym typeface="Arial"/>
              </a:rPr>
              <a:t>That reading is the Capability Position Read.</a:t>
            </a:r>
            <a:endParaRPr b="0" i="1" sz="1350">
              <a:solidFill>
                <a:srgbClr val="F5F0E8"/>
              </a:solidFill>
              <a:latin typeface="Arial"/>
            </a:endParaRPr>
          </a:p>
        </p:txBody>
      </p:sp>
      <p:sp>
        <p:nvSpPr>
          <p:cNvPr id="913" name="Google Shape;913;p26"/>
          <p:cNvSpPr txBox="1"/>
          <p:nvPr/>
        </p:nvSpPr>
        <p:spPr>
          <a:xfrm>
            <a:off x="658368" y="6464808"/>
            <a:ext cx="4937760" cy="1645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1" i="0" sz="760">
              <a:solidFill>
                <a:srgbClr val="0F2347"/>
              </a:solidFill>
              <a:latin typeface="Arial"/>
            </a:endParaRPr>
          </a:p>
        </p:txBody>
      </p:sp>
      <p:sp>
        <p:nvSpPr>
          <p:cNvPr id="914" name="Google Shape;914;p26"/>
          <p:cNvSpPr txBox="1"/>
          <p:nvPr/>
        </p:nvSpPr>
        <p:spPr>
          <a:xfrm>
            <a:off x="11430000" y="6464808"/>
            <a:ext cx="256032" cy="1645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12</a:t>
            </a:r>
            <a:endParaRPr b="1" i="0" sz="760">
              <a:solidFill>
                <a:srgbClr val="0F2347"/>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82" name="Shape 282"/>
        <p:cNvGrpSpPr/>
        <p:nvPr/>
      </p:nvGrpSpPr>
      <p:grpSpPr>
        <a:xfrm>
          <a:off x="0" y="0"/>
          <a:ext cx="0" cy="0"/>
          <a:chOff x="0" y="0"/>
          <a:chExt cx="0" cy="0"/>
        </a:xfrm>
      </p:grpSpPr>
      <p:sp>
        <p:nvSpPr>
          <p:cNvPr id="283" name="TextBox 282"/>
          <p:cNvSpPr txBox="1"/>
          <p:nvPr/>
        </p:nvSpPr>
        <p:spPr>
          <a:xfrm>
            <a:off x="658368" y="548640"/>
            <a:ext cx="7772400" cy="182880"/>
          </a:xfrm>
          <a:prstGeom prst="rect">
            <a:avLst/>
          </a:prstGeom>
          <a:noFill/>
        </p:spPr>
        <p:txBody>
          <a:bodyPr wrap="square" lIns="0" rIns="0" tIns="0" bIns="0">
            <a:spAutoFit/>
          </a:bodyPr>
          <a:lstStyle/>
          <a:p>
            <a:pPr algn="l"/>
            <a:r>
              <a:rPr sz="900" b="1">
                <a:solidFill>
                  <a:srgbClr val="C9A84C"/>
                </a:solidFill>
                <a:latin typeface="Arial"/>
              </a:rPr>
              <a:t>FROM RECOGNITION TO A GUIDED READ</a:t>
            </a:r>
          </a:p>
        </p:txBody>
      </p:sp>
      <p:sp>
        <p:nvSpPr>
          <p:cNvPr id="284" name="TextBox 283"/>
          <p:cNvSpPr txBox="1"/>
          <p:nvPr/>
        </p:nvSpPr>
        <p:spPr>
          <a:xfrm>
            <a:off x="658368" y="1170432"/>
            <a:ext cx="10607040" cy="1005840"/>
          </a:xfrm>
          <a:prstGeom prst="rect">
            <a:avLst/>
          </a:prstGeom>
          <a:noFill/>
        </p:spPr>
        <p:txBody>
          <a:bodyPr wrap="square" lIns="0" rIns="0" tIns="0" bIns="0">
            <a:spAutoFit/>
          </a:bodyPr>
          <a:lstStyle/>
          <a:p>
            <a:pPr algn="l">
              <a:lnSpc>
                <a:spcPts val="3600"/>
              </a:lnSpc>
            </a:pPr>
            <a:r>
              <a:rPr sz="2800" b="1">
                <a:solidFill>
                  <a:srgbClr val="0F2347"/>
                </a:solidFill>
                <a:latin typeface="Georgia"/>
              </a:rPr>
              <a:t>Today helped you spot the pattern.</a:t>
            </a:r>
          </a:p>
          <a:p>
            <a:pPr algn="l">
              <a:lnSpc>
                <a:spcPts val="3600"/>
              </a:lnSpc>
            </a:pPr>
            <a:r>
              <a:rPr sz="2800" b="1">
                <a:solidFill>
                  <a:srgbClr val="0F2347"/>
                </a:solidFill>
                <a:latin typeface="Georgia"/>
              </a:rPr>
              <a:t>September 16 helps you read the position.</a:t>
            </a:r>
          </a:p>
        </p:txBody>
      </p:sp>
      <p:sp>
        <p:nvSpPr>
          <p:cNvPr id="285" name="Rectangle 284"/>
          <p:cNvSpPr/>
          <p:nvPr/>
        </p:nvSpPr>
        <p:spPr>
          <a:xfrm>
            <a:off x="667512" y="2468880"/>
            <a:ext cx="5166360" cy="278892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6355080" y="2468880"/>
            <a:ext cx="5166360" cy="278892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905256" y="2688336"/>
            <a:ext cx="4663440" cy="256032"/>
          </a:xfrm>
          <a:prstGeom prst="rect">
            <a:avLst/>
          </a:prstGeom>
          <a:noFill/>
        </p:spPr>
        <p:txBody>
          <a:bodyPr wrap="square" lIns="0" rIns="0" tIns="0" bIns="0">
            <a:spAutoFit/>
          </a:bodyPr>
          <a:lstStyle/>
          <a:p>
            <a:pPr algn="l"/>
            <a:r>
              <a:rPr sz="1500" b="1">
                <a:solidFill>
                  <a:srgbClr val="C1440E"/>
                </a:solidFill>
                <a:latin typeface="Arial"/>
              </a:rPr>
              <a:t>TODAY: RECOGNITION</a:t>
            </a:r>
          </a:p>
        </p:txBody>
      </p:sp>
      <p:sp>
        <p:nvSpPr>
          <p:cNvPr id="288" name="TextBox 287"/>
          <p:cNvSpPr txBox="1"/>
          <p:nvPr/>
        </p:nvSpPr>
        <p:spPr>
          <a:xfrm>
            <a:off x="905256" y="3127248"/>
            <a:ext cx="4690872" cy="1920240"/>
          </a:xfrm>
          <a:prstGeom prst="rect">
            <a:avLst/>
          </a:prstGeom>
          <a:noFill/>
        </p:spPr>
        <p:txBody>
          <a:bodyPr wrap="square" lIns="0" rIns="0" tIns="0" bIns="0">
            <a:spAutoFit/>
          </a:bodyPr>
          <a:lstStyle/>
          <a:p>
            <a:pPr algn="l">
              <a:lnSpc>
                <a:spcPts val="2100"/>
              </a:lnSpc>
              <a:spcAft>
                <a:spcPts val="1400"/>
              </a:spcAft>
            </a:pPr>
            <a:r>
              <a:rPr sz="1600" b="1">
                <a:solidFill>
                  <a:srgbClr val="0F2347"/>
                </a:solidFill>
                <a:latin typeface="Georgia"/>
              </a:rPr>
              <a:t>Name one pattern you can see.</a:t>
            </a:r>
          </a:p>
          <a:p>
            <a:pPr algn="l">
              <a:lnSpc>
                <a:spcPts val="2100"/>
              </a:lnSpc>
              <a:spcAft>
                <a:spcPts val="1400"/>
              </a:spcAft>
            </a:pPr>
            <a:r>
              <a:rPr sz="1600" b="1">
                <a:solidFill>
                  <a:srgbClr val="0F2347"/>
                </a:solidFill>
                <a:latin typeface="Georgia"/>
              </a:rPr>
              <a:t>Point to one recent example.</a:t>
            </a:r>
          </a:p>
          <a:p>
            <a:pPr algn="l">
              <a:lnSpc>
                <a:spcPts val="2100"/>
              </a:lnSpc>
              <a:spcAft>
                <a:spcPts val="1400"/>
              </a:spcAft>
            </a:pPr>
            <a:r>
              <a:rPr sz="1600" b="1">
                <a:solidFill>
                  <a:srgbClr val="0F2347"/>
                </a:solidFill>
                <a:latin typeface="Georgia"/>
              </a:rPr>
              <a:t>Identify one question worth investigating.</a:t>
            </a:r>
          </a:p>
        </p:txBody>
      </p:sp>
      <p:sp>
        <p:nvSpPr>
          <p:cNvPr id="289" name="TextBox 288"/>
          <p:cNvSpPr txBox="1"/>
          <p:nvPr/>
        </p:nvSpPr>
        <p:spPr>
          <a:xfrm>
            <a:off x="6592824" y="2688336"/>
            <a:ext cx="4690872" cy="256032"/>
          </a:xfrm>
          <a:prstGeom prst="rect">
            <a:avLst/>
          </a:prstGeom>
          <a:noFill/>
        </p:spPr>
        <p:txBody>
          <a:bodyPr wrap="square" lIns="0" rIns="0" tIns="0" bIns="0">
            <a:spAutoFit/>
          </a:bodyPr>
          <a:lstStyle/>
          <a:p>
            <a:pPr algn="l"/>
            <a:r>
              <a:rPr sz="1500" b="1">
                <a:solidFill>
                  <a:srgbClr val="C9A84C"/>
                </a:solidFill>
                <a:latin typeface="Arial"/>
              </a:rPr>
              <a:t>SEPTEMBER 16: GUIDED READ</a:t>
            </a:r>
          </a:p>
        </p:txBody>
      </p:sp>
      <p:sp>
        <p:nvSpPr>
          <p:cNvPr id="290" name="TextBox 289"/>
          <p:cNvSpPr txBox="1"/>
          <p:nvPr/>
        </p:nvSpPr>
        <p:spPr>
          <a:xfrm>
            <a:off x="6592824" y="3127248"/>
            <a:ext cx="4709160" cy="1920240"/>
          </a:xfrm>
          <a:prstGeom prst="rect">
            <a:avLst/>
          </a:prstGeom>
          <a:noFill/>
        </p:spPr>
        <p:txBody>
          <a:bodyPr wrap="square" lIns="0" rIns="0" tIns="0" bIns="0">
            <a:spAutoFit/>
          </a:bodyPr>
          <a:lstStyle/>
          <a:p>
            <a:pPr algn="l">
              <a:lnSpc>
                <a:spcPts val="1800"/>
              </a:lnSpc>
              <a:spcAft>
                <a:spcPts val="900"/>
              </a:spcAft>
            </a:pPr>
            <a:r>
              <a:rPr sz="1400" b="1">
                <a:solidFill>
                  <a:srgbClr val="0F2347"/>
                </a:solidFill>
                <a:latin typeface="Georgia"/>
              </a:rPr>
              <a:t>Complete an initial and evidence-backed reading.</a:t>
            </a:r>
          </a:p>
          <a:p>
            <a:pPr algn="l">
              <a:lnSpc>
                <a:spcPts val="1800"/>
              </a:lnSpc>
              <a:spcAft>
                <a:spcPts val="900"/>
              </a:spcAft>
            </a:pPr>
            <a:r>
              <a:rPr sz="1400" b="1">
                <a:solidFill>
                  <a:srgbClr val="0F2347"/>
                </a:solidFill>
                <a:latin typeface="Georgia"/>
              </a:rPr>
              <a:t>Record a provisional position, boundary or incomplete reading.</a:t>
            </a:r>
          </a:p>
          <a:p>
            <a:pPr algn="l">
              <a:lnSpc>
                <a:spcPts val="1800"/>
              </a:lnSpc>
              <a:spcAft>
                <a:spcPts val="900"/>
              </a:spcAft>
            </a:pPr>
            <a:r>
              <a:rPr sz="1400" b="1">
                <a:solidFill>
                  <a:srgbClr val="0F2347"/>
                </a:solidFill>
                <a:latin typeface="Georgia"/>
              </a:rPr>
              <a:t>Choose one category of move worth testing.</a:t>
            </a:r>
          </a:p>
          <a:p>
            <a:pPr algn="l">
              <a:lnSpc>
                <a:spcPts val="1800"/>
              </a:lnSpc>
              <a:spcAft>
                <a:spcPts val="900"/>
              </a:spcAft>
            </a:pPr>
            <a:r>
              <a:rPr sz="1400" b="1">
                <a:solidFill>
                  <a:srgbClr val="0F2347"/>
                </a:solidFill>
                <a:latin typeface="Georgia"/>
              </a:rPr>
              <a:t>Write your Next-Move Note.</a:t>
            </a:r>
          </a:p>
        </p:txBody>
      </p:sp>
      <p:sp>
        <p:nvSpPr>
          <p:cNvPr id="291" name="TextBox 290"/>
          <p:cNvSpPr txBox="1"/>
          <p:nvPr/>
        </p:nvSpPr>
        <p:spPr>
          <a:xfrm>
            <a:off x="658368" y="5577840"/>
            <a:ext cx="10881360" cy="310896"/>
          </a:xfrm>
          <a:prstGeom prst="rect">
            <a:avLst/>
          </a:prstGeom>
          <a:noFill/>
        </p:spPr>
        <p:txBody>
          <a:bodyPr wrap="square" lIns="0" rIns="0" tIns="0" bIns="0">
            <a:spAutoFit/>
          </a:bodyPr>
          <a:lstStyle/>
          <a:p>
            <a:pPr algn="l"/>
            <a:r>
              <a:rPr sz="1500" b="1">
                <a:solidFill>
                  <a:srgbClr val="0F2347"/>
                </a:solidFill>
                <a:latin typeface="Georgia"/>
              </a:rPr>
              <a:t>September 2 opens the question. September 16 guides the read.</a:t>
            </a:r>
          </a:p>
        </p:txBody>
      </p:sp>
      <p:sp>
        <p:nvSpPr>
          <p:cNvPr id="292" name="TextBox 291"/>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293" name="TextBox 292"/>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13</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299" name="Shape 299"/>
        <p:cNvGrpSpPr/>
        <p:nvPr/>
      </p:nvGrpSpPr>
      <p:grpSpPr>
        <a:xfrm>
          <a:off x="0" y="0"/>
          <a:ext cx="0" cy="0"/>
          <a:chOff x="0" y="0"/>
          <a:chExt cx="0" cy="0"/>
        </a:xfrm>
      </p:grpSpPr>
      <p:sp>
        <p:nvSpPr>
          <p:cNvPr id="300" name="TextBox 299"/>
          <p:cNvSpPr txBox="1"/>
          <p:nvPr/>
        </p:nvSpPr>
        <p:spPr>
          <a:xfrm>
            <a:off x="658368" y="548640"/>
            <a:ext cx="7772400" cy="182880"/>
          </a:xfrm>
          <a:prstGeom prst="rect">
            <a:avLst/>
          </a:prstGeom>
          <a:noFill/>
        </p:spPr>
        <p:txBody>
          <a:bodyPr wrap="square" lIns="0" rIns="0" tIns="0" bIns="0">
            <a:spAutoFit/>
          </a:bodyPr>
          <a:lstStyle/>
          <a:p>
            <a:pPr algn="l"/>
            <a:r>
              <a:rPr sz="900" b="1">
                <a:solidFill>
                  <a:srgbClr val="C9A84C"/>
                </a:solidFill>
                <a:latin typeface="Arial"/>
              </a:rPr>
              <a:t>TWO WAYS TO CONTINUE</a:t>
            </a:r>
          </a:p>
        </p:txBody>
      </p:sp>
      <p:sp>
        <p:nvSpPr>
          <p:cNvPr id="301" name="TextBox 300"/>
          <p:cNvSpPr txBox="1"/>
          <p:nvPr/>
        </p:nvSpPr>
        <p:spPr>
          <a:xfrm>
            <a:off x="658368" y="1005840"/>
            <a:ext cx="10607040" cy="640080"/>
          </a:xfrm>
          <a:prstGeom prst="rect">
            <a:avLst/>
          </a:prstGeom>
          <a:noFill/>
        </p:spPr>
        <p:txBody>
          <a:bodyPr wrap="square" lIns="0" rIns="0" tIns="0" bIns="0">
            <a:spAutoFit/>
          </a:bodyPr>
          <a:lstStyle/>
          <a:p>
            <a:pPr algn="l"/>
            <a:r>
              <a:rPr sz="3400" b="1">
                <a:solidFill>
                  <a:srgbClr val="F5F0E8"/>
                </a:solidFill>
                <a:latin typeface="Georgia"/>
              </a:rPr>
              <a:t>Join me live, or continue privately.</a:t>
            </a:r>
          </a:p>
        </p:txBody>
      </p:sp>
      <p:sp>
        <p:nvSpPr>
          <p:cNvPr id="302" name="Rectangle 301"/>
          <p:cNvSpPr/>
          <p:nvPr/>
        </p:nvSpPr>
        <p:spPr>
          <a:xfrm>
            <a:off x="667512" y="1975104"/>
            <a:ext cx="5394960" cy="3749039"/>
          </a:xfrm>
          <a:prstGeom prst="rect">
            <a:avLst/>
          </a:prstGeom>
          <a:solidFill>
            <a:srgbClr val="F5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914400" y="2212848"/>
            <a:ext cx="4901184" cy="237744"/>
          </a:xfrm>
          <a:prstGeom prst="rect">
            <a:avLst/>
          </a:prstGeom>
          <a:noFill/>
        </p:spPr>
        <p:txBody>
          <a:bodyPr wrap="square" lIns="0" rIns="0" tIns="0" bIns="0">
            <a:spAutoFit/>
          </a:bodyPr>
          <a:lstStyle/>
          <a:p>
            <a:pPr algn="l"/>
            <a:r>
              <a:rPr sz="1300" b="1">
                <a:solidFill>
                  <a:srgbClr val="C1440E"/>
                </a:solidFill>
                <a:latin typeface="Arial"/>
              </a:rPr>
              <a:t>FREE LIVE SESSION</a:t>
            </a:r>
          </a:p>
        </p:txBody>
      </p:sp>
      <p:sp>
        <p:nvSpPr>
          <p:cNvPr id="304" name="TextBox 303"/>
          <p:cNvSpPr txBox="1"/>
          <p:nvPr/>
        </p:nvSpPr>
        <p:spPr>
          <a:xfrm>
            <a:off x="914400" y="2560320"/>
            <a:ext cx="4901184" cy="841248"/>
          </a:xfrm>
          <a:prstGeom prst="rect">
            <a:avLst/>
          </a:prstGeom>
          <a:noFill/>
        </p:spPr>
        <p:txBody>
          <a:bodyPr wrap="square" lIns="0" rIns="0" tIns="0" bIns="0">
            <a:spAutoFit/>
          </a:bodyPr>
          <a:lstStyle/>
          <a:p>
            <a:pPr algn="l">
              <a:lnSpc>
                <a:spcPts val="2600"/>
              </a:lnSpc>
            </a:pPr>
            <a:r>
              <a:rPr sz="2100" b="1">
                <a:solidFill>
                  <a:srgbClr val="0F2347"/>
                </a:solidFill>
                <a:latin typeface="Georgia"/>
              </a:rPr>
              <a:t>Stay or Leave?</a:t>
            </a:r>
          </a:p>
          <a:p>
            <a:pPr algn="l">
              <a:lnSpc>
                <a:spcPts val="2600"/>
              </a:lnSpc>
            </a:pPr>
            <a:r>
              <a:rPr sz="1700" b="1">
                <a:solidFill>
                  <a:srgbClr val="0F2347"/>
                </a:solidFill>
                <a:latin typeface="Georgia"/>
              </a:rPr>
              <a:t>Live Career Growth Assessment</a:t>
            </a:r>
          </a:p>
        </p:txBody>
      </p:sp>
      <p:sp>
        <p:nvSpPr>
          <p:cNvPr id="305" name="TextBox 304"/>
          <p:cNvSpPr txBox="1"/>
          <p:nvPr/>
        </p:nvSpPr>
        <p:spPr>
          <a:xfrm>
            <a:off x="914400" y="3529584"/>
            <a:ext cx="4901184" cy="237744"/>
          </a:xfrm>
          <a:prstGeom prst="rect">
            <a:avLst/>
          </a:prstGeom>
          <a:noFill/>
        </p:spPr>
        <p:txBody>
          <a:bodyPr wrap="square" lIns="0" rIns="0" tIns="0" bIns="0">
            <a:spAutoFit/>
          </a:bodyPr>
          <a:lstStyle/>
          <a:p>
            <a:pPr algn="l"/>
            <a:r>
              <a:rPr sz="1300" b="1">
                <a:solidFill>
                  <a:srgbClr val="0F2347"/>
                </a:solidFill>
                <a:latin typeface="Arial"/>
              </a:rPr>
              <a:t>Wednesday, September 16, 2026</a:t>
            </a:r>
          </a:p>
        </p:txBody>
      </p:sp>
      <p:sp>
        <p:nvSpPr>
          <p:cNvPr id="306" name="TextBox 305"/>
          <p:cNvSpPr txBox="1"/>
          <p:nvPr/>
        </p:nvSpPr>
        <p:spPr>
          <a:xfrm>
            <a:off x="914400" y="3803904"/>
            <a:ext cx="4901184" cy="237744"/>
          </a:xfrm>
          <a:prstGeom prst="rect">
            <a:avLst/>
          </a:prstGeom>
          <a:noFill/>
        </p:spPr>
        <p:txBody>
          <a:bodyPr wrap="square" lIns="0" rIns="0" tIns="0" bIns="0">
            <a:spAutoFit/>
          </a:bodyPr>
          <a:lstStyle/>
          <a:p>
            <a:pPr algn="l"/>
            <a:r>
              <a:rPr sz="1300" b="0">
                <a:solidFill>
                  <a:srgbClr val="0F2347"/>
                </a:solidFill>
                <a:latin typeface="Arial"/>
              </a:rPr>
              <a:t>6:00 PM CT  ·  60 minutes</a:t>
            </a:r>
          </a:p>
        </p:txBody>
      </p:sp>
      <p:sp>
        <p:nvSpPr>
          <p:cNvPr id="307" name="TextBox 306"/>
          <p:cNvSpPr txBox="1"/>
          <p:nvPr/>
        </p:nvSpPr>
        <p:spPr>
          <a:xfrm>
            <a:off x="914400" y="4169663"/>
            <a:ext cx="4901184" cy="274320"/>
          </a:xfrm>
          <a:prstGeom prst="rect">
            <a:avLst/>
          </a:prstGeom>
          <a:noFill/>
        </p:spPr>
        <p:txBody>
          <a:bodyPr wrap="square" lIns="0" rIns="0" tIns="0" bIns="0">
            <a:spAutoFit/>
          </a:bodyPr>
          <a:lstStyle/>
          <a:p>
            <a:pPr algn="l"/>
            <a:r>
              <a:rPr sz="1400" b="1">
                <a:solidFill>
                  <a:srgbClr val="0F2347"/>
                </a:solidFill>
                <a:latin typeface="Georgia"/>
              </a:rPr>
              <a:t>Complete the guided reading with me.</a:t>
            </a:r>
          </a:p>
        </p:txBody>
      </p:sp>
      <p:sp>
        <p:nvSpPr>
          <p:cNvPr id="308" name="Rectangle 307">
            <a:hlinkClick r:id="rId3"/>
          </p:cNvPr>
          <p:cNvSpPr/>
          <p:nvPr/>
        </p:nvSpPr>
        <p:spPr>
          <a:xfrm>
            <a:off x="914400" y="4626864"/>
            <a:ext cx="2926080" cy="438912"/>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914400" y="4754880"/>
            <a:ext cx="2926080" cy="201168"/>
          </a:xfrm>
          <a:prstGeom prst="rect">
            <a:avLst/>
          </a:prstGeom>
          <a:noFill/>
        </p:spPr>
        <p:txBody>
          <a:bodyPr wrap="square" lIns="0" rIns="0" tIns="0" bIns="0">
            <a:spAutoFit/>
          </a:bodyPr>
          <a:lstStyle/>
          <a:p>
            <a:pPr algn="ctr"/>
            <a:r>
              <a:rPr sz="1150" b="1">
                <a:solidFill>
                  <a:srgbClr val="F5F0E8"/>
                </a:solidFill>
                <a:latin typeface="Arial"/>
              </a:rPr>
              <a:t>REGISTER FREE</a:t>
            </a:r>
          </a:p>
        </p:txBody>
      </p:sp>
      <p:sp>
        <p:nvSpPr>
          <p:cNvPr id="310" name="TextBox 309"/>
          <p:cNvSpPr txBox="1"/>
          <p:nvPr/>
        </p:nvSpPr>
        <p:spPr>
          <a:xfrm>
            <a:off x="914400" y="5193792"/>
            <a:ext cx="3017520" cy="365760"/>
          </a:xfrm>
          <a:prstGeom prst="rect">
            <a:avLst/>
          </a:prstGeom>
          <a:noFill/>
        </p:spPr>
        <p:txBody>
          <a:bodyPr wrap="square" lIns="0" rIns="0" tIns="0" bIns="0">
            <a:spAutoFit/>
          </a:bodyPr>
          <a:lstStyle/>
          <a:p>
            <a:pPr algn="l">
              <a:lnSpc>
                <a:spcPts val="1000"/>
              </a:lnSpc>
            </a:pPr>
            <a:r>
              <a:rPr sz="760" b="0">
                <a:solidFill>
                  <a:srgbClr val="0F2347"/>
                </a:solidFill>
                <a:latin typeface="Arial"/>
              </a:rPr>
              <a:t>maven.com/p/8b3c40/
stay-or-leave-live-career-growth-assessment</a:t>
            </a:r>
          </a:p>
        </p:txBody>
      </p:sp>
      <p:pic>
        <p:nvPicPr>
          <p:cNvPr id="311" name="Picture 310" descr="qr_maven_sept16.png">
            <a:hlinkClick r:id="rId3"/>
          </p:cNvPr>
          <p:cNvPicPr>
            <a:picLocks noChangeAspect="1"/>
          </p:cNvPicPr>
          <p:nvPr/>
        </p:nvPicPr>
        <p:blipFill>
          <a:blip r:embed="rId5"/>
          <a:stretch>
            <a:fillRect/>
          </a:stretch>
        </p:blipFill>
        <p:spPr>
          <a:xfrm>
            <a:off x="4443984" y="4462272"/>
            <a:ext cx="1097280" cy="1097280"/>
          </a:xfrm>
          <a:prstGeom prst="rect">
            <a:avLst/>
          </a:prstGeom>
        </p:spPr>
      </p:pic>
      <p:sp>
        <p:nvSpPr>
          <p:cNvPr id="312" name="Rectangle 311"/>
          <p:cNvSpPr/>
          <p:nvPr/>
        </p:nvSpPr>
        <p:spPr>
          <a:xfrm>
            <a:off x="6153912" y="1975104"/>
            <a:ext cx="5367528" cy="3749039"/>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6400800" y="2212848"/>
            <a:ext cx="4873752" cy="237744"/>
          </a:xfrm>
          <a:prstGeom prst="rect">
            <a:avLst/>
          </a:prstGeom>
          <a:noFill/>
        </p:spPr>
        <p:txBody>
          <a:bodyPr wrap="square" lIns="0" rIns="0" tIns="0" bIns="0">
            <a:spAutoFit/>
          </a:bodyPr>
          <a:lstStyle/>
          <a:p>
            <a:pPr algn="l"/>
            <a:r>
              <a:rPr sz="1300" b="1">
                <a:solidFill>
                  <a:srgbClr val="C9A84C"/>
                </a:solidFill>
                <a:latin typeface="Arial"/>
              </a:rPr>
              <a:t>SELF-GUIDED</a:t>
            </a:r>
          </a:p>
        </p:txBody>
      </p:sp>
      <p:sp>
        <p:nvSpPr>
          <p:cNvPr id="314" name="TextBox 313"/>
          <p:cNvSpPr txBox="1"/>
          <p:nvPr/>
        </p:nvSpPr>
        <p:spPr>
          <a:xfrm>
            <a:off x="6400800" y="2560320"/>
            <a:ext cx="4873752" cy="841248"/>
          </a:xfrm>
          <a:prstGeom prst="rect">
            <a:avLst/>
          </a:prstGeom>
          <a:noFill/>
        </p:spPr>
        <p:txBody>
          <a:bodyPr wrap="square" lIns="0" rIns="0" tIns="0" bIns="0">
            <a:spAutoFit/>
          </a:bodyPr>
          <a:lstStyle/>
          <a:p>
            <a:pPr algn="l">
              <a:lnSpc>
                <a:spcPts val="2600"/>
              </a:lnSpc>
            </a:pPr>
            <a:r>
              <a:rPr sz="2100" b="1">
                <a:solidFill>
                  <a:srgbClr val="0F2347"/>
                </a:solidFill>
                <a:latin typeface="Georgia"/>
              </a:rPr>
              <a:t>Capability Formation</a:t>
            </a:r>
          </a:p>
          <a:p>
            <a:pPr algn="l">
              <a:lnSpc>
                <a:spcPts val="2600"/>
              </a:lnSpc>
            </a:pPr>
            <a:r>
              <a:rPr sz="2100" b="1">
                <a:solidFill>
                  <a:srgbClr val="0F2347"/>
                </a:solidFill>
                <a:latin typeface="Georgia"/>
              </a:rPr>
              <a:t>Field Kit</a:t>
            </a:r>
          </a:p>
        </p:txBody>
      </p:sp>
      <p:sp>
        <p:nvSpPr>
          <p:cNvPr id="315" name="TextBox 314"/>
          <p:cNvSpPr txBox="1"/>
          <p:nvPr/>
        </p:nvSpPr>
        <p:spPr>
          <a:xfrm>
            <a:off x="6400800" y="3529584"/>
            <a:ext cx="4873752" cy="786384"/>
          </a:xfrm>
          <a:prstGeom prst="rect">
            <a:avLst/>
          </a:prstGeom>
          <a:noFill/>
        </p:spPr>
        <p:txBody>
          <a:bodyPr wrap="square" lIns="0" rIns="0" tIns="0" bIns="0">
            <a:spAutoFit/>
          </a:bodyPr>
          <a:lstStyle/>
          <a:p>
            <a:pPr algn="l">
              <a:lnSpc>
                <a:spcPts val="1900"/>
              </a:lnSpc>
            </a:pPr>
            <a:r>
              <a:rPr sz="1400" b="1">
                <a:solidFill>
                  <a:srgbClr val="0F2347"/>
                </a:solidFill>
                <a:latin typeface="Georgia"/>
              </a:rPr>
              <a:t>A private, repeatable evidence system you can own, revisit and rerun as conditions change.</a:t>
            </a:r>
          </a:p>
        </p:txBody>
      </p:sp>
      <p:sp>
        <p:nvSpPr>
          <p:cNvPr id="316" name="Rectangle 315">
            <a:hlinkClick r:id="rId6"/>
          </p:cNvPr>
          <p:cNvSpPr/>
          <p:nvPr/>
        </p:nvSpPr>
        <p:spPr>
          <a:xfrm>
            <a:off x="6400800" y="4626864"/>
            <a:ext cx="2926080" cy="438912"/>
          </a:xfrm>
          <a:prstGeom prst="rect">
            <a:avLst/>
          </a:prstGeom>
          <a:noFill/>
          <a:ln w="15875">
            <a:solidFill>
              <a:srgbClr val="0F2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TextBox 316"/>
          <p:cNvSpPr txBox="1"/>
          <p:nvPr/>
        </p:nvSpPr>
        <p:spPr>
          <a:xfrm>
            <a:off x="6400800" y="4754880"/>
            <a:ext cx="2926080" cy="201168"/>
          </a:xfrm>
          <a:prstGeom prst="rect">
            <a:avLst/>
          </a:prstGeom>
          <a:noFill/>
        </p:spPr>
        <p:txBody>
          <a:bodyPr wrap="square" lIns="0" rIns="0" tIns="0" bIns="0">
            <a:spAutoFit/>
          </a:bodyPr>
          <a:lstStyle/>
          <a:p>
            <a:pPr algn="ctr"/>
            <a:r>
              <a:rPr sz="1150" b="1">
                <a:solidFill>
                  <a:srgbClr val="0F2347"/>
                </a:solidFill>
                <a:latin typeface="Arial"/>
              </a:rPr>
              <a:t>EXPLORE THE FIELD KIT</a:t>
            </a:r>
          </a:p>
        </p:txBody>
      </p:sp>
      <p:sp>
        <p:nvSpPr>
          <p:cNvPr id="318" name="TextBox 317"/>
          <p:cNvSpPr txBox="1"/>
          <p:nvPr/>
        </p:nvSpPr>
        <p:spPr>
          <a:xfrm>
            <a:off x="6400800" y="5193792"/>
            <a:ext cx="3017520" cy="219456"/>
          </a:xfrm>
          <a:prstGeom prst="rect">
            <a:avLst/>
          </a:prstGeom>
          <a:noFill/>
        </p:spPr>
        <p:txBody>
          <a:bodyPr wrap="square" lIns="0" rIns="0" tIns="0" bIns="0">
            <a:spAutoFit/>
          </a:bodyPr>
          <a:lstStyle/>
          <a:p>
            <a:pPr algn="l"/>
            <a:r>
              <a:rPr sz="1100" b="1">
                <a:solidFill>
                  <a:srgbClr val="0F2347"/>
                </a:solidFill>
                <a:latin typeface="Arial"/>
              </a:rPr>
              <a:t>temidayoafonja.com/book</a:t>
            </a:r>
          </a:p>
        </p:txBody>
      </p:sp>
      <p:pic>
        <p:nvPicPr>
          <p:cNvPr id="319" name="Picture 318" descr="qr_fieldkit.png">
            <a:hlinkClick r:id="rId6"/>
          </p:cNvPr>
          <p:cNvPicPr>
            <a:picLocks noChangeAspect="1"/>
          </p:cNvPicPr>
          <p:nvPr/>
        </p:nvPicPr>
        <p:blipFill>
          <a:blip r:embed="rId7"/>
          <a:stretch>
            <a:fillRect/>
          </a:stretch>
        </p:blipFill>
        <p:spPr>
          <a:xfrm>
            <a:off x="9966960" y="4462272"/>
            <a:ext cx="1097280" cy="1097280"/>
          </a:xfrm>
          <a:prstGeom prst="rect">
            <a:avLst/>
          </a:prstGeom>
        </p:spPr>
      </p:pic>
      <p:sp>
        <p:nvSpPr>
          <p:cNvPr id="320" name="TextBox 319"/>
          <p:cNvSpPr txBox="1"/>
          <p:nvPr/>
        </p:nvSpPr>
        <p:spPr>
          <a:xfrm>
            <a:off x="658368" y="5961888"/>
            <a:ext cx="10881360" cy="274320"/>
          </a:xfrm>
          <a:prstGeom prst="rect">
            <a:avLst/>
          </a:prstGeom>
          <a:noFill/>
        </p:spPr>
        <p:txBody>
          <a:bodyPr wrap="square" lIns="0" rIns="0" tIns="0" bIns="0">
            <a:spAutoFit/>
          </a:bodyPr>
          <a:lstStyle/>
          <a:p>
            <a:pPr algn="l"/>
            <a:r>
              <a:rPr sz="1200" b="1">
                <a:solidFill>
                  <a:srgbClr val="F5F0E8"/>
                </a:solidFill>
                <a:latin typeface="Georgia"/>
              </a:rPr>
              <a:t>Neither route is required. September 16 is free; the Field Kit is optional and private.</a:t>
            </a:r>
          </a:p>
        </p:txBody>
      </p:sp>
      <p:sp>
        <p:nvSpPr>
          <p:cNvPr id="321" name="TextBox 320"/>
          <p:cNvSpPr txBox="1"/>
          <p:nvPr/>
        </p:nvSpPr>
        <p:spPr>
          <a:xfrm>
            <a:off x="658368" y="6464808"/>
            <a:ext cx="4937760" cy="164592"/>
          </a:xfrm>
          <a:prstGeom prst="rect">
            <a:avLst/>
          </a:prstGeom>
          <a:noFill/>
        </p:spPr>
        <p:txBody>
          <a:bodyPr wrap="square" lIns="0" rIns="0" tIns="0" bIns="0">
            <a:spAutoFit/>
          </a:bodyPr>
          <a:lstStyle/>
          <a:p>
            <a:pPr algn="l"/>
            <a:r>
              <a:rPr sz="760" b="1">
                <a:solidFill>
                  <a:srgbClr val="F5F0E8"/>
                </a:solidFill>
                <a:latin typeface="Arial"/>
              </a:rPr>
              <a:t>TEMIDAYO AFONJA   |   TEMIDAYOAFONJA.COM</a:t>
            </a:r>
          </a:p>
        </p:txBody>
      </p:sp>
      <p:sp>
        <p:nvSpPr>
          <p:cNvPr id="322" name="TextBox 321"/>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F5F0E8"/>
                </a:solidFill>
                <a:latin typeface="Arial"/>
              </a:rPr>
              <a:t>14</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18" name="Shape 318"/>
        <p:cNvGrpSpPr/>
        <p:nvPr/>
      </p:nvGrpSpPr>
      <p:grpSpPr>
        <a:xfrm>
          <a:off x="0" y="0"/>
          <a:ext cx="0" cy="0"/>
          <a:chOff x="0" y="0"/>
          <a:chExt cx="0" cy="0"/>
        </a:xfrm>
      </p:grpSpPr>
      <p:sp>
        <p:nvSpPr>
          <p:cNvPr id="319" name="Google Shape;319;p26"/>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Questions &amp; Applications</a:t>
            </a:r>
            <a:endParaRPr b="0" i="0" sz="1400" u="none" cap="none" strike="noStrike">
              <a:solidFill>
                <a:srgbClr val="000000"/>
              </a:solidFill>
              <a:latin typeface="Arial"/>
              <a:ea typeface="Arial"/>
              <a:cs typeface="Arial"/>
              <a:sym typeface="Arial"/>
            </a:endParaRPr>
          </a:p>
        </p:txBody>
      </p:sp>
      <p:sp>
        <p:nvSpPr>
          <p:cNvPr id="320" name="Google Shape;320;p26"/>
          <p:cNvSpPr txBox="1"/>
          <p:nvPr/>
        </p:nvSpPr>
        <p:spPr>
          <a:xfrm>
            <a:off x="658368" y="1097280"/>
            <a:ext cx="987552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000"/>
              <a:buFont typeface="Arial"/>
              <a:buNone/>
            </a:pPr>
            <a:r>
              <a:rPr b="1" i="0" lang="en-US" sz="3000" u="none" cap="none" strike="noStrike">
                <a:solidFill>
                  <a:srgbClr val="0F2347"/>
                </a:solidFill>
                <a:latin typeface="Georgia"/>
                <a:ea typeface="Georgia"/>
                <a:cs typeface="Georgia"/>
                <a:sym typeface="Georgia"/>
              </a:rPr>
              <a:t>Ten minutes for questions.</a:t>
            </a:r>
            <a:endParaRPr b="0" i="0" sz="1400" u="none" cap="none" strike="noStrike">
              <a:solidFill>
                <a:srgbClr val="000000"/>
              </a:solidFill>
              <a:latin typeface="Arial"/>
              <a:ea typeface="Arial"/>
              <a:cs typeface="Arial"/>
              <a:sym typeface="Arial"/>
            </a:endParaRPr>
          </a:p>
        </p:txBody>
      </p:sp>
      <p:sp>
        <p:nvSpPr>
          <p:cNvPr id="321" name="Google Shape;321;p26"/>
          <p:cNvSpPr txBox="1"/>
          <p:nvPr/>
        </p:nvSpPr>
        <p:spPr>
          <a:xfrm>
            <a:off x="676656" y="1810512"/>
            <a:ext cx="9509760"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152B4C"/>
                </a:solidFill>
                <a:latin typeface="Arial"/>
                <a:ea typeface="Arial"/>
                <a:cs typeface="Arial"/>
                <a:sym typeface="Arial"/>
              </a:rPr>
              <a:t>Questions about the ideas are welcome. Individual situations will not be scored or diagnosed in this room.</a:t>
            </a:r>
            <a:endParaRPr b="0" i="0" sz="1400" u="none" cap="none" strike="noStrike">
              <a:solidFill>
                <a:srgbClr val="000000"/>
              </a:solidFill>
              <a:latin typeface="Arial"/>
              <a:ea typeface="Arial"/>
              <a:cs typeface="Arial"/>
              <a:sym typeface="Arial"/>
            </a:endParaRPr>
          </a:p>
        </p:txBody>
      </p:sp>
      <p:sp>
        <p:nvSpPr>
          <p:cNvPr id="322" name="Google Shape;322;p26"/>
          <p:cNvSpPr/>
          <p:nvPr/>
        </p:nvSpPr>
        <p:spPr>
          <a:xfrm>
            <a:off x="713232" y="2423160"/>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3" name="Google Shape;323;p26"/>
          <p:cNvSpPr txBox="1"/>
          <p:nvPr/>
        </p:nvSpPr>
        <p:spPr>
          <a:xfrm>
            <a:off x="777240" y="2491740"/>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324" name="Google Shape;324;p26"/>
          <p:cNvSpPr txBox="1"/>
          <p:nvPr/>
        </p:nvSpPr>
        <p:spPr>
          <a:xfrm>
            <a:off x="1261872" y="2386584"/>
            <a:ext cx="9601200" cy="31089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0F2347"/>
                </a:solidFill>
                <a:latin typeface="Arial"/>
                <a:ea typeface="Arial"/>
                <a:cs typeface="Arial"/>
                <a:sym typeface="Arial"/>
              </a:rPr>
              <a:t>Good questions to explore</a:t>
            </a:r>
            <a:endParaRPr b="0" i="0" sz="1400" u="none" cap="none" strike="noStrike">
              <a:solidFill>
                <a:srgbClr val="000000"/>
              </a:solidFill>
              <a:latin typeface="Arial"/>
              <a:ea typeface="Arial"/>
              <a:cs typeface="Arial"/>
              <a:sym typeface="Arial"/>
            </a:endParaRPr>
          </a:p>
        </p:txBody>
      </p:sp>
      <p:sp>
        <p:nvSpPr>
          <p:cNvPr id="325" name="Google Shape;325;p26"/>
          <p:cNvSpPr txBox="1"/>
          <p:nvPr/>
        </p:nvSpPr>
        <p:spPr>
          <a:xfrm>
            <a:off x="1261872" y="2715768"/>
            <a:ext cx="996696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50"/>
              <a:buFont typeface="Arial"/>
              <a:buNone/>
            </a:pPr>
            <a:r>
              <a:rPr b="0" i="0" lang="en-US" sz="1250" u="none" cap="none" strike="noStrike">
                <a:solidFill>
                  <a:srgbClr val="152B4C"/>
                </a:solidFill>
                <a:latin typeface="Arial"/>
                <a:ea typeface="Arial"/>
                <a:cs typeface="Arial"/>
                <a:sym typeface="Arial"/>
              </a:rPr>
              <a:t>How do I tell the difference between performance and formation? What does portability mean? What kind of evidence counts?</a:t>
            </a:r>
            <a:endParaRPr b="0" i="0" sz="1400" u="none" cap="none" strike="noStrike">
              <a:solidFill>
                <a:srgbClr val="000000"/>
              </a:solidFill>
              <a:latin typeface="Arial"/>
              <a:ea typeface="Arial"/>
              <a:cs typeface="Arial"/>
              <a:sym typeface="Arial"/>
            </a:endParaRPr>
          </a:p>
        </p:txBody>
      </p:sp>
      <p:sp>
        <p:nvSpPr>
          <p:cNvPr id="326" name="Google Shape;326;p26"/>
          <p:cNvSpPr/>
          <p:nvPr/>
        </p:nvSpPr>
        <p:spPr>
          <a:xfrm>
            <a:off x="713232" y="3502152"/>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26"/>
          <p:cNvSpPr txBox="1"/>
          <p:nvPr/>
        </p:nvSpPr>
        <p:spPr>
          <a:xfrm>
            <a:off x="777240" y="3570732"/>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328" name="Google Shape;328;p26"/>
          <p:cNvSpPr txBox="1"/>
          <p:nvPr/>
        </p:nvSpPr>
        <p:spPr>
          <a:xfrm>
            <a:off x="1261872" y="3465576"/>
            <a:ext cx="9601200" cy="31089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0F2347"/>
                </a:solidFill>
                <a:latin typeface="Arial"/>
                <a:ea typeface="Arial"/>
                <a:cs typeface="Arial"/>
                <a:sym typeface="Arial"/>
              </a:rPr>
              <a:t>Questions to redirect</a:t>
            </a:r>
            <a:endParaRPr b="0" i="0" sz="1400" u="none" cap="none" strike="noStrike">
              <a:solidFill>
                <a:srgbClr val="000000"/>
              </a:solidFill>
              <a:latin typeface="Arial"/>
              <a:ea typeface="Arial"/>
              <a:cs typeface="Arial"/>
              <a:sym typeface="Arial"/>
            </a:endParaRPr>
          </a:p>
        </p:txBody>
      </p:sp>
      <p:sp>
        <p:nvSpPr>
          <p:cNvPr id="329" name="Google Shape;329;p26"/>
          <p:cNvSpPr txBox="1"/>
          <p:nvPr/>
        </p:nvSpPr>
        <p:spPr>
          <a:xfrm>
            <a:off x="1261872" y="3794760"/>
            <a:ext cx="996696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50"/>
              <a:buFont typeface="Arial"/>
              <a:buNone/>
            </a:pPr>
            <a:r>
              <a:rPr b="0" i="0" lang="en-US" sz="1250" u="none" cap="none" strike="noStrike">
                <a:solidFill>
                  <a:srgbClr val="152B4C"/>
                </a:solidFill>
                <a:latin typeface="Arial"/>
                <a:ea typeface="Arial"/>
                <a:cs typeface="Arial"/>
                <a:sym typeface="Arial"/>
              </a:rPr>
              <a:t>Should I leave? What state am I in? What should I do about my manager? Can you score my situation?</a:t>
            </a:r>
            <a:endParaRPr b="0" i="0" sz="1400" u="none" cap="none" strike="noStrike">
              <a:solidFill>
                <a:srgbClr val="000000"/>
              </a:solidFill>
              <a:latin typeface="Arial"/>
              <a:ea typeface="Arial"/>
              <a:cs typeface="Arial"/>
              <a:sym typeface="Arial"/>
            </a:endParaRPr>
          </a:p>
        </p:txBody>
      </p:sp>
      <p:sp>
        <p:nvSpPr>
          <p:cNvPr id="330" name="Google Shape;330;p26"/>
          <p:cNvSpPr/>
          <p:nvPr/>
        </p:nvSpPr>
        <p:spPr>
          <a:xfrm>
            <a:off x="713232" y="4581144"/>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1" name="Google Shape;331;p26"/>
          <p:cNvSpPr txBox="1"/>
          <p:nvPr/>
        </p:nvSpPr>
        <p:spPr>
          <a:xfrm>
            <a:off x="777240" y="4649724"/>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332" name="Google Shape;332;p26"/>
          <p:cNvSpPr txBox="1"/>
          <p:nvPr/>
        </p:nvSpPr>
        <p:spPr>
          <a:xfrm>
            <a:off x="1261872" y="4544568"/>
            <a:ext cx="9601200" cy="31089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0F2347"/>
                </a:solidFill>
                <a:latin typeface="Arial"/>
                <a:ea typeface="Arial"/>
                <a:cs typeface="Arial"/>
                <a:sym typeface="Arial"/>
              </a:rPr>
              <a:t>Boundary line</a:t>
            </a:r>
            <a:endParaRPr b="0" i="0" sz="1400" u="none" cap="none" strike="noStrike">
              <a:solidFill>
                <a:srgbClr val="000000"/>
              </a:solidFill>
              <a:latin typeface="Arial"/>
              <a:ea typeface="Arial"/>
              <a:cs typeface="Arial"/>
              <a:sym typeface="Arial"/>
            </a:endParaRPr>
          </a:p>
        </p:txBody>
      </p:sp>
      <p:sp>
        <p:nvSpPr>
          <p:cNvPr id="333" name="Google Shape;333;p26"/>
          <p:cNvSpPr txBox="1"/>
          <p:nvPr/>
        </p:nvSpPr>
        <p:spPr>
          <a:xfrm>
            <a:off x="1261872" y="4873752"/>
            <a:ext cx="996696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50"/>
              <a:buFont typeface="Arial"/>
              <a:buNone/>
            </a:pPr>
            <a:r>
              <a:rPr b="0" i="0" lang="en-US" sz="1250" u="none" cap="none" strike="noStrike">
                <a:solidFill>
                  <a:srgbClr val="152B4C"/>
                </a:solidFill>
                <a:latin typeface="Arial"/>
                <a:ea typeface="Arial"/>
                <a:cs typeface="Arial"/>
                <a:sym typeface="Arial"/>
              </a:rPr>
              <a:t>I can help you clarify what the pattern suggests examining. I cannot make the employment decision for you.</a:t>
            </a:r>
            <a:endParaRPr b="0" i="0" sz="1400" u="none" cap="none" strike="noStrike">
              <a:solidFill>
                <a:srgbClr val="000000"/>
              </a:solidFill>
              <a:latin typeface="Arial"/>
              <a:ea typeface="Arial"/>
              <a:cs typeface="Arial"/>
              <a:sym typeface="Arial"/>
            </a:endParaRPr>
          </a:p>
        </p:txBody>
      </p:sp>
      <p:sp>
        <p:nvSpPr>
          <p:cNvPr id="334" name="Google Shape;334;p26"/>
          <p:cNvSpPr/>
          <p:nvPr/>
        </p:nvSpPr>
        <p:spPr>
          <a:xfrm>
            <a:off x="658368" y="5989320"/>
            <a:ext cx="10881360" cy="502920"/>
          </a:xfrm>
          <a:prstGeom prst="rect">
            <a:avLst/>
          </a:prstGeom>
          <a:solidFill>
            <a:srgbClr val="0F23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5" name="Google Shape;335;p26"/>
          <p:cNvSpPr txBox="1"/>
          <p:nvPr/>
        </p:nvSpPr>
        <p:spPr>
          <a:xfrm>
            <a:off x="868680" y="6126480"/>
            <a:ext cx="10424160" cy="25603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sz="1200" b="1">
                <a:solidFill>
                  <a:srgbClr val="C9A84C"/>
                </a:solidFill>
                <a:latin typeface="Arial"/>
              </a:rPr>
              <a:t>Continue live on September 16 or privately with the Field Kit  ·  Links in chat</a:t>
            </a:r>
            <a:endParaRPr b="0" i="0" sz="1400" u="none" cap="none" strike="noStrike">
              <a:solidFill>
                <a:srgbClr val="000000"/>
              </a:solidFill>
              <a:latin typeface="Arial"/>
              <a:ea typeface="Arial"/>
              <a:cs typeface="Arial"/>
              <a:sym typeface="Arial"/>
            </a:endParaRPr>
          </a:p>
        </p:txBody>
      </p:sp>
      <p:sp>
        <p:nvSpPr>
          <p:cNvPr id="336" name="Google Shape;336;p26"/>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337" name="Google Shape;337;p26"/>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15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342" name="Shape 342"/>
        <p:cNvGrpSpPr/>
        <p:nvPr/>
      </p:nvGrpSpPr>
      <p:grpSpPr>
        <a:xfrm>
          <a:off x="0" y="0"/>
          <a:ext cx="0" cy="0"/>
          <a:chOff x="0" y="0"/>
          <a:chExt cx="0" cy="0"/>
        </a:xfrm>
      </p:grpSpPr>
      <p:sp>
        <p:nvSpPr>
          <p:cNvPr id="343" name="Google Shape;343;p27"/>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1440E"/>
                </a:solidFill>
                <a:latin typeface="Arial"/>
                <a:ea typeface="Arial"/>
                <a:cs typeface="Arial"/>
                <a:sym typeface="Arial"/>
              </a:rPr>
              <a:t>APPENDIX  ·  NOT PART OF THE 45-MINUTE SESSION</a:t>
            </a:r>
            <a:endParaRPr b="0" i="0" sz="1400" u="none" cap="none" strike="noStrike">
              <a:solidFill>
                <a:srgbClr val="000000"/>
              </a:solidFill>
              <a:latin typeface="Arial"/>
              <a:ea typeface="Arial"/>
              <a:cs typeface="Arial"/>
              <a:sym typeface="Arial"/>
            </a:endParaRPr>
          </a:p>
        </p:txBody>
      </p:sp>
      <p:sp>
        <p:nvSpPr>
          <p:cNvPr id="344" name="Google Shape;344;p27"/>
          <p:cNvSpPr txBox="1"/>
          <p:nvPr/>
        </p:nvSpPr>
        <p:spPr>
          <a:xfrm>
            <a:off x="658368" y="1097280"/>
            <a:ext cx="1005840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000"/>
              <a:buFont typeface="Arial"/>
              <a:buNone/>
            </a:pPr>
            <a:r>
              <a:rPr b="1" i="0" lang="en-US" sz="3000" u="none" cap="none" strike="noStrike">
                <a:solidFill>
                  <a:srgbClr val="0F2347"/>
                </a:solidFill>
                <a:latin typeface="Georgia"/>
                <a:ea typeface="Georgia"/>
                <a:cs typeface="Georgia"/>
                <a:sym typeface="Georgia"/>
              </a:rPr>
              <a:t>What AI Changes About This Reading</a:t>
            </a:r>
            <a:endParaRPr b="0" i="0" sz="1400" u="none" cap="none" strike="noStrike">
              <a:solidFill>
                <a:srgbClr val="000000"/>
              </a:solidFill>
              <a:latin typeface="Arial"/>
              <a:ea typeface="Arial"/>
              <a:cs typeface="Arial"/>
              <a:sym typeface="Arial"/>
            </a:endParaRPr>
          </a:p>
        </p:txBody>
      </p:sp>
      <p:sp>
        <p:nvSpPr>
          <p:cNvPr id="345" name="Google Shape;345;p27"/>
          <p:cNvSpPr txBox="1"/>
          <p:nvPr/>
        </p:nvSpPr>
        <p:spPr>
          <a:xfrm>
            <a:off x="676656" y="1828800"/>
            <a:ext cx="9509760"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0" i="0" lang="en-US" sz="1500" u="none" cap="none" strike="noStrike">
                <a:solidFill>
                  <a:srgbClr val="152B4C"/>
                </a:solidFill>
                <a:latin typeface="Arial"/>
                <a:ea typeface="Arial"/>
                <a:cs typeface="Arial"/>
                <a:sym typeface="Arial"/>
              </a:rPr>
              <a:t>An application of the reading, not a technology lesson.</a:t>
            </a:r>
            <a:endParaRPr b="0" i="0" sz="1400" u="none" cap="none" strike="noStrike">
              <a:solidFill>
                <a:srgbClr val="000000"/>
              </a:solidFill>
              <a:latin typeface="Arial"/>
              <a:ea typeface="Arial"/>
              <a:cs typeface="Arial"/>
              <a:sym typeface="Arial"/>
            </a:endParaRPr>
          </a:p>
        </p:txBody>
      </p:sp>
      <p:sp>
        <p:nvSpPr>
          <p:cNvPr id="346" name="Google Shape;346;p27"/>
          <p:cNvSpPr/>
          <p:nvPr/>
        </p:nvSpPr>
        <p:spPr>
          <a:xfrm>
            <a:off x="676656" y="2651760"/>
            <a:ext cx="393192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7" name="Google Shape;347;p27"/>
          <p:cNvSpPr txBox="1"/>
          <p:nvPr/>
        </p:nvSpPr>
        <p:spPr>
          <a:xfrm>
            <a:off x="768096" y="2971800"/>
            <a:ext cx="9875520" cy="237744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152B4C"/>
                </a:solidFill>
                <a:latin typeface="Arial"/>
                <a:ea typeface="Arial"/>
                <a:cs typeface="Arial"/>
                <a:sym typeface="Arial"/>
              </a:rPr>
              <a:t>Where AI makes routine output easier to reproduce, your position depends more heavily on judgment, learning velocity, and capability that travels across unfamiliar problems.</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152B4C"/>
                </a:solidFill>
                <a:latin typeface="Arial"/>
                <a:ea typeface="Arial"/>
                <a:cs typeface="Arial"/>
                <a:sym typeface="Arial"/>
              </a:rPr>
              <a:t>Density and Optionality do not become less important.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152B4C"/>
                </a:solidFill>
                <a:latin typeface="Arial"/>
                <a:ea typeface="Arial"/>
                <a:cs typeface="Arial"/>
                <a:sym typeface="Arial"/>
              </a:rPr>
              <a:t>They become more consequential.</a:t>
            </a:r>
            <a:endParaRPr b="0" i="0" sz="1400" u="none" cap="none" strike="noStrike">
              <a:solidFill>
                <a:srgbClr val="000000"/>
              </a:solidFill>
              <a:latin typeface="Arial"/>
              <a:ea typeface="Arial"/>
              <a:cs typeface="Arial"/>
              <a:sym typeface="Arial"/>
            </a:endParaRPr>
          </a:p>
        </p:txBody>
      </p:sp>
      <p:sp>
        <p:nvSpPr>
          <p:cNvPr id="348" name="Google Shape;348;p27"/>
          <p:cNvSpPr txBox="1"/>
          <p:nvPr/>
        </p:nvSpPr>
        <p:spPr>
          <a:xfrm>
            <a:off x="768096" y="5577840"/>
            <a:ext cx="9875520" cy="6400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0" i="1" lang="en-US" sz="1100" u="none" cap="none" strike="noStrike">
                <a:solidFill>
                  <a:srgbClr val="152B4C"/>
                </a:solidFill>
                <a:latin typeface="Arial"/>
                <a:ea typeface="Arial"/>
                <a:cs typeface="Arial"/>
                <a:sym typeface="Arial"/>
              </a:rPr>
              <a:t>Optional leave-behind slide. Present only if time and audience interest allow; not counted in the 45-minute core.</a:t>
            </a:r>
            <a:endParaRPr b="0" i="0" sz="1400" u="none" cap="none" strike="noStrike">
              <a:solidFill>
                <a:srgbClr val="000000"/>
              </a:solidFill>
              <a:latin typeface="Arial"/>
              <a:ea typeface="Arial"/>
              <a:cs typeface="Arial"/>
              <a:sym typeface="Arial"/>
            </a:endParaRPr>
          </a:p>
        </p:txBody>
      </p:sp>
      <p:sp>
        <p:nvSpPr>
          <p:cNvPr id="349" name="Google Shape;349;p27"/>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350" name="Google Shape;350;p27"/>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16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