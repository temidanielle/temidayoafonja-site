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DM Sans"/>
              </a:rPr>
              <a:t>WHAT TO SAY:</a:t>
            </a:r>
          </a:p>
          <a:p>
            <a:r>
              <a:rPr sz="1100">
                <a:latin typeface="DM Sans"/>
              </a:rPr>
              <a:t>Welcome. Take thirty seconds before we begin. This is a free preview lesson from the Capability Position Read. You are here because you are considering something consequential about your work. That question deserves a careful reading, not a fast answer.</a:t>
            </a:r>
          </a:p>
          <a:p>
            <a:r>
              <a:rPr sz="1100">
                <a:latin typeface="DM Sans"/>
              </a:rPr>
              <a:t/>
            </a:r>
          </a:p>
          <a:p>
            <a:r>
              <a:rPr sz="1100">
                <a:latin typeface="DM Sans"/>
              </a:rPr>
              <a:t>WHAT NOT TO SAY:</a:t>
            </a:r>
          </a:p>
          <a:p>
            <a:r>
              <a:rPr sz="1100">
                <a:latin typeface="DM Sans"/>
              </a:rPr>
              <a:t>Do not open with career-coach language. Do not pitch. Do not promise a diagnosis.</a:t>
            </a:r>
          </a:p>
          <a:p>
            <a:r>
              <a:rPr sz="1100">
                <a:latin typeface="DM Sans"/>
              </a:rPr>
              <a:t/>
            </a:r>
          </a:p>
          <a:p>
            <a:r>
              <a:rPr sz="1100">
                <a:latin typeface="DM Sans"/>
              </a:rPr>
              <a:t>MICRO-BEATS:</a:t>
            </a:r>
          </a:p>
          <a:p>
            <a:r>
              <a:rPr sz="1100">
                <a:latin typeface="DM Sans"/>
              </a:rPr>
              <a:t>Pause after the title. Read the subtitle slowly. Then move to the boundary slide.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DM Sans"/>
              </a:rPr>
              <a:t>WHAT TO SAY:</a:t>
            </a:r>
          </a:p>
          <a:p>
            <a:r>
              <a:rPr sz="1100">
                <a:latin typeface="DM Sans"/>
              </a:rPr>
              <a:t>Read this as it is written. The boundary is the promise. Say it slowly. If people are here expecting a diagnostic result, this is where they self-select.</a:t>
            </a:r>
          </a:p>
          <a:p>
            <a:r>
              <a:rPr sz="1100">
                <a:latin typeface="DM Sans"/>
              </a:rPr>
              <a:t/>
            </a:r>
          </a:p>
          <a:p>
            <a:r>
              <a:rPr sz="1100">
                <a:latin typeface="DM Sans"/>
              </a:rPr>
              <a:t>WHAT NOT TO SAY:</a:t>
            </a:r>
          </a:p>
          <a:p>
            <a:r>
              <a:rPr sz="1100">
                <a:latin typeface="DM Sans"/>
              </a:rPr>
              <a:t>Do not soften the boundary. Do not add caveats like "we can still cover a lot in thirty minutes." Let it stand.</a:t>
            </a:r>
          </a:p>
          <a:p>
            <a:r>
              <a:rPr sz="1100">
                <a:latin typeface="DM Sans"/>
              </a:rPr>
              <a:t/>
            </a:r>
          </a:p>
          <a:p>
            <a:r>
              <a:rPr sz="1100">
                <a:latin typeface="DM Sans"/>
              </a:rPr>
              <a:t>LIKELY MISUNDERSTANDING:</a:t>
            </a:r>
          </a:p>
          <a:p>
            <a:r>
              <a:rPr sz="1100">
                <a:latin typeface="DM Sans"/>
              </a:rPr>
              <a:t>Some will assume this session includes the full instrument. It does not. If asked in chat, restate the boundary calmly.</a:t>
            </a:r>
          </a:p>
          <a:p>
            <a:r>
              <a:rPr sz="1100">
                <a:latin typeface="DM Sans"/>
              </a:rPr>
              <a:t/>
            </a:r>
          </a:p>
          <a:p>
            <a:r>
              <a:rPr sz="1100">
                <a:latin typeface="DM Sans"/>
              </a:rPr>
              <a:t>HOW TO PRESERVE THE BOUNDARY:</a:t>
            </a:r>
          </a:p>
          <a:p>
            <a:r>
              <a:rPr sz="1100">
                <a:latin typeface="DM Sans"/>
              </a:rPr>
              <a:t>Return to it any time a question drifts toward personal advice. "That is what the full Position Read is for. Today is recognition, not result."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DM Sans"/>
              </a:rPr>
              <a:t>WHAT TO SAY:</a:t>
            </a:r>
          </a:p>
          <a:p>
            <a:r>
              <a:rPr sz="1100">
                <a:latin typeface="DM Sans"/>
              </a:rPr>
              <a:t>The stay-or-move question is fair. It is not, however, the first question. Beneath it is a quieter one about formation and travel. That is the question this session opens.</a:t>
            </a:r>
          </a:p>
          <a:p>
            <a:r>
              <a:rPr sz="1100">
                <a:latin typeface="DM Sans"/>
              </a:rPr>
              <a:t/>
            </a:r>
          </a:p>
          <a:p>
            <a:r>
              <a:rPr sz="1100">
                <a:latin typeface="DM Sans"/>
              </a:rPr>
              <a:t>WHAT NOT TO SAY:</a:t>
            </a:r>
          </a:p>
          <a:p>
            <a:r>
              <a:rPr sz="1100">
                <a:latin typeface="DM Sans"/>
              </a:rPr>
              <a:t>Do not moralize. Do not suggest one question is better than the other. The stay-or-move question is what brought them here. Honour it.</a:t>
            </a:r>
          </a:p>
          <a:p>
            <a:r>
              <a:rPr sz="1100">
                <a:latin typeface="DM Sans"/>
              </a:rPr>
              <a:t/>
            </a:r>
          </a:p>
          <a:p>
            <a:r>
              <a:rPr sz="1100">
                <a:latin typeface="DM Sans"/>
              </a:rPr>
              <a:t>FRAMING:</a:t>
            </a:r>
          </a:p>
          <a:p>
            <a:r>
              <a:rPr sz="1100">
                <a:latin typeface="DM Sans"/>
              </a:rPr>
              <a:t>Formation is what the role is building in you. Travel is whether what it built is legible outside your current context.</a:t>
            </a:r>
          </a:p>
          <a:p>
            <a:r>
              <a:rPr sz="1100">
                <a:latin typeface="DM Sans"/>
              </a:rPr>
              <a:t/>
            </a:r>
          </a:p>
          <a:p>
            <a:r>
              <a:rPr sz="1100">
                <a:latin typeface="DM Sans"/>
              </a:rPr>
              <a:t>TIMING:</a:t>
            </a:r>
          </a:p>
          <a:p>
            <a:r>
              <a:rPr sz="1100">
                <a:latin typeface="DM Sans"/>
              </a:rPr>
              <a:t>Move quickly. This is the frame, not the lesson.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DM Sans"/>
              </a:rPr>
              <a:t>WHAT TO SAY:</a:t>
            </a:r>
          </a:p>
          <a:p>
            <a:r>
              <a:rPr sz="1100">
                <a:latin typeface="DM Sans"/>
              </a:rPr>
              <a:t>This is the sentence to sit with: strong performance can coexist with flat formation. Say it, then let it breathe. Do not rush to the next slide.</a:t>
            </a:r>
          </a:p>
          <a:p>
            <a:r>
              <a:rPr sz="1100">
                <a:latin typeface="DM Sans"/>
              </a:rPr>
              <a:t/>
            </a:r>
          </a:p>
          <a:p>
            <a:r>
              <a:rPr sz="1100">
                <a:latin typeface="DM Sans"/>
              </a:rPr>
              <a:t>WHAT NOT TO SAY:</a:t>
            </a:r>
          </a:p>
          <a:p>
            <a:r>
              <a:rPr sz="1100">
                <a:latin typeface="DM Sans"/>
              </a:rPr>
              <a:t>Do not diagnose the audience. Do not imply that anyone in the room has flat formation. You are describing a pattern, not a personal reading.</a:t>
            </a:r>
          </a:p>
          <a:p>
            <a:r>
              <a:rPr sz="1100">
                <a:latin typeface="DM Sans"/>
              </a:rPr>
              <a:t/>
            </a:r>
          </a:p>
          <a:p>
            <a:r>
              <a:rPr sz="1100">
                <a:latin typeface="DM Sans"/>
              </a:rPr>
              <a:t>LIKELY MISUNDERSTANDING:</a:t>
            </a:r>
          </a:p>
          <a:p>
            <a:r>
              <a:rPr sz="1100">
                <a:latin typeface="DM Sans"/>
              </a:rPr>
              <a:t>Some will hear this as "performance does not matter." Correct that if it comes up in chat. Performance matters, but it is not the whole reading.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DM Sans"/>
              </a:rPr>
              <a:t>WHAT TO SAY:</a:t>
            </a:r>
          </a:p>
          <a:p>
            <a:r>
              <a:rPr sz="1100">
                <a:latin typeface="DM Sans"/>
              </a:rPr>
              <a:t>Density asks whether the environment is still forming you. Optionality asks whether what it built travels. These are the two words we will use today. That is all we will use them for.</a:t>
            </a:r>
          </a:p>
          <a:p>
            <a:r>
              <a:rPr sz="1100">
                <a:latin typeface="DM Sans"/>
              </a:rPr>
              <a:t/>
            </a:r>
          </a:p>
          <a:p>
            <a:r>
              <a:rPr sz="1100">
                <a:latin typeface="DM Sans"/>
              </a:rPr>
              <a:t>WHAT NOT TO SAY:</a:t>
            </a:r>
          </a:p>
          <a:p>
            <a:r>
              <a:rPr sz="1100">
                <a:latin typeface="DM Sans"/>
              </a:rPr>
              <a:t>Do not introduce the twelve statements. Do not describe scoring bands. Do not use the Four States language. If someone asks, redirect: "That is what the paid Position Read covers. Today is recognition."</a:t>
            </a:r>
          </a:p>
          <a:p>
            <a:r>
              <a:rPr sz="1100">
                <a:latin typeface="DM Sans"/>
              </a:rPr>
              <a:t/>
            </a:r>
          </a:p>
          <a:p>
            <a:r>
              <a:rPr sz="1100">
                <a:latin typeface="DM Sans"/>
              </a:rPr>
              <a:t>HOW TO PRESERVE THE BOUNDARY:</a:t>
            </a:r>
          </a:p>
          <a:p>
            <a:r>
              <a:rPr sz="1100">
                <a:latin typeface="DM Sans"/>
              </a:rPr>
              <a:t>If a participant tries to score themselves in chat, say: "Hold the number. Notice what the question surfaced instead."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DM Sans"/>
              </a:rPr>
              <a:t>WHAT TO SAY:</a:t>
            </a:r>
          </a:p>
          <a:p>
            <a:r>
              <a:rPr sz="1100">
                <a:latin typeface="DM Sans"/>
              </a:rPr>
              <a:t>This is the most common misreading among high performers. The intention is real. The plan is credible. The role has told them stretch is coming. And they score the intended life as though it were already lived.</a:t>
            </a:r>
          </a:p>
          <a:p>
            <a:r>
              <a:rPr sz="1100">
                <a:latin typeface="DM Sans"/>
              </a:rPr>
              <a:t/>
            </a:r>
          </a:p>
          <a:p>
            <a:r>
              <a:rPr sz="1100">
                <a:latin typeface="DM Sans"/>
              </a:rPr>
              <a:t>WHAT NOT TO SAY:</a:t>
            </a:r>
          </a:p>
          <a:p>
            <a:r>
              <a:rPr sz="1100">
                <a:latin typeface="DM Sans"/>
              </a:rPr>
              <a:t>Do not shame the intention. Intentions are how careers get made. The point is: intention is not evidence.</a:t>
            </a:r>
          </a:p>
          <a:p>
            <a:r>
              <a:rPr sz="1100">
                <a:latin typeface="DM Sans"/>
              </a:rPr>
              <a:t/>
            </a:r>
          </a:p>
          <a:p>
            <a:r>
              <a:rPr sz="1100">
                <a:latin typeface="DM Sans"/>
              </a:rPr>
              <a:t>LIKELY MISUNDERSTANDING:</a:t>
            </a:r>
          </a:p>
          <a:p>
            <a:r>
              <a:rPr sz="1100">
                <a:latin typeface="DM Sans"/>
              </a:rPr>
              <a:t>Some will say, "But my company is very reliable about promotions." That is not the point. The point is whether the last ninety days built the capability, not whether the next quarter is likely to.</a:t>
            </a:r>
          </a:p>
          <a:p>
            <a:r>
              <a:rPr sz="1100">
                <a:latin typeface="DM Sans"/>
              </a:rPr>
              <a:t/>
            </a:r>
          </a:p>
          <a:p>
            <a:r>
              <a:rPr sz="1100">
                <a:latin typeface="DM Sans"/>
              </a:rPr>
              <a:t>BOUNDARY:</a:t>
            </a:r>
          </a:p>
          <a:p>
            <a:r>
              <a:rPr sz="1100">
                <a:latin typeface="DM Sans"/>
              </a:rPr>
              <a:t>Do not tell anyone whether their promise is credible. That is not this session.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DM Sans"/>
              </a:rPr>
              <a:t>WHAT TO SAY:</a:t>
            </a:r>
          </a:p>
          <a:p>
            <a:r>
              <a:rPr sz="1100">
                <a:latin typeface="DM Sans"/>
              </a:rPr>
              <a:t>Take one quiet minute. Write. This is not for chat. It is for you. When time is up, we move on.</a:t>
            </a:r>
          </a:p>
          <a:p>
            <a:r>
              <a:rPr sz="1100">
                <a:latin typeface="DM Sans"/>
              </a:rPr>
              <a:t/>
            </a:r>
          </a:p>
          <a:p>
            <a:r>
              <a:rPr sz="1100">
                <a:latin typeface="DM Sans"/>
              </a:rPr>
              <a:t>WHAT NOT TO SAY:</a:t>
            </a:r>
          </a:p>
          <a:p>
            <a:r>
              <a:rPr sz="1100">
                <a:latin typeface="DM Sans"/>
              </a:rPr>
              <a:t>Do not read the prompt aloud more than twice. Do not fill the silence. Silence is the point.</a:t>
            </a:r>
          </a:p>
          <a:p>
            <a:r>
              <a:rPr sz="1100">
                <a:latin typeface="DM Sans"/>
              </a:rPr>
              <a:t/>
            </a:r>
          </a:p>
          <a:p>
            <a:r>
              <a:rPr sz="1100">
                <a:latin typeface="DM Sans"/>
              </a:rPr>
              <a:t>TIMING:</a:t>
            </a:r>
          </a:p>
          <a:p>
            <a:r>
              <a:rPr sz="1100">
                <a:latin typeface="DM Sans"/>
              </a:rPr>
              <a:t>Hold the pause. Sixty seconds feels longer than you expect. Do not shorten it.</a:t>
            </a:r>
          </a:p>
          <a:p>
            <a:r>
              <a:rPr sz="1100">
                <a:latin typeface="DM Sans"/>
              </a:rPr>
              <a:t/>
            </a:r>
          </a:p>
          <a:p>
            <a:r>
              <a:rPr sz="1100">
                <a:latin typeface="DM Sans"/>
              </a:rPr>
              <a:t>HOW TO PRESERVE THE BOUNDARY:</a:t>
            </a:r>
          </a:p>
          <a:p>
            <a:r>
              <a:rPr sz="1100">
                <a:latin typeface="DM Sans"/>
              </a:rPr>
              <a:t>If someone drops an answer in chat, thank them briefly and move on. Do not read it aloud, and do not analyze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DM Sans"/>
              </a:rPr>
              <a:t>WHAT TO SAY:</a:t>
            </a:r>
          </a:p>
          <a:p>
            <a:r>
              <a:rPr sz="1100">
                <a:latin typeface="DM Sans"/>
              </a:rPr>
              <a:t>Value is a signal. Formation is a different signal. They can rise together. They can also decouple. When they decouple, the person feels indispensable and untested at the same time.</a:t>
            </a:r>
          </a:p>
          <a:p>
            <a:r>
              <a:rPr sz="1100">
                <a:latin typeface="DM Sans"/>
              </a:rPr>
              <a:t/>
            </a:r>
          </a:p>
          <a:p>
            <a:r>
              <a:rPr sz="1100">
                <a:latin typeface="DM Sans"/>
              </a:rPr>
              <a:t>WHAT NOT TO SAY:</a:t>
            </a:r>
          </a:p>
          <a:p>
            <a:r>
              <a:rPr sz="1100">
                <a:latin typeface="DM Sans"/>
              </a:rPr>
              <a:t>Do not suggest value is a trap. It is not. It is simply not the same signal as formation.</a:t>
            </a:r>
          </a:p>
          <a:p>
            <a:r>
              <a:rPr sz="1100">
                <a:latin typeface="DM Sans"/>
              </a:rPr>
              <a:t/>
            </a:r>
          </a:p>
          <a:p>
            <a:r>
              <a:rPr sz="1100">
                <a:latin typeface="DM Sans"/>
              </a:rPr>
              <a:t>LIKELY MISUNDERSTANDING:</a:t>
            </a:r>
          </a:p>
          <a:p>
            <a:r>
              <a:rPr sz="1100">
                <a:latin typeface="DM Sans"/>
              </a:rPr>
              <a:t>Some will say, "But I am being trusted with more." Trust is real. Trust is not the same as being stretched into new capability.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DM Sans"/>
              </a:rPr>
              <a:t>WHAT TO SAY:</a:t>
            </a:r>
          </a:p>
          <a:p>
            <a:r>
              <a:rPr sz="1100">
                <a:latin typeface="DM Sans"/>
              </a:rPr>
              <a:t>Promotion is one place this misreading lives. The role becomes larger. The person becomes more central. The forming edge, quietly, can narrow. This is not a rule. It is a pattern worth noticing.</a:t>
            </a:r>
          </a:p>
          <a:p>
            <a:r>
              <a:rPr sz="1100">
                <a:latin typeface="DM Sans"/>
              </a:rPr>
              <a:t/>
            </a:r>
          </a:p>
          <a:p>
            <a:r>
              <a:rPr sz="1100">
                <a:latin typeface="DM Sans"/>
              </a:rPr>
              <a:t>WHAT NOT TO SAY:</a:t>
            </a:r>
          </a:p>
          <a:p>
            <a:r>
              <a:rPr sz="1100">
                <a:latin typeface="DM Sans"/>
              </a:rPr>
              <a:t>Do not tell people to refuse promotions. Do not romanticize the individual contributor path.</a:t>
            </a:r>
          </a:p>
          <a:p>
            <a:r>
              <a:rPr sz="1100">
                <a:latin typeface="DM Sans"/>
              </a:rPr>
              <a:t/>
            </a:r>
          </a:p>
          <a:p>
            <a:r>
              <a:rPr sz="1100">
                <a:latin typeface="DM Sans"/>
              </a:rPr>
              <a:t>BOUNDARY:</a:t>
            </a:r>
          </a:p>
          <a:p>
            <a:r>
              <a:rPr sz="1100">
                <a:latin typeface="DM Sans"/>
              </a:rPr>
              <a:t>This is application, not diagnosis. Do not tell anyone their promotion was a mistake.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DM Sans"/>
              </a:rPr>
              <a:t>WHAT TO SAY:</a:t>
            </a:r>
          </a:p>
          <a:p>
            <a:r>
              <a:rPr sz="1100">
                <a:latin typeface="DM Sans"/>
              </a:rPr>
              <a:t>Low Optionality is a reading about travel. It is not a reading about worth. Capable people often collapse these. When capable people collapse the reading into a verdict, they may make decisions based on an incomplete understanding of what their current position has actually formed.</a:t>
            </a:r>
          </a:p>
          <a:p>
            <a:r>
              <a:rPr sz="1100">
                <a:latin typeface="DM Sans"/>
              </a:rPr>
              <a:t/>
            </a:r>
          </a:p>
          <a:p>
            <a:r>
              <a:rPr sz="1100">
                <a:latin typeface="DM Sans"/>
              </a:rPr>
              <a:t>WHAT NOT TO SAY:</a:t>
            </a:r>
          </a:p>
          <a:p>
            <a:r>
              <a:rPr sz="1100">
                <a:latin typeface="DM Sans"/>
              </a:rPr>
              <a:t>Do not reassure. Do not say, "Of course you are capable." That is not the correction. The correction is that low Optionality has several causes, and it needs to be read, not assumed.</a:t>
            </a:r>
          </a:p>
          <a:p>
            <a:r>
              <a:rPr sz="1100">
                <a:latin typeface="DM Sans"/>
              </a:rPr>
              <a:t/>
            </a:r>
          </a:p>
          <a:p>
            <a:r>
              <a:rPr sz="1100">
                <a:latin typeface="DM Sans"/>
              </a:rPr>
              <a:t>LIKELY MISUNDERSTANDING:</a:t>
            </a:r>
          </a:p>
          <a:p>
            <a:r>
              <a:rPr sz="1100">
                <a:latin typeface="DM Sans"/>
              </a:rPr>
              <a:t>Some will hear this as "your capability is fine, do not worry." That is not the message. The message is: the reading is separate from the verdict.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DM Sans"/>
              </a:rPr>
              <a:t>WHAT TO SAY:</a:t>
            </a:r>
          </a:p>
          <a:p>
            <a:r>
              <a:rPr sz="1100">
                <a:latin typeface="DM Sans"/>
              </a:rPr>
              <a:t>This is short on purpose. The AI point is not about tools. It is about which parts of your capability now carry more weight. Judgment. Learning velocity. Capability that travels.</a:t>
            </a:r>
          </a:p>
          <a:p>
            <a:r>
              <a:rPr sz="1100">
                <a:latin typeface="DM Sans"/>
              </a:rPr>
              <a:t/>
            </a:r>
          </a:p>
          <a:p>
            <a:r>
              <a:rPr sz="1100">
                <a:latin typeface="DM Sans"/>
              </a:rPr>
              <a:t>WHAT NOT TO SAY:</a:t>
            </a:r>
          </a:p>
          <a:p>
            <a:r>
              <a:rPr sz="1100">
                <a:latin typeface="DM Sans"/>
              </a:rPr>
              <a:t>No tool names. No prompt instruction. No predictions about which jobs disappear. That is not this session.</a:t>
            </a:r>
          </a:p>
          <a:p>
            <a:r>
              <a:rPr sz="1100">
                <a:latin typeface="DM Sans"/>
              </a:rPr>
              <a:t/>
            </a:r>
          </a:p>
          <a:p>
            <a:r>
              <a:rPr sz="1100">
                <a:latin typeface="DM Sans"/>
              </a:rPr>
              <a:t>BOUNDARY:</a:t>
            </a:r>
          </a:p>
          <a:p>
            <a:r>
              <a:rPr sz="1100">
                <a:latin typeface="DM Sans"/>
              </a:rPr>
              <a:t>Do not imply layoff prediction. Do not name industries. Keep this at the level of principle.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DM Sans"/>
              </a:rPr>
              <a:t>WHAT TO SAY:</a:t>
            </a:r>
          </a:p>
          <a:p>
            <a:r>
              <a:rPr sz="1100">
                <a:latin typeface="DM Sans"/>
              </a:rPr>
              <a:t>Three questions. Four minutes. No one is scoring you. No one will call on you. Write what surfaces. If nothing surfaces, notice that too.</a:t>
            </a:r>
          </a:p>
          <a:p>
            <a:r>
              <a:rPr sz="1100">
                <a:latin typeface="DM Sans"/>
              </a:rPr>
              <a:t/>
            </a:r>
          </a:p>
          <a:p>
            <a:r>
              <a:rPr sz="1100">
                <a:latin typeface="DM Sans"/>
              </a:rPr>
              <a:t>WHAT NOT TO SAY:</a:t>
            </a:r>
          </a:p>
          <a:p>
            <a:r>
              <a:rPr sz="1100">
                <a:latin typeface="DM Sans"/>
              </a:rPr>
              <a:t>Do not paraphrase the questions during the pause. Do not narrate. Do not fill the silence with encouragement.</a:t>
            </a:r>
          </a:p>
          <a:p>
            <a:r>
              <a:rPr sz="1100">
                <a:latin typeface="DM Sans"/>
              </a:rPr>
              <a:t/>
            </a:r>
          </a:p>
          <a:p>
            <a:r>
              <a:rPr sz="1100">
                <a:latin typeface="DM Sans"/>
              </a:rPr>
              <a:t>TIMING:</a:t>
            </a:r>
          </a:p>
          <a:p>
            <a:r>
              <a:rPr sz="1100">
                <a:latin typeface="DM Sans"/>
              </a:rPr>
              <a:t>Four minutes is the floor. Do not shorten it. If people finish early, let them sit with what came up.</a:t>
            </a:r>
          </a:p>
          <a:p>
            <a:r>
              <a:rPr sz="1100">
                <a:latin typeface="DM Sans"/>
              </a:rPr>
              <a:t/>
            </a:r>
          </a:p>
          <a:p>
            <a:r>
              <a:rPr sz="1100">
                <a:latin typeface="DM Sans"/>
              </a:rPr>
              <a:t>HOW TO PRESERVE THE BOUNDARY:</a:t>
            </a:r>
          </a:p>
          <a:p>
            <a:r>
              <a:rPr sz="1100">
                <a:latin typeface="DM Sans"/>
              </a:rPr>
              <a:t>Do not offer to review anyone's answers in chat or in Q&amp;A. If asked, redirect: "The full Position Read is where that reading gets done properly."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DM Sans"/>
              </a:rPr>
              <a:t>WHAT TO SAY:</a:t>
            </a:r>
          </a:p>
          <a:p>
            <a:r>
              <a:rPr sz="1100">
                <a:latin typeface="DM Sans"/>
              </a:rPr>
              <a:t>This is factual, not persuasive. Today opens the question. The full Position Read reads the answer. That is the difference.</a:t>
            </a:r>
          </a:p>
          <a:p>
            <a:r>
              <a:rPr sz="1100">
                <a:latin typeface="DM Sans"/>
              </a:rPr>
              <a:t/>
            </a:r>
          </a:p>
          <a:p>
            <a:r>
              <a:rPr sz="1100">
                <a:latin typeface="DM Sans"/>
              </a:rPr>
              <a:t>WHAT NOT TO SAY:</a:t>
            </a:r>
          </a:p>
          <a:p>
            <a:r>
              <a:rPr sz="1100">
                <a:latin typeface="DM Sans"/>
              </a:rPr>
              <a:t>Do not oversell. Do not add urgency. Do not compare prices to other workshops. Let the list stand.</a:t>
            </a:r>
          </a:p>
          <a:p>
            <a:r>
              <a:rPr sz="1100">
                <a:latin typeface="DM Sans"/>
              </a:rPr>
              <a:t/>
            </a:r>
          </a:p>
          <a:p>
            <a:r>
              <a:rPr sz="1100">
                <a:latin typeface="DM Sans"/>
              </a:rPr>
              <a:t>WHERE TO POINT TO THE PAID WORKSHOP WITHOUT SOUNDING SALESY:</a:t>
            </a:r>
          </a:p>
          <a:p>
            <a:r>
              <a:rPr sz="1100">
                <a:latin typeface="DM Sans"/>
              </a:rPr>
              <a:t>"If the reflection you just did surfaced something you want to examine properly, the full Position Read is where that happens."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DM Sans"/>
              </a:rPr>
              <a:t>WHAT TO SAY:</a:t>
            </a:r>
          </a:p>
          <a:p>
            <a:r>
              <a:rPr sz="1100">
                <a:latin typeface="DM Sans"/>
              </a:rPr>
              <a:t>If today helped you notice a pattern, the full Position Read is where that pattern gets examined with evidence. Registration is open. Come prepared to examine one consequential question about your current work.</a:t>
            </a:r>
          </a:p>
          <a:p>
            <a:r>
              <a:rPr sz="1100">
                <a:latin typeface="DM Sans"/>
              </a:rPr>
              <a:t/>
            </a:r>
          </a:p>
          <a:p>
            <a:r>
              <a:rPr sz="1100">
                <a:latin typeface="DM Sans"/>
              </a:rPr>
              <a:t>WHAT NOT TO SAY:</a:t>
            </a:r>
          </a:p>
          <a:p>
            <a:r>
              <a:rPr sz="1100">
                <a:latin typeface="DM Sans"/>
              </a:rPr>
              <a:t>Do not run a hard close. Do not add scarcity language. Do not ask people to type YES in the chat.</a:t>
            </a:r>
          </a:p>
          <a:p>
            <a:r>
              <a:rPr sz="1100">
                <a:latin typeface="DM Sans"/>
              </a:rPr>
              <a:t/>
            </a:r>
          </a:p>
          <a:p>
            <a:r>
              <a:rPr sz="1100">
                <a:latin typeface="DM Sans"/>
              </a:rPr>
              <a:t>REPLACE THE PLACEHOLDER:</a:t>
            </a:r>
          </a:p>
          <a:p>
            <a:r>
              <a:rPr sz="1100">
                <a:latin typeface="DM Sans"/>
              </a:rPr>
              <a:t>Swap the bracketed CTA with the actual registration URL before delivery. Keep the button style; keep it modest.</a:t>
            </a:r>
          </a:p>
          <a:p>
            <a:r>
              <a:rPr sz="1100">
                <a:latin typeface="DM Sans"/>
              </a:rPr>
              <a:t/>
            </a:r>
          </a:p>
          <a:p>
            <a:r>
              <a:rPr sz="1100">
                <a:latin typeface="DM Sans"/>
              </a:rPr>
              <a:t>Q&amp;A GUIDANCE:</a:t>
            </a:r>
          </a:p>
          <a:p>
            <a:r>
              <a:rPr sz="1100">
                <a:latin typeface="DM Sans"/>
              </a:rPr>
              <a:t>If Q&amp;A follows, keep answers short. If someone asks for a personal reading, redirect to the paid workshop calmly and without apology.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2347"/>
        </a:solidFill>
        <a:effectLst/>
      </p:bgPr>
    </p:bg>
    <p:spTree>
      <p:nvGrpSpPr>
        <p:cNvPr id="1" name=""/>
        <p:cNvGrpSpPr/>
        <p:nvPr/>
      </p:nvGrpSpPr>
      <p:grpSpPr/>
      <p:sp>
        <p:nvSpPr>
          <p:cNvPr id="2" name="Oval 1"/>
          <p:cNvSpPr/>
          <p:nvPr/>
        </p:nvSpPr>
        <p:spPr>
          <a:xfrm>
            <a:off x="11384280" y="310896"/>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585448" y="310896"/>
            <a:ext cx="128016" cy="128016"/>
          </a:xfrm>
          <a:prstGeom prst="ellipse">
            <a:avLst/>
          </a:prstGeom>
          <a:solidFill>
            <a:srgbClr val="C144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384280" y="5120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585448" y="5120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554480"/>
            <a:ext cx="10874959" cy="292608"/>
          </a:xfrm>
          <a:prstGeom prst="rect">
            <a:avLst/>
          </a:prstGeom>
          <a:noFill/>
        </p:spPr>
        <p:txBody>
          <a:bodyPr wrap="square" lIns="0" rIns="0" tIns="0" bIns="0" anchor="t">
            <a:spAutoFit/>
          </a:bodyPr>
          <a:lstStyle/>
          <a:p>
            <a:pPr algn="l">
              <a:lnSpc>
                <a:spcPct val="115000"/>
              </a:lnSpc>
            </a:pPr>
            <a:r>
              <a:rPr sz="1400" b="1" i="0" spc="300">
                <a:solidFill>
                  <a:srgbClr val="C9A84C"/>
                </a:solidFill>
                <a:latin typeface="DM Sans"/>
              </a:rPr>
              <a:t>A FREE LIGHTNING LESSON</a:t>
            </a:r>
          </a:p>
        </p:txBody>
      </p:sp>
      <p:sp>
        <p:nvSpPr>
          <p:cNvPr id="7" name="TextBox 6"/>
          <p:cNvSpPr txBox="1"/>
          <p:nvPr/>
        </p:nvSpPr>
        <p:spPr>
          <a:xfrm>
            <a:off x="658368" y="1938528"/>
            <a:ext cx="10515600" cy="2194560"/>
          </a:xfrm>
          <a:prstGeom prst="rect">
            <a:avLst/>
          </a:prstGeom>
          <a:noFill/>
        </p:spPr>
        <p:txBody>
          <a:bodyPr wrap="square" lIns="0" rIns="0" tIns="0" bIns="0" anchor="t">
            <a:spAutoFit/>
          </a:bodyPr>
          <a:lstStyle/>
          <a:p>
            <a:pPr algn="l">
              <a:lnSpc>
                <a:spcPct val="102000"/>
              </a:lnSpc>
            </a:pPr>
            <a:r>
              <a:rPr sz="6400" b="0" i="0">
                <a:solidFill>
                  <a:srgbClr val="FFFFFF"/>
                </a:solidFill>
                <a:latin typeface="Cormorant Garamond"/>
              </a:rPr>
              <a:t>Is Your Work</a:t>
            </a:r>
          </a:p>
          <a:p>
            <a:pPr algn="l">
              <a:lnSpc>
                <a:spcPct val="102000"/>
              </a:lnSpc>
            </a:pPr>
            <a:r>
              <a:rPr sz="6400" b="0" i="0">
                <a:solidFill>
                  <a:srgbClr val="FFFFFF"/>
                </a:solidFill>
                <a:latin typeface="Cormorant Garamond"/>
              </a:rPr>
              <a:t>Still Building You?</a:t>
            </a:r>
          </a:p>
        </p:txBody>
      </p:sp>
      <p:sp>
        <p:nvSpPr>
          <p:cNvPr id="8" name="TextBox 7"/>
          <p:cNvSpPr txBox="1"/>
          <p:nvPr/>
        </p:nvSpPr>
        <p:spPr>
          <a:xfrm>
            <a:off x="658368" y="4297680"/>
            <a:ext cx="10874959" cy="457200"/>
          </a:xfrm>
          <a:prstGeom prst="rect">
            <a:avLst/>
          </a:prstGeom>
          <a:noFill/>
        </p:spPr>
        <p:txBody>
          <a:bodyPr wrap="square" lIns="0" rIns="0" tIns="0" bIns="0" anchor="t">
            <a:spAutoFit/>
          </a:bodyPr>
          <a:lstStyle/>
          <a:p>
            <a:pPr algn="l">
              <a:lnSpc>
                <a:spcPct val="115000"/>
              </a:lnSpc>
            </a:pPr>
            <a:r>
              <a:rPr sz="2200" b="0" i="1">
                <a:solidFill>
                  <a:srgbClr val="A9B8D0"/>
                </a:solidFill>
                <a:latin typeface="Cormorant Garamond"/>
              </a:rPr>
              <a:t>Three Ways Capable Professionals Misread Their Position</a:t>
            </a:r>
          </a:p>
        </p:txBody>
      </p:sp>
      <p:sp>
        <p:nvSpPr>
          <p:cNvPr id="9" name="TextBox 8"/>
          <p:cNvSpPr txBox="1"/>
          <p:nvPr/>
        </p:nvSpPr>
        <p:spPr>
          <a:xfrm>
            <a:off x="658368" y="5074920"/>
            <a:ext cx="10874959" cy="365760"/>
          </a:xfrm>
          <a:prstGeom prst="rect">
            <a:avLst/>
          </a:prstGeom>
          <a:noFill/>
        </p:spPr>
        <p:txBody>
          <a:bodyPr wrap="square" lIns="0" rIns="0" tIns="0" bIns="0" anchor="t">
            <a:spAutoFit/>
          </a:bodyPr>
          <a:lstStyle/>
          <a:p>
            <a:pPr algn="l">
              <a:lnSpc>
                <a:spcPct val="115000"/>
              </a:lnSpc>
            </a:pPr>
            <a:r>
              <a:rPr sz="1300" b="0" i="0">
                <a:solidFill>
                  <a:srgbClr val="A9B8D0"/>
                </a:solidFill>
                <a:latin typeface="DM Sans"/>
              </a:rPr>
              <a:t>A free preview of the Capability Position Read.</a:t>
            </a:r>
          </a:p>
        </p:txBody>
      </p:sp>
      <p:cxnSp>
        <p:nvCxnSpPr>
          <p:cNvPr id="10" name="Connector 9"/>
          <p:cNvCxnSpPr/>
          <p:nvPr/>
        </p:nvCxnSpPr>
        <p:spPr>
          <a:xfrm>
            <a:off x="658368" y="5577840"/>
            <a:ext cx="2743200" cy="0"/>
          </a:xfrm>
          <a:prstGeom prst="line">
            <a:avLst/>
          </a:prstGeom>
          <a:ln w="12700">
            <a:solidFill>
              <a:srgbClr val="C9A84C"/>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58368" y="5715000"/>
            <a:ext cx="10874959" cy="292608"/>
          </a:xfrm>
          <a:prstGeom prst="rect">
            <a:avLst/>
          </a:prstGeom>
          <a:noFill/>
        </p:spPr>
        <p:txBody>
          <a:bodyPr wrap="square" lIns="0" rIns="0" tIns="0" bIns="0" anchor="t">
            <a:spAutoFit/>
          </a:bodyPr>
          <a:lstStyle/>
          <a:p>
            <a:pPr algn="l">
              <a:lnSpc>
                <a:spcPct val="115000"/>
              </a:lnSpc>
            </a:pPr>
            <a:r>
              <a:rPr sz="1400" b="1" i="0">
                <a:solidFill>
                  <a:srgbClr val="FFFFFF"/>
                </a:solidFill>
                <a:latin typeface="DM Sans"/>
              </a:rPr>
              <a:t>Temidayo Afonja</a:t>
            </a:r>
          </a:p>
        </p:txBody>
      </p:sp>
      <p:sp>
        <p:nvSpPr>
          <p:cNvPr id="12" name="TextBox 11"/>
          <p:cNvSpPr txBox="1"/>
          <p:nvPr/>
        </p:nvSpPr>
        <p:spPr>
          <a:xfrm>
            <a:off x="658368" y="5989320"/>
            <a:ext cx="10874959" cy="292608"/>
          </a:xfrm>
          <a:prstGeom prst="rect">
            <a:avLst/>
          </a:prstGeom>
          <a:noFill/>
        </p:spPr>
        <p:txBody>
          <a:bodyPr wrap="square" lIns="0" rIns="0" tIns="0" bIns="0" anchor="t">
            <a:spAutoFit/>
          </a:bodyPr>
          <a:lstStyle/>
          <a:p>
            <a:pPr algn="l">
              <a:lnSpc>
                <a:spcPct val="115000"/>
              </a:lnSpc>
            </a:pPr>
            <a:r>
              <a:rPr sz="1200" b="0" i="0">
                <a:solidFill>
                  <a:srgbClr val="A9B8D0"/>
                </a:solidFill>
                <a:latin typeface="DM Sans"/>
              </a:rPr>
              <a:t>Founder, The Density Group. Author, The Capability Audit.</a:t>
            </a:r>
          </a:p>
        </p:txBody>
      </p:sp>
      <p:sp>
        <p:nvSpPr>
          <p:cNvPr id="13" name="TextBox 12"/>
          <p:cNvSpPr txBox="1"/>
          <p:nvPr/>
        </p:nvSpPr>
        <p:spPr>
          <a:xfrm>
            <a:off x="658368" y="6355080"/>
            <a:ext cx="8229600" cy="274320"/>
          </a:xfrm>
          <a:prstGeom prst="rect">
            <a:avLst/>
          </a:prstGeom>
          <a:noFill/>
        </p:spPr>
        <p:txBody>
          <a:bodyPr wrap="square" lIns="0" rIns="0" tIns="0" bIns="0" anchor="t">
            <a:spAutoFit/>
          </a:bodyPr>
          <a:lstStyle/>
          <a:p>
            <a:pPr algn="l">
              <a:lnSpc>
                <a:spcPct val="115000"/>
              </a:lnSpc>
            </a:pPr>
            <a:r>
              <a:rPr sz="800" b="0" i="0" spc="200">
                <a:solidFill>
                  <a:srgbClr val="A9B8D0"/>
                </a:solidFill>
                <a:latin typeface="DM Sans"/>
              </a:rPr>
              <a:t>TEMIDAYO AFONJA   |   TEMIDAYOAFONJA.COM</a:t>
            </a:r>
          </a:p>
        </p:txBody>
      </p:sp>
      <p:sp>
        <p:nvSpPr>
          <p:cNvPr id="14" name="TextBox 13"/>
          <p:cNvSpPr txBox="1"/>
          <p:nvPr/>
        </p:nvSpPr>
        <p:spPr>
          <a:xfrm>
            <a:off x="10616184" y="6355080"/>
            <a:ext cx="914400" cy="274320"/>
          </a:xfrm>
          <a:prstGeom prst="rect">
            <a:avLst/>
          </a:prstGeom>
          <a:noFill/>
        </p:spPr>
        <p:txBody>
          <a:bodyPr wrap="square" lIns="0" rIns="0" tIns="0" bIns="0" anchor="t">
            <a:spAutoFit/>
          </a:bodyPr>
          <a:lstStyle/>
          <a:p>
            <a:pPr algn="r">
              <a:lnSpc>
                <a:spcPct val="115000"/>
              </a:lnSpc>
            </a:pPr>
            <a:r>
              <a:rPr sz="800" b="0" i="0">
                <a:solidFill>
                  <a:srgbClr val="A9B8D0"/>
                </a:solidFill>
                <a:latin typeface="DM Sans"/>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2" name="Oval 1"/>
          <p:cNvSpPr/>
          <p:nvPr/>
        </p:nvSpPr>
        <p:spPr>
          <a:xfrm>
            <a:off x="11384280" y="310896"/>
            <a:ext cx="128016" cy="128016"/>
          </a:xfrm>
          <a:prstGeom prst="ellipse">
            <a:avLst/>
          </a:prstGeom>
          <a:solidFill>
            <a:srgbClr val="0F23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585448" y="310896"/>
            <a:ext cx="128016" cy="128016"/>
          </a:xfrm>
          <a:prstGeom prst="ellipse">
            <a:avLst/>
          </a:prstGeom>
          <a:solidFill>
            <a:srgbClr val="C144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384280" y="512064"/>
            <a:ext cx="128016" cy="128016"/>
          </a:xfrm>
          <a:prstGeom prst="ellipse">
            <a:avLst/>
          </a:prstGeom>
          <a:solidFill>
            <a:srgbClr val="0F23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585448" y="512064"/>
            <a:ext cx="128016" cy="128016"/>
          </a:xfrm>
          <a:prstGeom prst="ellipse">
            <a:avLst/>
          </a:prstGeom>
          <a:solidFill>
            <a:srgbClr val="0F23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40080"/>
            <a:ext cx="10874959" cy="274320"/>
          </a:xfrm>
          <a:prstGeom prst="rect">
            <a:avLst/>
          </a:prstGeom>
          <a:noFill/>
        </p:spPr>
        <p:txBody>
          <a:bodyPr wrap="square" lIns="0" rIns="0" tIns="0" bIns="0" anchor="t">
            <a:spAutoFit/>
          </a:bodyPr>
          <a:lstStyle/>
          <a:p>
            <a:pPr algn="l">
              <a:lnSpc>
                <a:spcPct val="115000"/>
              </a:lnSpc>
            </a:pPr>
            <a:r>
              <a:rPr sz="1100" b="1" i="0" spc="300">
                <a:solidFill>
                  <a:srgbClr val="C9A84C"/>
                </a:solidFill>
                <a:latin typeface="DM Sans"/>
              </a:rPr>
              <a:t>BOUNDARY</a:t>
            </a:r>
          </a:p>
        </p:txBody>
      </p:sp>
      <p:cxnSp>
        <p:nvCxnSpPr>
          <p:cNvPr id="7" name="Connector 6"/>
          <p:cNvCxnSpPr/>
          <p:nvPr/>
        </p:nvCxnSpPr>
        <p:spPr>
          <a:xfrm>
            <a:off x="658368" y="1005840"/>
            <a:ext cx="10874959" cy="0"/>
          </a:xfrm>
          <a:prstGeom prst="line">
            <a:avLst/>
          </a:prstGeom>
          <a:ln w="9525">
            <a:solidFill>
              <a:srgbClr val="E8DFC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58368" y="1417320"/>
            <a:ext cx="10874959" cy="1097280"/>
          </a:xfrm>
          <a:prstGeom prst="rect">
            <a:avLst/>
          </a:prstGeom>
          <a:noFill/>
        </p:spPr>
        <p:txBody>
          <a:bodyPr wrap="square" lIns="0" rIns="0" tIns="0" bIns="0" anchor="t">
            <a:spAutoFit/>
          </a:bodyPr>
          <a:lstStyle/>
          <a:p>
            <a:pPr algn="l">
              <a:lnSpc>
                <a:spcPct val="105000"/>
              </a:lnSpc>
            </a:pPr>
            <a:r>
              <a:rPr sz="4200" b="0" i="0">
                <a:solidFill>
                  <a:srgbClr val="0F2347"/>
                </a:solidFill>
                <a:latin typeface="Cormorant Garamond"/>
              </a:rPr>
              <a:t>What this free lesson will not do.</a:t>
            </a:r>
          </a:p>
        </p:txBody>
      </p:sp>
      <p:cxnSp>
        <p:nvCxnSpPr>
          <p:cNvPr id="9" name="Connector 8"/>
          <p:cNvCxnSpPr/>
          <p:nvPr/>
        </p:nvCxnSpPr>
        <p:spPr>
          <a:xfrm>
            <a:off x="658368" y="2697480"/>
            <a:ext cx="2743200" cy="0"/>
          </a:xfrm>
          <a:prstGeom prst="line">
            <a:avLst/>
          </a:prstGeom>
          <a:ln w="12700">
            <a:solidFill>
              <a:srgbClr val="C9A84C"/>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58368" y="2926080"/>
            <a:ext cx="10881360" cy="548640"/>
          </a:xfrm>
          <a:prstGeom prst="rect">
            <a:avLst/>
          </a:prstGeom>
          <a:noFill/>
        </p:spPr>
        <p:txBody>
          <a:bodyPr wrap="square" lIns="0" rIns="0" tIns="0" bIns="0" anchor="t">
            <a:spAutoFit/>
          </a:bodyPr>
          <a:lstStyle/>
          <a:p>
            <a:pPr algn="l">
              <a:lnSpc>
                <a:spcPct val="140000"/>
              </a:lnSpc>
            </a:pPr>
            <a:r>
              <a:rPr sz="2200" b="0" i="0">
                <a:solidFill>
                  <a:srgbClr val="0F2347"/>
                </a:solidFill>
                <a:latin typeface="DM Sans"/>
              </a:rPr>
              <a:t>This session will not tell you whether to stay or leave.</a:t>
            </a:r>
          </a:p>
        </p:txBody>
      </p:sp>
      <p:sp>
        <p:nvSpPr>
          <p:cNvPr id="11" name="TextBox 10"/>
          <p:cNvSpPr txBox="1"/>
          <p:nvPr/>
        </p:nvSpPr>
        <p:spPr>
          <a:xfrm>
            <a:off x="658368" y="3474720"/>
            <a:ext cx="10881360" cy="548640"/>
          </a:xfrm>
          <a:prstGeom prst="rect">
            <a:avLst/>
          </a:prstGeom>
          <a:noFill/>
        </p:spPr>
        <p:txBody>
          <a:bodyPr wrap="square" lIns="0" rIns="0" tIns="0" bIns="0" anchor="t">
            <a:spAutoFit/>
          </a:bodyPr>
          <a:lstStyle/>
          <a:p>
            <a:pPr algn="l">
              <a:lnSpc>
                <a:spcPct val="140000"/>
              </a:lnSpc>
            </a:pPr>
            <a:r>
              <a:rPr sz="2200" b="0" i="0">
                <a:solidFill>
                  <a:srgbClr val="0F2347"/>
                </a:solidFill>
                <a:latin typeface="DM Sans"/>
              </a:rPr>
              <a:t>It will not place you into a Career State.</a:t>
            </a:r>
          </a:p>
        </p:txBody>
      </p:sp>
      <p:sp>
        <p:nvSpPr>
          <p:cNvPr id="12" name="TextBox 11"/>
          <p:cNvSpPr txBox="1"/>
          <p:nvPr/>
        </p:nvSpPr>
        <p:spPr>
          <a:xfrm>
            <a:off x="658368" y="4023360"/>
            <a:ext cx="10881360" cy="548640"/>
          </a:xfrm>
          <a:prstGeom prst="rect">
            <a:avLst/>
          </a:prstGeom>
          <a:noFill/>
        </p:spPr>
        <p:txBody>
          <a:bodyPr wrap="square" lIns="0" rIns="0" tIns="0" bIns="0" anchor="t">
            <a:spAutoFit/>
          </a:bodyPr>
          <a:lstStyle/>
          <a:p>
            <a:pPr algn="l">
              <a:lnSpc>
                <a:spcPct val="140000"/>
              </a:lnSpc>
            </a:pPr>
            <a:r>
              <a:rPr sz="2200" b="0" i="0">
                <a:solidFill>
                  <a:srgbClr val="0F2347"/>
                </a:solidFill>
                <a:latin typeface="DM Sans"/>
              </a:rPr>
              <a:t>It will not give you a personalized plan.</a:t>
            </a:r>
          </a:p>
        </p:txBody>
      </p:sp>
      <p:cxnSp>
        <p:nvCxnSpPr>
          <p:cNvPr id="13" name="Connector 12"/>
          <p:cNvCxnSpPr/>
          <p:nvPr/>
        </p:nvCxnSpPr>
        <p:spPr>
          <a:xfrm>
            <a:off x="658368" y="4846320"/>
            <a:ext cx="10874959" cy="0"/>
          </a:xfrm>
          <a:prstGeom prst="line">
            <a:avLst/>
          </a:prstGeom>
          <a:ln w="9525">
            <a:solidFill>
              <a:srgbClr val="E8DFCC"/>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58368" y="5074920"/>
            <a:ext cx="10881360" cy="914400"/>
          </a:xfrm>
          <a:prstGeom prst="rect">
            <a:avLst/>
          </a:prstGeom>
          <a:noFill/>
        </p:spPr>
        <p:txBody>
          <a:bodyPr wrap="square" lIns="0" rIns="0" tIns="0" bIns="0" anchor="t">
            <a:spAutoFit/>
          </a:bodyPr>
          <a:lstStyle/>
          <a:p>
            <a:pPr algn="l">
              <a:lnSpc>
                <a:spcPct val="140000"/>
              </a:lnSpc>
            </a:pPr>
            <a:r>
              <a:rPr sz="1500" b="0" i="0">
                <a:solidFill>
                  <a:srgbClr val="4A4A4A"/>
                </a:solidFill>
                <a:latin typeface="DM Sans"/>
              </a:rPr>
              <a:t>It will help you notice three ways capable people misread their position, so you can decide, more carefully, whether to examine yours.</a:t>
            </a:r>
          </a:p>
        </p:txBody>
      </p:sp>
      <p:sp>
        <p:nvSpPr>
          <p:cNvPr id="15" name="TextBox 14"/>
          <p:cNvSpPr txBox="1"/>
          <p:nvPr/>
        </p:nvSpPr>
        <p:spPr>
          <a:xfrm>
            <a:off x="658368" y="6355080"/>
            <a:ext cx="8229600" cy="274320"/>
          </a:xfrm>
          <a:prstGeom prst="rect">
            <a:avLst/>
          </a:prstGeom>
          <a:noFill/>
        </p:spPr>
        <p:txBody>
          <a:bodyPr wrap="square" lIns="0" rIns="0" tIns="0" bIns="0" anchor="t">
            <a:spAutoFit/>
          </a:bodyPr>
          <a:lstStyle/>
          <a:p>
            <a:pPr algn="l">
              <a:lnSpc>
                <a:spcPct val="115000"/>
              </a:lnSpc>
            </a:pPr>
            <a:r>
              <a:rPr sz="800" b="0" i="0" spc="200">
                <a:solidFill>
                  <a:srgbClr val="4A4A4A"/>
                </a:solidFill>
                <a:latin typeface="DM Sans"/>
              </a:rPr>
              <a:t>TEMIDAYO AFONJA   |   TEMIDAYOAFONJA.COM</a:t>
            </a:r>
          </a:p>
        </p:txBody>
      </p:sp>
      <p:sp>
        <p:nvSpPr>
          <p:cNvPr id="16" name="TextBox 15"/>
          <p:cNvSpPr txBox="1"/>
          <p:nvPr/>
        </p:nvSpPr>
        <p:spPr>
          <a:xfrm>
            <a:off x="10616184" y="6355080"/>
            <a:ext cx="914400" cy="274320"/>
          </a:xfrm>
          <a:prstGeom prst="rect">
            <a:avLst/>
          </a:prstGeom>
          <a:noFill/>
        </p:spPr>
        <p:txBody>
          <a:bodyPr wrap="square" lIns="0" rIns="0" tIns="0" bIns="0" anchor="t">
            <a:spAutoFit/>
          </a:bodyPr>
          <a:lstStyle/>
          <a:p>
            <a:pPr algn="r">
              <a:lnSpc>
                <a:spcPct val="115000"/>
              </a:lnSpc>
            </a:pPr>
            <a:r>
              <a:rPr sz="800" b="0" i="0">
                <a:solidFill>
                  <a:srgbClr val="4A4A4A"/>
                </a:solidFill>
                <a:latin typeface="DM San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6" name="TextBox 5"/>
          <p:cNvSpPr txBox="1"/>
          <p:nvPr/>
        </p:nvSpPr>
        <p:spPr>
          <a:xfrm>
            <a:off x="658368" y="640080"/>
            <a:ext cx="10874959" cy="274320"/>
          </a:xfrm>
          <a:prstGeom prst="rect">
            <a:avLst/>
          </a:prstGeom>
          <a:noFill/>
        </p:spPr>
        <p:txBody>
          <a:bodyPr wrap="square" lIns="0" rIns="0" tIns="0" bIns="0" anchor="t">
            <a:spAutoFit/>
          </a:bodyPr>
          <a:lstStyle/>
          <a:p>
            <a:pPr algn="l">
              <a:lnSpc>
                <a:spcPct val="115000"/>
              </a:lnSpc>
            </a:pPr>
            <a:r>
              <a:rPr sz="1100" b="1" i="0" spc="300">
                <a:solidFill>
                  <a:srgbClr val="C9A84C"/>
                </a:solidFill>
                <a:latin typeface="DM Sans"/>
              </a:rPr>
              <a:t>THE QUESTION UNDERNEATH THE QUESTION</a:t>
            </a:r>
          </a:p>
        </p:txBody>
      </p:sp>
      <p:cxnSp>
        <p:nvCxnSpPr>
          <p:cNvPr id="7" name="Connector 6"/>
          <p:cNvCxnSpPr/>
          <p:nvPr/>
        </p:nvCxnSpPr>
        <p:spPr>
          <a:xfrm>
            <a:off x="658368" y="1005840"/>
            <a:ext cx="10874959" cy="0"/>
          </a:xfrm>
          <a:prstGeom prst="line">
            <a:avLst/>
          </a:prstGeom>
          <a:ln w="9525">
            <a:solidFill>
              <a:srgbClr val="E8DFC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58368" y="1417320"/>
            <a:ext cx="10874959" cy="1463040"/>
          </a:xfrm>
          <a:prstGeom prst="rect">
            <a:avLst/>
          </a:prstGeom>
          <a:noFill/>
        </p:spPr>
        <p:txBody>
          <a:bodyPr wrap="square" lIns="0" rIns="0" tIns="0" bIns="0" anchor="t">
            <a:spAutoFit/>
          </a:bodyPr>
          <a:lstStyle/>
          <a:p>
            <a:pPr algn="l">
              <a:lnSpc>
                <a:spcPct val="105000"/>
              </a:lnSpc>
            </a:pPr>
            <a:r>
              <a:rPr sz="3200" b="0" i="0">
                <a:solidFill>
                  <a:srgbClr val="0F2347"/>
                </a:solidFill>
                <a:latin typeface="Cormorant Garamond"/>
              </a:rPr>
              <a:t>You are asking one question. There is a quieter one beneath it.</a:t>
            </a:r>
          </a:p>
        </p:txBody>
      </p:sp>
      <p:sp>
        <p:nvSpPr>
          <p:cNvPr id="9" name="Rectangle 8"/>
          <p:cNvSpPr/>
          <p:nvPr/>
        </p:nvSpPr>
        <p:spPr>
          <a:xfrm>
            <a:off x="658368" y="3108960"/>
            <a:ext cx="10874959" cy="1417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3310128"/>
            <a:ext cx="10234879" cy="256032"/>
          </a:xfrm>
          <a:prstGeom prst="rect">
            <a:avLst/>
          </a:prstGeom>
          <a:noFill/>
        </p:spPr>
        <p:txBody>
          <a:bodyPr wrap="square" lIns="0" rIns="0" tIns="0" bIns="0" anchor="t">
            <a:spAutoFit/>
          </a:bodyPr>
          <a:lstStyle/>
          <a:p>
            <a:pPr algn="l">
              <a:lnSpc>
                <a:spcPct val="115000"/>
              </a:lnSpc>
            </a:pPr>
            <a:r>
              <a:rPr sz="1000" b="1" i="0" spc="300">
                <a:solidFill>
                  <a:srgbClr val="C9A84C"/>
                </a:solidFill>
                <a:latin typeface="DM Sans"/>
              </a:rPr>
              <a:t>WHAT YOU MAY BE ASKING</a:t>
            </a:r>
          </a:p>
        </p:txBody>
      </p:sp>
      <p:sp>
        <p:nvSpPr>
          <p:cNvPr id="11" name="TextBox 10"/>
          <p:cNvSpPr txBox="1"/>
          <p:nvPr/>
        </p:nvSpPr>
        <p:spPr>
          <a:xfrm>
            <a:off x="978408" y="3657600"/>
            <a:ext cx="10234879" cy="822960"/>
          </a:xfrm>
          <a:prstGeom prst="rect">
            <a:avLst/>
          </a:prstGeom>
          <a:noFill/>
        </p:spPr>
        <p:txBody>
          <a:bodyPr wrap="square" lIns="0" rIns="0" tIns="0" bIns="0" anchor="t">
            <a:spAutoFit/>
          </a:bodyPr>
          <a:lstStyle/>
          <a:p>
            <a:pPr algn="l">
              <a:lnSpc>
                <a:spcPct val="115000"/>
              </a:lnSpc>
            </a:pPr>
            <a:r>
              <a:rPr sz="2600" b="0" i="1">
                <a:solidFill>
                  <a:srgbClr val="0F2347"/>
                </a:solidFill>
                <a:latin typeface="Cormorant Garamond"/>
              </a:rPr>
              <a:t>Should I stay in this role, or should I go?</a:t>
            </a:r>
          </a:p>
        </p:txBody>
      </p:sp>
      <p:sp>
        <p:nvSpPr>
          <p:cNvPr id="12" name="Rectangle 11"/>
          <p:cNvSpPr/>
          <p:nvPr/>
        </p:nvSpPr>
        <p:spPr>
          <a:xfrm>
            <a:off x="658368" y="4800600"/>
            <a:ext cx="10874959" cy="1417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78408" y="5001768"/>
            <a:ext cx="10234879" cy="256032"/>
          </a:xfrm>
          <a:prstGeom prst="rect">
            <a:avLst/>
          </a:prstGeom>
          <a:noFill/>
        </p:spPr>
        <p:txBody>
          <a:bodyPr wrap="square" lIns="0" rIns="0" tIns="0" bIns="0" anchor="t">
            <a:spAutoFit/>
          </a:bodyPr>
          <a:lstStyle/>
          <a:p>
            <a:pPr algn="l">
              <a:lnSpc>
                <a:spcPct val="115000"/>
              </a:lnSpc>
            </a:pPr>
            <a:r>
              <a:rPr sz="1000" b="1" i="0" spc="300">
                <a:solidFill>
                  <a:srgbClr val="C9A84C"/>
                </a:solidFill>
                <a:latin typeface="DM Sans"/>
              </a:rPr>
              <a:t>WHAT YOU NEED TO READ FIRST</a:t>
            </a:r>
          </a:p>
        </p:txBody>
      </p:sp>
      <p:sp>
        <p:nvSpPr>
          <p:cNvPr id="14" name="TextBox 13"/>
          <p:cNvSpPr txBox="1"/>
          <p:nvPr/>
        </p:nvSpPr>
        <p:spPr>
          <a:xfrm>
            <a:off x="978408" y="5349240"/>
            <a:ext cx="10234879" cy="822960"/>
          </a:xfrm>
          <a:prstGeom prst="rect">
            <a:avLst/>
          </a:prstGeom>
          <a:noFill/>
        </p:spPr>
        <p:txBody>
          <a:bodyPr wrap="square" lIns="0" rIns="0" tIns="0" bIns="0" anchor="t">
            <a:spAutoFit/>
          </a:bodyPr>
          <a:lstStyle/>
          <a:p>
            <a:pPr algn="l">
              <a:lnSpc>
                <a:spcPct val="115000"/>
              </a:lnSpc>
            </a:pPr>
            <a:r>
              <a:rPr sz="2600" b="0" i="1">
                <a:solidFill>
                  <a:srgbClr val="0F2347"/>
                </a:solidFill>
                <a:latin typeface="Cormorant Garamond"/>
              </a:rPr>
              <a:t>Is this position still forming me, and does what it built travel?</a:t>
            </a:r>
          </a:p>
        </p:txBody>
      </p:sp>
      <p:sp>
        <p:nvSpPr>
          <p:cNvPr id="15" name="TextBox 14"/>
          <p:cNvSpPr txBox="1"/>
          <p:nvPr/>
        </p:nvSpPr>
        <p:spPr>
          <a:xfrm>
            <a:off x="658368" y="6355080"/>
            <a:ext cx="8229600" cy="274320"/>
          </a:xfrm>
          <a:prstGeom prst="rect">
            <a:avLst/>
          </a:prstGeom>
          <a:noFill/>
        </p:spPr>
        <p:txBody>
          <a:bodyPr wrap="square" lIns="0" rIns="0" tIns="0" bIns="0" anchor="t">
            <a:spAutoFit/>
          </a:bodyPr>
          <a:lstStyle/>
          <a:p>
            <a:pPr algn="l">
              <a:lnSpc>
                <a:spcPct val="115000"/>
              </a:lnSpc>
            </a:pPr>
            <a:r>
              <a:rPr sz="800" b="0" i="0" spc="200">
                <a:solidFill>
                  <a:srgbClr val="4A4A4A"/>
                </a:solidFill>
                <a:latin typeface="DM Sans"/>
              </a:rPr>
              <a:t>TEMIDAYO AFONJA   |   TEMIDAYOAFONJA.COM</a:t>
            </a:r>
          </a:p>
        </p:txBody>
      </p:sp>
      <p:sp>
        <p:nvSpPr>
          <p:cNvPr id="16" name="TextBox 15"/>
          <p:cNvSpPr txBox="1"/>
          <p:nvPr/>
        </p:nvSpPr>
        <p:spPr>
          <a:xfrm>
            <a:off x="10616184" y="6355080"/>
            <a:ext cx="914400" cy="274320"/>
          </a:xfrm>
          <a:prstGeom prst="rect">
            <a:avLst/>
          </a:prstGeom>
          <a:noFill/>
        </p:spPr>
        <p:txBody>
          <a:bodyPr wrap="square" lIns="0" rIns="0" tIns="0" bIns="0" anchor="t">
            <a:spAutoFit/>
          </a:bodyPr>
          <a:lstStyle/>
          <a:p>
            <a:pPr algn="r">
              <a:lnSpc>
                <a:spcPct val="115000"/>
              </a:lnSpc>
            </a:pPr>
            <a:r>
              <a:rPr sz="800" b="0" i="0">
                <a:solidFill>
                  <a:srgbClr val="4A4A4A"/>
                </a:solidFill>
                <a:latin typeface="DM San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6" name="TextBox 5"/>
          <p:cNvSpPr txBox="1"/>
          <p:nvPr/>
        </p:nvSpPr>
        <p:spPr>
          <a:xfrm>
            <a:off x="658368" y="640080"/>
            <a:ext cx="10874959" cy="274320"/>
          </a:xfrm>
          <a:prstGeom prst="rect">
            <a:avLst/>
          </a:prstGeom>
          <a:noFill/>
        </p:spPr>
        <p:txBody>
          <a:bodyPr wrap="square" lIns="0" rIns="0" tIns="0" bIns="0" anchor="t">
            <a:spAutoFit/>
          </a:bodyPr>
          <a:lstStyle/>
          <a:p>
            <a:pPr algn="l">
              <a:lnSpc>
                <a:spcPct val="115000"/>
              </a:lnSpc>
            </a:pPr>
            <a:r>
              <a:rPr sz="1100" b="1" i="0" spc="300">
                <a:solidFill>
                  <a:srgbClr val="C9A84C"/>
                </a:solidFill>
                <a:latin typeface="DM Sans"/>
              </a:rPr>
              <a:t>WHY THE STAY-OR-MOVE QUESTION IS INCOMPLETE</a:t>
            </a:r>
          </a:p>
        </p:txBody>
      </p:sp>
      <p:cxnSp>
        <p:nvCxnSpPr>
          <p:cNvPr id="7" name="Connector 6"/>
          <p:cNvCxnSpPr/>
          <p:nvPr/>
        </p:nvCxnSpPr>
        <p:spPr>
          <a:xfrm>
            <a:off x="658368" y="1005840"/>
            <a:ext cx="10874959" cy="0"/>
          </a:xfrm>
          <a:prstGeom prst="line">
            <a:avLst/>
          </a:prstGeom>
          <a:ln w="9525">
            <a:solidFill>
              <a:srgbClr val="E8DFC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58368" y="1417320"/>
            <a:ext cx="10874959" cy="1280160"/>
          </a:xfrm>
          <a:prstGeom prst="rect">
            <a:avLst/>
          </a:prstGeom>
          <a:noFill/>
        </p:spPr>
        <p:txBody>
          <a:bodyPr wrap="square" lIns="0" rIns="0" tIns="0" bIns="0" anchor="t">
            <a:spAutoFit/>
          </a:bodyPr>
          <a:lstStyle/>
          <a:p>
            <a:pPr algn="l">
              <a:lnSpc>
                <a:spcPct val="105000"/>
              </a:lnSpc>
            </a:pPr>
            <a:r>
              <a:rPr sz="3600" b="0" i="0">
                <a:solidFill>
                  <a:srgbClr val="0F2347"/>
                </a:solidFill>
                <a:latin typeface="Cormorant Garamond"/>
              </a:rPr>
              <a:t>Strong performance can coexist with flat formation.</a:t>
            </a:r>
          </a:p>
        </p:txBody>
      </p:sp>
      <p:cxnSp>
        <p:nvCxnSpPr>
          <p:cNvPr id="9" name="Connector 8"/>
          <p:cNvCxnSpPr/>
          <p:nvPr/>
        </p:nvCxnSpPr>
        <p:spPr>
          <a:xfrm>
            <a:off x="658368" y="3017520"/>
            <a:ext cx="2743200" cy="0"/>
          </a:xfrm>
          <a:prstGeom prst="line">
            <a:avLst/>
          </a:prstGeom>
          <a:ln w="12700">
            <a:solidFill>
              <a:srgbClr val="C9A84C"/>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58368" y="3246120"/>
            <a:ext cx="10881360" cy="548640"/>
          </a:xfrm>
          <a:prstGeom prst="rect">
            <a:avLst/>
          </a:prstGeom>
          <a:noFill/>
        </p:spPr>
        <p:txBody>
          <a:bodyPr wrap="square" lIns="0" rIns="0" tIns="0" bIns="0" anchor="t">
            <a:spAutoFit/>
          </a:bodyPr>
          <a:lstStyle/>
          <a:p>
            <a:pPr algn="l">
              <a:lnSpc>
                <a:spcPct val="140000"/>
              </a:lnSpc>
            </a:pPr>
            <a:r>
              <a:rPr sz="2200" b="0" i="0">
                <a:solidFill>
                  <a:srgbClr val="0F2347"/>
                </a:solidFill>
                <a:latin typeface="DM Sans"/>
              </a:rPr>
              <a:t>A role can value you and still stop building you.</a:t>
            </a:r>
          </a:p>
        </p:txBody>
      </p:sp>
      <p:sp>
        <p:nvSpPr>
          <p:cNvPr id="11" name="TextBox 10"/>
          <p:cNvSpPr txBox="1"/>
          <p:nvPr/>
        </p:nvSpPr>
        <p:spPr>
          <a:xfrm>
            <a:off x="658368" y="3840480"/>
            <a:ext cx="10881360" cy="548640"/>
          </a:xfrm>
          <a:prstGeom prst="rect">
            <a:avLst/>
          </a:prstGeom>
          <a:noFill/>
        </p:spPr>
        <p:txBody>
          <a:bodyPr wrap="square" lIns="0" rIns="0" tIns="0" bIns="0" anchor="t">
            <a:spAutoFit/>
          </a:bodyPr>
          <a:lstStyle/>
          <a:p>
            <a:pPr algn="l">
              <a:lnSpc>
                <a:spcPct val="140000"/>
              </a:lnSpc>
            </a:pPr>
            <a:r>
              <a:rPr sz="2200" b="0" i="0">
                <a:solidFill>
                  <a:srgbClr val="0F2347"/>
                </a:solidFill>
                <a:latin typeface="DM Sans"/>
              </a:rPr>
              <a:t>A team can rely on you and still narrow the range of problems you meet.</a:t>
            </a:r>
          </a:p>
        </p:txBody>
      </p:sp>
      <p:sp>
        <p:nvSpPr>
          <p:cNvPr id="12" name="TextBox 11"/>
          <p:cNvSpPr txBox="1"/>
          <p:nvPr/>
        </p:nvSpPr>
        <p:spPr>
          <a:xfrm>
            <a:off x="658368" y="4434840"/>
            <a:ext cx="10881360" cy="822960"/>
          </a:xfrm>
          <a:prstGeom prst="rect">
            <a:avLst/>
          </a:prstGeom>
          <a:noFill/>
        </p:spPr>
        <p:txBody>
          <a:bodyPr wrap="square" lIns="0" rIns="0" tIns="0" bIns="0" anchor="t">
            <a:spAutoFit/>
          </a:bodyPr>
          <a:lstStyle/>
          <a:p>
            <a:pPr algn="l">
              <a:lnSpc>
                <a:spcPct val="140000"/>
              </a:lnSpc>
            </a:pPr>
            <a:r>
              <a:rPr sz="2200" b="0" i="0">
                <a:solidFill>
                  <a:srgbClr val="0F2347"/>
                </a:solidFill>
                <a:latin typeface="DM Sans"/>
              </a:rPr>
              <a:t>A title can rise while the capability that would carry you elsewhere quietly stops moving.</a:t>
            </a:r>
          </a:p>
        </p:txBody>
      </p:sp>
      <p:sp>
        <p:nvSpPr>
          <p:cNvPr id="13" name="TextBox 12"/>
          <p:cNvSpPr txBox="1"/>
          <p:nvPr/>
        </p:nvSpPr>
        <p:spPr>
          <a:xfrm>
            <a:off x="658368" y="5532120"/>
            <a:ext cx="10881360" cy="365760"/>
          </a:xfrm>
          <a:prstGeom prst="rect">
            <a:avLst/>
          </a:prstGeom>
          <a:noFill/>
        </p:spPr>
        <p:txBody>
          <a:bodyPr wrap="square" lIns="0" rIns="0" tIns="0" bIns="0" anchor="t">
            <a:spAutoFit/>
          </a:bodyPr>
          <a:lstStyle/>
          <a:p>
            <a:pPr algn="l">
              <a:lnSpc>
                <a:spcPct val="140000"/>
              </a:lnSpc>
            </a:pPr>
            <a:r>
              <a:rPr sz="1400" b="0" i="0">
                <a:solidFill>
                  <a:srgbClr val="4A4A4A"/>
                </a:solidFill>
                <a:latin typeface="DM Sans"/>
              </a:rPr>
              <a:t>Performance is a signal. It is not the reading.</a:t>
            </a:r>
          </a:p>
        </p:txBody>
      </p:sp>
      <p:sp>
        <p:nvSpPr>
          <p:cNvPr id="14" name="TextBox 13"/>
          <p:cNvSpPr txBox="1"/>
          <p:nvPr/>
        </p:nvSpPr>
        <p:spPr>
          <a:xfrm>
            <a:off x="658368" y="6355080"/>
            <a:ext cx="8229600" cy="274320"/>
          </a:xfrm>
          <a:prstGeom prst="rect">
            <a:avLst/>
          </a:prstGeom>
          <a:noFill/>
        </p:spPr>
        <p:txBody>
          <a:bodyPr wrap="square" lIns="0" rIns="0" tIns="0" bIns="0" anchor="t">
            <a:spAutoFit/>
          </a:bodyPr>
          <a:lstStyle/>
          <a:p>
            <a:pPr algn="l">
              <a:lnSpc>
                <a:spcPct val="115000"/>
              </a:lnSpc>
            </a:pPr>
            <a:r>
              <a:rPr sz="800" b="0" i="0" spc="200">
                <a:solidFill>
                  <a:srgbClr val="4A4A4A"/>
                </a:solidFill>
                <a:latin typeface="DM Sans"/>
              </a:rPr>
              <a:t>TEMIDAYO AFONJA   |   TEMIDAYOAFONJA.COM</a:t>
            </a:r>
          </a:p>
        </p:txBody>
      </p:sp>
      <p:sp>
        <p:nvSpPr>
          <p:cNvPr id="15" name="TextBox 14"/>
          <p:cNvSpPr txBox="1"/>
          <p:nvPr/>
        </p:nvSpPr>
        <p:spPr>
          <a:xfrm>
            <a:off x="10616184" y="6355080"/>
            <a:ext cx="914400" cy="274320"/>
          </a:xfrm>
          <a:prstGeom prst="rect">
            <a:avLst/>
          </a:prstGeom>
          <a:noFill/>
        </p:spPr>
        <p:txBody>
          <a:bodyPr wrap="square" lIns="0" rIns="0" tIns="0" bIns="0" anchor="t">
            <a:spAutoFit/>
          </a:bodyPr>
          <a:lstStyle/>
          <a:p>
            <a:pPr algn="r">
              <a:lnSpc>
                <a:spcPct val="115000"/>
              </a:lnSpc>
            </a:pPr>
            <a:r>
              <a:rPr sz="800" b="0" i="0">
                <a:solidFill>
                  <a:srgbClr val="4A4A4A"/>
                </a:solidFill>
                <a:latin typeface="DM Sans"/>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2" name="Oval 1"/>
          <p:cNvSpPr/>
          <p:nvPr/>
        </p:nvSpPr>
        <p:spPr>
          <a:xfrm>
            <a:off x="11384280" y="310896"/>
            <a:ext cx="128016" cy="128016"/>
          </a:xfrm>
          <a:prstGeom prst="ellipse">
            <a:avLst/>
          </a:prstGeom>
          <a:solidFill>
            <a:srgbClr val="0F23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585448" y="310896"/>
            <a:ext cx="128016" cy="128016"/>
          </a:xfrm>
          <a:prstGeom prst="ellipse">
            <a:avLst/>
          </a:prstGeom>
          <a:solidFill>
            <a:srgbClr val="C144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384280" y="512064"/>
            <a:ext cx="128016" cy="128016"/>
          </a:xfrm>
          <a:prstGeom prst="ellipse">
            <a:avLst/>
          </a:prstGeom>
          <a:solidFill>
            <a:srgbClr val="0F23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585448" y="512064"/>
            <a:ext cx="128016" cy="128016"/>
          </a:xfrm>
          <a:prstGeom prst="ellipse">
            <a:avLst/>
          </a:prstGeom>
          <a:solidFill>
            <a:srgbClr val="0F23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40080"/>
            <a:ext cx="10874959" cy="274320"/>
          </a:xfrm>
          <a:prstGeom prst="rect">
            <a:avLst/>
          </a:prstGeom>
          <a:noFill/>
        </p:spPr>
        <p:txBody>
          <a:bodyPr wrap="square" lIns="0" rIns="0" tIns="0" bIns="0" anchor="t">
            <a:spAutoFit/>
          </a:bodyPr>
          <a:lstStyle/>
          <a:p>
            <a:pPr algn="l">
              <a:lnSpc>
                <a:spcPct val="115000"/>
              </a:lnSpc>
            </a:pPr>
            <a:r>
              <a:rPr sz="1100" b="1" i="0" spc="300">
                <a:solidFill>
                  <a:srgbClr val="C9A84C"/>
                </a:solidFill>
                <a:latin typeface="DM Sans"/>
              </a:rPr>
              <a:t>TWO WORDS FOR THE READING</a:t>
            </a:r>
          </a:p>
        </p:txBody>
      </p:sp>
      <p:cxnSp>
        <p:nvCxnSpPr>
          <p:cNvPr id="7" name="Connector 6"/>
          <p:cNvCxnSpPr/>
          <p:nvPr/>
        </p:nvCxnSpPr>
        <p:spPr>
          <a:xfrm>
            <a:off x="658368" y="1005840"/>
            <a:ext cx="10874959" cy="0"/>
          </a:xfrm>
          <a:prstGeom prst="line">
            <a:avLst/>
          </a:prstGeom>
          <a:ln w="9525">
            <a:solidFill>
              <a:srgbClr val="E8DFC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58368" y="1417320"/>
            <a:ext cx="10874959" cy="914400"/>
          </a:xfrm>
          <a:prstGeom prst="rect">
            <a:avLst/>
          </a:prstGeom>
          <a:noFill/>
        </p:spPr>
        <p:txBody>
          <a:bodyPr wrap="square" lIns="0" rIns="0" tIns="0" bIns="0" anchor="t">
            <a:spAutoFit/>
          </a:bodyPr>
          <a:lstStyle/>
          <a:p>
            <a:pPr algn="l">
              <a:lnSpc>
                <a:spcPct val="105000"/>
              </a:lnSpc>
            </a:pPr>
            <a:r>
              <a:rPr sz="3200" b="0" i="0">
                <a:solidFill>
                  <a:srgbClr val="0F2347"/>
                </a:solidFill>
                <a:latin typeface="Cormorant Garamond"/>
              </a:rPr>
              <a:t>The vocabulary for reading your position.</a:t>
            </a:r>
          </a:p>
        </p:txBody>
      </p:sp>
      <p:sp>
        <p:nvSpPr>
          <p:cNvPr id="9" name="Rectangle 8"/>
          <p:cNvSpPr/>
          <p:nvPr/>
        </p:nvSpPr>
        <p:spPr>
          <a:xfrm>
            <a:off x="658368" y="3017520"/>
            <a:ext cx="5254599"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3273552"/>
            <a:ext cx="4614519" cy="274320"/>
          </a:xfrm>
          <a:prstGeom prst="rect">
            <a:avLst/>
          </a:prstGeom>
          <a:noFill/>
        </p:spPr>
        <p:txBody>
          <a:bodyPr wrap="square" lIns="0" rIns="0" tIns="0" bIns="0" anchor="t">
            <a:spAutoFit/>
          </a:bodyPr>
          <a:lstStyle/>
          <a:p>
            <a:pPr algn="l">
              <a:lnSpc>
                <a:spcPct val="115000"/>
              </a:lnSpc>
            </a:pPr>
            <a:r>
              <a:rPr sz="1100" b="1" i="0" spc="300">
                <a:solidFill>
                  <a:srgbClr val="C9A84C"/>
                </a:solidFill>
                <a:latin typeface="DM Sans"/>
              </a:rPr>
              <a:t>DENSITY</a:t>
            </a:r>
          </a:p>
        </p:txBody>
      </p:sp>
      <p:sp>
        <p:nvSpPr>
          <p:cNvPr id="11" name="TextBox 10"/>
          <p:cNvSpPr txBox="1"/>
          <p:nvPr/>
        </p:nvSpPr>
        <p:spPr>
          <a:xfrm>
            <a:off x="978408" y="3657600"/>
            <a:ext cx="4614519" cy="822960"/>
          </a:xfrm>
          <a:prstGeom prst="rect">
            <a:avLst/>
          </a:prstGeom>
          <a:noFill/>
        </p:spPr>
        <p:txBody>
          <a:bodyPr wrap="square" lIns="0" rIns="0" tIns="0" bIns="0" anchor="t">
            <a:spAutoFit/>
          </a:bodyPr>
          <a:lstStyle/>
          <a:p>
            <a:pPr algn="l">
              <a:lnSpc>
                <a:spcPct val="115000"/>
              </a:lnSpc>
            </a:pPr>
            <a:r>
              <a:rPr sz="2200" b="0" i="1">
                <a:solidFill>
                  <a:srgbClr val="0F2347"/>
                </a:solidFill>
                <a:latin typeface="Cormorant Garamond"/>
              </a:rPr>
              <a:t>Is this environment still forming deeper capability in me?</a:t>
            </a:r>
          </a:p>
        </p:txBody>
      </p:sp>
      <p:sp>
        <p:nvSpPr>
          <p:cNvPr id="12" name="TextBox 11"/>
          <p:cNvSpPr txBox="1"/>
          <p:nvPr/>
        </p:nvSpPr>
        <p:spPr>
          <a:xfrm>
            <a:off x="978408" y="4754880"/>
            <a:ext cx="4614519" cy="822960"/>
          </a:xfrm>
          <a:prstGeom prst="rect">
            <a:avLst/>
          </a:prstGeom>
          <a:noFill/>
        </p:spPr>
        <p:txBody>
          <a:bodyPr wrap="square" lIns="0" rIns="0" tIns="0" bIns="0" anchor="t">
            <a:spAutoFit/>
          </a:bodyPr>
          <a:lstStyle/>
          <a:p>
            <a:pPr algn="l">
              <a:lnSpc>
                <a:spcPct val="140000"/>
              </a:lnSpc>
            </a:pPr>
            <a:r>
              <a:rPr sz="1300" b="0" i="0">
                <a:solidFill>
                  <a:srgbClr val="4A4A4A"/>
                </a:solidFill>
                <a:latin typeface="DM Sans"/>
              </a:rPr>
              <a:t>What the last ninety days have actually built, not what they promised to build.</a:t>
            </a:r>
          </a:p>
        </p:txBody>
      </p:sp>
      <p:sp>
        <p:nvSpPr>
          <p:cNvPr id="13" name="Rectangle 12"/>
          <p:cNvSpPr/>
          <p:nvPr/>
        </p:nvSpPr>
        <p:spPr>
          <a:xfrm>
            <a:off x="6278727" y="3017520"/>
            <a:ext cx="5254599"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98767" y="3273552"/>
            <a:ext cx="4614519" cy="274320"/>
          </a:xfrm>
          <a:prstGeom prst="rect">
            <a:avLst/>
          </a:prstGeom>
          <a:noFill/>
        </p:spPr>
        <p:txBody>
          <a:bodyPr wrap="square" lIns="0" rIns="0" tIns="0" bIns="0" anchor="t">
            <a:spAutoFit/>
          </a:bodyPr>
          <a:lstStyle/>
          <a:p>
            <a:pPr algn="l">
              <a:lnSpc>
                <a:spcPct val="115000"/>
              </a:lnSpc>
            </a:pPr>
            <a:r>
              <a:rPr sz="1100" b="1" i="0" spc="300">
                <a:solidFill>
                  <a:srgbClr val="C9A84C"/>
                </a:solidFill>
                <a:latin typeface="DM Sans"/>
              </a:rPr>
              <a:t>OPTIONALITY</a:t>
            </a:r>
          </a:p>
        </p:txBody>
      </p:sp>
      <p:sp>
        <p:nvSpPr>
          <p:cNvPr id="15" name="TextBox 14"/>
          <p:cNvSpPr txBox="1"/>
          <p:nvPr/>
        </p:nvSpPr>
        <p:spPr>
          <a:xfrm>
            <a:off x="6598767" y="3657600"/>
            <a:ext cx="4614519" cy="822960"/>
          </a:xfrm>
          <a:prstGeom prst="rect">
            <a:avLst/>
          </a:prstGeom>
          <a:noFill/>
        </p:spPr>
        <p:txBody>
          <a:bodyPr wrap="square" lIns="0" rIns="0" tIns="0" bIns="0" anchor="t">
            <a:spAutoFit/>
          </a:bodyPr>
          <a:lstStyle/>
          <a:p>
            <a:pPr algn="l">
              <a:lnSpc>
                <a:spcPct val="115000"/>
              </a:lnSpc>
            </a:pPr>
            <a:r>
              <a:rPr sz="2200" b="0" i="1">
                <a:solidFill>
                  <a:srgbClr val="0F2347"/>
                </a:solidFill>
                <a:latin typeface="Cormorant Garamond"/>
              </a:rPr>
              <a:t>Does what I am building travel beyond this context?</a:t>
            </a:r>
          </a:p>
        </p:txBody>
      </p:sp>
      <p:sp>
        <p:nvSpPr>
          <p:cNvPr id="16" name="TextBox 15"/>
          <p:cNvSpPr txBox="1"/>
          <p:nvPr/>
        </p:nvSpPr>
        <p:spPr>
          <a:xfrm>
            <a:off x="6598767" y="4754880"/>
            <a:ext cx="4614519" cy="822960"/>
          </a:xfrm>
          <a:prstGeom prst="rect">
            <a:avLst/>
          </a:prstGeom>
          <a:noFill/>
        </p:spPr>
        <p:txBody>
          <a:bodyPr wrap="square" lIns="0" rIns="0" tIns="0" bIns="0" anchor="t">
            <a:spAutoFit/>
          </a:bodyPr>
          <a:lstStyle/>
          <a:p>
            <a:pPr algn="l">
              <a:lnSpc>
                <a:spcPct val="140000"/>
              </a:lnSpc>
            </a:pPr>
            <a:r>
              <a:rPr sz="1300" b="0" i="0">
                <a:solidFill>
                  <a:srgbClr val="4A4A4A"/>
                </a:solidFill>
                <a:latin typeface="DM Sans"/>
              </a:rPr>
              <a:t>Whether the capability is legible to a room that does not know your project, your team, or your title.</a:t>
            </a:r>
          </a:p>
        </p:txBody>
      </p:sp>
      <p:sp>
        <p:nvSpPr>
          <p:cNvPr id="17" name="TextBox 16"/>
          <p:cNvSpPr txBox="1"/>
          <p:nvPr/>
        </p:nvSpPr>
        <p:spPr>
          <a:xfrm>
            <a:off x="658368" y="5943600"/>
            <a:ext cx="10874959" cy="365760"/>
          </a:xfrm>
          <a:prstGeom prst="rect">
            <a:avLst/>
          </a:prstGeom>
          <a:noFill/>
        </p:spPr>
        <p:txBody>
          <a:bodyPr wrap="square" lIns="0" rIns="0" tIns="0" bIns="0" anchor="t">
            <a:spAutoFit/>
          </a:bodyPr>
          <a:lstStyle/>
          <a:p>
            <a:pPr algn="l">
              <a:lnSpc>
                <a:spcPct val="115000"/>
              </a:lnSpc>
            </a:pPr>
            <a:r>
              <a:rPr sz="1200" b="0" i="1">
                <a:solidFill>
                  <a:srgbClr val="4A4A4A"/>
                </a:solidFill>
                <a:latin typeface="DM Sans"/>
              </a:rPr>
              <a:t>Two words. High-level today. The full instrument is not part of this session.</a:t>
            </a:r>
          </a:p>
        </p:txBody>
      </p:sp>
      <p:sp>
        <p:nvSpPr>
          <p:cNvPr id="18" name="TextBox 17"/>
          <p:cNvSpPr txBox="1"/>
          <p:nvPr/>
        </p:nvSpPr>
        <p:spPr>
          <a:xfrm>
            <a:off x="658368" y="6355080"/>
            <a:ext cx="8229600" cy="274320"/>
          </a:xfrm>
          <a:prstGeom prst="rect">
            <a:avLst/>
          </a:prstGeom>
          <a:noFill/>
        </p:spPr>
        <p:txBody>
          <a:bodyPr wrap="square" lIns="0" rIns="0" tIns="0" bIns="0" anchor="t">
            <a:spAutoFit/>
          </a:bodyPr>
          <a:lstStyle/>
          <a:p>
            <a:pPr algn="l">
              <a:lnSpc>
                <a:spcPct val="115000"/>
              </a:lnSpc>
            </a:pPr>
            <a:r>
              <a:rPr sz="800" b="0" i="0" spc="200">
                <a:solidFill>
                  <a:srgbClr val="4A4A4A"/>
                </a:solidFill>
                <a:latin typeface="DM Sans"/>
              </a:rPr>
              <a:t>TEMIDAYO AFONJA   |   TEMIDAYOAFONJA.COM</a:t>
            </a:r>
          </a:p>
        </p:txBody>
      </p:sp>
      <p:sp>
        <p:nvSpPr>
          <p:cNvPr id="19" name="TextBox 18"/>
          <p:cNvSpPr txBox="1"/>
          <p:nvPr/>
        </p:nvSpPr>
        <p:spPr>
          <a:xfrm>
            <a:off x="10616184" y="6355080"/>
            <a:ext cx="914400" cy="274320"/>
          </a:xfrm>
          <a:prstGeom prst="rect">
            <a:avLst/>
          </a:prstGeom>
          <a:noFill/>
        </p:spPr>
        <p:txBody>
          <a:bodyPr wrap="square" lIns="0" rIns="0" tIns="0" bIns="0" anchor="t">
            <a:spAutoFit/>
          </a:bodyPr>
          <a:lstStyle/>
          <a:p>
            <a:pPr algn="r">
              <a:lnSpc>
                <a:spcPct val="115000"/>
              </a:lnSpc>
            </a:pPr>
            <a:r>
              <a:rPr sz="800" b="0" i="0">
                <a:solidFill>
                  <a:srgbClr val="4A4A4A"/>
                </a:solidFill>
                <a:latin typeface="DM Sans"/>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2" name="Oval 1"/>
          <p:cNvSpPr/>
          <p:nvPr/>
        </p:nvSpPr>
        <p:spPr>
          <a:xfrm>
            <a:off x="11384280" y="310896"/>
            <a:ext cx="128016" cy="128016"/>
          </a:xfrm>
          <a:prstGeom prst="ellipse">
            <a:avLst/>
          </a:prstGeom>
          <a:solidFill>
            <a:srgbClr val="0F23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585448" y="310896"/>
            <a:ext cx="128016" cy="128016"/>
          </a:xfrm>
          <a:prstGeom prst="ellipse">
            <a:avLst/>
          </a:prstGeom>
          <a:solidFill>
            <a:srgbClr val="C144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384280" y="512064"/>
            <a:ext cx="128016" cy="128016"/>
          </a:xfrm>
          <a:prstGeom prst="ellipse">
            <a:avLst/>
          </a:prstGeom>
          <a:solidFill>
            <a:srgbClr val="0F23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585448" y="512064"/>
            <a:ext cx="128016" cy="128016"/>
          </a:xfrm>
          <a:prstGeom prst="ellipse">
            <a:avLst/>
          </a:prstGeom>
          <a:solidFill>
            <a:srgbClr val="0F23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40080"/>
            <a:ext cx="10874959" cy="274320"/>
          </a:xfrm>
          <a:prstGeom prst="rect">
            <a:avLst/>
          </a:prstGeom>
          <a:noFill/>
        </p:spPr>
        <p:txBody>
          <a:bodyPr wrap="square" lIns="0" rIns="0" tIns="0" bIns="0" anchor="t">
            <a:spAutoFit/>
          </a:bodyPr>
          <a:lstStyle/>
          <a:p>
            <a:pPr algn="l">
              <a:lnSpc>
                <a:spcPct val="115000"/>
              </a:lnSpc>
            </a:pPr>
            <a:r>
              <a:rPr sz="1100" b="1" i="0" spc="300">
                <a:solidFill>
                  <a:srgbClr val="C9A84C"/>
                </a:solidFill>
                <a:latin typeface="DM Sans"/>
              </a:rPr>
              <a:t>MISREADING 1</a:t>
            </a:r>
          </a:p>
        </p:txBody>
      </p:sp>
      <p:cxnSp>
        <p:nvCxnSpPr>
          <p:cNvPr id="7" name="Connector 6"/>
          <p:cNvCxnSpPr/>
          <p:nvPr/>
        </p:nvCxnSpPr>
        <p:spPr>
          <a:xfrm>
            <a:off x="658368" y="1005840"/>
            <a:ext cx="10874959" cy="0"/>
          </a:xfrm>
          <a:prstGeom prst="line">
            <a:avLst/>
          </a:prstGeom>
          <a:ln w="9525">
            <a:solidFill>
              <a:srgbClr val="E8DFC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58368" y="1417320"/>
            <a:ext cx="10874959" cy="1005840"/>
          </a:xfrm>
          <a:prstGeom prst="rect">
            <a:avLst/>
          </a:prstGeom>
          <a:noFill/>
        </p:spPr>
        <p:txBody>
          <a:bodyPr wrap="square" lIns="0" rIns="0" tIns="0" bIns="0" anchor="t">
            <a:spAutoFit/>
          </a:bodyPr>
          <a:lstStyle/>
          <a:p>
            <a:pPr algn="l">
              <a:lnSpc>
                <a:spcPct val="105000"/>
              </a:lnSpc>
            </a:pPr>
            <a:r>
              <a:rPr sz="4400" b="0" i="0">
                <a:solidFill>
                  <a:srgbClr val="0F2347"/>
                </a:solidFill>
                <a:latin typeface="Cormorant Garamond"/>
              </a:rPr>
              <a:t>Scoring the intended life.</a:t>
            </a:r>
          </a:p>
        </p:txBody>
      </p:sp>
      <p:sp>
        <p:nvSpPr>
          <p:cNvPr id="9" name="TextBox 8"/>
          <p:cNvSpPr txBox="1"/>
          <p:nvPr/>
        </p:nvSpPr>
        <p:spPr>
          <a:xfrm>
            <a:off x="658368" y="2743200"/>
            <a:ext cx="10881360" cy="914400"/>
          </a:xfrm>
          <a:prstGeom prst="rect">
            <a:avLst/>
          </a:prstGeom>
          <a:noFill/>
        </p:spPr>
        <p:txBody>
          <a:bodyPr wrap="square" lIns="0" rIns="0" tIns="0" bIns="0" anchor="t">
            <a:spAutoFit/>
          </a:bodyPr>
          <a:lstStyle/>
          <a:p>
            <a:pPr algn="l">
              <a:lnSpc>
                <a:spcPct val="140000"/>
              </a:lnSpc>
            </a:pPr>
            <a:r>
              <a:rPr sz="1700" b="0" i="0">
                <a:solidFill>
                  <a:srgbClr val="4A4A4A"/>
                </a:solidFill>
                <a:latin typeface="DM Sans"/>
              </a:rPr>
              <a:t>Reading a plan, a promise, or a future assignment as though it has already happened.</a:t>
            </a:r>
          </a:p>
        </p:txBody>
      </p:sp>
      <p:sp>
        <p:nvSpPr>
          <p:cNvPr id="10" name="Rectangle 9"/>
          <p:cNvSpPr/>
          <p:nvPr/>
        </p:nvSpPr>
        <p:spPr>
          <a:xfrm>
            <a:off x="658368" y="3566160"/>
            <a:ext cx="10874959" cy="10972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3749040"/>
            <a:ext cx="1645920" cy="274320"/>
          </a:xfrm>
          <a:prstGeom prst="rect">
            <a:avLst/>
          </a:prstGeom>
          <a:noFill/>
        </p:spPr>
        <p:txBody>
          <a:bodyPr wrap="square" lIns="0" rIns="0" tIns="0" bIns="0" anchor="t">
            <a:spAutoFit/>
          </a:bodyPr>
          <a:lstStyle/>
          <a:p>
            <a:pPr algn="l">
              <a:lnSpc>
                <a:spcPct val="115000"/>
              </a:lnSpc>
            </a:pPr>
            <a:r>
              <a:rPr sz="1000" b="1" i="0" spc="300">
                <a:solidFill>
                  <a:srgbClr val="C9A84C"/>
                </a:solidFill>
                <a:latin typeface="DM Sans"/>
              </a:rPr>
              <a:t>EXAMPLE</a:t>
            </a:r>
          </a:p>
        </p:txBody>
      </p:sp>
      <p:sp>
        <p:nvSpPr>
          <p:cNvPr id="12" name="TextBox 11"/>
          <p:cNvSpPr txBox="1"/>
          <p:nvPr/>
        </p:nvSpPr>
        <p:spPr>
          <a:xfrm>
            <a:off x="978408" y="4041648"/>
            <a:ext cx="10234879" cy="640080"/>
          </a:xfrm>
          <a:prstGeom prst="rect">
            <a:avLst/>
          </a:prstGeom>
          <a:noFill/>
        </p:spPr>
        <p:txBody>
          <a:bodyPr wrap="square" lIns="0" rIns="0" tIns="0" bIns="0" anchor="t">
            <a:spAutoFit/>
          </a:bodyPr>
          <a:lstStyle/>
          <a:p>
            <a:pPr algn="l">
              <a:lnSpc>
                <a:spcPct val="115000"/>
              </a:lnSpc>
            </a:pPr>
            <a:r>
              <a:rPr sz="2200" b="0" i="1">
                <a:solidFill>
                  <a:srgbClr val="0F2347"/>
                </a:solidFill>
                <a:latin typeface="Cormorant Garamond"/>
              </a:rPr>
              <a:t>“My new assignment starts next quarter, so this role is stretching me.”</a:t>
            </a:r>
          </a:p>
        </p:txBody>
      </p:sp>
      <p:sp>
        <p:nvSpPr>
          <p:cNvPr id="13" name="Rectangle 12"/>
          <p:cNvSpPr/>
          <p:nvPr/>
        </p:nvSpPr>
        <p:spPr>
          <a:xfrm>
            <a:off x="658368" y="4800600"/>
            <a:ext cx="10874959" cy="11887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983480"/>
            <a:ext cx="1645920" cy="274320"/>
          </a:xfrm>
          <a:prstGeom prst="rect">
            <a:avLst/>
          </a:prstGeom>
          <a:noFill/>
        </p:spPr>
        <p:txBody>
          <a:bodyPr wrap="square" lIns="0" rIns="0" tIns="0" bIns="0" anchor="t">
            <a:spAutoFit/>
          </a:bodyPr>
          <a:lstStyle/>
          <a:p>
            <a:pPr algn="l">
              <a:lnSpc>
                <a:spcPct val="115000"/>
              </a:lnSpc>
            </a:pPr>
            <a:r>
              <a:rPr sz="1000" b="1" i="0" spc="300">
                <a:solidFill>
                  <a:srgbClr val="C1440E"/>
                </a:solidFill>
                <a:latin typeface="DM Sans"/>
              </a:rPr>
              <a:t>CORRECTION</a:t>
            </a:r>
          </a:p>
        </p:txBody>
      </p:sp>
      <p:sp>
        <p:nvSpPr>
          <p:cNvPr id="15" name="TextBox 14"/>
          <p:cNvSpPr txBox="1"/>
          <p:nvPr/>
        </p:nvSpPr>
        <p:spPr>
          <a:xfrm>
            <a:off x="978408" y="5276088"/>
            <a:ext cx="10234879" cy="640080"/>
          </a:xfrm>
          <a:prstGeom prst="rect">
            <a:avLst/>
          </a:prstGeom>
          <a:noFill/>
        </p:spPr>
        <p:txBody>
          <a:bodyPr wrap="square" lIns="0" rIns="0" tIns="0" bIns="0" anchor="t">
            <a:spAutoFit/>
          </a:bodyPr>
          <a:lstStyle/>
          <a:p>
            <a:pPr algn="l">
              <a:lnSpc>
                <a:spcPct val="135000"/>
              </a:lnSpc>
            </a:pPr>
            <a:r>
              <a:rPr sz="1600" b="0" i="0">
                <a:solidFill>
                  <a:srgbClr val="0F2347"/>
                </a:solidFill>
                <a:latin typeface="DM Sans"/>
              </a:rPr>
              <a:t>An intention is not evidence. Read the work the last ninety days actually produced.</a:t>
            </a:r>
          </a:p>
        </p:txBody>
      </p:sp>
      <p:sp>
        <p:nvSpPr>
          <p:cNvPr id="16" name="TextBox 15"/>
          <p:cNvSpPr txBox="1"/>
          <p:nvPr/>
        </p:nvSpPr>
        <p:spPr>
          <a:xfrm>
            <a:off x="658368" y="6355080"/>
            <a:ext cx="8229600" cy="274320"/>
          </a:xfrm>
          <a:prstGeom prst="rect">
            <a:avLst/>
          </a:prstGeom>
          <a:noFill/>
        </p:spPr>
        <p:txBody>
          <a:bodyPr wrap="square" lIns="0" rIns="0" tIns="0" bIns="0" anchor="t">
            <a:spAutoFit/>
          </a:bodyPr>
          <a:lstStyle/>
          <a:p>
            <a:pPr algn="l">
              <a:lnSpc>
                <a:spcPct val="115000"/>
              </a:lnSpc>
            </a:pPr>
            <a:r>
              <a:rPr sz="800" b="0" i="0" spc="200">
                <a:solidFill>
                  <a:srgbClr val="4A4A4A"/>
                </a:solidFill>
                <a:latin typeface="DM Sans"/>
              </a:rPr>
              <a:t>TEMIDAYO AFONJA   |   TEMIDAYOAFONJA.COM</a:t>
            </a:r>
          </a:p>
        </p:txBody>
      </p:sp>
      <p:sp>
        <p:nvSpPr>
          <p:cNvPr id="17" name="TextBox 16"/>
          <p:cNvSpPr txBox="1"/>
          <p:nvPr/>
        </p:nvSpPr>
        <p:spPr>
          <a:xfrm>
            <a:off x="10616184" y="6355080"/>
            <a:ext cx="914400" cy="274320"/>
          </a:xfrm>
          <a:prstGeom prst="rect">
            <a:avLst/>
          </a:prstGeom>
          <a:noFill/>
        </p:spPr>
        <p:txBody>
          <a:bodyPr wrap="square" lIns="0" rIns="0" tIns="0" bIns="0" anchor="t">
            <a:spAutoFit/>
          </a:bodyPr>
          <a:lstStyle/>
          <a:p>
            <a:pPr algn="r">
              <a:lnSpc>
                <a:spcPct val="115000"/>
              </a:lnSpc>
            </a:pPr>
            <a:r>
              <a:rPr sz="800" b="0" i="0">
                <a:solidFill>
                  <a:srgbClr val="4A4A4A"/>
                </a:solidFill>
                <a:latin typeface="DM Sans"/>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6" name="TextBox 5"/>
          <p:cNvSpPr txBox="1"/>
          <p:nvPr/>
        </p:nvSpPr>
        <p:spPr>
          <a:xfrm>
            <a:off x="658368" y="640080"/>
            <a:ext cx="10874959" cy="274320"/>
          </a:xfrm>
          <a:prstGeom prst="rect">
            <a:avLst/>
          </a:prstGeom>
          <a:noFill/>
        </p:spPr>
        <p:txBody>
          <a:bodyPr wrap="square" lIns="0" rIns="0" tIns="0" bIns="0" anchor="t">
            <a:spAutoFit/>
          </a:bodyPr>
          <a:lstStyle/>
          <a:p>
            <a:pPr algn="l">
              <a:lnSpc>
                <a:spcPct val="115000"/>
              </a:lnSpc>
            </a:pPr>
            <a:r>
              <a:rPr sz="1100" b="1" i="0" spc="300">
                <a:solidFill>
                  <a:srgbClr val="C9A84C"/>
                </a:solidFill>
                <a:latin typeface="DM Sans"/>
              </a:rPr>
              <a:t>REFLECTION PAUSE</a:t>
            </a:r>
          </a:p>
        </p:txBody>
      </p:sp>
      <p:cxnSp>
        <p:nvCxnSpPr>
          <p:cNvPr id="7" name="Connector 6"/>
          <p:cNvCxnSpPr/>
          <p:nvPr/>
        </p:nvCxnSpPr>
        <p:spPr>
          <a:xfrm>
            <a:off x="658368" y="1005840"/>
            <a:ext cx="10874959" cy="0"/>
          </a:xfrm>
          <a:prstGeom prst="line">
            <a:avLst/>
          </a:prstGeom>
          <a:ln w="9525">
            <a:solidFill>
              <a:srgbClr val="E8DFC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58368" y="1737360"/>
            <a:ext cx="10874959" cy="914400"/>
          </a:xfrm>
          <a:prstGeom prst="rect">
            <a:avLst/>
          </a:prstGeom>
          <a:noFill/>
        </p:spPr>
        <p:txBody>
          <a:bodyPr wrap="square" lIns="0" rIns="0" tIns="0" bIns="0" anchor="t">
            <a:spAutoFit/>
          </a:bodyPr>
          <a:lstStyle/>
          <a:p>
            <a:pPr algn="l">
              <a:lnSpc>
                <a:spcPct val="105000"/>
              </a:lnSpc>
            </a:pPr>
            <a:r>
              <a:rPr sz="3800" b="0" i="0">
                <a:solidFill>
                  <a:srgbClr val="0F2347"/>
                </a:solidFill>
                <a:latin typeface="Cormorant Garamond"/>
              </a:rPr>
              <a:t>Take one quiet minute.</a:t>
            </a:r>
          </a:p>
        </p:txBody>
      </p:sp>
      <p:sp>
        <p:nvSpPr>
          <p:cNvPr id="9" name="TextBox 8"/>
          <p:cNvSpPr txBox="1"/>
          <p:nvPr/>
        </p:nvSpPr>
        <p:spPr>
          <a:xfrm>
            <a:off x="658368" y="2926080"/>
            <a:ext cx="10881360" cy="365760"/>
          </a:xfrm>
          <a:prstGeom prst="rect">
            <a:avLst/>
          </a:prstGeom>
          <a:noFill/>
        </p:spPr>
        <p:txBody>
          <a:bodyPr wrap="square" lIns="0" rIns="0" tIns="0" bIns="0" anchor="t">
            <a:spAutoFit/>
          </a:bodyPr>
          <a:lstStyle/>
          <a:p>
            <a:pPr algn="l">
              <a:lnSpc>
                <a:spcPct val="140000"/>
              </a:lnSpc>
            </a:pPr>
            <a:r>
              <a:rPr sz="1400" b="0" i="0">
                <a:solidFill>
                  <a:srgbClr val="4A4A4A"/>
                </a:solidFill>
                <a:latin typeface="DM Sans"/>
              </a:rPr>
              <a:t>One prompt. No sharing. No scoring.</a:t>
            </a:r>
          </a:p>
        </p:txBody>
      </p:sp>
      <p:sp>
        <p:nvSpPr>
          <p:cNvPr id="10" name="Rectangle 9"/>
          <p:cNvSpPr/>
          <p:nvPr/>
        </p:nvSpPr>
        <p:spPr>
          <a:xfrm>
            <a:off x="658368" y="3657600"/>
            <a:ext cx="10874959" cy="1920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3931920"/>
            <a:ext cx="2286000" cy="274320"/>
          </a:xfrm>
          <a:prstGeom prst="rect">
            <a:avLst/>
          </a:prstGeom>
          <a:noFill/>
        </p:spPr>
        <p:txBody>
          <a:bodyPr wrap="square" lIns="0" rIns="0" tIns="0" bIns="0" anchor="t">
            <a:spAutoFit/>
          </a:bodyPr>
          <a:lstStyle/>
          <a:p>
            <a:pPr algn="l">
              <a:lnSpc>
                <a:spcPct val="115000"/>
              </a:lnSpc>
            </a:pPr>
            <a:r>
              <a:rPr sz="1000" b="1" i="0" spc="300">
                <a:solidFill>
                  <a:srgbClr val="C9A84C"/>
                </a:solidFill>
                <a:latin typeface="DM Sans"/>
              </a:rPr>
              <a:t>WRITE IT DOWN</a:t>
            </a:r>
          </a:p>
        </p:txBody>
      </p:sp>
      <p:sp>
        <p:nvSpPr>
          <p:cNvPr id="12" name="TextBox 11"/>
          <p:cNvSpPr txBox="1"/>
          <p:nvPr/>
        </p:nvSpPr>
        <p:spPr>
          <a:xfrm>
            <a:off x="1024128" y="4297680"/>
            <a:ext cx="10143439" cy="1280160"/>
          </a:xfrm>
          <a:prstGeom prst="rect">
            <a:avLst/>
          </a:prstGeom>
          <a:noFill/>
        </p:spPr>
        <p:txBody>
          <a:bodyPr wrap="square" lIns="0" rIns="0" tIns="0" bIns="0" anchor="t">
            <a:spAutoFit/>
          </a:bodyPr>
          <a:lstStyle/>
          <a:p>
            <a:pPr algn="l">
              <a:lnSpc>
                <a:spcPct val="120000"/>
              </a:lnSpc>
            </a:pPr>
            <a:r>
              <a:rPr sz="2800" b="0" i="1">
                <a:solidFill>
                  <a:srgbClr val="0F2347"/>
                </a:solidFill>
                <a:latin typeface="Cormorant Garamond"/>
              </a:rPr>
              <a:t>Where am I scoring a promise, plan, or future possibility as though it already happened?</a:t>
            </a:r>
          </a:p>
        </p:txBody>
      </p:sp>
      <p:sp>
        <p:nvSpPr>
          <p:cNvPr id="13" name="TextBox 12"/>
          <p:cNvSpPr txBox="1"/>
          <p:nvPr/>
        </p:nvSpPr>
        <p:spPr>
          <a:xfrm>
            <a:off x="658368" y="6355080"/>
            <a:ext cx="8229600" cy="274320"/>
          </a:xfrm>
          <a:prstGeom prst="rect">
            <a:avLst/>
          </a:prstGeom>
          <a:noFill/>
        </p:spPr>
        <p:txBody>
          <a:bodyPr wrap="square" lIns="0" rIns="0" tIns="0" bIns="0" anchor="t">
            <a:spAutoFit/>
          </a:bodyPr>
          <a:lstStyle/>
          <a:p>
            <a:pPr algn="l">
              <a:lnSpc>
                <a:spcPct val="115000"/>
              </a:lnSpc>
            </a:pPr>
            <a:r>
              <a:rPr sz="800" b="0" i="0" spc="200">
                <a:solidFill>
                  <a:srgbClr val="4A4A4A"/>
                </a:solidFill>
                <a:latin typeface="DM Sans"/>
              </a:rPr>
              <a:t>TEMIDAYO AFONJA   |   TEMIDAYOAFONJA.COM</a:t>
            </a:r>
          </a:p>
        </p:txBody>
      </p:sp>
      <p:sp>
        <p:nvSpPr>
          <p:cNvPr id="14" name="TextBox 13"/>
          <p:cNvSpPr txBox="1"/>
          <p:nvPr/>
        </p:nvSpPr>
        <p:spPr>
          <a:xfrm>
            <a:off x="10616184" y="6355080"/>
            <a:ext cx="914400" cy="274320"/>
          </a:xfrm>
          <a:prstGeom prst="rect">
            <a:avLst/>
          </a:prstGeom>
          <a:noFill/>
        </p:spPr>
        <p:txBody>
          <a:bodyPr wrap="square" lIns="0" rIns="0" tIns="0" bIns="0" anchor="t">
            <a:spAutoFit/>
          </a:bodyPr>
          <a:lstStyle/>
          <a:p>
            <a:pPr algn="r">
              <a:lnSpc>
                <a:spcPct val="115000"/>
              </a:lnSpc>
            </a:pPr>
            <a:r>
              <a:rPr sz="800" b="0" i="0">
                <a:solidFill>
                  <a:srgbClr val="4A4A4A"/>
                </a:solidFill>
                <a:latin typeface="DM Sans"/>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2" name="Oval 1"/>
          <p:cNvSpPr/>
          <p:nvPr/>
        </p:nvSpPr>
        <p:spPr>
          <a:xfrm>
            <a:off x="11384280" y="310896"/>
            <a:ext cx="128016" cy="128016"/>
          </a:xfrm>
          <a:prstGeom prst="ellipse">
            <a:avLst/>
          </a:prstGeom>
          <a:solidFill>
            <a:srgbClr val="0F23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585448" y="310896"/>
            <a:ext cx="128016" cy="128016"/>
          </a:xfrm>
          <a:prstGeom prst="ellipse">
            <a:avLst/>
          </a:prstGeom>
          <a:solidFill>
            <a:srgbClr val="C144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384280" y="512064"/>
            <a:ext cx="128016" cy="128016"/>
          </a:xfrm>
          <a:prstGeom prst="ellipse">
            <a:avLst/>
          </a:prstGeom>
          <a:solidFill>
            <a:srgbClr val="0F23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585448" y="512064"/>
            <a:ext cx="128016" cy="128016"/>
          </a:xfrm>
          <a:prstGeom prst="ellipse">
            <a:avLst/>
          </a:prstGeom>
          <a:solidFill>
            <a:srgbClr val="0F23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40080"/>
            <a:ext cx="10874959" cy="274320"/>
          </a:xfrm>
          <a:prstGeom prst="rect">
            <a:avLst/>
          </a:prstGeom>
          <a:noFill/>
        </p:spPr>
        <p:txBody>
          <a:bodyPr wrap="square" lIns="0" rIns="0" tIns="0" bIns="0" anchor="t">
            <a:spAutoFit/>
          </a:bodyPr>
          <a:lstStyle/>
          <a:p>
            <a:pPr algn="l">
              <a:lnSpc>
                <a:spcPct val="115000"/>
              </a:lnSpc>
            </a:pPr>
            <a:r>
              <a:rPr sz="1100" b="1" i="0" spc="300">
                <a:solidFill>
                  <a:srgbClr val="C9A84C"/>
                </a:solidFill>
                <a:latin typeface="DM Sans"/>
              </a:rPr>
              <a:t>MISREADING 2</a:t>
            </a:r>
          </a:p>
        </p:txBody>
      </p:sp>
      <p:cxnSp>
        <p:nvCxnSpPr>
          <p:cNvPr id="7" name="Connector 6"/>
          <p:cNvCxnSpPr/>
          <p:nvPr/>
        </p:nvCxnSpPr>
        <p:spPr>
          <a:xfrm>
            <a:off x="658368" y="1005840"/>
            <a:ext cx="10874959" cy="0"/>
          </a:xfrm>
          <a:prstGeom prst="line">
            <a:avLst/>
          </a:prstGeom>
          <a:ln w="9525">
            <a:solidFill>
              <a:srgbClr val="E8DFC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58368" y="1417320"/>
            <a:ext cx="10874959" cy="1188720"/>
          </a:xfrm>
          <a:prstGeom prst="rect">
            <a:avLst/>
          </a:prstGeom>
          <a:noFill/>
        </p:spPr>
        <p:txBody>
          <a:bodyPr wrap="square" lIns="0" rIns="0" tIns="0" bIns="0" anchor="t">
            <a:spAutoFit/>
          </a:bodyPr>
          <a:lstStyle/>
          <a:p>
            <a:pPr algn="l">
              <a:lnSpc>
                <a:spcPct val="105000"/>
              </a:lnSpc>
            </a:pPr>
            <a:r>
              <a:rPr sz="4000" b="0" i="0">
                <a:solidFill>
                  <a:srgbClr val="0F2347"/>
                </a:solidFill>
                <a:latin typeface="Cormorant Garamond"/>
              </a:rPr>
              <a:t>Confusing being valued with being formed.</a:t>
            </a:r>
          </a:p>
        </p:txBody>
      </p:sp>
      <p:sp>
        <p:nvSpPr>
          <p:cNvPr id="9" name="TextBox 8"/>
          <p:cNvSpPr txBox="1"/>
          <p:nvPr/>
        </p:nvSpPr>
        <p:spPr>
          <a:xfrm>
            <a:off x="658368" y="2834640"/>
            <a:ext cx="10881360" cy="914400"/>
          </a:xfrm>
          <a:prstGeom prst="rect">
            <a:avLst/>
          </a:prstGeom>
          <a:noFill/>
        </p:spPr>
        <p:txBody>
          <a:bodyPr wrap="square" lIns="0" rIns="0" tIns="0" bIns="0" anchor="t">
            <a:spAutoFit/>
          </a:bodyPr>
          <a:lstStyle/>
          <a:p>
            <a:pPr algn="l">
              <a:lnSpc>
                <a:spcPct val="140000"/>
              </a:lnSpc>
            </a:pPr>
            <a:r>
              <a:rPr sz="1700" b="0" i="0">
                <a:solidFill>
                  <a:srgbClr val="4A4A4A"/>
                </a:solidFill>
                <a:latin typeface="DM Sans"/>
              </a:rPr>
              <a:t>Reading dependence, visibility, or trust as evidence of ongoing formation.</a:t>
            </a:r>
          </a:p>
        </p:txBody>
      </p:sp>
      <p:sp>
        <p:nvSpPr>
          <p:cNvPr id="10" name="Rectangle 9"/>
          <p:cNvSpPr/>
          <p:nvPr/>
        </p:nvSpPr>
        <p:spPr>
          <a:xfrm>
            <a:off x="658368" y="3611880"/>
            <a:ext cx="10874959" cy="10972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3794760"/>
            <a:ext cx="1645920" cy="274320"/>
          </a:xfrm>
          <a:prstGeom prst="rect">
            <a:avLst/>
          </a:prstGeom>
          <a:noFill/>
        </p:spPr>
        <p:txBody>
          <a:bodyPr wrap="square" lIns="0" rIns="0" tIns="0" bIns="0" anchor="t">
            <a:spAutoFit/>
          </a:bodyPr>
          <a:lstStyle/>
          <a:p>
            <a:pPr algn="l">
              <a:lnSpc>
                <a:spcPct val="115000"/>
              </a:lnSpc>
            </a:pPr>
            <a:r>
              <a:rPr sz="1000" b="1" i="0" spc="300">
                <a:solidFill>
                  <a:srgbClr val="C9A84C"/>
                </a:solidFill>
                <a:latin typeface="DM Sans"/>
              </a:rPr>
              <a:t>EXAMPLE</a:t>
            </a:r>
          </a:p>
        </p:txBody>
      </p:sp>
      <p:sp>
        <p:nvSpPr>
          <p:cNvPr id="12" name="TextBox 11"/>
          <p:cNvSpPr txBox="1"/>
          <p:nvPr/>
        </p:nvSpPr>
        <p:spPr>
          <a:xfrm>
            <a:off x="978408" y="4087368"/>
            <a:ext cx="10234879" cy="640080"/>
          </a:xfrm>
          <a:prstGeom prst="rect">
            <a:avLst/>
          </a:prstGeom>
          <a:noFill/>
        </p:spPr>
        <p:txBody>
          <a:bodyPr wrap="square" lIns="0" rIns="0" tIns="0" bIns="0" anchor="t">
            <a:spAutoFit/>
          </a:bodyPr>
          <a:lstStyle/>
          <a:p>
            <a:pPr algn="l">
              <a:lnSpc>
                <a:spcPct val="115000"/>
              </a:lnSpc>
            </a:pPr>
            <a:r>
              <a:rPr sz="2200" b="0" i="1">
                <a:solidFill>
                  <a:srgbClr val="0F2347"/>
                </a:solidFill>
                <a:latin typeface="Cormorant Garamond"/>
              </a:rPr>
              <a:t>“Senior leaders ask for my opinion, so I must be growing.”</a:t>
            </a:r>
          </a:p>
        </p:txBody>
      </p:sp>
      <p:sp>
        <p:nvSpPr>
          <p:cNvPr id="13" name="Rectangle 12"/>
          <p:cNvSpPr/>
          <p:nvPr/>
        </p:nvSpPr>
        <p:spPr>
          <a:xfrm>
            <a:off x="658368" y="4846320"/>
            <a:ext cx="10874959" cy="11887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5029200"/>
            <a:ext cx="1645920" cy="274320"/>
          </a:xfrm>
          <a:prstGeom prst="rect">
            <a:avLst/>
          </a:prstGeom>
          <a:noFill/>
        </p:spPr>
        <p:txBody>
          <a:bodyPr wrap="square" lIns="0" rIns="0" tIns="0" bIns="0" anchor="t">
            <a:spAutoFit/>
          </a:bodyPr>
          <a:lstStyle/>
          <a:p>
            <a:pPr algn="l">
              <a:lnSpc>
                <a:spcPct val="115000"/>
              </a:lnSpc>
            </a:pPr>
            <a:r>
              <a:rPr sz="1000" b="1" i="0" spc="300">
                <a:solidFill>
                  <a:srgbClr val="C1440E"/>
                </a:solidFill>
                <a:latin typeface="DM Sans"/>
              </a:rPr>
              <a:t>CORRECTION</a:t>
            </a:r>
          </a:p>
        </p:txBody>
      </p:sp>
      <p:sp>
        <p:nvSpPr>
          <p:cNvPr id="15" name="TextBox 14"/>
          <p:cNvSpPr txBox="1"/>
          <p:nvPr/>
        </p:nvSpPr>
        <p:spPr>
          <a:xfrm>
            <a:off x="978408" y="5321808"/>
            <a:ext cx="10234879" cy="640080"/>
          </a:xfrm>
          <a:prstGeom prst="rect">
            <a:avLst/>
          </a:prstGeom>
          <a:noFill/>
        </p:spPr>
        <p:txBody>
          <a:bodyPr wrap="square" lIns="0" rIns="0" tIns="0" bIns="0" anchor="t">
            <a:spAutoFit/>
          </a:bodyPr>
          <a:lstStyle/>
          <a:p>
            <a:pPr algn="l">
              <a:lnSpc>
                <a:spcPct val="135000"/>
              </a:lnSpc>
            </a:pPr>
            <a:r>
              <a:rPr sz="1600" b="0" i="0">
                <a:solidFill>
                  <a:srgbClr val="0F2347"/>
                </a:solidFill>
                <a:latin typeface="DM Sans"/>
              </a:rPr>
              <a:t>Being needed and being formed are separate conditions. One can rise while the other quietly stops.</a:t>
            </a:r>
          </a:p>
        </p:txBody>
      </p:sp>
      <p:sp>
        <p:nvSpPr>
          <p:cNvPr id="16" name="TextBox 15"/>
          <p:cNvSpPr txBox="1"/>
          <p:nvPr/>
        </p:nvSpPr>
        <p:spPr>
          <a:xfrm>
            <a:off x="658368" y="6355080"/>
            <a:ext cx="8229600" cy="274320"/>
          </a:xfrm>
          <a:prstGeom prst="rect">
            <a:avLst/>
          </a:prstGeom>
          <a:noFill/>
        </p:spPr>
        <p:txBody>
          <a:bodyPr wrap="square" lIns="0" rIns="0" tIns="0" bIns="0" anchor="t">
            <a:spAutoFit/>
          </a:bodyPr>
          <a:lstStyle/>
          <a:p>
            <a:pPr algn="l">
              <a:lnSpc>
                <a:spcPct val="115000"/>
              </a:lnSpc>
            </a:pPr>
            <a:r>
              <a:rPr sz="800" b="0" i="0" spc="200">
                <a:solidFill>
                  <a:srgbClr val="4A4A4A"/>
                </a:solidFill>
                <a:latin typeface="DM Sans"/>
              </a:rPr>
              <a:t>TEMIDAYO AFONJA   |   TEMIDAYOAFONJA.COM</a:t>
            </a:r>
          </a:p>
        </p:txBody>
      </p:sp>
      <p:sp>
        <p:nvSpPr>
          <p:cNvPr id="17" name="TextBox 16"/>
          <p:cNvSpPr txBox="1"/>
          <p:nvPr/>
        </p:nvSpPr>
        <p:spPr>
          <a:xfrm>
            <a:off x="10616184" y="6355080"/>
            <a:ext cx="914400" cy="274320"/>
          </a:xfrm>
          <a:prstGeom prst="rect">
            <a:avLst/>
          </a:prstGeom>
          <a:noFill/>
        </p:spPr>
        <p:txBody>
          <a:bodyPr wrap="square" lIns="0" rIns="0" tIns="0" bIns="0" anchor="t">
            <a:spAutoFit/>
          </a:bodyPr>
          <a:lstStyle/>
          <a:p>
            <a:pPr algn="r">
              <a:lnSpc>
                <a:spcPct val="115000"/>
              </a:lnSpc>
            </a:pPr>
            <a:r>
              <a:rPr sz="800" b="0" i="0">
                <a:solidFill>
                  <a:srgbClr val="4A4A4A"/>
                </a:solidFill>
                <a:latin typeface="DM Sans"/>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6" name="TextBox 5"/>
          <p:cNvSpPr txBox="1"/>
          <p:nvPr/>
        </p:nvSpPr>
        <p:spPr>
          <a:xfrm>
            <a:off x="658368" y="640080"/>
            <a:ext cx="10874959" cy="274320"/>
          </a:xfrm>
          <a:prstGeom prst="rect">
            <a:avLst/>
          </a:prstGeom>
          <a:noFill/>
        </p:spPr>
        <p:txBody>
          <a:bodyPr wrap="square" lIns="0" rIns="0" tIns="0" bIns="0" anchor="t">
            <a:spAutoFit/>
          </a:bodyPr>
          <a:lstStyle/>
          <a:p>
            <a:pPr algn="l">
              <a:lnSpc>
                <a:spcPct val="115000"/>
              </a:lnSpc>
            </a:pPr>
            <a:r>
              <a:rPr sz="1100" b="1" i="0" spc="300">
                <a:solidFill>
                  <a:srgbClr val="C9A84C"/>
                </a:solidFill>
                <a:latin typeface="DM Sans"/>
              </a:rPr>
              <a:t>APPLICATION</a:t>
            </a:r>
          </a:p>
        </p:txBody>
      </p:sp>
      <p:cxnSp>
        <p:nvCxnSpPr>
          <p:cNvPr id="7" name="Connector 6"/>
          <p:cNvCxnSpPr/>
          <p:nvPr/>
        </p:nvCxnSpPr>
        <p:spPr>
          <a:xfrm>
            <a:off x="658368" y="1005840"/>
            <a:ext cx="10874959" cy="0"/>
          </a:xfrm>
          <a:prstGeom prst="line">
            <a:avLst/>
          </a:prstGeom>
          <a:ln w="9525">
            <a:solidFill>
              <a:srgbClr val="E8DFC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58368" y="1417320"/>
            <a:ext cx="10874959" cy="1280160"/>
          </a:xfrm>
          <a:prstGeom prst="rect">
            <a:avLst/>
          </a:prstGeom>
          <a:noFill/>
        </p:spPr>
        <p:txBody>
          <a:bodyPr wrap="square" lIns="0" rIns="0" tIns="0" bIns="0" anchor="t">
            <a:spAutoFit/>
          </a:bodyPr>
          <a:lstStyle/>
          <a:p>
            <a:pPr algn="l">
              <a:lnSpc>
                <a:spcPct val="105000"/>
              </a:lnSpc>
            </a:pPr>
            <a:r>
              <a:rPr sz="3200" b="0" i="0">
                <a:solidFill>
                  <a:srgbClr val="0F2347"/>
                </a:solidFill>
                <a:latin typeface="Cormorant Garamond"/>
              </a:rPr>
              <a:t>Why promotion can stop forming a high performer.</a:t>
            </a:r>
          </a:p>
        </p:txBody>
      </p:sp>
      <p:cxnSp>
        <p:nvCxnSpPr>
          <p:cNvPr id="9" name="Connector 8"/>
          <p:cNvCxnSpPr/>
          <p:nvPr/>
        </p:nvCxnSpPr>
        <p:spPr>
          <a:xfrm>
            <a:off x="658368" y="2926080"/>
            <a:ext cx="2743200" cy="0"/>
          </a:xfrm>
          <a:prstGeom prst="line">
            <a:avLst/>
          </a:prstGeom>
          <a:ln w="12700">
            <a:solidFill>
              <a:srgbClr val="C9A84C"/>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58368" y="3154680"/>
            <a:ext cx="10881360" cy="457200"/>
          </a:xfrm>
          <a:prstGeom prst="rect">
            <a:avLst/>
          </a:prstGeom>
          <a:noFill/>
        </p:spPr>
        <p:txBody>
          <a:bodyPr wrap="square" lIns="0" rIns="0" tIns="0" bIns="0" anchor="t">
            <a:spAutoFit/>
          </a:bodyPr>
          <a:lstStyle/>
          <a:p>
            <a:pPr algn="l">
              <a:lnSpc>
                <a:spcPct val="140000"/>
              </a:lnSpc>
            </a:pPr>
            <a:r>
              <a:rPr sz="2000" b="0" i="0">
                <a:solidFill>
                  <a:srgbClr val="0F2347"/>
                </a:solidFill>
                <a:latin typeface="DM Sans"/>
              </a:rPr>
              <a:t>A promotion can increase responsibility, visibility, and dependence</a:t>
            </a:r>
          </a:p>
        </p:txBody>
      </p:sp>
      <p:sp>
        <p:nvSpPr>
          <p:cNvPr id="11" name="TextBox 10"/>
          <p:cNvSpPr txBox="1"/>
          <p:nvPr/>
        </p:nvSpPr>
        <p:spPr>
          <a:xfrm>
            <a:off x="658368" y="3657600"/>
            <a:ext cx="10881360" cy="457200"/>
          </a:xfrm>
          <a:prstGeom prst="rect">
            <a:avLst/>
          </a:prstGeom>
          <a:noFill/>
        </p:spPr>
        <p:txBody>
          <a:bodyPr wrap="square" lIns="0" rIns="0" tIns="0" bIns="0" anchor="t">
            <a:spAutoFit/>
          </a:bodyPr>
          <a:lstStyle/>
          <a:p>
            <a:pPr algn="l">
              <a:lnSpc>
                <a:spcPct val="140000"/>
              </a:lnSpc>
            </a:pPr>
            <a:r>
              <a:rPr sz="2000" b="0" i="0">
                <a:solidFill>
                  <a:srgbClr val="0F2347"/>
                </a:solidFill>
                <a:latin typeface="DM Sans"/>
              </a:rPr>
              <a:t>while quietly reducing the range of problems that form new capability.</a:t>
            </a:r>
          </a:p>
        </p:txBody>
      </p:sp>
      <p:sp>
        <p:nvSpPr>
          <p:cNvPr id="12" name="TextBox 11"/>
          <p:cNvSpPr txBox="1"/>
          <p:nvPr/>
        </p:nvSpPr>
        <p:spPr>
          <a:xfrm>
            <a:off x="658368" y="4663440"/>
            <a:ext cx="10881360" cy="731520"/>
          </a:xfrm>
          <a:prstGeom prst="rect">
            <a:avLst/>
          </a:prstGeom>
          <a:noFill/>
        </p:spPr>
        <p:txBody>
          <a:bodyPr wrap="square" lIns="0" rIns="0" tIns="0" bIns="0" anchor="t">
            <a:spAutoFit/>
          </a:bodyPr>
          <a:lstStyle/>
          <a:p>
            <a:pPr algn="l">
              <a:lnSpc>
                <a:spcPct val="140000"/>
              </a:lnSpc>
            </a:pPr>
            <a:r>
              <a:rPr sz="1500" b="0" i="0">
                <a:solidFill>
                  <a:srgbClr val="4A4A4A"/>
                </a:solidFill>
                <a:latin typeface="DM Sans"/>
              </a:rPr>
              <a:t>The role gets larger. The person becomes more central. The forming edge may narrow.</a:t>
            </a:r>
          </a:p>
        </p:txBody>
      </p:sp>
      <p:sp>
        <p:nvSpPr>
          <p:cNvPr id="13" name="TextBox 12"/>
          <p:cNvSpPr txBox="1"/>
          <p:nvPr/>
        </p:nvSpPr>
        <p:spPr>
          <a:xfrm>
            <a:off x="658368" y="5532120"/>
            <a:ext cx="10881360" cy="365760"/>
          </a:xfrm>
          <a:prstGeom prst="rect">
            <a:avLst/>
          </a:prstGeom>
          <a:noFill/>
        </p:spPr>
        <p:txBody>
          <a:bodyPr wrap="square" lIns="0" rIns="0" tIns="0" bIns="0" anchor="t">
            <a:spAutoFit/>
          </a:bodyPr>
          <a:lstStyle/>
          <a:p>
            <a:pPr algn="l">
              <a:lnSpc>
                <a:spcPct val="140000"/>
              </a:lnSpc>
            </a:pPr>
            <a:r>
              <a:rPr sz="1200" b="0" i="1">
                <a:solidFill>
                  <a:srgbClr val="4A4A4A"/>
                </a:solidFill>
                <a:latin typeface="DM Sans"/>
              </a:rPr>
              <a:t>This is an application of Misreading 2, not a separate misreading.</a:t>
            </a:r>
          </a:p>
        </p:txBody>
      </p:sp>
      <p:sp>
        <p:nvSpPr>
          <p:cNvPr id="14" name="TextBox 13"/>
          <p:cNvSpPr txBox="1"/>
          <p:nvPr/>
        </p:nvSpPr>
        <p:spPr>
          <a:xfrm>
            <a:off x="658368" y="6355080"/>
            <a:ext cx="8229600" cy="274320"/>
          </a:xfrm>
          <a:prstGeom prst="rect">
            <a:avLst/>
          </a:prstGeom>
          <a:noFill/>
        </p:spPr>
        <p:txBody>
          <a:bodyPr wrap="square" lIns="0" rIns="0" tIns="0" bIns="0" anchor="t">
            <a:spAutoFit/>
          </a:bodyPr>
          <a:lstStyle/>
          <a:p>
            <a:pPr algn="l">
              <a:lnSpc>
                <a:spcPct val="115000"/>
              </a:lnSpc>
            </a:pPr>
            <a:r>
              <a:rPr sz="800" b="0" i="0" spc="200">
                <a:solidFill>
                  <a:srgbClr val="4A4A4A"/>
                </a:solidFill>
                <a:latin typeface="DM Sans"/>
              </a:rPr>
              <a:t>TEMIDAYO AFONJA   |   TEMIDAYOAFONJA.COM</a:t>
            </a:r>
          </a:p>
        </p:txBody>
      </p:sp>
      <p:sp>
        <p:nvSpPr>
          <p:cNvPr id="15" name="TextBox 14"/>
          <p:cNvSpPr txBox="1"/>
          <p:nvPr/>
        </p:nvSpPr>
        <p:spPr>
          <a:xfrm>
            <a:off x="10616184" y="6355080"/>
            <a:ext cx="914400" cy="274320"/>
          </a:xfrm>
          <a:prstGeom prst="rect">
            <a:avLst/>
          </a:prstGeom>
          <a:noFill/>
        </p:spPr>
        <p:txBody>
          <a:bodyPr wrap="square" lIns="0" rIns="0" tIns="0" bIns="0" anchor="t">
            <a:spAutoFit/>
          </a:bodyPr>
          <a:lstStyle/>
          <a:p>
            <a:pPr algn="r">
              <a:lnSpc>
                <a:spcPct val="115000"/>
              </a:lnSpc>
            </a:pPr>
            <a:r>
              <a:rPr sz="800" b="0" i="0">
                <a:solidFill>
                  <a:srgbClr val="4A4A4A"/>
                </a:solidFill>
                <a:latin typeface="DM Sans"/>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2" name="Oval 1"/>
          <p:cNvSpPr/>
          <p:nvPr/>
        </p:nvSpPr>
        <p:spPr>
          <a:xfrm>
            <a:off x="11384280" y="310896"/>
            <a:ext cx="128016" cy="128016"/>
          </a:xfrm>
          <a:prstGeom prst="ellipse">
            <a:avLst/>
          </a:prstGeom>
          <a:solidFill>
            <a:srgbClr val="0F23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585448" y="310896"/>
            <a:ext cx="128016" cy="128016"/>
          </a:xfrm>
          <a:prstGeom prst="ellipse">
            <a:avLst/>
          </a:prstGeom>
          <a:solidFill>
            <a:srgbClr val="C144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384280" y="512064"/>
            <a:ext cx="128016" cy="128016"/>
          </a:xfrm>
          <a:prstGeom prst="ellipse">
            <a:avLst/>
          </a:prstGeom>
          <a:solidFill>
            <a:srgbClr val="0F23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585448" y="512064"/>
            <a:ext cx="128016" cy="128016"/>
          </a:xfrm>
          <a:prstGeom prst="ellipse">
            <a:avLst/>
          </a:prstGeom>
          <a:solidFill>
            <a:srgbClr val="0F23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40080"/>
            <a:ext cx="10874959" cy="274320"/>
          </a:xfrm>
          <a:prstGeom prst="rect">
            <a:avLst/>
          </a:prstGeom>
          <a:noFill/>
        </p:spPr>
        <p:txBody>
          <a:bodyPr wrap="square" lIns="0" rIns="0" tIns="0" bIns="0" anchor="t">
            <a:spAutoFit/>
          </a:bodyPr>
          <a:lstStyle/>
          <a:p>
            <a:pPr algn="l">
              <a:lnSpc>
                <a:spcPct val="115000"/>
              </a:lnSpc>
            </a:pPr>
            <a:r>
              <a:rPr sz="1100" b="1" i="0" spc="300">
                <a:solidFill>
                  <a:srgbClr val="C9A84C"/>
                </a:solidFill>
                <a:latin typeface="DM Sans"/>
              </a:rPr>
              <a:t>MISREADING 3</a:t>
            </a:r>
          </a:p>
        </p:txBody>
      </p:sp>
      <p:cxnSp>
        <p:nvCxnSpPr>
          <p:cNvPr id="7" name="Connector 6"/>
          <p:cNvCxnSpPr/>
          <p:nvPr/>
        </p:nvCxnSpPr>
        <p:spPr>
          <a:xfrm>
            <a:off x="658368" y="1005840"/>
            <a:ext cx="10874959" cy="0"/>
          </a:xfrm>
          <a:prstGeom prst="line">
            <a:avLst/>
          </a:prstGeom>
          <a:ln w="9525">
            <a:solidFill>
              <a:srgbClr val="E8DFC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58368" y="1417320"/>
            <a:ext cx="10874959" cy="1280160"/>
          </a:xfrm>
          <a:prstGeom prst="rect">
            <a:avLst/>
          </a:prstGeom>
          <a:noFill/>
        </p:spPr>
        <p:txBody>
          <a:bodyPr wrap="square" lIns="0" rIns="0" tIns="0" bIns="0" anchor="t">
            <a:spAutoFit/>
          </a:bodyPr>
          <a:lstStyle/>
          <a:p>
            <a:pPr algn="l">
              <a:lnSpc>
                <a:spcPct val="105000"/>
              </a:lnSpc>
            </a:pPr>
            <a:r>
              <a:rPr sz="3600" b="0" i="0">
                <a:solidFill>
                  <a:srgbClr val="0F2347"/>
                </a:solidFill>
                <a:latin typeface="Cormorant Garamond"/>
              </a:rPr>
              <a:t>Reading low Optionality as a verdict on ability.</a:t>
            </a:r>
          </a:p>
        </p:txBody>
      </p:sp>
      <p:sp>
        <p:nvSpPr>
          <p:cNvPr id="9" name="TextBox 8"/>
          <p:cNvSpPr txBox="1"/>
          <p:nvPr/>
        </p:nvSpPr>
        <p:spPr>
          <a:xfrm>
            <a:off x="658368" y="2926080"/>
            <a:ext cx="10881360" cy="914400"/>
          </a:xfrm>
          <a:prstGeom prst="rect">
            <a:avLst/>
          </a:prstGeom>
          <a:noFill/>
        </p:spPr>
        <p:txBody>
          <a:bodyPr wrap="square" lIns="0" rIns="0" tIns="0" bIns="0" anchor="t">
            <a:spAutoFit/>
          </a:bodyPr>
          <a:lstStyle/>
          <a:p>
            <a:pPr algn="l">
              <a:lnSpc>
                <a:spcPct val="140000"/>
              </a:lnSpc>
            </a:pPr>
            <a:r>
              <a:rPr sz="1700" b="0" i="0">
                <a:solidFill>
                  <a:srgbClr val="4A4A4A"/>
                </a:solidFill>
                <a:latin typeface="DM Sans"/>
              </a:rPr>
              <a:t>When the capability does not travel, capable people often assume the capability was never real.</a:t>
            </a:r>
          </a:p>
        </p:txBody>
      </p:sp>
      <p:sp>
        <p:nvSpPr>
          <p:cNvPr id="10" name="Rectangle 9"/>
          <p:cNvSpPr/>
          <p:nvPr/>
        </p:nvSpPr>
        <p:spPr>
          <a:xfrm>
            <a:off x="658368" y="3931920"/>
            <a:ext cx="10874959" cy="1965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4133088"/>
            <a:ext cx="1645920" cy="274320"/>
          </a:xfrm>
          <a:prstGeom prst="rect">
            <a:avLst/>
          </a:prstGeom>
          <a:noFill/>
        </p:spPr>
        <p:txBody>
          <a:bodyPr wrap="square" lIns="0" rIns="0" tIns="0" bIns="0" anchor="t">
            <a:spAutoFit/>
          </a:bodyPr>
          <a:lstStyle/>
          <a:p>
            <a:pPr algn="l">
              <a:lnSpc>
                <a:spcPct val="115000"/>
              </a:lnSpc>
            </a:pPr>
            <a:r>
              <a:rPr sz="1000" b="1" i="0" spc="300">
                <a:solidFill>
                  <a:srgbClr val="C1440E"/>
                </a:solidFill>
                <a:latin typeface="DM Sans"/>
              </a:rPr>
              <a:t>CORRECTION</a:t>
            </a:r>
          </a:p>
        </p:txBody>
      </p:sp>
      <p:sp>
        <p:nvSpPr>
          <p:cNvPr id="12" name="TextBox 11"/>
          <p:cNvSpPr txBox="1"/>
          <p:nvPr/>
        </p:nvSpPr>
        <p:spPr>
          <a:xfrm>
            <a:off x="978408" y="4480560"/>
            <a:ext cx="10234879" cy="822960"/>
          </a:xfrm>
          <a:prstGeom prst="rect">
            <a:avLst/>
          </a:prstGeom>
          <a:noFill/>
        </p:spPr>
        <p:txBody>
          <a:bodyPr wrap="square" lIns="0" rIns="0" tIns="0" bIns="0" anchor="t">
            <a:spAutoFit/>
          </a:bodyPr>
          <a:lstStyle/>
          <a:p>
            <a:pPr algn="l">
              <a:lnSpc>
                <a:spcPct val="120000"/>
              </a:lnSpc>
            </a:pPr>
            <a:r>
              <a:rPr sz="2200" b="0" i="1">
                <a:solidFill>
                  <a:srgbClr val="0F2347"/>
                </a:solidFill>
                <a:latin typeface="Cormorant Garamond"/>
              </a:rPr>
              <a:t>Low Optionality may reflect context-bound capability, weak translation, limited exposure, or a combination.</a:t>
            </a:r>
          </a:p>
        </p:txBody>
      </p:sp>
      <p:sp>
        <p:nvSpPr>
          <p:cNvPr id="13" name="TextBox 12"/>
          <p:cNvSpPr txBox="1"/>
          <p:nvPr/>
        </p:nvSpPr>
        <p:spPr>
          <a:xfrm>
            <a:off x="978408" y="5349240"/>
            <a:ext cx="10234879" cy="457200"/>
          </a:xfrm>
          <a:prstGeom prst="rect">
            <a:avLst/>
          </a:prstGeom>
          <a:noFill/>
        </p:spPr>
        <p:txBody>
          <a:bodyPr wrap="square" lIns="0" rIns="0" tIns="0" bIns="0" anchor="t">
            <a:spAutoFit/>
          </a:bodyPr>
          <a:lstStyle/>
          <a:p>
            <a:pPr algn="l">
              <a:lnSpc>
                <a:spcPct val="115000"/>
              </a:lnSpc>
            </a:pPr>
            <a:r>
              <a:rPr sz="1600" b="1" i="0">
                <a:solidFill>
                  <a:srgbClr val="0F2347"/>
                </a:solidFill>
                <a:latin typeface="DM Sans"/>
              </a:rPr>
              <a:t>It is not a verdict on ability or worth.</a:t>
            </a:r>
          </a:p>
        </p:txBody>
      </p:sp>
      <p:sp>
        <p:nvSpPr>
          <p:cNvPr id="14" name="TextBox 13"/>
          <p:cNvSpPr txBox="1"/>
          <p:nvPr/>
        </p:nvSpPr>
        <p:spPr>
          <a:xfrm>
            <a:off x="658368" y="6355080"/>
            <a:ext cx="8229600" cy="274320"/>
          </a:xfrm>
          <a:prstGeom prst="rect">
            <a:avLst/>
          </a:prstGeom>
          <a:noFill/>
        </p:spPr>
        <p:txBody>
          <a:bodyPr wrap="square" lIns="0" rIns="0" tIns="0" bIns="0" anchor="t">
            <a:spAutoFit/>
          </a:bodyPr>
          <a:lstStyle/>
          <a:p>
            <a:pPr algn="l">
              <a:lnSpc>
                <a:spcPct val="115000"/>
              </a:lnSpc>
            </a:pPr>
            <a:r>
              <a:rPr sz="800" b="0" i="0" spc="200">
                <a:solidFill>
                  <a:srgbClr val="4A4A4A"/>
                </a:solidFill>
                <a:latin typeface="DM Sans"/>
              </a:rPr>
              <a:t>TEMIDAYO AFONJA   |   TEMIDAYOAFONJA.COM</a:t>
            </a:r>
          </a:p>
        </p:txBody>
      </p:sp>
      <p:sp>
        <p:nvSpPr>
          <p:cNvPr id="15" name="TextBox 14"/>
          <p:cNvSpPr txBox="1"/>
          <p:nvPr/>
        </p:nvSpPr>
        <p:spPr>
          <a:xfrm>
            <a:off x="10616184" y="6355080"/>
            <a:ext cx="914400" cy="274320"/>
          </a:xfrm>
          <a:prstGeom prst="rect">
            <a:avLst/>
          </a:prstGeom>
          <a:noFill/>
        </p:spPr>
        <p:txBody>
          <a:bodyPr wrap="square" lIns="0" rIns="0" tIns="0" bIns="0" anchor="t">
            <a:spAutoFit/>
          </a:bodyPr>
          <a:lstStyle/>
          <a:p>
            <a:pPr algn="r">
              <a:lnSpc>
                <a:spcPct val="115000"/>
              </a:lnSpc>
            </a:pPr>
            <a:r>
              <a:rPr sz="800" b="0" i="0">
                <a:solidFill>
                  <a:srgbClr val="4A4A4A"/>
                </a:solidFill>
                <a:latin typeface="DM San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6" name="TextBox 5"/>
          <p:cNvSpPr txBox="1"/>
          <p:nvPr/>
        </p:nvSpPr>
        <p:spPr>
          <a:xfrm>
            <a:off x="658368" y="640080"/>
            <a:ext cx="10874959" cy="274320"/>
          </a:xfrm>
          <a:prstGeom prst="rect">
            <a:avLst/>
          </a:prstGeom>
          <a:noFill/>
        </p:spPr>
        <p:txBody>
          <a:bodyPr wrap="square" lIns="0" rIns="0" tIns="0" bIns="0" anchor="t">
            <a:spAutoFit/>
          </a:bodyPr>
          <a:lstStyle/>
          <a:p>
            <a:pPr algn="l">
              <a:lnSpc>
                <a:spcPct val="115000"/>
              </a:lnSpc>
            </a:pPr>
            <a:r>
              <a:rPr sz="1100" b="1" i="0" spc="300">
                <a:solidFill>
                  <a:srgbClr val="C9A84C"/>
                </a:solidFill>
                <a:latin typeface="DM Sans"/>
              </a:rPr>
              <a:t>APPLICATION</a:t>
            </a:r>
          </a:p>
        </p:txBody>
      </p:sp>
      <p:cxnSp>
        <p:nvCxnSpPr>
          <p:cNvPr id="7" name="Connector 6"/>
          <p:cNvCxnSpPr/>
          <p:nvPr/>
        </p:nvCxnSpPr>
        <p:spPr>
          <a:xfrm>
            <a:off x="658368" y="1005840"/>
            <a:ext cx="10874959" cy="0"/>
          </a:xfrm>
          <a:prstGeom prst="line">
            <a:avLst/>
          </a:prstGeom>
          <a:ln w="9525">
            <a:solidFill>
              <a:srgbClr val="E8DFC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58368" y="1417320"/>
            <a:ext cx="10874959" cy="1188720"/>
          </a:xfrm>
          <a:prstGeom prst="rect">
            <a:avLst/>
          </a:prstGeom>
          <a:noFill/>
        </p:spPr>
        <p:txBody>
          <a:bodyPr wrap="square" lIns="0" rIns="0" tIns="0" bIns="0" anchor="t">
            <a:spAutoFit/>
          </a:bodyPr>
          <a:lstStyle/>
          <a:p>
            <a:pPr algn="l">
              <a:lnSpc>
                <a:spcPct val="105000"/>
              </a:lnSpc>
            </a:pPr>
            <a:r>
              <a:rPr sz="3600" b="0" i="0">
                <a:solidFill>
                  <a:srgbClr val="0F2347"/>
                </a:solidFill>
                <a:latin typeface="Cormorant Garamond"/>
              </a:rPr>
              <a:t>What AI changes about this reading.</a:t>
            </a:r>
          </a:p>
        </p:txBody>
      </p:sp>
      <p:cxnSp>
        <p:nvCxnSpPr>
          <p:cNvPr id="9" name="Connector 8"/>
          <p:cNvCxnSpPr/>
          <p:nvPr/>
        </p:nvCxnSpPr>
        <p:spPr>
          <a:xfrm>
            <a:off x="658368" y="2834640"/>
            <a:ext cx="2743200" cy="0"/>
          </a:xfrm>
          <a:prstGeom prst="line">
            <a:avLst/>
          </a:prstGeom>
          <a:ln w="12700">
            <a:solidFill>
              <a:srgbClr val="C9A84C"/>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58368" y="3063240"/>
            <a:ext cx="10881360" cy="457200"/>
          </a:xfrm>
          <a:prstGeom prst="rect">
            <a:avLst/>
          </a:prstGeom>
          <a:noFill/>
        </p:spPr>
        <p:txBody>
          <a:bodyPr wrap="square" lIns="0" rIns="0" tIns="0" bIns="0" anchor="t">
            <a:spAutoFit/>
          </a:bodyPr>
          <a:lstStyle/>
          <a:p>
            <a:pPr algn="l">
              <a:lnSpc>
                <a:spcPct val="140000"/>
              </a:lnSpc>
            </a:pPr>
            <a:r>
              <a:rPr sz="2000" b="0" i="0">
                <a:solidFill>
                  <a:srgbClr val="0F2347"/>
                </a:solidFill>
                <a:latin typeface="DM Sans"/>
              </a:rPr>
              <a:t>Where AI makes routine output easier to reproduce,</a:t>
            </a:r>
          </a:p>
        </p:txBody>
      </p:sp>
      <p:sp>
        <p:nvSpPr>
          <p:cNvPr id="11" name="TextBox 10"/>
          <p:cNvSpPr txBox="1"/>
          <p:nvPr/>
        </p:nvSpPr>
        <p:spPr>
          <a:xfrm>
            <a:off x="658368" y="3566160"/>
            <a:ext cx="10881360" cy="457200"/>
          </a:xfrm>
          <a:prstGeom prst="rect">
            <a:avLst/>
          </a:prstGeom>
          <a:noFill/>
        </p:spPr>
        <p:txBody>
          <a:bodyPr wrap="square" lIns="0" rIns="0" tIns="0" bIns="0" anchor="t">
            <a:spAutoFit/>
          </a:bodyPr>
          <a:lstStyle/>
          <a:p>
            <a:pPr algn="l">
              <a:lnSpc>
                <a:spcPct val="140000"/>
              </a:lnSpc>
            </a:pPr>
            <a:r>
              <a:rPr sz="2000" b="0" i="0">
                <a:solidFill>
                  <a:srgbClr val="0F2347"/>
                </a:solidFill>
                <a:latin typeface="DM Sans"/>
              </a:rPr>
              <a:t>your position depends more heavily on judgment, learning velocity,</a:t>
            </a:r>
          </a:p>
        </p:txBody>
      </p:sp>
      <p:sp>
        <p:nvSpPr>
          <p:cNvPr id="12" name="TextBox 11"/>
          <p:cNvSpPr txBox="1"/>
          <p:nvPr/>
        </p:nvSpPr>
        <p:spPr>
          <a:xfrm>
            <a:off x="658368" y="4069080"/>
            <a:ext cx="10881360" cy="457200"/>
          </a:xfrm>
          <a:prstGeom prst="rect">
            <a:avLst/>
          </a:prstGeom>
          <a:noFill/>
        </p:spPr>
        <p:txBody>
          <a:bodyPr wrap="square" lIns="0" rIns="0" tIns="0" bIns="0" anchor="t">
            <a:spAutoFit/>
          </a:bodyPr>
          <a:lstStyle/>
          <a:p>
            <a:pPr algn="l">
              <a:lnSpc>
                <a:spcPct val="140000"/>
              </a:lnSpc>
            </a:pPr>
            <a:r>
              <a:rPr sz="2000" b="0" i="0">
                <a:solidFill>
                  <a:srgbClr val="0F2347"/>
                </a:solidFill>
                <a:latin typeface="DM Sans"/>
              </a:rPr>
              <a:t>and capability that travels across unfamiliar problems.</a:t>
            </a:r>
          </a:p>
        </p:txBody>
      </p:sp>
      <p:sp>
        <p:nvSpPr>
          <p:cNvPr id="13" name="TextBox 12"/>
          <p:cNvSpPr txBox="1"/>
          <p:nvPr/>
        </p:nvSpPr>
        <p:spPr>
          <a:xfrm>
            <a:off x="658368" y="5074920"/>
            <a:ext cx="10881360" cy="731520"/>
          </a:xfrm>
          <a:prstGeom prst="rect">
            <a:avLst/>
          </a:prstGeom>
          <a:noFill/>
        </p:spPr>
        <p:txBody>
          <a:bodyPr wrap="square" lIns="0" rIns="0" tIns="0" bIns="0" anchor="t">
            <a:spAutoFit/>
          </a:bodyPr>
          <a:lstStyle/>
          <a:p>
            <a:pPr algn="l">
              <a:lnSpc>
                <a:spcPct val="140000"/>
              </a:lnSpc>
            </a:pPr>
            <a:r>
              <a:rPr sz="1500" b="0" i="0">
                <a:solidFill>
                  <a:srgbClr val="4A4A4A"/>
                </a:solidFill>
                <a:latin typeface="DM Sans"/>
              </a:rPr>
              <a:t>Density and Optionality do not become less important. They become more consequential.</a:t>
            </a:r>
          </a:p>
        </p:txBody>
      </p:sp>
      <p:sp>
        <p:nvSpPr>
          <p:cNvPr id="14" name="TextBox 13"/>
          <p:cNvSpPr txBox="1"/>
          <p:nvPr/>
        </p:nvSpPr>
        <p:spPr>
          <a:xfrm>
            <a:off x="658368" y="6355080"/>
            <a:ext cx="8229600" cy="274320"/>
          </a:xfrm>
          <a:prstGeom prst="rect">
            <a:avLst/>
          </a:prstGeom>
          <a:noFill/>
        </p:spPr>
        <p:txBody>
          <a:bodyPr wrap="square" lIns="0" rIns="0" tIns="0" bIns="0" anchor="t">
            <a:spAutoFit/>
          </a:bodyPr>
          <a:lstStyle/>
          <a:p>
            <a:pPr algn="l">
              <a:lnSpc>
                <a:spcPct val="115000"/>
              </a:lnSpc>
            </a:pPr>
            <a:r>
              <a:rPr sz="800" b="0" i="0" spc="200">
                <a:solidFill>
                  <a:srgbClr val="4A4A4A"/>
                </a:solidFill>
                <a:latin typeface="DM Sans"/>
              </a:rPr>
              <a:t>TEMIDAYO AFONJA   |   TEMIDAYOAFONJA.COM</a:t>
            </a:r>
          </a:p>
        </p:txBody>
      </p:sp>
      <p:sp>
        <p:nvSpPr>
          <p:cNvPr id="15" name="TextBox 14"/>
          <p:cNvSpPr txBox="1"/>
          <p:nvPr/>
        </p:nvSpPr>
        <p:spPr>
          <a:xfrm>
            <a:off x="10616184" y="6355080"/>
            <a:ext cx="914400" cy="274320"/>
          </a:xfrm>
          <a:prstGeom prst="rect">
            <a:avLst/>
          </a:prstGeom>
          <a:noFill/>
        </p:spPr>
        <p:txBody>
          <a:bodyPr wrap="square" lIns="0" rIns="0" tIns="0" bIns="0" anchor="t">
            <a:spAutoFit/>
          </a:bodyPr>
          <a:lstStyle/>
          <a:p>
            <a:pPr algn="r">
              <a:lnSpc>
                <a:spcPct val="115000"/>
              </a:lnSpc>
            </a:pPr>
            <a:r>
              <a:rPr sz="800" b="0" i="0">
                <a:solidFill>
                  <a:srgbClr val="4A4A4A"/>
                </a:solidFill>
                <a:latin typeface="DM Sans"/>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6" name="TextBox 5"/>
          <p:cNvSpPr txBox="1"/>
          <p:nvPr/>
        </p:nvSpPr>
        <p:spPr>
          <a:xfrm>
            <a:off x="658368" y="640080"/>
            <a:ext cx="10874959" cy="274320"/>
          </a:xfrm>
          <a:prstGeom prst="rect">
            <a:avLst/>
          </a:prstGeom>
          <a:noFill/>
        </p:spPr>
        <p:txBody>
          <a:bodyPr wrap="square" lIns="0" rIns="0" tIns="0" bIns="0" anchor="t">
            <a:spAutoFit/>
          </a:bodyPr>
          <a:lstStyle/>
          <a:p>
            <a:pPr algn="l">
              <a:lnSpc>
                <a:spcPct val="115000"/>
              </a:lnSpc>
            </a:pPr>
            <a:r>
              <a:rPr sz="1100" b="1" i="0" spc="300">
                <a:solidFill>
                  <a:srgbClr val="C9A84C"/>
                </a:solidFill>
                <a:latin typeface="DM Sans"/>
              </a:rPr>
              <a:t>RECOGNITION EXERCISE</a:t>
            </a:r>
          </a:p>
        </p:txBody>
      </p:sp>
      <p:cxnSp>
        <p:nvCxnSpPr>
          <p:cNvPr id="7" name="Connector 6"/>
          <p:cNvCxnSpPr/>
          <p:nvPr/>
        </p:nvCxnSpPr>
        <p:spPr>
          <a:xfrm>
            <a:off x="658368" y="1005840"/>
            <a:ext cx="10874959" cy="0"/>
          </a:xfrm>
          <a:prstGeom prst="line">
            <a:avLst/>
          </a:prstGeom>
          <a:ln w="9525">
            <a:solidFill>
              <a:srgbClr val="E8DFC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58368" y="1417320"/>
            <a:ext cx="10874959" cy="914400"/>
          </a:xfrm>
          <a:prstGeom prst="rect">
            <a:avLst/>
          </a:prstGeom>
          <a:noFill/>
        </p:spPr>
        <p:txBody>
          <a:bodyPr wrap="square" lIns="0" rIns="0" tIns="0" bIns="0" anchor="t">
            <a:spAutoFit/>
          </a:bodyPr>
          <a:lstStyle/>
          <a:p>
            <a:pPr algn="l">
              <a:lnSpc>
                <a:spcPct val="105000"/>
              </a:lnSpc>
            </a:pPr>
            <a:r>
              <a:rPr sz="3600" b="0" i="0">
                <a:solidFill>
                  <a:srgbClr val="0F2347"/>
                </a:solidFill>
                <a:latin typeface="Cormorant Garamond"/>
              </a:rPr>
              <a:t>Three questions to sit with.</a:t>
            </a:r>
          </a:p>
        </p:txBody>
      </p:sp>
      <p:sp>
        <p:nvSpPr>
          <p:cNvPr id="9" name="TextBox 8"/>
          <p:cNvSpPr txBox="1"/>
          <p:nvPr/>
        </p:nvSpPr>
        <p:spPr>
          <a:xfrm>
            <a:off x="658368" y="2606040"/>
            <a:ext cx="10881360" cy="365760"/>
          </a:xfrm>
          <a:prstGeom prst="rect">
            <a:avLst/>
          </a:prstGeom>
          <a:noFill/>
        </p:spPr>
        <p:txBody>
          <a:bodyPr wrap="square" lIns="0" rIns="0" tIns="0" bIns="0" anchor="t">
            <a:spAutoFit/>
          </a:bodyPr>
          <a:lstStyle/>
          <a:p>
            <a:pPr algn="l">
              <a:lnSpc>
                <a:spcPct val="140000"/>
              </a:lnSpc>
            </a:pPr>
            <a:r>
              <a:rPr sz="1300" b="0" i="0">
                <a:solidFill>
                  <a:srgbClr val="4A4A4A"/>
                </a:solidFill>
                <a:latin typeface="DM Sans"/>
              </a:rPr>
              <a:t>Four quiet minutes. Write. Do not share unless you want to.</a:t>
            </a:r>
          </a:p>
        </p:txBody>
      </p:sp>
      <p:sp>
        <p:nvSpPr>
          <p:cNvPr id="10" name="Rectangle 9"/>
          <p:cNvSpPr/>
          <p:nvPr/>
        </p:nvSpPr>
        <p:spPr>
          <a:xfrm>
            <a:off x="658368" y="3154680"/>
            <a:ext cx="10874959"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 y="3355848"/>
            <a:ext cx="914400" cy="274320"/>
          </a:xfrm>
          <a:prstGeom prst="rect">
            <a:avLst/>
          </a:prstGeom>
          <a:noFill/>
        </p:spPr>
        <p:txBody>
          <a:bodyPr wrap="square" lIns="0" rIns="0" tIns="0" bIns="0" anchor="t">
            <a:spAutoFit/>
          </a:bodyPr>
          <a:lstStyle/>
          <a:p>
            <a:pPr algn="l">
              <a:lnSpc>
                <a:spcPct val="115000"/>
              </a:lnSpc>
            </a:pPr>
            <a:r>
              <a:rPr sz="1000" b="1" i="0" spc="300">
                <a:solidFill>
                  <a:srgbClr val="C9A84C"/>
                </a:solidFill>
                <a:latin typeface="DM Sans"/>
              </a:rPr>
              <a:t>ONE</a:t>
            </a:r>
          </a:p>
        </p:txBody>
      </p:sp>
      <p:sp>
        <p:nvSpPr>
          <p:cNvPr id="12" name="TextBox 11"/>
          <p:cNvSpPr txBox="1"/>
          <p:nvPr/>
        </p:nvSpPr>
        <p:spPr>
          <a:xfrm>
            <a:off x="1847088" y="3429000"/>
            <a:ext cx="9366199" cy="640080"/>
          </a:xfrm>
          <a:prstGeom prst="rect">
            <a:avLst/>
          </a:prstGeom>
          <a:noFill/>
        </p:spPr>
        <p:txBody>
          <a:bodyPr wrap="square" lIns="0" rIns="0" tIns="0" bIns="0" anchor="t">
            <a:spAutoFit/>
          </a:bodyPr>
          <a:lstStyle/>
          <a:p>
            <a:pPr algn="l">
              <a:lnSpc>
                <a:spcPct val="120000"/>
              </a:lnSpc>
            </a:pPr>
            <a:r>
              <a:rPr sz="1900" b="0" i="1">
                <a:solidFill>
                  <a:srgbClr val="0F2347"/>
                </a:solidFill>
                <a:latin typeface="Cormorant Garamond"/>
              </a:rPr>
              <a:t>What am I treating as evidence that may only be intention?</a:t>
            </a:r>
          </a:p>
        </p:txBody>
      </p:sp>
      <p:sp>
        <p:nvSpPr>
          <p:cNvPr id="13" name="Rectangle 12"/>
          <p:cNvSpPr/>
          <p:nvPr/>
        </p:nvSpPr>
        <p:spPr>
          <a:xfrm>
            <a:off x="658368" y="4251960"/>
            <a:ext cx="10874959"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4453128"/>
            <a:ext cx="914400" cy="274320"/>
          </a:xfrm>
          <a:prstGeom prst="rect">
            <a:avLst/>
          </a:prstGeom>
          <a:noFill/>
        </p:spPr>
        <p:txBody>
          <a:bodyPr wrap="square" lIns="0" rIns="0" tIns="0" bIns="0" anchor="t">
            <a:spAutoFit/>
          </a:bodyPr>
          <a:lstStyle/>
          <a:p>
            <a:pPr algn="l">
              <a:lnSpc>
                <a:spcPct val="115000"/>
              </a:lnSpc>
            </a:pPr>
            <a:r>
              <a:rPr sz="1000" b="1" i="0" spc="300">
                <a:solidFill>
                  <a:srgbClr val="C9A84C"/>
                </a:solidFill>
                <a:latin typeface="DM Sans"/>
              </a:rPr>
              <a:t>TWO</a:t>
            </a:r>
          </a:p>
        </p:txBody>
      </p:sp>
      <p:sp>
        <p:nvSpPr>
          <p:cNvPr id="15" name="TextBox 14"/>
          <p:cNvSpPr txBox="1"/>
          <p:nvPr/>
        </p:nvSpPr>
        <p:spPr>
          <a:xfrm>
            <a:off x="1847088" y="4526280"/>
            <a:ext cx="9366199" cy="640080"/>
          </a:xfrm>
          <a:prstGeom prst="rect">
            <a:avLst/>
          </a:prstGeom>
          <a:noFill/>
        </p:spPr>
        <p:txBody>
          <a:bodyPr wrap="square" lIns="0" rIns="0" tIns="0" bIns="0" anchor="t">
            <a:spAutoFit/>
          </a:bodyPr>
          <a:lstStyle/>
          <a:p>
            <a:pPr algn="l">
              <a:lnSpc>
                <a:spcPct val="120000"/>
              </a:lnSpc>
            </a:pPr>
            <a:r>
              <a:rPr sz="1900" b="0" i="1">
                <a:solidFill>
                  <a:srgbClr val="0F2347"/>
                </a:solidFill>
                <a:latin typeface="Cormorant Garamond"/>
              </a:rPr>
              <a:t>Where am I being valued but not necessarily formed?</a:t>
            </a:r>
          </a:p>
        </p:txBody>
      </p:sp>
      <p:sp>
        <p:nvSpPr>
          <p:cNvPr id="16" name="Rectangle 15"/>
          <p:cNvSpPr/>
          <p:nvPr/>
        </p:nvSpPr>
        <p:spPr>
          <a:xfrm>
            <a:off x="658368" y="5349240"/>
            <a:ext cx="10874959" cy="960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8408" y="5550408"/>
            <a:ext cx="914400" cy="274320"/>
          </a:xfrm>
          <a:prstGeom prst="rect">
            <a:avLst/>
          </a:prstGeom>
          <a:noFill/>
        </p:spPr>
        <p:txBody>
          <a:bodyPr wrap="square" lIns="0" rIns="0" tIns="0" bIns="0" anchor="t">
            <a:spAutoFit/>
          </a:bodyPr>
          <a:lstStyle/>
          <a:p>
            <a:pPr algn="l">
              <a:lnSpc>
                <a:spcPct val="115000"/>
              </a:lnSpc>
            </a:pPr>
            <a:r>
              <a:rPr sz="1000" b="1" i="0" spc="300">
                <a:solidFill>
                  <a:srgbClr val="C9A84C"/>
                </a:solidFill>
                <a:latin typeface="DM Sans"/>
              </a:rPr>
              <a:t>THREE</a:t>
            </a:r>
          </a:p>
        </p:txBody>
      </p:sp>
      <p:sp>
        <p:nvSpPr>
          <p:cNvPr id="18" name="TextBox 17"/>
          <p:cNvSpPr txBox="1"/>
          <p:nvPr/>
        </p:nvSpPr>
        <p:spPr>
          <a:xfrm>
            <a:off x="1847088" y="5623560"/>
            <a:ext cx="9366199" cy="640080"/>
          </a:xfrm>
          <a:prstGeom prst="rect">
            <a:avLst/>
          </a:prstGeom>
          <a:noFill/>
        </p:spPr>
        <p:txBody>
          <a:bodyPr wrap="square" lIns="0" rIns="0" tIns="0" bIns="0" anchor="t">
            <a:spAutoFit/>
          </a:bodyPr>
          <a:lstStyle/>
          <a:p>
            <a:pPr algn="l">
              <a:lnSpc>
                <a:spcPct val="120000"/>
              </a:lnSpc>
            </a:pPr>
            <a:r>
              <a:rPr sz="1900" b="0" i="1">
                <a:solidFill>
                  <a:srgbClr val="0F2347"/>
                </a:solidFill>
                <a:latin typeface="Cormorant Garamond"/>
              </a:rPr>
              <a:t>What have I built that someone outside this context could actually understand?</a:t>
            </a:r>
          </a:p>
        </p:txBody>
      </p:sp>
      <p:sp>
        <p:nvSpPr>
          <p:cNvPr id="19" name="TextBox 18"/>
          <p:cNvSpPr txBox="1"/>
          <p:nvPr/>
        </p:nvSpPr>
        <p:spPr>
          <a:xfrm>
            <a:off x="658368" y="6355080"/>
            <a:ext cx="8229600" cy="274320"/>
          </a:xfrm>
          <a:prstGeom prst="rect">
            <a:avLst/>
          </a:prstGeom>
          <a:noFill/>
        </p:spPr>
        <p:txBody>
          <a:bodyPr wrap="square" lIns="0" rIns="0" tIns="0" bIns="0" anchor="t">
            <a:spAutoFit/>
          </a:bodyPr>
          <a:lstStyle/>
          <a:p>
            <a:pPr algn="l">
              <a:lnSpc>
                <a:spcPct val="115000"/>
              </a:lnSpc>
            </a:pPr>
            <a:r>
              <a:rPr sz="800" b="0" i="0" spc="200">
                <a:solidFill>
                  <a:srgbClr val="4A4A4A"/>
                </a:solidFill>
                <a:latin typeface="DM Sans"/>
              </a:rPr>
              <a:t>TEMIDAYO AFONJA   |   TEMIDAYOAFONJA.COM</a:t>
            </a:r>
          </a:p>
        </p:txBody>
      </p:sp>
      <p:sp>
        <p:nvSpPr>
          <p:cNvPr id="20" name="TextBox 19"/>
          <p:cNvSpPr txBox="1"/>
          <p:nvPr/>
        </p:nvSpPr>
        <p:spPr>
          <a:xfrm>
            <a:off x="10616184" y="6355080"/>
            <a:ext cx="914400" cy="274320"/>
          </a:xfrm>
          <a:prstGeom prst="rect">
            <a:avLst/>
          </a:prstGeom>
          <a:noFill/>
        </p:spPr>
        <p:txBody>
          <a:bodyPr wrap="square" lIns="0" rIns="0" tIns="0" bIns="0" anchor="t">
            <a:spAutoFit/>
          </a:bodyPr>
          <a:lstStyle/>
          <a:p>
            <a:pPr algn="r">
              <a:lnSpc>
                <a:spcPct val="115000"/>
              </a:lnSpc>
            </a:pPr>
            <a:r>
              <a:rPr sz="800" b="0" i="0">
                <a:solidFill>
                  <a:srgbClr val="4A4A4A"/>
                </a:solidFill>
                <a:latin typeface="DM Sans"/>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2" name="Oval 1"/>
          <p:cNvSpPr/>
          <p:nvPr/>
        </p:nvSpPr>
        <p:spPr>
          <a:xfrm>
            <a:off x="11384280" y="310896"/>
            <a:ext cx="128016" cy="128016"/>
          </a:xfrm>
          <a:prstGeom prst="ellipse">
            <a:avLst/>
          </a:prstGeom>
          <a:solidFill>
            <a:srgbClr val="0F23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585448" y="310896"/>
            <a:ext cx="128016" cy="128016"/>
          </a:xfrm>
          <a:prstGeom prst="ellipse">
            <a:avLst/>
          </a:prstGeom>
          <a:solidFill>
            <a:srgbClr val="C144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384280" y="512064"/>
            <a:ext cx="128016" cy="128016"/>
          </a:xfrm>
          <a:prstGeom prst="ellipse">
            <a:avLst/>
          </a:prstGeom>
          <a:solidFill>
            <a:srgbClr val="0F23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585448" y="512064"/>
            <a:ext cx="128016" cy="128016"/>
          </a:xfrm>
          <a:prstGeom prst="ellipse">
            <a:avLst/>
          </a:prstGeom>
          <a:solidFill>
            <a:srgbClr val="0F23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40080"/>
            <a:ext cx="10874959" cy="274320"/>
          </a:xfrm>
          <a:prstGeom prst="rect">
            <a:avLst/>
          </a:prstGeom>
          <a:noFill/>
        </p:spPr>
        <p:txBody>
          <a:bodyPr wrap="square" lIns="0" rIns="0" tIns="0" bIns="0" anchor="t">
            <a:spAutoFit/>
          </a:bodyPr>
          <a:lstStyle/>
          <a:p>
            <a:pPr algn="l">
              <a:lnSpc>
                <a:spcPct val="115000"/>
              </a:lnSpc>
            </a:pPr>
            <a:r>
              <a:rPr sz="1100" b="1" i="0" spc="300">
                <a:solidFill>
                  <a:srgbClr val="C9A84C"/>
                </a:solidFill>
                <a:latin typeface="DM Sans"/>
              </a:rPr>
              <a:t>WHAT THE FULL POSITION READ ADDS</a:t>
            </a:r>
          </a:p>
        </p:txBody>
      </p:sp>
      <p:cxnSp>
        <p:nvCxnSpPr>
          <p:cNvPr id="7" name="Connector 6"/>
          <p:cNvCxnSpPr/>
          <p:nvPr/>
        </p:nvCxnSpPr>
        <p:spPr>
          <a:xfrm>
            <a:off x="658368" y="1005840"/>
            <a:ext cx="10874959" cy="0"/>
          </a:xfrm>
          <a:prstGeom prst="line">
            <a:avLst/>
          </a:prstGeom>
          <a:ln w="9525">
            <a:solidFill>
              <a:srgbClr val="E8DFC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58368" y="1417320"/>
            <a:ext cx="10874959" cy="914400"/>
          </a:xfrm>
          <a:prstGeom prst="rect">
            <a:avLst/>
          </a:prstGeom>
          <a:noFill/>
        </p:spPr>
        <p:txBody>
          <a:bodyPr wrap="square" lIns="0" rIns="0" tIns="0" bIns="0" anchor="t">
            <a:spAutoFit/>
          </a:bodyPr>
          <a:lstStyle/>
          <a:p>
            <a:pPr algn="l">
              <a:lnSpc>
                <a:spcPct val="105000"/>
              </a:lnSpc>
            </a:pPr>
            <a:r>
              <a:rPr sz="3200" b="0" i="0">
                <a:solidFill>
                  <a:srgbClr val="0F2347"/>
                </a:solidFill>
                <a:latin typeface="Cormorant Garamond"/>
              </a:rPr>
              <a:t>This lesson opens the question.</a:t>
            </a:r>
          </a:p>
        </p:txBody>
      </p:sp>
      <p:sp>
        <p:nvSpPr>
          <p:cNvPr id="9" name="TextBox 8"/>
          <p:cNvSpPr txBox="1"/>
          <p:nvPr/>
        </p:nvSpPr>
        <p:spPr>
          <a:xfrm>
            <a:off x="658368" y="2148840"/>
            <a:ext cx="10874959" cy="914400"/>
          </a:xfrm>
          <a:prstGeom prst="rect">
            <a:avLst/>
          </a:prstGeom>
          <a:noFill/>
        </p:spPr>
        <p:txBody>
          <a:bodyPr wrap="square" lIns="0" rIns="0" tIns="0" bIns="0" anchor="t">
            <a:spAutoFit/>
          </a:bodyPr>
          <a:lstStyle/>
          <a:p>
            <a:pPr algn="l">
              <a:lnSpc>
                <a:spcPct val="105000"/>
              </a:lnSpc>
            </a:pPr>
            <a:r>
              <a:rPr sz="3200" b="0" i="0">
                <a:solidFill>
                  <a:srgbClr val="0F2347"/>
                </a:solidFill>
                <a:latin typeface="Cormorant Garamond"/>
              </a:rPr>
              <a:t>The paid workshop reads the answer.</a:t>
            </a:r>
          </a:p>
        </p:txBody>
      </p:sp>
      <p:sp>
        <p:nvSpPr>
          <p:cNvPr id="10" name="Rectangle 9"/>
          <p:cNvSpPr/>
          <p:nvPr/>
        </p:nvSpPr>
        <p:spPr>
          <a:xfrm>
            <a:off x="658368" y="3429000"/>
            <a:ext cx="5254599" cy="2606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3630168"/>
            <a:ext cx="4705959" cy="274320"/>
          </a:xfrm>
          <a:prstGeom prst="rect">
            <a:avLst/>
          </a:prstGeom>
          <a:noFill/>
        </p:spPr>
        <p:txBody>
          <a:bodyPr wrap="square" lIns="0" rIns="0" tIns="0" bIns="0" anchor="t">
            <a:spAutoFit/>
          </a:bodyPr>
          <a:lstStyle/>
          <a:p>
            <a:pPr algn="l">
              <a:lnSpc>
                <a:spcPct val="115000"/>
              </a:lnSpc>
            </a:pPr>
            <a:r>
              <a:rPr sz="1000" b="1" i="0" spc="300">
                <a:solidFill>
                  <a:srgbClr val="C9A84C"/>
                </a:solidFill>
                <a:latin typeface="DM Sans"/>
              </a:rPr>
              <a:t>TODAY</a:t>
            </a:r>
          </a:p>
        </p:txBody>
      </p:sp>
      <p:sp>
        <p:nvSpPr>
          <p:cNvPr id="12" name="TextBox 11"/>
          <p:cNvSpPr txBox="1"/>
          <p:nvPr/>
        </p:nvSpPr>
        <p:spPr>
          <a:xfrm>
            <a:off x="932688" y="3977640"/>
            <a:ext cx="4705959" cy="2011680"/>
          </a:xfrm>
          <a:prstGeom prst="rect">
            <a:avLst/>
          </a:prstGeom>
          <a:noFill/>
        </p:spPr>
        <p:txBody>
          <a:bodyPr wrap="square" lIns="0" rIns="0" tIns="0" bIns="0" anchor="t">
            <a:spAutoFit/>
          </a:bodyPr>
          <a:lstStyle/>
          <a:p>
            <a:pPr algn="l">
              <a:lnSpc>
                <a:spcPct val="150000"/>
              </a:lnSpc>
            </a:pPr>
            <a:r>
              <a:rPr sz="1300" b="0" i="0">
                <a:solidFill>
                  <a:srgbClr val="1A1A1A"/>
                </a:solidFill>
                <a:latin typeface="DM Sans"/>
              </a:rPr>
              <a:t>Recognition of the three misreadings.</a:t>
            </a:r>
          </a:p>
          <a:p>
            <a:pPr algn="l">
              <a:lnSpc>
                <a:spcPct val="150000"/>
              </a:lnSpc>
            </a:pPr>
            <a:r>
              <a:rPr sz="1300" b="0" i="0">
                <a:solidFill>
                  <a:srgbClr val="1A1A1A"/>
                </a:solidFill>
                <a:latin typeface="DM Sans"/>
              </a:rPr>
              <a:t>Two words for the reading.</a:t>
            </a:r>
          </a:p>
          <a:p>
            <a:pPr algn="l">
              <a:lnSpc>
                <a:spcPct val="150000"/>
              </a:lnSpc>
            </a:pPr>
            <a:r>
              <a:rPr sz="1300" b="0" i="0">
                <a:solidFill>
                  <a:srgbClr val="1A1A1A"/>
                </a:solidFill>
                <a:latin typeface="DM Sans"/>
              </a:rPr>
              <a:t>One reflection pass.</a:t>
            </a:r>
          </a:p>
          <a:p>
            <a:pPr algn="l">
              <a:lnSpc>
                <a:spcPct val="150000"/>
              </a:lnSpc>
            </a:pPr>
            <a:r>
              <a:rPr sz="1300" b="0" i="0">
                <a:solidFill>
                  <a:srgbClr val="1A1A1A"/>
                </a:solidFill>
                <a:latin typeface="DM Sans"/>
              </a:rPr>
              <a:t>No scoring. No placement. No decision.</a:t>
            </a:r>
          </a:p>
        </p:txBody>
      </p:sp>
      <p:sp>
        <p:nvSpPr>
          <p:cNvPr id="13" name="Rectangle 12"/>
          <p:cNvSpPr/>
          <p:nvPr/>
        </p:nvSpPr>
        <p:spPr>
          <a:xfrm>
            <a:off x="6278727" y="3429000"/>
            <a:ext cx="5254599" cy="2606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53047" y="3630168"/>
            <a:ext cx="4705959" cy="274320"/>
          </a:xfrm>
          <a:prstGeom prst="rect">
            <a:avLst/>
          </a:prstGeom>
          <a:noFill/>
        </p:spPr>
        <p:txBody>
          <a:bodyPr wrap="square" lIns="0" rIns="0" tIns="0" bIns="0" anchor="t">
            <a:spAutoFit/>
          </a:bodyPr>
          <a:lstStyle/>
          <a:p>
            <a:pPr algn="l">
              <a:lnSpc>
                <a:spcPct val="115000"/>
              </a:lnSpc>
            </a:pPr>
            <a:r>
              <a:rPr sz="1000" b="1" i="0" spc="300">
                <a:solidFill>
                  <a:srgbClr val="C1440E"/>
                </a:solidFill>
                <a:latin typeface="DM Sans"/>
              </a:rPr>
              <a:t>THE FULL POSITION READ</a:t>
            </a:r>
          </a:p>
        </p:txBody>
      </p:sp>
      <p:sp>
        <p:nvSpPr>
          <p:cNvPr id="15" name="TextBox 14"/>
          <p:cNvSpPr txBox="1"/>
          <p:nvPr/>
        </p:nvSpPr>
        <p:spPr>
          <a:xfrm>
            <a:off x="6553047" y="3977640"/>
            <a:ext cx="4705959" cy="2011680"/>
          </a:xfrm>
          <a:prstGeom prst="rect">
            <a:avLst/>
          </a:prstGeom>
          <a:noFill/>
        </p:spPr>
        <p:txBody>
          <a:bodyPr wrap="square" lIns="0" rIns="0" tIns="0" bIns="0" anchor="t">
            <a:spAutoFit/>
          </a:bodyPr>
          <a:lstStyle/>
          <a:p>
            <a:pPr algn="l">
              <a:lnSpc>
                <a:spcPct val="150000"/>
              </a:lnSpc>
            </a:pPr>
            <a:r>
              <a:rPr sz="1300" b="0" i="0">
                <a:solidFill>
                  <a:srgbClr val="1A1A1A"/>
                </a:solidFill>
                <a:latin typeface="DM Sans"/>
              </a:rPr>
              <a:t>Full twelve-statement instrument.</a:t>
            </a:r>
          </a:p>
          <a:p>
            <a:pPr algn="l">
              <a:lnSpc>
                <a:spcPct val="150000"/>
              </a:lnSpc>
            </a:pPr>
            <a:r>
              <a:rPr sz="1300" b="0" i="0">
                <a:solidFill>
                  <a:srgbClr val="1A1A1A"/>
                </a:solidFill>
                <a:latin typeface="DM Sans"/>
              </a:rPr>
              <a:t>Initial read and evidence-backed second read.</a:t>
            </a:r>
          </a:p>
          <a:p>
            <a:pPr algn="l">
              <a:lnSpc>
                <a:spcPct val="150000"/>
              </a:lnSpc>
            </a:pPr>
            <a:r>
              <a:rPr sz="1300" b="0" i="0">
                <a:solidFill>
                  <a:srgbClr val="1A1A1A"/>
                </a:solidFill>
                <a:latin typeface="DM Sans"/>
              </a:rPr>
              <a:t>Provisional state placement and move category.</a:t>
            </a:r>
          </a:p>
          <a:p>
            <a:pPr algn="l">
              <a:lnSpc>
                <a:spcPct val="150000"/>
              </a:lnSpc>
            </a:pPr>
            <a:r>
              <a:rPr sz="1300" b="0" i="0">
                <a:solidFill>
                  <a:srgbClr val="1A1A1A"/>
                </a:solidFill>
                <a:latin typeface="DM Sans"/>
              </a:rPr>
              <a:t>Next-Move Decision.</a:t>
            </a:r>
          </a:p>
          <a:p>
            <a:pPr algn="l">
              <a:lnSpc>
                <a:spcPct val="150000"/>
              </a:lnSpc>
            </a:pPr>
            <a:r>
              <a:rPr sz="1300" b="0" i="0">
                <a:solidFill>
                  <a:srgbClr val="1A1A1A"/>
                </a:solidFill>
                <a:latin typeface="DM Sans"/>
              </a:rPr>
              <a:t>Thirty-day evidence process. Ninety-day rescore.</a:t>
            </a:r>
          </a:p>
          <a:p>
            <a:pPr algn="l">
              <a:lnSpc>
                <a:spcPct val="150000"/>
              </a:lnSpc>
            </a:pPr>
            <a:r>
              <a:rPr sz="1300" b="0" i="0">
                <a:solidFill>
                  <a:srgbClr val="1A1A1A"/>
                </a:solidFill>
                <a:latin typeface="DM Sans"/>
              </a:rPr>
              <a:t>Field Kit included.</a:t>
            </a:r>
          </a:p>
        </p:txBody>
      </p:sp>
      <p:sp>
        <p:nvSpPr>
          <p:cNvPr id="16" name="TextBox 15"/>
          <p:cNvSpPr txBox="1"/>
          <p:nvPr/>
        </p:nvSpPr>
        <p:spPr>
          <a:xfrm>
            <a:off x="658368" y="6355080"/>
            <a:ext cx="8229600" cy="274320"/>
          </a:xfrm>
          <a:prstGeom prst="rect">
            <a:avLst/>
          </a:prstGeom>
          <a:noFill/>
        </p:spPr>
        <p:txBody>
          <a:bodyPr wrap="square" lIns="0" rIns="0" tIns="0" bIns="0" anchor="t">
            <a:spAutoFit/>
          </a:bodyPr>
          <a:lstStyle/>
          <a:p>
            <a:pPr algn="l">
              <a:lnSpc>
                <a:spcPct val="115000"/>
              </a:lnSpc>
            </a:pPr>
            <a:r>
              <a:rPr sz="800" b="0" i="0" spc="200">
                <a:solidFill>
                  <a:srgbClr val="4A4A4A"/>
                </a:solidFill>
                <a:latin typeface="DM Sans"/>
              </a:rPr>
              <a:t>TEMIDAYO AFONJA   |   TEMIDAYOAFONJA.COM</a:t>
            </a:r>
          </a:p>
        </p:txBody>
      </p:sp>
      <p:sp>
        <p:nvSpPr>
          <p:cNvPr id="17" name="TextBox 16"/>
          <p:cNvSpPr txBox="1"/>
          <p:nvPr/>
        </p:nvSpPr>
        <p:spPr>
          <a:xfrm>
            <a:off x="10616184" y="6355080"/>
            <a:ext cx="914400" cy="274320"/>
          </a:xfrm>
          <a:prstGeom prst="rect">
            <a:avLst/>
          </a:prstGeom>
          <a:noFill/>
        </p:spPr>
        <p:txBody>
          <a:bodyPr wrap="square" lIns="0" rIns="0" tIns="0" bIns="0" anchor="t">
            <a:spAutoFit/>
          </a:bodyPr>
          <a:lstStyle/>
          <a:p>
            <a:pPr algn="r">
              <a:lnSpc>
                <a:spcPct val="115000"/>
              </a:lnSpc>
            </a:pPr>
            <a:r>
              <a:rPr sz="800" b="0" i="0">
                <a:solidFill>
                  <a:srgbClr val="4A4A4A"/>
                </a:solidFill>
                <a:latin typeface="DM Sans"/>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2347"/>
        </a:solidFill>
        <a:effectLst/>
      </p:bgPr>
    </p:bg>
    <p:spTree>
      <p:nvGrpSpPr>
        <p:cNvPr id="1" name=""/>
        <p:cNvGrpSpPr/>
        <p:nvPr/>
      </p:nvGrpSpPr>
      <p:grpSpPr/>
      <p:sp>
        <p:nvSpPr>
          <p:cNvPr id="2" name="Oval 1"/>
          <p:cNvSpPr/>
          <p:nvPr/>
        </p:nvSpPr>
        <p:spPr>
          <a:xfrm>
            <a:off x="11384280" y="310896"/>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585448" y="310896"/>
            <a:ext cx="128016" cy="128016"/>
          </a:xfrm>
          <a:prstGeom prst="ellipse">
            <a:avLst/>
          </a:prstGeom>
          <a:solidFill>
            <a:srgbClr val="C144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384280" y="5120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585448" y="5120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640080"/>
            <a:ext cx="10874959" cy="274320"/>
          </a:xfrm>
          <a:prstGeom prst="rect">
            <a:avLst/>
          </a:prstGeom>
          <a:noFill/>
        </p:spPr>
        <p:txBody>
          <a:bodyPr wrap="square" lIns="0" rIns="0" tIns="0" bIns="0" anchor="t">
            <a:spAutoFit/>
          </a:bodyPr>
          <a:lstStyle/>
          <a:p>
            <a:pPr algn="l">
              <a:lnSpc>
                <a:spcPct val="115000"/>
              </a:lnSpc>
            </a:pPr>
            <a:r>
              <a:rPr sz="1100" b="1" i="0" spc="300">
                <a:solidFill>
                  <a:srgbClr val="C9A84C"/>
                </a:solidFill>
                <a:latin typeface="DM Sans"/>
              </a:rPr>
              <a:t>INVITATION</a:t>
            </a:r>
          </a:p>
        </p:txBody>
      </p:sp>
      <p:cxnSp>
        <p:nvCxnSpPr>
          <p:cNvPr id="7" name="Connector 6"/>
          <p:cNvCxnSpPr/>
          <p:nvPr/>
        </p:nvCxnSpPr>
        <p:spPr>
          <a:xfrm>
            <a:off x="658368" y="1005840"/>
            <a:ext cx="10874959" cy="0"/>
          </a:xfrm>
          <a:prstGeom prst="line">
            <a:avLst/>
          </a:prstGeom>
          <a:ln w="9525">
            <a:solidFill>
              <a:srgbClr val="2A3D62"/>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58368" y="1508760"/>
            <a:ext cx="10874959" cy="457200"/>
          </a:xfrm>
          <a:prstGeom prst="rect">
            <a:avLst/>
          </a:prstGeom>
          <a:noFill/>
        </p:spPr>
        <p:txBody>
          <a:bodyPr wrap="square" lIns="0" rIns="0" tIns="0" bIns="0" anchor="t">
            <a:spAutoFit/>
          </a:bodyPr>
          <a:lstStyle/>
          <a:p>
            <a:pPr algn="l">
              <a:lnSpc>
                <a:spcPct val="115000"/>
              </a:lnSpc>
            </a:pPr>
            <a:r>
              <a:rPr sz="2600" b="0" i="1">
                <a:solidFill>
                  <a:srgbClr val="A9B8D0"/>
                </a:solidFill>
                <a:latin typeface="Cormorant Garamond"/>
              </a:rPr>
              <a:t>If this helped you recognize the pattern,</a:t>
            </a:r>
          </a:p>
        </p:txBody>
      </p:sp>
      <p:sp>
        <p:nvSpPr>
          <p:cNvPr id="9" name="TextBox 8"/>
          <p:cNvSpPr txBox="1"/>
          <p:nvPr/>
        </p:nvSpPr>
        <p:spPr>
          <a:xfrm>
            <a:off x="658368" y="2011680"/>
            <a:ext cx="10874959" cy="457200"/>
          </a:xfrm>
          <a:prstGeom prst="rect">
            <a:avLst/>
          </a:prstGeom>
          <a:noFill/>
        </p:spPr>
        <p:txBody>
          <a:bodyPr wrap="square" lIns="0" rIns="0" tIns="0" bIns="0" anchor="t">
            <a:spAutoFit/>
          </a:bodyPr>
          <a:lstStyle/>
          <a:p>
            <a:pPr algn="l">
              <a:lnSpc>
                <a:spcPct val="115000"/>
              </a:lnSpc>
            </a:pPr>
            <a:r>
              <a:rPr sz="2600" b="0" i="1">
                <a:solidFill>
                  <a:srgbClr val="FFFFFF"/>
                </a:solidFill>
                <a:latin typeface="Cormorant Garamond"/>
              </a:rPr>
              <a:t>the full workshop helps you read your own position.</a:t>
            </a:r>
          </a:p>
        </p:txBody>
      </p:sp>
      <p:cxnSp>
        <p:nvCxnSpPr>
          <p:cNvPr id="10" name="Connector 9"/>
          <p:cNvCxnSpPr/>
          <p:nvPr/>
        </p:nvCxnSpPr>
        <p:spPr>
          <a:xfrm>
            <a:off x="658368" y="2880360"/>
            <a:ext cx="2743200" cy="0"/>
          </a:xfrm>
          <a:prstGeom prst="line">
            <a:avLst/>
          </a:prstGeom>
          <a:ln w="12700">
            <a:solidFill>
              <a:srgbClr val="C9A84C"/>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58368" y="3063240"/>
            <a:ext cx="10874959" cy="1280160"/>
          </a:xfrm>
          <a:prstGeom prst="rect">
            <a:avLst/>
          </a:prstGeom>
          <a:noFill/>
        </p:spPr>
        <p:txBody>
          <a:bodyPr wrap="square" lIns="0" rIns="0" tIns="0" bIns="0" anchor="t">
            <a:spAutoFit/>
          </a:bodyPr>
          <a:lstStyle/>
          <a:p>
            <a:pPr algn="l">
              <a:lnSpc>
                <a:spcPct val="102000"/>
              </a:lnSpc>
            </a:pPr>
            <a:r>
              <a:rPr sz="5400" b="0" i="0">
                <a:solidFill>
                  <a:srgbClr val="FFFFFF"/>
                </a:solidFill>
                <a:latin typeface="Cormorant Garamond"/>
              </a:rPr>
              <a:t>Should I Stay</a:t>
            </a:r>
          </a:p>
          <a:p>
            <a:pPr algn="l">
              <a:lnSpc>
                <a:spcPct val="102000"/>
              </a:lnSpc>
            </a:pPr>
            <a:r>
              <a:rPr sz="5400" b="0" i="0">
                <a:solidFill>
                  <a:srgbClr val="FFFFFF"/>
                </a:solidFill>
                <a:latin typeface="Cormorant Garamond"/>
              </a:rPr>
              <a:t>or Should I Move?</a:t>
            </a:r>
          </a:p>
        </p:txBody>
      </p:sp>
      <p:sp>
        <p:nvSpPr>
          <p:cNvPr id="12" name="TextBox 11"/>
          <p:cNvSpPr txBox="1"/>
          <p:nvPr/>
        </p:nvSpPr>
        <p:spPr>
          <a:xfrm>
            <a:off x="658368" y="4663440"/>
            <a:ext cx="10874959" cy="365760"/>
          </a:xfrm>
          <a:prstGeom prst="rect">
            <a:avLst/>
          </a:prstGeom>
          <a:noFill/>
        </p:spPr>
        <p:txBody>
          <a:bodyPr wrap="square" lIns="0" rIns="0" tIns="0" bIns="0" anchor="t">
            <a:spAutoFit/>
          </a:bodyPr>
          <a:lstStyle/>
          <a:p>
            <a:pPr algn="l">
              <a:lnSpc>
                <a:spcPct val="115000"/>
              </a:lnSpc>
            </a:pPr>
            <a:r>
              <a:rPr sz="1500" b="0" i="0" spc="200">
                <a:solidFill>
                  <a:srgbClr val="C9A84C"/>
                </a:solidFill>
                <a:latin typeface="DM Sans"/>
              </a:rPr>
              <a:t>A Live Capability Position Read</a:t>
            </a:r>
          </a:p>
        </p:txBody>
      </p:sp>
      <p:sp>
        <p:nvSpPr>
          <p:cNvPr id="13" name="TextBox 12"/>
          <p:cNvSpPr txBox="1"/>
          <p:nvPr/>
        </p:nvSpPr>
        <p:spPr>
          <a:xfrm>
            <a:off x="658368" y="5074920"/>
            <a:ext cx="10874959" cy="365760"/>
          </a:xfrm>
          <a:prstGeom prst="rect">
            <a:avLst/>
          </a:prstGeom>
          <a:noFill/>
        </p:spPr>
        <p:txBody>
          <a:bodyPr wrap="square" lIns="0" rIns="0" tIns="0" bIns="0" anchor="t">
            <a:spAutoFit/>
          </a:bodyPr>
          <a:lstStyle/>
          <a:p>
            <a:pPr algn="l">
              <a:lnSpc>
                <a:spcPct val="115000"/>
              </a:lnSpc>
            </a:pPr>
            <a:r>
              <a:rPr sz="1400" b="0" i="1">
                <a:solidFill>
                  <a:srgbClr val="A9B8D0"/>
                </a:solidFill>
                <a:latin typeface="DM Sans"/>
              </a:rPr>
              <a:t>Read what your current work is building before you decide.</a:t>
            </a:r>
          </a:p>
        </p:txBody>
      </p:sp>
      <p:sp>
        <p:nvSpPr>
          <p:cNvPr id="14" name="Rectangle 13"/>
          <p:cNvSpPr/>
          <p:nvPr/>
        </p:nvSpPr>
        <p:spPr>
          <a:xfrm>
            <a:off x="658368" y="5623560"/>
            <a:ext cx="4114800" cy="502920"/>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5760720"/>
            <a:ext cx="4114800" cy="365760"/>
          </a:xfrm>
          <a:prstGeom prst="rect">
            <a:avLst/>
          </a:prstGeom>
          <a:noFill/>
        </p:spPr>
        <p:txBody>
          <a:bodyPr wrap="square" lIns="0" rIns="0" tIns="0" bIns="0" anchor="t">
            <a:spAutoFit/>
          </a:bodyPr>
          <a:lstStyle/>
          <a:p>
            <a:pPr algn="ctr">
              <a:lnSpc>
                <a:spcPct val="115000"/>
              </a:lnSpc>
            </a:pPr>
            <a:r>
              <a:rPr sz="1200" b="1" i="0" spc="300">
                <a:solidFill>
                  <a:srgbClr val="0F2347"/>
                </a:solidFill>
                <a:latin typeface="DM Sans"/>
              </a:rPr>
              <a:t>[ JOIN THE INTEREST LIST / REGISTER ]</a:t>
            </a:r>
          </a:p>
        </p:txBody>
      </p:sp>
      <p:sp>
        <p:nvSpPr>
          <p:cNvPr id="16" name="TextBox 15"/>
          <p:cNvSpPr txBox="1"/>
          <p:nvPr/>
        </p:nvSpPr>
        <p:spPr>
          <a:xfrm>
            <a:off x="658368" y="6355080"/>
            <a:ext cx="8229600" cy="274320"/>
          </a:xfrm>
          <a:prstGeom prst="rect">
            <a:avLst/>
          </a:prstGeom>
          <a:noFill/>
        </p:spPr>
        <p:txBody>
          <a:bodyPr wrap="square" lIns="0" rIns="0" tIns="0" bIns="0" anchor="t">
            <a:spAutoFit/>
          </a:bodyPr>
          <a:lstStyle/>
          <a:p>
            <a:pPr algn="l">
              <a:lnSpc>
                <a:spcPct val="115000"/>
              </a:lnSpc>
            </a:pPr>
            <a:r>
              <a:rPr sz="800" b="0" i="0" spc="200">
                <a:solidFill>
                  <a:srgbClr val="A9B8D0"/>
                </a:solidFill>
                <a:latin typeface="DM Sans"/>
              </a:rPr>
              <a:t>TEMIDAYO AFONJA   |   TEMIDAYOAFONJA.COM</a:t>
            </a:r>
          </a:p>
        </p:txBody>
      </p:sp>
      <p:sp>
        <p:nvSpPr>
          <p:cNvPr id="17" name="TextBox 16"/>
          <p:cNvSpPr txBox="1"/>
          <p:nvPr/>
        </p:nvSpPr>
        <p:spPr>
          <a:xfrm>
            <a:off x="10616184" y="6355080"/>
            <a:ext cx="914400" cy="274320"/>
          </a:xfrm>
          <a:prstGeom prst="rect">
            <a:avLst/>
          </a:prstGeom>
          <a:noFill/>
        </p:spPr>
        <p:txBody>
          <a:bodyPr wrap="square" lIns="0" rIns="0" tIns="0" bIns="0" anchor="t">
            <a:spAutoFit/>
          </a:bodyPr>
          <a:lstStyle/>
          <a:p>
            <a:pPr algn="r">
              <a:lnSpc>
                <a:spcPct val="115000"/>
              </a:lnSpc>
            </a:pPr>
            <a:r>
              <a:rPr sz="800" b="0" i="0">
                <a:solidFill>
                  <a:srgbClr val="A9B8D0"/>
                </a:solidFill>
                <a:latin typeface="DM Sans"/>
              </a:rPr>
              <a:t>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