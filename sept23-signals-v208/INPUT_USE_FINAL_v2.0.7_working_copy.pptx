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5143500" cx="9144000"/>
  <p:notesSz cx="5143500" cy="9144000"/>
  <p:embeddedFontLst>
    <p:embeddedFont>
      <p:font typeface="Cormorant Garamond"/>
      <p:regular r:id="rId45"/>
      <p:bold r:id="rId46"/>
      <p:italic r:id="rId47"/>
      <p:boldItalic r:id="rId48"/>
    </p:embeddedFont>
    <p:embeddedFont>
      <p:font typeface="Montserrat"/>
      <p:regular r:id="rId49"/>
      <p:bold r:id="rId50"/>
      <p:italic r:id="rId51"/>
      <p:boldItalic r:id="rId52"/>
    </p:embeddedFont>
    <p:embeddedFont>
      <p:font typeface="DM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QTHdQxO/Tz/5Dji6BoiR1EHK3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CormorantGaramond-bold.fntdata"/><Relationship Id="rId45" Type="http://schemas.openxmlformats.org/officeDocument/2006/relationships/font" Target="fonts/CormorantGaramon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CormorantGaramond-boldItalic.fntdata"/><Relationship Id="rId47" Type="http://schemas.openxmlformats.org/officeDocument/2006/relationships/font" Target="fonts/CormorantGaramond-italic.fntdata"/><Relationship Id="rId49" Type="http://schemas.openxmlformats.org/officeDocument/2006/relationships/font" Target="fonts/Montserrat-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Montserrat-italic.fntdata"/><Relationship Id="rId50" Type="http://schemas.openxmlformats.org/officeDocument/2006/relationships/font" Target="fonts/Montserrat-bold.fntdata"/><Relationship Id="rId53" Type="http://schemas.openxmlformats.org/officeDocument/2006/relationships/font" Target="fonts/DMSans-regular.fntdata"/><Relationship Id="rId52" Type="http://schemas.openxmlformats.org/officeDocument/2006/relationships/font" Target="fonts/Montserrat-boldItalic.fntdata"/><Relationship Id="rId11" Type="http://schemas.openxmlformats.org/officeDocument/2006/relationships/slide" Target="slides/slide7.xml"/><Relationship Id="rId55" Type="http://schemas.openxmlformats.org/officeDocument/2006/relationships/font" Target="fonts/DMSans-italic.fntdata"/><Relationship Id="rId10" Type="http://schemas.openxmlformats.org/officeDocument/2006/relationships/slide" Target="slides/slide6.xml"/><Relationship Id="rId54" Type="http://schemas.openxmlformats.org/officeDocument/2006/relationships/font" Target="fonts/DMSans-bold.fntdata"/><Relationship Id="rId13" Type="http://schemas.openxmlformats.org/officeDocument/2006/relationships/slide" Target="slides/slide9.xml"/><Relationship Id="rId57" Type="http://customschemas.google.com/relationships/presentationmetadata" Target="metadata"/><Relationship Id="rId12" Type="http://schemas.openxmlformats.org/officeDocument/2006/relationships/slide" Target="slides/slide8.xml"/><Relationship Id="rId56" Type="http://schemas.openxmlformats.org/officeDocument/2006/relationships/font" Target="fonts/DMSans-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g3fbec47727c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g3fbec47727c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START THE RECORDING ON THIS SLIDE. This is the first evergreen teaching slide. The dated holding slide is shown BEFORE recording begins and is never recorded.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0:00-0:30. THIRTY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welcome, name the session, name the method, state the duration. Thirty seconds, and biography is capped at TWO SENTENCES. The lived example that earns the method comes on the next slide, so do not start it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EVERGREEN-SAFE: no date on this slide by design.</a:t>
            </a:r>
            <a:endParaRPr/>
          </a:p>
        </p:txBody>
      </p:sp>
      <p:sp>
        <p:nvSpPr>
          <p:cNvPr id="18" name="Google Shape;18;g3fbec47727c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fbec47727c_0_81:notes"/>
          <p:cNvSpPr/>
          <p:nvPr>
            <p:ph idx="2" type="sldImg"/>
          </p:nvPr>
        </p:nvSpPr>
        <p:spPr>
          <a:xfrm>
            <a:off x="-3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g3fbec47727c_0_81:notes"/>
          <p:cNvSpPr txBox="1"/>
          <p:nvPr>
            <p:ph idx="1" type="body"/>
          </p:nvPr>
        </p:nvSpPr>
        <p:spPr>
          <a:xfrm>
            <a:off x="0" y="0"/>
            <a:ext cx="225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TIMING: 1:00-3:00.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WHAT TO SAY: two sentences of biography, then the question. The point of the list of fields is not breadth for its own sake — it is that the same person kept having to work out what carried over.</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WORKED EXAMPLE — use if it lands naturally, do not force 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 entered privacy as a Senior Consultant. I did not start at entry level, but I did have a learning curve. Audit had already taught me evidence, controls and risk. Cybersecurity language, frameworks and context had to be learned. That distinction between what travels and what must be relearned is part of what we are doing today.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WHAT NOT TO SAY: do not describe yourself as industry agnostic. Do not list employers or clients. Do not turn this into a credentials slide.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PARTICIPANT ACTION: listening.</a:t>
            </a:r>
            <a:endParaRPr/>
          </a:p>
        </p:txBody>
      </p:sp>
      <p:sp>
        <p:nvSpPr>
          <p:cNvPr id="32" name="Google Shape;32;g3fbec47727c_0_81:notes"/>
          <p:cNvSpPr txBox="1"/>
          <p:nvPr>
            <p:ph idx="12" type="sldNum"/>
          </p:nvPr>
        </p:nvSpPr>
        <p:spPr>
          <a:xfrm>
            <a:off x="0" y="0"/>
            <a:ext cx="225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0:30-1:20. FIFTY SECONDS. The reframe is the first fifteen. The rest is the story below.</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SPOKEN WARRANT - SAY IT, DO NOT SKIP IT. Approximately thirty to forty-five seconds, and no longer:</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"When I moved from audit into cybersecurity, I did not start from zero. Evidence, controls and risk travelled with me. Cybersecurity language, privacy frameworks and technical context did not. Portability was not plug-and-play. Something important came with me, and the new context still required real relearning."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Then land the point in one line: I did not start from zero, and I did not carry everything either.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ADD TO THE STORY. No dates, no employers, no metrics, no reactions, no reason for the move, no outcome, and nothing further about what transferred. This is warrant, not biography. If you find yourself explaining the move, you have already gone too long.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answer the stay/leave question. Say plainly that the session reads the position underneath it.</a:t>
            </a:r>
            <a:endParaRPr/>
          </a:p>
        </p:txBody>
      </p:sp>
      <p:sp>
        <p:nvSpPr>
          <p:cNvPr id="48" name="Google Shape;4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11f538478445b104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h11f538478445b104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THIS IS THE RECORDING AND PRIVACY DISCLOSURE. It must be delivered inside the first five minutes. Deliver it here, at minute 1:20.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1:20-2:00. FORTY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deliver the disclosure, name the boundary, point at the workbook, move. Forty seconds total. Do not let this become a preamble.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SAY IT ONCE, CALMLY, AND DO NOT EXPAND IT INTO A DISCLAIMER: "The teaching portion is recorded so people can revisit the method. Your scores and your private workbook stay yours. The live Q&amp;A at the end is not part of the evergreen replay."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WORKBOOK: page 1 carries the same boundary and privacy language. Tell the room the workbook is open in full from the start. Nothing is released in stages.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Participant microphones are muted by default for the whole recorded core.</a:t>
            </a:r>
            <a:endParaRPr/>
          </a:p>
        </p:txBody>
      </p:sp>
      <p:sp>
        <p:nvSpPr>
          <p:cNvPr id="64" name="Google Shape;64;h11f538478445b104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38333402142a079_2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38333402142a079_2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a:t>
            </a:r>
            <a:endParaRPr/>
          </a:p>
        </p:txBody>
      </p:sp>
      <p:sp>
        <p:nvSpPr>
          <p:cNvPr id="84" name="Google Shape;84;h38333402142a079_2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8333402142a079_2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h38333402142a079_2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2:00-3:30. NINETY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ask the question on the slide first and let it sit for a beat. Only then give it the name. The room recognizes the question before it learns the word.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in your own words: is the work still asking more of your judgment than it used to? That is what Density reads. It is about your conditions, not your effort, which is why a role can be demanding and important and still stop forming you.</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Give the one correction that matters, that busy is not the same as forming, and stop. The full teaching treatment is downstream, not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take questions on the definition now. Say they will make more sense once people have scored.</a:t>
            </a:r>
            <a:endParaRPr/>
          </a:p>
        </p:txBody>
      </p:sp>
      <p:sp>
        <p:nvSpPr>
          <p:cNvPr id="92" name="Google Shape;92;h38333402142a079_2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38333402142a079_2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h38333402142a079_2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3:30-5:00. NINETY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same shape as the last slide. Ask the question, let it sit, then name it. The story on slide 2 was the warrant for this slide, so you can refer back to it in a phrase rather than retelling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in your own words: would what you are building still be useful somewhere else, and could you make it legible to someone outside your organization using evidence rather than your title? That is Optionality.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Next slide begins the private scoring. Tell the room to have the workbook open at page 2.</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endParaRPr/>
          </a:p>
        </p:txBody>
      </p:sp>
      <p:sp>
        <p:nvSpPr>
          <p:cNvPr id="106" name="Google Shape;106;h38333402142a079_2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2.</a:t>
            </a:r>
            <a:br>
              <a:rPr lang="en-US"/>
            </a:br>
            <a:br>
              <a:rPr lang="en-US"/>
            </a:br>
            <a:r>
              <a:rPr lang="en-US"/>
              <a:t>TIMING: 5:00-6:40.</a:t>
            </a:r>
            <a:br>
              <a:rPr lang="en-US"/>
            </a:br>
            <a:br>
              <a:rPr lang="en-US"/>
            </a:br>
            <a:r>
              <a:rPr lang="en-US"/>
              <a:t>FACILITATION: One hundred seconds. Read each statement once, then stay silent while people score. Do not fill the silence.</a:t>
            </a:r>
            <a:br>
              <a:rPr lang="en-US"/>
            </a:br>
            <a:br>
              <a:rPr lang="en-US"/>
            </a:br>
            <a:r>
              <a:rPr lang="en-US"/>
              <a:t>WHAT TO SAY: score each statement 1 to 5 against the last ninety days only. No evidence line yet — that is deliberate, and you will see why.</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2.</a:t>
            </a:r>
            <a:br>
              <a:rPr lang="en-US"/>
            </a:br>
            <a:br>
              <a:rPr lang="en-US"/>
            </a:br>
            <a:r>
              <a:rPr lang="en-US"/>
              <a:t>TIMING: 6:40-8:10.</a:t>
            </a:r>
            <a:br>
              <a:rPr lang="en-US"/>
            </a:br>
            <a:br>
              <a:rPr lang="en-US"/>
            </a:br>
            <a:r>
              <a:rPr lang="en-US"/>
              <a:t>FACILITATION: Ninety seconds. Same rhythm. Do not signal that the scores are expected to change — that reveal has to be earned by the evidence pass.</a:t>
            </a:r>
            <a:br>
              <a:rPr lang="en-US"/>
            </a:br>
            <a:br>
              <a:rPr lang="en-US"/>
            </a:br>
            <a:r>
              <a:rPr lang="en-US"/>
              <a:t>WHAT TO SAY: score each statement 1 to 5 against the last ninety days only. No evidence line yet — that is deliberate, and you will see why.</a:t>
            </a:r>
            <a:endParaRPr/>
          </a:p>
        </p:txBody>
      </p:sp>
      <p:sp>
        <p:nvSpPr>
          <p:cNvPr id="141" name="Google Shape;1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2.</a:t>
            </a:r>
            <a:br>
              <a:rPr lang="en-US"/>
            </a:br>
            <a:br>
              <a:rPr lang="en-US"/>
            </a:br>
            <a:r>
              <a:rPr lang="en-US"/>
              <a:t>TIMING: 8:10-8:40.</a:t>
            </a:r>
            <a:br>
              <a:rPr lang="en-US"/>
            </a:br>
            <a:br>
              <a:rPr lang="en-US"/>
            </a:br>
            <a:r>
              <a:rPr lang="en-US"/>
              <a:t>FACILITATION: Thirty seconds. Total and hold. Do not explain the states yet.</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3.</a:t>
            </a:r>
            <a:br>
              <a:rPr lang="en-US"/>
            </a:br>
            <a:br>
              <a:rPr lang="en-US"/>
            </a:br>
            <a:r>
              <a:rPr lang="en-US"/>
              <a:t>TIMING: 8:40-10:10.</a:t>
            </a:r>
            <a:br>
              <a:rPr lang="en-US"/>
            </a:br>
            <a:br>
              <a:rPr lang="en-US"/>
            </a:br>
            <a:r>
              <a:rPr lang="en-US"/>
              <a:t>FACILITATION: Ninety seconds.</a:t>
            </a:r>
            <a:br>
              <a:rPr lang="en-US"/>
            </a:br>
            <a:br>
              <a:rPr lang="en-US"/>
            </a:br>
            <a:r>
              <a:rPr lang="en-US"/>
              <a:t>WHAT TO SAY: score each statement 1 to 5 against the last ninety days only. No evidence line yet — that is deliberate, and you will see why.</a:t>
            </a:r>
            <a:endParaRP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3.</a:t>
            </a:r>
            <a:br>
              <a:rPr lang="en-US"/>
            </a:br>
            <a:br>
              <a:rPr lang="en-US"/>
            </a:br>
            <a:r>
              <a:rPr lang="en-US"/>
              <a:t>TIMING: 10:10-11:40.</a:t>
            </a:r>
            <a:br>
              <a:rPr lang="en-US"/>
            </a:br>
            <a:br>
              <a:rPr lang="en-US"/>
            </a:br>
            <a:r>
              <a:rPr lang="en-US"/>
              <a:t>FACILITATION: Ninety seconds. This is the last block of the first pass.</a:t>
            </a:r>
            <a:br>
              <a:rPr lang="en-US"/>
            </a:br>
            <a:br>
              <a:rPr lang="en-US"/>
            </a:br>
            <a:r>
              <a:rPr lang="en-US"/>
              <a:t>WHAT TO SAY: score each statement 1 to 5 against the last ninety days only. No evidence line yet — that is deliberate, and you will see why.</a:t>
            </a:r>
            <a:endParaRPr/>
          </a:p>
        </p:txBody>
      </p:sp>
      <p:sp>
        <p:nvSpPr>
          <p:cNvPr id="201" name="Google Shape;2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3.</a:t>
            </a:r>
            <a:br>
              <a:rPr lang="en-US"/>
            </a:br>
            <a:br>
              <a:rPr lang="en-US"/>
            </a:br>
            <a:r>
              <a:rPr lang="en-US"/>
              <a:t>TIMING: 11:40-12:00.</a:t>
            </a:r>
            <a:br>
              <a:rPr lang="en-US"/>
            </a:br>
            <a:br>
              <a:rPr lang="en-US"/>
            </a:br>
            <a:r>
              <a:rPr lang="en-US"/>
              <a:t>FACILITATION: Twenty seconds. You now hold two numbers. The pair is the point of today.</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223" name="Google Shape;22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38333402142a079_2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h38333402142a079_2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a:t>
            </a:r>
            <a:endParaRPr/>
          </a:p>
        </p:txBody>
      </p:sp>
      <p:sp>
        <p:nvSpPr>
          <p:cNvPr id="239" name="Google Shape;239;h38333402142a079_2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11f538478445b104_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11f538478445b104_2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US"/>
              <a:t>RECORDING ON.</a:t>
            </a:r>
            <a:br>
              <a:rPr lang="en-US"/>
            </a:br>
            <a:br>
              <a:rPr lang="en-US"/>
            </a:br>
            <a:r>
              <a:rPr lang="en-US"/>
              <a:t>TIMING: 12:00-13:00. SIXTY SECONDS.</a:t>
            </a:r>
            <a:br>
              <a:rPr lang="en-US"/>
            </a:br>
            <a:br>
              <a:rPr lang="en-US"/>
            </a:br>
            <a:r>
              <a:rPr lang="en-US"/>
              <a:t>FACILITATION: name each square once. Do not teach the state costs here — that block is at 35:00. Do not ask which square anyone is in.</a:t>
            </a:r>
            <a:br>
              <a:rPr lang="en-US"/>
            </a:b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Lowest: Stagnant.</a:t>
            </a:r>
            <a:r>
              <a:rPr lang="en-US" sz="1100">
                <a:latin typeface="Arial"/>
                <a:ea typeface="Arial"/>
                <a:cs typeface="Arial"/>
                <a:sym typeface="Arial"/>
              </a:rPr>
              <a:t> Bottom-left, both axes low. "The work stopped asking more of you" plus no portability. Nothing is accruing in either direction.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Depth Trap.</a:t>
            </a:r>
            <a:r>
              <a:rPr lang="en-US" sz="1100">
                <a:latin typeface="Arial"/>
                <a:ea typeface="Arial"/>
                <a:cs typeface="Arial"/>
                <a:sym typeface="Arial"/>
              </a:rPr>
              <a:t> Top-left. High Density, low Optionality. Reads as second-lowest but clearly above Stagnant, because something real is still being built — it just doesn't travel.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Fragile.</a:t>
            </a:r>
            <a:r>
              <a:rPr lang="en-US" sz="1100">
                <a:latin typeface="Arial"/>
                <a:ea typeface="Arial"/>
                <a:cs typeface="Arial"/>
                <a:sym typeface="Arial"/>
              </a:rPr>
              <a:t> Bottom-right. Low Density, high Optionality. What you have moves, but nothing new is being added underneath it.</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Highest: Compounding.</a:t>
            </a:r>
            <a:r>
              <a:rPr lang="en-US" sz="1100">
                <a:latin typeface="Arial"/>
                <a:ea typeface="Arial"/>
                <a:cs typeface="Arial"/>
                <a:sym typeface="Arial"/>
              </a:rPr>
              <a:t> Top-right, both high, and the only square you inverted to navy.</a:t>
            </a:r>
            <a:br>
              <a:rPr lang="en-US"/>
            </a:br>
            <a:r>
              <a:rPr lang="en-US"/>
              <a:t>Compounding is set apart because it is the one square where both axes are high. It is a structural fact about the matrix, not a ranking, and not a square to aim for. Say "state is not identity" out loud on the next slide.</a:t>
            </a:r>
            <a:endParaRPr/>
          </a:p>
        </p:txBody>
      </p:sp>
      <p:sp>
        <p:nvSpPr>
          <p:cNvPr id="247" name="Google Shape;247;h11f538478445b104_2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3.</a:t>
            </a:r>
            <a:br>
              <a:rPr lang="en-US"/>
            </a:br>
            <a:br>
              <a:rPr lang="en-US"/>
            </a:br>
            <a:r>
              <a:rPr lang="en-US"/>
              <a:t>TIMING: 13:00-14:00. SIXTY SECONDS.</a:t>
            </a:r>
            <a:br>
              <a:rPr lang="en-US"/>
            </a:br>
            <a:br>
              <a:rPr lang="en-US"/>
            </a:br>
            <a:r>
              <a:rPr lang="en-US"/>
              <a:t>FACILITATION: everyone proceeds on the clock. There is no readiness poll, no staged release and no waiting for the room — this has to work with a large audience.</a:t>
            </a:r>
            <a:br>
              <a:rPr lang="en-US"/>
            </a:br>
            <a:br>
              <a:rPr lang="en-US"/>
            </a:br>
            <a:r>
              <a:rPr lang="en-US"/>
              <a:t>Say "state is not identity" here, plainly, and say that boundary is a legitimate reading rather than a failure to decide.</a:t>
            </a:r>
            <a:br>
              <a:rPr lang="en-US"/>
            </a:br>
            <a:br>
              <a:rPr lang="en-US"/>
            </a:br>
            <a:r>
              <a:rPr lang="en-US"/>
              <a:t>Do not ask for a show of hands on states. Do not invite anyone to name their square, their employer or their situation.</a:t>
            </a:r>
            <a:endParaRPr/>
          </a:p>
        </p:txBody>
      </p:sp>
      <p:sp>
        <p:nvSpPr>
          <p:cNvPr id="274" name="Google Shape;27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WORKBOOK PAGE 4.</a:t>
            </a:r>
            <a:br>
              <a:rPr lang="en-US"/>
            </a:br>
            <a:br>
              <a:rPr lang="en-US"/>
            </a:br>
            <a:r>
              <a:rPr lang="en-US"/>
              <a:t>TIMING: 14:00-16:00. TWO MINUTES.</a:t>
            </a:r>
            <a:br>
              <a:rPr lang="en-US"/>
            </a:br>
            <a:br>
              <a:rPr lang="en-US"/>
            </a:br>
            <a:r>
              <a:rPr lang="en-US"/>
              <a:t>FACILITATION: the protocol is symmetric — that is the whole point. Low scores need evidence too, or the exercise becomes self-criticism.</a:t>
            </a:r>
            <a:br>
              <a:rPr lang="en-US"/>
            </a:br>
            <a:br>
              <a:rPr lang="en-US"/>
            </a:br>
            <a:r>
              <a:rPr lang="en-US"/>
              <a:t>The ? is not a softer 3. A 3 is a real reading of a mixed pattern. A ? means you could not support any number. One question mark only, and it stays inside the 1 to 5 scale: the workbook will not accept 0?, 6?, two question marks, or a question mark on its own.</a:t>
            </a:r>
            <a:br>
              <a:rPr lang="en-US"/>
            </a:br>
            <a:br>
              <a:rPr lang="en-US"/>
            </a:br>
            <a:r>
              <a:rPr lang="en-US"/>
              <a:t>Give permission for the ? BEFORE the rescore starts, or people round down to look rigorous and reproduce the artefact the rule exists to prevent.</a:t>
            </a:r>
            <a:endParaRPr/>
          </a:p>
        </p:txBody>
      </p:sp>
      <p:sp>
        <p:nvSpPr>
          <p:cNvPr id="296" name="Google Shape;2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WORKBOOK PAGE 4.</a:t>
            </a:r>
            <a:br>
              <a:rPr lang="en-US"/>
            </a:br>
            <a:br>
              <a:rPr lang="en-US"/>
            </a:br>
            <a:r>
              <a:rPr lang="en-US"/>
              <a:t>TIMING: 16:00-19:00. THREE MINUTES. Sixty seconds each.</a:t>
            </a:r>
            <a:br>
              <a:rPr lang="en-US"/>
            </a:br>
            <a:br>
              <a:rPr lang="en-US"/>
            </a:br>
            <a:r>
              <a:rPr lang="en-US"/>
              <a:t>FACILITATION: one minute per misreading, in order, then stop. Do not take questions here — hold them for minute 50.</a:t>
            </a:r>
            <a:br>
              <a:rPr lang="en-US"/>
            </a:br>
            <a:br>
              <a:rPr lang="en-US"/>
            </a:br>
            <a:r>
              <a:rPr lang="en-US"/>
              <a:t>This slide replaces three separate calibration slides. Do not expand it back out and do not add a fourth misreading.</a:t>
            </a:r>
            <a:br>
              <a:rPr lang="en-US"/>
            </a:br>
            <a:br>
              <a:rPr lang="en-US"/>
            </a:br>
            <a:r>
              <a:rPr lang="en-US"/>
              <a:t>ONE: this occurs when someone scores the work they are about to do rather than the work that actually occurred inside the evidence window. Do not describe it as common, typical or most frequent — this session has no measurement that supports a prevalence claim.</a:t>
            </a:r>
            <a:br>
              <a:rPr lang="en-US"/>
            </a:br>
            <a:br>
              <a:rPr lang="en-US"/>
            </a:br>
            <a:r>
              <a:rPr lang="en-US"/>
              <a:t>TWO: careful with tone. It can describe someone genuinely excellent at the work. Being needed is good; assuming it forms you is the misread.</a:t>
            </a:r>
            <a:br>
              <a:rPr lang="en-US"/>
            </a:br>
            <a:br>
              <a:rPr lang="en-US"/>
            </a:br>
            <a:r>
              <a:rPr lang="en-US"/>
              <a:t>THREE: say the panel as written. Do not rank the causes and do not imply one is more common than another.</a:t>
            </a:r>
            <a:br>
              <a:rPr lang="en-US"/>
            </a:br>
            <a:br>
              <a:rPr lang="en-US"/>
            </a:br>
            <a:r>
              <a:rPr lang="en-US"/>
              <a:t>Land the third one and move straight into the rescore. Do not take questions here — hold them for minute 50.</a:t>
            </a:r>
            <a:endParaRPr/>
          </a:p>
        </p:txBody>
      </p:sp>
      <p:sp>
        <p:nvSpPr>
          <p:cNvPr id="321" name="Google Shape;32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PRIVATE WRITING.  WORKBOOK PAGES 5 AND 6.</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19:00-31:00. TWELVE MINUTES. PROTECTED AND NON-NEGOTIABLE.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read the instruction once, then hold this slide and stay quiet. One short orientation cue at the midpoint, then the two warnings. Nothing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NEVER RECOVER LOST TIME HERE. This block is the evidentiary centre of the session and the thing that makes it an assessment rather than a talk. If you are behind at minute 19, take the time from the 45:00-48:00 continuation sequence or the 48:00-50:00 buffer, never from this block.</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slide holds for the full twelve minutes. Do not advance and do not fill the silence.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ONE MIDPOINT CUE AT ABOUT 25:00. This is facilitator presence, not teaching. Say it once, quietly, then return to silence: "If you are around statement six, you are on pace. Keep the evidence phrases short." Do not add anything to it, do not answer a question in it, and do not restate the protocol.</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Give a two-minute warning at 29:00 and a thirty-second warning at 30:30. Keep your own microphone quiet the rest of the time.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Short evidence phrases, not essays. Twelve statements in twelve minutes is sixty seconds each.</a:t>
            </a:r>
            <a:endParaRPr/>
          </a:p>
        </p:txBody>
      </p:sp>
      <p:sp>
        <p:nvSpPr>
          <p:cNvPr id="347" name="Google Shape;34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PAGES 5 AND 6.</a:t>
            </a:r>
            <a:br>
              <a:rPr lang="en-US"/>
            </a:br>
            <a:br>
              <a:rPr lang="en-US"/>
            </a:br>
            <a:r>
              <a:rPr lang="en-US"/>
              <a:t>TIMING: 31:00-32:30. NINETY SECONDS.</a:t>
            </a:r>
            <a:br>
              <a:rPr lang="en-US"/>
            </a:br>
            <a:br>
              <a:rPr lang="en-US"/>
            </a:br>
            <a:r>
              <a:rPr lang="en-US"/>
              <a:t>FACILITATION: insist on the re-total. People try to eyeball whether the square changed. The number has to be recomputed.</a:t>
            </a:r>
            <a:br>
              <a:rPr lang="en-US"/>
            </a:br>
            <a:br>
              <a:rPr lang="en-US"/>
            </a:br>
            <a:r>
              <a:rPr lang="en-US"/>
              <a:t>A marked score counts as its number when totalling — 3? totals as 3. The question mark changes what happens NEXT, on the sensitivity slide, not the arithmetic here.</a:t>
            </a:r>
            <a:br>
              <a:rPr lang="en-US"/>
            </a:br>
            <a:br>
              <a:rPr lang="en-US"/>
            </a:br>
            <a:r>
              <a:rPr lang="en-US"/>
              <a:t>Boundary band: a corrected total of 17 to 21 overrides the ordinary high/low split. Say it again here.</a:t>
            </a:r>
            <a:endParaRPr/>
          </a:p>
        </p:txBody>
      </p:sp>
      <p:sp>
        <p:nvSpPr>
          <p:cNvPr id="372" name="Google Shape;37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WORKBOOK PAGE 7.</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32:30-34:00. NINETY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thirty seconds per tier. Teach all three even though most of the room will only need one.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SLIDE IS NOW THE SUMMARY, NOT THE SPECIFICATION. The full procedure is on workbook page 4 and is repeated below. Read the three tiers off the slide and let the workbook carry the mechanics.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Teach all three tiers explicitly. A participant with no marked items can sit through the procedure believing they must run it. Say plainly that they do not.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NONE: no range required. 1 OR 2: the axis is provisional, run the check. 3 OR MORE: the axis is incomplete and you do not place on it today.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FULL SENSITIVITY PROCEDURE, for the room that asks and for workbook page 4: total the axis using the numbers exactly as written; total it again with every marked item one point lower; total it again one point higher. Every neighbouring score stays bounded inside the 1 to 5 scale, so a 1? is never tested at 0 and a 5? never at 6. If the range includes any total from 17 to 21, do not force a state, and hold the axis as boundary.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DUAL-AXIS BOUNDARY RULE, said plainly:</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exactly ONE axis is inside 17 to 21, read the two adjacent states that the OTHER axis selects. A boundary Density with high Optionality reads across Compounding and Fragile.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BOTH axes are inside 17 to 21, record Boundary and assign no single state at all.</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Say the boundary out loud: this is an operational convention, not a statistical confidence interval, and it carries no margin of error. Boundary and incomplete are legitimate outcomes.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METHOD UNCHANGED IN v2.0.6. Only the slide face was simplified. The tiers, the band, the bounded neighbouring scores and the dual-axis rule are exactly what v2.0.5 carried.</a:t>
            </a:r>
            <a:endParaRPr/>
          </a:p>
        </p:txBody>
      </p:sp>
      <p:sp>
        <p:nvSpPr>
          <p:cNvPr id="390" name="Google Shape;3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PRIVATE WRITING.  WORKBOOK PAGE 7.</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34:00-35:00. SIXTY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give the instruction, then let them place. Do not narrate over the writing.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State plainly that boundary and incomplete are real readings, not failures.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one poll this session permits is the optional anonymous arrival poll, which runs BEFORE the recording starts while the dated holding slide is up. It is specified in the SOP. It never runs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invite anyone to name their square, their confidence number, their employer or their circumstances.</a:t>
            </a:r>
            <a:endParaRPr/>
          </a:p>
        </p:txBody>
      </p:sp>
      <p:sp>
        <p:nvSpPr>
          <p:cNvPr id="416" name="Google Shape;41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bec47727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fbec47727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OPTIONAL, AND OUT OF THE TIMED CORE.</a:t>
            </a:r>
            <a:br>
              <a:rPr lang="en-US"/>
            </a:br>
            <a:br>
              <a:rPr lang="en-US"/>
            </a:br>
            <a:r>
              <a:rPr lang="en-US"/>
              <a:t>This interaction belonged to the earlier long-form build. The 60-minute run of show has no room for it and it is NOT part of the fifty-minute core. Do not insert it.</a:t>
            </a:r>
            <a:br>
              <a:rPr lang="en-US"/>
            </a:br>
            <a:br>
              <a:rPr lang="en-US"/>
            </a:br>
            <a:r>
              <a:rPr lang="en-US"/>
              <a:t>Use it only if a delivery genuinely runs ahead — which should not happen — or in a longer non-Lightning-Lesson delivery of the same material.</a:t>
            </a:r>
            <a:br>
              <a:rPr lang="en-US"/>
            </a:br>
            <a:br>
              <a:rPr lang="en-US"/>
            </a:br>
            <a:r>
              <a:rPr lang="en-US"/>
              <a:t>If it is ever used: DO NOT read singleton counts aloud. DO NOT ask anyone to reveal their state. DO NOT say "most people change" — that is a research claim this session cannot support.</a:t>
            </a:r>
            <a:endParaRPr/>
          </a:p>
        </p:txBody>
      </p:sp>
      <p:sp>
        <p:nvSpPr>
          <p:cNvPr id="439" name="Google Shape;439;g3fbec47727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35:00-38:00. THREE MINUTES. Forty-five seconds per state.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one pass, four states, no favourites. Keep your eye on the clock, this block overruns easily.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Give each state its essential reading and stop. Do NOT teach the heaviest square for this room and do NOT deepen a state based on audience distribution. Those are Intensive Edition mechanics and there is no room for them in sixty minutes.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you are running behind, this is NOT the block to cut. Take it from 45:00-48:00.</a:t>
            </a:r>
            <a:endParaRPr/>
          </a:p>
        </p:txBody>
      </p:sp>
      <p:sp>
        <p:nvSpPr>
          <p:cNvPr id="458" name="Google Shape;45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WORKBOOK PAGE 8.</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38:00-41:00. THREE MINUTES. About twenty-five seconds each.</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read the category and its line, move to the next. Resist elaborating.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Read each category and its one-line reading. Do not work examples, there is no room for them in sixty minutes.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formation conditions is a category to test, not an instruction to stay.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Prepare for exit is preparation, not a recommendation to resign. Say it that way.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Say the bottom line as written: no square prescribes a category. Someone in Depth Trap is not instructed to translate; someone in Fragile is not instructed to exit.</a:t>
            </a:r>
            <a:endParaRPr/>
          </a:p>
        </p:txBody>
      </p:sp>
      <p:sp>
        <p:nvSpPr>
          <p:cNvPr id="481" name="Google Shape;4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PRIVATE WRITING.  WORKBOOK PAGE 8.</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41:00-45:00. FOUR MINUTES. This is a real writing period, protect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read the four portability questions once, read the three prompts once, then stop talking for the rest of the block.</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FOUR-QUESTION PORTABILITY AUDIT IS ON THIS SLIDE AND IS SPOKEN ONCE, HERE. It is the interpretive frame for the note, not a new exercise: there is nothing to score and nothing to hand in. Read them and move on:</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travels? What does not? What can I prove? What must I relearn?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SAY THE DESTINATION BOUNDARY IN ONE LINE. You cannot fully answer what travels until you know where it is travelling to. Generic portability is not destination-specific portability, and this session has not named anyone's destination. What the four questions do here is tell you which of them your evidence can already answer and which one is still open.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Read the three prompts once, then stop talking and let people write. Four minutes feels long from the front and short from the seat.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call it the Next-Move Decision. That is the Intensive Edition's artifact and it is a different, longer instrument.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ask anyone to read theirs aloud, and do not invite anyone to share a move category, an employer or a situation.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Give a sixty-second warning at 44:00.</a:t>
            </a:r>
            <a:endParaRPr/>
          </a:p>
        </p:txBody>
      </p:sp>
      <p:sp>
        <p:nvSpPr>
          <p:cNvPr id="520" name="Google Shape;52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45:00-46:00. SIXTY SECONDS. The continuation sequence is the first place to take time from if you are behind.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read the two routes in order, land route one, then move. Do not linger and do not add examples.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ROUTE 1 IS NOT A THROWAWAY. Say it first and say it plainly. The credibility of the next slide depends on genuinely releasing the people who have enough.</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"Some of you now have enough to act. Good, you do not need anything else from me today. Some of you want a structured system you can keep working with privately. Different needs, different routes."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Keep the Proof is not on this slide either, and that is deliberate. It answers a different problem and belongs in follow-up, not in the recorded continuation sequence.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NO PRICING ON THIS SLIDE. Do not say "if you want to buy", "I have two offers" or "special opportunity".</a:t>
            </a:r>
            <a:endParaRPr/>
          </a:p>
        </p:txBody>
      </p:sp>
      <p:sp>
        <p:nvSpPr>
          <p:cNvPr id="553" name="Google Shape;55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fbe9e34838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3fbe9e34838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46:00-47:00.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name what today already gave them, then name what the Field Kit adds. Sixty seconds. If you are behind, this is the first slide to shorten.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Say so. This session delivers a full guided reading. The Field Kit is not the rest of it. It is a private system they can own, revisit and rerun as conditions change.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the Field Kit the complete version of the session, the full assessment, required, included, a bundle, or more worksheets.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IMMEDIATELY BEFORE DELIVERY, VERIFY THE CURRENT PUBLIC PRICE AND PURCHASE ROUTE. If both remain current, post the purchase link and current price in the live chat. The permanent replay slide remains price-free.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PREBUILT CHAT MESSAGE: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Continue privately with the Capability Formation Field Kit: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https://temidayoafonja.com/fieldkit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PRICE APPEARS ON THIS SLIDE FACE BY DESIGN. No discount, no attendee price, no coupon, no bundle, no crossed-out price, no urgency.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former paid group workshop is retired from active public sale and is NOT the current public next step. Do not mention it.</a:t>
            </a:r>
            <a:endParaRPr/>
          </a:p>
        </p:txBody>
      </p:sp>
      <p:sp>
        <p:nvSpPr>
          <p:cNvPr id="576" name="Google Shape;576;g3fbe9e34838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fbe9e34838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fbe9e34838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RECORDING OFF.</a:t>
            </a:r>
            <a:endParaRPr/>
          </a:p>
        </p:txBody>
      </p:sp>
      <p:sp>
        <p:nvSpPr>
          <p:cNvPr id="611" name="Google Shape;611;g3fbe9e34838_0_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fbec47727c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fbec47727c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21" name="Google Shape;621;g3fbec47727c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11f538478445b104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h11f538478445b104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28" name="Google Shape;628;h11f538478445b104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37" name="Google Shape;63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live-only. Not part of the recorded core.</a:t>
            </a:r>
            <a:br>
              <a:rPr lang="en-US"/>
            </a:br>
            <a:br>
              <a:rPr lang="en-US"/>
            </a:br>
            <a:r>
              <a:rPr lang="en-US"/>
              <a:t>Use during Q&amp;A if someone asks how to read organisational signals. These are questions to investigate, never predictions about a specific employer.</a:t>
            </a:r>
            <a:endParaRPr/>
          </a:p>
        </p:txBody>
      </p:sp>
      <p:sp>
        <p:nvSpPr>
          <p:cNvPr id="656" name="Google Shape;6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live-only. Moved out of the timed core deliberately.</a:t>
            </a:r>
            <a:br>
              <a:rPr lang="en-US"/>
            </a:br>
            <a:br>
              <a:rPr lang="en-US"/>
            </a:br>
            <a:r>
              <a:rPr lang="en-US"/>
              <a:t>If asked: one application, sixty seconds, no tool names, no job-loss predictions, no industry forecasts.</a:t>
            </a:r>
            <a:endParaRPr/>
          </a:p>
        </p:txBody>
      </p:sp>
      <p:sp>
        <p:nvSpPr>
          <p:cNvPr id="674" name="Google Shape;67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 live-only. Useful when someone scores low on statement 8 and reads it as a verdict on ability.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endParaRPr/>
          </a:p>
        </p:txBody>
      </p:sp>
      <p:sp>
        <p:nvSpPr>
          <p:cNvPr id="692" name="Google Shape;69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live-only. This is the sharpest version of misreading two and a useful answer in Q&amp;A.</a:t>
            </a:r>
            <a:br>
              <a:rPr lang="en-US"/>
            </a:br>
            <a:br>
              <a:rPr lang="en-US"/>
            </a:br>
            <a:r>
              <a:rPr lang="en-US"/>
              <a:t>Not a diagnosis of anyone's specific promotion.</a:t>
            </a:r>
            <a:endParaRPr/>
          </a:p>
        </p:txBody>
      </p:sp>
      <p:sp>
        <p:nvSpPr>
          <p:cNvPr id="710" name="Google Shape;71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OPTIONAL INSTITUTIONAL CLOSE — use INSTEAD of the continuation slides 23 and 24 when delivering for a university, alumni association, professional body or employee group.</a:t>
            </a:r>
            <a:br>
              <a:rPr lang="en-US"/>
            </a:br>
            <a:br>
              <a:rPr lang="en-US"/>
            </a:br>
            <a:r>
              <a:rPr lang="en-US"/>
              <a:t>No pricing. No Field Kit or private-read pitch. No product CTA of any kind.</a:t>
            </a:r>
            <a:br>
              <a:rPr lang="en-US"/>
            </a:br>
            <a:br>
              <a:rPr lang="en-US"/>
            </a:br>
            <a:r>
              <a:rPr lang="en-US"/>
              <a:t>This lets the same core deck serve institutional outreach without building a second presentation.</a:t>
            </a:r>
            <a:endParaRPr/>
          </a:p>
        </p:txBody>
      </p:sp>
      <p:sp>
        <p:nvSpPr>
          <p:cNvPr id="728" name="Google Shape;72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OPTIONAL, AND OUT OF THE TIMED CORE.</a:t>
            </a:r>
            <a:br>
              <a:rPr lang="en-US"/>
            </a:br>
            <a:br>
              <a:rPr lang="en-US"/>
            </a:br>
            <a:r>
              <a:rPr lang="en-US"/>
              <a:t>This interaction belonged to the earlier long-form build. The 60-minute run of show has no room for it and it is NOT part of the fifty-minute core. Do not insert it.</a:t>
            </a:r>
            <a:br>
              <a:rPr lang="en-US"/>
            </a:br>
            <a:br>
              <a:rPr lang="en-US"/>
            </a:br>
            <a:r>
              <a:rPr lang="en-US"/>
              <a:t>Use it only if a delivery genuinely runs ahead — which should not happen — or in a longer non-Lightning-Lesson delivery of the same material.</a:t>
            </a:r>
            <a:br>
              <a:rPr lang="en-US"/>
            </a:br>
            <a:br>
              <a:rPr lang="en-US"/>
            </a:br>
            <a:r>
              <a:rPr lang="en-US"/>
              <a:t>If it is ever used: DO NOT read singleton counts aloud. DO NOT ask anyone to reveal their state. DO NOT say "most people change" — that is a research claim this session cannot support.</a:t>
            </a:r>
            <a:endParaRPr/>
          </a:p>
        </p:txBody>
      </p:sp>
      <p:sp>
        <p:nvSpPr>
          <p:cNvPr id="740" name="Google Shape;74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PRE-SESSION HOLDING SLIDE. NOT RECORDED, EVER. It carries the only date in the deck and it is shown before the recording starts.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Up from 5:45 PM CT with the recording OFF. At 6:00 PM CT start the recording on slide 1.</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OPTIONAL ANONYMOUS ARRIVAL POLL, PRE-RECORDING ONLY. If the platform makes an anonymous poll easy, it may run while this slide is up. If it does not, skip it. It is optional and nothing depends on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one question is "What brought you here?" and the options are: my work feels static; I am considering an internal move; I am considering a career pivot; my role has changed around me; I want to know what would still count somewhere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NEVER ASK, HERE OR ANYWHERE: what state someone is in, their score, their employer, whether they plan to quit, or whether they expect layoffs. Nothing diagnostic, nothing score-revealing, nothing decision-revealing.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the poll before the recording starts. Do not read individual answers aloud, do not report a distribution into the recorded core, and do not refer back to it once recording begins.</a:t>
            </a:r>
            <a:endParaRPr/>
          </a:p>
        </p:txBody>
      </p:sp>
      <p:sp>
        <p:nvSpPr>
          <p:cNvPr id="760" name="Google Shape;760;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a:t>
            </a:r>
            <a:br>
              <a:rPr lang="en-US"/>
            </a:br>
            <a:br>
              <a:rPr lang="en-US"/>
            </a:br>
            <a:r>
              <a:rPr lang="en-US"/>
              <a:t>TIMING: 12:00-13:00. SIXTY SECONDS.</a:t>
            </a:r>
            <a:br>
              <a:rPr lang="en-US"/>
            </a:br>
            <a:br>
              <a:rPr lang="en-US"/>
            </a:br>
            <a:r>
              <a:rPr lang="en-US"/>
              <a:t>FACILITATION: name each square once. Do not teach the state costs here — that block is at 35:00. Do not ask which square anyone is in.</a:t>
            </a:r>
            <a:br>
              <a:rPr lang="en-US"/>
            </a:b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Lowest: Stagnant.</a:t>
            </a:r>
            <a:r>
              <a:rPr lang="en-US" sz="1100">
                <a:latin typeface="Arial"/>
                <a:ea typeface="Arial"/>
                <a:cs typeface="Arial"/>
                <a:sym typeface="Arial"/>
              </a:rPr>
              <a:t> Bottom-left, both axes low. "The work stopped asking more of you" plus no portability. Nothing is accruing in either direction.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Depth Trap.</a:t>
            </a:r>
            <a:r>
              <a:rPr lang="en-US" sz="1100">
                <a:latin typeface="Arial"/>
                <a:ea typeface="Arial"/>
                <a:cs typeface="Arial"/>
                <a:sym typeface="Arial"/>
              </a:rPr>
              <a:t> Top-left. High Density, low Optionality. Reads as second-lowest but clearly above Stagnant, because something real is still being built — it just doesn't travel.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Fragile.</a:t>
            </a:r>
            <a:r>
              <a:rPr lang="en-US" sz="1100">
                <a:latin typeface="Arial"/>
                <a:ea typeface="Arial"/>
                <a:cs typeface="Arial"/>
                <a:sym typeface="Arial"/>
              </a:rPr>
              <a:t> Bottom-right. Low Density, high Optionality. What you have moves, but nothing new is being added underneath it.</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Highest: Compounding.</a:t>
            </a:r>
            <a:r>
              <a:rPr lang="en-US" sz="1100">
                <a:latin typeface="Arial"/>
                <a:ea typeface="Arial"/>
                <a:cs typeface="Arial"/>
                <a:sym typeface="Arial"/>
              </a:rPr>
              <a:t> Top-right, both high, and the only square you inverted to navy.</a:t>
            </a:r>
            <a:br>
              <a:rPr lang="en-US"/>
            </a:br>
            <a:r>
              <a:rPr lang="en-US"/>
              <a:t>Compounding is set apart because it is the one square where both axes are high. It is a structural fact about the matrix, not a ranking, and not a square to aim for. Say "state is not identity" out loud on the next slide.</a:t>
            </a:r>
            <a:endParaRPr/>
          </a:p>
        </p:txBody>
      </p:sp>
      <p:sp>
        <p:nvSpPr>
          <p:cNvPr id="772" name="Google Shape;7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g3fbe9e34838_0_90"/>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3" name="Google Shape;13;g3fbe9e34838_0_90"/>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4" name="Google Shape;14;g3fbe9e34838_0_90"/>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hyperlink" Target="https://temidayoafonja.com/fieldkit" TargetMode="External"/><Relationship Id="rId9" Type="http://schemas.openxmlformats.org/officeDocument/2006/relationships/hyperlink" Target="https://temidayoafonja.com/fieldkit" TargetMode="External"/><Relationship Id="rId5" Type="http://schemas.openxmlformats.org/officeDocument/2006/relationships/image" Target="../media/image3.png"/><Relationship Id="rId6" Type="http://schemas.openxmlformats.org/officeDocument/2006/relationships/hyperlink" Target="https://temidayoafonja.com/fieldkit" TargetMode="External"/><Relationship Id="rId7" Type="http://schemas.openxmlformats.org/officeDocument/2006/relationships/hyperlink" Target="https://temidayoafonja.com/fieldkit" TargetMode="External"/><Relationship Id="rId8" Type="http://schemas.openxmlformats.org/officeDocument/2006/relationships/hyperlink" Target="https://temidayoafonja.com/fieldki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9" name="Shape 19"/>
        <p:cNvGrpSpPr/>
        <p:nvPr/>
      </p:nvGrpSpPr>
      <p:grpSpPr>
        <a:xfrm>
          <a:off x="0" y="0"/>
          <a:ext cx="0" cy="0"/>
          <a:chOff x="0" y="0"/>
          <a:chExt cx="0" cy="0"/>
        </a:xfrm>
      </p:grpSpPr>
      <p:sp>
        <p:nvSpPr>
          <p:cNvPr id="20" name="Google Shape;20;g3fbec47727c_0_62"/>
          <p:cNvSpPr/>
          <p:nvPr/>
        </p:nvSpPr>
        <p:spPr>
          <a:xfrm>
            <a:off x="566928" y="457200"/>
            <a:ext cx="60351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21" name="Google Shape;21;g3fbec47727c_0_62"/>
          <p:cNvSpPr/>
          <p:nvPr/>
        </p:nvSpPr>
        <p:spPr>
          <a:xfrm>
            <a:off x="566928" y="1170432"/>
            <a:ext cx="5943600" cy="731400"/>
          </a:xfrm>
          <a:prstGeom prst="rect">
            <a:avLst/>
          </a:prstGeom>
          <a:noFill/>
          <a:ln>
            <a:noFill/>
          </a:ln>
        </p:spPr>
        <p:txBody>
          <a:bodyPr anchorCtr="0" anchor="ctr" bIns="0" lIns="0" spcFirstLastPara="1" rIns="0" wrap="square" tIns="0">
            <a:noAutofit/>
          </a:bodyPr>
          <a:lstStyle/>
          <a:p>
            <a:pPr indent="0" lvl="0" marL="0" marR="0" rtl="0" algn="l">
              <a:lnSpc>
                <a:spcPct val="105263"/>
              </a:lnSpc>
              <a:spcBef>
                <a:spcPts val="0"/>
              </a:spcBef>
              <a:spcAft>
                <a:spcPts val="0"/>
              </a:spcAft>
              <a:buClr>
                <a:srgbClr val="F5F0E8"/>
              </a:buClr>
              <a:buSzPts val="3800"/>
              <a:buFont typeface="Cormorant Garamond"/>
              <a:buNone/>
            </a:pPr>
            <a:r>
              <a:rPr b="1" i="0" lang="en-US" sz="3800" u="none" cap="none" strike="noStrike">
                <a:solidFill>
                  <a:srgbClr val="F5F0E8"/>
                </a:solidFill>
                <a:latin typeface="Cormorant Garamond"/>
                <a:ea typeface="Cormorant Garamond"/>
                <a:cs typeface="Cormorant Garamond"/>
                <a:sym typeface="Cormorant Garamond"/>
              </a:rPr>
              <a:t>Stay or Leave?</a:t>
            </a:r>
            <a:endParaRPr b="0" i="0" sz="3800" u="none" cap="none" strike="noStrike">
              <a:solidFill>
                <a:schemeClr val="dk1"/>
              </a:solidFill>
              <a:latin typeface="Calibri"/>
              <a:ea typeface="Calibri"/>
              <a:cs typeface="Calibri"/>
              <a:sym typeface="Calibri"/>
            </a:endParaRPr>
          </a:p>
        </p:txBody>
      </p:sp>
      <p:sp>
        <p:nvSpPr>
          <p:cNvPr id="22" name="Google Shape;22;g3fbec47727c_0_62"/>
          <p:cNvSpPr/>
          <p:nvPr/>
        </p:nvSpPr>
        <p:spPr>
          <a:xfrm>
            <a:off x="566928" y="2011680"/>
            <a:ext cx="5943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DM Sans"/>
              <a:buNone/>
            </a:pPr>
            <a:r>
              <a:rPr b="0" i="0" lang="en-US" sz="1500" u="none" cap="none" strike="noStrike">
                <a:solidFill>
                  <a:srgbClr val="F5F0E8"/>
                </a:solidFill>
                <a:latin typeface="DM Sans"/>
                <a:ea typeface="DM Sans"/>
                <a:cs typeface="DM Sans"/>
                <a:sym typeface="DM Sans"/>
              </a:rPr>
              <a:t>Live Career Growth Assessment</a:t>
            </a:r>
            <a:endParaRPr b="0" i="0" sz="1500" u="none" cap="none" strike="noStrike">
              <a:solidFill>
                <a:schemeClr val="dk1"/>
              </a:solidFill>
              <a:latin typeface="Calibri"/>
              <a:ea typeface="Calibri"/>
              <a:cs typeface="Calibri"/>
              <a:sym typeface="Calibri"/>
            </a:endParaRPr>
          </a:p>
        </p:txBody>
      </p:sp>
      <p:sp>
        <p:nvSpPr>
          <p:cNvPr id="23" name="Google Shape;23;g3fbec47727c_0_62"/>
          <p:cNvSpPr/>
          <p:nvPr/>
        </p:nvSpPr>
        <p:spPr>
          <a:xfrm>
            <a:off x="566928" y="2670048"/>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g3fbec47727c_0_62"/>
          <p:cNvSpPr/>
          <p:nvPr/>
        </p:nvSpPr>
        <p:spPr>
          <a:xfrm>
            <a:off x="566928" y="2852928"/>
            <a:ext cx="5943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000"/>
              <a:buFont typeface="Cormorant Garamond"/>
              <a:buNone/>
            </a:pPr>
            <a:r>
              <a:t/>
            </a:r>
            <a:endParaRPr b="1" sz="2000">
              <a:solidFill>
                <a:srgbClr val="F5F0E8"/>
              </a:solidFill>
              <a:latin typeface="Cormorant Garamond"/>
              <a:ea typeface="Cormorant Garamond"/>
              <a:cs typeface="Cormorant Garamond"/>
              <a:sym typeface="Cormorant Garamond"/>
            </a:endParaRPr>
          </a:p>
          <a:p>
            <a:pPr indent="0" lvl="0" marL="0" marR="0" rtl="0" algn="l">
              <a:lnSpc>
                <a:spcPct val="100000"/>
              </a:lnSpc>
              <a:spcBef>
                <a:spcPts val="0"/>
              </a:spcBef>
              <a:spcAft>
                <a:spcPts val="0"/>
              </a:spcAft>
              <a:buClr>
                <a:srgbClr val="F5F0E8"/>
              </a:buClr>
              <a:buSzPts val="2000"/>
              <a:buFont typeface="Cormorant Garamond"/>
              <a:buNone/>
            </a:pPr>
            <a:r>
              <a:rPr b="1" i="1" lang="en-US" sz="2300">
                <a:solidFill>
                  <a:srgbClr val="C9A84C"/>
                </a:solidFill>
                <a:latin typeface="Cormorant Garamond"/>
                <a:ea typeface="Cormorant Garamond"/>
                <a:cs typeface="Cormorant Garamond"/>
                <a:sym typeface="Cormorant Garamond"/>
              </a:rPr>
              <a:t>Read the Position Before You Make the Move</a:t>
            </a:r>
            <a:endParaRPr b="1" i="1" sz="2300">
              <a:solidFill>
                <a:srgbClr val="C9A84C"/>
              </a:solidFill>
              <a:latin typeface="Cormorant Garamond"/>
              <a:ea typeface="Cormorant Garamond"/>
              <a:cs typeface="Cormorant Garamond"/>
              <a:sym typeface="Cormorant Garamond"/>
            </a:endParaRPr>
          </a:p>
          <a:p>
            <a:pPr indent="0" lvl="0" marL="0" marR="0" rtl="0" algn="l">
              <a:lnSpc>
                <a:spcPct val="100000"/>
              </a:lnSpc>
              <a:spcBef>
                <a:spcPts val="0"/>
              </a:spcBef>
              <a:spcAft>
                <a:spcPts val="0"/>
              </a:spcAft>
              <a:buClr>
                <a:srgbClr val="F5F0E8"/>
              </a:buClr>
              <a:buSzPts val="2000"/>
              <a:buFont typeface="Cormorant Garamond"/>
              <a:buNone/>
            </a:pPr>
            <a:r>
              <a:t/>
            </a:r>
            <a:endParaRPr b="1" sz="2000">
              <a:solidFill>
                <a:srgbClr val="F5F0E8"/>
              </a:solidFill>
              <a:latin typeface="Cormorant Garamond"/>
              <a:ea typeface="Cormorant Garamond"/>
              <a:cs typeface="Cormorant Garamond"/>
              <a:sym typeface="Cormorant Garamond"/>
            </a:endParaRPr>
          </a:p>
        </p:txBody>
      </p:sp>
      <p:sp>
        <p:nvSpPr>
          <p:cNvPr id="25" name="Google Shape;25;g3fbec47727c_0_62"/>
          <p:cNvSpPr/>
          <p:nvPr/>
        </p:nvSpPr>
        <p:spPr>
          <a:xfrm>
            <a:off x="566928" y="3218688"/>
            <a:ext cx="5943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250"/>
              <a:buFont typeface="DM Sans"/>
              <a:buNone/>
            </a:pPr>
            <a:r>
              <a:t/>
            </a:r>
            <a:endParaRPr b="0" i="0" sz="1250" u="none" cap="none" strike="noStrike">
              <a:solidFill>
                <a:schemeClr val="dk1"/>
              </a:solidFill>
              <a:latin typeface="Calibri"/>
              <a:ea typeface="Calibri"/>
              <a:cs typeface="Calibri"/>
              <a:sym typeface="Calibri"/>
            </a:endParaRPr>
          </a:p>
        </p:txBody>
      </p:sp>
      <p:sp>
        <p:nvSpPr>
          <p:cNvPr id="26" name="Google Shape;26;g3fbec47727c_0_62"/>
          <p:cNvSpPr/>
          <p:nvPr/>
        </p:nvSpPr>
        <p:spPr>
          <a:xfrm>
            <a:off x="566928" y="3675888"/>
            <a:ext cx="5943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950"/>
              <a:buFont typeface="Montserrat"/>
              <a:buNone/>
            </a:pPr>
            <a:r>
              <a:rPr b="1" i="0" lang="en-US" sz="950" u="none" cap="none" strike="noStrike">
                <a:solidFill>
                  <a:srgbClr val="B8C5D9"/>
                </a:solidFill>
                <a:latin typeface="Montserrat"/>
                <a:ea typeface="Montserrat"/>
                <a:cs typeface="Montserrat"/>
                <a:sym typeface="Montserrat"/>
              </a:rPr>
              <a:t>FREE GUIDED ASSESSMENT  ·  60 MINUTES</a:t>
            </a:r>
            <a:endParaRPr b="0" i="0" sz="950" u="none" cap="none" strike="noStrike">
              <a:solidFill>
                <a:schemeClr val="dk1"/>
              </a:solidFill>
              <a:latin typeface="Calibri"/>
              <a:ea typeface="Calibri"/>
              <a:cs typeface="Calibri"/>
              <a:sym typeface="Calibri"/>
            </a:endParaRPr>
          </a:p>
        </p:txBody>
      </p:sp>
      <p:sp>
        <p:nvSpPr>
          <p:cNvPr id="27" name="Google Shape;27;g3fbec47727c_0_6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8" name="Google Shape;28;g3fbec47727c_0_62"/>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3" name="Shape 33"/>
        <p:cNvGrpSpPr/>
        <p:nvPr/>
      </p:nvGrpSpPr>
      <p:grpSpPr>
        <a:xfrm>
          <a:off x="0" y="0"/>
          <a:ext cx="0" cy="0"/>
          <a:chOff x="0" y="0"/>
          <a:chExt cx="0" cy="0"/>
        </a:xfrm>
      </p:grpSpPr>
      <p:pic>
        <p:nvPicPr>
          <p:cNvPr descr="temi-photo.jpg" id="34" name="Google Shape;34;g3fbec47727c_0_81"/>
          <p:cNvPicPr preferRelativeResize="0"/>
          <p:nvPr/>
        </p:nvPicPr>
        <p:blipFill rotWithShape="1">
          <a:blip r:embed="rId3">
            <a:alphaModFix/>
          </a:blip>
          <a:srcRect b="0" l="0" r="0" t="0"/>
          <a:stretch/>
        </p:blipFill>
        <p:spPr>
          <a:xfrm>
            <a:off x="6124254" y="1493255"/>
            <a:ext cx="2640330" cy="2640330"/>
          </a:xfrm>
          <a:prstGeom prst="rect">
            <a:avLst/>
          </a:prstGeom>
          <a:noFill/>
          <a:ln>
            <a:noFill/>
          </a:ln>
        </p:spPr>
      </p:pic>
      <p:sp>
        <p:nvSpPr>
          <p:cNvPr id="35" name="Google Shape;35;g3fbec47727c_0_81"/>
          <p:cNvSpPr txBox="1"/>
          <p:nvPr/>
        </p:nvSpPr>
        <p:spPr>
          <a:xfrm>
            <a:off x="493789" y="411480"/>
            <a:ext cx="5829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F2347"/>
                </a:solidFill>
                <a:latin typeface="Arial"/>
                <a:ea typeface="Arial"/>
                <a:cs typeface="Arial"/>
                <a:sym typeface="Arial"/>
              </a:rPr>
              <a:t>WELCOME</a:t>
            </a:r>
            <a:endParaRPr b="0" i="0" sz="1100" u="none" cap="none" strike="noStrike">
              <a:solidFill>
                <a:srgbClr val="000000"/>
              </a:solidFill>
              <a:latin typeface="Arial"/>
              <a:ea typeface="Arial"/>
              <a:cs typeface="Arial"/>
              <a:sym typeface="Arial"/>
            </a:endParaRPr>
          </a:p>
        </p:txBody>
      </p:sp>
      <p:sp>
        <p:nvSpPr>
          <p:cNvPr id="36" name="Google Shape;36;g3fbec47727c_0_81"/>
          <p:cNvSpPr txBox="1"/>
          <p:nvPr/>
        </p:nvSpPr>
        <p:spPr>
          <a:xfrm>
            <a:off x="493789" y="685800"/>
            <a:ext cx="5006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F2347"/>
                </a:solidFill>
                <a:latin typeface="Georgia"/>
                <a:ea typeface="Georgia"/>
                <a:cs typeface="Georgia"/>
                <a:sym typeface="Georgia"/>
              </a:rPr>
              <a:t>Why I Built This Lesson</a:t>
            </a:r>
            <a:endParaRPr b="0" i="0" sz="1100" u="none" cap="none" strike="noStrike">
              <a:solidFill>
                <a:srgbClr val="000000"/>
              </a:solidFill>
              <a:latin typeface="Arial"/>
              <a:ea typeface="Arial"/>
              <a:cs typeface="Arial"/>
              <a:sym typeface="Arial"/>
            </a:endParaRPr>
          </a:p>
        </p:txBody>
      </p:sp>
      <p:sp>
        <p:nvSpPr>
          <p:cNvPr id="37" name="Google Shape;37;g3fbec47727c_0_81"/>
          <p:cNvSpPr/>
          <p:nvPr/>
        </p:nvSpPr>
        <p:spPr>
          <a:xfrm>
            <a:off x="507506" y="1200150"/>
            <a:ext cx="1783200" cy="13800"/>
          </a:xfrm>
          <a:prstGeom prst="rect">
            <a:avLst/>
          </a:prstGeom>
          <a:solidFill>
            <a:srgbClr val="C9A8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 name="Google Shape;38;g3fbec47727c_0_81"/>
          <p:cNvSpPr txBox="1"/>
          <p:nvPr/>
        </p:nvSpPr>
        <p:spPr>
          <a:xfrm>
            <a:off x="6261943" y="4133575"/>
            <a:ext cx="2196600" cy="184800"/>
          </a:xfrm>
          <a:prstGeom prst="rect">
            <a:avLst/>
          </a:prstGeom>
          <a:noFill/>
          <a:ln>
            <a:noFill/>
          </a:ln>
        </p:spPr>
        <p:txBody>
          <a:bodyPr anchorCtr="0" anchor="t" bIns="0" lIns="0" spcFirstLastPara="1" rIns="0" wrap="square" tIns="0">
            <a:spAutoFit/>
          </a:bodyPr>
          <a:lstStyle/>
          <a:p>
            <a:pPr indent="0" lvl="0" marL="0" marR="0" rtl="0" algn="ctr">
              <a:lnSpc>
                <a:spcPct val="131250"/>
              </a:lnSpc>
              <a:spcBef>
                <a:spcPts val="0"/>
              </a:spcBef>
              <a:spcAft>
                <a:spcPts val="0"/>
              </a:spcAft>
              <a:buClr>
                <a:srgbClr val="000000"/>
              </a:buClr>
              <a:buSzPts val="1200"/>
              <a:buFont typeface="Arial"/>
              <a:buNone/>
            </a:pPr>
            <a:r>
              <a:rPr b="1" i="0" lang="en-US" sz="1200" u="none" cap="none" strike="noStrike">
                <a:solidFill>
                  <a:srgbClr val="0F2347"/>
                </a:solidFill>
                <a:latin typeface="Georgia"/>
                <a:ea typeface="Georgia"/>
                <a:cs typeface="Georgia"/>
                <a:sym typeface="Georgia"/>
              </a:rPr>
              <a:t>Temidayo Afonja </a:t>
            </a:r>
            <a:endParaRPr b="0" i="0" sz="1100" u="none" cap="none" strike="noStrike">
              <a:solidFill>
                <a:srgbClr val="000000"/>
              </a:solidFill>
              <a:latin typeface="Arial"/>
              <a:ea typeface="Arial"/>
              <a:cs typeface="Arial"/>
              <a:sym typeface="Arial"/>
            </a:endParaRPr>
          </a:p>
        </p:txBody>
      </p:sp>
      <p:sp>
        <p:nvSpPr>
          <p:cNvPr id="39" name="Google Shape;39;g3fbec47727c_0_81"/>
          <p:cNvSpPr txBox="1"/>
          <p:nvPr/>
        </p:nvSpPr>
        <p:spPr>
          <a:xfrm>
            <a:off x="469664" y="1729700"/>
            <a:ext cx="4924200" cy="847500"/>
          </a:xfrm>
          <a:prstGeom prst="rect">
            <a:avLst/>
          </a:prstGeom>
          <a:noFill/>
          <a:ln>
            <a:noFill/>
          </a:ln>
        </p:spPr>
        <p:txBody>
          <a:bodyPr anchorCtr="0" anchor="t" bIns="0" lIns="0" spcFirstLastPara="1" rIns="0" wrap="square" tIns="0">
            <a:spAutoFit/>
          </a:bodyPr>
          <a:lstStyle/>
          <a:p>
            <a:pPr indent="0" lvl="0" marL="0" marR="0" rtl="0" algn="l">
              <a:lnSpc>
                <a:spcPct val="130769"/>
              </a:lnSpc>
              <a:spcBef>
                <a:spcPts val="0"/>
              </a:spcBef>
              <a:spcAft>
                <a:spcPts val="0"/>
              </a:spcAft>
              <a:buClr>
                <a:srgbClr val="000000"/>
              </a:buClr>
              <a:buSzPts val="1000"/>
              <a:buFont typeface="Arial"/>
              <a:buNone/>
            </a:pPr>
            <a:r>
              <a:rPr b="1" i="0" lang="en-US" sz="1000" u="none" cap="none" strike="noStrike">
                <a:solidFill>
                  <a:srgbClr val="0F2347"/>
                </a:solidFill>
                <a:latin typeface="Arial"/>
                <a:ea typeface="Arial"/>
                <a:cs typeface="Arial"/>
                <a:sym typeface="Arial"/>
              </a:rPr>
              <a:t>My career has moved through accounting and audit, cybersecurity, people strategy, employee experience and enterprise transformation, across multiple industries and sectors.</a:t>
            </a:r>
            <a:endParaRPr b="0" i="0" sz="1100" u="none" cap="none" strike="noStrike">
              <a:solidFill>
                <a:srgbClr val="000000"/>
              </a:solidFill>
              <a:latin typeface="Arial"/>
              <a:ea typeface="Arial"/>
              <a:cs typeface="Arial"/>
              <a:sym typeface="Arial"/>
            </a:endParaRPr>
          </a:p>
          <a:p>
            <a:pPr indent="0" lvl="0" marL="0" marR="0" rtl="0" algn="l">
              <a:lnSpc>
                <a:spcPct val="130769"/>
              </a:lnSpc>
              <a:spcBef>
                <a:spcPts val="700"/>
              </a:spcBef>
              <a:spcAft>
                <a:spcPts val="0"/>
              </a:spcAft>
              <a:buClr>
                <a:srgbClr val="000000"/>
              </a:buClr>
              <a:buSzPts val="1000"/>
              <a:buFont typeface="Arial"/>
              <a:buNone/>
            </a:pPr>
            <a:r>
              <a:rPr b="1" i="0" lang="en-US" sz="1000" u="none" cap="none" strike="noStrike">
                <a:solidFill>
                  <a:srgbClr val="0F2347"/>
                </a:solidFill>
                <a:latin typeface="Arial"/>
                <a:ea typeface="Arial"/>
                <a:cs typeface="Arial"/>
                <a:sym typeface="Arial"/>
              </a:rPr>
              <a:t>That journey made me interested in a different career question:</a:t>
            </a:r>
            <a:endParaRPr b="0" i="0" sz="1100" u="none" cap="none" strike="noStrike">
              <a:solidFill>
                <a:srgbClr val="000000"/>
              </a:solidFill>
              <a:latin typeface="Arial"/>
              <a:ea typeface="Arial"/>
              <a:cs typeface="Arial"/>
              <a:sym typeface="Arial"/>
            </a:endParaRPr>
          </a:p>
        </p:txBody>
      </p:sp>
      <p:sp>
        <p:nvSpPr>
          <p:cNvPr id="40" name="Google Shape;40;g3fbec47727c_0_81"/>
          <p:cNvSpPr txBox="1"/>
          <p:nvPr/>
        </p:nvSpPr>
        <p:spPr>
          <a:xfrm>
            <a:off x="497114" y="2923581"/>
            <a:ext cx="486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F2347"/>
                </a:solidFill>
                <a:latin typeface="Georgia"/>
                <a:ea typeface="Georgia"/>
                <a:cs typeface="Georgia"/>
                <a:sym typeface="Georgia"/>
              </a:rPr>
              <a:t>In 2026, the question became personal.</a:t>
            </a:r>
            <a:endParaRPr b="1" i="0" sz="1400" u="none" cap="none" strike="noStrike">
              <a:solidFill>
                <a:srgbClr val="0F2347"/>
              </a:solidFill>
              <a:latin typeface="Georgia"/>
              <a:ea typeface="Georgia"/>
              <a:cs typeface="Georgia"/>
              <a:sym typeface="Georgia"/>
            </a:endParaRPr>
          </a:p>
        </p:txBody>
      </p:sp>
      <p:sp>
        <p:nvSpPr>
          <p:cNvPr id="41" name="Google Shape;41;g3fbec47727c_0_81"/>
          <p:cNvSpPr/>
          <p:nvPr/>
        </p:nvSpPr>
        <p:spPr>
          <a:xfrm>
            <a:off x="493789" y="3566160"/>
            <a:ext cx="4869300" cy="788700"/>
          </a:xfrm>
          <a:prstGeom prst="rect">
            <a:avLst/>
          </a:prstGeom>
          <a:solidFill>
            <a:srgbClr val="0F23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 name="Google Shape;42;g3fbec47727c_0_81"/>
          <p:cNvSpPr txBox="1"/>
          <p:nvPr/>
        </p:nvSpPr>
        <p:spPr>
          <a:xfrm>
            <a:off x="685818" y="3723894"/>
            <a:ext cx="4491900" cy="490800"/>
          </a:xfrm>
          <a:prstGeom prst="rect">
            <a:avLst/>
          </a:prstGeom>
          <a:noFill/>
          <a:ln>
            <a:noFill/>
          </a:ln>
        </p:spPr>
        <p:txBody>
          <a:bodyPr anchorCtr="0" anchor="t" bIns="0" lIns="0" spcFirstLastPara="1" rIns="0" wrap="square" tIns="0">
            <a:spAutoFit/>
          </a:bodyPr>
          <a:lstStyle/>
          <a:p>
            <a:pPr indent="0" lvl="0" marL="0" marR="0" rtl="0" algn="l">
              <a:lnSpc>
                <a:spcPct val="127777"/>
              </a:lnSpc>
              <a:spcBef>
                <a:spcPts val="0"/>
              </a:spcBef>
              <a:spcAft>
                <a:spcPts val="0"/>
              </a:spcAft>
              <a:buClr>
                <a:srgbClr val="000000"/>
              </a:buClr>
              <a:buSzPts val="1400"/>
              <a:buFont typeface="Arial"/>
              <a:buNone/>
            </a:pPr>
            <a:r>
              <a:rPr b="1" i="0" lang="en-US" sz="1400" u="none" cap="none" strike="noStrike">
                <a:solidFill>
                  <a:srgbClr val="F5F0E8"/>
                </a:solidFill>
                <a:latin typeface="Georgia"/>
                <a:ea typeface="Georgia"/>
                <a:cs typeface="Georgia"/>
                <a:sym typeface="Georgia"/>
              </a:rPr>
              <a:t>“Can a career begin to stall while the person is still performing well?”</a:t>
            </a:r>
            <a:endParaRPr b="0" i="0" sz="1100" u="none" cap="none" strike="noStrike">
              <a:solidFill>
                <a:srgbClr val="000000"/>
              </a:solidFill>
              <a:latin typeface="Arial"/>
              <a:ea typeface="Arial"/>
              <a:cs typeface="Arial"/>
              <a:sym typeface="Arial"/>
            </a:endParaRPr>
          </a:p>
        </p:txBody>
      </p:sp>
      <p:sp>
        <p:nvSpPr>
          <p:cNvPr id="43" name="Google Shape;43;g3fbec47727c_0_81"/>
          <p:cNvSpPr txBox="1"/>
          <p:nvPr/>
        </p:nvSpPr>
        <p:spPr>
          <a:xfrm>
            <a:off x="493789" y="4848606"/>
            <a:ext cx="37035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F2347"/>
                </a:solidFill>
                <a:latin typeface="Arial"/>
                <a:ea typeface="Arial"/>
                <a:cs typeface="Arial"/>
                <a:sym typeface="Arial"/>
              </a:rPr>
              <a:t>TEMIDAYO AFONJA   |   TEMIDAYOAFONJA.COM</a:t>
            </a:r>
            <a:endParaRPr b="0" i="0" sz="1100" u="none" cap="none" strike="noStrike">
              <a:solidFill>
                <a:srgbClr val="000000"/>
              </a:solidFill>
              <a:latin typeface="Arial"/>
              <a:ea typeface="Arial"/>
              <a:cs typeface="Arial"/>
              <a:sym typeface="Arial"/>
            </a:endParaRPr>
          </a:p>
        </p:txBody>
      </p:sp>
      <p:sp>
        <p:nvSpPr>
          <p:cNvPr id="44" name="Google Shape;44;g3fbec47727c_0_81"/>
          <p:cNvSpPr txBox="1"/>
          <p:nvPr/>
        </p:nvSpPr>
        <p:spPr>
          <a:xfrm>
            <a:off x="8572729" y="4848606"/>
            <a:ext cx="1920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F2347"/>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 name="Shape 49"/>
        <p:cNvGrpSpPr/>
        <p:nvPr/>
      </p:nvGrpSpPr>
      <p:grpSpPr>
        <a:xfrm>
          <a:off x="0" y="0"/>
          <a:ext cx="0" cy="0"/>
          <a:chOff x="0" y="0"/>
          <a:chExt cx="0" cy="0"/>
        </a:xfrm>
      </p:grpSpPr>
      <p:sp>
        <p:nvSpPr>
          <p:cNvPr id="50" name="Google Shape;50;p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REFRAME</a:t>
            </a:r>
            <a:endParaRPr b="0" i="0" sz="950" u="none" cap="none" strike="noStrike">
              <a:solidFill>
                <a:schemeClr val="dk1"/>
              </a:solidFill>
              <a:latin typeface="Calibri"/>
              <a:ea typeface="Calibri"/>
              <a:cs typeface="Calibri"/>
              <a:sym typeface="Calibri"/>
            </a:endParaRPr>
          </a:p>
        </p:txBody>
      </p:sp>
      <p:sp>
        <p:nvSpPr>
          <p:cNvPr id="51" name="Google Shape;51;p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The question underneath the question</a:t>
            </a:r>
            <a:endParaRPr b="0" i="0" sz="2800" u="none" cap="none" strike="noStrike">
              <a:solidFill>
                <a:schemeClr val="dk1"/>
              </a:solidFill>
              <a:latin typeface="Calibri"/>
              <a:ea typeface="Calibri"/>
              <a:cs typeface="Calibri"/>
              <a:sym typeface="Calibri"/>
            </a:endParaRPr>
          </a:p>
        </p:txBody>
      </p:sp>
      <p:sp>
        <p:nvSpPr>
          <p:cNvPr id="52" name="Google Shape;52;p2"/>
          <p:cNvSpPr/>
          <p:nvPr/>
        </p:nvSpPr>
        <p:spPr>
          <a:xfrm>
            <a:off x="566928" y="1847088"/>
            <a:ext cx="3886200" cy="148132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2"/>
          <p:cNvSpPr/>
          <p:nvPr/>
        </p:nvSpPr>
        <p:spPr>
          <a:xfrm>
            <a:off x="786384" y="199339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20"/>
              <a:buFont typeface="Montserrat"/>
              <a:buNone/>
            </a:pPr>
            <a:r>
              <a:rPr b="1" i="0" lang="en-US" sz="1220" u="none" cap="none" strike="noStrike">
                <a:solidFill>
                  <a:srgbClr val="5A6B84"/>
                </a:solidFill>
                <a:latin typeface="Montserrat"/>
                <a:ea typeface="Montserrat"/>
                <a:cs typeface="Montserrat"/>
                <a:sym typeface="Montserrat"/>
              </a:rPr>
              <a:t>WHAT YOU CAME IN ASKING</a:t>
            </a:r>
            <a:endParaRPr b="0" i="0" sz="1220" u="none" cap="none" strike="noStrike">
              <a:solidFill>
                <a:schemeClr val="dk1"/>
              </a:solidFill>
              <a:latin typeface="Calibri"/>
              <a:ea typeface="Calibri"/>
              <a:cs typeface="Calibri"/>
              <a:sym typeface="Calibri"/>
            </a:endParaRPr>
          </a:p>
        </p:txBody>
      </p:sp>
      <p:sp>
        <p:nvSpPr>
          <p:cNvPr id="54" name="Google Shape;54;p2"/>
          <p:cNvSpPr/>
          <p:nvPr/>
        </p:nvSpPr>
        <p:spPr>
          <a:xfrm>
            <a:off x="786384" y="2304288"/>
            <a:ext cx="347472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800"/>
              <a:buFont typeface="Cormorant Garamond"/>
              <a:buNone/>
            </a:pPr>
            <a:r>
              <a:rPr b="1" i="0" lang="en-US" sz="1800" u="none" cap="none" strike="noStrike">
                <a:solidFill>
                  <a:srgbClr val="0F2347"/>
                </a:solidFill>
                <a:latin typeface="Cormorant Garamond"/>
                <a:ea typeface="Cormorant Garamond"/>
                <a:cs typeface="Cormorant Garamond"/>
                <a:sym typeface="Cormorant Garamond"/>
              </a:rPr>
              <a:t>“Should I stay in this role,</a:t>
            </a:r>
            <a:endParaRPr b="0" i="0" sz="18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F2347"/>
              </a:buClr>
              <a:buSzPts val="1800"/>
              <a:buFont typeface="Cormorant Garamond"/>
              <a:buNone/>
            </a:pPr>
            <a:r>
              <a:rPr b="1" i="0" lang="en-US" sz="1800" u="none" cap="none" strike="noStrike">
                <a:solidFill>
                  <a:srgbClr val="0F2347"/>
                </a:solidFill>
                <a:latin typeface="Cormorant Garamond"/>
                <a:ea typeface="Cormorant Garamond"/>
                <a:cs typeface="Cormorant Garamond"/>
                <a:sym typeface="Cormorant Garamond"/>
              </a:rPr>
              <a:t>or should I go?”</a:t>
            </a:r>
            <a:endParaRPr b="0" i="0" sz="1800" u="none" cap="none" strike="noStrike">
              <a:solidFill>
                <a:schemeClr val="dk1"/>
              </a:solidFill>
              <a:latin typeface="Calibri"/>
              <a:ea typeface="Calibri"/>
              <a:cs typeface="Calibri"/>
              <a:sym typeface="Calibri"/>
            </a:endParaRPr>
          </a:p>
        </p:txBody>
      </p:sp>
      <p:sp>
        <p:nvSpPr>
          <p:cNvPr id="55" name="Google Shape;55;p2"/>
          <p:cNvSpPr/>
          <p:nvPr/>
        </p:nvSpPr>
        <p:spPr>
          <a:xfrm>
            <a:off x="4690872" y="1847088"/>
            <a:ext cx="3886200" cy="148132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2"/>
          <p:cNvSpPr/>
          <p:nvPr/>
        </p:nvSpPr>
        <p:spPr>
          <a:xfrm>
            <a:off x="4910328" y="199339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820"/>
              <a:buFont typeface="Montserrat"/>
              <a:buNone/>
            </a:pPr>
            <a:r>
              <a:rPr b="1" i="0" lang="en-US" sz="1220" u="none" cap="none" strike="noStrike">
                <a:solidFill>
                  <a:srgbClr val="C9A84C"/>
                </a:solidFill>
                <a:latin typeface="Montserrat"/>
                <a:ea typeface="Montserrat"/>
                <a:cs typeface="Montserrat"/>
                <a:sym typeface="Montserrat"/>
              </a:rPr>
              <a:t>WHAT YOU NEED TO </a:t>
            </a:r>
            <a:r>
              <a:rPr b="1" lang="en-US" sz="1220">
                <a:solidFill>
                  <a:srgbClr val="C9A84C"/>
                </a:solidFill>
                <a:latin typeface="Montserrat"/>
                <a:ea typeface="Montserrat"/>
                <a:cs typeface="Montserrat"/>
                <a:sym typeface="Montserrat"/>
              </a:rPr>
              <a:t>ANSWER</a:t>
            </a:r>
            <a:r>
              <a:rPr b="1" i="0" lang="en-US" sz="1220" u="none" cap="none" strike="noStrike">
                <a:solidFill>
                  <a:srgbClr val="C9A84C"/>
                </a:solidFill>
                <a:latin typeface="Montserrat"/>
                <a:ea typeface="Montserrat"/>
                <a:cs typeface="Montserrat"/>
                <a:sym typeface="Montserrat"/>
              </a:rPr>
              <a:t> FIRST</a:t>
            </a:r>
            <a:endParaRPr b="0" i="0" sz="1220" u="none" cap="none" strike="noStrike">
              <a:solidFill>
                <a:schemeClr val="dk1"/>
              </a:solidFill>
              <a:latin typeface="Calibri"/>
              <a:ea typeface="Calibri"/>
              <a:cs typeface="Calibri"/>
              <a:sym typeface="Calibri"/>
            </a:endParaRPr>
          </a:p>
        </p:txBody>
      </p:sp>
      <p:sp>
        <p:nvSpPr>
          <p:cNvPr id="57" name="Google Shape;57;p2"/>
          <p:cNvSpPr/>
          <p:nvPr/>
        </p:nvSpPr>
        <p:spPr>
          <a:xfrm>
            <a:off x="4910328" y="2286000"/>
            <a:ext cx="3474720"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5F0E8"/>
              </a:buClr>
              <a:buSzPts val="1500"/>
              <a:buFont typeface="Cormorant Garamond"/>
              <a:buNone/>
            </a:pPr>
            <a:r>
              <a:rPr b="1" i="0" lang="en-US" sz="1650" u="none" cap="none" strike="noStrike">
                <a:solidFill>
                  <a:srgbClr val="F5F0E8"/>
                </a:solidFill>
                <a:latin typeface="Cormorant Garamond"/>
                <a:ea typeface="Cormorant Garamond"/>
                <a:cs typeface="Cormorant Garamond"/>
                <a:sym typeface="Cormorant Garamond"/>
              </a:rPr>
              <a:t>“Is this work still building me, and what would still travel if the context changed?”</a:t>
            </a:r>
            <a:endParaRPr b="0" i="0" sz="1650" u="none" cap="none" strike="noStrike">
              <a:solidFill>
                <a:schemeClr val="dk1"/>
              </a:solidFill>
              <a:latin typeface="Calibri"/>
              <a:ea typeface="Calibri"/>
              <a:cs typeface="Calibri"/>
              <a:sym typeface="Calibri"/>
            </a:endParaRPr>
          </a:p>
        </p:txBody>
      </p:sp>
      <p:sp>
        <p:nvSpPr>
          <p:cNvPr id="58" name="Google Shape;58;p2"/>
          <p:cNvSpPr/>
          <p:nvPr/>
        </p:nvSpPr>
        <p:spPr>
          <a:xfrm>
            <a:off x="566928" y="3584448"/>
            <a:ext cx="801014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first question is yours alone. The second sits upstream of it, and this session can read it more rigorously.</a:t>
            </a:r>
            <a:endParaRPr b="0" i="0" sz="1250" u="none" cap="none" strike="noStrike">
              <a:solidFill>
                <a:schemeClr val="dk1"/>
              </a:solidFill>
              <a:latin typeface="Calibri"/>
              <a:ea typeface="Calibri"/>
              <a:cs typeface="Calibri"/>
              <a:sym typeface="Calibri"/>
            </a:endParaRPr>
          </a:p>
        </p:txBody>
      </p:sp>
      <p:sp>
        <p:nvSpPr>
          <p:cNvPr id="59" name="Google Shape;59;p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60" name="Google Shape;60;p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5" name="Shape 65"/>
        <p:cNvGrpSpPr/>
        <p:nvPr/>
      </p:nvGrpSpPr>
      <p:grpSpPr>
        <a:xfrm>
          <a:off x="0" y="0"/>
          <a:ext cx="0" cy="0"/>
          <a:chOff x="0" y="0"/>
          <a:chExt cx="0" cy="0"/>
        </a:xfrm>
      </p:grpSpPr>
      <p:sp>
        <p:nvSpPr>
          <p:cNvPr id="66" name="Google Shape;66;h11f538478445b104_2_46"/>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BOUNDARY</a:t>
            </a:r>
            <a:endParaRPr b="0" i="0" sz="950" u="none" cap="none" strike="noStrike">
              <a:solidFill>
                <a:schemeClr val="dk1"/>
              </a:solidFill>
              <a:latin typeface="Calibri"/>
              <a:ea typeface="Calibri"/>
              <a:cs typeface="Calibri"/>
              <a:sym typeface="Calibri"/>
            </a:endParaRPr>
          </a:p>
        </p:txBody>
      </p:sp>
      <p:sp>
        <p:nvSpPr>
          <p:cNvPr id="67" name="Google Shape;67;h11f538478445b104_2_46"/>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The session, today</a:t>
            </a:r>
            <a:r>
              <a:rPr b="1" i="0" lang="en-US" sz="2700" u="none" cap="none" strike="noStrike">
                <a:solidFill>
                  <a:srgbClr val="0F2347"/>
                </a:solidFill>
                <a:latin typeface="Cormorant Garamond"/>
                <a:ea typeface="Cormorant Garamond"/>
                <a:cs typeface="Cormorant Garamond"/>
                <a:sym typeface="Cormorant Garamond"/>
              </a:rPr>
              <a:t> will and will not</a:t>
            </a:r>
            <a:r>
              <a:rPr b="1" lang="en-US" sz="2700">
                <a:solidFill>
                  <a:srgbClr val="0F2347"/>
                </a:solidFill>
                <a:latin typeface="Cormorant Garamond"/>
                <a:ea typeface="Cormorant Garamond"/>
                <a:cs typeface="Cormorant Garamond"/>
                <a:sym typeface="Cormorant Garamond"/>
              </a:rPr>
              <a:t>…</a:t>
            </a:r>
            <a:endParaRPr b="0" i="0" sz="2700" u="none" cap="none" strike="noStrike">
              <a:solidFill>
                <a:schemeClr val="dk1"/>
              </a:solidFill>
              <a:latin typeface="Calibri"/>
              <a:ea typeface="Calibri"/>
              <a:cs typeface="Calibri"/>
              <a:sym typeface="Calibri"/>
            </a:endParaRPr>
          </a:p>
        </p:txBody>
      </p:sp>
      <p:sp>
        <p:nvSpPr>
          <p:cNvPr id="68" name="Google Shape;68;h11f538478445b104_2_46"/>
          <p:cNvSpPr/>
          <p:nvPr/>
        </p:nvSpPr>
        <p:spPr>
          <a:xfrm>
            <a:off x="566928" y="1371600"/>
            <a:ext cx="8010000" cy="4755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 name="Google Shape;69;h11f538478445b104_2_46"/>
          <p:cNvSpPr/>
          <p:nvPr/>
        </p:nvSpPr>
        <p:spPr>
          <a:xfrm>
            <a:off x="804672" y="1371600"/>
            <a:ext cx="75348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700"/>
              <a:buFont typeface="Cormorant Garamond"/>
              <a:buNone/>
            </a:pPr>
            <a:r>
              <a:rPr b="1" i="0" lang="en-US" sz="1700" u="none" cap="none" strike="noStrike">
                <a:solidFill>
                  <a:srgbClr val="F5F0E8"/>
                </a:solidFill>
                <a:latin typeface="Cormorant Garamond"/>
                <a:ea typeface="Cormorant Garamond"/>
                <a:cs typeface="Cormorant Garamond"/>
                <a:sym typeface="Cormorant Garamond"/>
              </a:rPr>
              <a:t>This read will not tell you to stay or leave.</a:t>
            </a:r>
            <a:endParaRPr b="0" i="0" sz="1700" u="none" cap="none" strike="noStrike">
              <a:solidFill>
                <a:schemeClr val="dk1"/>
              </a:solidFill>
              <a:latin typeface="Calibri"/>
              <a:ea typeface="Calibri"/>
              <a:cs typeface="Calibri"/>
              <a:sym typeface="Calibri"/>
            </a:endParaRPr>
          </a:p>
        </p:txBody>
      </p:sp>
      <p:sp>
        <p:nvSpPr>
          <p:cNvPr id="70" name="Google Shape;70;h11f538478445b104_2_46"/>
          <p:cNvSpPr/>
          <p:nvPr/>
        </p:nvSpPr>
        <p:spPr>
          <a:xfrm>
            <a:off x="566928" y="2011680"/>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IT WILL</a:t>
            </a:r>
            <a:endParaRPr b="0" i="0" sz="840" u="none" cap="none" strike="noStrike">
              <a:solidFill>
                <a:schemeClr val="dk1"/>
              </a:solidFill>
              <a:latin typeface="Calibri"/>
              <a:ea typeface="Calibri"/>
              <a:cs typeface="Calibri"/>
              <a:sym typeface="Calibri"/>
            </a:endParaRPr>
          </a:p>
        </p:txBody>
      </p:sp>
      <p:sp>
        <p:nvSpPr>
          <p:cNvPr id="71" name="Google Shape;71;h11f538478445b104_2_46"/>
          <p:cNvSpPr/>
          <p:nvPr/>
        </p:nvSpPr>
        <p:spPr>
          <a:xfrm>
            <a:off x="2304288" y="1975104"/>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Give you a defensible reading of your current position, and </a:t>
            </a:r>
            <a:r>
              <a:rPr b="1" i="0" lang="en-US" sz="1140" u="none" cap="none" strike="noStrike">
                <a:solidFill>
                  <a:srgbClr val="0F2347"/>
                </a:solidFill>
                <a:latin typeface="DM Sans"/>
                <a:ea typeface="DM Sans"/>
                <a:cs typeface="DM Sans"/>
                <a:sym typeface="DM Sans"/>
              </a:rPr>
              <a:t>all seven categories of move</a:t>
            </a:r>
            <a:r>
              <a:rPr b="0" i="0" lang="en-US" sz="1140" u="none" cap="none" strike="noStrike">
                <a:solidFill>
                  <a:srgbClr val="0F2347"/>
                </a:solidFill>
                <a:latin typeface="DM Sans"/>
                <a:ea typeface="DM Sans"/>
                <a:cs typeface="DM Sans"/>
                <a:sym typeface="DM Sans"/>
              </a:rPr>
              <a:t>, then the one your evidence supports testing.</a:t>
            </a:r>
            <a:endParaRPr b="0" i="0" sz="1140" u="none" cap="none" strike="noStrike">
              <a:solidFill>
                <a:schemeClr val="dk1"/>
              </a:solidFill>
              <a:latin typeface="Calibri"/>
              <a:ea typeface="Calibri"/>
              <a:cs typeface="Calibri"/>
              <a:sym typeface="Calibri"/>
            </a:endParaRPr>
          </a:p>
        </p:txBody>
      </p:sp>
      <p:sp>
        <p:nvSpPr>
          <p:cNvPr id="72" name="Google Shape;72;h11f538478445b104_2_46"/>
          <p:cNvSpPr/>
          <p:nvPr/>
        </p:nvSpPr>
        <p:spPr>
          <a:xfrm>
            <a:off x="566928" y="2615184"/>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IT WILL NOT</a:t>
            </a:r>
            <a:endParaRPr b="0" i="0" sz="840" u="none" cap="none" strike="noStrike">
              <a:solidFill>
                <a:schemeClr val="dk1"/>
              </a:solidFill>
              <a:latin typeface="Calibri"/>
              <a:ea typeface="Calibri"/>
              <a:cs typeface="Calibri"/>
              <a:sym typeface="Calibri"/>
            </a:endParaRPr>
          </a:p>
        </p:txBody>
      </p:sp>
      <p:sp>
        <p:nvSpPr>
          <p:cNvPr id="73" name="Google Shape;73;h11f538478445b104_2_46"/>
          <p:cNvSpPr/>
          <p:nvPr/>
        </p:nvSpPr>
        <p:spPr>
          <a:xfrm>
            <a:off x="2304288" y="2578608"/>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Predict layoffs, diagnose your employer, or make an employment decision for you.</a:t>
            </a:r>
            <a:endParaRPr b="0" i="0" sz="1140" u="none" cap="none" strike="noStrike">
              <a:solidFill>
                <a:schemeClr val="dk1"/>
              </a:solidFill>
              <a:latin typeface="Calibri"/>
              <a:ea typeface="Calibri"/>
              <a:cs typeface="Calibri"/>
              <a:sym typeface="Calibri"/>
            </a:endParaRPr>
          </a:p>
        </p:txBody>
      </p:sp>
      <p:sp>
        <p:nvSpPr>
          <p:cNvPr id="74" name="Google Shape;74;h11f538478445b104_2_46"/>
          <p:cNvSpPr/>
          <p:nvPr/>
        </p:nvSpPr>
        <p:spPr>
          <a:xfrm>
            <a:off x="566928" y="3218688"/>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YOUR SCORES</a:t>
            </a:r>
            <a:endParaRPr b="0" i="0" sz="840" u="none" cap="none" strike="noStrike">
              <a:solidFill>
                <a:schemeClr val="dk1"/>
              </a:solidFill>
              <a:latin typeface="Calibri"/>
              <a:ea typeface="Calibri"/>
              <a:cs typeface="Calibri"/>
              <a:sym typeface="Calibri"/>
            </a:endParaRPr>
          </a:p>
        </p:txBody>
      </p:sp>
      <p:sp>
        <p:nvSpPr>
          <p:cNvPr id="75" name="Google Shape;75;h11f538478445b104_2_46"/>
          <p:cNvSpPr/>
          <p:nvPr/>
        </p:nvSpPr>
        <p:spPr>
          <a:xfrm>
            <a:off x="2304288" y="3182112"/>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Stay private. Nothing is submitted, collected or shared at any point.</a:t>
            </a:r>
            <a:endParaRPr b="0" i="0" sz="1140" u="none" cap="none" strike="noStrike">
              <a:solidFill>
                <a:schemeClr val="dk1"/>
              </a:solidFill>
              <a:latin typeface="Calibri"/>
              <a:ea typeface="Calibri"/>
              <a:cs typeface="Calibri"/>
              <a:sym typeface="Calibri"/>
            </a:endParaRPr>
          </a:p>
        </p:txBody>
      </p:sp>
      <p:sp>
        <p:nvSpPr>
          <p:cNvPr id="76" name="Google Shape;76;h11f538478445b104_2_46"/>
          <p:cNvSpPr/>
          <p:nvPr/>
        </p:nvSpPr>
        <p:spPr>
          <a:xfrm>
            <a:off x="566928" y="3822192"/>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THE RECORDING</a:t>
            </a:r>
            <a:endParaRPr b="0" i="0" sz="840" u="none" cap="none" strike="noStrike">
              <a:solidFill>
                <a:schemeClr val="dk1"/>
              </a:solidFill>
              <a:latin typeface="Calibri"/>
              <a:ea typeface="Calibri"/>
              <a:cs typeface="Calibri"/>
              <a:sym typeface="Calibri"/>
            </a:endParaRPr>
          </a:p>
        </p:txBody>
      </p:sp>
      <p:sp>
        <p:nvSpPr>
          <p:cNvPr id="77" name="Google Shape;77;h11f538478445b104_2_46"/>
          <p:cNvSpPr/>
          <p:nvPr/>
        </p:nvSpPr>
        <p:spPr>
          <a:xfrm>
            <a:off x="2304288" y="3785616"/>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teaching runs to minute 50 and is recorded. The last ten minutes are live questions and are not recorded.</a:t>
            </a:r>
            <a:endParaRPr b="0" i="0" sz="1140" u="none" cap="none" strike="noStrike">
              <a:solidFill>
                <a:schemeClr val="dk1"/>
              </a:solidFill>
              <a:latin typeface="Calibri"/>
              <a:ea typeface="Calibri"/>
              <a:cs typeface="Calibri"/>
              <a:sym typeface="Calibri"/>
            </a:endParaRPr>
          </a:p>
        </p:txBody>
      </p:sp>
      <p:sp>
        <p:nvSpPr>
          <p:cNvPr id="78" name="Google Shape;78;h11f538478445b104_2_46"/>
          <p:cNvSpPr/>
          <p:nvPr/>
        </p:nvSpPr>
        <p:spPr>
          <a:xfrm>
            <a:off x="566928" y="4498848"/>
            <a:ext cx="8010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39"/>
              <a:buFont typeface="DM Sans"/>
              <a:buNone/>
            </a:pPr>
            <a:r>
              <a:rPr b="0" i="1" lang="en-US" sz="940" u="none" cap="none" strike="noStrike">
                <a:solidFill>
                  <a:srgbClr val="5A6B84"/>
                </a:solidFill>
                <a:latin typeface="DM Sans"/>
                <a:ea typeface="DM Sans"/>
                <a:cs typeface="DM Sans"/>
                <a:sym typeface="DM Sans"/>
              </a:rPr>
              <a:t>This is not legal, medical, financial, immigration or mental-health advice.</a:t>
            </a:r>
            <a:endParaRPr b="0" i="0" sz="940" u="none" cap="none" strike="noStrike">
              <a:solidFill>
                <a:schemeClr val="dk1"/>
              </a:solidFill>
              <a:latin typeface="Calibri"/>
              <a:ea typeface="Calibri"/>
              <a:cs typeface="Calibri"/>
              <a:sym typeface="Calibri"/>
            </a:endParaRPr>
          </a:p>
        </p:txBody>
      </p:sp>
      <p:sp>
        <p:nvSpPr>
          <p:cNvPr id="79" name="Google Shape;79;h11f538478445b104_2_46"/>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80" name="Google Shape;80;h11f538478445b104_2_46"/>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5" name="Shape 85"/>
        <p:cNvGrpSpPr/>
        <p:nvPr/>
      </p:nvGrpSpPr>
      <p:grpSpPr>
        <a:xfrm>
          <a:off x="0" y="0"/>
          <a:ext cx="0" cy="0"/>
          <a:chOff x="0" y="0"/>
          <a:chExt cx="0" cy="0"/>
        </a:xfrm>
      </p:grpSpPr>
      <p:sp>
        <p:nvSpPr>
          <p:cNvPr id="86" name="Google Shape;86;h38333402142a079_2_31"/>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t/>
            </a:r>
            <a:endParaRPr b="1" sz="3100">
              <a:solidFill>
                <a:srgbClr val="F5F0E8"/>
              </a:solidFill>
              <a:latin typeface="Cormorant Garamond"/>
              <a:ea typeface="Cormorant Garamond"/>
              <a:cs typeface="Cormorant Garamond"/>
              <a:sym typeface="Cormorant Garamond"/>
            </a:endParaRPr>
          </a:p>
          <a:p>
            <a:pPr indent="0" lvl="0" marL="0" marR="0" rtl="0" algn="l">
              <a:lnSpc>
                <a:spcPct val="122580"/>
              </a:lnSpc>
              <a:spcBef>
                <a:spcPts val="0"/>
              </a:spcBef>
              <a:spcAft>
                <a:spcPts val="0"/>
              </a:spcAft>
              <a:buClr>
                <a:srgbClr val="F5F0E8"/>
              </a:buClr>
              <a:buSzPts val="3100"/>
              <a:buFont typeface="Cormorant Garamond"/>
              <a:buNone/>
            </a:pPr>
            <a:r>
              <a:rPr b="1" lang="en-US" sz="3800">
                <a:solidFill>
                  <a:srgbClr val="F5F0E8"/>
                </a:solidFill>
                <a:latin typeface="Cormorant Garamond"/>
                <a:ea typeface="Cormorant Garamond"/>
                <a:cs typeface="Cormorant Garamond"/>
                <a:sym typeface="Cormorant Garamond"/>
              </a:rPr>
              <a:t>Definitions</a:t>
            </a:r>
            <a:endParaRPr b="0" i="0" sz="3100" u="none" cap="none" strike="noStrike">
              <a:solidFill>
                <a:schemeClr val="dk1"/>
              </a:solidFill>
              <a:latin typeface="Calibri"/>
              <a:ea typeface="Calibri"/>
              <a:cs typeface="Calibri"/>
              <a:sym typeface="Calibri"/>
            </a:endParaRPr>
          </a:p>
        </p:txBody>
      </p:sp>
      <p:sp>
        <p:nvSpPr>
          <p:cNvPr id="87" name="Google Shape;87;h38333402142a079_2_31"/>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h38333402142a079_2_31"/>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700"/>
              <a:buFont typeface="Montserrat"/>
              <a:buNone/>
            </a:pPr>
            <a:r>
              <a:rPr b="1" i="0" lang="en-US" sz="700" u="none" cap="none" strike="noStrike">
                <a:solidFill>
                  <a:srgbClr val="B8C5D9"/>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 name="Shape 93"/>
        <p:cNvGrpSpPr/>
        <p:nvPr/>
      </p:nvGrpSpPr>
      <p:grpSpPr>
        <a:xfrm>
          <a:off x="0" y="0"/>
          <a:ext cx="0" cy="0"/>
          <a:chOff x="0" y="0"/>
          <a:chExt cx="0" cy="0"/>
        </a:xfrm>
      </p:grpSpPr>
      <p:sp>
        <p:nvSpPr>
          <p:cNvPr id="94" name="Google Shape;94;h38333402142a079_2_39"/>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DEFINITION ONE </a:t>
            </a:r>
            <a:endParaRPr b="0" i="0" sz="950" u="none" cap="none" strike="noStrike">
              <a:solidFill>
                <a:schemeClr val="dk1"/>
              </a:solidFill>
              <a:latin typeface="Calibri"/>
              <a:ea typeface="Calibri"/>
              <a:cs typeface="Calibri"/>
              <a:sym typeface="Calibri"/>
            </a:endParaRPr>
          </a:p>
        </p:txBody>
      </p:sp>
      <p:sp>
        <p:nvSpPr>
          <p:cNvPr id="95" name="Google Shape;95;h38333402142a079_2_39"/>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i="0" lang="en-US" sz="3400" u="none" cap="none" strike="noStrike">
                <a:solidFill>
                  <a:srgbClr val="0F2347"/>
                </a:solidFill>
                <a:latin typeface="Cormorant Garamond"/>
                <a:ea typeface="Cormorant Garamond"/>
                <a:cs typeface="Cormorant Garamond"/>
                <a:sym typeface="Cormorant Garamond"/>
              </a:rPr>
              <a:t>Is the work still building you?</a:t>
            </a:r>
            <a:endParaRPr b="0" i="0" sz="3400" u="none" cap="none" strike="noStrike">
              <a:solidFill>
                <a:schemeClr val="dk1"/>
              </a:solidFill>
              <a:latin typeface="Calibri"/>
              <a:ea typeface="Calibri"/>
              <a:cs typeface="Calibri"/>
              <a:sym typeface="Calibri"/>
            </a:endParaRPr>
          </a:p>
        </p:txBody>
      </p:sp>
      <p:sp>
        <p:nvSpPr>
          <p:cNvPr id="96" name="Google Shape;96;h38333402142a079_2_39"/>
          <p:cNvSpPr/>
          <p:nvPr/>
        </p:nvSpPr>
        <p:spPr>
          <a:xfrm>
            <a:off x="566928" y="137160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This reading calls that Density.</a:t>
            </a:r>
            <a:endParaRPr b="0" i="0" sz="1150" u="none" cap="none" strike="noStrike">
              <a:solidFill>
                <a:schemeClr val="dk1"/>
              </a:solidFill>
              <a:latin typeface="Calibri"/>
              <a:ea typeface="Calibri"/>
              <a:cs typeface="Calibri"/>
              <a:sym typeface="Calibri"/>
            </a:endParaRPr>
          </a:p>
        </p:txBody>
      </p:sp>
      <p:sp>
        <p:nvSpPr>
          <p:cNvPr id="97" name="Google Shape;97;h38333402142a079_2_39"/>
          <p:cNvSpPr/>
          <p:nvPr/>
        </p:nvSpPr>
        <p:spPr>
          <a:xfrm>
            <a:off x="566928" y="1828800"/>
            <a:ext cx="8010000" cy="640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b="1" lang="en-US" sz="1600">
                <a:solidFill>
                  <a:srgbClr val="0F2347"/>
                </a:solidFill>
                <a:highlight>
                  <a:schemeClr val="accent4"/>
                </a:highlight>
                <a:latin typeface="DM Sans"/>
                <a:ea typeface="DM Sans"/>
                <a:cs typeface="DM Sans"/>
                <a:sym typeface="DM Sans"/>
              </a:rPr>
              <a:t>DENSITY</a:t>
            </a:r>
            <a:r>
              <a:rPr b="0" i="0" lang="en-US" sz="1400" u="none" cap="none" strike="noStrike">
                <a:solidFill>
                  <a:srgbClr val="0F2347"/>
                </a:solidFill>
                <a:latin typeface="DM Sans"/>
                <a:ea typeface="DM Sans"/>
                <a:cs typeface="DM Sans"/>
                <a:sym typeface="DM Sans"/>
              </a:rPr>
              <a:t> reads whether this environment is still forming you. It reads your conditions, not your effort. A role can be demanding, important and exhausting and still stop building you.</a:t>
            </a:r>
            <a:endParaRPr b="0" i="0" sz="1400" u="none" cap="none" strike="noStrike">
              <a:solidFill>
                <a:schemeClr val="dk1"/>
              </a:solidFill>
              <a:latin typeface="Calibri"/>
              <a:ea typeface="Calibri"/>
              <a:cs typeface="Calibri"/>
              <a:sym typeface="Calibri"/>
            </a:endParaRPr>
          </a:p>
        </p:txBody>
      </p:sp>
      <p:sp>
        <p:nvSpPr>
          <p:cNvPr id="98" name="Google Shape;98;h38333402142a079_2_39"/>
          <p:cNvSpPr/>
          <p:nvPr/>
        </p:nvSpPr>
        <p:spPr>
          <a:xfrm>
            <a:off x="566928" y="2688336"/>
            <a:ext cx="8010000" cy="6585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h38333402142a079_2_39"/>
          <p:cNvSpPr/>
          <p:nvPr/>
        </p:nvSpPr>
        <p:spPr>
          <a:xfrm>
            <a:off x="804672" y="2688336"/>
            <a:ext cx="7534800" cy="658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i="0" lang="en-US" sz="1200" u="none" cap="none" strike="noStrike">
                <a:solidFill>
                  <a:srgbClr val="0F2347"/>
                </a:solidFill>
                <a:latin typeface="DM Sans"/>
                <a:ea typeface="DM Sans"/>
                <a:cs typeface="DM Sans"/>
                <a:sym typeface="DM Sans"/>
              </a:rPr>
              <a:t>Not how busy you are. Not how much pressure you carry. Not how much the organization depends on you. The question is whether the work is still asking more of your judgment than it did ninety days ago.</a:t>
            </a:r>
            <a:endParaRPr b="0" i="0" sz="1200" u="none" cap="none" strike="noStrike">
              <a:solidFill>
                <a:schemeClr val="dk1"/>
              </a:solidFill>
              <a:latin typeface="Calibri"/>
              <a:ea typeface="Calibri"/>
              <a:cs typeface="Calibri"/>
              <a:sym typeface="Calibri"/>
            </a:endParaRPr>
          </a:p>
        </p:txBody>
      </p:sp>
      <p:sp>
        <p:nvSpPr>
          <p:cNvPr id="100" name="Google Shape;100;h38333402142a079_2_39"/>
          <p:cNvSpPr/>
          <p:nvPr/>
        </p:nvSpPr>
        <p:spPr>
          <a:xfrm>
            <a:off x="566928" y="356616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Six statements measure it. You will score them in a moment.</a:t>
            </a:r>
            <a:endParaRPr b="0" i="0" sz="1150" u="none" cap="none" strike="noStrike">
              <a:solidFill>
                <a:schemeClr val="dk1"/>
              </a:solidFill>
              <a:latin typeface="Calibri"/>
              <a:ea typeface="Calibri"/>
              <a:cs typeface="Calibri"/>
              <a:sym typeface="Calibri"/>
            </a:endParaRPr>
          </a:p>
        </p:txBody>
      </p:sp>
      <p:sp>
        <p:nvSpPr>
          <p:cNvPr id="101" name="Google Shape;101;h38333402142a079_2_39"/>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02" name="Google Shape;102;h38333402142a079_2_39"/>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7" name="Shape 107"/>
        <p:cNvGrpSpPr/>
        <p:nvPr/>
      </p:nvGrpSpPr>
      <p:grpSpPr>
        <a:xfrm>
          <a:off x="0" y="0"/>
          <a:ext cx="0" cy="0"/>
          <a:chOff x="0" y="0"/>
          <a:chExt cx="0" cy="0"/>
        </a:xfrm>
      </p:grpSpPr>
      <p:sp>
        <p:nvSpPr>
          <p:cNvPr id="108" name="Google Shape;108;h38333402142a079_2_52"/>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DEFINITION TWO</a:t>
            </a:r>
            <a:endParaRPr b="0" i="0" sz="950" u="none" cap="none" strike="noStrike">
              <a:solidFill>
                <a:schemeClr val="dk1"/>
              </a:solidFill>
              <a:latin typeface="Calibri"/>
              <a:ea typeface="Calibri"/>
              <a:cs typeface="Calibri"/>
              <a:sym typeface="Calibri"/>
            </a:endParaRPr>
          </a:p>
        </p:txBody>
      </p:sp>
      <p:sp>
        <p:nvSpPr>
          <p:cNvPr id="109" name="Google Shape;109;h38333402142a079_2_52"/>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i="0" lang="en-US" sz="3400" u="none" cap="none" strike="noStrike">
                <a:solidFill>
                  <a:srgbClr val="0F2347"/>
                </a:solidFill>
                <a:latin typeface="Cormorant Garamond"/>
                <a:ea typeface="Cormorant Garamond"/>
                <a:cs typeface="Cormorant Garamond"/>
                <a:sym typeface="Cormorant Garamond"/>
              </a:rPr>
              <a:t>Will what you build still travel?</a:t>
            </a:r>
            <a:endParaRPr b="0" i="0" sz="3400" u="none" cap="none" strike="noStrike">
              <a:solidFill>
                <a:schemeClr val="dk1"/>
              </a:solidFill>
              <a:latin typeface="Calibri"/>
              <a:ea typeface="Calibri"/>
              <a:cs typeface="Calibri"/>
              <a:sym typeface="Calibri"/>
            </a:endParaRPr>
          </a:p>
        </p:txBody>
      </p:sp>
      <p:sp>
        <p:nvSpPr>
          <p:cNvPr id="110" name="Google Shape;110;h38333402142a079_2_52"/>
          <p:cNvSpPr/>
          <p:nvPr/>
        </p:nvSpPr>
        <p:spPr>
          <a:xfrm>
            <a:off x="566928" y="1828800"/>
            <a:ext cx="8010000" cy="640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b="1" lang="en-US" sz="1600">
                <a:solidFill>
                  <a:srgbClr val="0F2347"/>
                </a:solidFill>
                <a:highlight>
                  <a:schemeClr val="accent4"/>
                </a:highlight>
                <a:latin typeface="DM Sans"/>
                <a:ea typeface="DM Sans"/>
                <a:cs typeface="DM Sans"/>
                <a:sym typeface="DM Sans"/>
              </a:rPr>
              <a:t>Optionality</a:t>
            </a:r>
            <a:r>
              <a:rPr b="0" i="0" lang="en-US" sz="1400" u="none" cap="none" strike="noStrike">
                <a:solidFill>
                  <a:srgbClr val="0F2347"/>
                </a:solidFill>
                <a:latin typeface="DM Sans"/>
                <a:ea typeface="DM Sans"/>
                <a:cs typeface="DM Sans"/>
                <a:sym typeface="DM Sans"/>
              </a:rPr>
              <a:t> reads whether what this work is building stays useful beyond your current context, and whether you could make it legible to someone outside your organization using evidence rather than your title.</a:t>
            </a:r>
            <a:endParaRPr b="0" i="0" sz="1400" u="none" cap="none" strike="noStrike">
              <a:solidFill>
                <a:schemeClr val="dk1"/>
              </a:solidFill>
              <a:latin typeface="Calibri"/>
              <a:ea typeface="Calibri"/>
              <a:cs typeface="Calibri"/>
              <a:sym typeface="Calibri"/>
            </a:endParaRPr>
          </a:p>
        </p:txBody>
      </p:sp>
      <p:sp>
        <p:nvSpPr>
          <p:cNvPr id="111" name="Google Shape;111;h38333402142a079_2_52"/>
          <p:cNvSpPr/>
          <p:nvPr/>
        </p:nvSpPr>
        <p:spPr>
          <a:xfrm>
            <a:off x="566928" y="2688336"/>
            <a:ext cx="8010000" cy="6585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h38333402142a079_2_52"/>
          <p:cNvSpPr/>
          <p:nvPr/>
        </p:nvSpPr>
        <p:spPr>
          <a:xfrm>
            <a:off x="804672" y="2688336"/>
            <a:ext cx="7534800" cy="658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i="0" lang="en-US" sz="1200" u="none" cap="none" strike="noStrike">
                <a:solidFill>
                  <a:srgbClr val="0F2347"/>
                </a:solidFill>
                <a:latin typeface="DM Sans"/>
                <a:ea typeface="DM Sans"/>
                <a:cs typeface="DM Sans"/>
                <a:sym typeface="DM Sans"/>
              </a:rPr>
              <a:t>A low score is not a verdict on your ability. And translation is not recognition. Making your work legible removes a barrier. It does not decide what another organization does with what it sees.</a:t>
            </a:r>
            <a:endParaRPr b="0" i="0" sz="1200" u="none" cap="none" strike="noStrike">
              <a:solidFill>
                <a:schemeClr val="dk1"/>
              </a:solidFill>
              <a:latin typeface="Calibri"/>
              <a:ea typeface="Calibri"/>
              <a:cs typeface="Calibri"/>
              <a:sym typeface="Calibri"/>
            </a:endParaRPr>
          </a:p>
        </p:txBody>
      </p:sp>
      <p:sp>
        <p:nvSpPr>
          <p:cNvPr id="113" name="Google Shape;113;h38333402142a079_2_52"/>
          <p:cNvSpPr/>
          <p:nvPr/>
        </p:nvSpPr>
        <p:spPr>
          <a:xfrm>
            <a:off x="566928" y="356616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Six statements measure it. Same scale, same window.</a:t>
            </a:r>
            <a:endParaRPr b="0" i="0" sz="1150" u="none" cap="none" strike="noStrike">
              <a:solidFill>
                <a:schemeClr val="dk1"/>
              </a:solidFill>
              <a:latin typeface="Calibri"/>
              <a:ea typeface="Calibri"/>
              <a:cs typeface="Calibri"/>
              <a:sym typeface="Calibri"/>
            </a:endParaRPr>
          </a:p>
        </p:txBody>
      </p:sp>
      <p:sp>
        <p:nvSpPr>
          <p:cNvPr id="114" name="Google Shape;114;h38333402142a079_2_5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15" name="Google Shape;115;h38333402142a079_2_52"/>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22" name="Google Shape;122;p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1 to 3</a:t>
            </a:r>
            <a:endParaRPr b="0" i="0" sz="2400" u="none" cap="none" strike="noStrike">
              <a:solidFill>
                <a:schemeClr val="dk1"/>
              </a:solidFill>
              <a:latin typeface="Calibri"/>
              <a:ea typeface="Calibri"/>
              <a:cs typeface="Calibri"/>
              <a:sym typeface="Calibri"/>
            </a:endParaRPr>
          </a:p>
        </p:txBody>
      </p:sp>
      <p:sp>
        <p:nvSpPr>
          <p:cNvPr id="123" name="Google Shape;123;p6"/>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Live, silent. 1 strongly disagree to 5 strongly agree.</a:t>
            </a:r>
            <a:endParaRPr b="0" i="0" sz="1150" u="none" cap="none" strike="noStrike">
              <a:solidFill>
                <a:schemeClr val="dk1"/>
              </a:solidFill>
              <a:latin typeface="Calibri"/>
              <a:ea typeface="Calibri"/>
              <a:cs typeface="Calibri"/>
              <a:sym typeface="Calibri"/>
            </a:endParaRPr>
          </a:p>
        </p:txBody>
      </p:sp>
      <p:sp>
        <p:nvSpPr>
          <p:cNvPr id="124" name="Google Shape;124;p6"/>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6"/>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126" name="Google Shape;126;p6"/>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In the last ninety days I have been handed a problem I did not already know how to solve.</a:t>
            </a:r>
            <a:endParaRPr b="0" i="0" sz="1250" u="none" cap="none" strike="noStrike">
              <a:solidFill>
                <a:schemeClr val="dk1"/>
              </a:solidFill>
              <a:latin typeface="Calibri"/>
              <a:ea typeface="Calibri"/>
              <a:cs typeface="Calibri"/>
              <a:sym typeface="Calibri"/>
            </a:endParaRPr>
          </a:p>
        </p:txBody>
      </p:sp>
      <p:sp>
        <p:nvSpPr>
          <p:cNvPr id="127" name="Google Shape;127;p6"/>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28" name="Google Shape;128;p6"/>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p6"/>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130" name="Google Shape;130;p6"/>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work close enough to people who are better than me that I can watch how they think.</a:t>
            </a:r>
            <a:endParaRPr b="0" i="0" sz="1250" u="none" cap="none" strike="noStrike">
              <a:solidFill>
                <a:schemeClr val="dk1"/>
              </a:solidFill>
              <a:latin typeface="Calibri"/>
              <a:ea typeface="Calibri"/>
              <a:cs typeface="Calibri"/>
              <a:sym typeface="Calibri"/>
            </a:endParaRPr>
          </a:p>
        </p:txBody>
      </p:sp>
      <p:sp>
        <p:nvSpPr>
          <p:cNvPr id="131" name="Google Shape;131;p6"/>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32" name="Google Shape;132;p6"/>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3</a:t>
            </a:r>
            <a:endParaRPr b="0" i="0" sz="1000" u="none" cap="none" strike="noStrike">
              <a:solidFill>
                <a:schemeClr val="dk1"/>
              </a:solidFill>
              <a:latin typeface="Calibri"/>
              <a:ea typeface="Calibri"/>
              <a:cs typeface="Calibri"/>
              <a:sym typeface="Calibri"/>
            </a:endParaRPr>
          </a:p>
        </p:txBody>
      </p:sp>
      <p:sp>
        <p:nvSpPr>
          <p:cNvPr id="134" name="Google Shape;134;p6"/>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1250" u="none" cap="none" strike="noStrike">
              <a:solidFill>
                <a:schemeClr val="dk1"/>
              </a:solidFill>
              <a:latin typeface="Calibri"/>
              <a:ea typeface="Calibri"/>
              <a:cs typeface="Calibri"/>
              <a:sym typeface="Calibri"/>
            </a:endParaRPr>
          </a:p>
        </p:txBody>
      </p:sp>
      <p:sp>
        <p:nvSpPr>
          <p:cNvPr id="135" name="Google Shape;135;p6"/>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36" name="Google Shape;136;p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37" name="Google Shape;137;p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2" name="Shape 142"/>
        <p:cNvGrpSpPr/>
        <p:nvPr/>
      </p:nvGrpSpPr>
      <p:grpSpPr>
        <a:xfrm>
          <a:off x="0" y="0"/>
          <a:ext cx="0" cy="0"/>
          <a:chOff x="0" y="0"/>
          <a:chExt cx="0" cy="0"/>
        </a:xfrm>
      </p:grpSpPr>
      <p:sp>
        <p:nvSpPr>
          <p:cNvPr id="143" name="Google Shape;143;p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44" name="Google Shape;144;p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4 to 6</a:t>
            </a:r>
            <a:endParaRPr b="0" i="0" sz="2400" u="none" cap="none" strike="noStrike">
              <a:solidFill>
                <a:schemeClr val="dk1"/>
              </a:solidFill>
              <a:latin typeface="Calibri"/>
              <a:ea typeface="Calibri"/>
              <a:cs typeface="Calibri"/>
              <a:sym typeface="Calibri"/>
            </a:endParaRPr>
          </a:p>
        </p:txBody>
      </p:sp>
      <p:sp>
        <p:nvSpPr>
          <p:cNvPr id="145" name="Google Shape;145;p7"/>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continued. Same window, same instruction.</a:t>
            </a:r>
            <a:endParaRPr b="0" i="0" sz="1150" u="none" cap="none" strike="noStrike">
              <a:solidFill>
                <a:schemeClr val="dk1"/>
              </a:solidFill>
              <a:latin typeface="Calibri"/>
              <a:ea typeface="Calibri"/>
              <a:cs typeface="Calibri"/>
              <a:sym typeface="Calibri"/>
            </a:endParaRPr>
          </a:p>
        </p:txBody>
      </p:sp>
      <p:sp>
        <p:nvSpPr>
          <p:cNvPr id="146" name="Google Shape;146;p7"/>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7"/>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4</a:t>
            </a:r>
            <a:endParaRPr b="0" i="0" sz="1000" u="none" cap="none" strike="noStrike">
              <a:solidFill>
                <a:schemeClr val="dk1"/>
              </a:solidFill>
              <a:latin typeface="Calibri"/>
              <a:ea typeface="Calibri"/>
              <a:cs typeface="Calibri"/>
              <a:sym typeface="Calibri"/>
            </a:endParaRPr>
          </a:p>
        </p:txBody>
      </p:sp>
      <p:sp>
        <p:nvSpPr>
          <p:cNvPr id="148" name="Google Shape;148;p7"/>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feedback I receive changes what I do next, not just how I feel.</a:t>
            </a:r>
            <a:endParaRPr b="0" i="0" sz="1250" u="none" cap="none" strike="noStrike">
              <a:solidFill>
                <a:schemeClr val="dk1"/>
              </a:solidFill>
              <a:latin typeface="Calibri"/>
              <a:ea typeface="Calibri"/>
              <a:cs typeface="Calibri"/>
              <a:sym typeface="Calibri"/>
            </a:endParaRPr>
          </a:p>
        </p:txBody>
      </p:sp>
      <p:sp>
        <p:nvSpPr>
          <p:cNvPr id="149" name="Google Shape;149;p7"/>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0" name="Google Shape;150;p7"/>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7"/>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5</a:t>
            </a:r>
            <a:endParaRPr b="0" i="0" sz="1000" u="none" cap="none" strike="noStrike">
              <a:solidFill>
                <a:schemeClr val="dk1"/>
              </a:solidFill>
              <a:latin typeface="Calibri"/>
              <a:ea typeface="Calibri"/>
              <a:cs typeface="Calibri"/>
              <a:sym typeface="Calibri"/>
            </a:endParaRPr>
          </a:p>
        </p:txBody>
      </p:sp>
      <p:sp>
        <p:nvSpPr>
          <p:cNvPr id="152" name="Google Shape;152;p7"/>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regularly operate at the edge of my competence rather than the comfortable center of it.</a:t>
            </a:r>
            <a:endParaRPr b="0" i="0" sz="1250" u="none" cap="none" strike="noStrike">
              <a:solidFill>
                <a:schemeClr val="dk1"/>
              </a:solidFill>
              <a:latin typeface="Calibri"/>
              <a:ea typeface="Calibri"/>
              <a:cs typeface="Calibri"/>
              <a:sym typeface="Calibri"/>
            </a:endParaRPr>
          </a:p>
        </p:txBody>
      </p:sp>
      <p:sp>
        <p:nvSpPr>
          <p:cNvPr id="153" name="Google Shape;153;p7"/>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4" name="Google Shape;154;p7"/>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7"/>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6</a:t>
            </a:r>
            <a:endParaRPr b="0" i="0" sz="1000" u="none" cap="none" strike="noStrike">
              <a:solidFill>
                <a:schemeClr val="dk1"/>
              </a:solidFill>
              <a:latin typeface="Calibri"/>
              <a:ea typeface="Calibri"/>
              <a:cs typeface="Calibri"/>
              <a:sym typeface="Calibri"/>
            </a:endParaRPr>
          </a:p>
        </p:txBody>
      </p:sp>
      <p:sp>
        <p:nvSpPr>
          <p:cNvPr id="156" name="Google Shape;156;p7"/>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Looking back six months, the work I do now would have been genuinely hard for me then.</a:t>
            </a:r>
            <a:endParaRPr b="0" i="0" sz="1250" u="none" cap="none" strike="noStrike">
              <a:solidFill>
                <a:schemeClr val="dk1"/>
              </a:solidFill>
              <a:latin typeface="Calibri"/>
              <a:ea typeface="Calibri"/>
              <a:cs typeface="Calibri"/>
              <a:sym typeface="Calibri"/>
            </a:endParaRPr>
          </a:p>
        </p:txBody>
      </p:sp>
      <p:sp>
        <p:nvSpPr>
          <p:cNvPr id="157" name="Google Shape;157;p7"/>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8" name="Google Shape;158;p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59" name="Google Shape;159;p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4" name="Shape 164"/>
        <p:cNvGrpSpPr/>
        <p:nvPr/>
      </p:nvGrpSpPr>
      <p:grpSpPr>
        <a:xfrm>
          <a:off x="0" y="0"/>
          <a:ext cx="0" cy="0"/>
          <a:chOff x="0" y="0"/>
          <a:chExt cx="0" cy="0"/>
        </a:xfrm>
      </p:grpSpPr>
      <p:sp>
        <p:nvSpPr>
          <p:cNvPr id="165" name="Google Shape;165;p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66" name="Google Shape;166;p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Your initial Density reading</a:t>
            </a:r>
            <a:endParaRPr b="0" i="0" sz="2800" u="none" cap="none" strike="noStrike">
              <a:solidFill>
                <a:schemeClr val="dk1"/>
              </a:solidFill>
              <a:latin typeface="Calibri"/>
              <a:ea typeface="Calibri"/>
              <a:cs typeface="Calibri"/>
              <a:sym typeface="Calibri"/>
            </a:endParaRPr>
          </a:p>
        </p:txBody>
      </p:sp>
      <p:sp>
        <p:nvSpPr>
          <p:cNvPr id="167" name="Google Shape;167;p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Add statements 1 to 6.</a:t>
            </a:r>
            <a:endParaRPr b="0" i="0" sz="1150" u="none" cap="none" strike="noStrike">
              <a:solidFill>
                <a:schemeClr val="dk1"/>
              </a:solidFill>
              <a:latin typeface="Calibri"/>
              <a:ea typeface="Calibri"/>
              <a:cs typeface="Calibri"/>
              <a:sym typeface="Calibri"/>
            </a:endParaRPr>
          </a:p>
        </p:txBody>
      </p:sp>
      <p:sp>
        <p:nvSpPr>
          <p:cNvPr id="168" name="Google Shape;168;p8"/>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8"/>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DENSITY TOTAL</a:t>
            </a:r>
            <a:endParaRPr b="0" i="0" sz="950" u="none" cap="none" strike="noStrike">
              <a:solidFill>
                <a:schemeClr val="dk1"/>
              </a:solidFill>
              <a:latin typeface="Calibri"/>
              <a:ea typeface="Calibri"/>
              <a:cs typeface="Calibri"/>
              <a:sym typeface="Calibri"/>
            </a:endParaRPr>
          </a:p>
        </p:txBody>
      </p:sp>
      <p:sp>
        <p:nvSpPr>
          <p:cNvPr id="170" name="Google Shape;170;p8"/>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171" name="Google Shape;171;p8"/>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19 to 30 is high</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6 to 18 is low</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17 to 21 is the boundary band</a:t>
            </a:r>
            <a:endParaRPr b="0" i="0" sz="1150" u="none" cap="none" strike="noStrike">
              <a:solidFill>
                <a:schemeClr val="dk1"/>
              </a:solidFill>
              <a:latin typeface="Calibri"/>
              <a:ea typeface="Calibri"/>
              <a:cs typeface="Calibri"/>
              <a:sym typeface="Calibri"/>
            </a:endParaRPr>
          </a:p>
        </p:txBody>
      </p:sp>
      <p:sp>
        <p:nvSpPr>
          <p:cNvPr id="172" name="Google Shape;172;p8"/>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Hold the number. Do not share it.</a:t>
            </a:r>
            <a:endParaRPr b="0" i="0" sz="1250" u="none" cap="none" strike="noStrike">
              <a:solidFill>
                <a:schemeClr val="dk1"/>
              </a:solidFill>
              <a:latin typeface="Calibri"/>
              <a:ea typeface="Calibri"/>
              <a:cs typeface="Calibri"/>
              <a:sym typeface="Calibri"/>
            </a:endParaRPr>
          </a:p>
        </p:txBody>
      </p:sp>
      <p:sp>
        <p:nvSpPr>
          <p:cNvPr id="173" name="Google Shape;173;p8"/>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b="0" i="0" sz="1060" u="none" cap="none" strike="noStrike">
              <a:solidFill>
                <a:schemeClr val="dk1"/>
              </a:solidFill>
              <a:latin typeface="Calibri"/>
              <a:ea typeface="Calibri"/>
              <a:cs typeface="Calibri"/>
              <a:sym typeface="Calibri"/>
            </a:endParaRPr>
          </a:p>
        </p:txBody>
      </p:sp>
      <p:sp>
        <p:nvSpPr>
          <p:cNvPr id="174" name="Google Shape;174;p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75" name="Google Shape;175;p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0" name="Shape 180"/>
        <p:cNvGrpSpPr/>
        <p:nvPr/>
      </p:nvGrpSpPr>
      <p:grpSpPr>
        <a:xfrm>
          <a:off x="0" y="0"/>
          <a:ext cx="0" cy="0"/>
          <a:chOff x="0" y="0"/>
          <a:chExt cx="0" cy="0"/>
        </a:xfrm>
      </p:grpSpPr>
      <p:sp>
        <p:nvSpPr>
          <p:cNvPr id="181" name="Google Shape;181;p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82" name="Google Shape;182;p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7 to 9</a:t>
            </a:r>
            <a:endParaRPr b="0" i="0" sz="2400" u="none" cap="none" strike="noStrike">
              <a:solidFill>
                <a:schemeClr val="dk1"/>
              </a:solidFill>
              <a:latin typeface="Calibri"/>
              <a:ea typeface="Calibri"/>
              <a:cs typeface="Calibri"/>
              <a:sym typeface="Calibri"/>
            </a:endParaRPr>
          </a:p>
        </p:txBody>
      </p:sp>
      <p:sp>
        <p:nvSpPr>
          <p:cNvPr id="183" name="Google Shape;183;p9"/>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Optionality. Same scale, same window.</a:t>
            </a:r>
            <a:endParaRPr b="0" i="0" sz="1150" u="none" cap="none" strike="noStrike">
              <a:solidFill>
                <a:schemeClr val="dk1"/>
              </a:solidFill>
              <a:latin typeface="Calibri"/>
              <a:ea typeface="Calibri"/>
              <a:cs typeface="Calibri"/>
              <a:sym typeface="Calibri"/>
            </a:endParaRPr>
          </a:p>
        </p:txBody>
      </p:sp>
      <p:sp>
        <p:nvSpPr>
          <p:cNvPr id="184" name="Google Shape;184;p9"/>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9"/>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7</a:t>
            </a:r>
            <a:endParaRPr b="0" i="0" sz="1000" u="none" cap="none" strike="noStrike">
              <a:solidFill>
                <a:schemeClr val="dk1"/>
              </a:solidFill>
              <a:latin typeface="Calibri"/>
              <a:ea typeface="Calibri"/>
              <a:cs typeface="Calibri"/>
              <a:sym typeface="Calibri"/>
            </a:endParaRPr>
          </a:p>
        </p:txBody>
      </p:sp>
      <p:sp>
        <p:nvSpPr>
          <p:cNvPr id="186" name="Google Shape;186;p9"/>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capability I am building would be valued by an employer in a different industry.</a:t>
            </a:r>
            <a:endParaRPr b="0" i="0" sz="1250" u="none" cap="none" strike="noStrike">
              <a:solidFill>
                <a:schemeClr val="dk1"/>
              </a:solidFill>
              <a:latin typeface="Calibri"/>
              <a:ea typeface="Calibri"/>
              <a:cs typeface="Calibri"/>
              <a:sym typeface="Calibri"/>
            </a:endParaRPr>
          </a:p>
        </p:txBody>
      </p:sp>
      <p:sp>
        <p:nvSpPr>
          <p:cNvPr id="187" name="Google Shape;187;p9"/>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88" name="Google Shape;188;p9"/>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9"/>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8</a:t>
            </a:r>
            <a:endParaRPr b="0" i="0" sz="1000" u="none" cap="none" strike="noStrike">
              <a:solidFill>
                <a:schemeClr val="dk1"/>
              </a:solidFill>
              <a:latin typeface="Calibri"/>
              <a:ea typeface="Calibri"/>
              <a:cs typeface="Calibri"/>
              <a:sym typeface="Calibri"/>
            </a:endParaRPr>
          </a:p>
        </p:txBody>
      </p:sp>
      <p:sp>
        <p:nvSpPr>
          <p:cNvPr id="190" name="Google Shape;190;p9"/>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can describe what I do in terms of outcomes, not just my company’s internal language.</a:t>
            </a:r>
            <a:endParaRPr b="0" i="0" sz="1250" u="none" cap="none" strike="noStrike">
              <a:solidFill>
                <a:schemeClr val="dk1"/>
              </a:solidFill>
              <a:latin typeface="Calibri"/>
              <a:ea typeface="Calibri"/>
              <a:cs typeface="Calibri"/>
              <a:sym typeface="Calibri"/>
            </a:endParaRPr>
          </a:p>
        </p:txBody>
      </p:sp>
      <p:sp>
        <p:nvSpPr>
          <p:cNvPr id="191" name="Google Shape;191;p9"/>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92" name="Google Shape;192;p9"/>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9"/>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9</a:t>
            </a:r>
            <a:endParaRPr b="0" i="0" sz="1000" u="none" cap="none" strike="noStrike">
              <a:solidFill>
                <a:schemeClr val="dk1"/>
              </a:solidFill>
              <a:latin typeface="Calibri"/>
              <a:ea typeface="Calibri"/>
              <a:cs typeface="Calibri"/>
              <a:sym typeface="Calibri"/>
            </a:endParaRPr>
          </a:p>
        </p:txBody>
      </p:sp>
      <p:sp>
        <p:nvSpPr>
          <p:cNvPr id="194" name="Google Shape;194;p9"/>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If my role disappeared tomorrow, the capability I built would still be mine to carry.</a:t>
            </a:r>
            <a:endParaRPr b="0" i="0" sz="1250" u="none" cap="none" strike="noStrike">
              <a:solidFill>
                <a:schemeClr val="dk1"/>
              </a:solidFill>
              <a:latin typeface="Calibri"/>
              <a:ea typeface="Calibri"/>
              <a:cs typeface="Calibri"/>
              <a:sym typeface="Calibri"/>
            </a:endParaRPr>
          </a:p>
        </p:txBody>
      </p:sp>
      <p:sp>
        <p:nvSpPr>
          <p:cNvPr id="195" name="Google Shape;195;p9"/>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96" name="Google Shape;196;p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97" name="Google Shape;197;p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2" name="Shape 202"/>
        <p:cNvGrpSpPr/>
        <p:nvPr/>
      </p:nvGrpSpPr>
      <p:grpSpPr>
        <a:xfrm>
          <a:off x="0" y="0"/>
          <a:ext cx="0" cy="0"/>
          <a:chOff x="0" y="0"/>
          <a:chExt cx="0" cy="0"/>
        </a:xfrm>
      </p:grpSpPr>
      <p:sp>
        <p:nvSpPr>
          <p:cNvPr id="203" name="Google Shape;203;p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204" name="Google Shape;204;p1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10 to 12</a:t>
            </a:r>
            <a:endParaRPr b="0" i="0" sz="2400" u="none" cap="none" strike="noStrike">
              <a:solidFill>
                <a:schemeClr val="dk1"/>
              </a:solidFill>
              <a:latin typeface="Calibri"/>
              <a:ea typeface="Calibri"/>
              <a:cs typeface="Calibri"/>
              <a:sym typeface="Calibri"/>
            </a:endParaRPr>
          </a:p>
        </p:txBody>
      </p:sp>
      <p:sp>
        <p:nvSpPr>
          <p:cNvPr id="205" name="Google Shape;205;p10"/>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Optionality, continued. Last block of the first pass.</a:t>
            </a:r>
            <a:endParaRPr b="0" i="0" sz="1150" u="none" cap="none" strike="noStrike">
              <a:solidFill>
                <a:schemeClr val="dk1"/>
              </a:solidFill>
              <a:latin typeface="Calibri"/>
              <a:ea typeface="Calibri"/>
              <a:cs typeface="Calibri"/>
              <a:sym typeface="Calibri"/>
            </a:endParaRPr>
          </a:p>
        </p:txBody>
      </p:sp>
      <p:sp>
        <p:nvSpPr>
          <p:cNvPr id="206" name="Google Shape;206;p10"/>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10"/>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10</a:t>
            </a:r>
            <a:endParaRPr b="0" i="0" sz="1000" u="none" cap="none" strike="noStrike">
              <a:solidFill>
                <a:schemeClr val="dk1"/>
              </a:solidFill>
              <a:latin typeface="Calibri"/>
              <a:ea typeface="Calibri"/>
              <a:cs typeface="Calibri"/>
              <a:sym typeface="Calibri"/>
            </a:endParaRPr>
          </a:p>
        </p:txBody>
      </p:sp>
      <p:sp>
        <p:nvSpPr>
          <p:cNvPr id="208" name="Google Shape;208;p10"/>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1250" u="none" cap="none" strike="noStrike">
              <a:solidFill>
                <a:schemeClr val="dk1"/>
              </a:solidFill>
              <a:latin typeface="Calibri"/>
              <a:ea typeface="Calibri"/>
              <a:cs typeface="Calibri"/>
              <a:sym typeface="Calibri"/>
            </a:endParaRPr>
          </a:p>
        </p:txBody>
      </p:sp>
      <p:sp>
        <p:nvSpPr>
          <p:cNvPr id="209" name="Google Shape;209;p10"/>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0" name="Google Shape;210;p10"/>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0"/>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11</a:t>
            </a:r>
            <a:endParaRPr b="0" i="0" sz="1000" u="none" cap="none" strike="noStrike">
              <a:solidFill>
                <a:schemeClr val="dk1"/>
              </a:solidFill>
              <a:latin typeface="Calibri"/>
              <a:ea typeface="Calibri"/>
              <a:cs typeface="Calibri"/>
              <a:sym typeface="Calibri"/>
            </a:endParaRPr>
          </a:p>
        </p:txBody>
      </p:sp>
      <p:sp>
        <p:nvSpPr>
          <p:cNvPr id="212" name="Google Shape;212;p10"/>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What I am learning is a transferable capability rather than a company-specific procedure.</a:t>
            </a:r>
            <a:endParaRPr b="0" i="0" sz="1250" u="none" cap="none" strike="noStrike">
              <a:solidFill>
                <a:schemeClr val="dk1"/>
              </a:solidFill>
              <a:latin typeface="Calibri"/>
              <a:ea typeface="Calibri"/>
              <a:cs typeface="Calibri"/>
              <a:sym typeface="Calibri"/>
            </a:endParaRPr>
          </a:p>
        </p:txBody>
      </p:sp>
      <p:sp>
        <p:nvSpPr>
          <p:cNvPr id="213" name="Google Shape;213;p10"/>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4" name="Google Shape;214;p10"/>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10"/>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12</a:t>
            </a:r>
            <a:endParaRPr b="0" i="0" sz="1000" u="none" cap="none" strike="noStrike">
              <a:solidFill>
                <a:schemeClr val="dk1"/>
              </a:solidFill>
              <a:latin typeface="Calibri"/>
              <a:ea typeface="Calibri"/>
              <a:cs typeface="Calibri"/>
              <a:sym typeface="Calibri"/>
            </a:endParaRPr>
          </a:p>
        </p:txBody>
      </p:sp>
      <p:sp>
        <p:nvSpPr>
          <p:cNvPr id="216" name="Google Shape;216;p10"/>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could rebuild a strong position somewhere else within a year.</a:t>
            </a:r>
            <a:endParaRPr b="0" i="0" sz="1250" u="none" cap="none" strike="noStrike">
              <a:solidFill>
                <a:schemeClr val="dk1"/>
              </a:solidFill>
              <a:latin typeface="Calibri"/>
              <a:ea typeface="Calibri"/>
              <a:cs typeface="Calibri"/>
              <a:sym typeface="Calibri"/>
            </a:endParaRPr>
          </a:p>
        </p:txBody>
      </p:sp>
      <p:sp>
        <p:nvSpPr>
          <p:cNvPr id="217" name="Google Shape;217;p10"/>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8" name="Google Shape;218;p1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19" name="Google Shape;219;p1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4" name="Shape 224"/>
        <p:cNvGrpSpPr/>
        <p:nvPr/>
      </p:nvGrpSpPr>
      <p:grpSpPr>
        <a:xfrm>
          <a:off x="0" y="0"/>
          <a:ext cx="0" cy="0"/>
          <a:chOff x="0" y="0"/>
          <a:chExt cx="0" cy="0"/>
        </a:xfrm>
      </p:grpSpPr>
      <p:sp>
        <p:nvSpPr>
          <p:cNvPr id="225" name="Google Shape;225;p1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226" name="Google Shape;226;p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Your initial Optionality reading</a:t>
            </a:r>
            <a:endParaRPr b="0" i="0" sz="2800" u="none" cap="none" strike="noStrike">
              <a:solidFill>
                <a:schemeClr val="dk1"/>
              </a:solidFill>
              <a:latin typeface="Calibri"/>
              <a:ea typeface="Calibri"/>
              <a:cs typeface="Calibri"/>
              <a:sym typeface="Calibri"/>
            </a:endParaRPr>
          </a:p>
        </p:txBody>
      </p:sp>
      <p:sp>
        <p:nvSpPr>
          <p:cNvPr id="227" name="Google Shape;227;p11"/>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Add statements 7 to 12.</a:t>
            </a:r>
            <a:endParaRPr b="0" i="0" sz="1150" u="none" cap="none" strike="noStrike">
              <a:solidFill>
                <a:schemeClr val="dk1"/>
              </a:solidFill>
              <a:latin typeface="Calibri"/>
              <a:ea typeface="Calibri"/>
              <a:cs typeface="Calibri"/>
              <a:sym typeface="Calibri"/>
            </a:endParaRPr>
          </a:p>
        </p:txBody>
      </p:sp>
      <p:sp>
        <p:nvSpPr>
          <p:cNvPr id="228" name="Google Shape;228;p11"/>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p11"/>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OPTIONALITY TOTAL</a:t>
            </a:r>
            <a:endParaRPr b="0" i="0" sz="950" u="none" cap="none" strike="noStrike">
              <a:solidFill>
                <a:schemeClr val="dk1"/>
              </a:solidFill>
              <a:latin typeface="Calibri"/>
              <a:ea typeface="Calibri"/>
              <a:cs typeface="Calibri"/>
              <a:sym typeface="Calibri"/>
            </a:endParaRPr>
          </a:p>
        </p:txBody>
      </p:sp>
      <p:sp>
        <p:nvSpPr>
          <p:cNvPr id="230" name="Google Shape;230;p11"/>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231" name="Google Shape;231;p11"/>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19 to 30 is high</a:t>
            </a:r>
            <a:endParaRPr b="1" i="0" sz="14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6 to 18 is low</a:t>
            </a:r>
            <a:endParaRPr b="1" i="0" sz="14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17 to 21 is the boundary band</a:t>
            </a:r>
            <a:endParaRPr b="1" i="0" sz="1450" u="none" cap="none" strike="noStrike">
              <a:solidFill>
                <a:schemeClr val="dk1"/>
              </a:solidFill>
              <a:latin typeface="Calibri"/>
              <a:ea typeface="Calibri"/>
              <a:cs typeface="Calibri"/>
              <a:sym typeface="Calibri"/>
            </a:endParaRPr>
          </a:p>
        </p:txBody>
      </p:sp>
      <p:sp>
        <p:nvSpPr>
          <p:cNvPr id="232" name="Google Shape;232;p11"/>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Hold the number. Do not share it.</a:t>
            </a:r>
            <a:endParaRPr b="0" i="0" sz="1250" u="none" cap="none" strike="noStrike">
              <a:solidFill>
                <a:schemeClr val="dk1"/>
              </a:solidFill>
              <a:latin typeface="Calibri"/>
              <a:ea typeface="Calibri"/>
              <a:cs typeface="Calibri"/>
              <a:sym typeface="Calibri"/>
            </a:endParaRPr>
          </a:p>
        </p:txBody>
      </p:sp>
      <p:sp>
        <p:nvSpPr>
          <p:cNvPr id="233" name="Google Shape;233;p11"/>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A total inside 17 to 21 sits on the boundary. It does not resolve to high or low</a:t>
            </a:r>
            <a:r>
              <a:rPr i="1" lang="en-US" sz="1060">
                <a:solidFill>
                  <a:srgbClr val="5A6B84"/>
                </a:solidFill>
                <a:latin typeface="DM Sans"/>
                <a:ea typeface="DM Sans"/>
                <a:cs typeface="DM Sans"/>
                <a:sym typeface="DM Sans"/>
              </a:rPr>
              <a:t>, </a:t>
            </a:r>
            <a:r>
              <a:rPr b="0" i="1" lang="en-US" sz="1060" u="none" cap="none" strike="noStrike">
                <a:solidFill>
                  <a:srgbClr val="5A6B84"/>
                </a:solidFill>
                <a:latin typeface="DM Sans"/>
                <a:ea typeface="DM Sans"/>
                <a:cs typeface="DM Sans"/>
                <a:sym typeface="DM Sans"/>
              </a:rPr>
              <a:t>you will read both neighbouring states rather than pick one.</a:t>
            </a:r>
            <a:endParaRPr b="0" i="0" sz="1060" u="none" cap="none" strike="noStrike">
              <a:solidFill>
                <a:schemeClr val="dk1"/>
              </a:solidFill>
              <a:latin typeface="Calibri"/>
              <a:ea typeface="Calibri"/>
              <a:cs typeface="Calibri"/>
              <a:sym typeface="Calibri"/>
            </a:endParaRPr>
          </a:p>
        </p:txBody>
      </p:sp>
      <p:sp>
        <p:nvSpPr>
          <p:cNvPr id="234" name="Google Shape;234;p1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35" name="Google Shape;235;p1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40" name="Shape 240"/>
        <p:cNvGrpSpPr/>
        <p:nvPr/>
      </p:nvGrpSpPr>
      <p:grpSpPr>
        <a:xfrm>
          <a:off x="0" y="0"/>
          <a:ext cx="0" cy="0"/>
          <a:chOff x="0" y="0"/>
          <a:chExt cx="0" cy="0"/>
        </a:xfrm>
      </p:grpSpPr>
      <p:sp>
        <p:nvSpPr>
          <p:cNvPr id="241" name="Google Shape;241;h38333402142a079_2_70"/>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t/>
            </a:r>
            <a:endParaRPr b="1" sz="3100">
              <a:solidFill>
                <a:srgbClr val="F5F0E8"/>
              </a:solidFill>
              <a:latin typeface="Cormorant Garamond"/>
              <a:ea typeface="Cormorant Garamond"/>
              <a:cs typeface="Cormorant Garamond"/>
              <a:sym typeface="Cormorant Garamond"/>
            </a:endParaRPr>
          </a:p>
          <a:p>
            <a:pPr indent="0" lvl="0" marL="0" marR="0" rtl="0" algn="l">
              <a:lnSpc>
                <a:spcPct val="122580"/>
              </a:lnSpc>
              <a:spcBef>
                <a:spcPts val="0"/>
              </a:spcBef>
              <a:spcAft>
                <a:spcPts val="0"/>
              </a:spcAft>
              <a:buClr>
                <a:srgbClr val="F5F0E8"/>
              </a:buClr>
              <a:buSzPts val="3100"/>
              <a:buFont typeface="Cormorant Garamond"/>
              <a:buNone/>
            </a:pPr>
            <a:r>
              <a:rPr b="1" lang="en-US" sz="3800">
                <a:solidFill>
                  <a:srgbClr val="F5F0E8"/>
                </a:solidFill>
                <a:latin typeface="Cormorant Garamond"/>
                <a:ea typeface="Cormorant Garamond"/>
                <a:cs typeface="Cormorant Garamond"/>
                <a:sym typeface="Cormorant Garamond"/>
              </a:rPr>
              <a:t>Matrix</a:t>
            </a:r>
            <a:endParaRPr b="0" i="0" sz="3800" u="none" cap="none" strike="noStrike">
              <a:solidFill>
                <a:schemeClr val="dk1"/>
              </a:solidFill>
              <a:latin typeface="Calibri"/>
              <a:ea typeface="Calibri"/>
              <a:cs typeface="Calibri"/>
              <a:sym typeface="Calibri"/>
            </a:endParaRPr>
          </a:p>
        </p:txBody>
      </p:sp>
      <p:sp>
        <p:nvSpPr>
          <p:cNvPr id="242" name="Google Shape;242;h38333402142a079_2_70"/>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h38333402142a079_2_70"/>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700"/>
              <a:buFont typeface="Montserrat"/>
              <a:buNone/>
            </a:pPr>
            <a:r>
              <a:rPr b="1" i="0" lang="en-US" sz="700" u="none" cap="none" strike="noStrike">
                <a:solidFill>
                  <a:srgbClr val="B8C5D9"/>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8" name="Shape 248"/>
        <p:cNvGrpSpPr/>
        <p:nvPr/>
      </p:nvGrpSpPr>
      <p:grpSpPr>
        <a:xfrm>
          <a:off x="0" y="0"/>
          <a:ext cx="0" cy="0"/>
          <a:chOff x="0" y="0"/>
          <a:chExt cx="0" cy="0"/>
        </a:xfrm>
      </p:grpSpPr>
      <p:sp>
        <p:nvSpPr>
          <p:cNvPr id="249" name="Google Shape;249;h11f538478445b104_2_18"/>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MATRIX</a:t>
            </a:r>
            <a:endParaRPr b="0" i="0" sz="950" u="none" cap="none" strike="noStrike">
              <a:solidFill>
                <a:schemeClr val="dk1"/>
              </a:solidFill>
              <a:latin typeface="Calibri"/>
              <a:ea typeface="Calibri"/>
              <a:cs typeface="Calibri"/>
              <a:sym typeface="Calibri"/>
            </a:endParaRPr>
          </a:p>
        </p:txBody>
      </p:sp>
      <p:sp>
        <p:nvSpPr>
          <p:cNvPr id="250" name="Google Shape;250;h11f538478445b104_2_18"/>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four states</a:t>
            </a:r>
            <a:endParaRPr b="0" i="0" sz="3000" u="none" cap="none" strike="noStrike">
              <a:solidFill>
                <a:schemeClr val="dk1"/>
              </a:solidFill>
              <a:latin typeface="Calibri"/>
              <a:ea typeface="Calibri"/>
              <a:cs typeface="Calibri"/>
              <a:sym typeface="Calibri"/>
            </a:endParaRPr>
          </a:p>
        </p:txBody>
      </p:sp>
      <p:sp>
        <p:nvSpPr>
          <p:cNvPr id="251" name="Google Shape;251;h11f538478445b104_2_18"/>
          <p:cNvSpPr/>
          <p:nvPr/>
        </p:nvSpPr>
        <p:spPr>
          <a:xfrm>
            <a:off x="566928" y="1353312"/>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crossed with Optionality. Your state helps you see a form of exposure your job title cannot.</a:t>
            </a:r>
            <a:endParaRPr b="0" i="0" sz="1150" u="none" cap="none" strike="noStrike">
              <a:solidFill>
                <a:schemeClr val="dk1"/>
              </a:solidFill>
              <a:latin typeface="Calibri"/>
              <a:ea typeface="Calibri"/>
              <a:cs typeface="Calibri"/>
              <a:sym typeface="Calibri"/>
            </a:endParaRPr>
          </a:p>
        </p:txBody>
      </p:sp>
      <p:sp>
        <p:nvSpPr>
          <p:cNvPr id="252" name="Google Shape;252;h11f538478445b104_2_18"/>
          <p:cNvSpPr/>
          <p:nvPr/>
        </p:nvSpPr>
        <p:spPr>
          <a:xfrm>
            <a:off x="1133856" y="1792224"/>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h11f538478445b104_2_18"/>
          <p:cNvSpPr/>
          <p:nvPr/>
        </p:nvSpPr>
        <p:spPr>
          <a:xfrm>
            <a:off x="1353312" y="1975104"/>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2   </a:t>
            </a: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254" name="Google Shape;254;h11f538478445b104_2_18"/>
          <p:cNvSpPr/>
          <p:nvPr/>
        </p:nvSpPr>
        <p:spPr>
          <a:xfrm>
            <a:off x="1353312" y="2286000"/>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Deep expertise fused to one context.</a:t>
            </a:r>
            <a:endParaRPr b="1" i="0" sz="1100" u="none" cap="none" strike="noStrike">
              <a:solidFill>
                <a:schemeClr val="dk1"/>
              </a:solidFill>
              <a:latin typeface="Calibri"/>
              <a:ea typeface="Calibri"/>
              <a:cs typeface="Calibri"/>
              <a:sym typeface="Calibri"/>
            </a:endParaRPr>
          </a:p>
        </p:txBody>
      </p:sp>
      <p:sp>
        <p:nvSpPr>
          <p:cNvPr id="255" name="Google Shape;255;h11f538478445b104_2_18"/>
          <p:cNvSpPr/>
          <p:nvPr/>
        </p:nvSpPr>
        <p:spPr>
          <a:xfrm>
            <a:off x="4855464" y="1792224"/>
            <a:ext cx="3721500" cy="12069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h11f538478445b104_2_18"/>
          <p:cNvSpPr/>
          <p:nvPr/>
        </p:nvSpPr>
        <p:spPr>
          <a:xfrm>
            <a:off x="5074920" y="1975104"/>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B8C5D9"/>
                </a:solidFill>
                <a:latin typeface="Montserrat"/>
                <a:ea typeface="Montserrat"/>
                <a:cs typeface="Montserrat"/>
                <a:sym typeface="Montserrat"/>
              </a:rPr>
              <a:t>4   </a:t>
            </a: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257" name="Google Shape;257;h11f538478445b104_2_18"/>
          <p:cNvSpPr/>
          <p:nvPr/>
        </p:nvSpPr>
        <p:spPr>
          <a:xfrm>
            <a:off x="5074920" y="2286000"/>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b="1" i="0" lang="en-US" sz="1100" u="none" cap="none" strike="noStrike">
                <a:solidFill>
                  <a:srgbClr val="B8C5D9"/>
                </a:solidFill>
                <a:latin typeface="DM Sans"/>
                <a:ea typeface="DM Sans"/>
                <a:cs typeface="DM Sans"/>
                <a:sym typeface="DM Sans"/>
              </a:rPr>
              <a:t>Deep capability that travels.</a:t>
            </a:r>
            <a:endParaRPr b="1" i="0" sz="1100" u="none" cap="none" strike="noStrike">
              <a:solidFill>
                <a:schemeClr val="dk1"/>
              </a:solidFill>
              <a:latin typeface="Calibri"/>
              <a:ea typeface="Calibri"/>
              <a:cs typeface="Calibri"/>
              <a:sym typeface="Calibri"/>
            </a:endParaRPr>
          </a:p>
        </p:txBody>
      </p:sp>
      <p:sp>
        <p:nvSpPr>
          <p:cNvPr id="258" name="Google Shape;258;h11f538478445b104_2_18"/>
          <p:cNvSpPr/>
          <p:nvPr/>
        </p:nvSpPr>
        <p:spPr>
          <a:xfrm>
            <a:off x="1133856" y="2999232"/>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h11f538478445b104_2_18"/>
          <p:cNvSpPr/>
          <p:nvPr/>
        </p:nvSpPr>
        <p:spPr>
          <a:xfrm>
            <a:off x="1353312" y="3182112"/>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1   </a:t>
            </a: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260" name="Google Shape;260;h11f538478445b104_2_18"/>
          <p:cNvSpPr/>
          <p:nvPr/>
        </p:nvSpPr>
        <p:spPr>
          <a:xfrm>
            <a:off x="1353312" y="3493008"/>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The work stopped asking more of you.</a:t>
            </a:r>
            <a:endParaRPr b="1" i="0" sz="1100" u="none" cap="none" strike="noStrike">
              <a:solidFill>
                <a:schemeClr val="dk1"/>
              </a:solidFill>
              <a:latin typeface="Calibri"/>
              <a:ea typeface="Calibri"/>
              <a:cs typeface="Calibri"/>
              <a:sym typeface="Calibri"/>
            </a:endParaRPr>
          </a:p>
        </p:txBody>
      </p:sp>
      <p:sp>
        <p:nvSpPr>
          <p:cNvPr id="261" name="Google Shape;261;h11f538478445b104_2_18"/>
          <p:cNvSpPr/>
          <p:nvPr/>
        </p:nvSpPr>
        <p:spPr>
          <a:xfrm>
            <a:off x="4855464" y="2999232"/>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h11f538478445b104_2_18"/>
          <p:cNvSpPr/>
          <p:nvPr/>
        </p:nvSpPr>
        <p:spPr>
          <a:xfrm>
            <a:off x="5074920" y="3182112"/>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3   </a:t>
            </a: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263" name="Google Shape;263;h11f538478445b104_2_18"/>
          <p:cNvSpPr/>
          <p:nvPr/>
        </p:nvSpPr>
        <p:spPr>
          <a:xfrm>
            <a:off x="5074920" y="3493008"/>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Options on paper, not enough depth beneath.</a:t>
            </a:r>
            <a:endParaRPr b="1" i="0" sz="1100" u="none" cap="none" strike="noStrike">
              <a:solidFill>
                <a:schemeClr val="dk1"/>
              </a:solidFill>
              <a:latin typeface="Calibri"/>
              <a:ea typeface="Calibri"/>
              <a:cs typeface="Calibri"/>
              <a:sym typeface="Calibri"/>
            </a:endParaRPr>
          </a:p>
        </p:txBody>
      </p:sp>
      <p:sp>
        <p:nvSpPr>
          <p:cNvPr id="264" name="Google Shape;264;h11f538478445b104_2_18"/>
          <p:cNvSpPr/>
          <p:nvPr/>
        </p:nvSpPr>
        <p:spPr>
          <a:xfrm rot="-5400000">
            <a:off x="182970" y="2249394"/>
            <a:ext cx="1280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HIGH</a:t>
            </a:r>
            <a:endParaRPr b="0" i="0" sz="740" u="none" cap="none" strike="noStrike">
              <a:solidFill>
                <a:schemeClr val="dk1"/>
              </a:solidFill>
              <a:latin typeface="Calibri"/>
              <a:ea typeface="Calibri"/>
              <a:cs typeface="Calibri"/>
              <a:sym typeface="Calibri"/>
            </a:endParaRPr>
          </a:p>
        </p:txBody>
      </p:sp>
      <p:sp>
        <p:nvSpPr>
          <p:cNvPr id="265" name="Google Shape;265;h11f538478445b104_2_18"/>
          <p:cNvSpPr/>
          <p:nvPr/>
        </p:nvSpPr>
        <p:spPr>
          <a:xfrm rot="-5400000">
            <a:off x="182970" y="3456402"/>
            <a:ext cx="1280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LOW</a:t>
            </a:r>
            <a:endParaRPr b="0" i="0" sz="740" u="none" cap="none" strike="noStrike">
              <a:solidFill>
                <a:schemeClr val="dk1"/>
              </a:solidFill>
              <a:latin typeface="Calibri"/>
              <a:ea typeface="Calibri"/>
              <a:cs typeface="Calibri"/>
              <a:sym typeface="Calibri"/>
            </a:endParaRPr>
          </a:p>
        </p:txBody>
      </p:sp>
      <p:sp>
        <p:nvSpPr>
          <p:cNvPr id="266" name="Google Shape;266;h11f538478445b104_2_18"/>
          <p:cNvSpPr/>
          <p:nvPr/>
        </p:nvSpPr>
        <p:spPr>
          <a:xfrm>
            <a:off x="1133856" y="4315968"/>
            <a:ext cx="74433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60"/>
              <a:buFont typeface="Montserrat"/>
              <a:buNone/>
            </a:pPr>
            <a:r>
              <a:rPr b="1" i="0" lang="en-US" sz="760" u="none" cap="none" strike="noStrike">
                <a:solidFill>
                  <a:srgbClr val="5A6B84"/>
                </a:solidFill>
                <a:latin typeface="Montserrat"/>
                <a:ea typeface="Montserrat"/>
                <a:cs typeface="Montserrat"/>
                <a:sym typeface="Montserrat"/>
              </a:rPr>
              <a:t>OPTIONALITY:  LOW AT LEFT   →   HIGH AT RIGHT</a:t>
            </a:r>
            <a:endParaRPr b="0" i="0" sz="760" u="none" cap="none" strike="noStrike">
              <a:solidFill>
                <a:schemeClr val="dk1"/>
              </a:solidFill>
              <a:latin typeface="Calibri"/>
              <a:ea typeface="Calibri"/>
              <a:cs typeface="Calibri"/>
              <a:sym typeface="Calibri"/>
            </a:endParaRPr>
          </a:p>
        </p:txBody>
      </p:sp>
      <p:sp>
        <p:nvSpPr>
          <p:cNvPr id="267" name="Google Shape;267;h11f538478445b104_2_18"/>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68" name="Google Shape;268;h11f538478445b104_2_18"/>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12</a:t>
            </a:r>
            <a:endParaRPr b="0" i="0" sz="700" u="none" cap="none" strike="noStrike">
              <a:solidFill>
                <a:schemeClr val="dk1"/>
              </a:solidFill>
              <a:latin typeface="Calibri"/>
              <a:ea typeface="Calibri"/>
              <a:cs typeface="Calibri"/>
              <a:sym typeface="Calibri"/>
            </a:endParaRPr>
          </a:p>
        </p:txBody>
      </p:sp>
      <p:sp>
        <p:nvSpPr>
          <p:cNvPr id="269" name="Google Shape;269;h11f538478445b104_2_18"/>
          <p:cNvSpPr/>
          <p:nvPr/>
        </p:nvSpPr>
        <p:spPr>
          <a:xfrm>
            <a:off x="1353312" y="3822191"/>
            <a:ext cx="3282600" cy="3657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950" u="none" cap="none" strike="noStrike">
                <a:solidFill>
                  <a:srgbClr val="5A6B84"/>
                </a:solidFill>
                <a:latin typeface="DM Sans"/>
                <a:ea typeface="DM Sans"/>
                <a:cs typeface="DM Sans"/>
                <a:sym typeface="DM Sans"/>
              </a:rPr>
              <a:t>Neither axis is moving.</a:t>
            </a:r>
            <a:endParaRPr b="1" i="0" sz="1100" u="none" cap="none" strike="noStrike">
              <a:solidFill>
                <a:schemeClr val="dk1"/>
              </a:solidFill>
              <a:latin typeface="Calibri"/>
              <a:ea typeface="Calibri"/>
              <a:cs typeface="Calibri"/>
              <a:sym typeface="Calibri"/>
            </a:endParaRPr>
          </a:p>
        </p:txBody>
      </p:sp>
      <p:sp>
        <p:nvSpPr>
          <p:cNvPr id="270" name="Google Shape;270;h11f538478445b104_2_18"/>
          <p:cNvSpPr/>
          <p:nvPr/>
        </p:nvSpPr>
        <p:spPr>
          <a:xfrm>
            <a:off x="5074920" y="3822191"/>
            <a:ext cx="3282600" cy="3657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950" u="none" cap="none" strike="noStrike">
                <a:solidFill>
                  <a:srgbClr val="5A6B84"/>
                </a:solidFill>
                <a:latin typeface="DM Sans"/>
                <a:ea typeface="DM Sans"/>
                <a:cs typeface="DM Sans"/>
                <a:sym typeface="DM Sans"/>
              </a:rPr>
              <a:t>What you built travels. It is just not being added to.</a:t>
            </a:r>
            <a:endParaRPr b="1"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5" name="Shape 275"/>
        <p:cNvGrpSpPr/>
        <p:nvPr/>
      </p:nvGrpSpPr>
      <p:grpSpPr>
        <a:xfrm>
          <a:off x="0" y="0"/>
          <a:ext cx="0" cy="0"/>
          <a:chOff x="0" y="0"/>
          <a:chExt cx="0" cy="0"/>
        </a:xfrm>
      </p:grpSpPr>
      <p:sp>
        <p:nvSpPr>
          <p:cNvPr id="276" name="Google Shape;276;p1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FIRST PLACEMENT</a:t>
            </a:r>
            <a:endParaRPr b="0" i="0" sz="950" u="none" cap="none" strike="noStrike">
              <a:solidFill>
                <a:schemeClr val="dk1"/>
              </a:solidFill>
              <a:latin typeface="Calibri"/>
              <a:ea typeface="Calibri"/>
              <a:cs typeface="Calibri"/>
              <a:sym typeface="Calibri"/>
            </a:endParaRPr>
          </a:p>
        </p:txBody>
      </p:sp>
      <p:sp>
        <p:nvSpPr>
          <p:cNvPr id="277" name="Google Shape;277;p1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Place yourself. Privately, and provisionally.</a:t>
            </a:r>
            <a:endParaRPr b="0" i="0" sz="2600" u="none" cap="none" strike="noStrike">
              <a:solidFill>
                <a:schemeClr val="dk1"/>
              </a:solidFill>
              <a:latin typeface="Calibri"/>
              <a:ea typeface="Calibri"/>
              <a:cs typeface="Calibri"/>
              <a:sym typeface="Calibri"/>
            </a:endParaRPr>
          </a:p>
        </p:txBody>
      </p:sp>
      <p:sp>
        <p:nvSpPr>
          <p:cNvPr id="278" name="Google Shape;278;p1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Cross your two numbers, then rate your confidence in the placement from 1 to 5.</a:t>
            </a:r>
            <a:endParaRPr b="0" i="0" sz="1150" u="none" cap="none" strike="noStrike">
              <a:solidFill>
                <a:schemeClr val="dk1"/>
              </a:solidFill>
              <a:latin typeface="Calibri"/>
              <a:ea typeface="Calibri"/>
              <a:cs typeface="Calibri"/>
              <a:sym typeface="Calibri"/>
            </a:endParaRPr>
          </a:p>
        </p:txBody>
      </p:sp>
      <p:sp>
        <p:nvSpPr>
          <p:cNvPr id="279" name="Google Shape;279;p13"/>
          <p:cNvSpPr/>
          <p:nvPr/>
        </p:nvSpPr>
        <p:spPr>
          <a:xfrm>
            <a:off x="566928" y="193852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3"/>
          <p:cNvSpPr/>
          <p:nvPr/>
        </p:nvSpPr>
        <p:spPr>
          <a:xfrm>
            <a:off x="566928" y="19385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281" name="Google Shape;281;p13"/>
          <p:cNvSpPr/>
          <p:nvPr/>
        </p:nvSpPr>
        <p:spPr>
          <a:xfrm>
            <a:off x="1005840" y="191109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Cross Density and Optionality</a:t>
            </a:r>
            <a:endParaRPr b="0" i="0" sz="1300" u="none" cap="none" strike="noStrike">
              <a:solidFill>
                <a:schemeClr val="dk1"/>
              </a:solidFill>
              <a:latin typeface="Calibri"/>
              <a:ea typeface="Calibri"/>
              <a:cs typeface="Calibri"/>
              <a:sym typeface="Calibri"/>
            </a:endParaRPr>
          </a:p>
        </p:txBody>
      </p:sp>
      <p:sp>
        <p:nvSpPr>
          <p:cNvPr id="282" name="Google Shape;282;p13"/>
          <p:cNvSpPr/>
          <p:nvPr/>
        </p:nvSpPr>
        <p:spPr>
          <a:xfrm>
            <a:off x="1005840" y="216712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Two totals, one square. If either total sits inside 17 to 21, mark it boundary instead of picking a square.</a:t>
            </a:r>
            <a:endParaRPr b="0" i="0" sz="1100" u="none" cap="none" strike="noStrike">
              <a:solidFill>
                <a:schemeClr val="dk1"/>
              </a:solidFill>
              <a:latin typeface="Calibri"/>
              <a:ea typeface="Calibri"/>
              <a:cs typeface="Calibri"/>
              <a:sym typeface="Calibri"/>
            </a:endParaRPr>
          </a:p>
        </p:txBody>
      </p:sp>
      <p:sp>
        <p:nvSpPr>
          <p:cNvPr id="283" name="Google Shape;283;p13"/>
          <p:cNvSpPr/>
          <p:nvPr/>
        </p:nvSpPr>
        <p:spPr>
          <a:xfrm>
            <a:off x="566928" y="25968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13"/>
          <p:cNvSpPr/>
          <p:nvPr/>
        </p:nvSpPr>
        <p:spPr>
          <a:xfrm>
            <a:off x="566928" y="25968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285" name="Google Shape;285;p13"/>
          <p:cNvSpPr/>
          <p:nvPr/>
        </p:nvSpPr>
        <p:spPr>
          <a:xfrm>
            <a:off x="1005840" y="256946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Rate your confidence from 1 to 5</a:t>
            </a:r>
            <a:endParaRPr b="0" i="0" sz="1300" u="none" cap="none" strike="noStrike">
              <a:solidFill>
                <a:schemeClr val="dk1"/>
              </a:solidFill>
              <a:latin typeface="Calibri"/>
              <a:ea typeface="Calibri"/>
              <a:cs typeface="Calibri"/>
              <a:sym typeface="Calibri"/>
            </a:endParaRPr>
          </a:p>
        </p:txBody>
      </p:sp>
      <p:sp>
        <p:nvSpPr>
          <p:cNvPr id="286" name="Google Shape;286;p13"/>
          <p:cNvSpPr/>
          <p:nvPr/>
        </p:nvSpPr>
        <p:spPr>
          <a:xfrm>
            <a:off x="1005840" y="282549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Write the number privately. You will compare it against your confidence after the evidence pass.</a:t>
            </a:r>
            <a:endParaRPr b="0" i="0" sz="1100" u="none" cap="none" strike="noStrike">
              <a:solidFill>
                <a:schemeClr val="dk1"/>
              </a:solidFill>
              <a:latin typeface="Calibri"/>
              <a:ea typeface="Calibri"/>
              <a:cs typeface="Calibri"/>
              <a:sym typeface="Calibri"/>
            </a:endParaRPr>
          </a:p>
        </p:txBody>
      </p:sp>
      <p:sp>
        <p:nvSpPr>
          <p:cNvPr id="287" name="Google Shape;287;p13"/>
          <p:cNvSpPr/>
          <p:nvPr/>
        </p:nvSpPr>
        <p:spPr>
          <a:xfrm>
            <a:off x="566928" y="3255264"/>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3"/>
          <p:cNvSpPr/>
          <p:nvPr/>
        </p:nvSpPr>
        <p:spPr>
          <a:xfrm>
            <a:off x="566928"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89" name="Google Shape;289;p13"/>
          <p:cNvSpPr/>
          <p:nvPr/>
        </p:nvSpPr>
        <p:spPr>
          <a:xfrm>
            <a:off x="1005840" y="3227832"/>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Hold it lightly</a:t>
            </a:r>
            <a:endParaRPr b="0" i="0" sz="1300" u="none" cap="none" strike="noStrike">
              <a:solidFill>
                <a:schemeClr val="dk1"/>
              </a:solidFill>
              <a:latin typeface="Calibri"/>
              <a:ea typeface="Calibri"/>
              <a:cs typeface="Calibri"/>
              <a:sym typeface="Calibri"/>
            </a:endParaRPr>
          </a:p>
        </p:txBody>
      </p:sp>
      <p:sp>
        <p:nvSpPr>
          <p:cNvPr id="290" name="Google Shape;290;p13"/>
          <p:cNvSpPr/>
          <p:nvPr/>
        </p:nvSpPr>
        <p:spPr>
          <a:xfrm>
            <a:off x="1005840" y="348386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This is a first read, not a finding. State is not identity</a:t>
            </a:r>
            <a:r>
              <a:rPr lang="en-US" sz="1100">
                <a:solidFill>
                  <a:srgbClr val="5A6B84"/>
                </a:solidFill>
                <a:latin typeface="DM Sans"/>
                <a:ea typeface="DM Sans"/>
                <a:cs typeface="DM Sans"/>
                <a:sym typeface="DM Sans"/>
              </a:rPr>
              <a:t>; </a:t>
            </a:r>
            <a:r>
              <a:rPr b="0" i="0" lang="en-US" sz="1100" u="none" cap="none" strike="noStrike">
                <a:solidFill>
                  <a:srgbClr val="5A6B84"/>
                </a:solidFill>
                <a:latin typeface="DM Sans"/>
                <a:ea typeface="DM Sans"/>
                <a:cs typeface="DM Sans"/>
                <a:sym typeface="DM Sans"/>
              </a:rPr>
              <a:t>it reads conditions in a ninety-day window, and it moves.</a:t>
            </a:r>
            <a:endParaRPr b="0" i="0" sz="1100" u="none" cap="none" strike="noStrike">
              <a:solidFill>
                <a:schemeClr val="dk1"/>
              </a:solidFill>
              <a:latin typeface="Calibri"/>
              <a:ea typeface="Calibri"/>
              <a:cs typeface="Calibri"/>
              <a:sym typeface="Calibri"/>
            </a:endParaRPr>
          </a:p>
        </p:txBody>
      </p:sp>
      <p:sp>
        <p:nvSpPr>
          <p:cNvPr id="291" name="Google Shape;291;p1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92" name="Google Shape;292;p1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97" name="Shape 297"/>
        <p:cNvGrpSpPr/>
        <p:nvPr/>
      </p:nvGrpSpPr>
      <p:grpSpPr>
        <a:xfrm>
          <a:off x="0" y="0"/>
          <a:ext cx="0" cy="0"/>
          <a:chOff x="0" y="0"/>
          <a:chExt cx="0" cy="0"/>
        </a:xfrm>
      </p:grpSpPr>
      <p:sp>
        <p:nvSpPr>
          <p:cNvPr id="298" name="Google Shape;298;p1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STANDARD</a:t>
            </a:r>
            <a:endParaRPr b="0" i="0" sz="950" u="none" cap="none" strike="noStrike">
              <a:solidFill>
                <a:schemeClr val="dk1"/>
              </a:solidFill>
              <a:latin typeface="Calibri"/>
              <a:ea typeface="Calibri"/>
              <a:cs typeface="Calibri"/>
              <a:sym typeface="Calibri"/>
            </a:endParaRPr>
          </a:p>
        </p:txBody>
      </p:sp>
      <p:sp>
        <p:nvSpPr>
          <p:cNvPr id="299" name="Google Shape;299;p1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evidence protocol</a:t>
            </a:r>
            <a:endParaRPr b="0" i="0" sz="3000" u="none" cap="none" strike="noStrike">
              <a:solidFill>
                <a:schemeClr val="dk1"/>
              </a:solidFill>
              <a:latin typeface="Calibri"/>
              <a:ea typeface="Calibri"/>
              <a:cs typeface="Calibri"/>
              <a:sym typeface="Calibri"/>
            </a:endParaRPr>
          </a:p>
        </p:txBody>
      </p:sp>
      <p:sp>
        <p:nvSpPr>
          <p:cNvPr id="300" name="Google Shape;300;p1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This is what your second reading has to survive.</a:t>
            </a:r>
            <a:endParaRPr b="0" i="0" sz="1150" u="none" cap="none" strike="noStrike">
              <a:solidFill>
                <a:schemeClr val="dk1"/>
              </a:solidFill>
              <a:latin typeface="Calibri"/>
              <a:ea typeface="Calibri"/>
              <a:cs typeface="Calibri"/>
              <a:sym typeface="Calibri"/>
            </a:endParaRPr>
          </a:p>
        </p:txBody>
      </p:sp>
      <p:sp>
        <p:nvSpPr>
          <p:cNvPr id="301" name="Google Shape;301;p14"/>
          <p:cNvSpPr/>
          <p:nvPr/>
        </p:nvSpPr>
        <p:spPr>
          <a:xfrm>
            <a:off x="566928" y="1810512"/>
            <a:ext cx="8010144" cy="51206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p14"/>
          <p:cNvSpPr/>
          <p:nvPr/>
        </p:nvSpPr>
        <p:spPr>
          <a:xfrm>
            <a:off x="804672" y="1810512"/>
            <a:ext cx="753465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600"/>
              <a:buFont typeface="Cormorant Garamond"/>
              <a:buNone/>
            </a:pPr>
            <a:r>
              <a:rPr b="1" i="0" lang="en-US" sz="1600" u="none" cap="none" strike="noStrike">
                <a:solidFill>
                  <a:srgbClr val="F5F0E8"/>
                </a:solidFill>
                <a:latin typeface="Cormorant Garamond"/>
                <a:ea typeface="Cormorant Garamond"/>
                <a:cs typeface="Cormorant Garamond"/>
                <a:sym typeface="Cormorant Garamond"/>
              </a:rPr>
              <a:t>Every corrected score requires an evidence line from the last ninety days. Every score, in both directions.</a:t>
            </a:r>
            <a:endParaRPr b="0" i="0" sz="1600" u="none" cap="none" strike="noStrike">
              <a:solidFill>
                <a:schemeClr val="dk1"/>
              </a:solidFill>
              <a:latin typeface="Calibri"/>
              <a:ea typeface="Calibri"/>
              <a:cs typeface="Calibri"/>
              <a:sym typeface="Calibri"/>
            </a:endParaRPr>
          </a:p>
        </p:txBody>
      </p:sp>
      <p:sp>
        <p:nvSpPr>
          <p:cNvPr id="303" name="Google Shape;303;p14"/>
          <p:cNvSpPr/>
          <p:nvPr/>
        </p:nvSpPr>
        <p:spPr>
          <a:xfrm>
            <a:off x="566928" y="2468880"/>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14"/>
          <p:cNvSpPr/>
          <p:nvPr/>
        </p:nvSpPr>
        <p:spPr>
          <a:xfrm>
            <a:off x="768096" y="2468880"/>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4 OR 5</a:t>
            </a:r>
            <a:endParaRPr b="0" i="0" sz="900" u="none" cap="none" strike="noStrike">
              <a:solidFill>
                <a:schemeClr val="dk1"/>
              </a:solidFill>
              <a:latin typeface="Calibri"/>
              <a:ea typeface="Calibri"/>
              <a:cs typeface="Calibri"/>
              <a:sym typeface="Calibri"/>
            </a:endParaRPr>
          </a:p>
        </p:txBody>
      </p:sp>
      <p:sp>
        <p:nvSpPr>
          <p:cNvPr id="305" name="Google Shape;305;p14"/>
          <p:cNvSpPr/>
          <p:nvPr/>
        </p:nvSpPr>
        <p:spPr>
          <a:xfrm>
            <a:off x="1984248" y="2468880"/>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At least one clear positive instance from within the window.</a:t>
            </a:r>
            <a:endParaRPr b="0" i="0" sz="1100" u="none" cap="none" strike="noStrike">
              <a:solidFill>
                <a:schemeClr val="dk1"/>
              </a:solidFill>
              <a:latin typeface="Calibri"/>
              <a:ea typeface="Calibri"/>
              <a:cs typeface="Calibri"/>
              <a:sym typeface="Calibri"/>
            </a:endParaRPr>
          </a:p>
        </p:txBody>
      </p:sp>
      <p:sp>
        <p:nvSpPr>
          <p:cNvPr id="306" name="Google Shape;306;p14"/>
          <p:cNvSpPr/>
          <p:nvPr/>
        </p:nvSpPr>
        <p:spPr>
          <a:xfrm>
            <a:off x="566928" y="2944368"/>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14"/>
          <p:cNvSpPr/>
          <p:nvPr/>
        </p:nvSpPr>
        <p:spPr>
          <a:xfrm>
            <a:off x="768096" y="2944368"/>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3</a:t>
            </a:r>
            <a:endParaRPr b="0" i="0" sz="900" u="none" cap="none" strike="noStrike">
              <a:solidFill>
                <a:schemeClr val="dk1"/>
              </a:solidFill>
              <a:latin typeface="Calibri"/>
              <a:ea typeface="Calibri"/>
              <a:cs typeface="Calibri"/>
              <a:sym typeface="Calibri"/>
            </a:endParaRPr>
          </a:p>
        </p:txBody>
      </p:sp>
      <p:sp>
        <p:nvSpPr>
          <p:cNvPr id="308" name="Google Shape;308;p14"/>
          <p:cNvSpPr/>
          <p:nvPr/>
        </p:nvSpPr>
        <p:spPr>
          <a:xfrm>
            <a:off x="1984248" y="2944368"/>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The mixed or inconsistent pattern. A 3 is a reading, not an absence of one.</a:t>
            </a:r>
            <a:endParaRPr b="0" i="0" sz="1100" u="none" cap="none" strike="noStrike">
              <a:solidFill>
                <a:schemeClr val="dk1"/>
              </a:solidFill>
              <a:latin typeface="Calibri"/>
              <a:ea typeface="Calibri"/>
              <a:cs typeface="Calibri"/>
              <a:sym typeface="Calibri"/>
            </a:endParaRPr>
          </a:p>
        </p:txBody>
      </p:sp>
      <p:sp>
        <p:nvSpPr>
          <p:cNvPr id="309" name="Google Shape;309;p14"/>
          <p:cNvSpPr/>
          <p:nvPr/>
        </p:nvSpPr>
        <p:spPr>
          <a:xfrm>
            <a:off x="566928" y="3419856"/>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14"/>
          <p:cNvSpPr/>
          <p:nvPr/>
        </p:nvSpPr>
        <p:spPr>
          <a:xfrm>
            <a:off x="768096" y="3419856"/>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1 OR 2</a:t>
            </a:r>
            <a:endParaRPr b="0" i="0" sz="900" u="none" cap="none" strike="noStrike">
              <a:solidFill>
                <a:schemeClr val="dk1"/>
              </a:solidFill>
              <a:latin typeface="Calibri"/>
              <a:ea typeface="Calibri"/>
              <a:cs typeface="Calibri"/>
              <a:sym typeface="Calibri"/>
            </a:endParaRPr>
          </a:p>
        </p:txBody>
      </p:sp>
      <p:sp>
        <p:nvSpPr>
          <p:cNvPr id="311" name="Google Shape;311;p14"/>
          <p:cNvSpPr/>
          <p:nvPr/>
        </p:nvSpPr>
        <p:spPr>
          <a:xfrm>
            <a:off x="1984248" y="3419856"/>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What repeatedly happened instead, a counterexample, or no qualifying instance in the window.</a:t>
            </a:r>
            <a:endParaRPr b="0" i="0" sz="1100" u="none" cap="none" strike="noStrike">
              <a:solidFill>
                <a:schemeClr val="dk1"/>
              </a:solidFill>
              <a:latin typeface="Calibri"/>
              <a:ea typeface="Calibri"/>
              <a:cs typeface="Calibri"/>
              <a:sym typeface="Calibri"/>
            </a:endParaRPr>
          </a:p>
        </p:txBody>
      </p:sp>
      <p:sp>
        <p:nvSpPr>
          <p:cNvPr id="312" name="Google Shape;312;p14"/>
          <p:cNvSpPr/>
          <p:nvPr/>
        </p:nvSpPr>
        <p:spPr>
          <a:xfrm>
            <a:off x="566928" y="3895344"/>
            <a:ext cx="8010144" cy="40233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14"/>
          <p:cNvSpPr/>
          <p:nvPr/>
        </p:nvSpPr>
        <p:spPr>
          <a:xfrm>
            <a:off x="768096" y="3895344"/>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900"/>
              <a:buFont typeface="Montserrat"/>
              <a:buNone/>
            </a:pPr>
            <a:r>
              <a:rPr b="1" i="0" lang="en-US" sz="900" u="none" cap="none" strike="noStrike">
                <a:solidFill>
                  <a:srgbClr val="F5F0E8"/>
                </a:solidFill>
                <a:latin typeface="Montserrat"/>
                <a:ea typeface="Montserrat"/>
                <a:cs typeface="Montserrat"/>
                <a:sym typeface="Montserrat"/>
              </a:rPr>
              <a:t>A  ?</a:t>
            </a:r>
            <a:endParaRPr b="0" i="0" sz="900" u="none" cap="none" strike="noStrike">
              <a:solidFill>
                <a:schemeClr val="dk1"/>
              </a:solidFill>
              <a:latin typeface="Calibri"/>
              <a:ea typeface="Calibri"/>
              <a:cs typeface="Calibri"/>
              <a:sym typeface="Calibri"/>
            </a:endParaRPr>
          </a:p>
        </p:txBody>
      </p:sp>
      <p:sp>
        <p:nvSpPr>
          <p:cNvPr id="314" name="Google Shape;314;p14"/>
          <p:cNvSpPr/>
          <p:nvPr/>
        </p:nvSpPr>
        <p:spPr>
          <a:xfrm>
            <a:off x="1984248" y="3895344"/>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100"/>
              <a:buFont typeface="DM Sans"/>
              <a:buNone/>
            </a:pPr>
            <a:r>
              <a:rPr b="1" i="0" lang="en-US" sz="1100" u="none" cap="none" strike="noStrike">
                <a:solidFill>
                  <a:srgbClr val="F5F0E8"/>
                </a:solidFill>
                <a:latin typeface="DM Sans"/>
                <a:ea typeface="DM Sans"/>
                <a:cs typeface="DM Sans"/>
                <a:sym typeface="DM Sans"/>
              </a:rPr>
              <a:t>Cannot support it either way? Write your most defensible number and add one question mark: 3?, 4?, 2?</a:t>
            </a:r>
            <a:endParaRPr b="0" i="0" sz="1100" u="none" cap="none" strike="noStrike">
              <a:solidFill>
                <a:schemeClr val="dk1"/>
              </a:solidFill>
              <a:latin typeface="Calibri"/>
              <a:ea typeface="Calibri"/>
              <a:cs typeface="Calibri"/>
              <a:sym typeface="Calibri"/>
            </a:endParaRPr>
          </a:p>
        </p:txBody>
      </p:sp>
      <p:sp>
        <p:nvSpPr>
          <p:cNvPr id="315" name="Google Shape;315;p14"/>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A 3 means mixed. A question mark means unsupported.</a:t>
            </a:r>
            <a:endParaRPr b="0" i="0" sz="1150" u="none" cap="none" strike="noStrike">
              <a:solidFill>
                <a:schemeClr val="dk1"/>
              </a:solidFill>
              <a:latin typeface="Calibri"/>
              <a:ea typeface="Calibri"/>
              <a:cs typeface="Calibri"/>
              <a:sym typeface="Calibri"/>
            </a:endParaRPr>
          </a:p>
        </p:txBody>
      </p:sp>
      <p:sp>
        <p:nvSpPr>
          <p:cNvPr id="316" name="Google Shape;316;p1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17" name="Google Shape;317;p1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2" name="Shape 322"/>
        <p:cNvGrpSpPr/>
        <p:nvPr/>
      </p:nvGrpSpPr>
      <p:grpSpPr>
        <a:xfrm>
          <a:off x="0" y="0"/>
          <a:ext cx="0" cy="0"/>
          <a:chOff x="0" y="0"/>
          <a:chExt cx="0" cy="0"/>
        </a:xfrm>
      </p:grpSpPr>
      <p:sp>
        <p:nvSpPr>
          <p:cNvPr id="323" name="Google Shape;323;p1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CALIBRATION</a:t>
            </a:r>
            <a:endParaRPr b="0" i="0" sz="950" u="none" cap="none" strike="noStrike">
              <a:solidFill>
                <a:schemeClr val="dk1"/>
              </a:solidFill>
              <a:latin typeface="Calibri"/>
              <a:ea typeface="Calibri"/>
              <a:cs typeface="Calibri"/>
              <a:sym typeface="Calibri"/>
            </a:endParaRPr>
          </a:p>
        </p:txBody>
      </p:sp>
      <p:sp>
        <p:nvSpPr>
          <p:cNvPr id="324" name="Google Shape;324;p1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Three ways a self-score goes wrong</a:t>
            </a:r>
            <a:endParaRPr b="0" i="0" sz="2800" u="none" cap="none" strike="noStrike">
              <a:solidFill>
                <a:schemeClr val="dk1"/>
              </a:solidFill>
              <a:latin typeface="Calibri"/>
              <a:ea typeface="Calibri"/>
              <a:cs typeface="Calibri"/>
              <a:sym typeface="Calibri"/>
            </a:endParaRPr>
          </a:p>
        </p:txBody>
      </p:sp>
      <p:sp>
        <p:nvSpPr>
          <p:cNvPr id="325" name="Google Shape;325;p15"/>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Run all three against your first numbers before you rescore.</a:t>
            </a:r>
            <a:endParaRPr b="0" i="0" sz="1150" u="none" cap="none" strike="noStrike">
              <a:solidFill>
                <a:schemeClr val="dk1"/>
              </a:solidFill>
              <a:latin typeface="Calibri"/>
              <a:ea typeface="Calibri"/>
              <a:cs typeface="Calibri"/>
              <a:sym typeface="Calibri"/>
            </a:endParaRPr>
          </a:p>
        </p:txBody>
      </p:sp>
      <p:sp>
        <p:nvSpPr>
          <p:cNvPr id="326" name="Google Shape;326;p15"/>
          <p:cNvSpPr/>
          <p:nvPr/>
        </p:nvSpPr>
        <p:spPr>
          <a:xfrm>
            <a:off x="566928" y="1719072"/>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566928" y="1719072"/>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15"/>
          <p:cNvSpPr/>
          <p:nvPr/>
        </p:nvSpPr>
        <p:spPr>
          <a:xfrm>
            <a:off x="804672" y="1783080"/>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1.  SCORING THE INTENDED LIFE</a:t>
            </a:r>
            <a:endParaRPr b="0" i="0" sz="860" u="none" cap="none" strike="noStrike">
              <a:solidFill>
                <a:schemeClr val="dk1"/>
              </a:solidFill>
              <a:latin typeface="Calibri"/>
              <a:ea typeface="Calibri"/>
              <a:cs typeface="Calibri"/>
              <a:sym typeface="Calibri"/>
            </a:endParaRPr>
          </a:p>
        </p:txBody>
      </p:sp>
      <p:sp>
        <p:nvSpPr>
          <p:cNvPr id="329" name="Google Shape;329;p15"/>
          <p:cNvSpPr/>
          <p:nvPr/>
        </p:nvSpPr>
        <p:spPr>
          <a:xfrm>
            <a:off x="804672" y="1993392"/>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“My rotation was approved last month. Statement 1 gets a 4.”</a:t>
            </a:r>
            <a:endParaRPr b="0" i="0" sz="1040" u="none" cap="none" strike="noStrike">
              <a:solidFill>
                <a:schemeClr val="dk1"/>
              </a:solidFill>
              <a:latin typeface="Calibri"/>
              <a:ea typeface="Calibri"/>
              <a:cs typeface="Calibri"/>
              <a:sym typeface="Calibri"/>
            </a:endParaRPr>
          </a:p>
        </p:txBody>
      </p:sp>
      <p:sp>
        <p:nvSpPr>
          <p:cNvPr id="330" name="Google Shape;330;p15"/>
          <p:cNvSpPr/>
          <p:nvPr/>
        </p:nvSpPr>
        <p:spPr>
          <a:xfrm>
            <a:off x="804672" y="2203704"/>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The window is the last ninety days of work that happened — not work that was approved, promised or planned.</a:t>
            </a:r>
            <a:endParaRPr b="0" i="0" sz="1060" u="none" cap="none" strike="noStrike">
              <a:solidFill>
                <a:schemeClr val="dk1"/>
              </a:solidFill>
              <a:latin typeface="Calibri"/>
              <a:ea typeface="Calibri"/>
              <a:cs typeface="Calibri"/>
              <a:sym typeface="Calibri"/>
            </a:endParaRPr>
          </a:p>
        </p:txBody>
      </p:sp>
      <p:sp>
        <p:nvSpPr>
          <p:cNvPr id="331" name="Google Shape;331;p15"/>
          <p:cNvSpPr/>
          <p:nvPr/>
        </p:nvSpPr>
        <p:spPr>
          <a:xfrm>
            <a:off x="566928" y="2624328"/>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15"/>
          <p:cNvSpPr/>
          <p:nvPr/>
        </p:nvSpPr>
        <p:spPr>
          <a:xfrm>
            <a:off x="566928" y="2624328"/>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5"/>
          <p:cNvSpPr/>
          <p:nvPr/>
        </p:nvSpPr>
        <p:spPr>
          <a:xfrm>
            <a:off x="804672" y="2688336"/>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2.  CONFUSING VALUED WITH FORMED</a:t>
            </a:r>
            <a:endParaRPr b="0" i="0" sz="860" u="none" cap="none" strike="noStrike">
              <a:solidFill>
                <a:schemeClr val="dk1"/>
              </a:solidFill>
              <a:latin typeface="Calibri"/>
              <a:ea typeface="Calibri"/>
              <a:cs typeface="Calibri"/>
              <a:sym typeface="Calibri"/>
            </a:endParaRPr>
          </a:p>
        </p:txBody>
      </p:sp>
      <p:sp>
        <p:nvSpPr>
          <p:cNvPr id="334" name="Google Shape;334;p15"/>
          <p:cNvSpPr/>
          <p:nvPr/>
        </p:nvSpPr>
        <p:spPr>
          <a:xfrm>
            <a:off x="804672" y="2898648"/>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“Three VPs ask for my read before anything ships. Statement 3 gets a 5.”</a:t>
            </a:r>
            <a:endParaRPr b="0" i="0" sz="1040" u="none" cap="none" strike="noStrike">
              <a:solidFill>
                <a:schemeClr val="dk1"/>
              </a:solidFill>
              <a:latin typeface="Calibri"/>
              <a:ea typeface="Calibri"/>
              <a:cs typeface="Calibri"/>
              <a:sym typeface="Calibri"/>
            </a:endParaRPr>
          </a:p>
        </p:txBody>
      </p:sp>
      <p:sp>
        <p:nvSpPr>
          <p:cNvPr id="335" name="Google Shape;335;p15"/>
          <p:cNvSpPr/>
          <p:nvPr/>
        </p:nvSpPr>
        <p:spPr>
          <a:xfrm>
            <a:off x="804672" y="3108960"/>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Being relied on is real. It is not the same as being developed.</a:t>
            </a:r>
            <a:endParaRPr b="0" i="0" sz="1060" u="none" cap="none" strike="noStrike">
              <a:solidFill>
                <a:schemeClr val="dk1"/>
              </a:solidFill>
              <a:latin typeface="Calibri"/>
              <a:ea typeface="Calibri"/>
              <a:cs typeface="Calibri"/>
              <a:sym typeface="Calibri"/>
            </a:endParaRPr>
          </a:p>
        </p:txBody>
      </p:sp>
      <p:sp>
        <p:nvSpPr>
          <p:cNvPr id="336" name="Google Shape;336;p15"/>
          <p:cNvSpPr/>
          <p:nvPr/>
        </p:nvSpPr>
        <p:spPr>
          <a:xfrm>
            <a:off x="566928" y="3529584"/>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p15"/>
          <p:cNvSpPr/>
          <p:nvPr/>
        </p:nvSpPr>
        <p:spPr>
          <a:xfrm>
            <a:off x="566928" y="3529584"/>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15"/>
          <p:cNvSpPr/>
          <p:nvPr/>
        </p:nvSpPr>
        <p:spPr>
          <a:xfrm>
            <a:off x="804672" y="3593592"/>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3.  READING LOW OPTIONALITY AS A VERDICT</a:t>
            </a:r>
            <a:endParaRPr b="0" i="0" sz="860" u="none" cap="none" strike="noStrike">
              <a:solidFill>
                <a:schemeClr val="dk1"/>
              </a:solidFill>
              <a:latin typeface="Calibri"/>
              <a:ea typeface="Calibri"/>
              <a:cs typeface="Calibri"/>
              <a:sym typeface="Calibri"/>
            </a:endParaRPr>
          </a:p>
        </p:txBody>
      </p:sp>
      <p:sp>
        <p:nvSpPr>
          <p:cNvPr id="339" name="Google Shape;339;p15"/>
          <p:cNvSpPr/>
          <p:nvPr/>
        </p:nvSpPr>
        <p:spPr>
          <a:xfrm>
            <a:off x="804672" y="3803904"/>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“Statement 10 is a 2 because I am not senior enough.”</a:t>
            </a:r>
            <a:endParaRPr b="0" i="0" sz="1040" u="none" cap="none" strike="noStrike">
              <a:solidFill>
                <a:schemeClr val="dk1"/>
              </a:solidFill>
              <a:latin typeface="Calibri"/>
              <a:ea typeface="Calibri"/>
              <a:cs typeface="Calibri"/>
              <a:sym typeface="Calibri"/>
            </a:endParaRPr>
          </a:p>
        </p:txBody>
      </p:sp>
      <p:sp>
        <p:nvSpPr>
          <p:cNvPr id="340" name="Google Shape;340;p15"/>
          <p:cNvSpPr/>
          <p:nvPr/>
        </p:nvSpPr>
        <p:spPr>
          <a:xfrm>
            <a:off x="804672" y="4014216"/>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ability or worth.</a:t>
            </a:r>
            <a:endParaRPr b="0" i="0" sz="1060" u="none" cap="none" strike="noStrike">
              <a:solidFill>
                <a:schemeClr val="dk1"/>
              </a:solidFill>
              <a:latin typeface="Calibri"/>
              <a:ea typeface="Calibri"/>
              <a:cs typeface="Calibri"/>
              <a:sym typeface="Calibri"/>
            </a:endParaRPr>
          </a:p>
        </p:txBody>
      </p:sp>
      <p:sp>
        <p:nvSpPr>
          <p:cNvPr id="341" name="Google Shape;341;p15"/>
          <p:cNvSpPr/>
          <p:nvPr/>
        </p:nvSpPr>
        <p:spPr>
          <a:xfrm>
            <a:off x="566928" y="4443984"/>
            <a:ext cx="80101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Three is the set. Run them, then rescore.</a:t>
            </a:r>
            <a:endParaRPr b="0" i="0" sz="1040" u="none" cap="none" strike="noStrike">
              <a:solidFill>
                <a:schemeClr val="dk1"/>
              </a:solidFill>
              <a:latin typeface="Calibri"/>
              <a:ea typeface="Calibri"/>
              <a:cs typeface="Calibri"/>
              <a:sym typeface="Calibri"/>
            </a:endParaRPr>
          </a:p>
        </p:txBody>
      </p:sp>
      <p:sp>
        <p:nvSpPr>
          <p:cNvPr id="342" name="Google Shape;342;p1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43" name="Google Shape;343;p1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48" name="Shape 348"/>
        <p:cNvGrpSpPr/>
        <p:nvPr/>
      </p:nvGrpSpPr>
      <p:grpSpPr>
        <a:xfrm>
          <a:off x="0" y="0"/>
          <a:ext cx="0" cy="0"/>
          <a:chOff x="0" y="0"/>
          <a:chExt cx="0" cy="0"/>
        </a:xfrm>
      </p:grpSpPr>
      <p:sp>
        <p:nvSpPr>
          <p:cNvPr id="349" name="Google Shape;349;p1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EVIDENCE-BACKED READ</a:t>
            </a:r>
            <a:endParaRPr b="0" i="0" sz="950" u="none" cap="none" strike="noStrike">
              <a:solidFill>
                <a:schemeClr val="dk1"/>
              </a:solidFill>
              <a:latin typeface="Calibri"/>
              <a:ea typeface="Calibri"/>
              <a:cs typeface="Calibri"/>
              <a:sym typeface="Calibri"/>
            </a:endParaRPr>
          </a:p>
        </p:txBody>
      </p:sp>
      <p:sp>
        <p:nvSpPr>
          <p:cNvPr id="350" name="Google Shape;350;p1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Score all twelve again</a:t>
            </a:r>
            <a:endParaRPr b="0" i="0" sz="3000" u="none" cap="none" strike="noStrike">
              <a:solidFill>
                <a:schemeClr val="dk1"/>
              </a:solidFill>
              <a:latin typeface="Calibri"/>
              <a:ea typeface="Calibri"/>
              <a:cs typeface="Calibri"/>
              <a:sym typeface="Calibri"/>
            </a:endParaRPr>
          </a:p>
        </p:txBody>
      </p:sp>
      <p:sp>
        <p:nvSpPr>
          <p:cNvPr id="351" name="Google Shape;351;p1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Evidence in both directions. Do not change your first number.</a:t>
            </a:r>
            <a:endParaRPr b="0" i="0" sz="1150" u="none" cap="none" strike="noStrike">
              <a:solidFill>
                <a:schemeClr val="dk1"/>
              </a:solidFill>
              <a:latin typeface="Calibri"/>
              <a:ea typeface="Calibri"/>
              <a:cs typeface="Calibri"/>
              <a:sym typeface="Calibri"/>
            </a:endParaRPr>
          </a:p>
        </p:txBody>
      </p:sp>
      <p:sp>
        <p:nvSpPr>
          <p:cNvPr id="352" name="Google Shape;352;p16"/>
          <p:cNvSpPr/>
          <p:nvPr/>
        </p:nvSpPr>
        <p:spPr>
          <a:xfrm>
            <a:off x="566928" y="1847088"/>
            <a:ext cx="8010144" cy="87782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16"/>
          <p:cNvSpPr/>
          <p:nvPr/>
        </p:nvSpPr>
        <p:spPr>
          <a:xfrm>
            <a:off x="822960" y="1956816"/>
            <a:ext cx="31089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839"/>
              <a:buFont typeface="Montserrat"/>
              <a:buNone/>
            </a:pPr>
            <a:r>
              <a:rPr b="1" i="0" lang="en-US" sz="840" u="none" cap="none" strike="noStrike">
                <a:solidFill>
                  <a:srgbClr val="C9A84C"/>
                </a:solidFill>
                <a:latin typeface="Montserrat"/>
                <a:ea typeface="Montserrat"/>
                <a:cs typeface="Montserrat"/>
                <a:sym typeface="Montserrat"/>
              </a:rPr>
              <a:t>THE PROTOCOL, IN SHORT</a:t>
            </a:r>
            <a:endParaRPr b="0" i="0" sz="840" u="none" cap="none" strike="noStrike">
              <a:solidFill>
                <a:schemeClr val="dk1"/>
              </a:solidFill>
              <a:latin typeface="Calibri"/>
              <a:ea typeface="Calibri"/>
              <a:cs typeface="Calibri"/>
              <a:sym typeface="Calibri"/>
            </a:endParaRPr>
          </a:p>
        </p:txBody>
      </p:sp>
      <p:sp>
        <p:nvSpPr>
          <p:cNvPr id="354" name="Google Shape;354;p16"/>
          <p:cNvSpPr/>
          <p:nvPr/>
        </p:nvSpPr>
        <p:spPr>
          <a:xfrm>
            <a:off x="822960" y="2231136"/>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4 or 5</a:t>
            </a:r>
            <a:endParaRPr b="0" i="0" sz="950" u="none" cap="none" strike="noStrike">
              <a:solidFill>
                <a:schemeClr val="dk1"/>
              </a:solidFill>
              <a:latin typeface="Calibri"/>
              <a:ea typeface="Calibri"/>
              <a:cs typeface="Calibri"/>
              <a:sym typeface="Calibri"/>
            </a:endParaRPr>
          </a:p>
        </p:txBody>
      </p:sp>
      <p:sp>
        <p:nvSpPr>
          <p:cNvPr id="355" name="Google Shape;355;p16"/>
          <p:cNvSpPr/>
          <p:nvPr/>
        </p:nvSpPr>
        <p:spPr>
          <a:xfrm>
            <a:off x="1517904" y="2231136"/>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one clear positive instance</a:t>
            </a:r>
            <a:endParaRPr b="0" i="0" sz="1000" u="none" cap="none" strike="noStrike">
              <a:solidFill>
                <a:schemeClr val="dk1"/>
              </a:solidFill>
              <a:latin typeface="Calibri"/>
              <a:ea typeface="Calibri"/>
              <a:cs typeface="Calibri"/>
              <a:sym typeface="Calibri"/>
            </a:endParaRPr>
          </a:p>
        </p:txBody>
      </p:sp>
      <p:sp>
        <p:nvSpPr>
          <p:cNvPr id="356" name="Google Shape;356;p16"/>
          <p:cNvSpPr/>
          <p:nvPr/>
        </p:nvSpPr>
        <p:spPr>
          <a:xfrm>
            <a:off x="4754880" y="2231136"/>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357" name="Google Shape;357;p16"/>
          <p:cNvSpPr/>
          <p:nvPr/>
        </p:nvSpPr>
        <p:spPr>
          <a:xfrm>
            <a:off x="5449824" y="2231136"/>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the mixed or inconsistent pattern</a:t>
            </a:r>
            <a:endParaRPr b="0" i="0" sz="1000" u="none" cap="none" strike="noStrike">
              <a:solidFill>
                <a:schemeClr val="dk1"/>
              </a:solidFill>
              <a:latin typeface="Calibri"/>
              <a:ea typeface="Calibri"/>
              <a:cs typeface="Calibri"/>
              <a:sym typeface="Calibri"/>
            </a:endParaRPr>
          </a:p>
        </p:txBody>
      </p:sp>
      <p:sp>
        <p:nvSpPr>
          <p:cNvPr id="358" name="Google Shape;358;p16"/>
          <p:cNvSpPr/>
          <p:nvPr/>
        </p:nvSpPr>
        <p:spPr>
          <a:xfrm>
            <a:off x="822960" y="2487168"/>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1 or 2</a:t>
            </a:r>
            <a:endParaRPr b="0" i="0" sz="950" u="none" cap="none" strike="noStrike">
              <a:solidFill>
                <a:schemeClr val="dk1"/>
              </a:solidFill>
              <a:latin typeface="Calibri"/>
              <a:ea typeface="Calibri"/>
              <a:cs typeface="Calibri"/>
              <a:sym typeface="Calibri"/>
            </a:endParaRPr>
          </a:p>
        </p:txBody>
      </p:sp>
      <p:sp>
        <p:nvSpPr>
          <p:cNvPr id="359" name="Google Shape;359;p16"/>
          <p:cNvSpPr/>
          <p:nvPr/>
        </p:nvSpPr>
        <p:spPr>
          <a:xfrm>
            <a:off x="1517904" y="2487168"/>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what happened instead, or no qualifying instance</a:t>
            </a:r>
            <a:endParaRPr b="0" i="0" sz="1000" u="none" cap="none" strike="noStrike">
              <a:solidFill>
                <a:schemeClr val="dk1"/>
              </a:solidFill>
              <a:latin typeface="Calibri"/>
              <a:ea typeface="Calibri"/>
              <a:cs typeface="Calibri"/>
              <a:sym typeface="Calibri"/>
            </a:endParaRPr>
          </a:p>
        </p:txBody>
      </p:sp>
      <p:sp>
        <p:nvSpPr>
          <p:cNvPr id="360" name="Google Shape;360;p16"/>
          <p:cNvSpPr/>
          <p:nvPr/>
        </p:nvSpPr>
        <p:spPr>
          <a:xfrm>
            <a:off x="4754880" y="2487168"/>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a:t>
            </a:r>
            <a:endParaRPr b="0" i="0" sz="950" u="none" cap="none" strike="noStrike">
              <a:solidFill>
                <a:schemeClr val="dk1"/>
              </a:solidFill>
              <a:latin typeface="Calibri"/>
              <a:ea typeface="Calibri"/>
              <a:cs typeface="Calibri"/>
              <a:sym typeface="Calibri"/>
            </a:endParaRPr>
          </a:p>
        </p:txBody>
      </p:sp>
      <p:sp>
        <p:nvSpPr>
          <p:cNvPr id="361" name="Google Shape;361;p16"/>
          <p:cNvSpPr/>
          <p:nvPr/>
        </p:nvSpPr>
        <p:spPr>
          <a:xfrm>
            <a:off x="5449824" y="2487168"/>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most defensible number, marked once: 3?, 4?, 2?</a:t>
            </a:r>
            <a:endParaRPr b="0" i="0" sz="1000" u="none" cap="none" strike="noStrike">
              <a:solidFill>
                <a:schemeClr val="dk1"/>
              </a:solidFill>
              <a:latin typeface="Calibri"/>
              <a:ea typeface="Calibri"/>
              <a:cs typeface="Calibri"/>
              <a:sym typeface="Calibri"/>
            </a:endParaRPr>
          </a:p>
        </p:txBody>
      </p:sp>
      <p:sp>
        <p:nvSpPr>
          <p:cNvPr id="362" name="Google Shape;362;p16"/>
          <p:cNvSpPr/>
          <p:nvPr/>
        </p:nvSpPr>
        <p:spPr>
          <a:xfrm>
            <a:off x="566928" y="29443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Montserrat"/>
              <a:buNone/>
            </a:pPr>
            <a:r>
              <a:rPr b="1" i="0" lang="en-US" sz="1100" u="none" cap="none" strike="noStrike">
                <a:solidFill>
                  <a:srgbClr val="0F2347"/>
                </a:solidFill>
                <a:latin typeface="Montserrat"/>
                <a:ea typeface="Montserrat"/>
                <a:cs typeface="Montserrat"/>
                <a:sym typeface="Montserrat"/>
              </a:rPr>
              <a:t>Density   1 · 2 · 3 · 4 · 5 · 6</a:t>
            </a:r>
            <a:endParaRPr b="0" i="0" sz="1100" u="none" cap="none" strike="noStrike">
              <a:solidFill>
                <a:schemeClr val="dk1"/>
              </a:solidFill>
              <a:latin typeface="Calibri"/>
              <a:ea typeface="Calibri"/>
              <a:cs typeface="Calibri"/>
              <a:sym typeface="Calibri"/>
            </a:endParaRPr>
          </a:p>
        </p:txBody>
      </p:sp>
      <p:sp>
        <p:nvSpPr>
          <p:cNvPr id="363" name="Google Shape;363;p16"/>
          <p:cNvSpPr/>
          <p:nvPr/>
        </p:nvSpPr>
        <p:spPr>
          <a:xfrm>
            <a:off x="4754880" y="29443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Montserrat"/>
              <a:buNone/>
            </a:pPr>
            <a:r>
              <a:rPr b="1" i="0" lang="en-US" sz="1100" u="none" cap="none" strike="noStrike">
                <a:solidFill>
                  <a:srgbClr val="0F2347"/>
                </a:solidFill>
                <a:latin typeface="Montserrat"/>
                <a:ea typeface="Montserrat"/>
                <a:cs typeface="Montserrat"/>
                <a:sym typeface="Montserrat"/>
              </a:rPr>
              <a:t>Optionality   7 · 8 · 9 · 10 · 11 · 12</a:t>
            </a:r>
            <a:endParaRPr b="0" i="0" sz="1100" u="none" cap="none" strike="noStrike">
              <a:solidFill>
                <a:schemeClr val="dk1"/>
              </a:solidFill>
              <a:latin typeface="Calibri"/>
              <a:ea typeface="Calibri"/>
              <a:cs typeface="Calibri"/>
              <a:sym typeface="Calibri"/>
            </a:endParaRPr>
          </a:p>
        </p:txBody>
      </p:sp>
      <p:sp>
        <p:nvSpPr>
          <p:cNvPr id="364" name="Google Shape;364;p16"/>
          <p:cNvSpPr/>
          <p:nvPr/>
        </p:nvSpPr>
        <p:spPr>
          <a:xfrm>
            <a:off x="566928" y="3401568"/>
            <a:ext cx="8010144"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p16"/>
          <p:cNvSpPr/>
          <p:nvPr/>
        </p:nvSpPr>
        <p:spPr>
          <a:xfrm>
            <a:off x="822960" y="3401568"/>
            <a:ext cx="7498080" cy="78638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F2347"/>
              </a:buClr>
              <a:buSzPts val="1150"/>
              <a:buFont typeface="DM Sans"/>
              <a:buNone/>
            </a:pPr>
            <a:r>
              <a:rPr b="0" i="0" lang="en-US" sz="1150" u="none" cap="none" strike="noStrike">
                <a:solidFill>
                  <a:srgbClr val="0F2347"/>
                </a:solidFill>
                <a:latin typeface="DM Sans"/>
                <a:ea typeface="DM Sans"/>
                <a:cs typeface="DM Sans"/>
                <a:sym typeface="DM Sans"/>
              </a:rPr>
              <a:t>Write the corrected number and a short evidence phrase under it. Your first number stays where it is. Phrases, not essays — twelve minutes for twelve statements.</a:t>
            </a:r>
            <a:endParaRPr b="0" i="0" sz="1150" u="none" cap="none" strike="noStrike">
              <a:solidFill>
                <a:schemeClr val="dk1"/>
              </a:solidFill>
              <a:latin typeface="Calibri"/>
              <a:ea typeface="Calibri"/>
              <a:cs typeface="Calibri"/>
              <a:sym typeface="Calibri"/>
            </a:endParaRPr>
          </a:p>
        </p:txBody>
      </p:sp>
      <p:sp>
        <p:nvSpPr>
          <p:cNvPr id="366" name="Google Shape;366;p16"/>
          <p:cNvSpPr/>
          <p:nvPr/>
        </p:nvSpPr>
        <p:spPr>
          <a:xfrm>
            <a:off x="566928" y="4334256"/>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040"/>
              <a:buFont typeface="DM Sans"/>
              <a:buNone/>
            </a:pPr>
            <a:r>
              <a:rPr b="1" i="0" lang="en-US" sz="1040" u="none" cap="none" strike="noStrike">
                <a:solidFill>
                  <a:srgbClr val="C1440E"/>
                </a:solidFill>
                <a:latin typeface="DM Sans"/>
                <a:ea typeface="DM Sans"/>
                <a:cs typeface="DM Sans"/>
                <a:sym typeface="DM Sans"/>
              </a:rPr>
              <a:t>Workbook pages 5 and 6.</a:t>
            </a:r>
            <a:endParaRPr b="0" i="0" sz="1040" u="none" cap="none" strike="noStrike">
              <a:solidFill>
                <a:schemeClr val="dk1"/>
              </a:solidFill>
              <a:latin typeface="Calibri"/>
              <a:ea typeface="Calibri"/>
              <a:cs typeface="Calibri"/>
              <a:sym typeface="Calibri"/>
            </a:endParaRPr>
          </a:p>
        </p:txBody>
      </p:sp>
      <p:sp>
        <p:nvSpPr>
          <p:cNvPr id="367" name="Google Shape;367;p1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68" name="Google Shape;368;p1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3" name="Shape 373"/>
        <p:cNvGrpSpPr/>
        <p:nvPr/>
      </p:nvGrpSpPr>
      <p:grpSpPr>
        <a:xfrm>
          <a:off x="0" y="0"/>
          <a:ext cx="0" cy="0"/>
          <a:chOff x="0" y="0"/>
          <a:chExt cx="0" cy="0"/>
        </a:xfrm>
      </p:grpSpPr>
      <p:sp>
        <p:nvSpPr>
          <p:cNvPr id="374" name="Google Shape;374;p1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375" name="Google Shape;375;p1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Re-total before you place again</a:t>
            </a:r>
            <a:endParaRPr b="0" i="0" sz="2800" u="none" cap="none" strike="noStrike">
              <a:solidFill>
                <a:schemeClr val="dk1"/>
              </a:solidFill>
              <a:latin typeface="Calibri"/>
              <a:ea typeface="Calibri"/>
              <a:cs typeface="Calibri"/>
              <a:sym typeface="Calibri"/>
            </a:endParaRPr>
          </a:p>
        </p:txBody>
      </p:sp>
      <p:sp>
        <p:nvSpPr>
          <p:cNvPr id="376" name="Google Shape;376;p1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New numbers. A fresh placement, not a review of the first one.</a:t>
            </a:r>
            <a:endParaRPr b="0" i="0" sz="1150" u="none" cap="none" strike="noStrike">
              <a:solidFill>
                <a:schemeClr val="dk1"/>
              </a:solidFill>
              <a:latin typeface="Calibri"/>
              <a:ea typeface="Calibri"/>
              <a:cs typeface="Calibri"/>
              <a:sym typeface="Calibri"/>
            </a:endParaRPr>
          </a:p>
        </p:txBody>
      </p:sp>
      <p:sp>
        <p:nvSpPr>
          <p:cNvPr id="377" name="Google Shape;377;p17"/>
          <p:cNvSpPr/>
          <p:nvPr/>
        </p:nvSpPr>
        <p:spPr>
          <a:xfrm>
            <a:off x="566928" y="1920240"/>
            <a:ext cx="393192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17"/>
          <p:cNvSpPr/>
          <p:nvPr/>
        </p:nvSpPr>
        <p:spPr>
          <a:xfrm>
            <a:off x="841248" y="2084832"/>
            <a:ext cx="33832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DENSITY, CORRECTED</a:t>
            </a:r>
            <a:endParaRPr b="0" i="0" sz="900" u="none" cap="none" strike="noStrike">
              <a:solidFill>
                <a:schemeClr val="dk1"/>
              </a:solidFill>
              <a:latin typeface="Calibri"/>
              <a:ea typeface="Calibri"/>
              <a:cs typeface="Calibri"/>
              <a:sym typeface="Calibri"/>
            </a:endParaRPr>
          </a:p>
        </p:txBody>
      </p:sp>
      <p:sp>
        <p:nvSpPr>
          <p:cNvPr id="379" name="Google Shape;379;p17"/>
          <p:cNvSpPr/>
          <p:nvPr/>
        </p:nvSpPr>
        <p:spPr>
          <a:xfrm>
            <a:off x="841248" y="2359152"/>
            <a:ext cx="3383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________  / 30</a:t>
            </a:r>
            <a:endParaRPr b="0" i="0" sz="2900" u="none" cap="none" strike="noStrike">
              <a:solidFill>
                <a:schemeClr val="dk1"/>
              </a:solidFill>
              <a:latin typeface="Calibri"/>
              <a:ea typeface="Calibri"/>
              <a:cs typeface="Calibri"/>
              <a:sym typeface="Calibri"/>
            </a:endParaRPr>
          </a:p>
        </p:txBody>
      </p:sp>
      <p:sp>
        <p:nvSpPr>
          <p:cNvPr id="380" name="Google Shape;380;p17"/>
          <p:cNvSpPr/>
          <p:nvPr/>
        </p:nvSpPr>
        <p:spPr>
          <a:xfrm>
            <a:off x="4690872" y="1920240"/>
            <a:ext cx="388620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17"/>
          <p:cNvSpPr/>
          <p:nvPr/>
        </p:nvSpPr>
        <p:spPr>
          <a:xfrm>
            <a:off x="4965192" y="2084832"/>
            <a:ext cx="33832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OPTIONALITY, CORRECTED</a:t>
            </a:r>
            <a:endParaRPr b="0" i="0" sz="900" u="none" cap="none" strike="noStrike">
              <a:solidFill>
                <a:schemeClr val="dk1"/>
              </a:solidFill>
              <a:latin typeface="Calibri"/>
              <a:ea typeface="Calibri"/>
              <a:cs typeface="Calibri"/>
              <a:sym typeface="Calibri"/>
            </a:endParaRPr>
          </a:p>
        </p:txBody>
      </p:sp>
      <p:sp>
        <p:nvSpPr>
          <p:cNvPr id="382" name="Google Shape;382;p17"/>
          <p:cNvSpPr/>
          <p:nvPr/>
        </p:nvSpPr>
        <p:spPr>
          <a:xfrm>
            <a:off x="4965192" y="2359152"/>
            <a:ext cx="3383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________  / 30</a:t>
            </a:r>
            <a:endParaRPr b="0" i="0" sz="2900" u="none" cap="none" strike="noStrike">
              <a:solidFill>
                <a:schemeClr val="dk1"/>
              </a:solidFill>
              <a:latin typeface="Calibri"/>
              <a:ea typeface="Calibri"/>
              <a:cs typeface="Calibri"/>
              <a:sym typeface="Calibri"/>
            </a:endParaRPr>
          </a:p>
        </p:txBody>
      </p:sp>
      <p:sp>
        <p:nvSpPr>
          <p:cNvPr id="383" name="Google Shape;383;p17"/>
          <p:cNvSpPr/>
          <p:nvPr/>
        </p:nvSpPr>
        <p:spPr>
          <a:xfrm>
            <a:off x="566928" y="3200400"/>
            <a:ext cx="801014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1440E"/>
              </a:buClr>
              <a:buSzPts val="1200"/>
              <a:buFont typeface="DM Sans"/>
              <a:buNone/>
            </a:pPr>
            <a:r>
              <a:rPr b="1" i="0" lang="en-US" sz="1200" u="none" cap="none" strike="noStrike">
                <a:solidFill>
                  <a:srgbClr val="C1440E"/>
                </a:solidFill>
                <a:latin typeface="DM Sans"/>
                <a:ea typeface="DM Sans"/>
                <a:cs typeface="DM Sans"/>
                <a:sym typeface="DM Sans"/>
              </a:rPr>
              <a:t>19 to 30 high  ·  6 to 18 low  ·  17 to 21 is the boundary band, and it overrides both</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566928" y="3602736"/>
            <a:ext cx="8010144" cy="548640"/>
          </a:xfrm>
          <a:prstGeom prst="rect">
            <a:avLst/>
          </a:prstGeom>
          <a:noFill/>
          <a:ln>
            <a:noFill/>
          </a:ln>
        </p:spPr>
        <p:txBody>
          <a:bodyPr anchorCtr="0" anchor="ctr" bIns="0" lIns="0" spcFirstLastPara="1" rIns="0" wrap="square" tIns="0">
            <a:noAutofit/>
          </a:bodyPr>
          <a:lstStyle/>
          <a:p>
            <a:pPr indent="0" lvl="0" marL="0" marR="0" rtl="0" algn="ctr">
              <a:lnSpc>
                <a:spcPct val="138000"/>
              </a:lnSpc>
              <a:spcBef>
                <a:spcPts val="0"/>
              </a:spcBef>
              <a:spcAft>
                <a:spcPts val="0"/>
              </a:spcAft>
              <a:buClr>
                <a:srgbClr val="5A6B84"/>
              </a:buClr>
              <a:buSzPts val="1150"/>
              <a:buFont typeface="DM Sans"/>
              <a:buNone/>
            </a:pPr>
            <a:r>
              <a:rPr b="0" i="0" lang="en-US" sz="1150" u="none" cap="none" strike="noStrike">
                <a:solidFill>
                  <a:srgbClr val="5A6B84"/>
                </a:solidFill>
                <a:latin typeface="DM Sans"/>
                <a:ea typeface="DM Sans"/>
                <a:cs typeface="DM Sans"/>
                <a:sym typeface="DM Sans"/>
              </a:rPr>
              <a:t>Total the axis using the numbers exactly as you wrote them. A question-marked score counts as its number. Rate your confidence in the corrected placement from 1 to 5.</a:t>
            </a:r>
            <a:endParaRPr b="0" i="0" sz="1150" u="none" cap="none" strike="noStrike">
              <a:solidFill>
                <a:schemeClr val="dk1"/>
              </a:solidFill>
              <a:latin typeface="Calibri"/>
              <a:ea typeface="Calibri"/>
              <a:cs typeface="Calibri"/>
              <a:sym typeface="Calibri"/>
            </a:endParaRPr>
          </a:p>
        </p:txBody>
      </p:sp>
      <p:sp>
        <p:nvSpPr>
          <p:cNvPr id="385" name="Google Shape;385;p1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86" name="Google Shape;386;p1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91" name="Shape 391"/>
        <p:cNvGrpSpPr/>
        <p:nvPr/>
      </p:nvGrpSpPr>
      <p:grpSpPr>
        <a:xfrm>
          <a:off x="0" y="0"/>
          <a:ext cx="0" cy="0"/>
          <a:chOff x="0" y="0"/>
          <a:chExt cx="0" cy="0"/>
        </a:xfrm>
      </p:grpSpPr>
      <p:sp>
        <p:nvSpPr>
          <p:cNvPr id="392" name="Google Shape;392;p1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393" name="Google Shape;393;p1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When the evidence remains uncertain</a:t>
            </a:r>
            <a:endParaRPr b="0" i="0" sz="2600" u="none" cap="none" strike="noStrike">
              <a:solidFill>
                <a:schemeClr val="dk1"/>
              </a:solidFill>
              <a:latin typeface="Calibri"/>
              <a:ea typeface="Calibri"/>
              <a:cs typeface="Calibri"/>
              <a:sym typeface="Calibri"/>
            </a:endParaRPr>
          </a:p>
        </p:txBody>
      </p:sp>
      <p:sp>
        <p:nvSpPr>
          <p:cNvPr id="394" name="Google Shape;394;p18"/>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The sensitivity check. An operational convention, not a statistical confidence interval.</a:t>
            </a:r>
            <a:endParaRPr b="0" i="0" sz="1150" u="none" cap="none" strike="noStrike">
              <a:solidFill>
                <a:schemeClr val="dk1"/>
              </a:solidFill>
              <a:latin typeface="Calibri"/>
              <a:ea typeface="Calibri"/>
              <a:cs typeface="Calibri"/>
              <a:sym typeface="Calibri"/>
            </a:endParaRPr>
          </a:p>
        </p:txBody>
      </p:sp>
      <p:sp>
        <p:nvSpPr>
          <p:cNvPr id="395" name="Google Shape;395;p18"/>
          <p:cNvSpPr/>
          <p:nvPr/>
        </p:nvSpPr>
        <p:spPr>
          <a:xfrm>
            <a:off x="566928" y="1719072"/>
            <a:ext cx="676656" cy="438912"/>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566928" y="1719072"/>
            <a:ext cx="676656"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NONE</a:t>
            </a:r>
            <a:endParaRPr b="0" i="0" sz="900" u="none" cap="none" strike="noStrike">
              <a:solidFill>
                <a:schemeClr val="dk1"/>
              </a:solidFill>
              <a:latin typeface="Calibri"/>
              <a:ea typeface="Calibri"/>
              <a:cs typeface="Calibri"/>
              <a:sym typeface="Calibri"/>
            </a:endParaRPr>
          </a:p>
        </p:txBody>
      </p:sp>
      <p:sp>
        <p:nvSpPr>
          <p:cNvPr id="397" name="Google Shape;397;p18"/>
          <p:cNvSpPr/>
          <p:nvPr/>
        </p:nvSpPr>
        <p:spPr>
          <a:xfrm>
            <a:off x="1408176" y="1700784"/>
            <a:ext cx="716889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Use the corrected total normally.</a:t>
            </a:r>
            <a:endParaRPr b="0" i="0" sz="1150" u="none" cap="none" strike="noStrike">
              <a:solidFill>
                <a:schemeClr val="dk1"/>
              </a:solidFill>
              <a:latin typeface="Calibri"/>
              <a:ea typeface="Calibri"/>
              <a:cs typeface="Calibri"/>
              <a:sym typeface="Calibri"/>
            </a:endParaRPr>
          </a:p>
        </p:txBody>
      </p:sp>
      <p:sp>
        <p:nvSpPr>
          <p:cNvPr id="398" name="Google Shape;398;p18"/>
          <p:cNvSpPr/>
          <p:nvPr/>
        </p:nvSpPr>
        <p:spPr>
          <a:xfrm>
            <a:off x="1408176" y="1938528"/>
            <a:ext cx="716889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20"/>
              <a:buFont typeface="DM Sans"/>
              <a:buNone/>
            </a:pPr>
            <a:r>
              <a:rPr b="0" i="0" lang="en-US" sz="1020" u="none" cap="none" strike="noStrike">
                <a:solidFill>
                  <a:srgbClr val="5A6B84"/>
                </a:solidFill>
                <a:latin typeface="DM Sans"/>
                <a:ea typeface="DM Sans"/>
                <a:cs typeface="DM Sans"/>
                <a:sym typeface="DM Sans"/>
              </a:rPr>
              <a:t>No sensitivity range is required.</a:t>
            </a:r>
            <a:endParaRPr b="0" i="0" sz="1020" u="none" cap="none" strike="noStrike">
              <a:solidFill>
                <a:schemeClr val="dk1"/>
              </a:solidFill>
              <a:latin typeface="Calibri"/>
              <a:ea typeface="Calibri"/>
              <a:cs typeface="Calibri"/>
              <a:sym typeface="Calibri"/>
            </a:endParaRPr>
          </a:p>
        </p:txBody>
      </p:sp>
      <p:sp>
        <p:nvSpPr>
          <p:cNvPr id="399" name="Google Shape;399;p18"/>
          <p:cNvSpPr/>
          <p:nvPr/>
        </p:nvSpPr>
        <p:spPr>
          <a:xfrm>
            <a:off x="566928" y="2286000"/>
            <a:ext cx="676656" cy="78638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18"/>
          <p:cNvSpPr/>
          <p:nvPr/>
        </p:nvSpPr>
        <p:spPr>
          <a:xfrm>
            <a:off x="566928" y="2286000"/>
            <a:ext cx="676656" cy="7863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1 OR 2</a:t>
            </a:r>
            <a:endParaRPr b="0" i="0" sz="900" u="none" cap="none" strike="noStrike">
              <a:solidFill>
                <a:schemeClr val="dk1"/>
              </a:solidFill>
              <a:latin typeface="Calibri"/>
              <a:ea typeface="Calibri"/>
              <a:cs typeface="Calibri"/>
              <a:sym typeface="Calibri"/>
            </a:endParaRPr>
          </a:p>
        </p:txBody>
      </p:sp>
      <p:sp>
        <p:nvSpPr>
          <p:cNvPr id="401" name="Google Shape;401;p18"/>
          <p:cNvSpPr/>
          <p:nvPr/>
        </p:nvSpPr>
        <p:spPr>
          <a:xfrm>
            <a:off x="1408176" y="2286000"/>
            <a:ext cx="7168896"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18"/>
          <p:cNvSpPr/>
          <p:nvPr/>
        </p:nvSpPr>
        <p:spPr>
          <a:xfrm>
            <a:off x="1609344" y="2395728"/>
            <a:ext cx="67665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PROVISIONAL.  RUN THE NEIGHBORING-SCORE SENSITIVITY CHECK.</a:t>
            </a:r>
            <a:endParaRPr b="0" i="0" sz="840" u="none" cap="none" strike="noStrike">
              <a:solidFill>
                <a:schemeClr val="dk1"/>
              </a:solidFill>
              <a:latin typeface="Calibri"/>
              <a:ea typeface="Calibri"/>
              <a:cs typeface="Calibri"/>
              <a:sym typeface="Calibri"/>
            </a:endParaRPr>
          </a:p>
        </p:txBody>
      </p:sp>
      <p:sp>
        <p:nvSpPr>
          <p:cNvPr id="403" name="Google Shape;403;p18"/>
          <p:cNvSpPr/>
          <p:nvPr/>
        </p:nvSpPr>
        <p:spPr>
          <a:xfrm>
            <a:off x="1609344" y="2724912"/>
            <a:ext cx="82296" cy="8229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p18"/>
          <p:cNvSpPr/>
          <p:nvPr/>
        </p:nvSpPr>
        <p:spPr>
          <a:xfrm>
            <a:off x="1810512" y="2651760"/>
            <a:ext cx="656539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50"/>
              <a:buFont typeface="DM Sans"/>
              <a:buNone/>
            </a:pPr>
            <a:r>
              <a:rPr b="0" i="0" lang="en-US" sz="1050" u="none" cap="none" strike="noStrike">
                <a:solidFill>
                  <a:srgbClr val="0F2347"/>
                </a:solidFill>
                <a:latin typeface="DM Sans"/>
                <a:ea typeface="DM Sans"/>
                <a:cs typeface="DM Sans"/>
                <a:sym typeface="DM Sans"/>
              </a:rPr>
              <a:t>If the range touches 17 to 21, hold the axis as boundary.</a:t>
            </a:r>
            <a:endParaRPr b="0" i="0" sz="1050" u="none" cap="none" strike="noStrike">
              <a:solidFill>
                <a:schemeClr val="dk1"/>
              </a:solidFill>
              <a:latin typeface="Calibri"/>
              <a:ea typeface="Calibri"/>
              <a:cs typeface="Calibri"/>
              <a:sym typeface="Calibri"/>
            </a:endParaRPr>
          </a:p>
        </p:txBody>
      </p:sp>
      <p:sp>
        <p:nvSpPr>
          <p:cNvPr id="405" name="Google Shape;405;p18"/>
          <p:cNvSpPr/>
          <p:nvPr/>
        </p:nvSpPr>
        <p:spPr>
          <a:xfrm>
            <a:off x="566928" y="3822191"/>
            <a:ext cx="80101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50"/>
              <a:buFont typeface="DM Sans"/>
              <a:buNone/>
            </a:pPr>
            <a:r>
              <a:rPr b="1" i="0" lang="en-US" sz="1050" u="none" cap="none" strike="noStrike">
                <a:solidFill>
                  <a:srgbClr val="0F2347"/>
                </a:solidFill>
                <a:latin typeface="DM Sans"/>
                <a:ea typeface="DM Sans"/>
                <a:cs typeface="DM Sans"/>
                <a:sym typeface="DM Sans"/>
              </a:rPr>
              <a:t>17 TO 21 IS THE BOUNDARY BAND. A boundary reading overrides the normal high and low split.</a:t>
            </a:r>
            <a:endParaRPr b="0" i="0" sz="1050" u="none" cap="none" strike="noStrike">
              <a:solidFill>
                <a:schemeClr val="dk1"/>
              </a:solidFill>
              <a:latin typeface="Calibri"/>
              <a:ea typeface="Calibri"/>
              <a:cs typeface="Calibri"/>
              <a:sym typeface="Calibri"/>
            </a:endParaRPr>
          </a:p>
        </p:txBody>
      </p:sp>
      <p:sp>
        <p:nvSpPr>
          <p:cNvPr id="406" name="Google Shape;406;p18"/>
          <p:cNvSpPr/>
          <p:nvPr/>
        </p:nvSpPr>
        <p:spPr>
          <a:xfrm>
            <a:off x="566928" y="3218688"/>
            <a:ext cx="676656" cy="457200"/>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8"/>
          <p:cNvSpPr/>
          <p:nvPr/>
        </p:nvSpPr>
        <p:spPr>
          <a:xfrm>
            <a:off x="566928" y="3218688"/>
            <a:ext cx="6766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00"/>
              <a:buFont typeface="Montserrat"/>
              <a:buNone/>
            </a:pPr>
            <a:r>
              <a:rPr b="1" i="0" lang="en-US" sz="900" u="none" cap="none" strike="noStrike">
                <a:solidFill>
                  <a:srgbClr val="F5F0E8"/>
                </a:solidFill>
                <a:latin typeface="Montserrat"/>
                <a:ea typeface="Montserrat"/>
                <a:cs typeface="Montserrat"/>
                <a:sym typeface="Montserrat"/>
              </a:rPr>
              <a:t>3+</a:t>
            </a:r>
            <a:endParaRPr b="0" i="0" sz="900" u="none" cap="none" strike="noStrike">
              <a:solidFill>
                <a:schemeClr val="dk1"/>
              </a:solidFill>
              <a:latin typeface="Calibri"/>
              <a:ea typeface="Calibri"/>
              <a:cs typeface="Calibri"/>
              <a:sym typeface="Calibri"/>
            </a:endParaRPr>
          </a:p>
        </p:txBody>
      </p:sp>
      <p:sp>
        <p:nvSpPr>
          <p:cNvPr id="408" name="Google Shape;408;p18"/>
          <p:cNvSpPr/>
          <p:nvPr/>
        </p:nvSpPr>
        <p:spPr>
          <a:xfrm>
            <a:off x="1408176" y="3218688"/>
            <a:ext cx="7168896"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18"/>
          <p:cNvSpPr/>
          <p:nvPr/>
        </p:nvSpPr>
        <p:spPr>
          <a:xfrm>
            <a:off x="1609344" y="3218688"/>
            <a:ext cx="6766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100"/>
              <a:buFont typeface="DM Sans"/>
              <a:buNone/>
            </a:pPr>
            <a:r>
              <a:rPr b="1" i="0" lang="en-US" sz="1100" u="none" cap="none" strike="noStrike">
                <a:solidFill>
                  <a:srgbClr val="F5F0E8"/>
                </a:solidFill>
                <a:latin typeface="DM Sans"/>
                <a:ea typeface="DM Sans"/>
                <a:cs typeface="DM Sans"/>
                <a:sym typeface="DM Sans"/>
              </a:rPr>
              <a:t>INCOMPLETE. Do not place on that axis today. Incomplete is a legitimate reading, not a failure.</a:t>
            </a:r>
            <a:endParaRPr b="0" i="0" sz="1100" u="none" cap="none" strike="noStrike">
              <a:solidFill>
                <a:schemeClr val="dk1"/>
              </a:solidFill>
              <a:latin typeface="Calibri"/>
              <a:ea typeface="Calibri"/>
              <a:cs typeface="Calibri"/>
              <a:sym typeface="Calibri"/>
            </a:endParaRPr>
          </a:p>
        </p:txBody>
      </p:sp>
      <p:sp>
        <p:nvSpPr>
          <p:cNvPr id="410" name="Google Shape;410;p18"/>
          <p:cNvSpPr/>
          <p:nvPr/>
        </p:nvSpPr>
        <p:spPr>
          <a:xfrm>
            <a:off x="566928" y="4187952"/>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C1440E"/>
              </a:buClr>
              <a:buSzPts val="960"/>
              <a:buFont typeface="DM Sans"/>
              <a:buNone/>
            </a:pPr>
            <a:r>
              <a:rPr b="1" i="0" lang="en-US" sz="960" u="none" cap="none" strike="noStrike">
                <a:solidFill>
                  <a:srgbClr val="C1440E"/>
                </a:solidFill>
                <a:latin typeface="DM Sans"/>
                <a:ea typeface="DM Sans"/>
                <a:cs typeface="DM Sans"/>
                <a:sym typeface="DM Sans"/>
              </a:rPr>
              <a:t>ONE axis in the band: read the two adjacent states the other axis selects.</a:t>
            </a:r>
            <a:endParaRPr b="0" i="0" sz="960" u="none" cap="none" strike="noStrike">
              <a:solidFill>
                <a:schemeClr val="dk1"/>
              </a:solidFill>
              <a:latin typeface="Calibri"/>
              <a:ea typeface="Calibri"/>
              <a:cs typeface="Calibri"/>
              <a:sym typeface="Calibri"/>
            </a:endParaRPr>
          </a:p>
          <a:p>
            <a:pPr indent="0" lvl="0" marL="0" marR="0" rtl="0" algn="l">
              <a:lnSpc>
                <a:spcPct val="130207"/>
              </a:lnSpc>
              <a:spcBef>
                <a:spcPts val="0"/>
              </a:spcBef>
              <a:spcAft>
                <a:spcPts val="0"/>
              </a:spcAft>
              <a:buClr>
                <a:srgbClr val="C1440E"/>
              </a:buClr>
              <a:buSzPts val="960"/>
              <a:buFont typeface="DM Sans"/>
              <a:buNone/>
            </a:pPr>
            <a:r>
              <a:rPr b="1" i="0" lang="en-US" sz="960" u="none" cap="none" strike="noStrike">
                <a:solidFill>
                  <a:srgbClr val="C1440E"/>
                </a:solidFill>
                <a:latin typeface="DM Sans"/>
                <a:ea typeface="DM Sans"/>
                <a:cs typeface="DM Sans"/>
                <a:sym typeface="DM Sans"/>
              </a:rPr>
              <a:t>BOTH axes in the band: record Boundary and assign no single state.</a:t>
            </a:r>
            <a:endParaRPr b="0" i="0" sz="960" u="none" cap="none" strike="noStrike">
              <a:solidFill>
                <a:schemeClr val="dk1"/>
              </a:solidFill>
              <a:latin typeface="Calibri"/>
              <a:ea typeface="Calibri"/>
              <a:cs typeface="Calibri"/>
              <a:sym typeface="Calibri"/>
            </a:endParaRPr>
          </a:p>
        </p:txBody>
      </p:sp>
      <p:sp>
        <p:nvSpPr>
          <p:cNvPr id="411" name="Google Shape;411;p1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12" name="Google Shape;412;p1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17" name="Shape 417"/>
        <p:cNvGrpSpPr/>
        <p:nvPr/>
      </p:nvGrpSpPr>
      <p:grpSpPr>
        <a:xfrm>
          <a:off x="0" y="0"/>
          <a:ext cx="0" cy="0"/>
          <a:chOff x="0" y="0"/>
          <a:chExt cx="0" cy="0"/>
        </a:xfrm>
      </p:grpSpPr>
      <p:sp>
        <p:nvSpPr>
          <p:cNvPr id="418" name="Google Shape;418;p1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419" name="Google Shape;419;p1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Your corrected position</a:t>
            </a:r>
            <a:endParaRPr b="0" i="0" sz="3000" u="none" cap="none" strike="noStrike">
              <a:solidFill>
                <a:schemeClr val="dk1"/>
              </a:solidFill>
              <a:latin typeface="Calibri"/>
              <a:ea typeface="Calibri"/>
              <a:cs typeface="Calibri"/>
              <a:sym typeface="Calibri"/>
            </a:endParaRPr>
          </a:p>
        </p:txBody>
      </p:sp>
      <p:sp>
        <p:nvSpPr>
          <p:cNvPr id="420" name="Google Shape;420;p19"/>
          <p:cNvSpPr/>
          <p:nvPr/>
        </p:nvSpPr>
        <p:spPr>
          <a:xfrm>
            <a:off x="566928" y="19202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19"/>
          <p:cNvSpPr/>
          <p:nvPr/>
        </p:nvSpPr>
        <p:spPr>
          <a:xfrm>
            <a:off x="566928" y="19202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422" name="Google Shape;422;p19"/>
          <p:cNvSpPr/>
          <p:nvPr/>
        </p:nvSpPr>
        <p:spPr>
          <a:xfrm>
            <a:off x="1005840" y="189280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Place your corrected square</a:t>
            </a:r>
            <a:endParaRPr b="0" i="0" sz="1300" u="none" cap="none" strike="noStrike">
              <a:solidFill>
                <a:schemeClr val="dk1"/>
              </a:solidFill>
              <a:latin typeface="Calibri"/>
              <a:ea typeface="Calibri"/>
              <a:cs typeface="Calibri"/>
              <a:sym typeface="Calibri"/>
            </a:endParaRPr>
          </a:p>
        </p:txBody>
      </p:sp>
      <p:sp>
        <p:nvSpPr>
          <p:cNvPr id="423" name="Google Shape;423;p19"/>
          <p:cNvSpPr/>
          <p:nvPr/>
        </p:nvSpPr>
        <p:spPr>
          <a:xfrm>
            <a:off x="1005840" y="2148840"/>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Or mark boundary, or mark the axis incomplete. All three are legitimate readings.</a:t>
            </a:r>
            <a:endParaRPr b="0" i="0" sz="1100" u="none" cap="none" strike="noStrike">
              <a:solidFill>
                <a:schemeClr val="dk1"/>
              </a:solidFill>
              <a:latin typeface="Calibri"/>
              <a:ea typeface="Calibri"/>
              <a:cs typeface="Calibri"/>
              <a:sym typeface="Calibri"/>
            </a:endParaRPr>
          </a:p>
        </p:txBody>
      </p:sp>
      <p:sp>
        <p:nvSpPr>
          <p:cNvPr id="424" name="Google Shape;424;p19"/>
          <p:cNvSpPr/>
          <p:nvPr/>
        </p:nvSpPr>
        <p:spPr>
          <a:xfrm>
            <a:off x="566928" y="257860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5" name="Google Shape;425;p19"/>
          <p:cNvSpPr/>
          <p:nvPr/>
        </p:nvSpPr>
        <p:spPr>
          <a:xfrm>
            <a:off x="566928" y="2578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426" name="Google Shape;426;p19"/>
          <p:cNvSpPr/>
          <p:nvPr/>
        </p:nvSpPr>
        <p:spPr>
          <a:xfrm>
            <a:off x="1005840" y="255117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Rate your confidence from 1 to 5</a:t>
            </a:r>
            <a:endParaRPr b="0" i="0" sz="1300" u="none" cap="none" strike="noStrike">
              <a:solidFill>
                <a:schemeClr val="dk1"/>
              </a:solidFill>
              <a:latin typeface="Calibri"/>
              <a:ea typeface="Calibri"/>
              <a:cs typeface="Calibri"/>
              <a:sym typeface="Calibri"/>
            </a:endParaRPr>
          </a:p>
        </p:txBody>
      </p:sp>
      <p:sp>
        <p:nvSpPr>
          <p:cNvPr id="427" name="Google Shape;427;p19"/>
          <p:cNvSpPr/>
          <p:nvPr/>
        </p:nvSpPr>
        <p:spPr>
          <a:xfrm>
            <a:off x="1005840" y="280720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Compare it with the confidence number from your first placement on workbook page 3. The comparison is private.</a:t>
            </a:r>
            <a:endParaRPr b="0" i="0" sz="1100" u="none" cap="none" strike="noStrike">
              <a:solidFill>
                <a:schemeClr val="dk1"/>
              </a:solidFill>
              <a:latin typeface="Calibri"/>
              <a:ea typeface="Calibri"/>
              <a:cs typeface="Calibri"/>
              <a:sym typeface="Calibri"/>
            </a:endParaRPr>
          </a:p>
        </p:txBody>
      </p:sp>
      <p:sp>
        <p:nvSpPr>
          <p:cNvPr id="428" name="Google Shape;428;p19"/>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430" name="Google Shape;430;p19"/>
          <p:cNvSpPr/>
          <p:nvPr/>
        </p:nvSpPr>
        <p:spPr>
          <a:xfrm>
            <a:off x="1005840" y="320954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Keep both readings visible</a:t>
            </a:r>
            <a:endParaRPr b="0" i="0" sz="1300" u="none" cap="none" strike="noStrike">
              <a:solidFill>
                <a:schemeClr val="dk1"/>
              </a:solidFill>
              <a:latin typeface="Calibri"/>
              <a:ea typeface="Calibri"/>
              <a:cs typeface="Calibri"/>
              <a:sym typeface="Calibri"/>
            </a:endParaRPr>
          </a:p>
        </p:txBody>
      </p:sp>
      <p:sp>
        <p:nvSpPr>
          <p:cNvPr id="431" name="Google Shape;431;p19"/>
          <p:cNvSpPr/>
          <p:nvPr/>
        </p:nvSpPr>
        <p:spPr>
          <a:xfrm>
            <a:off x="1005840" y="346557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 first number and the corrected number sit side by side. The distance between them is the finding.</a:t>
            </a:r>
            <a:endParaRPr b="0" i="0" sz="1100" u="none" cap="none" strike="noStrike">
              <a:solidFill>
                <a:schemeClr val="dk1"/>
              </a:solidFill>
              <a:latin typeface="Calibri"/>
              <a:ea typeface="Calibri"/>
              <a:cs typeface="Calibri"/>
              <a:sym typeface="Calibri"/>
            </a:endParaRPr>
          </a:p>
        </p:txBody>
      </p:sp>
      <p:sp>
        <p:nvSpPr>
          <p:cNvPr id="432" name="Google Shape;432;p19"/>
          <p:cNvSpPr/>
          <p:nvPr/>
        </p:nvSpPr>
        <p:spPr>
          <a:xfrm>
            <a:off x="566928" y="396849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p19"/>
          <p:cNvSpPr/>
          <p:nvPr/>
        </p:nvSpPr>
        <p:spPr>
          <a:xfrm>
            <a:off x="804672" y="3968496"/>
            <a:ext cx="7534656"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600"/>
              <a:buFont typeface="Cormorant Garamond"/>
              <a:buNone/>
            </a:pPr>
            <a:r>
              <a:rPr b="1" i="0" lang="en-US" sz="1600" u="none" cap="none" strike="noStrike">
                <a:solidFill>
                  <a:srgbClr val="F5F0E8"/>
                </a:solidFill>
                <a:latin typeface="Cormorant Garamond"/>
                <a:ea typeface="Cormorant Garamond"/>
                <a:cs typeface="Cormorant Garamond"/>
                <a:sym typeface="Cormorant Garamond"/>
              </a:rPr>
              <a:t>A position you can defend with evidence is worth more than a position you feel confident about.</a:t>
            </a:r>
            <a:endParaRPr b="0" i="0" sz="1600" u="none" cap="none" strike="noStrike">
              <a:solidFill>
                <a:schemeClr val="dk1"/>
              </a:solidFill>
              <a:latin typeface="Calibri"/>
              <a:ea typeface="Calibri"/>
              <a:cs typeface="Calibri"/>
              <a:sym typeface="Calibri"/>
            </a:endParaRPr>
          </a:p>
        </p:txBody>
      </p:sp>
      <p:sp>
        <p:nvSpPr>
          <p:cNvPr id="434" name="Google Shape;434;p1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5" name="Google Shape;435;p1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40" name="Shape 440"/>
        <p:cNvGrpSpPr/>
        <p:nvPr/>
      </p:nvGrpSpPr>
      <p:grpSpPr>
        <a:xfrm>
          <a:off x="0" y="0"/>
          <a:ext cx="0" cy="0"/>
          <a:chOff x="0" y="0"/>
          <a:chExt cx="0" cy="0"/>
        </a:xfrm>
      </p:grpSpPr>
      <p:sp>
        <p:nvSpPr>
          <p:cNvPr id="441" name="Google Shape;441;g3fbec47727c_0_0"/>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moved when you tested your first read</a:t>
            </a:r>
            <a:endParaRPr b="0" i="0" sz="2600" u="none" cap="none" strike="noStrike">
              <a:solidFill>
                <a:schemeClr val="dk1"/>
              </a:solidFill>
              <a:latin typeface="Calibri"/>
              <a:ea typeface="Calibri"/>
              <a:cs typeface="Calibri"/>
              <a:sym typeface="Calibri"/>
            </a:endParaRPr>
          </a:p>
        </p:txBody>
      </p:sp>
      <p:sp>
        <p:nvSpPr>
          <p:cNvPr id="442" name="Google Shape;442;g3fbec47727c_0_0"/>
          <p:cNvSpPr/>
          <p:nvPr/>
        </p:nvSpPr>
        <p:spPr>
          <a:xfrm>
            <a:off x="566928" y="1810512"/>
            <a:ext cx="801000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g3fbec47727c_0_0"/>
          <p:cNvSpPr/>
          <p:nvPr/>
        </p:nvSpPr>
        <p:spPr>
          <a:xfrm>
            <a:off x="804672" y="1810512"/>
            <a:ext cx="753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After testing your first read against evidence, which is closest?</a:t>
            </a:r>
            <a:endParaRPr b="0" i="0" sz="1250" u="none" cap="none" strike="noStrike">
              <a:solidFill>
                <a:schemeClr val="dk1"/>
              </a:solidFill>
              <a:latin typeface="Calibri"/>
              <a:ea typeface="Calibri"/>
              <a:cs typeface="Calibri"/>
              <a:sym typeface="Calibri"/>
            </a:endParaRPr>
          </a:p>
        </p:txBody>
      </p:sp>
      <p:sp>
        <p:nvSpPr>
          <p:cNvPr id="444" name="Google Shape;444;g3fbec47727c_0_0"/>
          <p:cNvSpPr/>
          <p:nvPr/>
        </p:nvSpPr>
        <p:spPr>
          <a:xfrm>
            <a:off x="566928" y="2432304"/>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g3fbec47727c_0_0"/>
          <p:cNvSpPr/>
          <p:nvPr/>
        </p:nvSpPr>
        <p:spPr>
          <a:xfrm>
            <a:off x="877824" y="2377440"/>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totals moved meaningfully</a:t>
            </a:r>
            <a:endParaRPr b="0" i="0" sz="1250" u="none" cap="none" strike="noStrike">
              <a:solidFill>
                <a:schemeClr val="dk1"/>
              </a:solidFill>
              <a:latin typeface="Calibri"/>
              <a:ea typeface="Calibri"/>
              <a:cs typeface="Calibri"/>
              <a:sym typeface="Calibri"/>
            </a:endParaRPr>
          </a:p>
        </p:txBody>
      </p:sp>
      <p:sp>
        <p:nvSpPr>
          <p:cNvPr id="446" name="Google Shape;446;g3fbec47727c_0_0"/>
          <p:cNvSpPr/>
          <p:nvPr/>
        </p:nvSpPr>
        <p:spPr>
          <a:xfrm>
            <a:off x="566928" y="2871216"/>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7" name="Google Shape;447;g3fbec47727c_0_0"/>
          <p:cNvSpPr/>
          <p:nvPr/>
        </p:nvSpPr>
        <p:spPr>
          <a:xfrm>
            <a:off x="877824" y="2816352"/>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provisional position moved</a:t>
            </a:r>
            <a:endParaRPr b="0" i="0" sz="1250" u="none" cap="none" strike="noStrike">
              <a:solidFill>
                <a:schemeClr val="dk1"/>
              </a:solidFill>
              <a:latin typeface="Calibri"/>
              <a:ea typeface="Calibri"/>
              <a:cs typeface="Calibri"/>
              <a:sym typeface="Calibri"/>
            </a:endParaRPr>
          </a:p>
        </p:txBody>
      </p:sp>
      <p:sp>
        <p:nvSpPr>
          <p:cNvPr id="448" name="Google Shape;448;g3fbec47727c_0_0"/>
          <p:cNvSpPr/>
          <p:nvPr/>
        </p:nvSpPr>
        <p:spPr>
          <a:xfrm>
            <a:off x="566928" y="3310128"/>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g3fbec47727c_0_0"/>
          <p:cNvSpPr/>
          <p:nvPr/>
        </p:nvSpPr>
        <p:spPr>
          <a:xfrm>
            <a:off x="877824" y="3255264"/>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position stayed similar, but I trust the reading more</a:t>
            </a:r>
            <a:endParaRPr b="0" i="0" sz="1250" u="none" cap="none" strike="noStrike">
              <a:solidFill>
                <a:schemeClr val="dk1"/>
              </a:solidFill>
              <a:latin typeface="Calibri"/>
              <a:ea typeface="Calibri"/>
              <a:cs typeface="Calibri"/>
              <a:sym typeface="Calibri"/>
            </a:endParaRPr>
          </a:p>
        </p:txBody>
      </p:sp>
      <p:sp>
        <p:nvSpPr>
          <p:cNvPr id="450" name="Google Shape;450;g3fbec47727c_0_0"/>
          <p:cNvSpPr/>
          <p:nvPr/>
        </p:nvSpPr>
        <p:spPr>
          <a:xfrm>
            <a:off x="566928" y="3749040"/>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g3fbec47727c_0_0"/>
          <p:cNvSpPr/>
          <p:nvPr/>
        </p:nvSpPr>
        <p:spPr>
          <a:xfrm>
            <a:off x="877824" y="3694176"/>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evidence is still incomplete</a:t>
            </a:r>
            <a:endParaRPr b="0" i="0" sz="1250" u="none" cap="none" strike="noStrike">
              <a:solidFill>
                <a:schemeClr val="dk1"/>
              </a:solidFill>
              <a:latin typeface="Calibri"/>
              <a:ea typeface="Calibri"/>
              <a:cs typeface="Calibri"/>
              <a:sym typeface="Calibri"/>
            </a:endParaRPr>
          </a:p>
        </p:txBody>
      </p:sp>
      <p:sp>
        <p:nvSpPr>
          <p:cNvPr id="452" name="Google Shape;452;g3fbec47727c_0_0"/>
          <p:cNvSpPr/>
          <p:nvPr/>
        </p:nvSpPr>
        <p:spPr>
          <a:xfrm>
            <a:off x="566928" y="4261104"/>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1" lang="en-US" sz="1100" u="none" cap="none" strike="noStrike">
                <a:solidFill>
                  <a:srgbClr val="5A6B84"/>
                </a:solidFill>
                <a:latin typeface="DM Sans"/>
                <a:ea typeface="DM Sans"/>
                <a:cs typeface="DM Sans"/>
                <a:sym typeface="DM Sans"/>
              </a:rPr>
              <a:t>Every one of these is a legitimate outcome. Incomplete evidence is information, not failure.</a:t>
            </a:r>
            <a:endParaRPr b="0" i="0" sz="1100" u="none" cap="none" strike="noStrike">
              <a:solidFill>
                <a:schemeClr val="dk1"/>
              </a:solidFill>
              <a:latin typeface="Calibri"/>
              <a:ea typeface="Calibri"/>
              <a:cs typeface="Calibri"/>
              <a:sym typeface="Calibri"/>
            </a:endParaRPr>
          </a:p>
        </p:txBody>
      </p:sp>
      <p:sp>
        <p:nvSpPr>
          <p:cNvPr id="453" name="Google Shape;453;g3fbec47727c_0_0"/>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54" name="Google Shape;454;g3fbec47727c_0_0"/>
          <p:cNvSpPr/>
          <p:nvPr/>
        </p:nvSpPr>
        <p:spPr>
          <a:xfrm>
            <a:off x="8363712" y="49118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59" name="Shape 459"/>
        <p:cNvGrpSpPr/>
        <p:nvPr/>
      </p:nvGrpSpPr>
      <p:grpSpPr>
        <a:xfrm>
          <a:off x="0" y="0"/>
          <a:ext cx="0" cy="0"/>
          <a:chOff x="0" y="0"/>
          <a:chExt cx="0" cy="0"/>
        </a:xfrm>
      </p:grpSpPr>
      <p:sp>
        <p:nvSpPr>
          <p:cNvPr id="460" name="Google Shape;460;p2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STATE COSTS</a:t>
            </a:r>
            <a:endParaRPr b="0" i="0" sz="950" u="none" cap="none" strike="noStrike">
              <a:solidFill>
                <a:schemeClr val="dk1"/>
              </a:solidFill>
              <a:latin typeface="Calibri"/>
              <a:ea typeface="Calibri"/>
              <a:cs typeface="Calibri"/>
              <a:sym typeface="Calibri"/>
            </a:endParaRPr>
          </a:p>
        </p:txBody>
      </p:sp>
      <p:sp>
        <p:nvSpPr>
          <p:cNvPr id="461" name="Google Shape;461;p2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What each state costs</a:t>
            </a:r>
            <a:endParaRPr b="0" i="0" sz="3000" u="none" cap="none" strike="noStrike">
              <a:solidFill>
                <a:schemeClr val="dk1"/>
              </a:solidFill>
              <a:latin typeface="Calibri"/>
              <a:ea typeface="Calibri"/>
              <a:cs typeface="Calibri"/>
              <a:sym typeface="Calibri"/>
            </a:endParaRPr>
          </a:p>
        </p:txBody>
      </p:sp>
      <p:sp>
        <p:nvSpPr>
          <p:cNvPr id="462" name="Google Shape;462;p2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Four states. One immediate cost to notice in each.</a:t>
            </a:r>
            <a:endParaRPr b="0" i="0" sz="1150" u="none" cap="none" strike="noStrike">
              <a:solidFill>
                <a:schemeClr val="dk1"/>
              </a:solidFill>
              <a:latin typeface="Calibri"/>
              <a:ea typeface="Calibri"/>
              <a:cs typeface="Calibri"/>
              <a:sym typeface="Calibri"/>
            </a:endParaRPr>
          </a:p>
        </p:txBody>
      </p:sp>
      <p:sp>
        <p:nvSpPr>
          <p:cNvPr id="463" name="Google Shape;463;p20"/>
          <p:cNvSpPr/>
          <p:nvPr/>
        </p:nvSpPr>
        <p:spPr>
          <a:xfrm>
            <a:off x="566928" y="1883664"/>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2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465" name="Google Shape;465;p20"/>
          <p:cNvSpPr/>
          <p:nvPr/>
        </p:nvSpPr>
        <p:spPr>
          <a:xfrm>
            <a:off x="2944368" y="1883664"/>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Neither axis is accruing.</a:t>
            </a:r>
            <a:endParaRPr b="0" i="0" sz="1250" u="none" cap="none" strike="noStrike">
              <a:solidFill>
                <a:schemeClr val="dk1"/>
              </a:solidFill>
              <a:latin typeface="Calibri"/>
              <a:ea typeface="Calibri"/>
              <a:cs typeface="Calibri"/>
              <a:sym typeface="Calibri"/>
            </a:endParaRPr>
          </a:p>
        </p:txBody>
      </p:sp>
      <p:sp>
        <p:nvSpPr>
          <p:cNvPr id="466" name="Google Shape;466;p20"/>
          <p:cNvSpPr/>
          <p:nvPr/>
        </p:nvSpPr>
        <p:spPr>
          <a:xfrm>
            <a:off x="566928" y="2450592"/>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7" name="Google Shape;467;p2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468" name="Google Shape;468;p20"/>
          <p:cNvSpPr/>
          <p:nvPr/>
        </p:nvSpPr>
        <p:spPr>
          <a:xfrm>
            <a:off x="2944368" y="2450592"/>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Value is deep but context-bound.</a:t>
            </a:r>
            <a:endParaRPr b="0" i="0" sz="1250" u="none" cap="none" strike="noStrike">
              <a:solidFill>
                <a:schemeClr val="dk1"/>
              </a:solidFill>
              <a:latin typeface="Calibri"/>
              <a:ea typeface="Calibri"/>
              <a:cs typeface="Calibri"/>
              <a:sym typeface="Calibri"/>
            </a:endParaRPr>
          </a:p>
        </p:txBody>
      </p:sp>
      <p:sp>
        <p:nvSpPr>
          <p:cNvPr id="469" name="Google Shape;469;p20"/>
          <p:cNvSpPr/>
          <p:nvPr/>
        </p:nvSpPr>
        <p:spPr>
          <a:xfrm>
            <a:off x="566928" y="3017520"/>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2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471" name="Google Shape;471;p20"/>
          <p:cNvSpPr/>
          <p:nvPr/>
        </p:nvSpPr>
        <p:spPr>
          <a:xfrm>
            <a:off x="2944368" y="3017520"/>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What travels today is no longer being renewed.</a:t>
            </a:r>
            <a:endParaRPr b="0" i="0" sz="1250" u="none" cap="none" strike="noStrike">
              <a:solidFill>
                <a:schemeClr val="dk1"/>
              </a:solidFill>
              <a:latin typeface="Calibri"/>
              <a:ea typeface="Calibri"/>
              <a:cs typeface="Calibri"/>
              <a:sym typeface="Calibri"/>
            </a:endParaRPr>
          </a:p>
        </p:txBody>
      </p:sp>
      <p:sp>
        <p:nvSpPr>
          <p:cNvPr id="472" name="Google Shape;472;p20"/>
          <p:cNvSpPr/>
          <p:nvPr/>
        </p:nvSpPr>
        <p:spPr>
          <a:xfrm>
            <a:off x="566928" y="3584448"/>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474" name="Google Shape;474;p20"/>
          <p:cNvSpPr/>
          <p:nvPr/>
        </p:nvSpPr>
        <p:spPr>
          <a:xfrm>
            <a:off x="2944368" y="3584448"/>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A strong current position still requires renewal.</a:t>
            </a:r>
            <a:endParaRPr b="0" i="0" sz="1250" u="none" cap="none" strike="noStrike">
              <a:solidFill>
                <a:schemeClr val="dk1"/>
              </a:solidFill>
              <a:latin typeface="Calibri"/>
              <a:ea typeface="Calibri"/>
              <a:cs typeface="Calibri"/>
              <a:sym typeface="Calibri"/>
            </a:endParaRPr>
          </a:p>
        </p:txBody>
      </p:sp>
      <p:sp>
        <p:nvSpPr>
          <p:cNvPr id="475" name="Google Shape;475;p20"/>
          <p:cNvSpPr/>
          <p:nvPr/>
        </p:nvSpPr>
        <p:spPr>
          <a:xfrm>
            <a:off x="566928" y="4224528"/>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b="0" i="0" sz="1060" u="none" cap="none" strike="noStrike">
              <a:solidFill>
                <a:schemeClr val="dk1"/>
              </a:solidFill>
              <a:latin typeface="Calibri"/>
              <a:ea typeface="Calibri"/>
              <a:cs typeface="Calibri"/>
              <a:sym typeface="Calibri"/>
            </a:endParaRPr>
          </a:p>
        </p:txBody>
      </p:sp>
      <p:sp>
        <p:nvSpPr>
          <p:cNvPr id="476" name="Google Shape;476;p2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77" name="Google Shape;477;p2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MOVE CATEGORIES</a:t>
            </a:r>
            <a:endParaRPr b="0" i="0" sz="950" u="none" cap="none" strike="noStrike">
              <a:solidFill>
                <a:schemeClr val="dk1"/>
              </a:solidFill>
              <a:latin typeface="Calibri"/>
              <a:ea typeface="Calibri"/>
              <a:cs typeface="Calibri"/>
              <a:sym typeface="Calibri"/>
            </a:endParaRPr>
          </a:p>
        </p:txBody>
      </p:sp>
      <p:sp>
        <p:nvSpPr>
          <p:cNvPr id="484" name="Google Shape;484;p2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Seven categories of move</a:t>
            </a:r>
            <a:endParaRPr b="0" i="0" sz="3000" u="none" cap="none" strike="noStrike">
              <a:solidFill>
                <a:schemeClr val="dk1"/>
              </a:solidFill>
              <a:latin typeface="Calibri"/>
              <a:ea typeface="Calibri"/>
              <a:cs typeface="Calibri"/>
              <a:sym typeface="Calibri"/>
            </a:endParaRPr>
          </a:p>
        </p:txBody>
      </p:sp>
      <p:sp>
        <p:nvSpPr>
          <p:cNvPr id="485" name="Google Shape;485;p21"/>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Direction, not a plan. Your evidence helps you choose which category to test.</a:t>
            </a:r>
            <a:endParaRPr b="0" i="0" sz="1150" u="none" cap="none" strike="noStrike">
              <a:solidFill>
                <a:schemeClr val="dk1"/>
              </a:solidFill>
              <a:latin typeface="Calibri"/>
              <a:ea typeface="Calibri"/>
              <a:cs typeface="Calibri"/>
              <a:sym typeface="Calibri"/>
            </a:endParaRPr>
          </a:p>
        </p:txBody>
      </p:sp>
      <p:sp>
        <p:nvSpPr>
          <p:cNvPr id="486" name="Google Shape;486;p21"/>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21"/>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488" name="Google Shape;488;p21"/>
          <p:cNvSpPr/>
          <p:nvPr/>
        </p:nvSpPr>
        <p:spPr>
          <a:xfrm>
            <a:off x="987552" y="175564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Remain and deepen</a:t>
            </a:r>
            <a:endParaRPr b="0" i="0" sz="1160" u="none" cap="none" strike="noStrike">
              <a:solidFill>
                <a:schemeClr val="dk1"/>
              </a:solidFill>
              <a:latin typeface="Calibri"/>
              <a:ea typeface="Calibri"/>
              <a:cs typeface="Calibri"/>
              <a:sym typeface="Calibri"/>
            </a:endParaRPr>
          </a:p>
        </p:txBody>
      </p:sp>
      <p:sp>
        <p:nvSpPr>
          <p:cNvPr id="489" name="Google Shape;489;p21"/>
          <p:cNvSpPr/>
          <p:nvPr/>
        </p:nvSpPr>
        <p:spPr>
          <a:xfrm>
            <a:off x="3566160" y="175564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The formation conditions are real and worth protecting.</a:t>
            </a:r>
            <a:endParaRPr b="0" i="0" sz="1060" u="none" cap="none" strike="noStrike">
              <a:solidFill>
                <a:schemeClr val="dk1"/>
              </a:solidFill>
              <a:latin typeface="Calibri"/>
              <a:ea typeface="Calibri"/>
              <a:cs typeface="Calibri"/>
              <a:sym typeface="Calibri"/>
            </a:endParaRPr>
          </a:p>
        </p:txBody>
      </p:sp>
      <p:sp>
        <p:nvSpPr>
          <p:cNvPr id="490" name="Google Shape;490;p21"/>
          <p:cNvSpPr/>
          <p:nvPr/>
        </p:nvSpPr>
        <p:spPr>
          <a:xfrm>
            <a:off x="566928" y="21396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21"/>
          <p:cNvSpPr/>
          <p:nvPr/>
        </p:nvSpPr>
        <p:spPr>
          <a:xfrm>
            <a:off x="566928" y="21396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492" name="Google Shape;492;p21"/>
          <p:cNvSpPr/>
          <p:nvPr/>
        </p:nvSpPr>
        <p:spPr>
          <a:xfrm>
            <a:off x="987552" y="212140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Translate what is built</a:t>
            </a:r>
            <a:endParaRPr b="0" i="0" sz="1160" u="none" cap="none" strike="noStrike">
              <a:solidFill>
                <a:schemeClr val="dk1"/>
              </a:solidFill>
              <a:latin typeface="Calibri"/>
              <a:ea typeface="Calibri"/>
              <a:cs typeface="Calibri"/>
              <a:sym typeface="Calibri"/>
            </a:endParaRPr>
          </a:p>
        </p:txBody>
      </p:sp>
      <p:sp>
        <p:nvSpPr>
          <p:cNvPr id="493" name="Google Shape;493;p21"/>
          <p:cNvSpPr/>
          <p:nvPr/>
        </p:nvSpPr>
        <p:spPr>
          <a:xfrm>
            <a:off x="3566160" y="212140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The capability exists. The evidence for it is not yet legible outside.</a:t>
            </a:r>
            <a:endParaRPr b="0" i="0" sz="1060" u="none" cap="none" strike="noStrike">
              <a:solidFill>
                <a:schemeClr val="dk1"/>
              </a:solidFill>
              <a:latin typeface="Calibri"/>
              <a:ea typeface="Calibri"/>
              <a:cs typeface="Calibri"/>
              <a:sym typeface="Calibri"/>
            </a:endParaRPr>
          </a:p>
        </p:txBody>
      </p:sp>
      <p:sp>
        <p:nvSpPr>
          <p:cNvPr id="494" name="Google Shape;494;p21"/>
          <p:cNvSpPr/>
          <p:nvPr/>
        </p:nvSpPr>
        <p:spPr>
          <a:xfrm>
            <a:off x="566928" y="25054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21"/>
          <p:cNvSpPr/>
          <p:nvPr/>
        </p:nvSpPr>
        <p:spPr>
          <a:xfrm>
            <a:off x="566928" y="25054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496" name="Google Shape;496;p21"/>
          <p:cNvSpPr/>
          <p:nvPr/>
        </p:nvSpPr>
        <p:spPr>
          <a:xfrm>
            <a:off x="987552" y="248716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Widen exposure</a:t>
            </a:r>
            <a:endParaRPr b="0" i="0" sz="1160" u="none" cap="none" strike="noStrike">
              <a:solidFill>
                <a:schemeClr val="dk1"/>
              </a:solidFill>
              <a:latin typeface="Calibri"/>
              <a:ea typeface="Calibri"/>
              <a:cs typeface="Calibri"/>
              <a:sym typeface="Calibri"/>
            </a:endParaRPr>
          </a:p>
        </p:txBody>
      </p:sp>
      <p:sp>
        <p:nvSpPr>
          <p:cNvPr id="497" name="Google Shape;497;p21"/>
          <p:cNvSpPr/>
          <p:nvPr/>
        </p:nvSpPr>
        <p:spPr>
          <a:xfrm>
            <a:off x="3566160" y="248716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Reach people who can evaluate or use it. Visibility is not evidence.</a:t>
            </a:r>
            <a:endParaRPr b="0" i="0" sz="1060" u="none" cap="none" strike="noStrike">
              <a:solidFill>
                <a:schemeClr val="dk1"/>
              </a:solidFill>
              <a:latin typeface="Calibri"/>
              <a:ea typeface="Calibri"/>
              <a:cs typeface="Calibri"/>
              <a:sym typeface="Calibri"/>
            </a:endParaRPr>
          </a:p>
        </p:txBody>
      </p:sp>
      <p:sp>
        <p:nvSpPr>
          <p:cNvPr id="498" name="Google Shape;498;p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21"/>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500" name="Google Shape;500;p21"/>
          <p:cNvSpPr/>
          <p:nvPr/>
        </p:nvSpPr>
        <p:spPr>
          <a:xfrm>
            <a:off x="987552" y="285292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Test portability</a:t>
            </a:r>
            <a:endParaRPr b="0" i="0" sz="1160" u="none" cap="none" strike="noStrike">
              <a:solidFill>
                <a:schemeClr val="dk1"/>
              </a:solidFill>
              <a:latin typeface="Calibri"/>
              <a:ea typeface="Calibri"/>
              <a:cs typeface="Calibri"/>
              <a:sym typeface="Calibri"/>
            </a:endParaRPr>
          </a:p>
        </p:txBody>
      </p:sp>
      <p:sp>
        <p:nvSpPr>
          <p:cNvPr id="501" name="Google Shape;501;p21"/>
          <p:cNvSpPr/>
          <p:nvPr/>
        </p:nvSpPr>
        <p:spPr>
          <a:xfrm>
            <a:off x="3566160" y="285292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Find out what travels before you need it to.</a:t>
            </a:r>
            <a:endParaRPr b="0" i="0" sz="1060" u="none" cap="none" strike="noStrike">
              <a:solidFill>
                <a:schemeClr val="dk1"/>
              </a:solidFill>
              <a:latin typeface="Calibri"/>
              <a:ea typeface="Calibri"/>
              <a:cs typeface="Calibri"/>
              <a:sym typeface="Calibri"/>
            </a:endParaRPr>
          </a:p>
        </p:txBody>
      </p:sp>
      <p:sp>
        <p:nvSpPr>
          <p:cNvPr id="502" name="Google Shape;502;p21"/>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3" name="Google Shape;503;p21"/>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504" name="Google Shape;504;p21"/>
          <p:cNvSpPr/>
          <p:nvPr/>
        </p:nvSpPr>
        <p:spPr>
          <a:xfrm>
            <a:off x="987552" y="321868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Repair formation conditions</a:t>
            </a:r>
            <a:endParaRPr b="0" i="0" sz="1160" u="none" cap="none" strike="noStrike">
              <a:solidFill>
                <a:schemeClr val="dk1"/>
              </a:solidFill>
              <a:latin typeface="Calibri"/>
              <a:ea typeface="Calibri"/>
              <a:cs typeface="Calibri"/>
              <a:sym typeface="Calibri"/>
            </a:endParaRPr>
          </a:p>
        </p:txBody>
      </p:sp>
      <p:sp>
        <p:nvSpPr>
          <p:cNvPr id="505" name="Google Shape;505;p21"/>
          <p:cNvSpPr/>
          <p:nvPr/>
        </p:nvSpPr>
        <p:spPr>
          <a:xfrm>
            <a:off x="3566160" y="321868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Test whether changing the work or conditions could repair the problem.</a:t>
            </a:r>
            <a:endParaRPr b="0" i="0" sz="1060" u="none" cap="none" strike="noStrike">
              <a:solidFill>
                <a:schemeClr val="dk1"/>
              </a:solidFill>
              <a:latin typeface="Calibri"/>
              <a:ea typeface="Calibri"/>
              <a:cs typeface="Calibri"/>
              <a:sym typeface="Calibri"/>
            </a:endParaRPr>
          </a:p>
        </p:txBody>
      </p:sp>
      <p:sp>
        <p:nvSpPr>
          <p:cNvPr id="506" name="Google Shape;506;p21"/>
          <p:cNvSpPr/>
          <p:nvPr/>
        </p:nvSpPr>
        <p:spPr>
          <a:xfrm>
            <a:off x="566928" y="36027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21"/>
          <p:cNvSpPr/>
          <p:nvPr/>
        </p:nvSpPr>
        <p:spPr>
          <a:xfrm>
            <a:off x="566928" y="36027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6</a:t>
            </a:r>
            <a:endParaRPr b="0" i="0" sz="950" u="none" cap="none" strike="noStrike">
              <a:solidFill>
                <a:schemeClr val="dk1"/>
              </a:solidFill>
              <a:latin typeface="Calibri"/>
              <a:ea typeface="Calibri"/>
              <a:cs typeface="Calibri"/>
              <a:sym typeface="Calibri"/>
            </a:endParaRPr>
          </a:p>
        </p:txBody>
      </p:sp>
      <p:sp>
        <p:nvSpPr>
          <p:cNvPr id="508" name="Google Shape;508;p21"/>
          <p:cNvSpPr/>
          <p:nvPr/>
        </p:nvSpPr>
        <p:spPr>
          <a:xfrm>
            <a:off x="987552" y="358444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Prepare for exit</a:t>
            </a:r>
            <a:endParaRPr b="0" i="0" sz="1160" u="none" cap="none" strike="noStrike">
              <a:solidFill>
                <a:schemeClr val="dk1"/>
              </a:solidFill>
              <a:latin typeface="Calibri"/>
              <a:ea typeface="Calibri"/>
              <a:cs typeface="Calibri"/>
              <a:sym typeface="Calibri"/>
            </a:endParaRPr>
          </a:p>
        </p:txBody>
      </p:sp>
      <p:sp>
        <p:nvSpPr>
          <p:cNvPr id="509" name="Google Shape;509;p21"/>
          <p:cNvSpPr/>
          <p:nvPr/>
        </p:nvSpPr>
        <p:spPr>
          <a:xfrm>
            <a:off x="3566160" y="358444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Your evidence gives you reason to prepare in case the conditions do not repair.</a:t>
            </a:r>
            <a:endParaRPr b="0" i="0" sz="1060" u="none" cap="none" strike="noStrike">
              <a:solidFill>
                <a:schemeClr val="dk1"/>
              </a:solidFill>
              <a:latin typeface="Calibri"/>
              <a:ea typeface="Calibri"/>
              <a:cs typeface="Calibri"/>
              <a:sym typeface="Calibri"/>
            </a:endParaRPr>
          </a:p>
        </p:txBody>
      </p:sp>
      <p:sp>
        <p:nvSpPr>
          <p:cNvPr id="510" name="Google Shape;510;p21"/>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21"/>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7</a:t>
            </a:r>
            <a:endParaRPr b="0" i="0" sz="950" u="none" cap="none" strike="noStrike">
              <a:solidFill>
                <a:schemeClr val="dk1"/>
              </a:solidFill>
              <a:latin typeface="Calibri"/>
              <a:ea typeface="Calibri"/>
              <a:cs typeface="Calibri"/>
              <a:sym typeface="Calibri"/>
            </a:endParaRPr>
          </a:p>
        </p:txBody>
      </p:sp>
      <p:sp>
        <p:nvSpPr>
          <p:cNvPr id="512" name="Google Shape;512;p21"/>
          <p:cNvSpPr/>
          <p:nvPr/>
        </p:nvSpPr>
        <p:spPr>
          <a:xfrm>
            <a:off x="987552" y="395020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Seek an external perspective</a:t>
            </a:r>
            <a:endParaRPr b="0" i="0" sz="1160" u="none" cap="none" strike="noStrike">
              <a:solidFill>
                <a:schemeClr val="dk1"/>
              </a:solidFill>
              <a:latin typeface="Calibri"/>
              <a:ea typeface="Calibri"/>
              <a:cs typeface="Calibri"/>
              <a:sym typeface="Calibri"/>
            </a:endParaRPr>
          </a:p>
        </p:txBody>
      </p:sp>
      <p:sp>
        <p:nvSpPr>
          <p:cNvPr id="513" name="Google Shape;513;p21"/>
          <p:cNvSpPr/>
          <p:nvPr/>
        </p:nvSpPr>
        <p:spPr>
          <a:xfrm>
            <a:off x="3566160" y="395020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High stakes, incomplete evidence, or a boundary position.</a:t>
            </a:r>
            <a:endParaRPr b="0" i="0" sz="1060" u="none" cap="none" strike="noStrike">
              <a:solidFill>
                <a:schemeClr val="dk1"/>
              </a:solidFill>
              <a:latin typeface="Calibri"/>
              <a:ea typeface="Calibri"/>
              <a:cs typeface="Calibri"/>
              <a:sym typeface="Calibri"/>
            </a:endParaRPr>
          </a:p>
        </p:txBody>
      </p:sp>
      <p:sp>
        <p:nvSpPr>
          <p:cNvPr id="514" name="Google Shape;514;p2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No square prescribes a category. Your evidence and constraints still apply.</a:t>
            </a:r>
            <a:endParaRPr b="0" i="0" sz="1100" u="none" cap="none" strike="noStrike">
              <a:solidFill>
                <a:schemeClr val="dk1"/>
              </a:solidFill>
              <a:latin typeface="Calibri"/>
              <a:ea typeface="Calibri"/>
              <a:cs typeface="Calibri"/>
              <a:sym typeface="Calibri"/>
            </a:endParaRPr>
          </a:p>
        </p:txBody>
      </p:sp>
      <p:sp>
        <p:nvSpPr>
          <p:cNvPr id="515" name="Google Shape;515;p2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16" name="Google Shape;516;p2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ARTIFACT</a:t>
            </a:r>
            <a:endParaRPr b="0" i="0" sz="950" u="none" cap="none" strike="noStrike">
              <a:solidFill>
                <a:schemeClr val="dk1"/>
              </a:solidFill>
              <a:latin typeface="Calibri"/>
              <a:ea typeface="Calibri"/>
              <a:cs typeface="Calibri"/>
              <a:sym typeface="Calibri"/>
            </a:endParaRPr>
          </a:p>
        </p:txBody>
      </p:sp>
      <p:sp>
        <p:nvSpPr>
          <p:cNvPr id="523" name="Google Shape;523;p22"/>
          <p:cNvSpPr/>
          <p:nvPr/>
        </p:nvSpPr>
        <p:spPr>
          <a:xfrm>
            <a:off x="566928" y="603504"/>
            <a:ext cx="8010144" cy="585216"/>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3200" u="none" cap="none" strike="noStrike">
                <a:solidFill>
                  <a:srgbClr val="0F2347"/>
                </a:solidFill>
                <a:latin typeface="Cormorant Garamond"/>
                <a:ea typeface="Cormorant Garamond"/>
                <a:cs typeface="Cormorant Garamond"/>
                <a:sym typeface="Cormorant Garamond"/>
              </a:rPr>
              <a:t>The Next-Move Note</a:t>
            </a:r>
            <a:endParaRPr b="0" i="0" sz="3200" u="none" cap="none" strike="noStrike">
              <a:solidFill>
                <a:schemeClr val="dk1"/>
              </a:solidFill>
              <a:latin typeface="Calibri"/>
              <a:ea typeface="Calibri"/>
              <a:cs typeface="Calibri"/>
              <a:sym typeface="Calibri"/>
            </a:endParaRPr>
          </a:p>
        </p:txBody>
      </p:sp>
      <p:sp>
        <p:nvSpPr>
          <p:cNvPr id="524" name="Google Shape;524;p22"/>
          <p:cNvSpPr/>
          <p:nvPr/>
        </p:nvSpPr>
        <p:spPr>
          <a:xfrm>
            <a:off x="566928" y="1207008"/>
            <a:ext cx="80101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Three lines. Yours, private, and enough to act on.</a:t>
            </a:r>
            <a:endParaRPr b="0" i="0" sz="1150" u="none" cap="none" strike="noStrike">
              <a:solidFill>
                <a:schemeClr val="dk1"/>
              </a:solidFill>
              <a:latin typeface="Calibri"/>
              <a:ea typeface="Calibri"/>
              <a:cs typeface="Calibri"/>
              <a:sym typeface="Calibri"/>
            </a:endParaRPr>
          </a:p>
        </p:txBody>
      </p:sp>
      <p:sp>
        <p:nvSpPr>
          <p:cNvPr id="525" name="Google Shape;525;p22"/>
          <p:cNvSpPr/>
          <p:nvPr/>
        </p:nvSpPr>
        <p:spPr>
          <a:xfrm>
            <a:off x="566928" y="1847088"/>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22"/>
          <p:cNvSpPr/>
          <p:nvPr/>
        </p:nvSpPr>
        <p:spPr>
          <a:xfrm>
            <a:off x="566928" y="1847088"/>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p22"/>
          <p:cNvSpPr/>
          <p:nvPr/>
        </p:nvSpPr>
        <p:spPr>
          <a:xfrm>
            <a:off x="786384" y="1920240"/>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MY CURRENT READ</a:t>
            </a:r>
            <a:endParaRPr b="0" i="0" sz="820" u="none" cap="none" strike="noStrike">
              <a:solidFill>
                <a:schemeClr val="dk1"/>
              </a:solidFill>
              <a:latin typeface="Calibri"/>
              <a:ea typeface="Calibri"/>
              <a:cs typeface="Calibri"/>
              <a:sym typeface="Calibri"/>
            </a:endParaRPr>
          </a:p>
        </p:txBody>
      </p:sp>
      <p:sp>
        <p:nvSpPr>
          <p:cNvPr id="528" name="Google Shape;528;p22"/>
          <p:cNvSpPr/>
          <p:nvPr/>
        </p:nvSpPr>
        <p:spPr>
          <a:xfrm>
            <a:off x="786384" y="2121408"/>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My position appears to be:</a:t>
            </a:r>
            <a:endParaRPr b="0" i="0" sz="1140" u="none" cap="none" strike="noStrike">
              <a:solidFill>
                <a:schemeClr val="dk1"/>
              </a:solidFill>
              <a:latin typeface="Calibri"/>
              <a:ea typeface="Calibri"/>
              <a:cs typeface="Calibri"/>
              <a:sym typeface="Calibri"/>
            </a:endParaRPr>
          </a:p>
        </p:txBody>
      </p:sp>
      <p:sp>
        <p:nvSpPr>
          <p:cNvPr id="529" name="Google Shape;529;p22"/>
          <p:cNvSpPr/>
          <p:nvPr/>
        </p:nvSpPr>
        <p:spPr>
          <a:xfrm>
            <a:off x="786384" y="2322576"/>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State  /  boundary  /  incomplete</a:t>
            </a:r>
            <a:endParaRPr b="0" i="0" sz="880" u="none" cap="none" strike="noStrike">
              <a:solidFill>
                <a:schemeClr val="dk1"/>
              </a:solidFill>
              <a:latin typeface="Calibri"/>
              <a:ea typeface="Calibri"/>
              <a:cs typeface="Calibri"/>
              <a:sym typeface="Calibri"/>
            </a:endParaRPr>
          </a:p>
        </p:txBody>
      </p:sp>
      <p:sp>
        <p:nvSpPr>
          <p:cNvPr id="530" name="Google Shape;530;p22"/>
          <p:cNvSpPr/>
          <p:nvPr/>
        </p:nvSpPr>
        <p:spPr>
          <a:xfrm>
            <a:off x="5577840" y="2121408"/>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31" name="Google Shape;531;p22"/>
          <p:cNvSpPr/>
          <p:nvPr/>
        </p:nvSpPr>
        <p:spPr>
          <a:xfrm>
            <a:off x="566928" y="259689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22"/>
          <p:cNvSpPr/>
          <p:nvPr/>
        </p:nvSpPr>
        <p:spPr>
          <a:xfrm>
            <a:off x="566928" y="2596896"/>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2"/>
          <p:cNvSpPr/>
          <p:nvPr/>
        </p:nvSpPr>
        <p:spPr>
          <a:xfrm>
            <a:off x="786384" y="2670048"/>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WHAT I NEED TO TEST</a:t>
            </a:r>
            <a:endParaRPr b="0" i="0" sz="820" u="none" cap="none" strike="noStrike">
              <a:solidFill>
                <a:schemeClr val="dk1"/>
              </a:solidFill>
              <a:latin typeface="Calibri"/>
              <a:ea typeface="Calibri"/>
              <a:cs typeface="Calibri"/>
              <a:sym typeface="Calibri"/>
            </a:endParaRPr>
          </a:p>
        </p:txBody>
      </p:sp>
      <p:sp>
        <p:nvSpPr>
          <p:cNvPr id="534" name="Google Shape;534;p22"/>
          <p:cNvSpPr/>
          <p:nvPr/>
        </p:nvSpPr>
        <p:spPr>
          <a:xfrm>
            <a:off x="786384" y="2871216"/>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category of move my evidence supports testing is:</a:t>
            </a:r>
            <a:endParaRPr b="0" i="0" sz="1140" u="none" cap="none" strike="noStrike">
              <a:solidFill>
                <a:schemeClr val="dk1"/>
              </a:solidFill>
              <a:latin typeface="Calibri"/>
              <a:ea typeface="Calibri"/>
              <a:cs typeface="Calibri"/>
              <a:sym typeface="Calibri"/>
            </a:endParaRPr>
          </a:p>
        </p:txBody>
      </p:sp>
      <p:sp>
        <p:nvSpPr>
          <p:cNvPr id="535" name="Google Shape;535;p22"/>
          <p:cNvSpPr/>
          <p:nvPr/>
        </p:nvSpPr>
        <p:spPr>
          <a:xfrm>
            <a:off x="786384" y="3072384"/>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One of the seven categories.</a:t>
            </a:r>
            <a:endParaRPr b="0" i="0" sz="880" u="none" cap="none" strike="noStrike">
              <a:solidFill>
                <a:schemeClr val="dk1"/>
              </a:solidFill>
              <a:latin typeface="Calibri"/>
              <a:ea typeface="Calibri"/>
              <a:cs typeface="Calibri"/>
              <a:sym typeface="Calibri"/>
            </a:endParaRPr>
          </a:p>
        </p:txBody>
      </p:sp>
      <p:sp>
        <p:nvSpPr>
          <p:cNvPr id="536" name="Google Shape;536;p22"/>
          <p:cNvSpPr/>
          <p:nvPr/>
        </p:nvSpPr>
        <p:spPr>
          <a:xfrm>
            <a:off x="5577840" y="2871216"/>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37" name="Google Shape;537;p22"/>
          <p:cNvSpPr/>
          <p:nvPr/>
        </p:nvSpPr>
        <p:spPr>
          <a:xfrm>
            <a:off x="566928" y="3346704"/>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22"/>
          <p:cNvSpPr/>
          <p:nvPr/>
        </p:nvSpPr>
        <p:spPr>
          <a:xfrm>
            <a:off x="566928" y="3346704"/>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9" name="Google Shape;539;p22"/>
          <p:cNvSpPr/>
          <p:nvPr/>
        </p:nvSpPr>
        <p:spPr>
          <a:xfrm>
            <a:off x="786384" y="3419856"/>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WHAT HAPPENS NEXT</a:t>
            </a:r>
            <a:endParaRPr b="0" i="0" sz="820" u="none" cap="none" strike="noStrike">
              <a:solidFill>
                <a:schemeClr val="dk1"/>
              </a:solidFill>
              <a:latin typeface="Calibri"/>
              <a:ea typeface="Calibri"/>
              <a:cs typeface="Calibri"/>
              <a:sym typeface="Calibri"/>
            </a:endParaRPr>
          </a:p>
        </p:txBody>
      </p:sp>
      <p:sp>
        <p:nvSpPr>
          <p:cNvPr id="540" name="Google Shape;540;p22"/>
          <p:cNvSpPr/>
          <p:nvPr/>
        </p:nvSpPr>
        <p:spPr>
          <a:xfrm>
            <a:off x="786384" y="3621024"/>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next action, conversation or piece of evidence is:</a:t>
            </a:r>
            <a:endParaRPr b="0" i="0" sz="1140" u="none" cap="none" strike="noStrike">
              <a:solidFill>
                <a:schemeClr val="dk1"/>
              </a:solidFill>
              <a:latin typeface="Calibri"/>
              <a:ea typeface="Calibri"/>
              <a:cs typeface="Calibri"/>
              <a:sym typeface="Calibri"/>
            </a:endParaRPr>
          </a:p>
        </p:txBody>
      </p:sp>
      <p:sp>
        <p:nvSpPr>
          <p:cNvPr id="541" name="Google Shape;541;p22"/>
          <p:cNvSpPr/>
          <p:nvPr/>
        </p:nvSpPr>
        <p:spPr>
          <a:xfrm>
            <a:off x="786384" y="3822192"/>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One thing. Something you could begin this month.</a:t>
            </a:r>
            <a:endParaRPr b="0" i="0" sz="880" u="none" cap="none" strike="noStrike">
              <a:solidFill>
                <a:schemeClr val="dk1"/>
              </a:solidFill>
              <a:latin typeface="Calibri"/>
              <a:ea typeface="Calibri"/>
              <a:cs typeface="Calibri"/>
              <a:sym typeface="Calibri"/>
            </a:endParaRPr>
          </a:p>
        </p:txBody>
      </p:sp>
      <p:sp>
        <p:nvSpPr>
          <p:cNvPr id="542" name="Google Shape;542;p22"/>
          <p:cNvSpPr/>
          <p:nvPr/>
        </p:nvSpPr>
        <p:spPr>
          <a:xfrm>
            <a:off x="5577840" y="3621024"/>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43" name="Google Shape;543;p22"/>
          <p:cNvSpPr/>
          <p:nvPr/>
        </p:nvSpPr>
        <p:spPr>
          <a:xfrm>
            <a:off x="566928" y="4151376"/>
            <a:ext cx="8010144"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22"/>
          <p:cNvSpPr/>
          <p:nvPr/>
        </p:nvSpPr>
        <p:spPr>
          <a:xfrm>
            <a:off x="804672" y="4151376"/>
            <a:ext cx="75346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550"/>
              <a:buFont typeface="Cormorant Garamond"/>
              <a:buNone/>
            </a:pPr>
            <a:r>
              <a:rPr b="1" i="0" lang="en-US" sz="1550" u="none" cap="none" strike="noStrike">
                <a:solidFill>
                  <a:srgbClr val="F5F0E8"/>
                </a:solidFill>
                <a:latin typeface="Cormorant Garamond"/>
                <a:ea typeface="Cormorant Garamond"/>
                <a:cs typeface="Cormorant Garamond"/>
                <a:sym typeface="Cormorant Garamond"/>
              </a:rPr>
              <a:t>This is a note, not a decision. It records what your evidence supports testing next.</a:t>
            </a:r>
            <a:endParaRPr b="0" i="0" sz="1550" u="none" cap="none" strike="noStrike">
              <a:solidFill>
                <a:schemeClr val="dk1"/>
              </a:solidFill>
              <a:latin typeface="Calibri"/>
              <a:ea typeface="Calibri"/>
              <a:cs typeface="Calibri"/>
              <a:sym typeface="Calibri"/>
            </a:endParaRPr>
          </a:p>
        </p:txBody>
      </p:sp>
      <p:sp>
        <p:nvSpPr>
          <p:cNvPr id="545" name="Google Shape;545;p2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46" name="Google Shape;546;p2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23</a:t>
            </a:r>
            <a:endParaRPr b="0" i="0" sz="700" u="none" cap="none" strike="noStrike">
              <a:solidFill>
                <a:schemeClr val="dk1"/>
              </a:solidFill>
              <a:latin typeface="Calibri"/>
              <a:ea typeface="Calibri"/>
              <a:cs typeface="Calibri"/>
              <a:sym typeface="Calibri"/>
            </a:endParaRPr>
          </a:p>
        </p:txBody>
      </p:sp>
      <p:sp>
        <p:nvSpPr>
          <p:cNvPr id="547" name="Google Shape;547;p22"/>
          <p:cNvSpPr/>
          <p:nvPr/>
        </p:nvSpPr>
        <p:spPr>
          <a:xfrm>
            <a:off x="566928" y="1481328"/>
            <a:ext cx="8010144" cy="27432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22"/>
          <p:cNvSpPr/>
          <p:nvPr/>
        </p:nvSpPr>
        <p:spPr>
          <a:xfrm>
            <a:off x="566928" y="1481328"/>
            <a:ext cx="36576" cy="27432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2"/>
          <p:cNvSpPr/>
          <p:nvPr/>
        </p:nvSpPr>
        <p:spPr>
          <a:xfrm>
            <a:off x="786384" y="1517904"/>
            <a:ext cx="7571231"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What travels?      What does not?      What can I prove?      What must I relearn?</a:t>
            </a:r>
            <a:endParaRPr b="0" i="0" sz="114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4" name="Shape 554"/>
        <p:cNvGrpSpPr/>
        <p:nvPr/>
      </p:nvGrpSpPr>
      <p:grpSpPr>
        <a:xfrm>
          <a:off x="0" y="0"/>
          <a:ext cx="0" cy="0"/>
          <a:chOff x="0" y="0"/>
          <a:chExt cx="0" cy="0"/>
        </a:xfrm>
      </p:grpSpPr>
      <p:sp>
        <p:nvSpPr>
          <p:cNvPr id="555" name="Google Shape;555;p2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WHERE TO GO FROM HERE</a:t>
            </a:r>
            <a:endParaRPr b="0" i="0" sz="950" u="none" cap="none" strike="noStrike">
              <a:solidFill>
                <a:schemeClr val="dk1"/>
              </a:solidFill>
              <a:latin typeface="Calibri"/>
              <a:ea typeface="Calibri"/>
              <a:cs typeface="Calibri"/>
              <a:sym typeface="Calibri"/>
            </a:endParaRPr>
          </a:p>
        </p:txBody>
      </p:sp>
      <p:sp>
        <p:nvSpPr>
          <p:cNvPr id="556" name="Google Shape;556;p2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i="0" lang="en-US" sz="2700" u="none" cap="none" strike="noStrike">
                <a:solidFill>
                  <a:srgbClr val="0F2347"/>
                </a:solidFill>
                <a:latin typeface="Cormorant Garamond"/>
                <a:ea typeface="Cormorant Garamond"/>
                <a:cs typeface="Cormorant Garamond"/>
                <a:sym typeface="Cormorant Garamond"/>
              </a:rPr>
              <a:t>Choose How You Want to Continue the Read</a:t>
            </a:r>
            <a:endParaRPr b="0" i="0" sz="2700" u="none" cap="none" strike="noStrike">
              <a:solidFill>
                <a:schemeClr val="dk1"/>
              </a:solidFill>
              <a:latin typeface="Calibri"/>
              <a:ea typeface="Calibri"/>
              <a:cs typeface="Calibri"/>
              <a:sym typeface="Calibri"/>
            </a:endParaRPr>
          </a:p>
        </p:txBody>
      </p:sp>
      <p:sp>
        <p:nvSpPr>
          <p:cNvPr id="557" name="Google Shape;557;p2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Your read is complete. What you need next depends on what is still unresolved.</a:t>
            </a:r>
            <a:endParaRPr b="0" i="0" sz="1150" u="none" cap="none" strike="noStrike">
              <a:solidFill>
                <a:schemeClr val="dk1"/>
              </a:solidFill>
              <a:latin typeface="Calibri"/>
              <a:ea typeface="Calibri"/>
              <a:cs typeface="Calibri"/>
              <a:sym typeface="Calibri"/>
            </a:endParaRPr>
          </a:p>
        </p:txBody>
      </p:sp>
      <p:sp>
        <p:nvSpPr>
          <p:cNvPr id="558" name="Google Shape;558;p23"/>
          <p:cNvSpPr/>
          <p:nvPr/>
        </p:nvSpPr>
        <p:spPr>
          <a:xfrm>
            <a:off x="566928" y="2011680"/>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9" name="Google Shape;559;p23"/>
          <p:cNvSpPr/>
          <p:nvPr/>
        </p:nvSpPr>
        <p:spPr>
          <a:xfrm>
            <a:off x="749808" y="215798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0" name="Google Shape;560;p23"/>
          <p:cNvSpPr/>
          <p:nvPr/>
        </p:nvSpPr>
        <p:spPr>
          <a:xfrm>
            <a:off x="749808" y="215798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561" name="Google Shape;561;p23"/>
          <p:cNvSpPr/>
          <p:nvPr/>
        </p:nvSpPr>
        <p:spPr>
          <a:xfrm>
            <a:off x="1188720" y="2084832"/>
            <a:ext cx="71871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50"/>
              <a:buFont typeface="DM Sans"/>
              <a:buNone/>
            </a:pPr>
            <a:r>
              <a:rPr b="1" i="0" lang="en-US" sz="1550" u="none" cap="none" strike="noStrike">
                <a:solidFill>
                  <a:srgbClr val="0F2347"/>
                </a:solidFill>
                <a:latin typeface="DM Sans"/>
                <a:ea typeface="DM Sans"/>
                <a:cs typeface="DM Sans"/>
                <a:sym typeface="DM Sans"/>
              </a:rPr>
              <a:t>I have enough for now.</a:t>
            </a:r>
            <a:endParaRPr b="0" i="0" sz="1550" u="none" cap="none" strike="noStrike">
              <a:solidFill>
                <a:schemeClr val="dk1"/>
              </a:solidFill>
              <a:latin typeface="Calibri"/>
              <a:ea typeface="Calibri"/>
              <a:cs typeface="Calibri"/>
              <a:sym typeface="Calibri"/>
            </a:endParaRPr>
          </a:p>
        </p:txBody>
      </p:sp>
      <p:sp>
        <p:nvSpPr>
          <p:cNvPr id="562" name="Google Shape;562;p23"/>
          <p:cNvSpPr/>
          <p:nvPr/>
        </p:nvSpPr>
        <p:spPr>
          <a:xfrm>
            <a:off x="1188720" y="2322576"/>
            <a:ext cx="7187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20"/>
              <a:buFont typeface="DM Sans"/>
              <a:buNone/>
            </a:pPr>
            <a:r>
              <a:rPr b="1" i="0" lang="en-US" sz="1320" u="none" cap="none" strike="noStrike">
                <a:solidFill>
                  <a:srgbClr val="C1440E"/>
                </a:solidFill>
                <a:latin typeface="DM Sans"/>
                <a:ea typeface="DM Sans"/>
                <a:cs typeface="DM Sans"/>
                <a:sym typeface="DM Sans"/>
              </a:rPr>
              <a:t>Take your Next-Move Note and act on it.</a:t>
            </a:r>
            <a:endParaRPr b="1" i="0" sz="1320" u="none" cap="none" strike="noStrike">
              <a:solidFill>
                <a:srgbClr val="C1440E"/>
              </a:solidFill>
              <a:latin typeface="Calibri"/>
              <a:ea typeface="Calibri"/>
              <a:cs typeface="Calibri"/>
              <a:sym typeface="Calibri"/>
            </a:endParaRPr>
          </a:p>
        </p:txBody>
      </p:sp>
      <p:sp>
        <p:nvSpPr>
          <p:cNvPr id="563" name="Google Shape;563;p23"/>
          <p:cNvSpPr/>
          <p:nvPr/>
        </p:nvSpPr>
        <p:spPr>
          <a:xfrm>
            <a:off x="1188720" y="2532888"/>
            <a:ext cx="71871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00"/>
              <a:buFont typeface="DM Sans"/>
              <a:buNone/>
            </a:pPr>
            <a:r>
              <a:rPr b="1" i="0" lang="en-US" sz="1200" u="none" cap="none" strike="noStrike">
                <a:solidFill>
                  <a:srgbClr val="5A6B84"/>
                </a:solidFill>
                <a:latin typeface="DM Sans"/>
                <a:ea typeface="DM Sans"/>
                <a:cs typeface="DM Sans"/>
                <a:sym typeface="DM Sans"/>
              </a:rPr>
              <a:t>Nothing further is required. The session was built to be complete on its own.</a:t>
            </a:r>
            <a:endParaRPr b="1" i="0" sz="1200" u="none" cap="none" strike="noStrike">
              <a:solidFill>
                <a:srgbClr val="5A6B84"/>
              </a:solidFill>
              <a:latin typeface="Calibri"/>
              <a:ea typeface="Calibri"/>
              <a:cs typeface="Calibri"/>
              <a:sym typeface="Calibri"/>
            </a:endParaRPr>
          </a:p>
        </p:txBody>
      </p:sp>
      <p:sp>
        <p:nvSpPr>
          <p:cNvPr id="564" name="Google Shape;564;p23"/>
          <p:cNvSpPr/>
          <p:nvPr/>
        </p:nvSpPr>
        <p:spPr>
          <a:xfrm>
            <a:off x="566928" y="2871216"/>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5" name="Google Shape;565;p23"/>
          <p:cNvSpPr/>
          <p:nvPr/>
        </p:nvSpPr>
        <p:spPr>
          <a:xfrm>
            <a:off x="749808" y="30175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6" name="Google Shape;566;p23"/>
          <p:cNvSpPr/>
          <p:nvPr/>
        </p:nvSpPr>
        <p:spPr>
          <a:xfrm>
            <a:off x="749808" y="30175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567" name="Google Shape;567;p23"/>
          <p:cNvSpPr/>
          <p:nvPr/>
        </p:nvSpPr>
        <p:spPr>
          <a:xfrm>
            <a:off x="1188720" y="2944368"/>
            <a:ext cx="71871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50"/>
              <a:buFont typeface="DM Sans"/>
              <a:buNone/>
            </a:pPr>
            <a:r>
              <a:rPr b="1" i="0" lang="en-US" sz="1550" u="none" cap="none" strike="noStrike">
                <a:solidFill>
                  <a:srgbClr val="0F2347"/>
                </a:solidFill>
                <a:latin typeface="DM Sans"/>
                <a:ea typeface="DM Sans"/>
                <a:cs typeface="DM Sans"/>
                <a:sym typeface="DM Sans"/>
              </a:rPr>
              <a:t>I want to keep working privately.</a:t>
            </a:r>
            <a:endParaRPr b="0" i="0" sz="1550" u="none" cap="none" strike="noStrike">
              <a:solidFill>
                <a:schemeClr val="dk1"/>
              </a:solidFill>
              <a:latin typeface="Calibri"/>
              <a:ea typeface="Calibri"/>
              <a:cs typeface="Calibri"/>
              <a:sym typeface="Calibri"/>
            </a:endParaRPr>
          </a:p>
        </p:txBody>
      </p:sp>
      <p:sp>
        <p:nvSpPr>
          <p:cNvPr id="568" name="Google Shape;568;p23"/>
          <p:cNvSpPr/>
          <p:nvPr/>
        </p:nvSpPr>
        <p:spPr>
          <a:xfrm>
            <a:off x="1188720" y="3182112"/>
            <a:ext cx="7187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20"/>
              <a:buFont typeface="DM Sans"/>
              <a:buNone/>
            </a:pPr>
            <a:r>
              <a:rPr b="1" i="0" lang="en-US" sz="1320" u="none" cap="none" strike="noStrike">
                <a:solidFill>
                  <a:srgbClr val="C1440E"/>
                </a:solidFill>
                <a:latin typeface="DM Sans"/>
                <a:ea typeface="DM Sans"/>
                <a:cs typeface="DM Sans"/>
                <a:sym typeface="DM Sans"/>
              </a:rPr>
              <a:t>Continue with the Capability Formation Field Kit.</a:t>
            </a:r>
            <a:endParaRPr b="1" i="0" sz="1320" u="none" cap="none" strike="noStrike">
              <a:solidFill>
                <a:srgbClr val="C1440E"/>
              </a:solidFill>
              <a:latin typeface="Calibri"/>
              <a:ea typeface="Calibri"/>
              <a:cs typeface="Calibri"/>
              <a:sym typeface="Calibri"/>
            </a:endParaRPr>
          </a:p>
        </p:txBody>
      </p:sp>
      <p:sp>
        <p:nvSpPr>
          <p:cNvPr id="569" name="Google Shape;569;p23"/>
          <p:cNvSpPr/>
          <p:nvPr/>
        </p:nvSpPr>
        <p:spPr>
          <a:xfrm>
            <a:off x="1188720" y="3392424"/>
            <a:ext cx="71871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00"/>
              <a:buFont typeface="DM Sans"/>
              <a:buNone/>
            </a:pPr>
            <a:r>
              <a:rPr b="1" i="0" lang="en-US" sz="1200" u="none" cap="none" strike="noStrike">
                <a:solidFill>
                  <a:srgbClr val="5A6B84"/>
                </a:solidFill>
                <a:latin typeface="DM Sans"/>
                <a:ea typeface="DM Sans"/>
                <a:cs typeface="DM Sans"/>
                <a:sym typeface="DM Sans"/>
              </a:rPr>
              <a:t>You understand your reading and want a structured system you can return to on your own.</a:t>
            </a:r>
            <a:endParaRPr b="1" i="0" sz="1200" u="none" cap="none" strike="noStrike">
              <a:solidFill>
                <a:srgbClr val="5A6B84"/>
              </a:solidFill>
              <a:latin typeface="Calibri"/>
              <a:ea typeface="Calibri"/>
              <a:cs typeface="Calibri"/>
              <a:sym typeface="Calibri"/>
            </a:endParaRPr>
          </a:p>
        </p:txBody>
      </p:sp>
      <p:sp>
        <p:nvSpPr>
          <p:cNvPr id="570" name="Google Shape;570;p23"/>
          <p:cNvSpPr/>
          <p:nvPr/>
        </p:nvSpPr>
        <p:spPr>
          <a:xfrm>
            <a:off x="566928" y="3986784"/>
            <a:ext cx="80101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500"/>
              <a:buFont typeface="Cormorant Garamond"/>
              <a:buNone/>
            </a:pPr>
            <a:r>
              <a:rPr b="1" i="1" lang="en-US" sz="1800" u="none" cap="none" strike="noStrike">
                <a:solidFill>
                  <a:srgbClr val="0F2347"/>
                </a:solidFill>
                <a:latin typeface="Cormorant Garamond"/>
                <a:ea typeface="Cormorant Garamond"/>
                <a:cs typeface="Cormorant Garamond"/>
                <a:sym typeface="Cormorant Garamond"/>
              </a:rPr>
              <a:t>Different unresolved needs require different levels of support.</a:t>
            </a:r>
            <a:endParaRPr b="0" i="0" sz="1800" u="none" cap="none" strike="noStrike">
              <a:solidFill>
                <a:schemeClr val="dk1"/>
              </a:solidFill>
              <a:latin typeface="Calibri"/>
              <a:ea typeface="Calibri"/>
              <a:cs typeface="Calibri"/>
              <a:sym typeface="Calibri"/>
            </a:endParaRPr>
          </a:p>
        </p:txBody>
      </p:sp>
      <p:sp>
        <p:nvSpPr>
          <p:cNvPr id="571" name="Google Shape;571;p2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72" name="Google Shape;572;p2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7" name="Shape 577"/>
        <p:cNvGrpSpPr/>
        <p:nvPr/>
      </p:nvGrpSpPr>
      <p:grpSpPr>
        <a:xfrm>
          <a:off x="0" y="0"/>
          <a:ext cx="0" cy="0"/>
          <a:chOff x="0" y="0"/>
          <a:chExt cx="0" cy="0"/>
        </a:xfrm>
      </p:grpSpPr>
      <p:sp>
        <p:nvSpPr>
          <p:cNvPr id="578" name="Google Shape;578;g3fbe9e34838_0_94"/>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KEEP WORKING PRIVATELY</a:t>
            </a:r>
            <a:endParaRPr sz="950">
              <a:solidFill>
                <a:schemeClr val="dk1"/>
              </a:solidFill>
              <a:latin typeface="Calibri"/>
              <a:ea typeface="Calibri"/>
              <a:cs typeface="Calibri"/>
              <a:sym typeface="Calibri"/>
            </a:endParaRPr>
          </a:p>
        </p:txBody>
      </p:sp>
      <p:sp>
        <p:nvSpPr>
          <p:cNvPr id="579" name="Google Shape;579;g3fbe9e34838_0_94"/>
          <p:cNvSpPr/>
          <p:nvPr/>
        </p:nvSpPr>
        <p:spPr>
          <a:xfrm>
            <a:off x="566928" y="603504"/>
            <a:ext cx="8010000" cy="914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This session gives you a guided reading.</a:t>
            </a:r>
            <a:endParaRPr sz="205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The Field Kit gives you a system you can return to.</a:t>
            </a:r>
            <a:endParaRPr sz="2050">
              <a:solidFill>
                <a:schemeClr val="dk1"/>
              </a:solidFill>
              <a:latin typeface="Calibri"/>
              <a:ea typeface="Calibri"/>
              <a:cs typeface="Calibri"/>
              <a:sym typeface="Calibri"/>
            </a:endParaRPr>
          </a:p>
        </p:txBody>
      </p:sp>
      <p:sp>
        <p:nvSpPr>
          <p:cNvPr id="580" name="Google Shape;580;g3fbe9e34838_0_94"/>
          <p:cNvSpPr/>
          <p:nvPr/>
        </p:nvSpPr>
        <p:spPr>
          <a:xfrm>
            <a:off x="566928" y="1755648"/>
            <a:ext cx="3712500" cy="22860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g3fbe9e34838_0_94"/>
          <p:cNvSpPr/>
          <p:nvPr/>
        </p:nvSpPr>
        <p:spPr>
          <a:xfrm>
            <a:off x="804672" y="1901952"/>
            <a:ext cx="3200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1020">
                <a:solidFill>
                  <a:srgbClr val="5A6B84"/>
                </a:solidFill>
                <a:latin typeface="Montserrat"/>
                <a:ea typeface="Montserrat"/>
                <a:cs typeface="Montserrat"/>
                <a:sym typeface="Montserrat"/>
              </a:rPr>
              <a:t>TODAY'S GUIDED READ</a:t>
            </a:r>
            <a:endParaRPr sz="1020">
              <a:solidFill>
                <a:schemeClr val="dk1"/>
              </a:solidFill>
              <a:latin typeface="Calibri"/>
              <a:ea typeface="Calibri"/>
              <a:cs typeface="Calibri"/>
              <a:sym typeface="Calibri"/>
            </a:endParaRPr>
          </a:p>
        </p:txBody>
      </p:sp>
      <p:sp>
        <p:nvSpPr>
          <p:cNvPr id="582" name="Google Shape;582;g3fbe9e34838_0_94"/>
          <p:cNvSpPr/>
          <p:nvPr/>
        </p:nvSpPr>
        <p:spPr>
          <a:xfrm>
            <a:off x="804672" y="228600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g3fbe9e34838_0_94"/>
          <p:cNvSpPr/>
          <p:nvPr/>
        </p:nvSpPr>
        <p:spPr>
          <a:xfrm>
            <a:off x="987552" y="223113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An initial and evidence-based reading</a:t>
            </a:r>
            <a:endParaRPr sz="980">
              <a:solidFill>
                <a:schemeClr val="dk1"/>
              </a:solidFill>
              <a:latin typeface="Calibri"/>
              <a:ea typeface="Calibri"/>
              <a:cs typeface="Calibri"/>
              <a:sym typeface="Calibri"/>
            </a:endParaRPr>
          </a:p>
        </p:txBody>
      </p:sp>
      <p:sp>
        <p:nvSpPr>
          <p:cNvPr id="584" name="Google Shape;584;g3fbe9e34838_0_94"/>
          <p:cNvSpPr/>
          <p:nvPr/>
        </p:nvSpPr>
        <p:spPr>
          <a:xfrm>
            <a:off x="804672" y="256032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g3fbe9e34838_0_94"/>
          <p:cNvSpPr/>
          <p:nvPr/>
        </p:nvSpPr>
        <p:spPr>
          <a:xfrm>
            <a:off x="987552" y="250545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provisional position</a:t>
            </a:r>
            <a:endParaRPr sz="980">
              <a:solidFill>
                <a:schemeClr val="dk1"/>
              </a:solidFill>
              <a:latin typeface="Calibri"/>
              <a:ea typeface="Calibri"/>
              <a:cs typeface="Calibri"/>
              <a:sym typeface="Calibri"/>
            </a:endParaRPr>
          </a:p>
        </p:txBody>
      </p:sp>
      <p:sp>
        <p:nvSpPr>
          <p:cNvPr id="586" name="Google Shape;586;g3fbe9e34838_0_94"/>
          <p:cNvSpPr/>
          <p:nvPr/>
        </p:nvSpPr>
        <p:spPr>
          <a:xfrm>
            <a:off x="804672" y="283464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g3fbe9e34838_0_94"/>
          <p:cNvSpPr/>
          <p:nvPr/>
        </p:nvSpPr>
        <p:spPr>
          <a:xfrm>
            <a:off x="987552" y="277977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One move category to test</a:t>
            </a:r>
            <a:endParaRPr sz="980">
              <a:solidFill>
                <a:schemeClr val="dk1"/>
              </a:solidFill>
              <a:latin typeface="Calibri"/>
              <a:ea typeface="Calibri"/>
              <a:cs typeface="Calibri"/>
              <a:sym typeface="Calibri"/>
            </a:endParaRPr>
          </a:p>
        </p:txBody>
      </p:sp>
      <p:sp>
        <p:nvSpPr>
          <p:cNvPr id="588" name="Google Shape;588;g3fbe9e34838_0_94"/>
          <p:cNvSpPr/>
          <p:nvPr/>
        </p:nvSpPr>
        <p:spPr>
          <a:xfrm>
            <a:off x="804672" y="310896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g3fbe9e34838_0_94"/>
          <p:cNvSpPr/>
          <p:nvPr/>
        </p:nvSpPr>
        <p:spPr>
          <a:xfrm>
            <a:off x="987552" y="305409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written Next-Move Note</a:t>
            </a:r>
            <a:endParaRPr sz="980">
              <a:solidFill>
                <a:schemeClr val="dk1"/>
              </a:solidFill>
              <a:latin typeface="Calibri"/>
              <a:ea typeface="Calibri"/>
              <a:cs typeface="Calibri"/>
              <a:sym typeface="Calibri"/>
            </a:endParaRPr>
          </a:p>
        </p:txBody>
      </p:sp>
      <p:sp>
        <p:nvSpPr>
          <p:cNvPr id="590" name="Google Shape;590;g3fbe9e34838_0_94"/>
          <p:cNvSpPr/>
          <p:nvPr/>
        </p:nvSpPr>
        <p:spPr>
          <a:xfrm>
            <a:off x="804672" y="3602736"/>
            <a:ext cx="3200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60"/>
              <a:buFont typeface="DM Sans"/>
              <a:buNone/>
            </a:pPr>
            <a:r>
              <a:rPr i="1" lang="en-US" sz="960">
                <a:solidFill>
                  <a:srgbClr val="5A6B84"/>
                </a:solidFill>
                <a:latin typeface="DM Sans"/>
                <a:ea typeface="DM Sans"/>
                <a:cs typeface="DM Sans"/>
                <a:sym typeface="DM Sans"/>
              </a:rPr>
              <a:t>Complete on its own.</a:t>
            </a:r>
            <a:endParaRPr sz="960">
              <a:solidFill>
                <a:schemeClr val="dk1"/>
              </a:solidFill>
              <a:latin typeface="Calibri"/>
              <a:ea typeface="Calibri"/>
              <a:cs typeface="Calibri"/>
              <a:sym typeface="Calibri"/>
            </a:endParaRPr>
          </a:p>
        </p:txBody>
      </p:sp>
      <p:sp>
        <p:nvSpPr>
          <p:cNvPr id="591" name="Google Shape;591;g3fbe9e34838_0_94"/>
          <p:cNvSpPr/>
          <p:nvPr/>
        </p:nvSpPr>
        <p:spPr>
          <a:xfrm>
            <a:off x="4443984" y="1755648"/>
            <a:ext cx="4133100" cy="22860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g3fbe9e34838_0_94"/>
          <p:cNvSpPr/>
          <p:nvPr/>
        </p:nvSpPr>
        <p:spPr>
          <a:xfrm>
            <a:off x="4681728" y="1901952"/>
            <a:ext cx="31089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1020">
                <a:solidFill>
                  <a:srgbClr val="C9A84C"/>
                </a:solidFill>
                <a:latin typeface="Montserrat"/>
                <a:ea typeface="Montserrat"/>
                <a:cs typeface="Montserrat"/>
                <a:sym typeface="Montserrat"/>
              </a:rPr>
              <a:t>CAPABILITY FORMATION FIELD KIT</a:t>
            </a:r>
            <a:endParaRPr sz="1020">
              <a:solidFill>
                <a:schemeClr val="dk1"/>
              </a:solidFill>
              <a:latin typeface="Calibri"/>
              <a:ea typeface="Calibri"/>
              <a:cs typeface="Calibri"/>
              <a:sym typeface="Calibri"/>
            </a:endParaRPr>
          </a:p>
        </p:txBody>
      </p:sp>
      <p:sp>
        <p:nvSpPr>
          <p:cNvPr id="593" name="Google Shape;593;g3fbe9e34838_0_94"/>
          <p:cNvSpPr/>
          <p:nvPr/>
        </p:nvSpPr>
        <p:spPr>
          <a:xfrm>
            <a:off x="4681728" y="228600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g3fbe9e34838_0_94"/>
          <p:cNvSpPr/>
          <p:nvPr/>
        </p:nvSpPr>
        <p:spPr>
          <a:xfrm>
            <a:off x="4864608" y="223113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Fuller state-cost work</a:t>
            </a:r>
            <a:endParaRPr sz="980">
              <a:solidFill>
                <a:schemeClr val="dk1"/>
              </a:solidFill>
              <a:latin typeface="Calibri"/>
              <a:ea typeface="Calibri"/>
              <a:cs typeface="Calibri"/>
              <a:sym typeface="Calibri"/>
            </a:endParaRPr>
          </a:p>
        </p:txBody>
      </p:sp>
      <p:sp>
        <p:nvSpPr>
          <p:cNvPr id="595" name="Google Shape;595;g3fbe9e34838_0_94"/>
          <p:cNvSpPr/>
          <p:nvPr/>
        </p:nvSpPr>
        <p:spPr>
          <a:xfrm>
            <a:off x="4681728" y="256032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g3fbe9e34838_0_94"/>
          <p:cNvSpPr/>
          <p:nvPr/>
        </p:nvSpPr>
        <p:spPr>
          <a:xfrm>
            <a:off x="4864608" y="250545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repeatable private evidence process</a:t>
            </a:r>
            <a:endParaRPr sz="980">
              <a:solidFill>
                <a:schemeClr val="dk1"/>
              </a:solidFill>
              <a:latin typeface="Calibri"/>
              <a:ea typeface="Calibri"/>
              <a:cs typeface="Calibri"/>
              <a:sym typeface="Calibri"/>
            </a:endParaRPr>
          </a:p>
        </p:txBody>
      </p:sp>
      <p:sp>
        <p:nvSpPr>
          <p:cNvPr id="597" name="Google Shape;597;g3fbe9e34838_0_94"/>
          <p:cNvSpPr/>
          <p:nvPr/>
        </p:nvSpPr>
        <p:spPr>
          <a:xfrm>
            <a:off x="4681728" y="283464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g3fbe9e34838_0_94"/>
          <p:cNvSpPr/>
          <p:nvPr/>
        </p:nvSpPr>
        <p:spPr>
          <a:xfrm>
            <a:off x="4864608" y="277977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Structured rescoring as conditions change</a:t>
            </a:r>
            <a:endParaRPr sz="980">
              <a:solidFill>
                <a:schemeClr val="dk1"/>
              </a:solidFill>
              <a:latin typeface="Calibri"/>
              <a:ea typeface="Calibri"/>
              <a:cs typeface="Calibri"/>
              <a:sym typeface="Calibri"/>
            </a:endParaRPr>
          </a:p>
        </p:txBody>
      </p:sp>
      <p:sp>
        <p:nvSpPr>
          <p:cNvPr id="599" name="Google Shape;599;g3fbe9e34838_0_94"/>
          <p:cNvSpPr/>
          <p:nvPr/>
        </p:nvSpPr>
        <p:spPr>
          <a:xfrm>
            <a:off x="4681728" y="310896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g3fbe9e34838_0_94"/>
          <p:cNvSpPr/>
          <p:nvPr/>
        </p:nvSpPr>
        <p:spPr>
          <a:xfrm>
            <a:off x="4864608" y="305409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system you own and return to</a:t>
            </a:r>
            <a:endParaRPr sz="980">
              <a:solidFill>
                <a:schemeClr val="dk1"/>
              </a:solidFill>
              <a:latin typeface="Calibri"/>
              <a:ea typeface="Calibri"/>
              <a:cs typeface="Calibri"/>
              <a:sym typeface="Calibri"/>
            </a:endParaRPr>
          </a:p>
        </p:txBody>
      </p:sp>
      <p:pic>
        <p:nvPicPr>
          <p:cNvPr descr="preencoded.png" id="601" name="Google Shape;601;g3fbe9e34838_0_94"/>
          <p:cNvPicPr preferRelativeResize="0"/>
          <p:nvPr/>
        </p:nvPicPr>
        <p:blipFill rotWithShape="1">
          <a:blip r:embed="rId3">
            <a:alphaModFix/>
          </a:blip>
          <a:srcRect b="0" l="0" r="0" t="0"/>
          <a:stretch/>
        </p:blipFill>
        <p:spPr>
          <a:xfrm>
            <a:off x="7827264" y="1883664"/>
            <a:ext cx="658367" cy="852222"/>
          </a:xfrm>
          <a:prstGeom prst="rect">
            <a:avLst/>
          </a:prstGeom>
          <a:noFill/>
          <a:ln>
            <a:noFill/>
          </a:ln>
        </p:spPr>
      </p:pic>
      <p:pic>
        <p:nvPicPr>
          <p:cNvPr descr="preencoded.png" id="602" name="Google Shape;602;g3fbe9e34838_0_94">
            <a:hlinkClick r:id="rId4"/>
          </p:cNvPr>
          <p:cNvPicPr preferRelativeResize="0"/>
          <p:nvPr/>
        </p:nvPicPr>
        <p:blipFill rotWithShape="1">
          <a:blip r:embed="rId5">
            <a:alphaModFix/>
          </a:blip>
          <a:srcRect b="0" l="0" r="0" t="0"/>
          <a:stretch/>
        </p:blipFill>
        <p:spPr>
          <a:xfrm>
            <a:off x="7818120" y="3035808"/>
            <a:ext cx="676656" cy="676656"/>
          </a:xfrm>
          <a:prstGeom prst="rect">
            <a:avLst/>
          </a:prstGeom>
          <a:noFill/>
          <a:ln>
            <a:noFill/>
          </a:ln>
        </p:spPr>
      </p:pic>
      <p:sp>
        <p:nvSpPr>
          <p:cNvPr id="603" name="Google Shape;603;g3fbe9e34838_0_94">
            <a:hlinkClick r:id="rId6"/>
          </p:cNvPr>
          <p:cNvSpPr/>
          <p:nvPr/>
        </p:nvSpPr>
        <p:spPr>
          <a:xfrm>
            <a:off x="4681728" y="3364992"/>
            <a:ext cx="274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50"/>
              <a:buFont typeface="Montserrat"/>
              <a:buNone/>
            </a:pPr>
            <a:r>
              <a:rPr b="1" lang="en-US" sz="1050" u="sng">
                <a:solidFill>
                  <a:srgbClr val="C9A84C"/>
                </a:solidFill>
                <a:latin typeface="Montserrat"/>
                <a:ea typeface="Montserrat"/>
                <a:cs typeface="Montserrat"/>
                <a:sym typeface="Montserrat"/>
                <a:hlinkClick r:id="rId7">
                  <a:extLst>
                    <a:ext uri="{A12FA001-AC4F-418D-AE19-62706E023703}">
                      <ahyp:hlinkClr val="tx"/>
                    </a:ext>
                  </a:extLst>
                </a:hlinkClick>
              </a:rPr>
              <a:t>EXPLORE THE FIELD KIT</a:t>
            </a:r>
            <a:endParaRPr sz="1050">
              <a:solidFill>
                <a:schemeClr val="dk1"/>
              </a:solidFill>
              <a:latin typeface="Calibri"/>
              <a:ea typeface="Calibri"/>
              <a:cs typeface="Calibri"/>
              <a:sym typeface="Calibri"/>
            </a:endParaRPr>
          </a:p>
        </p:txBody>
      </p:sp>
      <p:sp>
        <p:nvSpPr>
          <p:cNvPr id="604" name="Google Shape;604;g3fbe9e34838_0_94">
            <a:hlinkClick r:id="rId8"/>
          </p:cNvPr>
          <p:cNvSpPr/>
          <p:nvPr/>
        </p:nvSpPr>
        <p:spPr>
          <a:xfrm>
            <a:off x="4681728" y="3639312"/>
            <a:ext cx="274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lang="en-US" sz="1100" u="sng">
                <a:solidFill>
                  <a:srgbClr val="F5F0E8"/>
                </a:solidFill>
                <a:latin typeface="DM Sans"/>
                <a:ea typeface="DM Sans"/>
                <a:cs typeface="DM Sans"/>
                <a:sym typeface="DM Sans"/>
                <a:hlinkClick r:id="rId9">
                  <a:extLst>
                    <a:ext uri="{A12FA001-AC4F-418D-AE19-62706E023703}">
                      <ahyp:hlinkClr val="tx"/>
                    </a:ext>
                  </a:extLst>
                </a:hlinkClick>
              </a:rPr>
              <a:t>temidayoafonja.com/fieldkit</a:t>
            </a:r>
            <a:endParaRPr sz="1100">
              <a:solidFill>
                <a:schemeClr val="dk1"/>
              </a:solidFill>
              <a:latin typeface="Calibri"/>
              <a:ea typeface="Calibri"/>
              <a:cs typeface="Calibri"/>
              <a:sym typeface="Calibri"/>
            </a:endParaRPr>
          </a:p>
        </p:txBody>
      </p:sp>
      <p:sp>
        <p:nvSpPr>
          <p:cNvPr id="605" name="Google Shape;605;g3fbe9e34838_0_94"/>
          <p:cNvSpPr/>
          <p:nvPr/>
        </p:nvSpPr>
        <p:spPr>
          <a:xfrm>
            <a:off x="566928" y="4187952"/>
            <a:ext cx="8010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Use the Field Kit when you want to keep reading the position without needing another live session.</a:t>
            </a:r>
            <a:endParaRPr sz="1100">
              <a:solidFill>
                <a:schemeClr val="dk1"/>
              </a:solidFill>
              <a:latin typeface="Calibri"/>
              <a:ea typeface="Calibri"/>
              <a:cs typeface="Calibri"/>
              <a:sym typeface="Calibri"/>
            </a:endParaRPr>
          </a:p>
        </p:txBody>
      </p:sp>
      <p:sp>
        <p:nvSpPr>
          <p:cNvPr id="606" name="Google Shape;606;g3fbe9e34838_0_94"/>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07" name="Google Shape;607;g3fbe9e34838_0_94"/>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25</a:t>
            </a:r>
            <a:endParaRPr sz="7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612" name="Shape 612"/>
        <p:cNvGrpSpPr/>
        <p:nvPr/>
      </p:nvGrpSpPr>
      <p:grpSpPr>
        <a:xfrm>
          <a:off x="0" y="0"/>
          <a:ext cx="0" cy="0"/>
          <a:chOff x="0" y="0"/>
          <a:chExt cx="0" cy="0"/>
        </a:xfrm>
      </p:grpSpPr>
      <p:sp>
        <p:nvSpPr>
          <p:cNvPr id="613" name="Google Shape;613;g3fbe9e34838_0_128"/>
          <p:cNvSpPr/>
          <p:nvPr/>
        </p:nvSpPr>
        <p:spPr>
          <a:xfrm>
            <a:off x="566928" y="822960"/>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BEFORE YOU GO</a:t>
            </a:r>
            <a:endParaRPr sz="900">
              <a:solidFill>
                <a:schemeClr val="dk1"/>
              </a:solidFill>
              <a:latin typeface="Calibri"/>
              <a:ea typeface="Calibri"/>
              <a:cs typeface="Calibri"/>
              <a:sym typeface="Calibri"/>
            </a:endParaRPr>
          </a:p>
        </p:txBody>
      </p:sp>
      <p:sp>
        <p:nvSpPr>
          <p:cNvPr id="614" name="Google Shape;614;g3fbe9e34838_0_128"/>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came in asking stay or leave.</a:t>
            </a:r>
            <a:endParaRPr sz="3100">
              <a:solidFill>
                <a:schemeClr val="dk1"/>
              </a:solidFill>
              <a:latin typeface="Calibri"/>
              <a:ea typeface="Calibri"/>
              <a:cs typeface="Calibri"/>
              <a:sym typeface="Calibri"/>
            </a:endParaRPr>
          </a:p>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leave with a clearer read.</a:t>
            </a:r>
            <a:endParaRPr sz="3100">
              <a:solidFill>
                <a:schemeClr val="dk1"/>
              </a:solidFill>
              <a:latin typeface="Calibri"/>
              <a:ea typeface="Calibri"/>
              <a:cs typeface="Calibri"/>
              <a:sym typeface="Calibri"/>
            </a:endParaRPr>
          </a:p>
        </p:txBody>
      </p:sp>
      <p:sp>
        <p:nvSpPr>
          <p:cNvPr id="615" name="Google Shape;615;g3fbe9e34838_0_128"/>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g3fbe9e34838_0_128"/>
          <p:cNvSpPr/>
          <p:nvPr/>
        </p:nvSpPr>
        <p:spPr>
          <a:xfrm>
            <a:off x="566925" y="2761500"/>
            <a:ext cx="8010000" cy="161790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8C5D9"/>
              </a:buClr>
              <a:buSzPts val="1300"/>
              <a:buFont typeface="DM Sans"/>
              <a:buNone/>
            </a:pPr>
            <a:r>
              <a:rPr lang="en-US" sz="1500">
                <a:solidFill>
                  <a:srgbClr val="B8C5D9"/>
                </a:solidFill>
                <a:latin typeface="DM Sans"/>
                <a:ea typeface="DM Sans"/>
                <a:cs typeface="DM Sans"/>
                <a:sym typeface="DM Sans"/>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sz="1500">
              <a:solidFill>
                <a:schemeClr val="dk1"/>
              </a:solidFill>
              <a:latin typeface="Calibri"/>
              <a:ea typeface="Calibri"/>
              <a:cs typeface="Calibri"/>
              <a:sym typeface="Calibri"/>
            </a:endParaRPr>
          </a:p>
        </p:txBody>
      </p:sp>
      <p:sp>
        <p:nvSpPr>
          <p:cNvPr id="617" name="Google Shape;617;g3fbe9e34838_0_128"/>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22" name="Shape 622"/>
        <p:cNvGrpSpPr/>
        <p:nvPr/>
      </p:nvGrpSpPr>
      <p:grpSpPr>
        <a:xfrm>
          <a:off x="0" y="0"/>
          <a:ext cx="0" cy="0"/>
          <a:chOff x="0" y="0"/>
          <a:chExt cx="0" cy="0"/>
        </a:xfrm>
      </p:grpSpPr>
      <p:sp>
        <p:nvSpPr>
          <p:cNvPr id="623" name="Google Shape;623;g3fbec47727c_0_117"/>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4000" u="none" cap="none" strike="noStrike">
                <a:solidFill>
                  <a:srgbClr val="0F2347"/>
                </a:solidFill>
                <a:latin typeface="Cormorant Garamond"/>
                <a:ea typeface="Cormorant Garamond"/>
                <a:cs typeface="Cormorant Garamond"/>
                <a:sym typeface="Cormorant Garamond"/>
              </a:rPr>
              <a:t>Q &amp; A</a:t>
            </a:r>
            <a:endParaRPr b="0" i="0" sz="4000" u="none" cap="none" strike="noStrike">
              <a:solidFill>
                <a:schemeClr val="dk1"/>
              </a:solidFill>
              <a:latin typeface="Calibri"/>
              <a:ea typeface="Calibri"/>
              <a:cs typeface="Calibri"/>
              <a:sym typeface="Calibri"/>
            </a:endParaRPr>
          </a:p>
        </p:txBody>
      </p:sp>
      <p:sp>
        <p:nvSpPr>
          <p:cNvPr id="624" name="Google Shape;624;g3fbec47727c_0_117"/>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9" name="Shape 629"/>
        <p:cNvGrpSpPr/>
        <p:nvPr/>
      </p:nvGrpSpPr>
      <p:grpSpPr>
        <a:xfrm>
          <a:off x="0" y="0"/>
          <a:ext cx="0" cy="0"/>
          <a:chOff x="0" y="0"/>
          <a:chExt cx="0" cy="0"/>
        </a:xfrm>
      </p:grpSpPr>
      <p:sp>
        <p:nvSpPr>
          <p:cNvPr id="630" name="Google Shape;630;h11f538478445b104_1_2"/>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4000" u="none" cap="none" strike="noStrike">
                <a:solidFill>
                  <a:srgbClr val="0F2347"/>
                </a:solidFill>
                <a:latin typeface="Cormorant Garamond"/>
                <a:ea typeface="Cormorant Garamond"/>
                <a:cs typeface="Cormorant Garamond"/>
                <a:sym typeface="Cormorant Garamond"/>
              </a:rPr>
              <a:t>Q &amp; A</a:t>
            </a:r>
            <a:endParaRPr b="0" i="0" sz="4000" u="none" cap="none" strike="noStrike">
              <a:solidFill>
                <a:schemeClr val="dk1"/>
              </a:solidFill>
              <a:latin typeface="Calibri"/>
              <a:ea typeface="Calibri"/>
              <a:cs typeface="Calibri"/>
              <a:sym typeface="Calibri"/>
            </a:endParaRPr>
          </a:p>
        </p:txBody>
      </p:sp>
      <p:sp>
        <p:nvSpPr>
          <p:cNvPr id="631" name="Google Shape;631;h11f538478445b104_1_2"/>
          <p:cNvSpPr/>
          <p:nvPr/>
        </p:nvSpPr>
        <p:spPr>
          <a:xfrm>
            <a:off x="567003" y="2523836"/>
            <a:ext cx="8010000" cy="5487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2" name="Google Shape;632;h11f538478445b104_1_2"/>
          <p:cNvSpPr/>
          <p:nvPr/>
        </p:nvSpPr>
        <p:spPr>
          <a:xfrm>
            <a:off x="804747" y="2523836"/>
            <a:ext cx="7534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Cormorant Garamond"/>
              <a:buNone/>
            </a:pPr>
            <a:r>
              <a:rPr b="1" i="0" lang="en-US" sz="1500" u="none" cap="none" strike="noStrike">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b="0" i="0" sz="1500" u="none" cap="none" strike="noStrike">
              <a:solidFill>
                <a:schemeClr val="dk1"/>
              </a:solidFill>
              <a:latin typeface="Calibri"/>
              <a:ea typeface="Calibri"/>
              <a:cs typeface="Calibri"/>
              <a:sym typeface="Calibri"/>
            </a:endParaRPr>
          </a:p>
        </p:txBody>
      </p:sp>
      <p:sp>
        <p:nvSpPr>
          <p:cNvPr id="633" name="Google Shape;633;h11f538478445b104_1_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38" name="Shape 638"/>
        <p:cNvGrpSpPr/>
        <p:nvPr/>
      </p:nvGrpSpPr>
      <p:grpSpPr>
        <a:xfrm>
          <a:off x="0" y="0"/>
          <a:ext cx="0" cy="0"/>
          <a:chOff x="0" y="0"/>
          <a:chExt cx="0" cy="0"/>
        </a:xfrm>
      </p:grpSpPr>
      <p:sp>
        <p:nvSpPr>
          <p:cNvPr id="639" name="Google Shape;639;p2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950"/>
              <a:buFont typeface="Montserrat"/>
              <a:buNone/>
            </a:pPr>
            <a:r>
              <a:rPr b="1" i="0" lang="en-US" sz="950" u="none" cap="none" strike="noStrike">
                <a:solidFill>
                  <a:srgbClr val="C1440E"/>
                </a:solidFill>
                <a:latin typeface="Montserrat"/>
                <a:ea typeface="Montserrat"/>
                <a:cs typeface="Montserrat"/>
                <a:sym typeface="Montserrat"/>
              </a:rPr>
              <a:t>LIVE ONLY  ·  RECORDING OFF  ·  10 MINUTES</a:t>
            </a:r>
            <a:endParaRPr b="0" i="0" sz="950" u="none" cap="none" strike="noStrike">
              <a:solidFill>
                <a:schemeClr val="dk1"/>
              </a:solidFill>
              <a:latin typeface="Calibri"/>
              <a:ea typeface="Calibri"/>
              <a:cs typeface="Calibri"/>
              <a:sym typeface="Calibri"/>
            </a:endParaRPr>
          </a:p>
        </p:txBody>
      </p:sp>
      <p:sp>
        <p:nvSpPr>
          <p:cNvPr id="640" name="Google Shape;640;p2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3200" u="none" cap="none" strike="noStrike">
                <a:solidFill>
                  <a:srgbClr val="0F2347"/>
                </a:solidFill>
                <a:latin typeface="Cormorant Garamond"/>
                <a:ea typeface="Cormorant Garamond"/>
                <a:cs typeface="Cormorant Garamond"/>
                <a:sym typeface="Cormorant Garamond"/>
              </a:rPr>
              <a:t>Questions &amp; Applications</a:t>
            </a:r>
            <a:endParaRPr b="0" i="0" sz="3200" u="none" cap="none" strike="noStrike">
              <a:solidFill>
                <a:schemeClr val="dk1"/>
              </a:solidFill>
              <a:latin typeface="Calibri"/>
              <a:ea typeface="Calibri"/>
              <a:cs typeface="Calibri"/>
              <a:sym typeface="Calibri"/>
            </a:endParaRPr>
          </a:p>
        </p:txBody>
      </p:sp>
      <p:sp>
        <p:nvSpPr>
          <p:cNvPr id="641" name="Google Shape;641;p2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Ten minutes. The recording has stopped.</a:t>
            </a:r>
            <a:endParaRPr b="0" i="0" sz="1150" u="none" cap="none" strike="noStrike">
              <a:solidFill>
                <a:schemeClr val="dk1"/>
              </a:solidFill>
              <a:latin typeface="Calibri"/>
              <a:ea typeface="Calibri"/>
              <a:cs typeface="Calibri"/>
              <a:sym typeface="Calibri"/>
            </a:endParaRPr>
          </a:p>
        </p:txBody>
      </p:sp>
      <p:sp>
        <p:nvSpPr>
          <p:cNvPr id="642" name="Google Shape;642;p26"/>
          <p:cNvSpPr/>
          <p:nvPr/>
        </p:nvSpPr>
        <p:spPr>
          <a:xfrm>
            <a:off x="566928" y="177393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3" name="Google Shape;643;p26"/>
          <p:cNvSpPr/>
          <p:nvPr/>
        </p:nvSpPr>
        <p:spPr>
          <a:xfrm>
            <a:off x="804672" y="1773936"/>
            <a:ext cx="7534656"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Cormorant Garamond"/>
              <a:buNone/>
            </a:pPr>
            <a:r>
              <a:rPr b="1" i="0" lang="en-US" sz="1500" u="none" cap="none" strike="noStrike">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b="0" i="0" sz="1500" u="none" cap="none" strike="noStrike">
              <a:solidFill>
                <a:schemeClr val="dk1"/>
              </a:solidFill>
              <a:latin typeface="Calibri"/>
              <a:ea typeface="Calibri"/>
              <a:cs typeface="Calibri"/>
              <a:sym typeface="Calibri"/>
            </a:endParaRPr>
          </a:p>
        </p:txBody>
      </p:sp>
      <p:sp>
        <p:nvSpPr>
          <p:cNvPr id="644" name="Google Shape;644;p26"/>
          <p:cNvSpPr/>
          <p:nvPr/>
        </p:nvSpPr>
        <p:spPr>
          <a:xfrm>
            <a:off x="566928" y="2487168"/>
            <a:ext cx="3886200" cy="159105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p26"/>
          <p:cNvSpPr/>
          <p:nvPr/>
        </p:nvSpPr>
        <p:spPr>
          <a:xfrm>
            <a:off x="786384" y="263347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WELCOME</a:t>
            </a:r>
            <a:endParaRPr b="0" i="0" sz="820" u="none" cap="none" strike="noStrike">
              <a:solidFill>
                <a:schemeClr val="dk1"/>
              </a:solidFill>
              <a:latin typeface="Calibri"/>
              <a:ea typeface="Calibri"/>
              <a:cs typeface="Calibri"/>
              <a:sym typeface="Calibri"/>
            </a:endParaRPr>
          </a:p>
        </p:txBody>
      </p:sp>
      <p:sp>
        <p:nvSpPr>
          <p:cNvPr id="646" name="Google Shape;646;p26"/>
          <p:cNvSpPr/>
          <p:nvPr/>
        </p:nvSpPr>
        <p:spPr>
          <a:xfrm>
            <a:off x="786384"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0F2347"/>
              </a:buClr>
              <a:buSzPts val="1040"/>
              <a:buFont typeface="DM Sans"/>
              <a:buNone/>
            </a:pPr>
            <a:r>
              <a:rPr b="0" i="0" lang="en-US" sz="1040" u="none" cap="none" strike="noStrike">
                <a:solidFill>
                  <a:srgbClr val="0F2347"/>
                </a:solidFill>
                <a:latin typeface="DM Sans"/>
                <a:ea typeface="DM Sans"/>
                <a:cs typeface="DM Sans"/>
                <a:sym typeface="DM Sans"/>
              </a:rPr>
              <a:t>Statement interpretation  ·  the evidence protocol  ·  boundary and incomplete readings  ·  move-category distinctions  ·  what to investigate next</a:t>
            </a:r>
            <a:endParaRPr b="0" i="0" sz="1040" u="none" cap="none" strike="noStrike">
              <a:solidFill>
                <a:schemeClr val="dk1"/>
              </a:solidFill>
              <a:latin typeface="Calibri"/>
              <a:ea typeface="Calibri"/>
              <a:cs typeface="Calibri"/>
              <a:sym typeface="Calibri"/>
            </a:endParaRPr>
          </a:p>
        </p:txBody>
      </p:sp>
      <p:sp>
        <p:nvSpPr>
          <p:cNvPr id="647" name="Google Shape;647;p26"/>
          <p:cNvSpPr/>
          <p:nvPr/>
        </p:nvSpPr>
        <p:spPr>
          <a:xfrm>
            <a:off x="4690872" y="2487168"/>
            <a:ext cx="3886200" cy="159105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26"/>
          <p:cNvSpPr/>
          <p:nvPr/>
        </p:nvSpPr>
        <p:spPr>
          <a:xfrm>
            <a:off x="4910328" y="263347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820"/>
              <a:buFont typeface="Montserrat"/>
              <a:buNone/>
            </a:pPr>
            <a:r>
              <a:rPr b="1" i="0" lang="en-US" sz="820" u="none" cap="none" strike="noStrike">
                <a:solidFill>
                  <a:srgbClr val="F5F0E8"/>
                </a:solidFill>
                <a:latin typeface="Montserrat"/>
                <a:ea typeface="Montserrat"/>
                <a:cs typeface="Montserrat"/>
                <a:sym typeface="Montserrat"/>
              </a:rPr>
              <a:t>OUTSIDE THE BOUNDARY</a:t>
            </a:r>
            <a:endParaRPr b="0" i="0" sz="820" u="none" cap="none" strike="noStrike">
              <a:solidFill>
                <a:schemeClr val="dk1"/>
              </a:solidFill>
              <a:latin typeface="Calibri"/>
              <a:ea typeface="Calibri"/>
              <a:cs typeface="Calibri"/>
              <a:sym typeface="Calibri"/>
            </a:endParaRPr>
          </a:p>
        </p:txBody>
      </p:sp>
      <p:sp>
        <p:nvSpPr>
          <p:cNvPr id="649" name="Google Shape;649;p26"/>
          <p:cNvSpPr/>
          <p:nvPr/>
        </p:nvSpPr>
        <p:spPr>
          <a:xfrm>
            <a:off x="4910328"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F5F0E8"/>
              </a:buClr>
              <a:buSzPts val="1040"/>
              <a:buFont typeface="DM Sans"/>
              <a:buNone/>
            </a:pPr>
            <a:r>
              <a:rPr b="0" i="0" lang="en-US" sz="1040" u="none" cap="none" strike="noStrike">
                <a:solidFill>
                  <a:srgbClr val="F5F0E8"/>
                </a:solidFill>
                <a:latin typeface="DM Sans"/>
                <a:ea typeface="DM Sans"/>
                <a:cs typeface="DM Sans"/>
                <a:sym typeface="DM Sans"/>
              </a:rPr>
              <a:t>Telling someone to stay or leave  ·  predicting layoffs  ·  legal, medical, financial, immigration or tax questions  ·  diagnosing an employer  ·  asking for scores, states or employer names</a:t>
            </a:r>
            <a:endParaRPr b="0" i="0" sz="1040" u="none" cap="none" strike="noStrike">
              <a:solidFill>
                <a:schemeClr val="dk1"/>
              </a:solidFill>
              <a:latin typeface="Calibri"/>
              <a:ea typeface="Calibri"/>
              <a:cs typeface="Calibri"/>
              <a:sym typeface="Calibri"/>
            </a:endParaRPr>
          </a:p>
        </p:txBody>
      </p:sp>
      <p:sp>
        <p:nvSpPr>
          <p:cNvPr id="650" name="Google Shape;650;p26"/>
          <p:cNvSpPr/>
          <p:nvPr/>
        </p:nvSpPr>
        <p:spPr>
          <a:xfrm>
            <a:off x="566928" y="4224528"/>
            <a:ext cx="80101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Close at 60:00.</a:t>
            </a:r>
            <a:endParaRPr b="0" i="0" sz="1150" u="none" cap="none" strike="noStrike">
              <a:solidFill>
                <a:schemeClr val="dk1"/>
              </a:solidFill>
              <a:latin typeface="Calibri"/>
              <a:ea typeface="Calibri"/>
              <a:cs typeface="Calibri"/>
              <a:sym typeface="Calibri"/>
            </a:endParaRPr>
          </a:p>
        </p:txBody>
      </p:sp>
      <p:sp>
        <p:nvSpPr>
          <p:cNvPr id="651" name="Google Shape;651;p2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652" name="Google Shape;652;p2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26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57" name="Shape 657"/>
        <p:cNvGrpSpPr/>
        <p:nvPr/>
      </p:nvGrpSpPr>
      <p:grpSpPr>
        <a:xfrm>
          <a:off x="0" y="0"/>
          <a:ext cx="0" cy="0"/>
          <a:chOff x="0" y="0"/>
          <a:chExt cx="0" cy="0"/>
        </a:xfrm>
      </p:grpSpPr>
      <p:sp>
        <p:nvSpPr>
          <p:cNvPr id="658" name="Google Shape;658;p2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59" name="Google Shape;659;p2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Position Exposure Signals</a:t>
            </a:r>
            <a:endParaRPr b="0" i="0" sz="2600" u="none" cap="none" strike="noStrike">
              <a:solidFill>
                <a:schemeClr val="dk1"/>
              </a:solidFill>
              <a:latin typeface="Calibri"/>
              <a:ea typeface="Calibri"/>
              <a:cs typeface="Calibri"/>
              <a:sym typeface="Calibri"/>
            </a:endParaRPr>
          </a:p>
        </p:txBody>
      </p:sp>
      <p:sp>
        <p:nvSpPr>
          <p:cNvPr id="660" name="Google Shape;660;p2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Questions to investigate, not predictions.</a:t>
            </a:r>
            <a:endParaRPr b="0" i="0" sz="1150" u="none" cap="none" strike="noStrike">
              <a:solidFill>
                <a:schemeClr val="dk1"/>
              </a:solidFill>
              <a:latin typeface="Calibri"/>
              <a:ea typeface="Calibri"/>
              <a:cs typeface="Calibri"/>
              <a:sym typeface="Calibri"/>
            </a:endParaRPr>
          </a:p>
        </p:txBody>
      </p:sp>
      <p:sp>
        <p:nvSpPr>
          <p:cNvPr id="661" name="Google Shape;661;p27"/>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p27"/>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Your current role</a:t>
            </a:r>
            <a:endParaRPr b="0" i="0" sz="1250" u="none" cap="none" strike="noStrike">
              <a:solidFill>
                <a:schemeClr val="dk1"/>
              </a:solidFill>
              <a:latin typeface="Calibri"/>
              <a:ea typeface="Calibri"/>
              <a:cs typeface="Calibri"/>
              <a:sym typeface="Calibri"/>
            </a:endParaRPr>
          </a:p>
        </p:txBody>
      </p:sp>
      <p:sp>
        <p:nvSpPr>
          <p:cNvPr id="663" name="Google Shape;663;p27"/>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Is the mandate being absorbed, narrowed, duplicated or repeatedly redefined?</a:t>
            </a:r>
            <a:endParaRPr b="0" i="0" sz="1100" u="none" cap="none" strike="noStrike">
              <a:solidFill>
                <a:schemeClr val="dk1"/>
              </a:solidFill>
              <a:latin typeface="Calibri"/>
              <a:ea typeface="Calibri"/>
              <a:cs typeface="Calibri"/>
              <a:sym typeface="Calibri"/>
            </a:endParaRPr>
          </a:p>
        </p:txBody>
      </p:sp>
      <p:sp>
        <p:nvSpPr>
          <p:cNvPr id="664" name="Google Shape;664;p27"/>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27"/>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 role you are considering</a:t>
            </a:r>
            <a:endParaRPr b="0" i="0" sz="1250" u="none" cap="none" strike="noStrike">
              <a:solidFill>
                <a:schemeClr val="dk1"/>
              </a:solidFill>
              <a:latin typeface="Calibri"/>
              <a:ea typeface="Calibri"/>
              <a:cs typeface="Calibri"/>
              <a:sym typeface="Calibri"/>
            </a:endParaRPr>
          </a:p>
        </p:txBody>
      </p:sp>
      <p:sp>
        <p:nvSpPr>
          <p:cNvPr id="666" name="Google Shape;666;p27"/>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Does the position exist because of a strategy, or because of one sponsor?</a:t>
            </a:r>
            <a:endParaRPr b="0" i="0" sz="1100" u="none" cap="none" strike="noStrike">
              <a:solidFill>
                <a:schemeClr val="dk1"/>
              </a:solidFill>
              <a:latin typeface="Calibri"/>
              <a:ea typeface="Calibri"/>
              <a:cs typeface="Calibri"/>
              <a:sym typeface="Calibri"/>
            </a:endParaRPr>
          </a:p>
        </p:txBody>
      </p:sp>
      <p:sp>
        <p:nvSpPr>
          <p:cNvPr id="667" name="Google Shape;667;p27"/>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8" name="Google Shape;668;p27"/>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Either</a:t>
            </a:r>
            <a:endParaRPr b="0" i="0" sz="1250" u="none" cap="none" strike="noStrike">
              <a:solidFill>
                <a:schemeClr val="dk1"/>
              </a:solidFill>
              <a:latin typeface="Calibri"/>
              <a:ea typeface="Calibri"/>
              <a:cs typeface="Calibri"/>
              <a:sym typeface="Calibri"/>
            </a:endParaRPr>
          </a:p>
        </p:txBody>
      </p:sp>
      <p:sp>
        <p:nvSpPr>
          <p:cNvPr id="669" name="Google Shape;669;p27"/>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Who outside your manager would notice if the function disappeared?</a:t>
            </a:r>
            <a:endParaRPr b="0" i="0" sz="1100" u="none" cap="none" strike="noStrike">
              <a:solidFill>
                <a:schemeClr val="dk1"/>
              </a:solidFill>
              <a:latin typeface="Calibri"/>
              <a:ea typeface="Calibri"/>
              <a:cs typeface="Calibri"/>
              <a:sym typeface="Calibri"/>
            </a:endParaRPr>
          </a:p>
        </p:txBody>
      </p:sp>
      <p:sp>
        <p:nvSpPr>
          <p:cNvPr id="670" name="Google Shape;670;p2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75" name="Shape 675"/>
        <p:cNvGrpSpPr/>
        <p:nvPr/>
      </p:nvGrpSpPr>
      <p:grpSpPr>
        <a:xfrm>
          <a:off x="0" y="0"/>
          <a:ext cx="0" cy="0"/>
          <a:chOff x="0" y="0"/>
          <a:chExt cx="0" cy="0"/>
        </a:xfrm>
      </p:grpSpPr>
      <p:sp>
        <p:nvSpPr>
          <p:cNvPr id="676" name="Google Shape;676;p2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77" name="Google Shape;677;p2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AI and Compounding</a:t>
            </a:r>
            <a:endParaRPr b="0" i="0" sz="2600" u="none" cap="none" strike="noStrike">
              <a:solidFill>
                <a:schemeClr val="dk1"/>
              </a:solidFill>
              <a:latin typeface="Calibri"/>
              <a:ea typeface="Calibri"/>
              <a:cs typeface="Calibri"/>
              <a:sym typeface="Calibri"/>
            </a:endParaRPr>
          </a:p>
        </p:txBody>
      </p:sp>
      <p:sp>
        <p:nvSpPr>
          <p:cNvPr id="678" name="Google Shape;678;p2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An application of the two axes. Not a technology session.</a:t>
            </a:r>
            <a:endParaRPr b="0" i="0" sz="1150" u="none" cap="none" strike="noStrike">
              <a:solidFill>
                <a:schemeClr val="dk1"/>
              </a:solidFill>
              <a:latin typeface="Calibri"/>
              <a:ea typeface="Calibri"/>
              <a:cs typeface="Calibri"/>
              <a:sym typeface="Calibri"/>
            </a:endParaRPr>
          </a:p>
        </p:txBody>
      </p:sp>
      <p:sp>
        <p:nvSpPr>
          <p:cNvPr id="679" name="Google Shape;679;p28"/>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0" name="Google Shape;680;p28"/>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reading does not change</a:t>
            </a:r>
            <a:endParaRPr b="0" i="0" sz="1250" u="none" cap="none" strike="noStrike">
              <a:solidFill>
                <a:schemeClr val="dk1"/>
              </a:solidFill>
              <a:latin typeface="Calibri"/>
              <a:ea typeface="Calibri"/>
              <a:cs typeface="Calibri"/>
              <a:sym typeface="Calibri"/>
            </a:endParaRPr>
          </a:p>
        </p:txBody>
      </p:sp>
      <p:sp>
        <p:nvSpPr>
          <p:cNvPr id="681" name="Google Shape;681;p28"/>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Where AI makes routine output easier to reproduce, your position depends more heavily on judgment, learning velocity, and capability that travels across unfamiliar problems.</a:t>
            </a:r>
            <a:endParaRPr b="0" i="0" sz="1100" u="none" cap="none" strike="noStrike">
              <a:solidFill>
                <a:schemeClr val="dk1"/>
              </a:solidFill>
              <a:latin typeface="Calibri"/>
              <a:ea typeface="Calibri"/>
              <a:cs typeface="Calibri"/>
              <a:sym typeface="Calibri"/>
            </a:endParaRPr>
          </a:p>
        </p:txBody>
      </p:sp>
      <p:sp>
        <p:nvSpPr>
          <p:cNvPr id="682" name="Google Shape;682;p28"/>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3" name="Google Shape;683;p28"/>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Density and Optionality do not become less important</a:t>
            </a:r>
            <a:endParaRPr b="0" i="0" sz="1250" u="none" cap="none" strike="noStrike">
              <a:solidFill>
                <a:schemeClr val="dk1"/>
              </a:solidFill>
              <a:latin typeface="Calibri"/>
              <a:ea typeface="Calibri"/>
              <a:cs typeface="Calibri"/>
              <a:sym typeface="Calibri"/>
            </a:endParaRPr>
          </a:p>
        </p:txBody>
      </p:sp>
      <p:sp>
        <p:nvSpPr>
          <p:cNvPr id="684" name="Google Shape;684;p28"/>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They become more consequential.</a:t>
            </a:r>
            <a:endParaRPr b="0" i="0" sz="1100" u="none" cap="none" strike="noStrike">
              <a:solidFill>
                <a:schemeClr val="dk1"/>
              </a:solidFill>
              <a:latin typeface="Calibri"/>
              <a:ea typeface="Calibri"/>
              <a:cs typeface="Calibri"/>
              <a:sym typeface="Calibri"/>
            </a:endParaRPr>
          </a:p>
        </p:txBody>
      </p:sp>
      <p:sp>
        <p:nvSpPr>
          <p:cNvPr id="685" name="Google Shape;685;p28"/>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28"/>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What this is not</a:t>
            </a:r>
            <a:endParaRPr b="0" i="0" sz="1250" u="none" cap="none" strike="noStrike">
              <a:solidFill>
                <a:schemeClr val="dk1"/>
              </a:solidFill>
              <a:latin typeface="Calibri"/>
              <a:ea typeface="Calibri"/>
              <a:cs typeface="Calibri"/>
              <a:sym typeface="Calibri"/>
            </a:endParaRPr>
          </a:p>
        </p:txBody>
      </p:sp>
      <p:sp>
        <p:nvSpPr>
          <p:cNvPr id="687" name="Google Shape;687;p28"/>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Not a prediction about jobs, tools or timelines. No tool names.</a:t>
            </a:r>
            <a:endParaRPr b="0" i="0" sz="1100" u="none" cap="none" strike="noStrike">
              <a:solidFill>
                <a:schemeClr val="dk1"/>
              </a:solidFill>
              <a:latin typeface="Calibri"/>
              <a:ea typeface="Calibri"/>
              <a:cs typeface="Calibri"/>
              <a:sym typeface="Calibri"/>
            </a:endParaRPr>
          </a:p>
        </p:txBody>
      </p:sp>
      <p:sp>
        <p:nvSpPr>
          <p:cNvPr id="688" name="Google Shape;688;p2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93" name="Shape 693"/>
        <p:cNvGrpSpPr/>
        <p:nvPr/>
      </p:nvGrpSpPr>
      <p:grpSpPr>
        <a:xfrm>
          <a:off x="0" y="0"/>
          <a:ext cx="0" cy="0"/>
          <a:chOff x="0" y="0"/>
          <a:chExt cx="0" cy="0"/>
        </a:xfrm>
      </p:grpSpPr>
      <p:sp>
        <p:nvSpPr>
          <p:cNvPr id="694" name="Google Shape;694;p2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95" name="Google Shape;695;p2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translation actually means</a:t>
            </a:r>
            <a:endParaRPr b="0" i="0" sz="2600" u="none" cap="none" strike="noStrike">
              <a:solidFill>
                <a:schemeClr val="dk1"/>
              </a:solidFill>
              <a:latin typeface="Calibri"/>
              <a:ea typeface="Calibri"/>
              <a:cs typeface="Calibri"/>
              <a:sym typeface="Calibri"/>
            </a:endParaRPr>
          </a:p>
        </p:txBody>
      </p:sp>
      <p:sp>
        <p:nvSpPr>
          <p:cNvPr id="696" name="Google Shape;696;p2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An application of the second move category.</a:t>
            </a:r>
            <a:endParaRPr b="0" i="0" sz="1150" u="none" cap="none" strike="noStrike">
              <a:solidFill>
                <a:schemeClr val="dk1"/>
              </a:solidFill>
              <a:latin typeface="Calibri"/>
              <a:ea typeface="Calibri"/>
              <a:cs typeface="Calibri"/>
              <a:sym typeface="Calibri"/>
            </a:endParaRPr>
          </a:p>
        </p:txBody>
      </p:sp>
      <p:sp>
        <p:nvSpPr>
          <p:cNvPr id="697" name="Google Shape;697;p29"/>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29"/>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Legibility is not bragging</a:t>
            </a:r>
            <a:endParaRPr b="0" i="0" sz="1250" u="none" cap="none" strike="noStrike">
              <a:solidFill>
                <a:schemeClr val="dk1"/>
              </a:solidFill>
              <a:latin typeface="Calibri"/>
              <a:ea typeface="Calibri"/>
              <a:cs typeface="Calibri"/>
              <a:sym typeface="Calibri"/>
            </a:endParaRPr>
          </a:p>
        </p:txBody>
      </p:sp>
      <p:sp>
        <p:nvSpPr>
          <p:cNvPr id="699" name="Google Shape;699;p29"/>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It is evidence translated into language another context can understand.</a:t>
            </a:r>
            <a:endParaRPr b="0" i="0" sz="1100" u="none" cap="none" strike="noStrike">
              <a:solidFill>
                <a:schemeClr val="dk1"/>
              </a:solidFill>
              <a:latin typeface="Calibri"/>
              <a:ea typeface="Calibri"/>
              <a:cs typeface="Calibri"/>
              <a:sym typeface="Calibri"/>
            </a:endParaRPr>
          </a:p>
        </p:txBody>
      </p:sp>
      <p:sp>
        <p:nvSpPr>
          <p:cNvPr id="700" name="Google Shape;700;p29"/>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p29"/>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pattern</a:t>
            </a:r>
            <a:endParaRPr b="0" i="0" sz="1250" u="none" cap="none" strike="noStrike">
              <a:solidFill>
                <a:schemeClr val="dk1"/>
              </a:solidFill>
              <a:latin typeface="Calibri"/>
              <a:ea typeface="Calibri"/>
              <a:cs typeface="Calibri"/>
              <a:sym typeface="Calibri"/>
            </a:endParaRPr>
          </a:p>
        </p:txBody>
      </p:sp>
      <p:sp>
        <p:nvSpPr>
          <p:cNvPr id="702" name="Google Shape;702;p29"/>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Name the problem, the constraint, what you did, and what changed — without internal vocabulary.</a:t>
            </a:r>
            <a:endParaRPr b="0" i="0" sz="1100" u="none" cap="none" strike="noStrike">
              <a:solidFill>
                <a:schemeClr val="dk1"/>
              </a:solidFill>
              <a:latin typeface="Calibri"/>
              <a:ea typeface="Calibri"/>
              <a:cs typeface="Calibri"/>
              <a:sym typeface="Calibri"/>
            </a:endParaRPr>
          </a:p>
        </p:txBody>
      </p:sp>
      <p:sp>
        <p:nvSpPr>
          <p:cNvPr id="703" name="Google Shape;703;p29"/>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29"/>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Why it matters</a:t>
            </a:r>
            <a:endParaRPr b="0" i="0" sz="1250" u="none" cap="none" strike="noStrike">
              <a:solidFill>
                <a:schemeClr val="dk1"/>
              </a:solidFill>
              <a:latin typeface="Calibri"/>
              <a:ea typeface="Calibri"/>
              <a:cs typeface="Calibri"/>
              <a:sym typeface="Calibri"/>
            </a:endParaRPr>
          </a:p>
        </p:txBody>
      </p:sp>
      <p:sp>
        <p:nvSpPr>
          <p:cNvPr id="705" name="Google Shape;705;p29"/>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low Optionality score may reflect context-bound capability, weak translation, limited exposure, or a combination. It is not a verdict on ability or worth.</a:t>
            </a:r>
            <a:endParaRPr b="0" i="0" sz="1100" u="none" cap="none" strike="noStrike">
              <a:solidFill>
                <a:schemeClr val="dk1"/>
              </a:solidFill>
              <a:latin typeface="Calibri"/>
              <a:ea typeface="Calibri"/>
              <a:cs typeface="Calibri"/>
              <a:sym typeface="Calibri"/>
            </a:endParaRPr>
          </a:p>
        </p:txBody>
      </p:sp>
      <p:sp>
        <p:nvSpPr>
          <p:cNvPr id="706" name="Google Shape;706;p2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11" name="Shape 711"/>
        <p:cNvGrpSpPr/>
        <p:nvPr/>
      </p:nvGrpSpPr>
      <p:grpSpPr>
        <a:xfrm>
          <a:off x="0" y="0"/>
          <a:ext cx="0" cy="0"/>
          <a:chOff x="0" y="0"/>
          <a:chExt cx="0" cy="0"/>
        </a:xfrm>
      </p:grpSpPr>
      <p:sp>
        <p:nvSpPr>
          <p:cNvPr id="712" name="Google Shape;712;p3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713" name="Google Shape;713;p3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Promotion and formation</a:t>
            </a:r>
            <a:endParaRPr b="0" i="0" sz="2600" u="none" cap="none" strike="noStrike">
              <a:solidFill>
                <a:schemeClr val="dk1"/>
              </a:solidFill>
              <a:latin typeface="Calibri"/>
              <a:ea typeface="Calibri"/>
              <a:cs typeface="Calibri"/>
              <a:sym typeface="Calibri"/>
            </a:endParaRPr>
          </a:p>
        </p:txBody>
      </p:sp>
      <p:sp>
        <p:nvSpPr>
          <p:cNvPr id="714" name="Google Shape;714;p3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The same misreading, in the place it is hardest to see.</a:t>
            </a:r>
            <a:endParaRPr b="0" i="0" sz="1150" u="none" cap="none" strike="noStrike">
              <a:solidFill>
                <a:schemeClr val="dk1"/>
              </a:solidFill>
              <a:latin typeface="Calibri"/>
              <a:ea typeface="Calibri"/>
              <a:cs typeface="Calibri"/>
              <a:sym typeface="Calibri"/>
            </a:endParaRPr>
          </a:p>
        </p:txBody>
      </p:sp>
      <p:sp>
        <p:nvSpPr>
          <p:cNvPr id="715" name="Google Shape;715;p30"/>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6" name="Google Shape;716;p30"/>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tension</a:t>
            </a:r>
            <a:endParaRPr b="0" i="0" sz="1250" u="none" cap="none" strike="noStrike">
              <a:solidFill>
                <a:schemeClr val="dk1"/>
              </a:solidFill>
              <a:latin typeface="Calibri"/>
              <a:ea typeface="Calibri"/>
              <a:cs typeface="Calibri"/>
              <a:sym typeface="Calibri"/>
            </a:endParaRPr>
          </a:p>
        </p:txBody>
      </p:sp>
      <p:sp>
        <p:nvSpPr>
          <p:cNvPr id="717" name="Google Shape;717;p30"/>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promotion can increase responsibility, visibility and dependence while reducing formation.</a:t>
            </a:r>
            <a:endParaRPr b="0" i="0" sz="1100" u="none" cap="none" strike="noStrike">
              <a:solidFill>
                <a:schemeClr val="dk1"/>
              </a:solidFill>
              <a:latin typeface="Calibri"/>
              <a:ea typeface="Calibri"/>
              <a:cs typeface="Calibri"/>
              <a:sym typeface="Calibri"/>
            </a:endParaRPr>
          </a:p>
        </p:txBody>
      </p:sp>
      <p:sp>
        <p:nvSpPr>
          <p:cNvPr id="718" name="Google Shape;718;p30"/>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9" name="Google Shape;719;p30"/>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pattern</a:t>
            </a:r>
            <a:endParaRPr b="0" i="0" sz="1250" u="none" cap="none" strike="noStrike">
              <a:solidFill>
                <a:schemeClr val="dk1"/>
              </a:solidFill>
              <a:latin typeface="Calibri"/>
              <a:ea typeface="Calibri"/>
              <a:cs typeface="Calibri"/>
              <a:sym typeface="Calibri"/>
            </a:endParaRPr>
          </a:p>
        </p:txBody>
      </p:sp>
      <p:sp>
        <p:nvSpPr>
          <p:cNvPr id="720" name="Google Shape;720;p30"/>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high performer moves into approvals, representation and familiar judgment — more scope, fewer unfamiliar problems.</a:t>
            </a:r>
            <a:endParaRPr b="0" i="0" sz="1100" u="none" cap="none" strike="noStrike">
              <a:solidFill>
                <a:schemeClr val="dk1"/>
              </a:solidFill>
              <a:latin typeface="Calibri"/>
              <a:ea typeface="Calibri"/>
              <a:cs typeface="Calibri"/>
              <a:sym typeface="Calibri"/>
            </a:endParaRPr>
          </a:p>
        </p:txBody>
      </p:sp>
      <p:sp>
        <p:nvSpPr>
          <p:cNvPr id="721" name="Google Shape;721;p30"/>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2" name="Google Shape;722;p30"/>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test</a:t>
            </a:r>
            <a:endParaRPr b="0" i="0" sz="1250" u="none" cap="none" strike="noStrike">
              <a:solidFill>
                <a:schemeClr val="dk1"/>
              </a:solidFill>
              <a:latin typeface="Calibri"/>
              <a:ea typeface="Calibri"/>
              <a:cs typeface="Calibri"/>
              <a:sym typeface="Calibri"/>
            </a:endParaRPr>
          </a:p>
        </p:txBody>
      </p:sp>
      <p:sp>
        <p:nvSpPr>
          <p:cNvPr id="723" name="Google Shape;723;p30"/>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What capability do you have now that you did not have before your responsibilities increased?</a:t>
            </a:r>
            <a:endParaRPr b="0" i="0" sz="1100" u="none" cap="none" strike="noStrike">
              <a:solidFill>
                <a:schemeClr val="dk1"/>
              </a:solidFill>
              <a:latin typeface="Calibri"/>
              <a:ea typeface="Calibri"/>
              <a:cs typeface="Calibri"/>
              <a:sym typeface="Calibri"/>
            </a:endParaRPr>
          </a:p>
        </p:txBody>
      </p:sp>
      <p:sp>
        <p:nvSpPr>
          <p:cNvPr id="724" name="Google Shape;724;p3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29" name="Shape 729"/>
        <p:cNvGrpSpPr/>
        <p:nvPr/>
      </p:nvGrpSpPr>
      <p:grpSpPr>
        <a:xfrm>
          <a:off x="0" y="0"/>
          <a:ext cx="0" cy="0"/>
          <a:chOff x="0" y="0"/>
          <a:chExt cx="0" cy="0"/>
        </a:xfrm>
      </p:grpSpPr>
      <p:sp>
        <p:nvSpPr>
          <p:cNvPr id="730" name="Google Shape;730;p31"/>
          <p:cNvSpPr/>
          <p:nvPr/>
        </p:nvSpPr>
        <p:spPr>
          <a:xfrm>
            <a:off x="566928" y="658368"/>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INSTITUTIONAL DELIVERY CLOSE  ·  OPTIONAL</a:t>
            </a:r>
            <a:endParaRPr b="0" i="0" sz="900" u="none" cap="none" strike="noStrike">
              <a:solidFill>
                <a:schemeClr val="dk1"/>
              </a:solidFill>
              <a:latin typeface="Calibri"/>
              <a:ea typeface="Calibri"/>
              <a:cs typeface="Calibri"/>
              <a:sym typeface="Calibri"/>
            </a:endParaRPr>
          </a:p>
        </p:txBody>
      </p:sp>
      <p:sp>
        <p:nvSpPr>
          <p:cNvPr id="731" name="Google Shape;731;p31"/>
          <p:cNvSpPr/>
          <p:nvPr/>
        </p:nvSpPr>
        <p:spPr>
          <a:xfrm>
            <a:off x="566928" y="1225296"/>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has the journey built in you?</a:t>
            </a:r>
            <a:endParaRPr b="0" i="0" sz="2900" u="none" cap="none" strike="noStrike">
              <a:solidFill>
                <a:schemeClr val="dk1"/>
              </a:solidFill>
              <a:latin typeface="Calibri"/>
              <a:ea typeface="Calibri"/>
              <a:cs typeface="Calibri"/>
              <a:sym typeface="Calibri"/>
            </a:endParaRPr>
          </a:p>
        </p:txBody>
      </p:sp>
      <p:sp>
        <p:nvSpPr>
          <p:cNvPr id="732" name="Google Shape;732;p31"/>
          <p:cNvSpPr/>
          <p:nvPr/>
        </p:nvSpPr>
        <p:spPr>
          <a:xfrm>
            <a:off x="566928" y="1883664"/>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remains useful when the context changes?</a:t>
            </a:r>
            <a:endParaRPr b="0" i="0" sz="2900" u="none" cap="none" strike="noStrike">
              <a:solidFill>
                <a:schemeClr val="dk1"/>
              </a:solidFill>
              <a:latin typeface="Calibri"/>
              <a:ea typeface="Calibri"/>
              <a:cs typeface="Calibri"/>
              <a:sym typeface="Calibri"/>
            </a:endParaRPr>
          </a:p>
        </p:txBody>
      </p:sp>
      <p:sp>
        <p:nvSpPr>
          <p:cNvPr id="733" name="Google Shape;733;p31"/>
          <p:cNvSpPr/>
          <p:nvPr/>
        </p:nvSpPr>
        <p:spPr>
          <a:xfrm>
            <a:off x="566928" y="2542032"/>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can you do somewhere else?</a:t>
            </a:r>
            <a:endParaRPr b="0" i="0" sz="2900" u="none" cap="none" strike="noStrike">
              <a:solidFill>
                <a:schemeClr val="dk1"/>
              </a:solidFill>
              <a:latin typeface="Calibri"/>
              <a:ea typeface="Calibri"/>
              <a:cs typeface="Calibri"/>
              <a:sym typeface="Calibri"/>
            </a:endParaRPr>
          </a:p>
        </p:txBody>
      </p:sp>
      <p:sp>
        <p:nvSpPr>
          <p:cNvPr id="734" name="Google Shape;734;p31"/>
          <p:cNvSpPr/>
          <p:nvPr/>
        </p:nvSpPr>
        <p:spPr>
          <a:xfrm>
            <a:off x="566928" y="340156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5" name="Google Shape;735;p31"/>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000"/>
              <a:buFont typeface="Montserrat"/>
              <a:buNone/>
            </a:pPr>
            <a:r>
              <a:rPr b="1" i="0" lang="en-US" sz="1000" u="none" cap="none" strike="noStrike">
                <a:solidFill>
                  <a:srgbClr val="B8C5D9"/>
                </a:solidFill>
                <a:latin typeface="Montserrat"/>
                <a:ea typeface="Montserrat"/>
                <a:cs typeface="Montserrat"/>
                <a:sym typeface="Montserrat"/>
              </a:rPr>
              <a:t>Capability Formation  ·  Temidayo Afonja  ·  The Density Group</a:t>
            </a:r>
            <a:endParaRPr b="0" i="0" sz="1000" u="none" cap="none" strike="noStrike">
              <a:solidFill>
                <a:schemeClr val="dk1"/>
              </a:solidFill>
              <a:latin typeface="Calibri"/>
              <a:ea typeface="Calibri"/>
              <a:cs typeface="Calibri"/>
              <a:sym typeface="Calibri"/>
            </a:endParaRPr>
          </a:p>
        </p:txBody>
      </p:sp>
      <p:sp>
        <p:nvSpPr>
          <p:cNvPr id="736" name="Google Shape;736;p3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41" name="Shape 741"/>
        <p:cNvGrpSpPr/>
        <p:nvPr/>
      </p:nvGrpSpPr>
      <p:grpSpPr>
        <a:xfrm>
          <a:off x="0" y="0"/>
          <a:ext cx="0" cy="0"/>
          <a:chOff x="0" y="0"/>
          <a:chExt cx="0" cy="0"/>
        </a:xfrm>
      </p:grpSpPr>
      <p:sp>
        <p:nvSpPr>
          <p:cNvPr id="742" name="Google Shape;742;p3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OPTIONAL  ·  NOT PART OF THE TIMED CORE</a:t>
            </a:r>
            <a:endParaRPr b="0" i="0" sz="950" u="none" cap="none" strike="noStrike">
              <a:solidFill>
                <a:schemeClr val="dk1"/>
              </a:solidFill>
              <a:latin typeface="Calibri"/>
              <a:ea typeface="Calibri"/>
              <a:cs typeface="Calibri"/>
              <a:sym typeface="Calibri"/>
            </a:endParaRPr>
          </a:p>
        </p:txBody>
      </p:sp>
      <p:sp>
        <p:nvSpPr>
          <p:cNvPr id="743" name="Google Shape;743;p3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moved when you tested your first read</a:t>
            </a:r>
            <a:endParaRPr b="0" i="0" sz="2600" u="none" cap="none" strike="noStrike">
              <a:solidFill>
                <a:schemeClr val="dk1"/>
              </a:solidFill>
              <a:latin typeface="Calibri"/>
              <a:ea typeface="Calibri"/>
              <a:cs typeface="Calibri"/>
              <a:sym typeface="Calibri"/>
            </a:endParaRPr>
          </a:p>
        </p:txBody>
      </p:sp>
      <p:sp>
        <p:nvSpPr>
          <p:cNvPr id="744" name="Google Shape;744;p32"/>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One anonymous response. No score, state, employer, or identifying information is requested.</a:t>
            </a:r>
            <a:endParaRPr b="0" i="0" sz="1150" u="none" cap="none" strike="noStrike">
              <a:solidFill>
                <a:schemeClr val="dk1"/>
              </a:solidFill>
              <a:latin typeface="Calibri"/>
              <a:ea typeface="Calibri"/>
              <a:cs typeface="Calibri"/>
              <a:sym typeface="Calibri"/>
            </a:endParaRPr>
          </a:p>
        </p:txBody>
      </p:sp>
      <p:sp>
        <p:nvSpPr>
          <p:cNvPr id="745" name="Google Shape;745;p32"/>
          <p:cNvSpPr/>
          <p:nvPr/>
        </p:nvSpPr>
        <p:spPr>
          <a:xfrm>
            <a:off x="566928" y="1810512"/>
            <a:ext cx="8010144"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6" name="Google Shape;746;p32"/>
          <p:cNvSpPr/>
          <p:nvPr/>
        </p:nvSpPr>
        <p:spPr>
          <a:xfrm>
            <a:off x="804672" y="1810512"/>
            <a:ext cx="753465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After testing your first read against evidence, which is closest?</a:t>
            </a:r>
            <a:endParaRPr b="0" i="0" sz="1250" u="none" cap="none" strike="noStrike">
              <a:solidFill>
                <a:schemeClr val="dk1"/>
              </a:solidFill>
              <a:latin typeface="Calibri"/>
              <a:ea typeface="Calibri"/>
              <a:cs typeface="Calibri"/>
              <a:sym typeface="Calibri"/>
            </a:endParaRPr>
          </a:p>
        </p:txBody>
      </p:sp>
      <p:sp>
        <p:nvSpPr>
          <p:cNvPr id="747" name="Google Shape;747;p32"/>
          <p:cNvSpPr/>
          <p:nvPr/>
        </p:nvSpPr>
        <p:spPr>
          <a:xfrm>
            <a:off x="566928" y="2432304"/>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8" name="Google Shape;748;p32"/>
          <p:cNvSpPr/>
          <p:nvPr/>
        </p:nvSpPr>
        <p:spPr>
          <a:xfrm>
            <a:off x="877824" y="2377440"/>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totals moved meaningfully</a:t>
            </a:r>
            <a:endParaRPr b="0" i="0" sz="1250" u="none" cap="none" strike="noStrike">
              <a:solidFill>
                <a:schemeClr val="dk1"/>
              </a:solidFill>
              <a:latin typeface="Calibri"/>
              <a:ea typeface="Calibri"/>
              <a:cs typeface="Calibri"/>
              <a:sym typeface="Calibri"/>
            </a:endParaRPr>
          </a:p>
        </p:txBody>
      </p:sp>
      <p:sp>
        <p:nvSpPr>
          <p:cNvPr id="749" name="Google Shape;749;p32"/>
          <p:cNvSpPr/>
          <p:nvPr/>
        </p:nvSpPr>
        <p:spPr>
          <a:xfrm>
            <a:off x="566928" y="2871216"/>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32"/>
          <p:cNvSpPr/>
          <p:nvPr/>
        </p:nvSpPr>
        <p:spPr>
          <a:xfrm>
            <a:off x="877824" y="2816352"/>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provisional position moved</a:t>
            </a:r>
            <a:endParaRPr b="0" i="0" sz="1250" u="none" cap="none" strike="noStrike">
              <a:solidFill>
                <a:schemeClr val="dk1"/>
              </a:solidFill>
              <a:latin typeface="Calibri"/>
              <a:ea typeface="Calibri"/>
              <a:cs typeface="Calibri"/>
              <a:sym typeface="Calibri"/>
            </a:endParaRPr>
          </a:p>
        </p:txBody>
      </p:sp>
      <p:sp>
        <p:nvSpPr>
          <p:cNvPr id="751" name="Google Shape;751;p32"/>
          <p:cNvSpPr/>
          <p:nvPr/>
        </p:nvSpPr>
        <p:spPr>
          <a:xfrm>
            <a:off x="566928" y="3310128"/>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p32"/>
          <p:cNvSpPr/>
          <p:nvPr/>
        </p:nvSpPr>
        <p:spPr>
          <a:xfrm>
            <a:off x="877824" y="3255264"/>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position stayed similar, but I trust the reading more</a:t>
            </a:r>
            <a:endParaRPr b="0" i="0" sz="1250" u="none" cap="none" strike="noStrike">
              <a:solidFill>
                <a:schemeClr val="dk1"/>
              </a:solidFill>
              <a:latin typeface="Calibri"/>
              <a:ea typeface="Calibri"/>
              <a:cs typeface="Calibri"/>
              <a:sym typeface="Calibri"/>
            </a:endParaRPr>
          </a:p>
        </p:txBody>
      </p:sp>
      <p:sp>
        <p:nvSpPr>
          <p:cNvPr id="753" name="Google Shape;753;p32"/>
          <p:cNvSpPr/>
          <p:nvPr/>
        </p:nvSpPr>
        <p:spPr>
          <a:xfrm>
            <a:off x="566928" y="3749040"/>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4" name="Google Shape;754;p32"/>
          <p:cNvSpPr/>
          <p:nvPr/>
        </p:nvSpPr>
        <p:spPr>
          <a:xfrm>
            <a:off x="877824" y="3694176"/>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evidence is still incomplete</a:t>
            </a:r>
            <a:endParaRPr b="0" i="0" sz="1250" u="none" cap="none" strike="noStrike">
              <a:solidFill>
                <a:schemeClr val="dk1"/>
              </a:solidFill>
              <a:latin typeface="Calibri"/>
              <a:ea typeface="Calibri"/>
              <a:cs typeface="Calibri"/>
              <a:sym typeface="Calibri"/>
            </a:endParaRPr>
          </a:p>
        </p:txBody>
      </p:sp>
      <p:sp>
        <p:nvSpPr>
          <p:cNvPr id="755" name="Google Shape;755;p32"/>
          <p:cNvSpPr/>
          <p:nvPr/>
        </p:nvSpPr>
        <p:spPr>
          <a:xfrm>
            <a:off x="566928" y="42611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1" lang="en-US" sz="1100" u="none" cap="none" strike="noStrike">
                <a:solidFill>
                  <a:srgbClr val="5A6B84"/>
                </a:solidFill>
                <a:latin typeface="DM Sans"/>
                <a:ea typeface="DM Sans"/>
                <a:cs typeface="DM Sans"/>
                <a:sym typeface="DM Sans"/>
              </a:rPr>
              <a:t>Every one of these is a legitimate outcome. Incomplete evidence is information, not failure.</a:t>
            </a:r>
            <a:endParaRPr b="0" i="0" sz="1100" u="none" cap="none" strike="noStrike">
              <a:solidFill>
                <a:schemeClr val="dk1"/>
              </a:solidFill>
              <a:latin typeface="Calibri"/>
              <a:ea typeface="Calibri"/>
              <a:cs typeface="Calibri"/>
              <a:sym typeface="Calibri"/>
            </a:endParaRPr>
          </a:p>
        </p:txBody>
      </p:sp>
      <p:sp>
        <p:nvSpPr>
          <p:cNvPr id="756" name="Google Shape;756;p3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61" name="Shape 761"/>
        <p:cNvGrpSpPr/>
        <p:nvPr/>
      </p:nvGrpSpPr>
      <p:grpSpPr>
        <a:xfrm>
          <a:off x="0" y="0"/>
          <a:ext cx="0" cy="0"/>
          <a:chOff x="0" y="0"/>
          <a:chExt cx="0" cy="0"/>
        </a:xfrm>
      </p:grpSpPr>
      <p:sp>
        <p:nvSpPr>
          <p:cNvPr id="762" name="Google Shape;762;p33"/>
          <p:cNvSpPr/>
          <p:nvPr/>
        </p:nvSpPr>
        <p:spPr>
          <a:xfrm>
            <a:off x="566928" y="914400"/>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763" name="Google Shape;763;p33"/>
          <p:cNvSpPr/>
          <p:nvPr/>
        </p:nvSpPr>
        <p:spPr>
          <a:xfrm>
            <a:off x="566928" y="1316736"/>
            <a:ext cx="8010144"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Stay or Leave?</a:t>
            </a:r>
            <a:endParaRPr b="0" i="0" sz="3200" u="none" cap="none" strike="noStrike">
              <a:solidFill>
                <a:schemeClr val="dk1"/>
              </a:solidFill>
              <a:latin typeface="Calibri"/>
              <a:ea typeface="Calibri"/>
              <a:cs typeface="Calibri"/>
              <a:sym typeface="Calibri"/>
            </a:endParaRPr>
          </a:p>
        </p:txBody>
      </p:sp>
      <p:sp>
        <p:nvSpPr>
          <p:cNvPr id="764" name="Google Shape;764;p33"/>
          <p:cNvSpPr/>
          <p:nvPr/>
        </p:nvSpPr>
        <p:spPr>
          <a:xfrm>
            <a:off x="566928" y="210312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400"/>
              <a:buFont typeface="DM Sans"/>
              <a:buNone/>
            </a:pPr>
            <a:r>
              <a:rPr b="0" i="0" lang="en-US" sz="1400" u="none" cap="none" strike="noStrike">
                <a:solidFill>
                  <a:srgbClr val="B8C5D9"/>
                </a:solidFill>
                <a:latin typeface="DM Sans"/>
                <a:ea typeface="DM Sans"/>
                <a:cs typeface="DM Sans"/>
                <a:sym typeface="DM Sans"/>
              </a:rPr>
              <a:t>Live Career Growth Assessment  ·  The Capability Position Read</a:t>
            </a:r>
            <a:endParaRPr b="0" i="0" sz="1400" u="none" cap="none" strike="noStrike">
              <a:solidFill>
                <a:schemeClr val="dk1"/>
              </a:solidFill>
              <a:latin typeface="Calibri"/>
              <a:ea typeface="Calibri"/>
              <a:cs typeface="Calibri"/>
              <a:sym typeface="Calibri"/>
            </a:endParaRPr>
          </a:p>
        </p:txBody>
      </p:sp>
      <p:sp>
        <p:nvSpPr>
          <p:cNvPr id="765" name="Google Shape;765;p33"/>
          <p:cNvSpPr/>
          <p:nvPr/>
        </p:nvSpPr>
        <p:spPr>
          <a:xfrm>
            <a:off x="566928" y="261518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6" name="Google Shape;766;p33"/>
          <p:cNvSpPr/>
          <p:nvPr/>
        </p:nvSpPr>
        <p:spPr>
          <a:xfrm>
            <a:off x="566928" y="2852928"/>
            <a:ext cx="801014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1" i="0" lang="en-US" sz="2400" u="none" cap="none" strike="noStrike">
                <a:solidFill>
                  <a:srgbClr val="C9A84C"/>
                </a:solidFill>
                <a:latin typeface="Cormorant Garamond"/>
                <a:ea typeface="Cormorant Garamond"/>
                <a:cs typeface="Cormorant Garamond"/>
                <a:sym typeface="Cormorant Garamond"/>
              </a:rPr>
              <a:t>Wednesday, September 23, 2026</a:t>
            </a:r>
            <a:endParaRPr b="0" i="0" sz="2400" u="none" cap="none" strike="noStrike">
              <a:solidFill>
                <a:schemeClr val="dk1"/>
              </a:solidFill>
              <a:latin typeface="Calibri"/>
              <a:ea typeface="Calibri"/>
              <a:cs typeface="Calibri"/>
              <a:sym typeface="Calibri"/>
            </a:endParaRPr>
          </a:p>
        </p:txBody>
      </p:sp>
      <p:sp>
        <p:nvSpPr>
          <p:cNvPr id="767" name="Google Shape;767;p33"/>
          <p:cNvSpPr/>
          <p:nvPr/>
        </p:nvSpPr>
        <p:spPr>
          <a:xfrm>
            <a:off x="566928" y="329184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300"/>
              <a:buFont typeface="DM Sans"/>
              <a:buNone/>
            </a:pPr>
            <a:r>
              <a:rPr b="0" i="0" lang="en-US" sz="1300" u="none" cap="none" strike="noStrike">
                <a:solidFill>
                  <a:srgbClr val="B8C5D9"/>
                </a:solidFill>
                <a:latin typeface="DM Sans"/>
                <a:ea typeface="DM Sans"/>
                <a:cs typeface="DM Sans"/>
                <a:sym typeface="DM Sans"/>
              </a:rPr>
              <a:t>6:00–7:00 PM Central Time  ·  Free  ·  60 minutes  ·  We begin shortly</a:t>
            </a:r>
            <a:endParaRPr b="0" i="0" sz="1300" u="none" cap="none" strike="noStrike">
              <a:solidFill>
                <a:schemeClr val="dk1"/>
              </a:solidFill>
              <a:latin typeface="Calibri"/>
              <a:ea typeface="Calibri"/>
              <a:cs typeface="Calibri"/>
              <a:sym typeface="Calibri"/>
            </a:endParaRPr>
          </a:p>
        </p:txBody>
      </p:sp>
      <p:sp>
        <p:nvSpPr>
          <p:cNvPr id="768" name="Google Shape;768;p33"/>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150"/>
              <a:buFont typeface="DM Sans"/>
              <a:buNone/>
            </a:pPr>
            <a:r>
              <a:rPr b="0" i="1" lang="en-US" sz="1150" u="none" cap="none" strike="noStrike">
                <a:solidFill>
                  <a:srgbClr val="B8C5D9"/>
                </a:solidFill>
                <a:latin typeface="DM Sans"/>
                <a:ea typeface="DM Sans"/>
                <a:cs typeface="DM Sans"/>
                <a:sym typeface="DM Sans"/>
              </a:rPr>
              <a:t>Have the workbook open. Nothing is submitted or collected at any point.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73" name="Shape 773"/>
        <p:cNvGrpSpPr/>
        <p:nvPr/>
      </p:nvGrpSpPr>
      <p:grpSpPr>
        <a:xfrm>
          <a:off x="0" y="0"/>
          <a:ext cx="0" cy="0"/>
          <a:chOff x="0" y="0"/>
          <a:chExt cx="0" cy="0"/>
        </a:xfrm>
      </p:grpSpPr>
      <p:sp>
        <p:nvSpPr>
          <p:cNvPr id="774" name="Google Shape;774;p1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1250" u="none" cap="none" strike="noStrike">
                <a:solidFill>
                  <a:srgbClr val="C9A84C"/>
                </a:solidFill>
                <a:latin typeface="Montserrat"/>
                <a:ea typeface="Montserrat"/>
                <a:cs typeface="Montserrat"/>
                <a:sym typeface="Montserrat"/>
              </a:rPr>
              <a:t>THE MATRIX</a:t>
            </a:r>
            <a:endParaRPr b="0" i="0" sz="1250" u="none" cap="none" strike="noStrike">
              <a:solidFill>
                <a:schemeClr val="dk1"/>
              </a:solidFill>
              <a:latin typeface="Calibri"/>
              <a:ea typeface="Calibri"/>
              <a:cs typeface="Calibri"/>
              <a:sym typeface="Calibri"/>
            </a:endParaRPr>
          </a:p>
        </p:txBody>
      </p:sp>
      <p:sp>
        <p:nvSpPr>
          <p:cNvPr id="775" name="Google Shape;775;p1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four states</a:t>
            </a:r>
            <a:endParaRPr b="0" i="0" sz="3000" u="none" cap="none" strike="noStrike">
              <a:solidFill>
                <a:schemeClr val="dk1"/>
              </a:solidFill>
              <a:latin typeface="Calibri"/>
              <a:ea typeface="Calibri"/>
              <a:cs typeface="Calibri"/>
              <a:sym typeface="Calibri"/>
            </a:endParaRPr>
          </a:p>
        </p:txBody>
      </p:sp>
      <p:sp>
        <p:nvSpPr>
          <p:cNvPr id="776" name="Google Shape;776;p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crossed with Optionality. Your state helps you see a form of exposure your job title cannot.</a:t>
            </a:r>
            <a:endParaRPr b="0" i="0" sz="1150" u="none" cap="none" strike="noStrike">
              <a:solidFill>
                <a:schemeClr val="dk1"/>
              </a:solidFill>
              <a:latin typeface="Calibri"/>
              <a:ea typeface="Calibri"/>
              <a:cs typeface="Calibri"/>
              <a:sym typeface="Calibri"/>
            </a:endParaRPr>
          </a:p>
        </p:txBody>
      </p:sp>
      <p:sp>
        <p:nvSpPr>
          <p:cNvPr id="777" name="Google Shape;777;p12"/>
          <p:cNvSpPr/>
          <p:nvPr/>
        </p:nvSpPr>
        <p:spPr>
          <a:xfrm>
            <a:off x="1133856" y="1792224"/>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p12"/>
          <p:cNvSpPr/>
          <p:nvPr/>
        </p:nvSpPr>
        <p:spPr>
          <a:xfrm>
            <a:off x="1353312" y="1975104"/>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779" name="Google Shape;779;p12"/>
          <p:cNvSpPr/>
          <p:nvPr/>
        </p:nvSpPr>
        <p:spPr>
          <a:xfrm>
            <a:off x="1353312"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200" u="none" cap="none" strike="noStrike">
                <a:solidFill>
                  <a:srgbClr val="5A6B84"/>
                </a:solidFill>
                <a:latin typeface="DM Sans"/>
                <a:ea typeface="DM Sans"/>
                <a:cs typeface="DM Sans"/>
                <a:sym typeface="DM Sans"/>
              </a:rPr>
              <a:t>Deep expertise fused to one context.</a:t>
            </a:r>
            <a:endParaRPr b="0" i="0" sz="1200" u="none" cap="none" strike="noStrike">
              <a:solidFill>
                <a:schemeClr val="dk1"/>
              </a:solidFill>
              <a:latin typeface="Calibri"/>
              <a:ea typeface="Calibri"/>
              <a:cs typeface="Calibri"/>
              <a:sym typeface="Calibri"/>
            </a:endParaRPr>
          </a:p>
        </p:txBody>
      </p:sp>
      <p:sp>
        <p:nvSpPr>
          <p:cNvPr id="780" name="Google Shape;780;p12"/>
          <p:cNvSpPr/>
          <p:nvPr/>
        </p:nvSpPr>
        <p:spPr>
          <a:xfrm>
            <a:off x="4855464" y="1792224"/>
            <a:ext cx="3721608" cy="12070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12"/>
          <p:cNvSpPr/>
          <p:nvPr/>
        </p:nvSpPr>
        <p:spPr>
          <a:xfrm>
            <a:off x="5074920" y="1975104"/>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782" name="Google Shape;782;p12"/>
          <p:cNvSpPr/>
          <p:nvPr/>
        </p:nvSpPr>
        <p:spPr>
          <a:xfrm>
            <a:off x="5074920"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b="1" i="0" lang="en-US" sz="1300" u="none" cap="none" strike="noStrike">
                <a:solidFill>
                  <a:srgbClr val="B8C5D9"/>
                </a:solidFill>
                <a:latin typeface="DM Sans"/>
                <a:ea typeface="DM Sans"/>
                <a:cs typeface="DM Sans"/>
                <a:sym typeface="DM Sans"/>
              </a:rPr>
              <a:t>Deep capability that travels.</a:t>
            </a:r>
            <a:endParaRPr b="1" i="0" sz="1300" u="none" cap="none" strike="noStrike">
              <a:solidFill>
                <a:schemeClr val="dk1"/>
              </a:solidFill>
              <a:latin typeface="Calibri"/>
              <a:ea typeface="Calibri"/>
              <a:cs typeface="Calibri"/>
              <a:sym typeface="Calibri"/>
            </a:endParaRPr>
          </a:p>
        </p:txBody>
      </p:sp>
      <p:sp>
        <p:nvSpPr>
          <p:cNvPr id="783" name="Google Shape;783;p12"/>
          <p:cNvSpPr/>
          <p:nvPr/>
        </p:nvSpPr>
        <p:spPr>
          <a:xfrm>
            <a:off x="1133856"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4" name="Google Shape;784;p12"/>
          <p:cNvSpPr/>
          <p:nvPr/>
        </p:nvSpPr>
        <p:spPr>
          <a:xfrm>
            <a:off x="1353312" y="3182112"/>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785" name="Google Shape;785;p12"/>
          <p:cNvSpPr/>
          <p:nvPr/>
        </p:nvSpPr>
        <p:spPr>
          <a:xfrm>
            <a:off x="1353312"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 work stopped asking more of you.</a:t>
            </a:r>
            <a:endParaRPr b="0" i="0" sz="1100" u="none" cap="none" strike="noStrike">
              <a:solidFill>
                <a:schemeClr val="dk1"/>
              </a:solidFill>
              <a:latin typeface="Calibri"/>
              <a:ea typeface="Calibri"/>
              <a:cs typeface="Calibri"/>
              <a:sym typeface="Calibri"/>
            </a:endParaRPr>
          </a:p>
        </p:txBody>
      </p:sp>
      <p:sp>
        <p:nvSpPr>
          <p:cNvPr id="786" name="Google Shape;786;p12"/>
          <p:cNvSpPr/>
          <p:nvPr/>
        </p:nvSpPr>
        <p:spPr>
          <a:xfrm>
            <a:off x="4855464"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7" name="Google Shape;787;p12"/>
          <p:cNvSpPr/>
          <p:nvPr/>
        </p:nvSpPr>
        <p:spPr>
          <a:xfrm>
            <a:off x="5074920" y="3182112"/>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788" name="Google Shape;788;p12"/>
          <p:cNvSpPr/>
          <p:nvPr/>
        </p:nvSpPr>
        <p:spPr>
          <a:xfrm>
            <a:off x="5074920"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200" u="none" cap="none" strike="noStrike">
                <a:solidFill>
                  <a:srgbClr val="5A6B84"/>
                </a:solidFill>
                <a:latin typeface="DM Sans"/>
                <a:ea typeface="DM Sans"/>
                <a:cs typeface="DM Sans"/>
                <a:sym typeface="DM Sans"/>
              </a:rPr>
              <a:t>Options on paper, not enough depth beneath.</a:t>
            </a:r>
            <a:endParaRPr b="0" i="0" sz="1200" u="none" cap="none" strike="noStrike">
              <a:solidFill>
                <a:schemeClr val="dk1"/>
              </a:solidFill>
              <a:latin typeface="Calibri"/>
              <a:ea typeface="Calibri"/>
              <a:cs typeface="Calibri"/>
              <a:sym typeface="Calibri"/>
            </a:endParaRPr>
          </a:p>
        </p:txBody>
      </p:sp>
      <p:sp>
        <p:nvSpPr>
          <p:cNvPr id="789" name="Google Shape;789;p12"/>
          <p:cNvSpPr/>
          <p:nvPr/>
        </p:nvSpPr>
        <p:spPr>
          <a:xfrm rot="-5400000">
            <a:off x="182880" y="2249424"/>
            <a:ext cx="128016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HIGH</a:t>
            </a:r>
            <a:endParaRPr b="0" i="0" sz="740" u="none" cap="none" strike="noStrike">
              <a:solidFill>
                <a:schemeClr val="dk1"/>
              </a:solidFill>
              <a:latin typeface="Calibri"/>
              <a:ea typeface="Calibri"/>
              <a:cs typeface="Calibri"/>
              <a:sym typeface="Calibri"/>
            </a:endParaRPr>
          </a:p>
        </p:txBody>
      </p:sp>
      <p:sp>
        <p:nvSpPr>
          <p:cNvPr id="790" name="Google Shape;790;p12"/>
          <p:cNvSpPr/>
          <p:nvPr/>
        </p:nvSpPr>
        <p:spPr>
          <a:xfrm rot="-5400000">
            <a:off x="182880" y="3456432"/>
            <a:ext cx="128016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LOW</a:t>
            </a:r>
            <a:endParaRPr b="0" i="0" sz="740" u="none" cap="none" strike="noStrike">
              <a:solidFill>
                <a:schemeClr val="dk1"/>
              </a:solidFill>
              <a:latin typeface="Calibri"/>
              <a:ea typeface="Calibri"/>
              <a:cs typeface="Calibri"/>
              <a:sym typeface="Calibri"/>
            </a:endParaRPr>
          </a:p>
        </p:txBody>
      </p:sp>
      <p:sp>
        <p:nvSpPr>
          <p:cNvPr id="791" name="Google Shape;791;p12"/>
          <p:cNvSpPr/>
          <p:nvPr/>
        </p:nvSpPr>
        <p:spPr>
          <a:xfrm>
            <a:off x="1133856" y="4315968"/>
            <a:ext cx="7443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60"/>
              <a:buFont typeface="Montserrat"/>
              <a:buNone/>
            </a:pPr>
            <a:r>
              <a:rPr b="1" i="0" lang="en-US" sz="760" u="none" cap="none" strike="noStrike">
                <a:solidFill>
                  <a:srgbClr val="5A6B84"/>
                </a:solidFill>
                <a:latin typeface="Montserrat"/>
                <a:ea typeface="Montserrat"/>
                <a:cs typeface="Montserrat"/>
                <a:sym typeface="Montserrat"/>
              </a:rPr>
              <a:t>OPTIONALITY:  LOW AT LEFT   →   HIGH AT RIGHT</a:t>
            </a:r>
            <a:endParaRPr b="0" i="0" sz="760" u="none" cap="none" strike="noStrike">
              <a:solidFill>
                <a:schemeClr val="dk1"/>
              </a:solidFill>
              <a:latin typeface="Calibri"/>
              <a:ea typeface="Calibri"/>
              <a:cs typeface="Calibri"/>
              <a:sym typeface="Calibri"/>
            </a:endParaRPr>
          </a:p>
        </p:txBody>
      </p:sp>
      <p:sp>
        <p:nvSpPr>
          <p:cNvPr id="792" name="Google Shape;792;p1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793" name="Google Shape;793;p1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12</a:t>
            </a:r>
            <a:endParaRPr b="0" i="0" sz="700" u="none" cap="none" strike="noStrike">
              <a:solidFill>
                <a:schemeClr val="dk1"/>
              </a:solidFill>
              <a:latin typeface="Calibri"/>
              <a:ea typeface="Calibri"/>
              <a:cs typeface="Calibri"/>
              <a:sym typeface="Calibri"/>
            </a:endParaRPr>
          </a:p>
        </p:txBody>
      </p:sp>
      <p:sp>
        <p:nvSpPr>
          <p:cNvPr id="794" name="Google Shape;794;p12"/>
          <p:cNvSpPr/>
          <p:nvPr/>
        </p:nvSpPr>
        <p:spPr>
          <a:xfrm>
            <a:off x="1353312"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Neither axis is moving.</a:t>
            </a:r>
            <a:endParaRPr b="0" i="0" sz="1100" u="none" cap="none" strike="noStrike">
              <a:solidFill>
                <a:schemeClr val="dk1"/>
              </a:solidFill>
              <a:latin typeface="Calibri"/>
              <a:ea typeface="Calibri"/>
              <a:cs typeface="Calibri"/>
              <a:sym typeface="Calibri"/>
            </a:endParaRPr>
          </a:p>
        </p:txBody>
      </p:sp>
      <p:sp>
        <p:nvSpPr>
          <p:cNvPr id="795" name="Google Shape;795;p12"/>
          <p:cNvSpPr/>
          <p:nvPr/>
        </p:nvSpPr>
        <p:spPr>
          <a:xfrm>
            <a:off x="5074920"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What you built travels. It is just not being added to.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2026-08-30T18:07:34Z</dcterms:created>
  <dc:creator>Temidayo Afonja</dc:creator>
</cp:coreProperties>
</file>