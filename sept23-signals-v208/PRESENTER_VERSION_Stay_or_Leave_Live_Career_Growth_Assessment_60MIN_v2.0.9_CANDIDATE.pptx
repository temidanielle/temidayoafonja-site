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9" r:id="rId28"/>
    <p:sldId id="296" r:id="rId58"/>
    <p:sldId id="297" r:id="rId59"/>
    <p:sldId id="298" r:id="rId60"/>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78" r:id="rId27"/>
  </p:sldIdLst>
  <p:sldSz cy="5143500" cx="9144000"/>
  <p:notesSz cx="5143500" cy="9144000"/>
  <p:embeddedFontLst>
    <p:embeddedFont>
      <p:font typeface="Cormorant Garamond"/>
      <p:regular r:id="rId45"/>
      <p:bold r:id="rId46"/>
      <p:italic r:id="rId47"/>
      <p:boldItalic r:id="rId48"/>
    </p:embeddedFont>
    <p:embeddedFont>
      <p:font typeface="Montserrat"/>
      <p:regular r:id="rId49"/>
      <p:bold r:id="rId50"/>
      <p:italic r:id="rId51"/>
      <p:boldItalic r:id="rId52"/>
    </p:embeddedFont>
    <p:embeddedFont>
      <p:font typeface="DM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QTHdQxO/Tz/5Dji6BoiR1EHK3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font" Target="fonts/CormorantGaramond-regular.fntdata"/><Relationship Id="rId46" Type="http://schemas.openxmlformats.org/officeDocument/2006/relationships/font" Target="fonts/CormorantGaramond-bold.fntdata"/><Relationship Id="rId47" Type="http://schemas.openxmlformats.org/officeDocument/2006/relationships/font" Target="fonts/CormorantGaramond-italic.fntdata"/><Relationship Id="rId48" Type="http://schemas.openxmlformats.org/officeDocument/2006/relationships/font" Target="fonts/CormorantGaramond-boldItalic.fntdata"/><Relationship Id="rId49" Type="http://schemas.openxmlformats.org/officeDocument/2006/relationships/font" Target="fonts/Montserrat-regular.fntdata"/><Relationship Id="rId50" Type="http://schemas.openxmlformats.org/officeDocument/2006/relationships/font" Target="fonts/Montserrat-bold.fntdata"/><Relationship Id="rId51" Type="http://schemas.openxmlformats.org/officeDocument/2006/relationships/font" Target="fonts/Montserrat-italic.fntdata"/><Relationship Id="rId52" Type="http://schemas.openxmlformats.org/officeDocument/2006/relationships/font" Target="fonts/Montserrat-boldItalic.fntdata"/><Relationship Id="rId53" Type="http://schemas.openxmlformats.org/officeDocument/2006/relationships/font" Target="fonts/DMSans-regular.fntdata"/><Relationship Id="rId54" Type="http://schemas.openxmlformats.org/officeDocument/2006/relationships/font" Target="fonts/DMSans-bold.fntdata"/><Relationship Id="rId55" Type="http://schemas.openxmlformats.org/officeDocument/2006/relationships/font" Target="fonts/DMSans-italic.fntdata"/><Relationship Id="rId56" Type="http://schemas.openxmlformats.org/officeDocument/2006/relationships/font" Target="fonts/DMSans-boldItalic.fntdata"/><Relationship Id="rId57" Type="http://customschemas.google.com/relationships/presentationmetadata" Target="metadata"/><Relationship Id="rId58" Type="http://schemas.openxmlformats.org/officeDocument/2006/relationships/slide" Target="slides/slide25.xml"/><Relationship Id="rId59" Type="http://schemas.openxmlformats.org/officeDocument/2006/relationships/slide" Target="slides/slide26.xml"/><Relationship Id="rId60"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fbec47727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fbec47727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0:00-0:30. THIRTY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no date on this slide by design.</a:t>
            </a:r>
            <a:endParaRPr/>
          </a:p>
        </p:txBody>
      </p:sp>
      <p:sp>
        <p:nvSpPr>
          <p:cNvPr id="18" name="Google Shape;18;g3fbec47727c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fbec47727c_0_81:notes"/>
          <p:cNvSpPr/>
          <p:nvPr>
            <p:ph idx="2" type="sldImg"/>
          </p:nvPr>
        </p:nvSpPr>
        <p:spPr>
          <a:xfrm>
            <a:off x="-3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g3fbec47727c_0_81:notes"/>
          <p:cNvSpPr txBox="1"/>
          <p:nvPr>
            <p:ph idx="1" type="body"/>
          </p:nvPr>
        </p:nvSpPr>
        <p:spPr>
          <a:xfrm>
            <a:off x="0" y="0"/>
            <a:ext cx="2250000" cy="3000000"/>
          </a:xfrm>
          <a:prstGeom prst="rect">
            <a:avLst/>
          </a:prstGeom>
          <a:noFill/>
          <a:ln>
            <a:noFill/>
          </a:ln>
        </p:spPr>
        <p:txBody>
          <a:bodyPr anchorCtr="0" anchor="t" bIns="45700" lIns="91425" spcFirstLastPara="1" rIns="91425" wrap="square" tIns="45700">
            <a:noAutofit/>
          </a:bodyPr>
          <a:lstStyle/>
          <a:p>
            <a:r>
              <a:t>TIMING: 0:00-1:00 IS THE OPENING BLOCK. Slide 1 holds 0:00-0:30 and this slide holds 0:30-1:00. Two sentences of biography, then the question, then advance. If you are still talking at 1:00 you have taken the reframe's time.</a:t>
            </a:r>
          </a:p>
          <a:p/>
          <a:p>
            <a:r>
              <a:t>WHAT TO SAY: two sentences of biography, then the question. The point of the list of fields is not breadth for its own sake. It is that the same person kept having to work out what carried over.</a:t>
            </a:r>
          </a:p>
          <a:p/>
          <a:p>
            <a:r>
              <a:t>WORKED EXAMPLE: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32" name="Google Shape;32;g3fbec47727c_0_81:notes"/>
          <p:cNvSpPr txBox="1"/>
          <p:nvPr>
            <p:ph idx="12" type="sldNum"/>
          </p:nvPr>
        </p:nvSpPr>
        <p:spPr>
          <a:xfrm>
            <a:off x="0" y="0"/>
            <a:ext cx="225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1:00-1:50. FIFTY SECONDS. The reframe is the first fifteen. The rest is the story below.</a:t>
            </a:r>
          </a:p>
          <a:p/>
          <a:p>
            <a: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p>
          <a:p/>
          <a:p>
            <a:r>
              <a:t>SPOKEN WARRANT - SAY IT, DO NOT SKIP IT. Approximately thirty to forty-five seconds, and no longer:</a:t>
            </a:r>
          </a:p>
          <a:p>
            <a:r>
              <a:t>"When I moved from audit into cybersecurity, I did not start from zero. Evidence, controls and risk traveled with me. Cybersecurity language, privacy frameworks and technical context did not. Portability was not plug-and-play. Something important came with me, and the new context still required real relearning."</a:t>
            </a:r>
          </a:p>
          <a:p/>
          <a:p>
            <a:r>
              <a:t>Then land the point in one line: I did not start from zero, and I did not carry everything either.</a:t>
            </a:r>
          </a:p>
          <a:p/>
          <a:p>
            <a:r>
              <a:t>DO NOT ADD TO THE STORY. No dates, no employers, no metrics, no reactions, no reason for the move, no outcome, and nothing further about what transferred. This is warrant, not biography. If you find yourself explaining the move, you have already gone too long.</a:t>
            </a:r>
          </a:p>
          <a:p/>
          <a:p>
            <a:r>
              <a:t>Do not answer the stay/leave question. Say plainly that the session reads the position underneath it.</a:t>
            </a:r>
          </a:p>
        </p:txBody>
      </p:sp>
      <p:sp>
        <p:nvSpPr>
          <p:cNvPr id="48" name="Google Shape;4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11f538478445b104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11f538478445b104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 THIS IS THE RECORDING AND PRIVACY DISCLOSURE. It must be delivered inside the first five minutes. Deliver it here, at minute 1:50.</a:t>
            </a:r>
          </a:p>
          <a:p/>
          <a:p>
            <a:r>
              <a:t>TIMING: 1:50-2:30. FORTY SECONDS.</a:t>
            </a:r>
          </a:p>
          <a:p/>
          <a:p>
            <a:r>
              <a:t>FACILITATION: deliver the disclosure, name the boundary, point at the workbook, move. Forty seconds total. Do not let this become a preamble.</a:t>
            </a:r>
          </a:p>
          <a:p/>
          <a:p>
            <a:r>
              <a:t>SAY IT ONCE, CALMLY, AND DO NOT EXPAND IT INTO A DISCLAIMER: "The teaching portion is recorded so people can revisit the method. Your scores and your private workbook stay yours. The live Q&amp;A at the end is not part of the evergreen replay."</a:t>
            </a:r>
          </a:p>
          <a:p/>
          <a:p>
            <a:r>
              <a:t>WORKBOOK: page 1 carries the same boundary and privacy language. Tell the room the workbook is open in full from the start. Nothing is released in stages.</a:t>
            </a:r>
          </a:p>
          <a:p/>
          <a:p>
            <a:r>
              <a:t>Participant microphones are muted by default for the whole recorded core.</a:t>
            </a:r>
          </a:p>
        </p:txBody>
      </p:sp>
      <p:sp>
        <p:nvSpPr>
          <p:cNvPr id="64" name="Google Shape;64;h11f538478445b104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38333402142a079_2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38333402142a079_2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Divider. Advance immediately.</a:t>
            </a:r>
          </a:p>
        </p:txBody>
      </p:sp>
      <p:sp>
        <p:nvSpPr>
          <p:cNvPr id="84" name="Google Shape;84;h38333402142a079_2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8333402142a079_2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38333402142a079_2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2:30-3:45. SEVENTY-FIVE SECONDS.</a:t>
            </a:r>
          </a:p>
          <a:p/>
          <a:p>
            <a:r>
              <a:t>FACILITATION: ask the question on the slide first and let it sit for a beat. Only then give it the name. The room recognizes the question before it learns the word.</a:t>
            </a:r>
          </a:p>
          <a:p/>
          <a:p>
            <a:r>
              <a:t>WHAT TO SAY, in your own words: is the work still asking more of your judgment than it used to? That is what Density reads. It is about your conditions, not your effort, which is why a role can be demanding and important and still stop forming you.</a:t>
            </a:r>
          </a:p>
          <a:p/>
          <a:p>
            <a:r>
              <a:t>Give the one correction that matters, that busy is not the same as forming, and stop. The full teaching treatment is downstream, not here.</a:t>
            </a:r>
          </a:p>
          <a:p/>
          <a:p>
            <a:r>
              <a:t>Do not take questions on the definition now. Say they will make more sense once people have scored.</a:t>
            </a:r>
          </a:p>
        </p:txBody>
      </p:sp>
      <p:sp>
        <p:nvSpPr>
          <p:cNvPr id="92" name="Google Shape;92;h38333402142a079_2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8333402142a079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38333402142a079_2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3:45-5:00. SEVENTY-FIVE SECONDS.</a:t>
            </a:r>
          </a:p>
          <a:p/>
          <a:p>
            <a:r>
              <a:t>FACILITATION: same shape as the last slide. Ask the question, let it sit, then name it. The story on slide 2 was the warrant for this slide, so you can refer back to it in a phrase rather than retelling it.</a:t>
            </a:r>
          </a:p>
          <a:p/>
          <a:p>
            <a:r>
              <a:t>WHAT TO SAY, in your own words: would what you are building still be useful somewhere else, and could you make it legible to someone outside your organization using evidence rather than your title? That is Optionality.</a:t>
            </a:r>
          </a:p>
          <a:p/>
          <a:p>
            <a: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p>
          <a:p/>
          <a:p>
            <a: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p>
          <a:p/>
          <a:p>
            <a:r>
              <a:t>Next slide begins the private scoring. Tell the room to have the workbook open at page 2.</a:t>
            </a:r>
          </a:p>
          <a:p/>
          <a:p>
            <a: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p>
          <a:p>
            <a: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p>
        </p:txBody>
      </p:sp>
      <p:sp>
        <p:nvSpPr>
          <p:cNvPr id="106" name="Google Shape;106;h38333402142a079_2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5:00-6:40.</a:t>
            </a:r>
            <a:br/>
            <a:br/>
            <a:r>
              <a:t>FACILITATION: One hundred seconds. Read each statement once, then stay silent while people score. Do not fill the silence.</a:t>
            </a:r>
            <a:br/>
            <a:br/>
            <a:r>
              <a:t>WHAT TO SAY: score each statement 1 to 5 against the last ninety days only. No evidence line yet. That is deliberate, and you will see why.</a:t>
            </a: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6:40-8:10.</a:t>
            </a:r>
            <a:br/>
            <a:br/>
            <a:r>
              <a:t>FACILITATION: Ninety seconds. Same rhythm. Do not signal that the scores are expected to change. That reveal has to be earned by the evidence pass.</a:t>
            </a:r>
            <a:br/>
            <a:br/>
            <a:r>
              <a:t>WHAT TO SAY: score each statement 1 to 5 against the last ninety days only. No evidence line yet. That is deliberate, and you will see why.</a:t>
            </a: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2.</a:t>
            </a:r>
            <a:br/>
            <a:br/>
            <a:r>
              <a:t>TIMING: 8:10-8:40.</a:t>
            </a:r>
            <a:br/>
            <a:br/>
            <a:r>
              <a:t>FACILITATION: Thirty seconds. Total and hold. Do not explain the states yet.</a:t>
            </a:r>
            <a:br/>
            <a:br/>
            <a:r>
              <a:t>THE BOUNDARY BAND OVERRIDES THE HIGH/LOW SPLIT. 19-30 high and 6-18 low are the ordinary classification. A total of 17 to 21 falls inside the boundary band, and the boundary reading takes precedence: no single state is assigned and the participant reads both neighboring states. Say this now, not later. It prevents the most common placement error.</a:t>
            </a:r>
            <a:br/>
            <a:br/>
            <a:r>
              <a:t>Do not ask for totals. Do not poll. Nothing is collected.</a:t>
            </a: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8:40-10:10.</a:t>
            </a:r>
            <a:br/>
            <a:br/>
            <a:r>
              <a:t>FACILITATION: Ninety seconds.</a:t>
            </a:r>
            <a:br/>
            <a:br/>
            <a:r>
              <a:t>WHAT TO SAY: score each statement 1 to 5 against the last ninety days only. No evidence line yet. That is deliberate, and you will see why.</a:t>
            </a: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10:10-11:40.</a:t>
            </a:r>
            <a:br/>
            <a:br/>
            <a:r>
              <a:t>FACILITATION: Ninety seconds. This is the last block of the first pass.</a:t>
            </a:r>
            <a:br/>
            <a:br/>
            <a:r>
              <a:t>WHAT TO SAY: score each statement 1 to 5 against the last ninety days only. No evidence line yet. That is deliberate, and you will see why.</a:t>
            </a: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11:40-12:00.</a:t>
            </a:r>
            <a:br/>
            <a:br/>
            <a:r>
              <a:t>FACILITATION: Twenty seconds. You now hold two numbers. The pair is the point of today.</a:t>
            </a:r>
            <a:br/>
            <a:br/>
            <a:r>
              <a:t>THE BOUNDARY BAND OVERRIDES THE HIGH/LOW SPLIT. 19-30 high and 6-18 low are the ordinary classification. A total of 17 to 21 falls inside the boundary band, and the boundary reading takes precedence: no single state is assigned and the participant reads both neighboring states. Say this now, not later. It prevents the most common placement error.</a:t>
            </a:r>
            <a:br/>
            <a:br/>
            <a:r>
              <a:t>Do not ask for totals. Do not poll. Nothing is collected.</a:t>
            </a:r>
          </a:p>
        </p:txBody>
      </p:sp>
      <p:sp>
        <p:nvSpPr>
          <p:cNvPr id="223" name="Google Shape;2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38333402142a079_2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38333402142a079_2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Divider. Advance immediately.</a:t>
            </a:r>
          </a:p>
        </p:txBody>
      </p:sp>
      <p:sp>
        <p:nvSpPr>
          <p:cNvPr id="239" name="Google Shape;239;h38333402142a079_2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11f538478445b104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11f538478445b104_2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br/>
            <a:br/>
            <a:r>
              <a:t>TIMING: 12:00-13:00. SIXTY SECONDS.</a:t>
            </a:r>
            <a:br/>
            <a:br/>
            <a:r>
              <a:t>FACILITATION: name each square once. Do not teach the state costs here. That block is at 33:00. Do not ask which square anyone is in.</a:t>
            </a:r>
            <a:br/>
          </a:p>
          <a:p>
            <a:r>
              <a:t>Lowest: Stagnant. Bottom-left, both axes low. "The work stopped asking more of you" plus no portability. Nothing is accruing in either direction.</a:t>
            </a:r>
          </a:p>
          <a:p>
            <a:r>
              <a:t>Then Depth Trap. Top-left. High Density, low Optionality. Reads as second-lowest but clearly above Stagnant, because something real is still being built. It just doesn't travel.</a:t>
            </a:r>
          </a:p>
          <a:p>
            <a:r>
              <a:t>Then Fragile. Bottom-right. Low Density, high Optionality. What you have moves, but nothing new is being added underneath it.</a:t>
            </a:r>
          </a:p>
          <a:p>
            <a:r>
              <a:t>Highest: Compounding. Top-right, both high, and the only square you inverted to navy.</a:t>
            </a:r>
            <a:br/>
            <a:r>
              <a:t>Compounding is set apart because it is the one square where both axes are high. It is a structural fact about the matrix, not a ranking, and not a square to aim for. Say "state is not identity" out loud on the next slide.</a:t>
            </a:r>
          </a:p>
        </p:txBody>
      </p:sp>
      <p:sp>
        <p:nvSpPr>
          <p:cNvPr id="247" name="Google Shape;247;h11f538478445b104_2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3.</a:t>
            </a:r>
            <a:br/>
            <a:br/>
            <a:r>
              <a:t>TIMING: 13:00-14:00. SIXTY SECONDS.</a:t>
            </a:r>
            <a:br/>
            <a:br/>
            <a:r>
              <a:t>FACILITATION: everyone proceeds on the clock. There is no readiness poll, no staged release and no waiting for the room. This has to work with a large audience.</a:t>
            </a:r>
            <a:br/>
            <a:br/>
            <a:r>
              <a:t>Say "state is not identity" here, plainly, and say that boundary is a legitimate reading rather than a failure to decide.</a:t>
            </a:r>
            <a:br/>
            <a:br/>
            <a:r>
              <a:t>Do not ask for a show of hands on states. Do not invite anyone to name their square, their employer or their situation.</a:t>
            </a:r>
          </a:p>
        </p:txBody>
      </p:sp>
      <p:sp>
        <p:nvSpPr>
          <p:cNvPr id="274" name="Google Shape;2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4.</a:t>
            </a:r>
            <a:br/>
            <a:br/>
            <a:r>
              <a:t>TIMING: 14:00-16:00. TWO MINUTES.</a:t>
            </a:r>
            <a:br/>
            <a:br/>
            <a:r>
              <a:t>FACILITATION: the protocol is symmetric. That is the whole point. Low scores need evidence too, or the exercise becomes self-criticism.</a:t>
            </a:r>
            <a:br/>
            <a:br/>
            <a:r>
              <a:t>The ? is not a softer 3. A 3 is a real reading of a mixed pattern. A ? means you could not support any number. One question mark only, and it stays inside the 1 to 5 scale: the workbook will not accept 0?, 6?, two question marks, or a question mark on its own.</a:t>
            </a:r>
            <a:br/>
            <a:br/>
            <a:r>
              <a:t>Give permission for the ? BEFORE the rescore starts, or people round down to look rigorous and reproduce the artefact the rule exists to prevent.</a:t>
            </a: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4.</a:t>
            </a:r>
            <a:br/>
            <a:br/>
            <a:r>
              <a:t>TIMING: 16:00-18:00. TWO MINUTES. Forty seconds each.</a:t>
            </a:r>
            <a:br/>
            <a:br/>
            <a:r>
              <a:t>FACILITATION: one minute per misreading, in order, then stop. Do not take questions here. Hold them for minute 50.</a:t>
            </a:r>
            <a:br/>
            <a:br/>
            <a:r>
              <a:t>This slide replaces three separate calibration slides. Do not expand it back out and do not add a fourth misreading.</a:t>
            </a:r>
            <a:br/>
            <a:br/>
            <a:r>
              <a:t>ONE: this occurs when someone scores the work they are about to do rather than the work that actually occurred inside the evidence window. Do not describe it as common, typical or most frequent. This session has no measurement that supports a prevalence claim.</a:t>
            </a:r>
            <a:br/>
            <a:br/>
            <a:r>
              <a:t>TWO: careful with tone. It can describe someone genuinely excellent at the work. Being needed is good; assuming it forms you is the misread.</a:t>
            </a:r>
            <a:br/>
            <a:br/>
            <a:r>
              <a:t>THREE: say the panel as written. Do not rank the causes and do not imply one is more common than another.</a:t>
            </a:r>
            <a:br/>
            <a:br/>
            <a:r>
              <a:t>Land the third one and move straight into the rescore. Do not take questions here. Hold them for minute 50.</a:t>
            </a:r>
          </a:p>
        </p:txBody>
      </p:sp>
      <p:sp>
        <p:nvSpPr>
          <p:cNvPr id="321" name="Google Shape;32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p>
          <a:p/>
          <a:p>
            <a:r>
              <a:t>TIMING: 18:00-30:00. TWELVE MINUTES. PROTECTED AND NON-NEGOTIABLE.</a:t>
            </a:r>
          </a:p>
          <a:p/>
          <a:p>
            <a:r>
              <a:t>FACILITATION: read the instruction once, then hold this slide and stay quiet. One short orientation cue at the midpoint, then the two warnings. Nothing else.</a:t>
            </a:r>
          </a:p>
          <a:p/>
          <a:p>
            <a:r>
              <a:t>NEVER RECOVER LOST TIME HERE. This block is the evidentiary center of the session and the thing that makes it an assessment rather than a talk. If you are behind at minute 18, take the time from the 46:00-48:00 continuation sequence or the 49:00-50:00 buffer, never from this block.</a:t>
            </a:r>
          </a:p>
          <a:p/>
          <a:p>
            <a:r>
              <a:t>This slide holds for the full twelve minutes. Do not advance and do not fill the silence.</a:t>
            </a:r>
          </a:p>
          <a:p/>
          <a:p>
            <a:r>
              <a:t>ONE MIDPOINT CUE AT ABOUT 24:00. This is facilitator presence, not teaching. Say it once, quietly, then return to silence: "If you are around statement six, you are on pace. Keep the evidence phrases short." Do not add anything to it, do not answer a question in it, and do not restate the protocol.</a:t>
            </a:r>
          </a:p>
          <a:p/>
          <a:p>
            <a:r>
              <a:t>Give a two-minute warning at 28:00 and a thirty-second warning at 29:30. Keep your own microphone quiet the rest of the time.</a:t>
            </a:r>
          </a:p>
          <a:p/>
          <a:p>
            <a:r>
              <a:t>Short evidence phrases, not essays. Twelve statements in twelve minutes is sixty seconds each.</a:t>
            </a:r>
          </a:p>
        </p:txBody>
      </p:sp>
      <p:sp>
        <p:nvSpPr>
          <p:cNvPr id="347" name="Google Shape;3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br/>
            <a:br/>
            <a:r>
              <a:t>TIMING: 30:00-31:00. SIXTY SECONDS.</a:t>
            </a:r>
            <a:br/>
            <a:br/>
            <a:r>
              <a:t>FACILITATION: insist on the re-total. People try to eyeball whether the square changed. The number has to be recomputed.</a:t>
            </a:r>
            <a:br/>
            <a:br/>
            <a:r>
              <a:t>A marked score counts as its number when totaling: 3? totals as 3. The question mark changes what happens NEXT, on the sensitivity slide, not the arithmetic here.</a:t>
            </a:r>
            <a:br/>
            <a:br/>
            <a:r>
              <a:t>Boundary band: a corrected total of 17 to 21 overrides the ordinary high/low split. Say it again here.</a:t>
            </a:r>
          </a:p>
        </p:txBody>
      </p:sp>
      <p:sp>
        <p:nvSpPr>
          <p:cNvPr id="372" name="Google Shape;3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7.</a:t>
            </a:r>
          </a:p>
          <a:p/>
          <a:p>
            <a:r>
              <a:t>TIMING: 31:00-32:00. SIXTY SECONDS.</a:t>
            </a:r>
          </a:p>
          <a:p/>
          <a:p>
            <a:r>
              <a:t>FACILITATION: thirty seconds per tier. Teach all three even though most of the room will only need one.</a:t>
            </a:r>
          </a:p>
          <a:p/>
          <a:p>
            <a:r>
              <a:t>THE SLIDE IS NOW THE SUMMARY, NOT THE SPECIFICATION. The full procedure is on workbook page 4 and is repeated below. Read the three tiers off the slide and let the workbook carry the mechanics.</a:t>
            </a:r>
          </a:p>
          <a:p/>
          <a:p>
            <a:r>
              <a:t>Teach all three tiers explicitly. A participant with no marked items can sit through the procedure believing they must run it. Say plainly that they do not.</a:t>
            </a:r>
          </a:p>
          <a:p/>
          <a:p>
            <a:r>
              <a:t>NONE: no range required. 1 OR 2: the axis is provisional, run the check. 3 OR MORE: the axis is incomplete and you do not place on it today.</a:t>
            </a:r>
          </a:p>
          <a:p/>
          <a:p>
            <a:r>
              <a:t>THE FULL SENSITIVITY PROCEDURE, for the room that asks and for workbook page 4: total the axis using the numbers exactly as written; total it again with every marked item one point lower; total it again one point higher. Every neighboring score stays bounded inside the 1 to 5 scale, so a 1? is never tested at 0 and a 5? never at 6. If the range includes any total from 17 to 21, do not force a state, and hold the axis as boundary.</a:t>
            </a:r>
          </a:p>
          <a:p/>
          <a:p>
            <a:r>
              <a:t>THE DUAL-AXIS BOUNDARY RULE, said plainly:</a:t>
            </a:r>
          </a:p>
          <a:p>
            <a:r>
              <a:t>If exactly ONE axis is inside 17 to 21, read the two adjacent states that the OTHER axis selects. A boundary Density with high Optionality reads across Compounding and Fragile.</a:t>
            </a:r>
          </a:p>
          <a:p>
            <a:r>
              <a:t>If BOTH axes are inside 17 to 21, record Boundary and assign no single state at all.</a:t>
            </a:r>
          </a:p>
          <a:p/>
          <a:p>
            <a: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p>
          <a:p/>
          <a:p>
            <a:r>
              <a:t>Say the boundary out loud: this is an operational convention, not a statistical confidence interval, and it carries no margin of error. Boundary and incomplete are legitimate outcomes.</a:t>
            </a:r>
          </a:p>
          <a:p/>
          <a:p>
            <a:r>
              <a:t>METHOD UNCHANGED IN v2.0.6. Only the slide face was simplified. The tiers, the band, the bounded neighboring scores and the dual-axis rule are exactly what v2.0.5 carried.</a:t>
            </a:r>
          </a:p>
        </p:txBody>
      </p:sp>
      <p:sp>
        <p:nvSpPr>
          <p:cNvPr id="390" name="Google Shape;3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7.</a:t>
            </a:r>
          </a:p>
          <a:p/>
          <a:p>
            <a:r>
              <a:t>TIMING: 32:00-33:00. SIXTY SECONDS.</a:t>
            </a:r>
          </a:p>
          <a:p/>
          <a:p>
            <a:r>
              <a:t>FACILITATION: give the instruction, then let them place. Do not narrate over the writing.</a:t>
            </a:r>
          </a:p>
          <a:p/>
          <a:p>
            <a:r>
              <a:t>State plainly that boundary and incomplete are real readings, not failures.</a:t>
            </a:r>
          </a:p>
          <a:p/>
          <a:p>
            <a: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p>
          <a:p/>
          <a:p>
            <a:r>
              <a:t>The one poll this session permits is the optional anonymous arrival poll, which runs BEFORE the recording starts while the dated holding slide is up. It is specified in the SOP. It never runs here.</a:t>
            </a:r>
          </a:p>
          <a:p/>
          <a:p>
            <a:r>
              <a:t>Do not invite anyone to name their square, their confidence number, their employer or their circumstances.</a:t>
            </a:r>
          </a:p>
        </p:txBody>
      </p:sp>
      <p:sp>
        <p:nvSpPr>
          <p:cNvPr id="416" name="Google Shape;41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bec4772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bec4772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APPENDIX. OPTIONAL, AND OUT OF THE TIMED CORE.</a:t>
            </a:r>
            <a:br/>
            <a:br/>
            <a:r>
              <a:t>This interaction belonged to the earlier long-form build. The 60-minute run of show has no room for it and it is NOT part of the fifty-minute core. Do not insert it.</a:t>
            </a:r>
            <a:br/>
            <a:br/>
            <a:r>
              <a:t>Use it only if a delivery genuinely runs ahead, which should not happen, or in a longer non-Lightning-Lesson delivery of the same material.</a:t>
            </a:r>
            <a:br/>
            <a:br/>
            <a:r>
              <a:t>If it is ever used: DO NOT read singleton counts aloud. DO NOT ask anyone to reveal their state. DO NOT say "most people change." That is a research claim this session cannot support.</a:t>
            </a:r>
          </a:p>
        </p:txBody>
      </p:sp>
      <p:sp>
        <p:nvSpPr>
          <p:cNvPr id="439" name="Google Shape;439;g3fbec4772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33:00-36:00. THREE MINUTES. Forty-five seconds per state.</a:t>
            </a:r>
          </a:p>
          <a:p/>
          <a:p>
            <a:r>
              <a:t>FACILITATION: one pass, four states, no favorites. Keep your eye on the clock, this block overruns easily.</a:t>
            </a:r>
          </a:p>
          <a:p/>
          <a:p>
            <a:r>
              <a:t>Give each state its essential reading and stop. Do NOT teach the heaviest square for this room and do NOT deepen a state based on audience distribution. Those are Intensive Edition mechanics and there is no room for them in sixty minutes.</a:t>
            </a:r>
          </a:p>
          <a:p/>
          <a:p>
            <a: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p>
          <a:p/>
          <a:p>
            <a:r>
              <a:t>If you are running behind, this is NOT the block to cut. Take it from 46:00-48:00.</a:t>
            </a:r>
          </a:p>
        </p:txBody>
      </p:sp>
      <p:sp>
        <p:nvSpPr>
          <p:cNvPr id="458" name="Google Shape;4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8.</a:t>
            </a:r>
          </a:p>
          <a:p/>
          <a:p>
            <a:r>
              <a:t>TIMING: 39:00-42:00. THREE MINUTES. About twenty-five seconds each.</a:t>
            </a:r>
          </a:p>
          <a:p/>
          <a:p>
            <a:r>
              <a:t>FACILITATION: read the category and its line, move to the next. Resist elaborating.</a:t>
            </a:r>
          </a:p>
          <a:p/>
          <a:p>
            <a:r>
              <a:t>Read each category and its one-line reading. Do not work examples, there is no room for them in sixty minutes.</a:t>
            </a:r>
          </a:p>
          <a:p/>
          <a:p>
            <a: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the conditions is a category to test, not an instruction to stay.</a:t>
            </a:r>
          </a:p>
          <a:p/>
          <a:p>
            <a:r>
              <a:t>Prepare for exit is preparation, not a recommendation to resign. Say it that way.</a:t>
            </a:r>
          </a:p>
          <a:p/>
          <a:p>
            <a:r>
              <a:t>Say the bottom line as written: no square prescribes a category. Someone in Depth Trap is not instructed to translate; someone in Fragile is not instructed to exit.</a:t>
            </a:r>
          </a:p>
        </p:txBody>
      </p:sp>
      <p:sp>
        <p:nvSpPr>
          <p:cNvPr id="481" name="Google Shape;4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8.</a:t>
            </a:r>
          </a:p>
          <a:p/>
          <a:p>
            <a:r>
              <a:t>TIMING: 42:00-46:00. FOUR MINUTES. This is a real writing period, protect it.</a:t>
            </a:r>
          </a:p>
          <a:p/>
          <a:p>
            <a:r>
              <a:t>FACILITATION: read the four portability questions once, read the three prompts once, then stop talking for the rest of the block.</a:t>
            </a:r>
          </a:p>
          <a:p/>
          <a:p>
            <a:r>
              <a:t>THE FOUR-QUESTION PORTABILITY AUDIT IS ON THIS SLIDE AND IS SPOKEN ONCE, HERE. It is the interpretive frame for the note, not a new exercise: there is nothing to score and nothing to hand in. Read them and move on:</a:t>
            </a:r>
          </a:p>
          <a:p>
            <a:r>
              <a:t>What travels? What does not? What can I prove? What must I relearn?</a:t>
            </a:r>
          </a:p>
          <a:p/>
          <a:p>
            <a:r>
              <a:t>SAY THE DESTINATION BOUNDARY IN ONE LINE. You cannot fully answer what travels until you know where it is traveling to. Generic portability is not destination-specific portability, and this session has not named anyone's destination. What the four questions do here is tell you which of them your evidence can already answer and which one is still open.</a:t>
            </a:r>
          </a:p>
          <a:p/>
          <a:p>
            <a:r>
              <a:t>Read the three prompts once, then stop talking and let people write. Four minutes feels long from the front and short from the seat.</a:t>
            </a:r>
          </a:p>
          <a:p/>
          <a:p>
            <a:r>
              <a:t>Do not call it the Next-Move Decision. That is the Intensive Edition's artifact and it is a different, longer instrument.</a:t>
            </a:r>
          </a:p>
          <a:p/>
          <a:p>
            <a:r>
              <a:t>Do not ask anyone to read theirs aloud, and do not invite anyone to share a move category, an employer or a situation.</a:t>
            </a:r>
          </a:p>
          <a:p/>
          <a:p>
            <a:r>
              <a:t>Give a sixty-second warning at 45:00.</a:t>
            </a:r>
          </a:p>
        </p:txBody>
      </p:sp>
      <p:sp>
        <p:nvSpPr>
          <p:cNvPr id="520" name="Google Shape;52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46:00-47:00. SIXTY SECONDS. The continuation sequence is the first place to take time from if you are behind.</a:t>
            </a:r>
          </a:p>
          <a:p/>
          <a:p>
            <a:r>
              <a:t>FACILITATION: read the two routes in order, land route one, then move. Do not linger and do not add examples.</a:t>
            </a:r>
          </a:p>
          <a:p/>
          <a:p>
            <a:r>
              <a:t>ROUTE 1 IS NOT A THROWAWAY. Say it first and say it plainly. The credibility of the next slide depends on genuinely releasing the people who have enough.</a:t>
            </a:r>
          </a:p>
          <a:p/>
          <a:p>
            <a:r>
              <a:t>WHAT TO SAY: "Some of you now have enough to act. Good, you do not need anything else from me today. Some of you want a structured system you can keep working with privately. Different needs, different routes."</a:t>
            </a:r>
          </a:p>
          <a:p/>
          <a:p>
            <a: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p>
          <a:p/>
          <a:p>
            <a:r>
              <a:t>Keep the Proof is not on this slide either, and that is deliberate. It answers a different problem and belongs in follow-up, not in the recorded continuation sequence.</a:t>
            </a:r>
          </a:p>
          <a:p/>
          <a:p>
            <a:r>
              <a:t>NO PRICING ON THIS SLIDE. Do not say "if you want to buy", "I have two offers" or "special opportunity".</a:t>
            </a:r>
          </a:p>
        </p:txBody>
      </p:sp>
      <p:sp>
        <p:nvSpPr>
          <p:cNvPr id="553" name="Google Shape;5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be9e34838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fbe9e34838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47:00-48:00. SIXTY SECONDS.</a:t>
            </a:r>
          </a:p>
          <a:p/>
          <a:p>
            <a:r>
              <a:t>FACILITATION: name what today already gave them, then name what the Field Kit adds. Sixty seconds. If you are behind, this is the first slide to shorten.</a:t>
            </a:r>
          </a:p>
          <a:p/>
          <a:p>
            <a:r>
              <a:t>TODAY IS COMPLETE. Say so. This session delivers a full guided reading. The Field Kit is not the rest of it. It is a private system they can own, revisit and rerun as conditions change.</a:t>
            </a:r>
          </a:p>
          <a:p/>
          <a:p>
            <a:r>
              <a:t>Do not call the Field Kit the complete version of the session, the full assessment, required, included, a bundle, or more worksheets.</a:t>
            </a:r>
          </a:p>
          <a:p/>
          <a:p>
            <a: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p>
          <a:p/>
          <a:p>
            <a: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p>
          <a:p/>
          <a:p>
            <a:r>
              <a:t>IMMEDIATELY BEFORE DELIVERY, VERIFY THE CURRENT PUBLIC PRICE AND PURCHASE ROUTE. If both remain current, post the purchase link and current price in the live chat. The permanent replay slide remains price-free.</a:t>
            </a:r>
          </a:p>
          <a:p/>
          <a:p>
            <a:r>
              <a:t>PREBUILT CHAT MESSAGE:</a:t>
            </a:r>
          </a:p>
          <a:p>
            <a:r>
              <a:t>Continue privately with the Capability Formation Field Kit:</a:t>
            </a:r>
          </a:p>
          <a:p>
            <a:r>
              <a:t>https://temidayoafonja.com/fieldkit</a:t>
            </a:r>
          </a:p>
          <a:p/>
          <a:p>
            <a: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p>
          <a:p/>
          <a:p>
            <a:r>
              <a:t>NO PRICE APPEARS ON THIS SLIDE FACE BY DESIGN. No discount, no attendee price, no coupon, no bundle, no crossed-out price, no urgency.</a:t>
            </a:r>
          </a:p>
          <a:p/>
          <a:p>
            <a:r>
              <a:t>The former paid group workshop is retired from active public sale and is NOT the current public next step. Do not mention it.</a:t>
            </a:r>
          </a:p>
        </p:txBody>
      </p:sp>
      <p:sp>
        <p:nvSpPr>
          <p:cNvPr id="576" name="Google Shape;576;g3fbe9e34838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be9e34838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fbe9e34838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 THIS IS THE LAST RECORDED SLIDE.  WORKBOOK PAGE 8 (rescore date line).</a:t>
            </a:r>
          </a:p>
          <a:p/>
          <a:p>
            <a:r>
              <a:t>TIMING: 48:00-50:00. The close is delivered 48:00-49:00; 49:00-50:00 is FACILITATION BUFFER and this slide holds.</a:t>
            </a:r>
          </a:p>
          <a:p/>
          <a:p>
            <a:r>
              <a:t>FACILITATION: this close returns to the question the session opened with. Say it plainly and at the pace of ordinary speech. It is not a motivational ending, there is no call to believe in yourself, and it does not need lifting.</a:t>
            </a:r>
          </a:p>
          <a:p/>
          <a:p>
            <a: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p>
          <a:p/>
          <a:p>
            <a:r>
              <a:t>If you are on time, use the buffer to restate the rescore date instruction and let the room finish writing. If you are behind, the buffer is where you absorb it.</a:t>
            </a:r>
          </a:p>
          <a:p/>
          <a:p>
            <a:r>
              <a:t>EVERGREEN-SAFE CLOSE. Do NOT say "tonight", "this cohort", "September 23", or "before enrollment closes". This has to work for someone watching the replay months from now.</a:t>
            </a:r>
          </a:p>
          <a:p/>
          <a:p>
            <a:r>
              <a:t>AT 50:00,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p>
          <a:p/>
          <a:p>
            <a: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p>
          <a:p/>
          <a:p>
            <a:r>
              <a:t>Then say out loud that the recording has stopped, and only then advance.</a:t>
            </a:r>
          </a:p>
          <a:p/>
          <a:p>
            <a:r>
              <a:t>RECORDING OFF.</a:t>
            </a:r>
          </a:p>
        </p:txBody>
      </p:sp>
      <p:sp>
        <p:nvSpPr>
          <p:cNvPr id="611" name="Google Shape;611;g3fbe9e34838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bec47727c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fbec47727c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1" name="Google Shape;621;g3fbec47727c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11f538478445b10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11f538478445b104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8" name="Google Shape;628;h11f538478445b104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37" name="Google Shape;6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Not part of the recorded core.</a:t>
            </a:r>
            <a:br/>
            <a:br/>
            <a:r>
              <a:t>Use during Q&amp;A if someone asks how to read organizational signals. These are questions to investigate, never predictions about a specific employer.</a:t>
            </a:r>
          </a:p>
        </p:txBody>
      </p:sp>
      <p:sp>
        <p:nvSpPr>
          <p:cNvPr id="656" name="Google Shape;6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Moved out of the timed core deliberately.</a:t>
            </a:r>
            <a:br/>
            <a:br/>
            <a:r>
              <a:t>If asked: one application, sixty seconds, no tool names, no job-loss predictions, no industry forecasts.</a:t>
            </a:r>
          </a:p>
        </p:txBody>
      </p:sp>
      <p:sp>
        <p:nvSpPr>
          <p:cNvPr id="674" name="Google Shape;6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Useful when someone scores low on statement 8 and reads it as a verdict on ability.</a:t>
            </a:r>
          </a:p>
          <a:p/>
          <a:p>
            <a: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p>
        </p:txBody>
      </p:sp>
      <p:sp>
        <p:nvSpPr>
          <p:cNvPr id="692" name="Google Shape;6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Live-only. This is the sharpest version of misreading two and a useful answer in Q&amp;A.</a:t>
            </a:r>
            <a:br/>
            <a:br/>
            <a:r>
              <a:t>Not a diagnosis of anyone's specific promotion.</a:t>
            </a:r>
          </a:p>
        </p:txBody>
      </p:sp>
      <p:sp>
        <p:nvSpPr>
          <p:cNvPr id="710" name="Google Shape;71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OPTIONAL INSTITUTIONAL CLOSE. Use INSTEAD of the continuation slides 23 and 24 when delivering for a university, alumni association, professional body or employee group.</a:t>
            </a:r>
            <a:br/>
            <a:br/>
            <a:r>
              <a:t>No pricing. No Field Kit or private-read pitch. No product CTA of any kind.</a:t>
            </a:r>
            <a:br/>
            <a:br/>
            <a:r>
              <a:t>This lets the same core deck serve institutional outreach without building a second presentation.</a:t>
            </a:r>
          </a:p>
        </p:txBody>
      </p:sp>
      <p:sp>
        <p:nvSpPr>
          <p:cNvPr id="728" name="Google Shape;7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APPENDIX. OPTIONAL, AND OUT OF THE TIMED CORE.</a:t>
            </a:r>
            <a:br/>
            <a:br/>
            <a:r>
              <a:t>This interaction belonged to the earlier long-form build. The 60-minute run of show has no room for it and it is NOT part of the fifty-minute core. Do not insert it.</a:t>
            </a:r>
            <a:br/>
            <a:br/>
            <a:r>
              <a:t>Use it only if a delivery genuinely runs ahead, which should not happen, or in a longer non-Lightning-Lesson delivery of the same material.</a:t>
            </a:r>
            <a:br/>
            <a:br/>
            <a:r>
              <a:t>If it is ever used: DO NOT read singleton counts aloud. DO NOT ask anyone to reveal their state. DO NOT say "most people change." That is a research claim this session cannot support.</a:t>
            </a:r>
          </a:p>
        </p:txBody>
      </p:sp>
      <p:sp>
        <p:nvSpPr>
          <p:cNvPr id="740" name="Google Shape;74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60" name="Google Shape;76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br/>
            <a:br/>
            <a:r>
              <a:t>TIMING: 12:00-13:00. SIXTY SECONDS.</a:t>
            </a:r>
            <a:br/>
            <a:br/>
            <a:r>
              <a:t>FACILITATION: name each square once. Do not teach the state costs here. That block is at 35:00. Do not ask which square anyone is in.</a:t>
            </a:r>
            <a:br/>
          </a:p>
          <a:p>
            <a:r>
              <a:t>Lowest: Stagnant. Bottom-left, both axes low. "The work stopped asking more of you" plus no portability. Nothing is accruing in either direction.</a:t>
            </a:r>
          </a:p>
          <a:p>
            <a:r>
              <a:t>Then Depth Trap. Top-left. High Density, low Optionality. Reads as second-lowest but clearly above Stagnant, because something real is still being built. It just doesn't travel.</a:t>
            </a:r>
          </a:p>
          <a:p>
            <a:r>
              <a:t>Then Fragile. Bottom-right. Low Density, high Optionality. What you have moves, but nothing new is being added underneath it.</a:t>
            </a:r>
          </a:p>
          <a:p>
            <a:r>
              <a:t>Highest: Compounding. Top-right, both high, and the only square you inverted to navy.</a:t>
            </a:r>
            <a:br/>
            <a:r>
              <a:t>Compounding is set apart because it is the one square where both axes are high. It is a structural fact about the matrix, not a ranking, and not a square to aim for. Say "state is not identity" out loud on the next slide.</a:t>
            </a:r>
          </a:p>
        </p:txBody>
      </p:sp>
      <p:sp>
        <p:nvSpPr>
          <p:cNvPr id="772" name="Google Shape;7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36:00-37:00. SIXTY SECONDS LIVE.</a:t>
            </a:r>
          </a:p>
          <a:p/>
          <a:p>
            <a:r>
              <a:t>FACILITATION: frame the section and move. Do not start listing signals here, the</a:t>
            </a:r>
          </a:p>
          <a:p>
            <a:r>
              <a:t>two slides that follow carry them. Sixty seconds.</a:t>
            </a:r>
          </a:p>
          <a:p/>
          <a:p>
            <a:r>
              <a:t>WHAT TO SAY: "Your reading describes the last ninety days. It is accurate for</a:t>
            </a:r>
          </a:p>
          <a:p>
            <a:r>
              <a:t>that window and it will go out of date. These next two slides are what to watch</a:t>
            </a:r>
          </a:p>
          <a:p>
            <a:r>
              <a:t>between now and your rescore date."</a:t>
            </a:r>
          </a:p>
          <a:p/>
          <a:p>
            <a:r>
              <a:t>SAY THE BOUNDARY IN ONE LINE AND DO NOT EXPAND IT: these are questions to</a:t>
            </a:r>
          </a:p>
          <a:p>
            <a:r>
              <a:t>investigate, not predictions. Nothing here forecasts a layoff, diagnoses an</a:t>
            </a:r>
          </a:p>
          <a:p>
            <a:r>
              <a:t>employer or claims anything about the job market. If a participant hears a</a:t>
            </a:r>
          </a:p>
          <a:p>
            <a:r>
              <a:t>forecast, correct it plainly: a signal tells you where to go and look, it does</a:t>
            </a:r>
          </a:p>
          <a:p>
            <a:r>
              <a:t>not tell you what is going to happen.</a:t>
            </a:r>
          </a:p>
          <a:p/>
          <a:p>
            <a:r>
              <a:t>WHY THIS SITS HERE AND NOT EARLIER. They have just seen what their state costs.</a:t>
            </a:r>
          </a:p>
          <a:p>
            <a:r>
              <a:t>A cost is about the position they are in now. A signal is about the position</a:t>
            </a:r>
          </a:p>
          <a:p>
            <a:r>
              <a:t>drifting while they are not watching. One belongs before the move categories,</a:t>
            </a:r>
          </a:p>
          <a:p>
            <a:r>
              <a:t>the other after the read, and this is the only place both are true.</a:t>
            </a:r>
          </a:p>
          <a:p/>
          <a:p>
            <a:r>
              <a:t>FOR THE REPLAY AND FOR QUESTIONS, NOT FOR THE LIVE SIXTY SECONDS: the honest</a:t>
            </a:r>
          </a:p>
          <a:p>
            <a:r>
              <a:t>reason this section exists is that the instrument reads a ninety-day window.</a:t>
            </a:r>
          </a:p>
          <a:p>
            <a:r>
              <a:t>Anything that reads a window goes stale. Signals are the cheapest way to notice</a:t>
            </a:r>
          </a:p>
          <a:p>
            <a:r>
              <a:t>staleness early, and noticing early is the difference between choosing a move</a:t>
            </a:r>
          </a:p>
          <a:p>
            <a:r>
              <a:t>and being handed one. None of that needs saying out loud tonight.</a:t>
            </a:r>
          </a:p>
          <a:p/>
          <a:p>
            <a:r>
              <a:t>DO NOT turn this into a discussion. No hands, no examples from the room, no</a:t>
            </a:r>
          </a:p>
          <a:p>
            <a:r>
              <a:t>naming of employers.</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37:00-38:00. SIXTY SECONDS LIVE. About twelve seconds a signal.</a:t>
            </a:r>
          </a:p>
          <a:p/>
          <a:p>
            <a:r>
              <a:t>FACILITATION: read the five once, in order, and stop. Do not explain any of them</a:t>
            </a:r>
          </a:p>
          <a:p>
            <a:r>
              <a:t>and do not add an example. The footer line is the only interpretation this slide</a:t>
            </a:r>
          </a:p>
          <a:p>
            <a:r>
              <a:t>needs, and you say it last.</a:t>
            </a:r>
          </a:p>
          <a:p/>
          <a:p>
            <a:r>
              <a:t>FOOTER LINE, SAY IT EXACTLY: "One signal is something to examine. Several</a:t>
            </a:r>
          </a:p>
          <a:p>
            <a:r>
              <a:t>together are worth testing a move."</a:t>
            </a:r>
          </a:p>
          <a:p/>
          <a:p>
            <a:r>
              <a:t>THESE ARE QUESTIONS, NOT VERDICTS. Each line is something a participant can go</a:t>
            </a:r>
          </a:p>
          <a:p>
            <a:r>
              <a:t>and check against their own last ninety days. None of them is evidence on its</a:t>
            </a:r>
          </a:p>
          <a:p>
            <a:r>
              <a:t>own, and none of them says anything about what an employer is going to do. If</a:t>
            </a:r>
          </a:p>
          <a:p>
            <a:r>
              <a:t>someone treats one as a prediction, say it plainly: noticing a signal is a</a:t>
            </a:r>
          </a:p>
          <a:p>
            <a:r>
              <a:t>reason to gather evidence, never a reason to panic and never a reason to leave.</a:t>
            </a:r>
          </a:p>
          <a:p/>
          <a:p>
            <a:r>
              <a:t>WHERE THESE COME FROM. This is the Position Exposure Signals appendix, promoted</a:t>
            </a:r>
          </a:p>
          <a:p>
            <a:r>
              <a:t>into the recorded core and expanded. It used to be a Q&amp;A card. It is here now</a:t>
            </a:r>
          </a:p>
          <a:p>
            <a:r>
              <a:t>because the people who most need it are the ones who never asked the question.</a:t>
            </a:r>
          </a:p>
          <a:p/>
          <a:p>
            <a:r>
              <a:t>FOR THE REPLAY, NOT FOR THE LIVE SIXTY SECONDS: signals one, two and three are</a:t>
            </a:r>
          </a:p>
          <a:p>
            <a:r>
              <a:t>about where decisions and authority sit. Four and five are about how replaceable</a:t>
            </a:r>
          </a:p>
          <a:p>
            <a:r>
              <a:t>the function looks from outside. A participant who sees several at once is not</a:t>
            </a:r>
          </a:p>
          <a:p>
            <a:r>
              <a:t>in trouble, they are in a position worth testing sooner than ninety days.</a:t>
            </a:r>
          </a:p>
          <a:p/>
          <a:p>
            <a:r>
              <a:t>DO NOT ask who recognizes which signal. Same rule as the matrix. Their reading</a:t>
            </a:r>
          </a:p>
          <a:p>
            <a:r>
              <a:t>stays theirs.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38:00-39:00. SIXTY SECONDS LIVE. About twelve seconds a signal.</a:t>
            </a:r>
          </a:p>
          <a:p/>
          <a:p>
            <a:r>
              <a:t>FACILITATION: read the five once, read the footer line, then move to the move</a:t>
            </a:r>
          </a:p>
          <a:p>
            <a:r>
              <a:t>categories. Sixty seconds.</a:t>
            </a:r>
          </a:p>
          <a:p/>
          <a:p>
            <a:r>
              <a:t>FOOTER LINE, SAY IT EXACTLY: "Choose two signals to watch before your rescore</a:t>
            </a:r>
          </a:p>
          <a:p>
            <a:r>
              <a:t>date." Two, not five. A watch list nobody keeps is worse than no watch list.</a:t>
            </a:r>
          </a:p>
          <a:p/>
          <a:p>
            <a:r>
              <a:t>WHY THIS SLIDE EXISTS. Compounding is the state most likely to feel fine, which</a:t>
            </a:r>
          </a:p>
          <a:p>
            <a:r>
              <a:t>makes it the state least likely to notice drift. The state costs slide already</a:t>
            </a:r>
          </a:p>
          <a:p>
            <a:r>
              <a:t>says a strong current position still requires renewal. This slide is what that</a:t>
            </a:r>
          </a:p>
          <a:p>
            <a:r>
              <a:t>sentence looks like in practice. Say the subtitle out loud, it is doing the work.</a:t>
            </a:r>
          </a:p>
          <a:p/>
          <a:p>
            <a:r>
              <a:t>THIS IS NOT A WARNING TO PEOPLE WHO SCORED WELL. A strong reading is a real</a:t>
            </a:r>
          </a:p>
          <a:p>
            <a:r>
              <a:t>reading. The point is that it describes ninety days that have already happened,</a:t>
            </a:r>
          </a:p>
          <a:p>
            <a:r>
              <a:t>and renewal is what keeps it true. Noticing a signal here is a reason to gather</a:t>
            </a:r>
          </a:p>
          <a:p>
            <a:r>
              <a:t>evidence, not a reason to doubt the score they just worked twelve minutes for.</a:t>
            </a:r>
          </a:p>
          <a:p/>
          <a:p>
            <a:r>
              <a:t>FOR THE REPLAY, NOT FOR THE LIVE SIXTY SECONDS: the first three signals are</a:t>
            </a:r>
          </a:p>
          <a:p>
            <a:r>
              <a:t>about formation going quiet, the last two are about evidence going stale. Both</a:t>
            </a:r>
          </a:p>
          <a:p>
            <a:r>
              <a:t>are cheap to check and both are invisible from inside a role that is going well.</a:t>
            </a:r>
          </a:p>
          <a:p/>
          <a:p>
            <a:r>
              <a:t>HAND OFF INTO THE MOVE CATEGORIES: "Two signals to watch. Now the seven</a:t>
            </a:r>
          </a:p>
          <a:p>
            <a:r>
              <a:t>directions your evidence might support testing." Do not linger.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be9e34838_0_9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 name="Google Shape;13;g3fbe9e34838_0_9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4" name="Google Shape;14;g3fbe9e34838_0_9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9" name="Shape 19"/>
        <p:cNvGrpSpPr/>
        <p:nvPr/>
      </p:nvGrpSpPr>
      <p:grpSpPr>
        <a:xfrm>
          <a:off x="0" y="0"/>
          <a:ext cx="0" cy="0"/>
          <a:chOff x="0" y="0"/>
          <a:chExt cx="0" cy="0"/>
        </a:xfrm>
      </p:grpSpPr>
      <p:sp>
        <p:nvSpPr>
          <p:cNvPr id="20" name="Google Shape;20;g3fbec47727c_0_62"/>
          <p:cNvSpPr/>
          <p:nvPr/>
        </p:nvSpPr>
        <p:spPr>
          <a:xfrm>
            <a:off x="566928" y="457200"/>
            <a:ext cx="6035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21" name="Google Shape;21;g3fbec47727c_0_62"/>
          <p:cNvSpPr/>
          <p:nvPr/>
        </p:nvSpPr>
        <p:spPr>
          <a:xfrm>
            <a:off x="566928" y="1170432"/>
            <a:ext cx="5943600" cy="73140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22" name="Google Shape;22;g3fbec47727c_0_62"/>
          <p:cNvSpPr/>
          <p:nvPr/>
        </p:nvSpPr>
        <p:spPr>
          <a:xfrm>
            <a:off x="566928" y="2011680"/>
            <a:ext cx="5943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23" name="Google Shape;23;g3fbec47727c_0_62"/>
          <p:cNvSpPr/>
          <p:nvPr/>
        </p:nvSpPr>
        <p:spPr>
          <a:xfrm>
            <a:off x="566928" y="2670048"/>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g3fbec47727c_0_62"/>
          <p:cNvSpPr/>
          <p:nvPr/>
        </p:nvSpPr>
        <p:spPr>
          <a:xfrm>
            <a:off x="566928" y="2852928"/>
            <a:ext cx="5943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rPr b="1" i="1" lang="en-US" sz="2300">
                <a:solidFill>
                  <a:srgbClr val="C9A84C"/>
                </a:solidFill>
                <a:latin typeface="Cormorant Garamond"/>
                <a:ea typeface="Cormorant Garamond"/>
                <a:cs typeface="Cormorant Garamond"/>
                <a:sym typeface="Cormorant Garamond"/>
              </a:rPr>
              <a:t>Read the Position Before You Make the Move</a:t>
            </a:r>
            <a:endParaRPr b="1" i="1" sz="2300">
              <a:solidFill>
                <a:srgbClr val="C9A84C"/>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p:txBody>
      </p:sp>
      <p:sp>
        <p:nvSpPr>
          <p:cNvPr id="25" name="Google Shape;25;g3fbec47727c_0_62"/>
          <p:cNvSpPr/>
          <p:nvPr/>
        </p:nvSpPr>
        <p:spPr>
          <a:xfrm>
            <a:off x="566928" y="3218688"/>
            <a:ext cx="5943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250"/>
              <a:buFont typeface="DM Sans"/>
              <a:buNone/>
            </a:pPr>
            <a:r>
              <a:t/>
            </a:r>
            <a:endParaRPr b="0" i="0" sz="1250" u="none" cap="none" strike="noStrike">
              <a:solidFill>
                <a:schemeClr val="dk1"/>
              </a:solidFill>
              <a:latin typeface="Calibri"/>
              <a:ea typeface="Calibri"/>
              <a:cs typeface="Calibri"/>
              <a:sym typeface="Calibri"/>
            </a:endParaRPr>
          </a:p>
        </p:txBody>
      </p:sp>
      <p:sp>
        <p:nvSpPr>
          <p:cNvPr id="26" name="Google Shape;26;g3fbec47727c_0_62"/>
          <p:cNvSpPr/>
          <p:nvPr/>
        </p:nvSpPr>
        <p:spPr>
          <a:xfrm>
            <a:off x="566928" y="3675888"/>
            <a:ext cx="5943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950"/>
              <a:buFont typeface="Montserrat"/>
              <a:buNone/>
            </a:pPr>
            <a:r>
              <a:rPr b="1" i="0" lang="en-US" sz="950" u="none" cap="none" strike="noStrike">
                <a:solidFill>
                  <a:srgbClr val="B8C5D9"/>
                </a:solidFill>
                <a:latin typeface="Montserrat"/>
                <a:ea typeface="Montserrat"/>
                <a:cs typeface="Montserrat"/>
                <a:sym typeface="Montserrat"/>
              </a:rPr>
              <a:t>FREE GUIDED ASSESSMENT  ·  60 MINUTES</a:t>
            </a:r>
            <a:endParaRPr b="0" i="0" sz="950" u="none" cap="none" strike="noStrike">
              <a:solidFill>
                <a:schemeClr val="dk1"/>
              </a:solidFill>
              <a:latin typeface="Calibri"/>
              <a:ea typeface="Calibri"/>
              <a:cs typeface="Calibri"/>
              <a:sym typeface="Calibri"/>
            </a:endParaRPr>
          </a:p>
        </p:txBody>
      </p:sp>
      <p:sp>
        <p:nvSpPr>
          <p:cNvPr id="27" name="Google Shape;27;g3fbec47727c_0_6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8" name="Google Shape;28;g3fbec47727c_0_6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3" name="Shape 33"/>
        <p:cNvGrpSpPr/>
        <p:nvPr/>
      </p:nvGrpSpPr>
      <p:grpSpPr>
        <a:xfrm>
          <a:off x="0" y="0"/>
          <a:ext cx="0" cy="0"/>
          <a:chOff x="0" y="0"/>
          <a:chExt cx="0" cy="0"/>
        </a:xfrm>
      </p:grpSpPr>
      <p:pic>
        <p:nvPicPr>
          <p:cNvPr descr="temi-photo.jpg" id="34" name="Google Shape;34;g3fbec47727c_0_81"/>
          <p:cNvPicPr preferRelativeResize="0"/>
          <p:nvPr/>
        </p:nvPicPr>
        <p:blipFill rotWithShape="1">
          <a:blip r:embed="rId3">
            <a:alphaModFix/>
          </a:blip>
          <a:srcRect b="0" l="0" r="0" t="0"/>
          <a:stretch/>
        </p:blipFill>
        <p:spPr>
          <a:xfrm>
            <a:off x="6124254" y="1493255"/>
            <a:ext cx="2640330" cy="2640330"/>
          </a:xfrm>
          <a:prstGeom prst="rect">
            <a:avLst/>
          </a:prstGeom>
          <a:noFill/>
          <a:ln>
            <a:noFill/>
          </a:ln>
        </p:spPr>
      </p:pic>
      <p:sp>
        <p:nvSpPr>
          <p:cNvPr id="35" name="Google Shape;35;g3fbec47727c_0_81"/>
          <p:cNvSpPr txBox="1"/>
          <p:nvPr/>
        </p:nvSpPr>
        <p:spPr>
          <a:xfrm>
            <a:off x="493789" y="411480"/>
            <a:ext cx="5829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F2347"/>
                </a:solidFill>
                <a:latin typeface="Arial"/>
                <a:ea typeface="Arial"/>
                <a:cs typeface="Arial"/>
                <a:sym typeface="Arial"/>
              </a:rPr>
              <a:t>WELCOME</a:t>
            </a:r>
            <a:endParaRPr b="0" i="0" sz="1100" u="none" cap="none" strike="noStrike">
              <a:solidFill>
                <a:srgbClr val="000000"/>
              </a:solidFill>
              <a:latin typeface="Arial"/>
              <a:ea typeface="Arial"/>
              <a:cs typeface="Arial"/>
              <a:sym typeface="Arial"/>
            </a:endParaRPr>
          </a:p>
        </p:txBody>
      </p:sp>
      <p:sp>
        <p:nvSpPr>
          <p:cNvPr id="36" name="Google Shape;36;g3fbec47727c_0_81"/>
          <p:cNvSpPr txBox="1"/>
          <p:nvPr/>
        </p:nvSpPr>
        <p:spPr>
          <a:xfrm>
            <a:off x="493789" y="685800"/>
            <a:ext cx="500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F2347"/>
                </a:solidFill>
                <a:latin typeface="Georgia"/>
                <a:ea typeface="Georgia"/>
                <a:cs typeface="Georgia"/>
                <a:sym typeface="Georgia"/>
              </a:rPr>
              <a:t>Why I Built This Lesson</a:t>
            </a:r>
            <a:endParaRPr b="0" i="0" sz="1100" u="none" cap="none" strike="noStrike">
              <a:solidFill>
                <a:srgbClr val="000000"/>
              </a:solidFill>
              <a:latin typeface="Arial"/>
              <a:ea typeface="Arial"/>
              <a:cs typeface="Arial"/>
              <a:sym typeface="Arial"/>
            </a:endParaRPr>
          </a:p>
        </p:txBody>
      </p:sp>
      <p:sp>
        <p:nvSpPr>
          <p:cNvPr id="37" name="Google Shape;37;g3fbec47727c_0_81"/>
          <p:cNvSpPr/>
          <p:nvPr/>
        </p:nvSpPr>
        <p:spPr>
          <a:xfrm>
            <a:off x="507506" y="1200150"/>
            <a:ext cx="1783200" cy="13800"/>
          </a:xfrm>
          <a:prstGeom prst="rect">
            <a:avLst/>
          </a:prstGeom>
          <a:solidFill>
            <a:srgbClr val="C9A8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g3fbec47727c_0_81"/>
          <p:cNvSpPr txBox="1"/>
          <p:nvPr/>
        </p:nvSpPr>
        <p:spPr>
          <a:xfrm>
            <a:off x="6261943" y="4133575"/>
            <a:ext cx="2196600" cy="184800"/>
          </a:xfrm>
          <a:prstGeom prst="rect">
            <a:avLst/>
          </a:prstGeom>
          <a:noFill/>
          <a:ln>
            <a:noFill/>
          </a:ln>
        </p:spPr>
        <p:txBody>
          <a:bodyPr anchorCtr="0" anchor="t" bIns="0" lIns="0" spcFirstLastPara="1" rIns="0" wrap="square" tIns="0">
            <a:spAutoFit/>
          </a:bodyPr>
          <a:lstStyle/>
          <a:p>
            <a:pPr indent="0" lvl="0" marL="0" marR="0" rtl="0" algn="ctr">
              <a:lnSpc>
                <a:spcPct val="131250"/>
              </a:lnSpc>
              <a:spcBef>
                <a:spcPts val="0"/>
              </a:spcBef>
              <a:spcAft>
                <a:spcPts val="0"/>
              </a:spcAft>
              <a:buClr>
                <a:srgbClr val="000000"/>
              </a:buClr>
              <a:buSzPts val="1200"/>
              <a:buFont typeface="Arial"/>
              <a:buNone/>
            </a:pPr>
            <a:r>
              <a:rPr b="1" i="0" lang="en-US" sz="1200" u="none" cap="none" strike="noStrike">
                <a:solidFill>
                  <a:srgbClr val="0F2347"/>
                </a:solidFill>
                <a:latin typeface="Georgia"/>
                <a:ea typeface="Georgia"/>
                <a:cs typeface="Georgia"/>
                <a:sym typeface="Georgia"/>
              </a:rPr>
              <a:t>Temidayo Afonja </a:t>
            </a:r>
            <a:endParaRPr b="0" i="0" sz="1100" u="none" cap="none" strike="noStrike">
              <a:solidFill>
                <a:srgbClr val="000000"/>
              </a:solidFill>
              <a:latin typeface="Arial"/>
              <a:ea typeface="Arial"/>
              <a:cs typeface="Arial"/>
              <a:sym typeface="Arial"/>
            </a:endParaRPr>
          </a:p>
        </p:txBody>
      </p:sp>
      <p:sp>
        <p:nvSpPr>
          <p:cNvPr id="39" name="Google Shape;39;g3fbec47727c_0_81"/>
          <p:cNvSpPr txBox="1"/>
          <p:nvPr/>
        </p:nvSpPr>
        <p:spPr>
          <a:xfrm>
            <a:off x="469664" y="1729700"/>
            <a:ext cx="4924200" cy="847500"/>
          </a:xfrm>
          <a:prstGeom prst="rect">
            <a:avLst/>
          </a:prstGeom>
          <a:noFill/>
          <a:ln>
            <a:noFill/>
          </a:ln>
        </p:spPr>
        <p:txBody>
          <a:bodyPr anchorCtr="0" anchor="t" bIns="0" lIns="0" spcFirstLastPara="1" rIns="0" wrap="square" tIns="0">
            <a:spAutoFit/>
          </a:bodyPr>
          <a:lstStyle/>
          <a:p>
            <a:pPr indent="0" lvl="0" marL="0" marR="0" rtl="0" algn="l">
              <a:lnSpc>
                <a:spcPct val="130769"/>
              </a:lnSpc>
              <a:spcBef>
                <a:spcPts val="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My career has moved through accounting and audit, cybersecurity, people strategy, employee experience and enterprise transformation, across multiple industries and sectors.</a:t>
            </a:r>
            <a:endParaRPr b="0" i="0" sz="1100" u="none" cap="none" strike="noStrike">
              <a:solidFill>
                <a:srgbClr val="000000"/>
              </a:solidFill>
              <a:latin typeface="Arial"/>
              <a:ea typeface="Arial"/>
              <a:cs typeface="Arial"/>
              <a:sym typeface="Arial"/>
            </a:endParaRPr>
          </a:p>
          <a:p>
            <a:pPr indent="0" lvl="0" marL="0" marR="0" rtl="0" algn="l">
              <a:lnSpc>
                <a:spcPct val="130769"/>
              </a:lnSpc>
              <a:spcBef>
                <a:spcPts val="70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That journey made me interested in a different career question:</a:t>
            </a:r>
            <a:endParaRPr b="0" i="0" sz="1100" u="none" cap="none" strike="noStrike">
              <a:solidFill>
                <a:srgbClr val="000000"/>
              </a:solidFill>
              <a:latin typeface="Arial"/>
              <a:ea typeface="Arial"/>
              <a:cs typeface="Arial"/>
              <a:sym typeface="Arial"/>
            </a:endParaRPr>
          </a:p>
        </p:txBody>
      </p:sp>
      <p:sp>
        <p:nvSpPr>
          <p:cNvPr id="40" name="Google Shape;40;g3fbec47727c_0_81"/>
          <p:cNvSpPr txBox="1"/>
          <p:nvPr/>
        </p:nvSpPr>
        <p:spPr>
          <a:xfrm>
            <a:off x="497114" y="2923581"/>
            <a:ext cx="486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2347"/>
                </a:solidFill>
                <a:latin typeface="Georgia"/>
                <a:ea typeface="Georgia"/>
                <a:cs typeface="Georgia"/>
                <a:sym typeface="Georgia"/>
              </a:rPr>
              <a:t>In 2026, the question became personal.</a:t>
            </a:r>
            <a:endParaRPr b="1" i="0" sz="1400" u="none" cap="none" strike="noStrike">
              <a:solidFill>
                <a:srgbClr val="0F2347"/>
              </a:solidFill>
              <a:latin typeface="Georgia"/>
              <a:ea typeface="Georgia"/>
              <a:cs typeface="Georgia"/>
              <a:sym typeface="Georgia"/>
            </a:endParaRPr>
          </a:p>
        </p:txBody>
      </p:sp>
      <p:sp>
        <p:nvSpPr>
          <p:cNvPr id="41" name="Google Shape;41;g3fbec47727c_0_81"/>
          <p:cNvSpPr/>
          <p:nvPr/>
        </p:nvSpPr>
        <p:spPr>
          <a:xfrm>
            <a:off x="493789" y="3566160"/>
            <a:ext cx="4869300" cy="788700"/>
          </a:xfrm>
          <a:prstGeom prst="rect">
            <a:avLst/>
          </a:prstGeom>
          <a:solidFill>
            <a:srgbClr val="0F23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g3fbec47727c_0_81"/>
          <p:cNvSpPr txBox="1"/>
          <p:nvPr/>
        </p:nvSpPr>
        <p:spPr>
          <a:xfrm>
            <a:off x="685818" y="3723894"/>
            <a:ext cx="4491900" cy="490800"/>
          </a:xfrm>
          <a:prstGeom prst="rect">
            <a:avLst/>
          </a:prstGeom>
          <a:noFill/>
          <a:ln>
            <a:noFill/>
          </a:ln>
        </p:spPr>
        <p:txBody>
          <a:bodyPr anchorCtr="0" anchor="t" bIns="0" lIns="0" spcFirstLastPara="1" rIns="0" wrap="square" tIns="0">
            <a:spAutoFit/>
          </a:bodyPr>
          <a:lstStyle/>
          <a:p>
            <a:pPr indent="0" lvl="0" marL="0" marR="0" rtl="0" algn="l">
              <a:lnSpc>
                <a:spcPct val="127777"/>
              </a:lnSpc>
              <a:spcBef>
                <a:spcPts val="0"/>
              </a:spcBef>
              <a:spcAft>
                <a:spcPts val="0"/>
              </a:spcAft>
              <a:buClr>
                <a:srgbClr val="000000"/>
              </a:buClr>
              <a:buSzPts val="1400"/>
              <a:buFont typeface="Arial"/>
              <a:buNone/>
            </a:pPr>
            <a:r>
              <a:rPr b="1" i="0" lang="en-US" sz="1400" u="none" cap="none" strike="noStrike">
                <a:solidFill>
                  <a:srgbClr val="F5F0E8"/>
                </a:solidFill>
                <a:latin typeface="Georgia"/>
                <a:ea typeface="Georgia"/>
                <a:cs typeface="Georgia"/>
                <a:sym typeface="Georgia"/>
              </a:rPr>
              <a:t>“Can a career begin to stall while the person is still performing well?”</a:t>
            </a:r>
            <a:endParaRPr b="0" i="0" sz="1100" u="none" cap="none" strike="noStrike">
              <a:solidFill>
                <a:srgbClr val="000000"/>
              </a:solidFill>
              <a:latin typeface="Arial"/>
              <a:ea typeface="Arial"/>
              <a:cs typeface="Arial"/>
              <a:sym typeface="Arial"/>
            </a:endParaRPr>
          </a:p>
        </p:txBody>
      </p:sp>
      <p:sp>
        <p:nvSpPr>
          <p:cNvPr id="43" name="Google Shape;43;g3fbec47727c_0_81"/>
          <p:cNvSpPr txBox="1"/>
          <p:nvPr/>
        </p:nvSpPr>
        <p:spPr>
          <a:xfrm>
            <a:off x="493789" y="4848606"/>
            <a:ext cx="37035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TEMIDAYO AFONJA   |   TEMIDAYOAFONJA.COM</a:t>
            </a:r>
            <a:endParaRPr b="0" i="0" sz="1100" u="none" cap="none" strike="noStrike">
              <a:solidFill>
                <a:srgbClr val="000000"/>
              </a:solidFill>
              <a:latin typeface="Arial"/>
              <a:ea typeface="Arial"/>
              <a:cs typeface="Arial"/>
              <a:sym typeface="Arial"/>
            </a:endParaRPr>
          </a:p>
        </p:txBody>
      </p:sp>
      <p:sp>
        <p:nvSpPr>
          <p:cNvPr id="44" name="Google Shape;44;g3fbec47727c_0_81"/>
          <p:cNvSpPr txBox="1"/>
          <p:nvPr/>
        </p:nvSpPr>
        <p:spPr>
          <a:xfrm>
            <a:off x="8572729" y="4848606"/>
            <a:ext cx="1920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REFRAME</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The question underneath the question</a:t>
            </a:r>
            <a:endParaRPr b="0" i="0" sz="2800" u="none" cap="none" strike="noStrike">
              <a:solidFill>
                <a:schemeClr val="dk1"/>
              </a:solidFill>
              <a:latin typeface="Calibri"/>
              <a:ea typeface="Calibri"/>
              <a:cs typeface="Calibri"/>
              <a:sym typeface="Calibri"/>
            </a:endParaRPr>
          </a:p>
        </p:txBody>
      </p:sp>
      <p:sp>
        <p:nvSpPr>
          <p:cNvPr id="52" name="Google Shape;52;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20"/>
              <a:buFont typeface="Montserrat"/>
              <a:buNone/>
            </a:pPr>
            <a:r>
              <a:rPr b="1" i="0" lang="en-US" sz="1220" u="none" cap="none" strike="noStrike">
                <a:solidFill>
                  <a:srgbClr val="5A6B84"/>
                </a:solidFill>
                <a:latin typeface="Montserrat"/>
                <a:ea typeface="Montserrat"/>
                <a:cs typeface="Montserrat"/>
                <a:sym typeface="Montserrat"/>
              </a:rPr>
              <a:t>WHAT YOU CAME IN ASKING</a:t>
            </a:r>
            <a:endParaRPr b="0" i="0" sz="1220" u="none" cap="none" strike="noStrike">
              <a:solidFill>
                <a:schemeClr val="dk1"/>
              </a:solidFill>
              <a:latin typeface="Calibri"/>
              <a:ea typeface="Calibri"/>
              <a:cs typeface="Calibri"/>
              <a:sym typeface="Calibri"/>
            </a:endParaRPr>
          </a:p>
        </p:txBody>
      </p:sp>
      <p:sp>
        <p:nvSpPr>
          <p:cNvPr id="54" name="Google Shape;54;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“Should I stay in this role,</a:t>
            </a:r>
            <a:endParaRPr b="0" i="0" sz="18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or should I go?”</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20"/>
              <a:buFont typeface="Montserrat"/>
              <a:buNone/>
            </a:pPr>
            <a:r>
              <a:rPr b="1" i="0" lang="en-US" sz="1220" u="none" cap="none" strike="noStrike">
                <a:solidFill>
                  <a:srgbClr val="C9A84C"/>
                </a:solidFill>
                <a:latin typeface="Montserrat"/>
                <a:ea typeface="Montserrat"/>
                <a:cs typeface="Montserrat"/>
                <a:sym typeface="Montserrat"/>
              </a:rPr>
              <a:t>WHAT YOU NEED TO </a:t>
            </a:r>
            <a:r>
              <a:rPr b="1" lang="en-US" sz="1220">
                <a:solidFill>
                  <a:srgbClr val="C9A84C"/>
                </a:solidFill>
                <a:latin typeface="Montserrat"/>
                <a:ea typeface="Montserrat"/>
                <a:cs typeface="Montserrat"/>
                <a:sym typeface="Montserrat"/>
              </a:rPr>
              <a:t>ANSWER</a:t>
            </a:r>
            <a:r>
              <a:rPr b="1" i="0" lang="en-US" sz="1220" u="none" cap="none" strike="noStrike">
                <a:solidFill>
                  <a:srgbClr val="C9A84C"/>
                </a:solidFill>
                <a:latin typeface="Montserrat"/>
                <a:ea typeface="Montserrat"/>
                <a:cs typeface="Montserrat"/>
                <a:sym typeface="Montserrat"/>
              </a:rPr>
              <a:t> FIRST</a:t>
            </a:r>
            <a:endParaRPr b="0" i="0" sz="1220" u="none" cap="none" strike="noStrike">
              <a:solidFill>
                <a:schemeClr val="dk1"/>
              </a:solidFill>
              <a:latin typeface="Calibri"/>
              <a:ea typeface="Calibri"/>
              <a:cs typeface="Calibri"/>
              <a:sym typeface="Calibri"/>
            </a:endParaRPr>
          </a:p>
        </p:txBody>
      </p:sp>
      <p:sp>
        <p:nvSpPr>
          <p:cNvPr id="57" name="Google Shape;57;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i="0" lang="en-US" sz="1650" u="none" cap="none" strike="noStrike">
                <a:solidFill>
                  <a:srgbClr val="F5F0E8"/>
                </a:solidFill>
                <a:latin typeface="Cormorant Garamond"/>
                <a:ea typeface="Cormorant Garamond"/>
                <a:cs typeface="Cormorant Garamond"/>
                <a:sym typeface="Cormorant Garamond"/>
              </a:rPr>
              <a:t>“Is this work still building me, and what would still travel if the context changed?”</a:t>
            </a:r>
            <a:endParaRPr b="0" i="0" sz="1650" u="none" cap="none" strike="noStrike">
              <a:solidFill>
                <a:schemeClr val="dk1"/>
              </a:solidFill>
              <a:latin typeface="Calibri"/>
              <a:ea typeface="Calibri"/>
              <a:cs typeface="Calibri"/>
              <a:sym typeface="Calibri"/>
            </a:endParaRPr>
          </a:p>
        </p:txBody>
      </p:sp>
      <p:sp>
        <p:nvSpPr>
          <p:cNvPr id="58" name="Google Shape;58;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first question is yours alone. The second sits upstream of it, and this session can read it more rigorously.</a:t>
            </a:r>
            <a:endParaRPr b="0" i="0" sz="1250" u="none" cap="none" strike="noStrike">
              <a:solidFill>
                <a:schemeClr val="dk1"/>
              </a:solidFill>
              <a:latin typeface="Calibri"/>
              <a:ea typeface="Calibri"/>
              <a:cs typeface="Calibri"/>
              <a:sym typeface="Calibri"/>
            </a:endParaRPr>
          </a:p>
        </p:txBody>
      </p:sp>
      <p:sp>
        <p:nvSpPr>
          <p:cNvPr id="59" name="Google Shape;59;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0" name="Google Shape;60;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5" name="Shape 65"/>
        <p:cNvGrpSpPr/>
        <p:nvPr/>
      </p:nvGrpSpPr>
      <p:grpSpPr>
        <a:xfrm>
          <a:off x="0" y="0"/>
          <a:ext cx="0" cy="0"/>
          <a:chOff x="0" y="0"/>
          <a:chExt cx="0" cy="0"/>
        </a:xfrm>
      </p:grpSpPr>
      <p:sp>
        <p:nvSpPr>
          <p:cNvPr id="66" name="Google Shape;66;h11f538478445b104_2_46"/>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BOUNDARY</a:t>
            </a:r>
            <a:endParaRPr b="0" i="0" sz="950" u="none" cap="none" strike="noStrike">
              <a:solidFill>
                <a:schemeClr val="dk1"/>
              </a:solidFill>
              <a:latin typeface="Calibri"/>
              <a:ea typeface="Calibri"/>
              <a:cs typeface="Calibri"/>
              <a:sym typeface="Calibri"/>
            </a:endParaRPr>
          </a:p>
        </p:txBody>
      </p:sp>
      <p:sp>
        <p:nvSpPr>
          <p:cNvPr id="67" name="Google Shape;67;h11f538478445b104_2_46"/>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The session, today</a:t>
            </a:r>
            <a:r>
              <a:rPr b="1" i="0" lang="en-US" sz="2700" u="none" cap="none" strike="noStrike">
                <a:solidFill>
                  <a:srgbClr val="0F2347"/>
                </a:solidFill>
                <a:latin typeface="Cormorant Garamond"/>
                <a:ea typeface="Cormorant Garamond"/>
                <a:cs typeface="Cormorant Garamond"/>
                <a:sym typeface="Cormorant Garamond"/>
              </a:rPr>
              <a:t> will and will not</a:t>
            </a:r>
            <a:r>
              <a:rPr b="1" lang="en-US" sz="2700">
                <a:solidFill>
                  <a:srgbClr val="0F2347"/>
                </a:solidFill>
                <a:latin typeface="Cormorant Garamond"/>
                <a:ea typeface="Cormorant Garamond"/>
                <a:cs typeface="Cormorant Garamond"/>
                <a:sym typeface="Cormorant Garamond"/>
              </a:rPr>
              <a:t>…</a:t>
            </a:r>
            <a:endParaRPr b="0" i="0" sz="2700" u="none" cap="none" strike="noStrike">
              <a:solidFill>
                <a:schemeClr val="dk1"/>
              </a:solidFill>
              <a:latin typeface="Calibri"/>
              <a:ea typeface="Calibri"/>
              <a:cs typeface="Calibri"/>
              <a:sym typeface="Calibri"/>
            </a:endParaRPr>
          </a:p>
        </p:txBody>
      </p:sp>
      <p:sp>
        <p:nvSpPr>
          <p:cNvPr id="68" name="Google Shape;68;h11f538478445b104_2_46"/>
          <p:cNvSpPr/>
          <p:nvPr/>
        </p:nvSpPr>
        <p:spPr>
          <a:xfrm>
            <a:off x="566928" y="1371600"/>
            <a:ext cx="8010000" cy="4755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h11f538478445b104_2_46"/>
          <p:cNvSpPr/>
          <p:nvPr/>
        </p:nvSpPr>
        <p:spPr>
          <a:xfrm>
            <a:off x="804672" y="1371600"/>
            <a:ext cx="75348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700"/>
              <a:buFont typeface="Cormorant Garamond"/>
              <a:buNone/>
            </a:pPr>
            <a:r>
              <a:rPr b="1" i="0" lang="en-US" sz="1700" u="none" cap="none" strike="noStrike">
                <a:solidFill>
                  <a:srgbClr val="F5F0E8"/>
                </a:solidFill>
                <a:latin typeface="Cormorant Garamond"/>
                <a:ea typeface="Cormorant Garamond"/>
                <a:cs typeface="Cormorant Garamond"/>
                <a:sym typeface="Cormorant Garamond"/>
              </a:rPr>
              <a:t>This read will not tell you to stay or leave.</a:t>
            </a:r>
            <a:endParaRPr b="0" i="0" sz="1700" u="none" cap="none" strike="noStrike">
              <a:solidFill>
                <a:schemeClr val="dk1"/>
              </a:solidFill>
              <a:latin typeface="Calibri"/>
              <a:ea typeface="Calibri"/>
              <a:cs typeface="Calibri"/>
              <a:sym typeface="Calibri"/>
            </a:endParaRPr>
          </a:p>
        </p:txBody>
      </p:sp>
      <p:sp>
        <p:nvSpPr>
          <p:cNvPr id="70" name="Google Shape;70;h11f538478445b104_2_46"/>
          <p:cNvSpPr/>
          <p:nvPr/>
        </p:nvSpPr>
        <p:spPr>
          <a:xfrm>
            <a:off x="566928" y="2011680"/>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a:t>
            </a:r>
            <a:endParaRPr b="0" i="0" sz="840" u="none" cap="none" strike="noStrike">
              <a:solidFill>
                <a:schemeClr val="dk1"/>
              </a:solidFill>
              <a:latin typeface="Calibri"/>
              <a:ea typeface="Calibri"/>
              <a:cs typeface="Calibri"/>
              <a:sym typeface="Calibri"/>
            </a:endParaRPr>
          </a:p>
        </p:txBody>
      </p:sp>
      <p:sp>
        <p:nvSpPr>
          <p:cNvPr id="71" name="Google Shape;71;h11f538478445b104_2_46"/>
          <p:cNvSpPr/>
          <p:nvPr/>
        </p:nvSpPr>
        <p:spPr>
          <a:xfrm>
            <a:off x="2304288" y="1975104"/>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Give you a defensible reading of your current position, and at minute 39, </a:t>
            </a:r>
            <a:r>
              <a:rPr b="1" i="0" lang="en-US" sz="1140" u="none" cap="none" strike="noStrike">
                <a:solidFill>
                  <a:srgbClr val="0F2347"/>
                </a:solidFill>
                <a:latin typeface="DM Sans"/>
                <a:ea typeface="DM Sans"/>
                <a:cs typeface="DM Sans"/>
                <a:sym typeface="DM Sans"/>
              </a:rPr>
              <a:t>all seven categories of move</a:t>
            </a:r>
            <a:r>
              <a:rPr b="0" i="0" lang="en-US" sz="1140" u="none" cap="none" strike="noStrike">
                <a:solidFill>
                  <a:srgbClr val="0F2347"/>
                </a:solidFill>
                <a:latin typeface="DM Sans"/>
                <a:ea typeface="DM Sans"/>
                <a:cs typeface="DM Sans"/>
                <a:sym typeface="DM Sans"/>
              </a:rPr>
              <a:t>, then the one your evidence supports testing.</a:t>
            </a:r>
            <a:endParaRPr b="0" i="0" sz="1140" u="none" cap="none" strike="noStrike">
              <a:solidFill>
                <a:schemeClr val="dk1"/>
              </a:solidFill>
              <a:latin typeface="Calibri"/>
              <a:ea typeface="Calibri"/>
              <a:cs typeface="Calibri"/>
              <a:sym typeface="Calibri"/>
            </a:endParaRPr>
          </a:p>
        </p:txBody>
      </p:sp>
      <p:sp>
        <p:nvSpPr>
          <p:cNvPr id="72" name="Google Shape;72;h11f538478445b104_2_46"/>
          <p:cNvSpPr/>
          <p:nvPr/>
        </p:nvSpPr>
        <p:spPr>
          <a:xfrm>
            <a:off x="566928" y="2615184"/>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 NOT</a:t>
            </a:r>
            <a:endParaRPr b="0" i="0" sz="840" u="none" cap="none" strike="noStrike">
              <a:solidFill>
                <a:schemeClr val="dk1"/>
              </a:solidFill>
              <a:latin typeface="Calibri"/>
              <a:ea typeface="Calibri"/>
              <a:cs typeface="Calibri"/>
              <a:sym typeface="Calibri"/>
            </a:endParaRPr>
          </a:p>
        </p:txBody>
      </p:sp>
      <p:sp>
        <p:nvSpPr>
          <p:cNvPr id="73" name="Google Shape;73;h11f538478445b104_2_46"/>
          <p:cNvSpPr/>
          <p:nvPr/>
        </p:nvSpPr>
        <p:spPr>
          <a:xfrm>
            <a:off x="2304288" y="2578608"/>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Predict layoffs, diagnose your employer, or make an employment decision for you.</a:t>
            </a:r>
            <a:endParaRPr b="0" i="0" sz="1140" u="none" cap="none" strike="noStrike">
              <a:solidFill>
                <a:schemeClr val="dk1"/>
              </a:solidFill>
              <a:latin typeface="Calibri"/>
              <a:ea typeface="Calibri"/>
              <a:cs typeface="Calibri"/>
              <a:sym typeface="Calibri"/>
            </a:endParaRPr>
          </a:p>
        </p:txBody>
      </p:sp>
      <p:sp>
        <p:nvSpPr>
          <p:cNvPr id="74" name="Google Shape;74;h11f538478445b104_2_46"/>
          <p:cNvSpPr/>
          <p:nvPr/>
        </p:nvSpPr>
        <p:spPr>
          <a:xfrm>
            <a:off x="566928" y="3218688"/>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YOUR SCORES</a:t>
            </a:r>
            <a:endParaRPr b="0" i="0" sz="840" u="none" cap="none" strike="noStrike">
              <a:solidFill>
                <a:schemeClr val="dk1"/>
              </a:solidFill>
              <a:latin typeface="Calibri"/>
              <a:ea typeface="Calibri"/>
              <a:cs typeface="Calibri"/>
              <a:sym typeface="Calibri"/>
            </a:endParaRPr>
          </a:p>
        </p:txBody>
      </p:sp>
      <p:sp>
        <p:nvSpPr>
          <p:cNvPr id="75" name="Google Shape;75;h11f538478445b104_2_46"/>
          <p:cNvSpPr/>
          <p:nvPr/>
        </p:nvSpPr>
        <p:spPr>
          <a:xfrm>
            <a:off x="2304288" y="3182112"/>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Stay private. Nothing is submitted, collected or shared at any point.</a:t>
            </a:r>
            <a:endParaRPr b="0" i="0" sz="1140" u="none" cap="none" strike="noStrike">
              <a:solidFill>
                <a:schemeClr val="dk1"/>
              </a:solidFill>
              <a:latin typeface="Calibri"/>
              <a:ea typeface="Calibri"/>
              <a:cs typeface="Calibri"/>
              <a:sym typeface="Calibri"/>
            </a:endParaRPr>
          </a:p>
        </p:txBody>
      </p:sp>
      <p:sp>
        <p:nvSpPr>
          <p:cNvPr id="76" name="Google Shape;76;h11f538478445b104_2_46"/>
          <p:cNvSpPr/>
          <p:nvPr/>
        </p:nvSpPr>
        <p:spPr>
          <a:xfrm>
            <a:off x="566928" y="3822192"/>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THE RECORDING</a:t>
            </a:r>
            <a:endParaRPr b="0" i="0" sz="840" u="none" cap="none" strike="noStrike">
              <a:solidFill>
                <a:schemeClr val="dk1"/>
              </a:solidFill>
              <a:latin typeface="Calibri"/>
              <a:ea typeface="Calibri"/>
              <a:cs typeface="Calibri"/>
              <a:sym typeface="Calibri"/>
            </a:endParaRPr>
          </a:p>
        </p:txBody>
      </p:sp>
      <p:sp>
        <p:nvSpPr>
          <p:cNvPr id="77" name="Google Shape;77;h11f538478445b104_2_46"/>
          <p:cNvSpPr/>
          <p:nvPr/>
        </p:nvSpPr>
        <p:spPr>
          <a:xfrm>
            <a:off x="2304288" y="3785616"/>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teaching runs to minute 50 and is recorded. The last ten minutes are live questions and are not recorded.</a:t>
            </a:r>
            <a:endParaRPr b="0" i="0" sz="1140" u="none" cap="none" strike="noStrike">
              <a:solidFill>
                <a:schemeClr val="dk1"/>
              </a:solidFill>
              <a:latin typeface="Calibri"/>
              <a:ea typeface="Calibri"/>
              <a:cs typeface="Calibri"/>
              <a:sym typeface="Calibri"/>
            </a:endParaRPr>
          </a:p>
        </p:txBody>
      </p:sp>
      <p:sp>
        <p:nvSpPr>
          <p:cNvPr id="78" name="Google Shape;78;h11f538478445b104_2_46"/>
          <p:cNvSpPr/>
          <p:nvPr/>
        </p:nvSpPr>
        <p:spPr>
          <a:xfrm>
            <a:off x="566928" y="4498848"/>
            <a:ext cx="8010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39"/>
              <a:buFont typeface="DM Sans"/>
              <a:buNone/>
            </a:pPr>
            <a:r>
              <a:rPr b="0" i="1" lang="en-US" sz="940" u="none" cap="none" strike="noStrike">
                <a:solidFill>
                  <a:srgbClr val="5A6B84"/>
                </a:solidFill>
                <a:latin typeface="DM Sans"/>
                <a:ea typeface="DM Sans"/>
                <a:cs typeface="DM Sans"/>
                <a:sym typeface="DM Sans"/>
              </a:rPr>
              <a:t>This is not legal, medical, financial, immigration or mental-health advice.</a:t>
            </a:r>
            <a:endParaRPr b="0" i="0" sz="940" u="none" cap="none" strike="noStrike">
              <a:solidFill>
                <a:schemeClr val="dk1"/>
              </a:solidFill>
              <a:latin typeface="Calibri"/>
              <a:ea typeface="Calibri"/>
              <a:cs typeface="Calibri"/>
              <a:sym typeface="Calibri"/>
            </a:endParaRPr>
          </a:p>
        </p:txBody>
      </p:sp>
      <p:sp>
        <p:nvSpPr>
          <p:cNvPr id="79" name="Google Shape;79;h11f538478445b104_2_46"/>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80" name="Google Shape;80;h11f538478445b104_2_46"/>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5" name="Shape 85"/>
        <p:cNvGrpSpPr/>
        <p:nvPr/>
      </p:nvGrpSpPr>
      <p:grpSpPr>
        <a:xfrm>
          <a:off x="0" y="0"/>
          <a:ext cx="0" cy="0"/>
          <a:chOff x="0" y="0"/>
          <a:chExt cx="0" cy="0"/>
        </a:xfrm>
      </p:grpSpPr>
      <p:sp>
        <p:nvSpPr>
          <p:cNvPr id="86" name="Google Shape;86;h38333402142a079_2_31"/>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Definitions</a:t>
            </a:r>
            <a:endParaRPr b="0" i="0" sz="3100" u="none" cap="none" strike="noStrike">
              <a:solidFill>
                <a:schemeClr val="dk1"/>
              </a:solidFill>
              <a:latin typeface="Calibri"/>
              <a:ea typeface="Calibri"/>
              <a:cs typeface="Calibri"/>
              <a:sym typeface="Calibri"/>
            </a:endParaRPr>
          </a:p>
        </p:txBody>
      </p:sp>
      <p:sp>
        <p:nvSpPr>
          <p:cNvPr id="87" name="Google Shape;87;h38333402142a079_2_31"/>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h38333402142a079_2_31"/>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 name="Shape 93"/>
        <p:cNvGrpSpPr/>
        <p:nvPr/>
      </p:nvGrpSpPr>
      <p:grpSpPr>
        <a:xfrm>
          <a:off x="0" y="0"/>
          <a:ext cx="0" cy="0"/>
          <a:chOff x="0" y="0"/>
          <a:chExt cx="0" cy="0"/>
        </a:xfrm>
      </p:grpSpPr>
      <p:sp>
        <p:nvSpPr>
          <p:cNvPr id="94" name="Google Shape;94;h38333402142a079_2_39"/>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ONE </a:t>
            </a:r>
            <a:endParaRPr b="0" i="0" sz="950" u="none" cap="none" strike="noStrike">
              <a:solidFill>
                <a:schemeClr val="dk1"/>
              </a:solidFill>
              <a:latin typeface="Calibri"/>
              <a:ea typeface="Calibri"/>
              <a:cs typeface="Calibri"/>
              <a:sym typeface="Calibri"/>
            </a:endParaRPr>
          </a:p>
        </p:txBody>
      </p:sp>
      <p:sp>
        <p:nvSpPr>
          <p:cNvPr id="95" name="Google Shape;95;h38333402142a079_2_39"/>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Is the work still building you?</a:t>
            </a:r>
            <a:endParaRPr b="0" i="0" sz="3400" u="none" cap="none" strike="noStrike">
              <a:solidFill>
                <a:schemeClr val="dk1"/>
              </a:solidFill>
              <a:latin typeface="Calibri"/>
              <a:ea typeface="Calibri"/>
              <a:cs typeface="Calibri"/>
              <a:sym typeface="Calibri"/>
            </a:endParaRPr>
          </a:p>
        </p:txBody>
      </p:sp>
      <p:sp>
        <p:nvSpPr>
          <p:cNvPr id="96" name="Google Shape;96;h38333402142a079_2_39"/>
          <p:cNvSpPr/>
          <p:nvPr/>
        </p:nvSpPr>
        <p:spPr>
          <a:xfrm>
            <a:off x="566928" y="137160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reading calls that Density.</a:t>
            </a:r>
            <a:endParaRPr b="0" i="0" sz="1150" u="none" cap="none" strike="noStrike">
              <a:solidFill>
                <a:schemeClr val="dk1"/>
              </a:solidFill>
              <a:latin typeface="Calibri"/>
              <a:ea typeface="Calibri"/>
              <a:cs typeface="Calibri"/>
              <a:sym typeface="Calibri"/>
            </a:endParaRPr>
          </a:p>
        </p:txBody>
      </p:sp>
      <p:sp>
        <p:nvSpPr>
          <p:cNvPr id="97" name="Google Shape;97;h38333402142a079_2_39"/>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DENSITY</a:t>
            </a:r>
            <a:r>
              <a:rPr b="0" i="0" lang="en-US" sz="1400" u="none" cap="none" strike="noStrike">
                <a:solidFill>
                  <a:srgbClr val="0F2347"/>
                </a:solidFill>
                <a:latin typeface="DM Sans"/>
                <a:ea typeface="DM Sans"/>
                <a:cs typeface="DM Sans"/>
                <a:sym typeface="DM Sans"/>
              </a:rPr>
              <a:t> reads whether this environment is still forming you. It reads your conditions, not your effort. A role can be demanding, important and exhausting and still stop building you.</a:t>
            </a:r>
            <a:endParaRPr b="0" i="0" sz="1400" u="none" cap="none" strike="noStrike">
              <a:solidFill>
                <a:schemeClr val="dk1"/>
              </a:solidFill>
              <a:latin typeface="Calibri"/>
              <a:ea typeface="Calibri"/>
              <a:cs typeface="Calibri"/>
              <a:sym typeface="Calibri"/>
            </a:endParaRPr>
          </a:p>
        </p:txBody>
      </p:sp>
      <p:sp>
        <p:nvSpPr>
          <p:cNvPr id="98" name="Google Shape;98;h38333402142a079_2_39"/>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h38333402142a079_2_39"/>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b="0" i="0" sz="1200" u="none" cap="none" strike="noStrike">
              <a:solidFill>
                <a:schemeClr val="dk1"/>
              </a:solidFill>
              <a:latin typeface="Calibri"/>
              <a:ea typeface="Calibri"/>
              <a:cs typeface="Calibri"/>
              <a:sym typeface="Calibri"/>
            </a:endParaRPr>
          </a:p>
        </p:txBody>
      </p:sp>
      <p:sp>
        <p:nvSpPr>
          <p:cNvPr id="100" name="Google Shape;100;h38333402142a079_2_39"/>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You will score them in a moment.</a:t>
            </a:r>
            <a:endParaRPr b="0" i="0" sz="1150" u="none" cap="none" strike="noStrike">
              <a:solidFill>
                <a:schemeClr val="dk1"/>
              </a:solidFill>
              <a:latin typeface="Calibri"/>
              <a:ea typeface="Calibri"/>
              <a:cs typeface="Calibri"/>
              <a:sym typeface="Calibri"/>
            </a:endParaRPr>
          </a:p>
        </p:txBody>
      </p:sp>
      <p:sp>
        <p:nvSpPr>
          <p:cNvPr id="101" name="Google Shape;101;h38333402142a079_2_39"/>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02" name="Google Shape;102;h38333402142a079_2_39"/>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7" name="Shape 107"/>
        <p:cNvGrpSpPr/>
        <p:nvPr/>
      </p:nvGrpSpPr>
      <p:grpSpPr>
        <a:xfrm>
          <a:off x="0" y="0"/>
          <a:ext cx="0" cy="0"/>
          <a:chOff x="0" y="0"/>
          <a:chExt cx="0" cy="0"/>
        </a:xfrm>
      </p:grpSpPr>
      <p:sp>
        <p:nvSpPr>
          <p:cNvPr id="108" name="Google Shape;108;h38333402142a079_2_52"/>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TWO</a:t>
            </a:r>
            <a:endParaRPr b="0" i="0" sz="950" u="none" cap="none" strike="noStrike">
              <a:solidFill>
                <a:schemeClr val="dk1"/>
              </a:solidFill>
              <a:latin typeface="Calibri"/>
              <a:ea typeface="Calibri"/>
              <a:cs typeface="Calibri"/>
              <a:sym typeface="Calibri"/>
            </a:endParaRPr>
          </a:p>
        </p:txBody>
      </p:sp>
      <p:sp>
        <p:nvSpPr>
          <p:cNvPr id="109" name="Google Shape;109;h38333402142a079_2_5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Will what you build still travel?</a:t>
            </a:r>
            <a:endParaRPr b="0" i="0" sz="3400" u="none" cap="none" strike="noStrike">
              <a:solidFill>
                <a:schemeClr val="dk1"/>
              </a:solidFill>
              <a:latin typeface="Calibri"/>
              <a:ea typeface="Calibri"/>
              <a:cs typeface="Calibri"/>
              <a:sym typeface="Calibri"/>
            </a:endParaRPr>
          </a:p>
        </p:txBody>
      </p:sp>
      <p:sp>
        <p:nvSpPr>
          <p:cNvPr id="110" name="Google Shape;110;h38333402142a079_2_52"/>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Optionality</a:t>
            </a:r>
            <a:r>
              <a:rPr b="0" i="0" lang="en-US" sz="1400" u="none" cap="none" strike="noStrike">
                <a:solidFill>
                  <a:srgbClr val="0F2347"/>
                </a:solidFill>
                <a:latin typeface="DM Sans"/>
                <a:ea typeface="DM Sans"/>
                <a:cs typeface="DM Sans"/>
                <a:sym typeface="DM Sans"/>
              </a:rPr>
              <a:t> reads whether what this work is building stays useful beyond your current context, and whether you could make it legible to someone outside your organization using evidence rather than your title.</a:t>
            </a:r>
            <a:endParaRPr b="0" i="0" sz="1400" u="none" cap="none" strike="noStrike">
              <a:solidFill>
                <a:schemeClr val="dk1"/>
              </a:solidFill>
              <a:latin typeface="Calibri"/>
              <a:ea typeface="Calibri"/>
              <a:cs typeface="Calibri"/>
              <a:sym typeface="Calibri"/>
            </a:endParaRPr>
          </a:p>
        </p:txBody>
      </p:sp>
      <p:sp>
        <p:nvSpPr>
          <p:cNvPr id="111" name="Google Shape;111;h38333402142a079_2_52"/>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h38333402142a079_2_52"/>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b="0" i="0" sz="1200" u="none" cap="none" strike="noStrike">
              <a:solidFill>
                <a:schemeClr val="dk1"/>
              </a:solidFill>
              <a:latin typeface="Calibri"/>
              <a:ea typeface="Calibri"/>
              <a:cs typeface="Calibri"/>
              <a:sym typeface="Calibri"/>
            </a:endParaRPr>
          </a:p>
        </p:txBody>
      </p:sp>
      <p:sp>
        <p:nvSpPr>
          <p:cNvPr id="113" name="Google Shape;113;h38333402142a079_2_52"/>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Same scale, same window.</a:t>
            </a:r>
            <a:endParaRPr b="0" i="0" sz="1150" u="none" cap="none" strike="noStrike">
              <a:solidFill>
                <a:schemeClr val="dk1"/>
              </a:solidFill>
              <a:latin typeface="Calibri"/>
              <a:ea typeface="Calibri"/>
              <a:cs typeface="Calibri"/>
              <a:sym typeface="Calibri"/>
            </a:endParaRPr>
          </a:p>
        </p:txBody>
      </p:sp>
      <p:sp>
        <p:nvSpPr>
          <p:cNvPr id="114" name="Google Shape;114;h38333402142a079_2_5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15" name="Google Shape;115;h38333402142a079_2_5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 to 3</a:t>
            </a:r>
            <a:endParaRPr b="0" i="0" sz="2400" u="none" cap="none" strike="noStrike">
              <a:solidFill>
                <a:schemeClr val="dk1"/>
              </a:solidFill>
              <a:latin typeface="Calibri"/>
              <a:ea typeface="Calibri"/>
              <a:cs typeface="Calibri"/>
              <a:sym typeface="Calibri"/>
            </a:endParaRPr>
          </a:p>
        </p:txBody>
      </p:sp>
      <p:sp>
        <p:nvSpPr>
          <p:cNvPr id="123" name="Google Shape;123;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Live, silent. 1 strongly disagree to 5 strongly agree.</a:t>
            </a:r>
            <a:endParaRPr b="0" i="0" sz="1150" u="none" cap="none" strike="noStrike">
              <a:solidFill>
                <a:schemeClr val="dk1"/>
              </a:solidFill>
              <a:latin typeface="Calibri"/>
              <a:ea typeface="Calibri"/>
              <a:cs typeface="Calibri"/>
              <a:sym typeface="Calibri"/>
            </a:endParaRPr>
          </a:p>
        </p:txBody>
      </p:sp>
      <p:sp>
        <p:nvSpPr>
          <p:cNvPr id="124" name="Google Shape;124;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126" name="Google Shape;126;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In the last ninety days I have been handed a problem I did not already know how to solve.</a:t>
            </a:r>
            <a:endParaRPr b="0" i="0" sz="1250" u="none" cap="none" strike="noStrike">
              <a:solidFill>
                <a:schemeClr val="dk1"/>
              </a:solidFill>
              <a:latin typeface="Calibri"/>
              <a:ea typeface="Calibri"/>
              <a:cs typeface="Calibri"/>
              <a:sym typeface="Calibri"/>
            </a:endParaRPr>
          </a:p>
        </p:txBody>
      </p:sp>
      <p:sp>
        <p:nvSpPr>
          <p:cNvPr id="127" name="Google Shape;127;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28" name="Google Shape;128;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130" name="Google Shape;130;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work close enough to people who are better than me that I can watch how they think.</a:t>
            </a:r>
            <a:endParaRPr b="0" i="0" sz="1250" u="none" cap="none" strike="noStrike">
              <a:solidFill>
                <a:schemeClr val="dk1"/>
              </a:solidFill>
              <a:latin typeface="Calibri"/>
              <a:ea typeface="Calibri"/>
              <a:cs typeface="Calibri"/>
              <a:sym typeface="Calibri"/>
            </a:endParaRPr>
          </a:p>
        </p:txBody>
      </p:sp>
      <p:sp>
        <p:nvSpPr>
          <p:cNvPr id="131" name="Google Shape;131;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2" name="Google Shape;132;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1250" u="none" cap="none" strike="noStrike">
              <a:solidFill>
                <a:schemeClr val="dk1"/>
              </a:solidFill>
              <a:latin typeface="Calibri"/>
              <a:ea typeface="Calibri"/>
              <a:cs typeface="Calibri"/>
              <a:sym typeface="Calibri"/>
            </a:endParaRPr>
          </a:p>
        </p:txBody>
      </p:sp>
      <p:sp>
        <p:nvSpPr>
          <p:cNvPr id="135" name="Google Shape;135;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6" name="Google Shape;136;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37" name="Google Shape;137;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2" name="Shape 142"/>
        <p:cNvGrpSpPr/>
        <p:nvPr/>
      </p:nvGrpSpPr>
      <p:grpSpPr>
        <a:xfrm>
          <a:off x="0" y="0"/>
          <a:ext cx="0" cy="0"/>
          <a:chOff x="0" y="0"/>
          <a:chExt cx="0" cy="0"/>
        </a:xfrm>
      </p:grpSpPr>
      <p:sp>
        <p:nvSpPr>
          <p:cNvPr id="143" name="Google Shape;143;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44" name="Google Shape;144;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4 to 6</a:t>
            </a:r>
            <a:endParaRPr b="0" i="0" sz="2400" u="none" cap="none" strike="noStrike">
              <a:solidFill>
                <a:schemeClr val="dk1"/>
              </a:solidFill>
              <a:latin typeface="Calibri"/>
              <a:ea typeface="Calibri"/>
              <a:cs typeface="Calibri"/>
              <a:sym typeface="Calibri"/>
            </a:endParaRPr>
          </a:p>
        </p:txBody>
      </p:sp>
      <p:sp>
        <p:nvSpPr>
          <p:cNvPr id="145" name="Google Shape;145;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continued. Same window, same instruction.</a:t>
            </a:r>
            <a:endParaRPr b="0" i="0" sz="1150" u="none" cap="none" strike="noStrike">
              <a:solidFill>
                <a:schemeClr val="dk1"/>
              </a:solidFill>
              <a:latin typeface="Calibri"/>
              <a:ea typeface="Calibri"/>
              <a:cs typeface="Calibri"/>
              <a:sym typeface="Calibri"/>
            </a:endParaRPr>
          </a:p>
        </p:txBody>
      </p:sp>
      <p:sp>
        <p:nvSpPr>
          <p:cNvPr id="146" name="Google Shape;146;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4</a:t>
            </a:r>
            <a:endParaRPr b="0" i="0" sz="1000" u="none" cap="none" strike="noStrike">
              <a:solidFill>
                <a:schemeClr val="dk1"/>
              </a:solidFill>
              <a:latin typeface="Calibri"/>
              <a:ea typeface="Calibri"/>
              <a:cs typeface="Calibri"/>
              <a:sym typeface="Calibri"/>
            </a:endParaRPr>
          </a:p>
        </p:txBody>
      </p:sp>
      <p:sp>
        <p:nvSpPr>
          <p:cNvPr id="148" name="Google Shape;148;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feedback I receive changes what I do next, not just how I feel.</a:t>
            </a:r>
            <a:endParaRPr b="0" i="0" sz="1250" u="none" cap="none" strike="noStrike">
              <a:solidFill>
                <a:schemeClr val="dk1"/>
              </a:solidFill>
              <a:latin typeface="Calibri"/>
              <a:ea typeface="Calibri"/>
              <a:cs typeface="Calibri"/>
              <a:sym typeface="Calibri"/>
            </a:endParaRPr>
          </a:p>
        </p:txBody>
      </p:sp>
      <p:sp>
        <p:nvSpPr>
          <p:cNvPr id="149" name="Google Shape;149;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0" name="Google Shape;150;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5</a:t>
            </a:r>
            <a:endParaRPr b="0" i="0" sz="1000" u="none" cap="none" strike="noStrike">
              <a:solidFill>
                <a:schemeClr val="dk1"/>
              </a:solidFill>
              <a:latin typeface="Calibri"/>
              <a:ea typeface="Calibri"/>
              <a:cs typeface="Calibri"/>
              <a:sym typeface="Calibri"/>
            </a:endParaRPr>
          </a:p>
        </p:txBody>
      </p:sp>
      <p:sp>
        <p:nvSpPr>
          <p:cNvPr id="152" name="Google Shape;152;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regularly operate at the edge of my competence rather than the comfortable center of it.</a:t>
            </a:r>
            <a:endParaRPr b="0" i="0" sz="1250" u="none" cap="none" strike="noStrike">
              <a:solidFill>
                <a:schemeClr val="dk1"/>
              </a:solidFill>
              <a:latin typeface="Calibri"/>
              <a:ea typeface="Calibri"/>
              <a:cs typeface="Calibri"/>
              <a:sym typeface="Calibri"/>
            </a:endParaRPr>
          </a:p>
        </p:txBody>
      </p:sp>
      <p:sp>
        <p:nvSpPr>
          <p:cNvPr id="153" name="Google Shape;153;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4" name="Google Shape;154;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6</a:t>
            </a:r>
            <a:endParaRPr b="0" i="0" sz="1000" u="none" cap="none" strike="noStrike">
              <a:solidFill>
                <a:schemeClr val="dk1"/>
              </a:solidFill>
              <a:latin typeface="Calibri"/>
              <a:ea typeface="Calibri"/>
              <a:cs typeface="Calibri"/>
              <a:sym typeface="Calibri"/>
            </a:endParaRPr>
          </a:p>
        </p:txBody>
      </p:sp>
      <p:sp>
        <p:nvSpPr>
          <p:cNvPr id="156" name="Google Shape;156;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Looking back six months, the work I do now would have been genuinely hard for me then.</a:t>
            </a:r>
            <a:endParaRPr b="0" i="0" sz="1250" u="none" cap="none" strike="noStrike">
              <a:solidFill>
                <a:schemeClr val="dk1"/>
              </a:solidFill>
              <a:latin typeface="Calibri"/>
              <a:ea typeface="Calibri"/>
              <a:cs typeface="Calibri"/>
              <a:sym typeface="Calibri"/>
            </a:endParaRPr>
          </a:p>
        </p:txBody>
      </p:sp>
      <p:sp>
        <p:nvSpPr>
          <p:cNvPr id="157" name="Google Shape;157;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8" name="Google Shape;158;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59" name="Google Shape;159;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4" name="Shape 164"/>
        <p:cNvGrpSpPr/>
        <p:nvPr/>
      </p:nvGrpSpPr>
      <p:grpSpPr>
        <a:xfrm>
          <a:off x="0" y="0"/>
          <a:ext cx="0" cy="0"/>
          <a:chOff x="0" y="0"/>
          <a:chExt cx="0" cy="0"/>
        </a:xfrm>
      </p:grpSpPr>
      <p:sp>
        <p:nvSpPr>
          <p:cNvPr id="165" name="Google Shape;165;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66" name="Google Shape;166;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Density reading</a:t>
            </a:r>
            <a:endParaRPr b="0" i="0" sz="2800" u="none" cap="none" strike="noStrike">
              <a:solidFill>
                <a:schemeClr val="dk1"/>
              </a:solidFill>
              <a:latin typeface="Calibri"/>
              <a:ea typeface="Calibri"/>
              <a:cs typeface="Calibri"/>
              <a:sym typeface="Calibri"/>
            </a:endParaRPr>
          </a:p>
        </p:txBody>
      </p:sp>
      <p:sp>
        <p:nvSpPr>
          <p:cNvPr id="167" name="Google Shape;167;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1 to 6.</a:t>
            </a:r>
            <a:endParaRPr b="0" i="0" sz="1150" u="none" cap="none" strike="noStrike">
              <a:solidFill>
                <a:schemeClr val="dk1"/>
              </a:solidFill>
              <a:latin typeface="Calibri"/>
              <a:ea typeface="Calibri"/>
              <a:cs typeface="Calibri"/>
              <a:sym typeface="Calibri"/>
            </a:endParaRPr>
          </a:p>
        </p:txBody>
      </p:sp>
      <p:sp>
        <p:nvSpPr>
          <p:cNvPr id="168" name="Google Shape;168;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DENSITY TOTAL</a:t>
            </a:r>
            <a:endParaRPr b="0" i="0" sz="950" u="none" cap="none" strike="noStrike">
              <a:solidFill>
                <a:schemeClr val="dk1"/>
              </a:solidFill>
              <a:latin typeface="Calibri"/>
              <a:ea typeface="Calibri"/>
              <a:cs typeface="Calibri"/>
              <a:sym typeface="Calibri"/>
            </a:endParaRPr>
          </a:p>
        </p:txBody>
      </p:sp>
      <p:sp>
        <p:nvSpPr>
          <p:cNvPr id="170" name="Google Shape;170;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171" name="Google Shape;171;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19 to 30 is high</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6 to 18 is low</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17 to 21 is the boundary band</a:t>
            </a:r>
            <a:endParaRPr b="0" i="0" sz="1150" u="none" cap="none" strike="noStrike">
              <a:solidFill>
                <a:schemeClr val="dk1"/>
              </a:solidFill>
              <a:latin typeface="Calibri"/>
              <a:ea typeface="Calibri"/>
              <a:cs typeface="Calibri"/>
              <a:sym typeface="Calibri"/>
            </a:endParaRPr>
          </a:p>
        </p:txBody>
      </p:sp>
      <p:sp>
        <p:nvSpPr>
          <p:cNvPr id="172" name="Google Shape;172;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173" name="Google Shape;173;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 you will read both neighboring states rather than pick one.</a:t>
            </a:r>
            <a:endParaRPr b="0" i="0" sz="1060" u="none" cap="none" strike="noStrike">
              <a:solidFill>
                <a:schemeClr val="dk1"/>
              </a:solidFill>
              <a:latin typeface="Calibri"/>
              <a:ea typeface="Calibri"/>
              <a:cs typeface="Calibri"/>
              <a:sym typeface="Calibri"/>
            </a:endParaRPr>
          </a:p>
        </p:txBody>
      </p:sp>
      <p:sp>
        <p:nvSpPr>
          <p:cNvPr id="174" name="Google Shape;174;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75" name="Google Shape;175;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0" name="Shape 180"/>
        <p:cNvGrpSpPr/>
        <p:nvPr/>
      </p:nvGrpSpPr>
      <p:grpSpPr>
        <a:xfrm>
          <a:off x="0" y="0"/>
          <a:ext cx="0" cy="0"/>
          <a:chOff x="0" y="0"/>
          <a:chExt cx="0" cy="0"/>
        </a:xfrm>
      </p:grpSpPr>
      <p:sp>
        <p:nvSpPr>
          <p:cNvPr id="181" name="Google Shape;181;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7 to 9</a:t>
            </a:r>
            <a:endParaRPr b="0" i="0" sz="2400" u="none" cap="none" strike="noStrike">
              <a:solidFill>
                <a:schemeClr val="dk1"/>
              </a:solidFill>
              <a:latin typeface="Calibri"/>
              <a:ea typeface="Calibri"/>
              <a:cs typeface="Calibri"/>
              <a:sym typeface="Calibri"/>
            </a:endParaRPr>
          </a:p>
        </p:txBody>
      </p:sp>
      <p:sp>
        <p:nvSpPr>
          <p:cNvPr id="183" name="Google Shape;183;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Same scale, same window.</a:t>
            </a:r>
            <a:endParaRPr b="0" i="0" sz="1150" u="none" cap="none" strike="noStrike">
              <a:solidFill>
                <a:schemeClr val="dk1"/>
              </a:solidFill>
              <a:latin typeface="Calibri"/>
              <a:ea typeface="Calibri"/>
              <a:cs typeface="Calibri"/>
              <a:sym typeface="Calibri"/>
            </a:endParaRPr>
          </a:p>
        </p:txBody>
      </p:sp>
      <p:sp>
        <p:nvSpPr>
          <p:cNvPr id="184" name="Google Shape;184;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7</a:t>
            </a:r>
            <a:endParaRPr b="0" i="0" sz="1000" u="none" cap="none" strike="noStrike">
              <a:solidFill>
                <a:schemeClr val="dk1"/>
              </a:solidFill>
              <a:latin typeface="Calibri"/>
              <a:ea typeface="Calibri"/>
              <a:cs typeface="Calibri"/>
              <a:sym typeface="Calibri"/>
            </a:endParaRPr>
          </a:p>
        </p:txBody>
      </p:sp>
      <p:sp>
        <p:nvSpPr>
          <p:cNvPr id="186" name="Google Shape;186;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capability I am building would be valued by an employer in a different industry.</a:t>
            </a:r>
            <a:endParaRPr b="0" i="0" sz="1250" u="none" cap="none" strike="noStrike">
              <a:solidFill>
                <a:schemeClr val="dk1"/>
              </a:solidFill>
              <a:latin typeface="Calibri"/>
              <a:ea typeface="Calibri"/>
              <a:cs typeface="Calibri"/>
              <a:sym typeface="Calibri"/>
            </a:endParaRPr>
          </a:p>
        </p:txBody>
      </p:sp>
      <p:sp>
        <p:nvSpPr>
          <p:cNvPr id="187" name="Google Shape;187;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88" name="Google Shape;188;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8</a:t>
            </a:r>
            <a:endParaRPr b="0" i="0" sz="1000" u="none" cap="none" strike="noStrike">
              <a:solidFill>
                <a:schemeClr val="dk1"/>
              </a:solidFill>
              <a:latin typeface="Calibri"/>
              <a:ea typeface="Calibri"/>
              <a:cs typeface="Calibri"/>
              <a:sym typeface="Calibri"/>
            </a:endParaRPr>
          </a:p>
        </p:txBody>
      </p:sp>
      <p:sp>
        <p:nvSpPr>
          <p:cNvPr id="190" name="Google Shape;190;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can describe what I do in terms of outcomes, not just my company’s internal language.</a:t>
            </a:r>
            <a:endParaRPr b="0" i="0" sz="1250" u="none" cap="none" strike="noStrike">
              <a:solidFill>
                <a:schemeClr val="dk1"/>
              </a:solidFill>
              <a:latin typeface="Calibri"/>
              <a:ea typeface="Calibri"/>
              <a:cs typeface="Calibri"/>
              <a:sym typeface="Calibri"/>
            </a:endParaRPr>
          </a:p>
        </p:txBody>
      </p:sp>
      <p:sp>
        <p:nvSpPr>
          <p:cNvPr id="191" name="Google Shape;191;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2" name="Google Shape;192;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9</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If my role disappeared tomorrow, the capability I built would still be mine to carry.</a:t>
            </a:r>
            <a:endParaRPr b="0" i="0" sz="1250" u="none" cap="none" strike="noStrike">
              <a:solidFill>
                <a:schemeClr val="dk1"/>
              </a:solidFill>
              <a:latin typeface="Calibri"/>
              <a:ea typeface="Calibri"/>
              <a:cs typeface="Calibri"/>
              <a:sym typeface="Calibri"/>
            </a:endParaRPr>
          </a:p>
        </p:txBody>
      </p:sp>
      <p:sp>
        <p:nvSpPr>
          <p:cNvPr id="195" name="Google Shape;195;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6" name="Google Shape;19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97" name="Google Shape;19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2" name="Shape 202"/>
        <p:cNvGrpSpPr/>
        <p:nvPr/>
      </p:nvGrpSpPr>
      <p:grpSpPr>
        <a:xfrm>
          <a:off x="0" y="0"/>
          <a:ext cx="0" cy="0"/>
          <a:chOff x="0" y="0"/>
          <a:chExt cx="0" cy="0"/>
        </a:xfrm>
      </p:grpSpPr>
      <p:sp>
        <p:nvSpPr>
          <p:cNvPr id="203" name="Google Shape;20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04" name="Google Shape;20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10 to 12</a:t>
            </a:r>
            <a:endParaRPr b="0" i="0" sz="2400" u="none" cap="none" strike="noStrike">
              <a:solidFill>
                <a:schemeClr val="dk1"/>
              </a:solidFill>
              <a:latin typeface="Calibri"/>
              <a:ea typeface="Calibri"/>
              <a:cs typeface="Calibri"/>
              <a:sym typeface="Calibri"/>
            </a:endParaRPr>
          </a:p>
        </p:txBody>
      </p:sp>
      <p:sp>
        <p:nvSpPr>
          <p:cNvPr id="205" name="Google Shape;20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continued. Last block of the first pass.</a:t>
            </a:r>
            <a:endParaRPr b="0" i="0" sz="1150" u="none" cap="none" strike="noStrike">
              <a:solidFill>
                <a:schemeClr val="dk1"/>
              </a:solidFill>
              <a:latin typeface="Calibri"/>
              <a:ea typeface="Calibri"/>
              <a:cs typeface="Calibri"/>
              <a:sym typeface="Calibri"/>
            </a:endParaRPr>
          </a:p>
        </p:txBody>
      </p:sp>
      <p:sp>
        <p:nvSpPr>
          <p:cNvPr id="206" name="Google Shape;20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10</a:t>
            </a:r>
            <a:endParaRPr b="0" i="0" sz="1000" u="none" cap="none" strike="noStrike">
              <a:solidFill>
                <a:schemeClr val="dk1"/>
              </a:solidFill>
              <a:latin typeface="Calibri"/>
              <a:ea typeface="Calibri"/>
              <a:cs typeface="Calibri"/>
              <a:sym typeface="Calibri"/>
            </a:endParaRPr>
          </a:p>
        </p:txBody>
      </p:sp>
      <p:sp>
        <p:nvSpPr>
          <p:cNvPr id="208" name="Google Shape;20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1250" u="none" cap="none" strike="noStrike">
              <a:solidFill>
                <a:schemeClr val="dk1"/>
              </a:solidFill>
              <a:latin typeface="Calibri"/>
              <a:ea typeface="Calibri"/>
              <a:cs typeface="Calibri"/>
              <a:sym typeface="Calibri"/>
            </a:endParaRPr>
          </a:p>
        </p:txBody>
      </p:sp>
      <p:sp>
        <p:nvSpPr>
          <p:cNvPr id="209" name="Google Shape;20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0" name="Google Shape;21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11</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I am learning is a transferable capability rather than a company-specific procedure.</a:t>
            </a:r>
            <a:endParaRPr b="0" i="0" sz="1250" u="none" cap="none" strike="noStrike">
              <a:solidFill>
                <a:schemeClr val="dk1"/>
              </a:solidFill>
              <a:latin typeface="Calibri"/>
              <a:ea typeface="Calibri"/>
              <a:cs typeface="Calibri"/>
              <a:sym typeface="Calibri"/>
            </a:endParaRPr>
          </a:p>
        </p:txBody>
      </p:sp>
      <p:sp>
        <p:nvSpPr>
          <p:cNvPr id="213" name="Google Shape;21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4" name="Google Shape;21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12</a:t>
            </a:r>
            <a:endParaRPr b="0" i="0" sz="1000" u="none" cap="none" strike="noStrike">
              <a:solidFill>
                <a:schemeClr val="dk1"/>
              </a:solidFill>
              <a:latin typeface="Calibri"/>
              <a:ea typeface="Calibri"/>
              <a:cs typeface="Calibri"/>
              <a:sym typeface="Calibri"/>
            </a:endParaRPr>
          </a:p>
        </p:txBody>
      </p:sp>
      <p:sp>
        <p:nvSpPr>
          <p:cNvPr id="216" name="Google Shape;21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could rebuild a strong position somewhere else within a year.</a:t>
            </a:r>
            <a:endParaRPr b="0" i="0" sz="1250" u="none" cap="none" strike="noStrike">
              <a:solidFill>
                <a:schemeClr val="dk1"/>
              </a:solidFill>
              <a:latin typeface="Calibri"/>
              <a:ea typeface="Calibri"/>
              <a:cs typeface="Calibri"/>
              <a:sym typeface="Calibri"/>
            </a:endParaRPr>
          </a:p>
        </p:txBody>
      </p:sp>
      <p:sp>
        <p:nvSpPr>
          <p:cNvPr id="217" name="Google Shape;21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8" name="Google Shape;218;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19" name="Google Shape;219;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4" name="Shape 224"/>
        <p:cNvGrpSpPr/>
        <p:nvPr/>
      </p:nvGrpSpPr>
      <p:grpSpPr>
        <a:xfrm>
          <a:off x="0" y="0"/>
          <a:ext cx="0" cy="0"/>
          <a:chOff x="0" y="0"/>
          <a:chExt cx="0" cy="0"/>
        </a:xfrm>
      </p:grpSpPr>
      <p:sp>
        <p:nvSpPr>
          <p:cNvPr id="225" name="Google Shape;225;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26" name="Google Shape;226;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Optionality reading</a:t>
            </a:r>
            <a:endParaRPr b="0" i="0" sz="2800" u="none" cap="none" strike="noStrike">
              <a:solidFill>
                <a:schemeClr val="dk1"/>
              </a:solidFill>
              <a:latin typeface="Calibri"/>
              <a:ea typeface="Calibri"/>
              <a:cs typeface="Calibri"/>
              <a:sym typeface="Calibri"/>
            </a:endParaRPr>
          </a:p>
        </p:txBody>
      </p:sp>
      <p:sp>
        <p:nvSpPr>
          <p:cNvPr id="227" name="Google Shape;227;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7 to 12.</a:t>
            </a:r>
            <a:endParaRPr b="0" i="0" sz="1150" u="none" cap="none" strike="noStrike">
              <a:solidFill>
                <a:schemeClr val="dk1"/>
              </a:solidFill>
              <a:latin typeface="Calibri"/>
              <a:ea typeface="Calibri"/>
              <a:cs typeface="Calibri"/>
              <a:sym typeface="Calibri"/>
            </a:endParaRPr>
          </a:p>
        </p:txBody>
      </p:sp>
      <p:sp>
        <p:nvSpPr>
          <p:cNvPr id="228" name="Google Shape;228;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OPTIONALITY TOTAL</a:t>
            </a:r>
            <a:endParaRPr b="0" i="0" sz="950" u="none" cap="none" strike="noStrike">
              <a:solidFill>
                <a:schemeClr val="dk1"/>
              </a:solidFill>
              <a:latin typeface="Calibri"/>
              <a:ea typeface="Calibri"/>
              <a:cs typeface="Calibri"/>
              <a:sym typeface="Calibri"/>
            </a:endParaRPr>
          </a:p>
        </p:txBody>
      </p:sp>
      <p:sp>
        <p:nvSpPr>
          <p:cNvPr id="230" name="Google Shape;230;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231" name="Google Shape;231;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19 to 30 is high</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6 to 18 is low</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17 to 21 is the boundary band</a:t>
            </a:r>
            <a:endParaRPr b="1" i="0" sz="1450" u="none" cap="none" strike="noStrike">
              <a:solidFill>
                <a:schemeClr val="dk1"/>
              </a:solidFill>
              <a:latin typeface="Calibri"/>
              <a:ea typeface="Calibri"/>
              <a:cs typeface="Calibri"/>
              <a:sym typeface="Calibri"/>
            </a:endParaRPr>
          </a:p>
        </p:txBody>
      </p:sp>
      <p:sp>
        <p:nvSpPr>
          <p:cNvPr id="232" name="Google Shape;232;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233" name="Google Shape;233;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a:t>
            </a:r>
            <a:r>
              <a:rPr i="1" lang="en-US" sz="1060">
                <a:solidFill>
                  <a:srgbClr val="5A6B84"/>
                </a:solidFill>
                <a:latin typeface="DM Sans"/>
                <a:ea typeface="DM Sans"/>
                <a:cs typeface="DM Sans"/>
                <a:sym typeface="DM Sans"/>
              </a:rPr>
              <a:t>, </a:t>
            </a:r>
            <a:r>
              <a:rPr b="0" i="1" lang="en-US" sz="1060" u="none" cap="none" strike="noStrike">
                <a:solidFill>
                  <a:srgbClr val="5A6B84"/>
                </a:solidFill>
                <a:latin typeface="DM Sans"/>
                <a:ea typeface="DM Sans"/>
                <a:cs typeface="DM Sans"/>
                <a:sym typeface="DM Sans"/>
              </a:rPr>
              <a:t>you will read both neighboring states rather than pick one.</a:t>
            </a:r>
            <a:endParaRPr b="0" i="0" sz="1060" u="none" cap="none" strike="noStrike">
              <a:solidFill>
                <a:schemeClr val="dk1"/>
              </a:solidFill>
              <a:latin typeface="Calibri"/>
              <a:ea typeface="Calibri"/>
              <a:cs typeface="Calibri"/>
              <a:sym typeface="Calibri"/>
            </a:endParaRPr>
          </a:p>
        </p:txBody>
      </p:sp>
      <p:sp>
        <p:nvSpPr>
          <p:cNvPr id="234" name="Google Shape;234;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35" name="Google Shape;235;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40" name="Shape 240"/>
        <p:cNvGrpSpPr/>
        <p:nvPr/>
      </p:nvGrpSpPr>
      <p:grpSpPr>
        <a:xfrm>
          <a:off x="0" y="0"/>
          <a:ext cx="0" cy="0"/>
          <a:chOff x="0" y="0"/>
          <a:chExt cx="0" cy="0"/>
        </a:xfrm>
      </p:grpSpPr>
      <p:sp>
        <p:nvSpPr>
          <p:cNvPr id="241" name="Google Shape;241;h38333402142a079_2_70"/>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Matrix</a:t>
            </a:r>
            <a:endParaRPr b="0" i="0" sz="3800" u="none" cap="none" strike="noStrike">
              <a:solidFill>
                <a:schemeClr val="dk1"/>
              </a:solidFill>
              <a:latin typeface="Calibri"/>
              <a:ea typeface="Calibri"/>
              <a:cs typeface="Calibri"/>
              <a:sym typeface="Calibri"/>
            </a:endParaRPr>
          </a:p>
        </p:txBody>
      </p:sp>
      <p:sp>
        <p:nvSpPr>
          <p:cNvPr id="242" name="Google Shape;242;h38333402142a079_2_70"/>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h38333402142a079_2_7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8" name="Shape 248"/>
        <p:cNvGrpSpPr/>
        <p:nvPr/>
      </p:nvGrpSpPr>
      <p:grpSpPr>
        <a:xfrm>
          <a:off x="0" y="0"/>
          <a:ext cx="0" cy="0"/>
          <a:chOff x="0" y="0"/>
          <a:chExt cx="0" cy="0"/>
        </a:xfrm>
      </p:grpSpPr>
      <p:sp>
        <p:nvSpPr>
          <p:cNvPr id="249" name="Google Shape;249;h11f538478445b104_2_18"/>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MATRIX</a:t>
            </a:r>
            <a:endParaRPr b="0" i="0" sz="950" u="none" cap="none" strike="noStrike">
              <a:solidFill>
                <a:schemeClr val="dk1"/>
              </a:solidFill>
              <a:latin typeface="Calibri"/>
              <a:ea typeface="Calibri"/>
              <a:cs typeface="Calibri"/>
              <a:sym typeface="Calibri"/>
            </a:endParaRPr>
          </a:p>
        </p:txBody>
      </p:sp>
      <p:sp>
        <p:nvSpPr>
          <p:cNvPr id="250" name="Google Shape;250;h11f538478445b104_2_18"/>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251" name="Google Shape;251;h11f538478445b104_2_18"/>
          <p:cNvSpPr/>
          <p:nvPr/>
        </p:nvSpPr>
        <p:spPr>
          <a:xfrm>
            <a:off x="566928" y="1353312"/>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252" name="Google Shape;252;h11f538478445b104_2_18"/>
          <p:cNvSpPr/>
          <p:nvPr/>
        </p:nvSpPr>
        <p:spPr>
          <a:xfrm>
            <a:off x="1133856" y="1792224"/>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h11f538478445b104_2_18"/>
          <p:cNvSpPr/>
          <p:nvPr/>
        </p:nvSpPr>
        <p:spPr>
          <a:xfrm>
            <a:off x="1353312"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2   </a:t>
            </a: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254" name="Google Shape;254;h11f538478445b104_2_18"/>
          <p:cNvSpPr/>
          <p:nvPr/>
        </p:nvSpPr>
        <p:spPr>
          <a:xfrm>
            <a:off x="1353312"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Deep expertise fused to one context.</a:t>
            </a:r>
            <a:endParaRPr b="1" i="0" sz="1100" u="none" cap="none" strike="noStrike">
              <a:solidFill>
                <a:schemeClr val="dk1"/>
              </a:solidFill>
              <a:latin typeface="Calibri"/>
              <a:ea typeface="Calibri"/>
              <a:cs typeface="Calibri"/>
              <a:sym typeface="Calibri"/>
            </a:endParaRPr>
          </a:p>
        </p:txBody>
      </p:sp>
      <p:sp>
        <p:nvSpPr>
          <p:cNvPr id="255" name="Google Shape;255;h11f538478445b104_2_18"/>
          <p:cNvSpPr/>
          <p:nvPr/>
        </p:nvSpPr>
        <p:spPr>
          <a:xfrm>
            <a:off x="4855464" y="1792224"/>
            <a:ext cx="3721500" cy="12069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11f538478445b104_2_18"/>
          <p:cNvSpPr/>
          <p:nvPr/>
        </p:nvSpPr>
        <p:spPr>
          <a:xfrm>
            <a:off x="5074920"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B8C5D9"/>
                </a:solidFill>
                <a:latin typeface="Montserrat"/>
                <a:ea typeface="Montserrat"/>
                <a:cs typeface="Montserrat"/>
                <a:sym typeface="Montserrat"/>
              </a:rPr>
              <a:t>4   </a:t>
            </a: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257" name="Google Shape;257;h11f538478445b104_2_18"/>
          <p:cNvSpPr/>
          <p:nvPr/>
        </p:nvSpPr>
        <p:spPr>
          <a:xfrm>
            <a:off x="5074920"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100" u="none" cap="none" strike="noStrike">
                <a:solidFill>
                  <a:srgbClr val="B8C5D9"/>
                </a:solidFill>
                <a:latin typeface="DM Sans"/>
                <a:ea typeface="DM Sans"/>
                <a:cs typeface="DM Sans"/>
                <a:sym typeface="DM Sans"/>
              </a:rPr>
              <a:t>Deep capability that travels.</a:t>
            </a:r>
            <a:endParaRPr b="1" i="0" sz="1100" u="none" cap="none" strike="noStrike">
              <a:solidFill>
                <a:schemeClr val="dk1"/>
              </a:solidFill>
              <a:latin typeface="Calibri"/>
              <a:ea typeface="Calibri"/>
              <a:cs typeface="Calibri"/>
              <a:sym typeface="Calibri"/>
            </a:endParaRPr>
          </a:p>
        </p:txBody>
      </p:sp>
      <p:sp>
        <p:nvSpPr>
          <p:cNvPr id="258" name="Google Shape;258;h11f538478445b104_2_18"/>
          <p:cNvSpPr/>
          <p:nvPr/>
        </p:nvSpPr>
        <p:spPr>
          <a:xfrm>
            <a:off x="1133856"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11f538478445b104_2_18"/>
          <p:cNvSpPr/>
          <p:nvPr/>
        </p:nvSpPr>
        <p:spPr>
          <a:xfrm>
            <a:off x="1353312"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1   </a:t>
            </a: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260" name="Google Shape;260;h11f538478445b104_2_18"/>
          <p:cNvSpPr/>
          <p:nvPr/>
        </p:nvSpPr>
        <p:spPr>
          <a:xfrm>
            <a:off x="1353312"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The work stopped asking more of you.</a:t>
            </a:r>
            <a:endParaRPr b="1" i="0" sz="1100" u="none" cap="none" strike="noStrike">
              <a:solidFill>
                <a:schemeClr val="dk1"/>
              </a:solidFill>
              <a:latin typeface="Calibri"/>
              <a:ea typeface="Calibri"/>
              <a:cs typeface="Calibri"/>
              <a:sym typeface="Calibri"/>
            </a:endParaRPr>
          </a:p>
        </p:txBody>
      </p:sp>
      <p:sp>
        <p:nvSpPr>
          <p:cNvPr id="261" name="Google Shape;261;h11f538478445b104_2_18"/>
          <p:cNvSpPr/>
          <p:nvPr/>
        </p:nvSpPr>
        <p:spPr>
          <a:xfrm>
            <a:off x="4855464"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h11f538478445b104_2_18"/>
          <p:cNvSpPr/>
          <p:nvPr/>
        </p:nvSpPr>
        <p:spPr>
          <a:xfrm>
            <a:off x="5074920"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3   </a:t>
            </a: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263" name="Google Shape;263;h11f538478445b104_2_18"/>
          <p:cNvSpPr/>
          <p:nvPr/>
        </p:nvSpPr>
        <p:spPr>
          <a:xfrm>
            <a:off x="5074920"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Options on paper, not enough depth beneath.</a:t>
            </a:r>
            <a:endParaRPr b="1" i="0" sz="1100" u="none" cap="none" strike="noStrike">
              <a:solidFill>
                <a:schemeClr val="dk1"/>
              </a:solidFill>
              <a:latin typeface="Calibri"/>
              <a:ea typeface="Calibri"/>
              <a:cs typeface="Calibri"/>
              <a:sym typeface="Calibri"/>
            </a:endParaRPr>
          </a:p>
        </p:txBody>
      </p:sp>
      <p:sp>
        <p:nvSpPr>
          <p:cNvPr id="264" name="Google Shape;264;h11f538478445b104_2_18"/>
          <p:cNvSpPr/>
          <p:nvPr/>
        </p:nvSpPr>
        <p:spPr>
          <a:xfrm rot="-5400000">
            <a:off x="182970" y="2249394"/>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265" name="Google Shape;265;h11f538478445b104_2_18"/>
          <p:cNvSpPr/>
          <p:nvPr/>
        </p:nvSpPr>
        <p:spPr>
          <a:xfrm rot="-5400000">
            <a:off x="182970" y="3456402"/>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266" name="Google Shape;266;h11f538478445b104_2_18"/>
          <p:cNvSpPr/>
          <p:nvPr/>
        </p:nvSpPr>
        <p:spPr>
          <a:xfrm>
            <a:off x="1133856" y="4315968"/>
            <a:ext cx="74433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267" name="Google Shape;267;h11f538478445b104_2_1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68" name="Google Shape;268;h11f538478445b104_2_18"/>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13</a:t>
            </a:r>
            <a:endParaRPr b="0" i="0" sz="700" u="none" cap="none" strike="noStrike">
              <a:solidFill>
                <a:schemeClr val="dk1"/>
              </a:solidFill>
              <a:latin typeface="Calibri"/>
              <a:ea typeface="Calibri"/>
              <a:cs typeface="Calibri"/>
              <a:sym typeface="Calibri"/>
            </a:endParaRPr>
          </a:p>
        </p:txBody>
      </p:sp>
      <p:sp>
        <p:nvSpPr>
          <p:cNvPr id="269" name="Google Shape;269;h11f538478445b104_2_18"/>
          <p:cNvSpPr/>
          <p:nvPr/>
        </p:nvSpPr>
        <p:spPr>
          <a:xfrm>
            <a:off x="1353312"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Neither axis is moving.</a:t>
            </a:r>
            <a:endParaRPr b="1" i="0" sz="1100" u="none" cap="none" strike="noStrike">
              <a:solidFill>
                <a:schemeClr val="dk1"/>
              </a:solidFill>
              <a:latin typeface="Calibri"/>
              <a:ea typeface="Calibri"/>
              <a:cs typeface="Calibri"/>
              <a:sym typeface="Calibri"/>
            </a:endParaRPr>
          </a:p>
        </p:txBody>
      </p:sp>
      <p:sp>
        <p:nvSpPr>
          <p:cNvPr id="270" name="Google Shape;270;h11f538478445b104_2_18"/>
          <p:cNvSpPr/>
          <p:nvPr/>
        </p:nvSpPr>
        <p:spPr>
          <a:xfrm>
            <a:off x="5074920"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What you built travels. It is just not being added to.</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5" name="Shape 275"/>
        <p:cNvGrpSpPr/>
        <p:nvPr/>
      </p:nvGrpSpPr>
      <p:grpSpPr>
        <a:xfrm>
          <a:off x="0" y="0"/>
          <a:ext cx="0" cy="0"/>
          <a:chOff x="0" y="0"/>
          <a:chExt cx="0" cy="0"/>
        </a:xfrm>
      </p:grpSpPr>
      <p:sp>
        <p:nvSpPr>
          <p:cNvPr id="276" name="Google Shape;276;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FIRST PLACEMENT</a:t>
            </a:r>
            <a:endParaRPr b="0" i="0" sz="950" u="none" cap="none" strike="noStrike">
              <a:solidFill>
                <a:schemeClr val="dk1"/>
              </a:solidFill>
              <a:latin typeface="Calibri"/>
              <a:ea typeface="Calibri"/>
              <a:cs typeface="Calibri"/>
              <a:sym typeface="Calibri"/>
            </a:endParaRPr>
          </a:p>
        </p:txBody>
      </p:sp>
      <p:sp>
        <p:nvSpPr>
          <p:cNvPr id="277" name="Google Shape;277;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Place yourself. Privately, and provisionally.</a:t>
            </a:r>
            <a:endParaRPr b="0" i="0" sz="2600" u="none" cap="none" strike="noStrike">
              <a:solidFill>
                <a:schemeClr val="dk1"/>
              </a:solidFill>
              <a:latin typeface="Calibri"/>
              <a:ea typeface="Calibri"/>
              <a:cs typeface="Calibri"/>
              <a:sym typeface="Calibri"/>
            </a:endParaRPr>
          </a:p>
        </p:txBody>
      </p:sp>
      <p:sp>
        <p:nvSpPr>
          <p:cNvPr id="278" name="Google Shape;278;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Cross your two numbers, then rate your confidence in the placement from 1 to 5.</a:t>
            </a:r>
            <a:endParaRPr b="0" i="0" sz="1150" u="none" cap="none" strike="noStrike">
              <a:solidFill>
                <a:schemeClr val="dk1"/>
              </a:solidFill>
              <a:latin typeface="Calibri"/>
              <a:ea typeface="Calibri"/>
              <a:cs typeface="Calibri"/>
              <a:sym typeface="Calibri"/>
            </a:endParaRPr>
          </a:p>
        </p:txBody>
      </p:sp>
      <p:sp>
        <p:nvSpPr>
          <p:cNvPr id="279" name="Google Shape;279;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281" name="Google Shape;281;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Cross Density and Optionality</a:t>
            </a:r>
            <a:endParaRPr b="0" i="0" sz="1300" u="none" cap="none" strike="noStrike">
              <a:solidFill>
                <a:schemeClr val="dk1"/>
              </a:solidFill>
              <a:latin typeface="Calibri"/>
              <a:ea typeface="Calibri"/>
              <a:cs typeface="Calibri"/>
              <a:sym typeface="Calibri"/>
            </a:endParaRPr>
          </a:p>
        </p:txBody>
      </p:sp>
      <p:sp>
        <p:nvSpPr>
          <p:cNvPr id="282" name="Google Shape;282;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Two totals, one square. If either total sits inside 17 to 21, mark it boundary instead of picking a square.</a:t>
            </a:r>
            <a:endParaRPr b="0" i="0" sz="1100" u="none" cap="none" strike="noStrike">
              <a:solidFill>
                <a:schemeClr val="dk1"/>
              </a:solidFill>
              <a:latin typeface="Calibri"/>
              <a:ea typeface="Calibri"/>
              <a:cs typeface="Calibri"/>
              <a:sym typeface="Calibri"/>
            </a:endParaRPr>
          </a:p>
        </p:txBody>
      </p:sp>
      <p:sp>
        <p:nvSpPr>
          <p:cNvPr id="283" name="Google Shape;283;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285" name="Google Shape;285;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286" name="Google Shape;286;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Write the number privately. You will compare it against your confidence after the evidence pass.</a:t>
            </a:r>
            <a:endParaRPr b="0" i="0" sz="1100" u="none" cap="none" strike="noStrike">
              <a:solidFill>
                <a:schemeClr val="dk1"/>
              </a:solidFill>
              <a:latin typeface="Calibri"/>
              <a:ea typeface="Calibri"/>
              <a:cs typeface="Calibri"/>
              <a:sym typeface="Calibri"/>
            </a:endParaRPr>
          </a:p>
        </p:txBody>
      </p:sp>
      <p:sp>
        <p:nvSpPr>
          <p:cNvPr id="287" name="Google Shape;287;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89" name="Google Shape;289;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Hold it lightly</a:t>
            </a:r>
            <a:endParaRPr b="0" i="0" sz="1300" u="none" cap="none" strike="noStrike">
              <a:solidFill>
                <a:schemeClr val="dk1"/>
              </a:solidFill>
              <a:latin typeface="Calibri"/>
              <a:ea typeface="Calibri"/>
              <a:cs typeface="Calibri"/>
              <a:sym typeface="Calibri"/>
            </a:endParaRPr>
          </a:p>
        </p:txBody>
      </p:sp>
      <p:sp>
        <p:nvSpPr>
          <p:cNvPr id="290" name="Google Shape;290;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This is a first read, not a finding. State is not identity</a:t>
            </a:r>
            <a:r>
              <a:rPr lang="en-US" sz="1100">
                <a:solidFill>
                  <a:srgbClr val="5A6B84"/>
                </a:solidFill>
                <a:latin typeface="DM Sans"/>
                <a:ea typeface="DM Sans"/>
                <a:cs typeface="DM Sans"/>
                <a:sym typeface="DM Sans"/>
              </a:rPr>
              <a:t>; </a:t>
            </a:r>
            <a:r>
              <a:rPr b="0" i="0" lang="en-US" sz="1100" u="none" cap="none" strike="noStrike">
                <a:solidFill>
                  <a:srgbClr val="5A6B84"/>
                </a:solidFill>
                <a:latin typeface="DM Sans"/>
                <a:ea typeface="DM Sans"/>
                <a:cs typeface="DM Sans"/>
                <a:sym typeface="DM Sans"/>
              </a:rPr>
              <a:t>it reads conditions in a ninety-day window, and it moves.</a:t>
            </a:r>
            <a:endParaRPr b="0" i="0" sz="1100" u="none" cap="none" strike="noStrike">
              <a:solidFill>
                <a:schemeClr val="dk1"/>
              </a:solidFill>
              <a:latin typeface="Calibri"/>
              <a:ea typeface="Calibri"/>
              <a:cs typeface="Calibri"/>
              <a:sym typeface="Calibri"/>
            </a:endParaRPr>
          </a:p>
        </p:txBody>
      </p:sp>
      <p:sp>
        <p:nvSpPr>
          <p:cNvPr id="291" name="Google Shape;291;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92" name="Google Shape;292;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7" name="Shape 297"/>
        <p:cNvGrpSpPr/>
        <p:nvPr/>
      </p:nvGrpSpPr>
      <p:grpSpPr>
        <a:xfrm>
          <a:off x="0" y="0"/>
          <a:ext cx="0" cy="0"/>
          <a:chOff x="0" y="0"/>
          <a:chExt cx="0" cy="0"/>
        </a:xfrm>
      </p:grpSpPr>
      <p:sp>
        <p:nvSpPr>
          <p:cNvPr id="298" name="Google Shape;298;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STANDARD</a:t>
            </a:r>
            <a:endParaRPr b="0" i="0" sz="950" u="none" cap="none" strike="noStrike">
              <a:solidFill>
                <a:schemeClr val="dk1"/>
              </a:solidFill>
              <a:latin typeface="Calibri"/>
              <a:ea typeface="Calibri"/>
              <a:cs typeface="Calibri"/>
              <a:sym typeface="Calibri"/>
            </a:endParaRPr>
          </a:p>
        </p:txBody>
      </p:sp>
      <p:sp>
        <p:nvSpPr>
          <p:cNvPr id="299" name="Google Shape;299;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evidence protocol</a:t>
            </a:r>
            <a:endParaRPr b="0" i="0" sz="3000" u="none" cap="none" strike="noStrike">
              <a:solidFill>
                <a:schemeClr val="dk1"/>
              </a:solidFill>
              <a:latin typeface="Calibri"/>
              <a:ea typeface="Calibri"/>
              <a:cs typeface="Calibri"/>
              <a:sym typeface="Calibri"/>
            </a:endParaRPr>
          </a:p>
        </p:txBody>
      </p:sp>
      <p:sp>
        <p:nvSpPr>
          <p:cNvPr id="300" name="Google Shape;300;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is what your second reading has to survive.</a:t>
            </a:r>
            <a:endParaRPr b="0" i="0" sz="1150" u="none" cap="none" strike="noStrike">
              <a:solidFill>
                <a:schemeClr val="dk1"/>
              </a:solidFill>
              <a:latin typeface="Calibri"/>
              <a:ea typeface="Calibri"/>
              <a:cs typeface="Calibri"/>
              <a:sym typeface="Calibri"/>
            </a:endParaRPr>
          </a:p>
        </p:txBody>
      </p:sp>
      <p:sp>
        <p:nvSpPr>
          <p:cNvPr id="301" name="Google Shape;301;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b="0" i="0" sz="1600" u="none" cap="none" strike="noStrike">
              <a:solidFill>
                <a:schemeClr val="dk1"/>
              </a:solidFill>
              <a:latin typeface="Calibri"/>
              <a:ea typeface="Calibri"/>
              <a:cs typeface="Calibri"/>
              <a:sym typeface="Calibri"/>
            </a:endParaRPr>
          </a:p>
        </p:txBody>
      </p:sp>
      <p:sp>
        <p:nvSpPr>
          <p:cNvPr id="303" name="Google Shape;303;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4 OR 5</a:t>
            </a:r>
            <a:endParaRPr b="0" i="0" sz="900" u="none" cap="none" strike="noStrike">
              <a:solidFill>
                <a:schemeClr val="dk1"/>
              </a:solidFill>
              <a:latin typeface="Calibri"/>
              <a:ea typeface="Calibri"/>
              <a:cs typeface="Calibri"/>
              <a:sym typeface="Calibri"/>
            </a:endParaRPr>
          </a:p>
        </p:txBody>
      </p:sp>
      <p:sp>
        <p:nvSpPr>
          <p:cNvPr id="305" name="Google Shape;305;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At least one clear positive instance from within the window.</a:t>
            </a:r>
            <a:endParaRPr b="0" i="0" sz="1100" u="none" cap="none" strike="noStrike">
              <a:solidFill>
                <a:schemeClr val="dk1"/>
              </a:solidFill>
              <a:latin typeface="Calibri"/>
              <a:ea typeface="Calibri"/>
              <a:cs typeface="Calibri"/>
              <a:sym typeface="Calibri"/>
            </a:endParaRPr>
          </a:p>
        </p:txBody>
      </p:sp>
      <p:sp>
        <p:nvSpPr>
          <p:cNvPr id="306" name="Google Shape;306;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3</a:t>
            </a:r>
            <a:endParaRPr b="0" i="0" sz="900" u="none" cap="none" strike="noStrike">
              <a:solidFill>
                <a:schemeClr val="dk1"/>
              </a:solidFill>
              <a:latin typeface="Calibri"/>
              <a:ea typeface="Calibri"/>
              <a:cs typeface="Calibri"/>
              <a:sym typeface="Calibri"/>
            </a:endParaRPr>
          </a:p>
        </p:txBody>
      </p:sp>
      <p:sp>
        <p:nvSpPr>
          <p:cNvPr id="308" name="Google Shape;308;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The mixed or inconsistent pattern. A 3 is a reading, not an absence of one.</a:t>
            </a:r>
            <a:endParaRPr b="0" i="0" sz="1100" u="none" cap="none" strike="noStrike">
              <a:solidFill>
                <a:schemeClr val="dk1"/>
              </a:solidFill>
              <a:latin typeface="Calibri"/>
              <a:ea typeface="Calibri"/>
              <a:cs typeface="Calibri"/>
              <a:sym typeface="Calibri"/>
            </a:endParaRPr>
          </a:p>
        </p:txBody>
      </p:sp>
      <p:sp>
        <p:nvSpPr>
          <p:cNvPr id="309" name="Google Shape;309;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1 OR 2</a:t>
            </a:r>
            <a:endParaRPr b="0" i="0" sz="900" u="none" cap="none" strike="noStrike">
              <a:solidFill>
                <a:schemeClr val="dk1"/>
              </a:solidFill>
              <a:latin typeface="Calibri"/>
              <a:ea typeface="Calibri"/>
              <a:cs typeface="Calibri"/>
              <a:sym typeface="Calibri"/>
            </a:endParaRPr>
          </a:p>
        </p:txBody>
      </p:sp>
      <p:sp>
        <p:nvSpPr>
          <p:cNvPr id="311" name="Google Shape;311;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What repeatedly happened instead, a counterexample, or no qualifying instance in the window.</a:t>
            </a:r>
            <a:endParaRPr b="0" i="0" sz="1100" u="none" cap="none" strike="noStrike">
              <a:solidFill>
                <a:schemeClr val="dk1"/>
              </a:solidFill>
              <a:latin typeface="Calibri"/>
              <a:ea typeface="Calibri"/>
              <a:cs typeface="Calibri"/>
              <a:sym typeface="Calibri"/>
            </a:endParaRPr>
          </a:p>
        </p:txBody>
      </p:sp>
      <p:sp>
        <p:nvSpPr>
          <p:cNvPr id="312" name="Google Shape;312;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A  ?</a:t>
            </a:r>
            <a:endParaRPr b="0" i="0" sz="900" u="none" cap="none" strike="noStrike">
              <a:solidFill>
                <a:schemeClr val="dk1"/>
              </a:solidFill>
              <a:latin typeface="Calibri"/>
              <a:ea typeface="Calibri"/>
              <a:cs typeface="Calibri"/>
              <a:sym typeface="Calibri"/>
            </a:endParaRPr>
          </a:p>
        </p:txBody>
      </p:sp>
      <p:sp>
        <p:nvSpPr>
          <p:cNvPr id="314" name="Google Shape;314;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Cannot support it either way? Write your most defensible number and add one question mark: 3?, 4?, 2?</a:t>
            </a:r>
            <a:endParaRPr b="0" i="0" sz="1100" u="none" cap="none" strike="noStrike">
              <a:solidFill>
                <a:schemeClr val="dk1"/>
              </a:solidFill>
              <a:latin typeface="Calibri"/>
              <a:ea typeface="Calibri"/>
              <a:cs typeface="Calibri"/>
              <a:sym typeface="Calibri"/>
            </a:endParaRPr>
          </a:p>
        </p:txBody>
      </p:sp>
      <p:sp>
        <p:nvSpPr>
          <p:cNvPr id="315" name="Google Shape;315;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A 3 means mixed. A question mark means unsupported.</a:t>
            </a:r>
            <a:endParaRPr b="0" i="0" sz="1150" u="none" cap="none" strike="noStrike">
              <a:solidFill>
                <a:schemeClr val="dk1"/>
              </a:solidFill>
              <a:latin typeface="Calibri"/>
              <a:ea typeface="Calibri"/>
              <a:cs typeface="Calibri"/>
              <a:sym typeface="Calibri"/>
            </a:endParaRPr>
          </a:p>
        </p:txBody>
      </p:sp>
      <p:sp>
        <p:nvSpPr>
          <p:cNvPr id="316" name="Google Shape;316;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17" name="Google Shape;317;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2" name="Shape 322"/>
        <p:cNvGrpSpPr/>
        <p:nvPr/>
      </p:nvGrpSpPr>
      <p:grpSpPr>
        <a:xfrm>
          <a:off x="0" y="0"/>
          <a:ext cx="0" cy="0"/>
          <a:chOff x="0" y="0"/>
          <a:chExt cx="0" cy="0"/>
        </a:xfrm>
      </p:grpSpPr>
      <p:sp>
        <p:nvSpPr>
          <p:cNvPr id="323" name="Google Shape;323;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CALIBRATION</a:t>
            </a:r>
            <a:endParaRPr b="0" i="0" sz="950" u="none" cap="none" strike="noStrike">
              <a:solidFill>
                <a:schemeClr val="dk1"/>
              </a:solidFill>
              <a:latin typeface="Calibri"/>
              <a:ea typeface="Calibri"/>
              <a:cs typeface="Calibri"/>
              <a:sym typeface="Calibri"/>
            </a:endParaRPr>
          </a:p>
        </p:txBody>
      </p:sp>
      <p:sp>
        <p:nvSpPr>
          <p:cNvPr id="324" name="Google Shape;324;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Three ways a self-score goes wrong</a:t>
            </a:r>
            <a:endParaRPr b="0" i="0" sz="2800" u="none" cap="none" strike="noStrike">
              <a:solidFill>
                <a:schemeClr val="dk1"/>
              </a:solidFill>
              <a:latin typeface="Calibri"/>
              <a:ea typeface="Calibri"/>
              <a:cs typeface="Calibri"/>
              <a:sym typeface="Calibri"/>
            </a:endParaRPr>
          </a:p>
        </p:txBody>
      </p:sp>
      <p:sp>
        <p:nvSpPr>
          <p:cNvPr id="325" name="Google Shape;325;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Run all three against your first numbers before you rescore.</a:t>
            </a:r>
            <a:endParaRPr b="0" i="0" sz="1150" u="none" cap="none" strike="noStrike">
              <a:solidFill>
                <a:schemeClr val="dk1"/>
              </a:solidFill>
              <a:latin typeface="Calibri"/>
              <a:ea typeface="Calibri"/>
              <a:cs typeface="Calibri"/>
              <a:sym typeface="Calibri"/>
            </a:endParaRPr>
          </a:p>
        </p:txBody>
      </p:sp>
      <p:sp>
        <p:nvSpPr>
          <p:cNvPr id="326" name="Google Shape;326;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1.  SCORING THE INTENDED LIFE</a:t>
            </a:r>
            <a:endParaRPr b="0" i="0" sz="860" u="none" cap="none" strike="noStrike">
              <a:solidFill>
                <a:schemeClr val="dk1"/>
              </a:solidFill>
              <a:latin typeface="Calibri"/>
              <a:ea typeface="Calibri"/>
              <a:cs typeface="Calibri"/>
              <a:sym typeface="Calibri"/>
            </a:endParaRPr>
          </a:p>
        </p:txBody>
      </p:sp>
      <p:sp>
        <p:nvSpPr>
          <p:cNvPr id="329" name="Google Shape;329;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“My rotation was approved last month. Statement 1 gets a 4.”</a:t>
            </a:r>
            <a:endParaRPr b="0" i="0" sz="1040" u="none" cap="none" strike="noStrike">
              <a:solidFill>
                <a:schemeClr val="dk1"/>
              </a:solidFill>
              <a:latin typeface="Calibri"/>
              <a:ea typeface="Calibri"/>
              <a:cs typeface="Calibri"/>
              <a:sym typeface="Calibri"/>
            </a:endParaRPr>
          </a:p>
        </p:txBody>
      </p:sp>
      <p:sp>
        <p:nvSpPr>
          <p:cNvPr id="330" name="Google Shape;330;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The window is the last ninety days of work that happened, not work that was approved, promised or planned.</a:t>
            </a:r>
            <a:endParaRPr b="0" i="0" sz="1060" u="none" cap="none" strike="noStrike">
              <a:solidFill>
                <a:schemeClr val="dk1"/>
              </a:solidFill>
              <a:latin typeface="Calibri"/>
              <a:ea typeface="Calibri"/>
              <a:cs typeface="Calibri"/>
              <a:sym typeface="Calibri"/>
            </a:endParaRPr>
          </a:p>
        </p:txBody>
      </p:sp>
      <p:sp>
        <p:nvSpPr>
          <p:cNvPr id="331" name="Google Shape;331;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2.  CONFUSING VALUED WITH FORMED</a:t>
            </a:r>
            <a:endParaRPr b="0" i="0" sz="860" u="none" cap="none" strike="noStrike">
              <a:solidFill>
                <a:schemeClr val="dk1"/>
              </a:solidFill>
              <a:latin typeface="Calibri"/>
              <a:ea typeface="Calibri"/>
              <a:cs typeface="Calibri"/>
              <a:sym typeface="Calibri"/>
            </a:endParaRPr>
          </a:p>
        </p:txBody>
      </p:sp>
      <p:sp>
        <p:nvSpPr>
          <p:cNvPr id="334" name="Google Shape;334;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VPs ask for my read before anything ships. Statement 3 gets a 5.”</a:t>
            </a:r>
            <a:endParaRPr b="0" i="0" sz="1040" u="none" cap="none" strike="noStrike">
              <a:solidFill>
                <a:schemeClr val="dk1"/>
              </a:solidFill>
              <a:latin typeface="Calibri"/>
              <a:ea typeface="Calibri"/>
              <a:cs typeface="Calibri"/>
              <a:sym typeface="Calibri"/>
            </a:endParaRPr>
          </a:p>
        </p:txBody>
      </p:sp>
      <p:sp>
        <p:nvSpPr>
          <p:cNvPr id="335" name="Google Shape;335;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Being relied on is real. It is not the same as being developed.</a:t>
            </a:r>
            <a:endParaRPr b="0" i="0" sz="1060" u="none" cap="none" strike="noStrike">
              <a:solidFill>
                <a:schemeClr val="dk1"/>
              </a:solidFill>
              <a:latin typeface="Calibri"/>
              <a:ea typeface="Calibri"/>
              <a:cs typeface="Calibri"/>
              <a:sym typeface="Calibri"/>
            </a:endParaRPr>
          </a:p>
        </p:txBody>
      </p:sp>
      <p:sp>
        <p:nvSpPr>
          <p:cNvPr id="336" name="Google Shape;336;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3.  READING LOW OPTIONALITY AS A VERDICT</a:t>
            </a:r>
            <a:endParaRPr b="0" i="0" sz="860" u="none" cap="none" strike="noStrike">
              <a:solidFill>
                <a:schemeClr val="dk1"/>
              </a:solidFill>
              <a:latin typeface="Calibri"/>
              <a:ea typeface="Calibri"/>
              <a:cs typeface="Calibri"/>
              <a:sym typeface="Calibri"/>
            </a:endParaRPr>
          </a:p>
        </p:txBody>
      </p:sp>
      <p:sp>
        <p:nvSpPr>
          <p:cNvPr id="339" name="Google Shape;339;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“Statement 10 is a 2 because I am not senior enough.”</a:t>
            </a:r>
            <a:endParaRPr b="0" i="0" sz="1040" u="none" cap="none" strike="noStrike">
              <a:solidFill>
                <a:schemeClr val="dk1"/>
              </a:solidFill>
              <a:latin typeface="Calibri"/>
              <a:ea typeface="Calibri"/>
              <a:cs typeface="Calibri"/>
              <a:sym typeface="Calibri"/>
            </a:endParaRPr>
          </a:p>
        </p:txBody>
      </p:sp>
      <p:sp>
        <p:nvSpPr>
          <p:cNvPr id="340" name="Google Shape;340;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060" u="none" cap="none" strike="noStrike">
              <a:solidFill>
                <a:schemeClr val="dk1"/>
              </a:solidFill>
              <a:latin typeface="Calibri"/>
              <a:ea typeface="Calibri"/>
              <a:cs typeface="Calibri"/>
              <a:sym typeface="Calibri"/>
            </a:endParaRPr>
          </a:p>
        </p:txBody>
      </p:sp>
      <p:sp>
        <p:nvSpPr>
          <p:cNvPr id="341" name="Google Shape;341;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is the set. Run them, then rescore.</a:t>
            </a:r>
            <a:endParaRPr b="0" i="0" sz="1040" u="none" cap="none" strike="noStrike">
              <a:solidFill>
                <a:schemeClr val="dk1"/>
              </a:solidFill>
              <a:latin typeface="Calibri"/>
              <a:ea typeface="Calibri"/>
              <a:cs typeface="Calibri"/>
              <a:sym typeface="Calibri"/>
            </a:endParaRPr>
          </a:p>
        </p:txBody>
      </p:sp>
      <p:sp>
        <p:nvSpPr>
          <p:cNvPr id="342" name="Google Shape;342;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43" name="Google Shape;343;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8" name="Shape 348"/>
        <p:cNvGrpSpPr/>
        <p:nvPr/>
      </p:nvGrpSpPr>
      <p:grpSpPr>
        <a:xfrm>
          <a:off x="0" y="0"/>
          <a:ext cx="0" cy="0"/>
          <a:chOff x="0" y="0"/>
          <a:chExt cx="0" cy="0"/>
        </a:xfrm>
      </p:grpSpPr>
      <p:sp>
        <p:nvSpPr>
          <p:cNvPr id="349" name="Google Shape;349;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EVIDENCE-BACKED READ</a:t>
            </a:r>
            <a:endParaRPr b="0" i="0" sz="950" u="none" cap="none" strike="noStrike">
              <a:solidFill>
                <a:schemeClr val="dk1"/>
              </a:solidFill>
              <a:latin typeface="Calibri"/>
              <a:ea typeface="Calibri"/>
              <a:cs typeface="Calibri"/>
              <a:sym typeface="Calibri"/>
            </a:endParaRPr>
          </a:p>
        </p:txBody>
      </p:sp>
      <p:sp>
        <p:nvSpPr>
          <p:cNvPr id="350" name="Google Shape;350;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Score all twelve again</a:t>
            </a:r>
            <a:endParaRPr b="0" i="0" sz="3000" u="none" cap="none" strike="noStrike">
              <a:solidFill>
                <a:schemeClr val="dk1"/>
              </a:solidFill>
              <a:latin typeface="Calibri"/>
              <a:ea typeface="Calibri"/>
              <a:cs typeface="Calibri"/>
              <a:sym typeface="Calibri"/>
            </a:endParaRPr>
          </a:p>
        </p:txBody>
      </p:sp>
      <p:sp>
        <p:nvSpPr>
          <p:cNvPr id="351" name="Google Shape;351;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Evidence in both directions. Do not change your first number.</a:t>
            </a:r>
            <a:endParaRPr b="0" i="0" sz="1150" u="none" cap="none" strike="noStrike">
              <a:solidFill>
                <a:schemeClr val="dk1"/>
              </a:solidFill>
              <a:latin typeface="Calibri"/>
              <a:ea typeface="Calibri"/>
              <a:cs typeface="Calibri"/>
              <a:sym typeface="Calibri"/>
            </a:endParaRPr>
          </a:p>
        </p:txBody>
      </p:sp>
      <p:sp>
        <p:nvSpPr>
          <p:cNvPr id="352" name="Google Shape;352;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39"/>
              <a:buFont typeface="Montserrat"/>
              <a:buNone/>
            </a:pPr>
            <a:r>
              <a:rPr b="1" i="0" lang="en-US" sz="840" u="none" cap="none" strike="noStrike">
                <a:solidFill>
                  <a:srgbClr val="C9A84C"/>
                </a:solidFill>
                <a:latin typeface="Montserrat"/>
                <a:ea typeface="Montserrat"/>
                <a:cs typeface="Montserrat"/>
                <a:sym typeface="Montserrat"/>
              </a:rPr>
              <a:t>THE PROTOCOL, IN SHORT</a:t>
            </a:r>
            <a:endParaRPr b="0" i="0" sz="840" u="none" cap="none" strike="noStrike">
              <a:solidFill>
                <a:schemeClr val="dk1"/>
              </a:solidFill>
              <a:latin typeface="Calibri"/>
              <a:ea typeface="Calibri"/>
              <a:cs typeface="Calibri"/>
              <a:sym typeface="Calibri"/>
            </a:endParaRPr>
          </a:p>
        </p:txBody>
      </p:sp>
      <p:sp>
        <p:nvSpPr>
          <p:cNvPr id="354" name="Google Shape;354;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4 or 5</a:t>
            </a:r>
            <a:endParaRPr b="0" i="0" sz="950" u="none" cap="none" strike="noStrike">
              <a:solidFill>
                <a:schemeClr val="dk1"/>
              </a:solidFill>
              <a:latin typeface="Calibri"/>
              <a:ea typeface="Calibri"/>
              <a:cs typeface="Calibri"/>
              <a:sym typeface="Calibri"/>
            </a:endParaRPr>
          </a:p>
        </p:txBody>
      </p:sp>
      <p:sp>
        <p:nvSpPr>
          <p:cNvPr id="355" name="Google Shape;355;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one clear positive instance</a:t>
            </a:r>
            <a:endParaRPr b="0" i="0" sz="1000" u="none" cap="none" strike="noStrike">
              <a:solidFill>
                <a:schemeClr val="dk1"/>
              </a:solidFill>
              <a:latin typeface="Calibri"/>
              <a:ea typeface="Calibri"/>
              <a:cs typeface="Calibri"/>
              <a:sym typeface="Calibri"/>
            </a:endParaRPr>
          </a:p>
        </p:txBody>
      </p:sp>
      <p:sp>
        <p:nvSpPr>
          <p:cNvPr id="356" name="Google Shape;356;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357" name="Google Shape;357;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the mixed or inconsistent pattern</a:t>
            </a:r>
            <a:endParaRPr b="0" i="0" sz="1000" u="none" cap="none" strike="noStrike">
              <a:solidFill>
                <a:schemeClr val="dk1"/>
              </a:solidFill>
              <a:latin typeface="Calibri"/>
              <a:ea typeface="Calibri"/>
              <a:cs typeface="Calibri"/>
              <a:sym typeface="Calibri"/>
            </a:endParaRPr>
          </a:p>
        </p:txBody>
      </p:sp>
      <p:sp>
        <p:nvSpPr>
          <p:cNvPr id="358" name="Google Shape;358;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1 or 2</a:t>
            </a:r>
            <a:endParaRPr b="0" i="0" sz="950" u="none" cap="none" strike="noStrike">
              <a:solidFill>
                <a:schemeClr val="dk1"/>
              </a:solidFill>
              <a:latin typeface="Calibri"/>
              <a:ea typeface="Calibri"/>
              <a:cs typeface="Calibri"/>
              <a:sym typeface="Calibri"/>
            </a:endParaRPr>
          </a:p>
        </p:txBody>
      </p:sp>
      <p:sp>
        <p:nvSpPr>
          <p:cNvPr id="359" name="Google Shape;359;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what happened instead, or no qualifying instance</a:t>
            </a:r>
            <a:endParaRPr b="0" i="0" sz="1000" u="none" cap="none" strike="noStrike">
              <a:solidFill>
                <a:schemeClr val="dk1"/>
              </a:solidFill>
              <a:latin typeface="Calibri"/>
              <a:ea typeface="Calibri"/>
              <a:cs typeface="Calibri"/>
              <a:sym typeface="Calibri"/>
            </a:endParaRPr>
          </a:p>
        </p:txBody>
      </p:sp>
      <p:sp>
        <p:nvSpPr>
          <p:cNvPr id="360" name="Google Shape;360;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a:t>
            </a:r>
            <a:endParaRPr b="0" i="0" sz="950" u="none" cap="none" strike="noStrike">
              <a:solidFill>
                <a:schemeClr val="dk1"/>
              </a:solidFill>
              <a:latin typeface="Calibri"/>
              <a:ea typeface="Calibri"/>
              <a:cs typeface="Calibri"/>
              <a:sym typeface="Calibri"/>
            </a:endParaRPr>
          </a:p>
        </p:txBody>
      </p:sp>
      <p:sp>
        <p:nvSpPr>
          <p:cNvPr id="361" name="Google Shape;361;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most defensible number, marked once: 3?, 4?, 2?</a:t>
            </a:r>
            <a:endParaRPr b="0" i="0" sz="1000" u="none" cap="none" strike="noStrike">
              <a:solidFill>
                <a:schemeClr val="dk1"/>
              </a:solidFill>
              <a:latin typeface="Calibri"/>
              <a:ea typeface="Calibri"/>
              <a:cs typeface="Calibri"/>
              <a:sym typeface="Calibri"/>
            </a:endParaRPr>
          </a:p>
        </p:txBody>
      </p:sp>
      <p:sp>
        <p:nvSpPr>
          <p:cNvPr id="362" name="Google Shape;362;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Density   1 · 2 · 3 · 4 · 5 · 6</a:t>
            </a:r>
            <a:endParaRPr b="0" i="0" sz="1100" u="none" cap="none" strike="noStrike">
              <a:solidFill>
                <a:schemeClr val="dk1"/>
              </a:solidFill>
              <a:latin typeface="Calibri"/>
              <a:ea typeface="Calibri"/>
              <a:cs typeface="Calibri"/>
              <a:sym typeface="Calibri"/>
            </a:endParaRPr>
          </a:p>
        </p:txBody>
      </p:sp>
      <p:sp>
        <p:nvSpPr>
          <p:cNvPr id="363" name="Google Shape;363;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Optionality   7 · 8 · 9 · 10 · 11 · 12</a:t>
            </a:r>
            <a:endParaRPr b="0" i="0" sz="1100" u="none" cap="none" strike="noStrike">
              <a:solidFill>
                <a:schemeClr val="dk1"/>
              </a:solidFill>
              <a:latin typeface="Calibri"/>
              <a:ea typeface="Calibri"/>
              <a:cs typeface="Calibri"/>
              <a:sym typeface="Calibri"/>
            </a:endParaRPr>
          </a:p>
        </p:txBody>
      </p:sp>
      <p:sp>
        <p:nvSpPr>
          <p:cNvPr id="364" name="Google Shape;364;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b="0" i="0" lang="en-US" sz="1150" u="none" cap="none" strike="noStrike">
                <a:solidFill>
                  <a:srgbClr val="0F2347"/>
                </a:solidFill>
                <a:latin typeface="DM Sans"/>
                <a:ea typeface="DM Sans"/>
                <a:cs typeface="DM Sans"/>
                <a:sym typeface="DM Sans"/>
              </a:rPr>
              <a:t>Write the corrected number and a short evidence phrase under it. Your first number stays where it is. Phrases, not essays. Twelve minutes for twelve statements.</a:t>
            </a:r>
            <a:endParaRPr b="0" i="0" sz="1150" u="none" cap="none" strike="noStrike">
              <a:solidFill>
                <a:schemeClr val="dk1"/>
              </a:solidFill>
              <a:latin typeface="Calibri"/>
              <a:ea typeface="Calibri"/>
              <a:cs typeface="Calibri"/>
              <a:sym typeface="Calibri"/>
            </a:endParaRPr>
          </a:p>
        </p:txBody>
      </p:sp>
      <p:sp>
        <p:nvSpPr>
          <p:cNvPr id="366" name="Google Shape;366;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040"/>
              <a:buFont typeface="DM Sans"/>
              <a:buNone/>
            </a:pPr>
            <a:r>
              <a:rPr b="1" i="0" lang="en-US" sz="1040" u="none" cap="none" strike="noStrike">
                <a:solidFill>
                  <a:srgbClr val="C1440E"/>
                </a:solidFill>
                <a:latin typeface="DM Sans"/>
                <a:ea typeface="DM Sans"/>
                <a:cs typeface="DM Sans"/>
                <a:sym typeface="DM Sans"/>
              </a:rPr>
              <a:t>Workbook pages 5 and 6.</a:t>
            </a:r>
            <a:endParaRPr b="0" i="0" sz="1040" u="none" cap="none" strike="noStrike">
              <a:solidFill>
                <a:schemeClr val="dk1"/>
              </a:solidFill>
              <a:latin typeface="Calibri"/>
              <a:ea typeface="Calibri"/>
              <a:cs typeface="Calibri"/>
              <a:sym typeface="Calibri"/>
            </a:endParaRPr>
          </a:p>
        </p:txBody>
      </p:sp>
      <p:sp>
        <p:nvSpPr>
          <p:cNvPr id="367" name="Google Shape;367;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68" name="Google Shape;368;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3" name="Shape 373"/>
        <p:cNvGrpSpPr/>
        <p:nvPr/>
      </p:nvGrpSpPr>
      <p:grpSpPr>
        <a:xfrm>
          <a:off x="0" y="0"/>
          <a:ext cx="0" cy="0"/>
          <a:chOff x="0" y="0"/>
          <a:chExt cx="0" cy="0"/>
        </a:xfrm>
      </p:grpSpPr>
      <p:sp>
        <p:nvSpPr>
          <p:cNvPr id="374" name="Google Shape;374;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75" name="Google Shape;375;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Re-total before you place again</a:t>
            </a:r>
            <a:endParaRPr b="0" i="0" sz="2800" u="none" cap="none" strike="noStrike">
              <a:solidFill>
                <a:schemeClr val="dk1"/>
              </a:solidFill>
              <a:latin typeface="Calibri"/>
              <a:ea typeface="Calibri"/>
              <a:cs typeface="Calibri"/>
              <a:sym typeface="Calibri"/>
            </a:endParaRPr>
          </a:p>
        </p:txBody>
      </p:sp>
      <p:sp>
        <p:nvSpPr>
          <p:cNvPr id="376" name="Google Shape;376;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New numbers. A fresh placement, not a review of the first one.</a:t>
            </a:r>
            <a:endParaRPr b="0" i="0" sz="1150" u="none" cap="none" strike="noStrike">
              <a:solidFill>
                <a:schemeClr val="dk1"/>
              </a:solidFill>
              <a:latin typeface="Calibri"/>
              <a:ea typeface="Calibri"/>
              <a:cs typeface="Calibri"/>
              <a:sym typeface="Calibri"/>
            </a:endParaRPr>
          </a:p>
        </p:txBody>
      </p:sp>
      <p:sp>
        <p:nvSpPr>
          <p:cNvPr id="377" name="Google Shape;377;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DENSITY, CORRECTED</a:t>
            </a:r>
            <a:endParaRPr b="0" i="0" sz="900" u="none" cap="none" strike="noStrike">
              <a:solidFill>
                <a:schemeClr val="dk1"/>
              </a:solidFill>
              <a:latin typeface="Calibri"/>
              <a:ea typeface="Calibri"/>
              <a:cs typeface="Calibri"/>
              <a:sym typeface="Calibri"/>
            </a:endParaRPr>
          </a:p>
        </p:txBody>
      </p:sp>
      <p:sp>
        <p:nvSpPr>
          <p:cNvPr id="379" name="Google Shape;379;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0" name="Google Shape;380;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OPTIONALITY, CORRECTED</a:t>
            </a:r>
            <a:endParaRPr b="0" i="0" sz="900" u="none" cap="none" strike="noStrike">
              <a:solidFill>
                <a:schemeClr val="dk1"/>
              </a:solidFill>
              <a:latin typeface="Calibri"/>
              <a:ea typeface="Calibri"/>
              <a:cs typeface="Calibri"/>
              <a:sym typeface="Calibri"/>
            </a:endParaRPr>
          </a:p>
        </p:txBody>
      </p:sp>
      <p:sp>
        <p:nvSpPr>
          <p:cNvPr id="382" name="Google Shape;382;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3" name="Google Shape;383;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1440E"/>
              </a:buClr>
              <a:buSzPts val="1200"/>
              <a:buFont typeface="DM Sans"/>
              <a:buNone/>
            </a:pPr>
            <a:r>
              <a:rPr b="1" i="0" lang="en-US" sz="1200" u="none" cap="none" strike="noStrike">
                <a:solidFill>
                  <a:srgbClr val="C1440E"/>
                </a:solidFill>
                <a:latin typeface="DM Sans"/>
                <a:ea typeface="DM Sans"/>
                <a:cs typeface="DM Sans"/>
                <a:sym typeface="DM Sans"/>
              </a:rPr>
              <a:t>19 to 30 high  ·  6 to 18 low  ·  17 to 21 is the boundary band, and it overrides both</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b="0" i="0" lang="en-US" sz="1150" u="none" cap="none" strike="noStrike">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b="0" i="0" sz="1150" u="none" cap="none" strike="noStrike">
              <a:solidFill>
                <a:schemeClr val="dk1"/>
              </a:solidFill>
              <a:latin typeface="Calibri"/>
              <a:ea typeface="Calibri"/>
              <a:cs typeface="Calibri"/>
              <a:sym typeface="Calibri"/>
            </a:endParaRPr>
          </a:p>
        </p:txBody>
      </p:sp>
      <p:sp>
        <p:nvSpPr>
          <p:cNvPr id="385" name="Google Shape;385;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86" name="Google Shape;386;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1" name="Shape 391"/>
        <p:cNvGrpSpPr/>
        <p:nvPr/>
      </p:nvGrpSpPr>
      <p:grpSpPr>
        <a:xfrm>
          <a:off x="0" y="0"/>
          <a:ext cx="0" cy="0"/>
          <a:chOff x="0" y="0"/>
          <a:chExt cx="0" cy="0"/>
        </a:xfrm>
      </p:grpSpPr>
      <p:sp>
        <p:nvSpPr>
          <p:cNvPr id="392" name="Google Shape;392;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93" name="Google Shape;393;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When the evidence remains uncertain</a:t>
            </a:r>
            <a:endParaRPr b="0" i="0" sz="2600" u="none" cap="none" strike="noStrike">
              <a:solidFill>
                <a:schemeClr val="dk1"/>
              </a:solidFill>
              <a:latin typeface="Calibri"/>
              <a:ea typeface="Calibri"/>
              <a:cs typeface="Calibri"/>
              <a:sym typeface="Calibri"/>
            </a:endParaRPr>
          </a:p>
        </p:txBody>
      </p:sp>
      <p:sp>
        <p:nvSpPr>
          <p:cNvPr id="394" name="Google Shape;394;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sensitivity check. An operational convention, not a statistical confidence interval.</a:t>
            </a:r>
            <a:endParaRPr b="0" i="0" sz="1150" u="none" cap="none" strike="noStrike">
              <a:solidFill>
                <a:schemeClr val="dk1"/>
              </a:solidFill>
              <a:latin typeface="Calibri"/>
              <a:ea typeface="Calibri"/>
              <a:cs typeface="Calibri"/>
              <a:sym typeface="Calibri"/>
            </a:endParaRPr>
          </a:p>
        </p:txBody>
      </p:sp>
      <p:sp>
        <p:nvSpPr>
          <p:cNvPr id="395" name="Google Shape;395;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NONE</a:t>
            </a:r>
            <a:endParaRPr b="0" i="0" sz="900" u="none" cap="none" strike="noStrike">
              <a:solidFill>
                <a:schemeClr val="dk1"/>
              </a:solidFill>
              <a:latin typeface="Calibri"/>
              <a:ea typeface="Calibri"/>
              <a:cs typeface="Calibri"/>
              <a:sym typeface="Calibri"/>
            </a:endParaRPr>
          </a:p>
        </p:txBody>
      </p:sp>
      <p:sp>
        <p:nvSpPr>
          <p:cNvPr id="397" name="Google Shape;397;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Use the corrected total normally.</a:t>
            </a:r>
            <a:endParaRPr b="0" i="0" sz="1150" u="none" cap="none" strike="noStrike">
              <a:solidFill>
                <a:schemeClr val="dk1"/>
              </a:solidFill>
              <a:latin typeface="Calibri"/>
              <a:ea typeface="Calibri"/>
              <a:cs typeface="Calibri"/>
              <a:sym typeface="Calibri"/>
            </a:endParaRPr>
          </a:p>
        </p:txBody>
      </p:sp>
      <p:sp>
        <p:nvSpPr>
          <p:cNvPr id="398" name="Google Shape;398;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20"/>
              <a:buFont typeface="DM Sans"/>
              <a:buNone/>
            </a:pPr>
            <a:r>
              <a:rPr b="0" i="0" lang="en-US" sz="1020" u="none" cap="none" strike="noStrike">
                <a:solidFill>
                  <a:srgbClr val="5A6B84"/>
                </a:solidFill>
                <a:latin typeface="DM Sans"/>
                <a:ea typeface="DM Sans"/>
                <a:cs typeface="DM Sans"/>
                <a:sym typeface="DM Sans"/>
              </a:rPr>
              <a:t>No sensitivity range is required.</a:t>
            </a:r>
            <a:endParaRPr b="0" i="0" sz="1020" u="none" cap="none" strike="noStrike">
              <a:solidFill>
                <a:schemeClr val="dk1"/>
              </a:solidFill>
              <a:latin typeface="Calibri"/>
              <a:ea typeface="Calibri"/>
              <a:cs typeface="Calibri"/>
              <a:sym typeface="Calibri"/>
            </a:endParaRPr>
          </a:p>
        </p:txBody>
      </p:sp>
      <p:sp>
        <p:nvSpPr>
          <p:cNvPr id="399" name="Google Shape;399;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1 OR 2</a:t>
            </a:r>
            <a:endParaRPr b="0" i="0" sz="900" u="none" cap="none" strike="noStrike">
              <a:solidFill>
                <a:schemeClr val="dk1"/>
              </a:solidFill>
              <a:latin typeface="Calibri"/>
              <a:ea typeface="Calibri"/>
              <a:cs typeface="Calibri"/>
              <a:sym typeface="Calibri"/>
            </a:endParaRPr>
          </a:p>
        </p:txBody>
      </p:sp>
      <p:sp>
        <p:nvSpPr>
          <p:cNvPr id="401" name="Google Shape;401;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PROVISIONAL.  RUN THE NEIGHBORING-SCORE SENSITIVITY CHECK.</a:t>
            </a:r>
            <a:endParaRPr b="0" i="0" sz="840" u="none" cap="none" strike="noStrike">
              <a:solidFill>
                <a:schemeClr val="dk1"/>
              </a:solidFill>
              <a:latin typeface="Calibri"/>
              <a:ea typeface="Calibri"/>
              <a:cs typeface="Calibri"/>
              <a:sym typeface="Calibri"/>
            </a:endParaRPr>
          </a:p>
        </p:txBody>
      </p:sp>
      <p:sp>
        <p:nvSpPr>
          <p:cNvPr id="403" name="Google Shape;403;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0" i="0" lang="en-US" sz="1050" u="none" cap="none" strike="noStrike">
                <a:solidFill>
                  <a:srgbClr val="0F2347"/>
                </a:solidFill>
                <a:latin typeface="DM Sans"/>
                <a:ea typeface="DM Sans"/>
                <a:cs typeface="DM Sans"/>
                <a:sym typeface="DM Sans"/>
              </a:rPr>
              <a:t>If the range touches 17 to 21, hold the axis as boundary.</a:t>
            </a:r>
            <a:endParaRPr b="0" i="0" sz="1050" u="none" cap="none" strike="noStrike">
              <a:solidFill>
                <a:schemeClr val="dk1"/>
              </a:solidFill>
              <a:latin typeface="Calibri"/>
              <a:ea typeface="Calibri"/>
              <a:cs typeface="Calibri"/>
              <a:sym typeface="Calibri"/>
            </a:endParaRPr>
          </a:p>
        </p:txBody>
      </p:sp>
      <p:sp>
        <p:nvSpPr>
          <p:cNvPr id="405" name="Google Shape;405;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1" i="0" lang="en-US" sz="1050" u="none" cap="none" strike="noStrike">
                <a:solidFill>
                  <a:srgbClr val="0F2347"/>
                </a:solidFill>
                <a:latin typeface="DM Sans"/>
                <a:ea typeface="DM Sans"/>
                <a:cs typeface="DM Sans"/>
                <a:sym typeface="DM Sans"/>
              </a:rPr>
              <a:t>17 TO 21 IS THE BOUNDARY BAND. A boundary reading overrides the normal high and low split.</a:t>
            </a:r>
            <a:endParaRPr b="0" i="0" sz="1050" u="none" cap="none" strike="noStrike">
              <a:solidFill>
                <a:schemeClr val="dk1"/>
              </a:solidFill>
              <a:latin typeface="Calibri"/>
              <a:ea typeface="Calibri"/>
              <a:cs typeface="Calibri"/>
              <a:sym typeface="Calibri"/>
            </a:endParaRPr>
          </a:p>
        </p:txBody>
      </p:sp>
      <p:sp>
        <p:nvSpPr>
          <p:cNvPr id="406" name="Google Shape;406;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3+</a:t>
            </a:r>
            <a:endParaRPr b="0" i="0" sz="900" u="none" cap="none" strike="noStrike">
              <a:solidFill>
                <a:schemeClr val="dk1"/>
              </a:solidFill>
              <a:latin typeface="Calibri"/>
              <a:ea typeface="Calibri"/>
              <a:cs typeface="Calibri"/>
              <a:sym typeface="Calibri"/>
            </a:endParaRPr>
          </a:p>
        </p:txBody>
      </p:sp>
      <p:sp>
        <p:nvSpPr>
          <p:cNvPr id="408" name="Google Shape;408;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INCOMPLETE. Do not place on that axis today. Incomplete is a legitimate reading, not a failure.</a:t>
            </a:r>
            <a:endParaRPr b="0" i="0" sz="1100" u="none" cap="none" strike="noStrike">
              <a:solidFill>
                <a:schemeClr val="dk1"/>
              </a:solidFill>
              <a:latin typeface="Calibri"/>
              <a:ea typeface="Calibri"/>
              <a:cs typeface="Calibri"/>
              <a:sym typeface="Calibri"/>
            </a:endParaRPr>
          </a:p>
        </p:txBody>
      </p:sp>
      <p:sp>
        <p:nvSpPr>
          <p:cNvPr id="410" name="Google Shape;410;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ONE axis in the band: read the two adjacent states the other axis selects.</a:t>
            </a:r>
            <a:endParaRPr b="0" i="0" sz="960" u="none" cap="none" strike="noStrike">
              <a:solidFill>
                <a:schemeClr val="dk1"/>
              </a:solidFill>
              <a:latin typeface="Calibri"/>
              <a:ea typeface="Calibri"/>
              <a:cs typeface="Calibri"/>
              <a:sym typeface="Calibri"/>
            </a:endParaRPr>
          </a:p>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BOTH axes in the band: record Boundary and assign no single state.</a:t>
            </a:r>
            <a:endParaRPr b="0" i="0" sz="960" u="none" cap="none" strike="noStrike">
              <a:solidFill>
                <a:schemeClr val="dk1"/>
              </a:solidFill>
              <a:latin typeface="Calibri"/>
              <a:ea typeface="Calibri"/>
              <a:cs typeface="Calibri"/>
              <a:sym typeface="Calibri"/>
            </a:endParaRPr>
          </a:p>
        </p:txBody>
      </p:sp>
      <p:sp>
        <p:nvSpPr>
          <p:cNvPr id="411" name="Google Shape;411;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12" name="Google Shape;412;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7" name="Shape 417"/>
        <p:cNvGrpSpPr/>
        <p:nvPr/>
      </p:nvGrpSpPr>
      <p:grpSpPr>
        <a:xfrm>
          <a:off x="0" y="0"/>
          <a:ext cx="0" cy="0"/>
          <a:chOff x="0" y="0"/>
          <a:chExt cx="0" cy="0"/>
        </a:xfrm>
      </p:grpSpPr>
      <p:sp>
        <p:nvSpPr>
          <p:cNvPr id="418" name="Google Shape;418;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419" name="Google Shape;419;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Your corrected position</a:t>
            </a:r>
            <a:endParaRPr b="0" i="0" sz="3000" u="none" cap="none" strike="noStrike">
              <a:solidFill>
                <a:schemeClr val="dk1"/>
              </a:solidFill>
              <a:latin typeface="Calibri"/>
              <a:ea typeface="Calibri"/>
              <a:cs typeface="Calibri"/>
              <a:sym typeface="Calibri"/>
            </a:endParaRPr>
          </a:p>
        </p:txBody>
      </p:sp>
      <p:sp>
        <p:nvSpPr>
          <p:cNvPr id="420" name="Google Shape;420;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22" name="Google Shape;422;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Place your corrected square</a:t>
            </a:r>
            <a:endParaRPr b="0" i="0" sz="1300" u="none" cap="none" strike="noStrike">
              <a:solidFill>
                <a:schemeClr val="dk1"/>
              </a:solidFill>
              <a:latin typeface="Calibri"/>
              <a:ea typeface="Calibri"/>
              <a:cs typeface="Calibri"/>
              <a:sym typeface="Calibri"/>
            </a:endParaRPr>
          </a:p>
        </p:txBody>
      </p:sp>
      <p:sp>
        <p:nvSpPr>
          <p:cNvPr id="423" name="Google Shape;423;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Or mark boundary, or mark the axis incomplete. All three are legitimate readings.</a:t>
            </a:r>
            <a:endParaRPr b="0" i="0" sz="1100" u="none" cap="none" strike="noStrike">
              <a:solidFill>
                <a:schemeClr val="dk1"/>
              </a:solidFill>
              <a:latin typeface="Calibri"/>
              <a:ea typeface="Calibri"/>
              <a:cs typeface="Calibri"/>
              <a:sym typeface="Calibri"/>
            </a:endParaRPr>
          </a:p>
        </p:txBody>
      </p:sp>
      <p:sp>
        <p:nvSpPr>
          <p:cNvPr id="424" name="Google Shape;424;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26" name="Google Shape;426;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427" name="Google Shape;427;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Compare it with the confidence number from your first placement on workbook page 3. The comparison is private.</a:t>
            </a:r>
            <a:endParaRPr b="0" i="0" sz="1100" u="none" cap="none" strike="noStrike">
              <a:solidFill>
                <a:schemeClr val="dk1"/>
              </a:solidFill>
              <a:latin typeface="Calibri"/>
              <a:ea typeface="Calibri"/>
              <a:cs typeface="Calibri"/>
              <a:sym typeface="Calibri"/>
            </a:endParaRPr>
          </a:p>
        </p:txBody>
      </p:sp>
      <p:sp>
        <p:nvSpPr>
          <p:cNvPr id="428" name="Google Shape;428;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30" name="Google Shape;430;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Keep both readings visible</a:t>
            </a:r>
            <a:endParaRPr b="0" i="0" sz="1300" u="none" cap="none" strike="noStrike">
              <a:solidFill>
                <a:schemeClr val="dk1"/>
              </a:solidFill>
              <a:latin typeface="Calibri"/>
              <a:ea typeface="Calibri"/>
              <a:cs typeface="Calibri"/>
              <a:sym typeface="Calibri"/>
            </a:endParaRPr>
          </a:p>
        </p:txBody>
      </p:sp>
      <p:sp>
        <p:nvSpPr>
          <p:cNvPr id="431" name="Google Shape;431;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first number and the corrected number sit side by side. The distance between them is the finding.</a:t>
            </a:r>
            <a:endParaRPr b="0" i="0" sz="1100" u="none" cap="none" strike="noStrike">
              <a:solidFill>
                <a:schemeClr val="dk1"/>
              </a:solidFill>
              <a:latin typeface="Calibri"/>
              <a:ea typeface="Calibri"/>
              <a:cs typeface="Calibri"/>
              <a:sym typeface="Calibri"/>
            </a:endParaRPr>
          </a:p>
        </p:txBody>
      </p:sp>
      <p:sp>
        <p:nvSpPr>
          <p:cNvPr id="432" name="Google Shape;432;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b="0" i="0" sz="1600" u="none" cap="none" strike="noStrike">
              <a:solidFill>
                <a:schemeClr val="dk1"/>
              </a:solidFill>
              <a:latin typeface="Calibri"/>
              <a:ea typeface="Calibri"/>
              <a:cs typeface="Calibri"/>
              <a:sym typeface="Calibri"/>
            </a:endParaRPr>
          </a:p>
        </p:txBody>
      </p:sp>
      <p:sp>
        <p:nvSpPr>
          <p:cNvPr id="434" name="Google Shape;434;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5" name="Google Shape;435;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40" name="Shape 440"/>
        <p:cNvGrpSpPr/>
        <p:nvPr/>
      </p:nvGrpSpPr>
      <p:grpSpPr>
        <a:xfrm>
          <a:off x="0" y="0"/>
          <a:ext cx="0" cy="0"/>
          <a:chOff x="0" y="0"/>
          <a:chExt cx="0" cy="0"/>
        </a:xfrm>
      </p:grpSpPr>
      <p:sp>
        <p:nvSpPr>
          <p:cNvPr id="441" name="Google Shape;441;g3fbec47727c_0_0"/>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442" name="Google Shape;442;g3fbec47727c_0_0"/>
          <p:cNvSpPr/>
          <p:nvPr/>
        </p:nvSpPr>
        <p:spPr>
          <a:xfrm>
            <a:off x="566928" y="1810512"/>
            <a:ext cx="801000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g3fbec47727c_0_0"/>
          <p:cNvSpPr/>
          <p:nvPr/>
        </p:nvSpPr>
        <p:spPr>
          <a:xfrm>
            <a:off x="804672" y="1810512"/>
            <a:ext cx="753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444" name="Google Shape;444;g3fbec47727c_0_0"/>
          <p:cNvSpPr/>
          <p:nvPr/>
        </p:nvSpPr>
        <p:spPr>
          <a:xfrm>
            <a:off x="566928" y="2432304"/>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g3fbec47727c_0_0"/>
          <p:cNvSpPr/>
          <p:nvPr/>
        </p:nvSpPr>
        <p:spPr>
          <a:xfrm>
            <a:off x="877824" y="2377440"/>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446" name="Google Shape;446;g3fbec47727c_0_0"/>
          <p:cNvSpPr/>
          <p:nvPr/>
        </p:nvSpPr>
        <p:spPr>
          <a:xfrm>
            <a:off x="566928" y="2871216"/>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g3fbec47727c_0_0"/>
          <p:cNvSpPr/>
          <p:nvPr/>
        </p:nvSpPr>
        <p:spPr>
          <a:xfrm>
            <a:off x="877824" y="2816352"/>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448" name="Google Shape;448;g3fbec47727c_0_0"/>
          <p:cNvSpPr/>
          <p:nvPr/>
        </p:nvSpPr>
        <p:spPr>
          <a:xfrm>
            <a:off x="566928" y="3310128"/>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g3fbec47727c_0_0"/>
          <p:cNvSpPr/>
          <p:nvPr/>
        </p:nvSpPr>
        <p:spPr>
          <a:xfrm>
            <a:off x="877824" y="3255264"/>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450" name="Google Shape;450;g3fbec47727c_0_0"/>
          <p:cNvSpPr/>
          <p:nvPr/>
        </p:nvSpPr>
        <p:spPr>
          <a:xfrm>
            <a:off x="566928" y="3749040"/>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g3fbec47727c_0_0"/>
          <p:cNvSpPr/>
          <p:nvPr/>
        </p:nvSpPr>
        <p:spPr>
          <a:xfrm>
            <a:off x="877824" y="3694176"/>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452" name="Google Shape;452;g3fbec47727c_0_0"/>
          <p:cNvSpPr/>
          <p:nvPr/>
        </p:nvSpPr>
        <p:spPr>
          <a:xfrm>
            <a:off x="566928" y="4261104"/>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453" name="Google Shape;453;g3fbec47727c_0_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54" name="Google Shape;454;g3fbec47727c_0_0"/>
          <p:cNvSpPr/>
          <p:nvPr/>
        </p:nvSpPr>
        <p:spPr>
          <a:xfrm>
            <a:off x="8363712" y="49118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59" name="Shape 459"/>
        <p:cNvGrpSpPr/>
        <p:nvPr/>
      </p:nvGrpSpPr>
      <p:grpSpPr>
        <a:xfrm>
          <a:off x="0" y="0"/>
          <a:ext cx="0" cy="0"/>
          <a:chOff x="0" y="0"/>
          <a:chExt cx="0" cy="0"/>
        </a:xfrm>
      </p:grpSpPr>
      <p:sp>
        <p:nvSpPr>
          <p:cNvPr id="460" name="Google Shape;460;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STATE COSTS</a:t>
            </a:r>
            <a:endParaRPr b="0" i="0" sz="950" u="none" cap="none" strike="noStrike">
              <a:solidFill>
                <a:schemeClr val="dk1"/>
              </a:solidFill>
              <a:latin typeface="Calibri"/>
              <a:ea typeface="Calibri"/>
              <a:cs typeface="Calibri"/>
              <a:sym typeface="Calibri"/>
            </a:endParaRPr>
          </a:p>
        </p:txBody>
      </p:sp>
      <p:sp>
        <p:nvSpPr>
          <p:cNvPr id="461" name="Google Shape;461;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What each state costs</a:t>
            </a:r>
            <a:endParaRPr b="0" i="0" sz="3000" u="none" cap="none" strike="noStrike">
              <a:solidFill>
                <a:schemeClr val="dk1"/>
              </a:solidFill>
              <a:latin typeface="Calibri"/>
              <a:ea typeface="Calibri"/>
              <a:cs typeface="Calibri"/>
              <a:sym typeface="Calibri"/>
            </a:endParaRPr>
          </a:p>
        </p:txBody>
      </p:sp>
      <p:sp>
        <p:nvSpPr>
          <p:cNvPr id="462" name="Google Shape;462;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Four states. One immediate cost to notice in each.</a:t>
            </a:r>
            <a:endParaRPr b="0" i="0" sz="1150" u="none" cap="none" strike="noStrike">
              <a:solidFill>
                <a:schemeClr val="dk1"/>
              </a:solidFill>
              <a:latin typeface="Calibri"/>
              <a:ea typeface="Calibri"/>
              <a:cs typeface="Calibri"/>
              <a:sym typeface="Calibri"/>
            </a:endParaRPr>
          </a:p>
        </p:txBody>
      </p:sp>
      <p:sp>
        <p:nvSpPr>
          <p:cNvPr id="463" name="Google Shape;463;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465" name="Google Shape;465;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Neither axis is accruing.</a:t>
            </a:r>
            <a:endParaRPr b="0" i="0" sz="1250" u="none" cap="none" strike="noStrike">
              <a:solidFill>
                <a:schemeClr val="dk1"/>
              </a:solidFill>
              <a:latin typeface="Calibri"/>
              <a:ea typeface="Calibri"/>
              <a:cs typeface="Calibri"/>
              <a:sym typeface="Calibri"/>
            </a:endParaRPr>
          </a:p>
        </p:txBody>
      </p:sp>
      <p:sp>
        <p:nvSpPr>
          <p:cNvPr id="466" name="Google Shape;466;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468" name="Google Shape;468;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Value is deep but context-bound.</a:t>
            </a:r>
            <a:endParaRPr b="0" i="0" sz="1250" u="none" cap="none" strike="noStrike">
              <a:solidFill>
                <a:schemeClr val="dk1"/>
              </a:solidFill>
              <a:latin typeface="Calibri"/>
              <a:ea typeface="Calibri"/>
              <a:cs typeface="Calibri"/>
              <a:sym typeface="Calibri"/>
            </a:endParaRPr>
          </a:p>
        </p:txBody>
      </p:sp>
      <p:sp>
        <p:nvSpPr>
          <p:cNvPr id="469" name="Google Shape;469;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471" name="Google Shape;471;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travels today is no longer being renewed.</a:t>
            </a:r>
            <a:endParaRPr b="0" i="0" sz="1250" u="none" cap="none" strike="noStrike">
              <a:solidFill>
                <a:schemeClr val="dk1"/>
              </a:solidFill>
              <a:latin typeface="Calibri"/>
              <a:ea typeface="Calibri"/>
              <a:cs typeface="Calibri"/>
              <a:sym typeface="Calibri"/>
            </a:endParaRPr>
          </a:p>
        </p:txBody>
      </p:sp>
      <p:sp>
        <p:nvSpPr>
          <p:cNvPr id="472" name="Google Shape;472;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474" name="Google Shape;474;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A strong current position still requires renewal.</a:t>
            </a:r>
            <a:endParaRPr b="0" i="0" sz="1250" u="none" cap="none" strike="noStrike">
              <a:solidFill>
                <a:schemeClr val="dk1"/>
              </a:solidFill>
              <a:latin typeface="Calibri"/>
              <a:ea typeface="Calibri"/>
              <a:cs typeface="Calibri"/>
              <a:sym typeface="Calibri"/>
            </a:endParaRPr>
          </a:p>
        </p:txBody>
      </p:sp>
      <p:sp>
        <p:nvSpPr>
          <p:cNvPr id="475" name="Google Shape;475;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b="0" i="0" sz="1060" u="none" cap="none" strike="noStrike">
              <a:solidFill>
                <a:schemeClr val="dk1"/>
              </a:solidFill>
              <a:latin typeface="Calibri"/>
              <a:ea typeface="Calibri"/>
              <a:cs typeface="Calibri"/>
              <a:sym typeface="Calibri"/>
            </a:endParaRPr>
          </a:p>
        </p:txBody>
      </p:sp>
      <p:sp>
        <p:nvSpPr>
          <p:cNvPr id="476" name="Google Shape;476;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77" name="Google Shape;477;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Worth Watching</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2606040"/>
            <a:ext cx="8010144" cy="84124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2606040"/>
            <a:ext cx="41148" cy="84124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822960" y="2843784"/>
            <a:ext cx="7498079"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0" i="0" lang="en-US" sz="1250" u="none" cap="none" strike="noStrike">
                <a:solidFill>
                  <a:srgbClr val="0F2347"/>
                </a:solidFill>
                <a:latin typeface="DM Sans"/>
                <a:ea typeface="DM Sans"/>
                <a:cs typeface="DM Sans"/>
                <a:sym typeface="DM Sans"/>
              </a:rPr>
              <a:t>Your reading describes the last ninety days. These signals tell you what to watch between now and your next read.</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around your role</a:t>
            </a:r>
            <a:endParaRPr b="0" i="0" sz="3000" u="none" cap="none" strike="noStrike">
              <a:solidFill>
                <a:schemeClr val="dk1"/>
              </a:solidFill>
              <a:latin typeface="Calibri"/>
              <a:ea typeface="Calibri"/>
              <a:cs typeface="Calibri"/>
              <a:sym typeface="Calibri"/>
            </a:endParaRPr>
          </a:p>
        </p:txBody>
      </p:sp>
      <p:sp>
        <p:nvSpPr>
          <p:cNvPr id="13" name="Signals;13"/>
          <p:cNvSpPr/>
          <p:nvPr/>
        </p:nvSpPr>
        <p:spPr>
          <a:xfrm>
            <a:off x="566928" y="164592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64592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62763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mandate is being absorbed, narrowed, duplicated, or redefined again.</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24028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2402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22199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Decisions about your work are being made in rooms you are no longer in.</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346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346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1635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role exists because of one sponsor, and that sponsor's position is changing.</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2900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290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1071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Few people outside your manager would notice if your function disappeared.</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402336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40233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400507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The routine parts of your work are getting easier to automate or reproduce.</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One signal is something to examine. Several together are worth testing a move.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when things feel fine</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Compounding is the state most likely to feel fine. A strong position still needs renewal.</a:t>
            </a:r>
            <a:endParaRPr b="0" i="0" sz="1150" u="none" cap="none" strike="noStrike">
              <a:solidFill>
                <a:schemeClr val="dk1"/>
              </a:solidFill>
              <a:latin typeface="Calibri"/>
              <a:ea typeface="Calibri"/>
              <a:cs typeface="Calibri"/>
              <a:sym typeface="Calibri"/>
            </a:endParaRPr>
          </a:p>
        </p:txBody>
      </p:sp>
      <p:sp>
        <p:nvSpPr>
          <p:cNvPr id="13" name="Signals;13"/>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75564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cannot name what you are learning right now.</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3225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3225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30428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are being praised for the same things as last year.</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5292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last unfamiliar problem was more than 90 days ago.</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198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198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0156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evidence has not been updated in a quarter.</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395020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People outside your organization have not seen your recent work.</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Choose two signals to watch before your rescore date.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MOVE CATEGORIES</a:t>
            </a:r>
            <a:endParaRPr b="0" i="0" sz="950" u="none" cap="none" strike="noStrike">
              <a:solidFill>
                <a:schemeClr val="dk1"/>
              </a:solidFill>
              <a:latin typeface="Calibri"/>
              <a:ea typeface="Calibri"/>
              <a:cs typeface="Calibri"/>
              <a:sym typeface="Calibri"/>
            </a:endParaRPr>
          </a:p>
        </p:txBody>
      </p:sp>
      <p:sp>
        <p:nvSpPr>
          <p:cNvPr id="484" name="Google Shape;484;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Seven categories of move</a:t>
            </a:r>
            <a:endParaRPr b="0" i="0" sz="3000" u="none" cap="none" strike="noStrike">
              <a:solidFill>
                <a:schemeClr val="dk1"/>
              </a:solidFill>
              <a:latin typeface="Calibri"/>
              <a:ea typeface="Calibri"/>
              <a:cs typeface="Calibri"/>
              <a:sym typeface="Calibri"/>
            </a:endParaRPr>
          </a:p>
        </p:txBody>
      </p:sp>
      <p:sp>
        <p:nvSpPr>
          <p:cNvPr id="485" name="Google Shape;485;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Direction, not a plan. Your evidence helps you choose which category to test.</a:t>
            </a:r>
            <a:endParaRPr b="0" i="0" sz="1150" u="none" cap="none" strike="noStrike">
              <a:solidFill>
                <a:schemeClr val="dk1"/>
              </a:solidFill>
              <a:latin typeface="Calibri"/>
              <a:ea typeface="Calibri"/>
              <a:cs typeface="Calibri"/>
              <a:sym typeface="Calibri"/>
            </a:endParaRPr>
          </a:p>
        </p:txBody>
      </p:sp>
      <p:sp>
        <p:nvSpPr>
          <p:cNvPr id="486" name="Google Shape;486;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88" name="Google Shape;488;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Remain and deepen</a:t>
            </a:r>
            <a:endParaRPr b="0" i="0" sz="1160" u="none" cap="none" strike="noStrike">
              <a:solidFill>
                <a:schemeClr val="dk1"/>
              </a:solidFill>
              <a:latin typeface="Calibri"/>
              <a:ea typeface="Calibri"/>
              <a:cs typeface="Calibri"/>
              <a:sym typeface="Calibri"/>
            </a:endParaRPr>
          </a:p>
        </p:txBody>
      </p:sp>
      <p:sp>
        <p:nvSpPr>
          <p:cNvPr id="489" name="Google Shape;489;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formation conditions are real and worth protecting.</a:t>
            </a:r>
            <a:endParaRPr b="0" i="0" sz="1060" u="none" cap="none" strike="noStrike">
              <a:solidFill>
                <a:schemeClr val="dk1"/>
              </a:solidFill>
              <a:latin typeface="Calibri"/>
              <a:ea typeface="Calibri"/>
              <a:cs typeface="Calibri"/>
              <a:sym typeface="Calibri"/>
            </a:endParaRPr>
          </a:p>
        </p:txBody>
      </p:sp>
      <p:sp>
        <p:nvSpPr>
          <p:cNvPr id="490" name="Google Shape;490;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92" name="Google Shape;492;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Translate what is built</a:t>
            </a:r>
            <a:endParaRPr b="0" i="0" sz="1160" u="none" cap="none" strike="noStrike">
              <a:solidFill>
                <a:schemeClr val="dk1"/>
              </a:solidFill>
              <a:latin typeface="Calibri"/>
              <a:ea typeface="Calibri"/>
              <a:cs typeface="Calibri"/>
              <a:sym typeface="Calibri"/>
            </a:endParaRPr>
          </a:p>
        </p:txBody>
      </p:sp>
      <p:sp>
        <p:nvSpPr>
          <p:cNvPr id="493" name="Google Shape;493;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capability exists. The evidence for it is not yet legible outside.</a:t>
            </a:r>
            <a:endParaRPr b="0" i="0" sz="1060" u="none" cap="none" strike="noStrike">
              <a:solidFill>
                <a:schemeClr val="dk1"/>
              </a:solidFill>
              <a:latin typeface="Calibri"/>
              <a:ea typeface="Calibri"/>
              <a:cs typeface="Calibri"/>
              <a:sym typeface="Calibri"/>
            </a:endParaRPr>
          </a:p>
        </p:txBody>
      </p:sp>
      <p:sp>
        <p:nvSpPr>
          <p:cNvPr id="494" name="Google Shape;494;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96" name="Google Shape;496;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Widen exposure</a:t>
            </a:r>
            <a:endParaRPr b="0" i="0" sz="1160" u="none" cap="none" strike="noStrike">
              <a:solidFill>
                <a:schemeClr val="dk1"/>
              </a:solidFill>
              <a:latin typeface="Calibri"/>
              <a:ea typeface="Calibri"/>
              <a:cs typeface="Calibri"/>
              <a:sym typeface="Calibri"/>
            </a:endParaRPr>
          </a:p>
        </p:txBody>
      </p:sp>
      <p:sp>
        <p:nvSpPr>
          <p:cNvPr id="497" name="Google Shape;497;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Reach people who can evaluate or use it. Visibility is not evidence.</a:t>
            </a:r>
            <a:endParaRPr b="0" i="0" sz="1060" u="none" cap="none" strike="noStrike">
              <a:solidFill>
                <a:schemeClr val="dk1"/>
              </a:solidFill>
              <a:latin typeface="Calibri"/>
              <a:ea typeface="Calibri"/>
              <a:cs typeface="Calibri"/>
              <a:sym typeface="Calibri"/>
            </a:endParaRPr>
          </a:p>
        </p:txBody>
      </p:sp>
      <p:sp>
        <p:nvSpPr>
          <p:cNvPr id="498" name="Google Shape;498;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500" name="Google Shape;500;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Test portability</a:t>
            </a:r>
            <a:endParaRPr b="0" i="0" sz="1160" u="none" cap="none" strike="noStrike">
              <a:solidFill>
                <a:schemeClr val="dk1"/>
              </a:solidFill>
              <a:latin typeface="Calibri"/>
              <a:ea typeface="Calibri"/>
              <a:cs typeface="Calibri"/>
              <a:sym typeface="Calibri"/>
            </a:endParaRPr>
          </a:p>
        </p:txBody>
      </p:sp>
      <p:sp>
        <p:nvSpPr>
          <p:cNvPr id="501" name="Google Shape;501;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Find out what travels before you need it to.</a:t>
            </a:r>
            <a:endParaRPr b="0" i="0" sz="1060" u="none" cap="none" strike="noStrike">
              <a:solidFill>
                <a:schemeClr val="dk1"/>
              </a:solidFill>
              <a:latin typeface="Calibri"/>
              <a:ea typeface="Calibri"/>
              <a:cs typeface="Calibri"/>
              <a:sym typeface="Calibri"/>
            </a:endParaRPr>
          </a:p>
        </p:txBody>
      </p:sp>
      <p:sp>
        <p:nvSpPr>
          <p:cNvPr id="502" name="Google Shape;502;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504" name="Google Shape;504;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Repair the conditions</a:t>
            </a:r>
            <a:endParaRPr b="0" i="0" sz="1160" u="none" cap="none" strike="noStrike">
              <a:solidFill>
                <a:schemeClr val="dk1"/>
              </a:solidFill>
              <a:latin typeface="Calibri"/>
              <a:ea typeface="Calibri"/>
              <a:cs typeface="Calibri"/>
              <a:sym typeface="Calibri"/>
            </a:endParaRPr>
          </a:p>
        </p:txBody>
      </p:sp>
      <p:sp>
        <p:nvSpPr>
          <p:cNvPr id="505" name="Google Shape;505;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Test whether changing the work or conditions could repair the problem.</a:t>
            </a:r>
            <a:endParaRPr b="0" i="0" sz="1060" u="none" cap="none" strike="noStrike">
              <a:solidFill>
                <a:schemeClr val="dk1"/>
              </a:solidFill>
              <a:latin typeface="Calibri"/>
              <a:ea typeface="Calibri"/>
              <a:cs typeface="Calibri"/>
              <a:sym typeface="Calibri"/>
            </a:endParaRPr>
          </a:p>
        </p:txBody>
      </p:sp>
      <p:sp>
        <p:nvSpPr>
          <p:cNvPr id="506" name="Google Shape;506;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6</a:t>
            </a:r>
            <a:endParaRPr b="0" i="0" sz="950" u="none" cap="none" strike="noStrike">
              <a:solidFill>
                <a:schemeClr val="dk1"/>
              </a:solidFill>
              <a:latin typeface="Calibri"/>
              <a:ea typeface="Calibri"/>
              <a:cs typeface="Calibri"/>
              <a:sym typeface="Calibri"/>
            </a:endParaRPr>
          </a:p>
        </p:txBody>
      </p:sp>
      <p:sp>
        <p:nvSpPr>
          <p:cNvPr id="508" name="Google Shape;508;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Prepare for exit</a:t>
            </a:r>
            <a:endParaRPr b="0" i="0" sz="1160" u="none" cap="none" strike="noStrike">
              <a:solidFill>
                <a:schemeClr val="dk1"/>
              </a:solidFill>
              <a:latin typeface="Calibri"/>
              <a:ea typeface="Calibri"/>
              <a:cs typeface="Calibri"/>
              <a:sym typeface="Calibri"/>
            </a:endParaRPr>
          </a:p>
        </p:txBody>
      </p:sp>
      <p:sp>
        <p:nvSpPr>
          <p:cNvPr id="509" name="Google Shape;509;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Your evidence gives you reason to prepare in case the conditions do not repair.</a:t>
            </a:r>
            <a:endParaRPr b="0" i="0" sz="1060" u="none" cap="none" strike="noStrike">
              <a:solidFill>
                <a:schemeClr val="dk1"/>
              </a:solidFill>
              <a:latin typeface="Calibri"/>
              <a:ea typeface="Calibri"/>
              <a:cs typeface="Calibri"/>
              <a:sym typeface="Calibri"/>
            </a:endParaRPr>
          </a:p>
        </p:txBody>
      </p:sp>
      <p:sp>
        <p:nvSpPr>
          <p:cNvPr id="510" name="Google Shape;510;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7</a:t>
            </a:r>
            <a:endParaRPr b="0" i="0" sz="950" u="none" cap="none" strike="noStrike">
              <a:solidFill>
                <a:schemeClr val="dk1"/>
              </a:solidFill>
              <a:latin typeface="Calibri"/>
              <a:ea typeface="Calibri"/>
              <a:cs typeface="Calibri"/>
              <a:sym typeface="Calibri"/>
            </a:endParaRPr>
          </a:p>
        </p:txBody>
      </p:sp>
      <p:sp>
        <p:nvSpPr>
          <p:cNvPr id="512" name="Google Shape;512;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Seek an outside perspective</a:t>
            </a:r>
            <a:endParaRPr b="0" i="0" sz="1160" u="none" cap="none" strike="noStrike">
              <a:solidFill>
                <a:schemeClr val="dk1"/>
              </a:solidFill>
              <a:latin typeface="Calibri"/>
              <a:ea typeface="Calibri"/>
              <a:cs typeface="Calibri"/>
              <a:sym typeface="Calibri"/>
            </a:endParaRPr>
          </a:p>
        </p:txBody>
      </p:sp>
      <p:sp>
        <p:nvSpPr>
          <p:cNvPr id="513" name="Google Shape;513;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High stakes, incomplete evidence, or a boundary position.</a:t>
            </a:r>
            <a:endParaRPr b="0" i="0" sz="1060" u="none" cap="none" strike="noStrike">
              <a:solidFill>
                <a:schemeClr val="dk1"/>
              </a:solidFill>
              <a:latin typeface="Calibri"/>
              <a:ea typeface="Calibri"/>
              <a:cs typeface="Calibri"/>
              <a:sym typeface="Calibri"/>
            </a:endParaRPr>
          </a:p>
        </p:txBody>
      </p:sp>
      <p:sp>
        <p:nvSpPr>
          <p:cNvPr id="514" name="Google Shape;514;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No square prescribes a category. Your evidence and constraints still apply.</a:t>
            </a:r>
            <a:endParaRPr b="0" i="0" sz="1100" u="none" cap="none" strike="noStrike">
              <a:solidFill>
                <a:schemeClr val="dk1"/>
              </a:solidFill>
              <a:latin typeface="Calibri"/>
              <a:ea typeface="Calibri"/>
              <a:cs typeface="Calibri"/>
              <a:sym typeface="Calibri"/>
            </a:endParaRPr>
          </a:p>
        </p:txBody>
      </p:sp>
      <p:sp>
        <p:nvSpPr>
          <p:cNvPr id="515" name="Google Shape;515;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16" name="Google Shape;516;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ARTIFACT</a:t>
            </a:r>
            <a:endParaRPr b="0" i="0" sz="950" u="none" cap="none" strike="noStrike">
              <a:solidFill>
                <a:schemeClr val="dk1"/>
              </a:solidFill>
              <a:latin typeface="Calibri"/>
              <a:ea typeface="Calibri"/>
              <a:cs typeface="Calibri"/>
              <a:sym typeface="Calibri"/>
            </a:endParaRPr>
          </a:p>
        </p:txBody>
      </p:sp>
      <p:sp>
        <p:nvSpPr>
          <p:cNvPr id="523" name="Google Shape;523;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The Next-Move Note</a:t>
            </a:r>
            <a:endParaRPr b="0" i="0" sz="3200" u="none" cap="none" strike="noStrike">
              <a:solidFill>
                <a:schemeClr val="dk1"/>
              </a:solidFill>
              <a:latin typeface="Calibri"/>
              <a:ea typeface="Calibri"/>
              <a:cs typeface="Calibri"/>
              <a:sym typeface="Calibri"/>
            </a:endParaRPr>
          </a:p>
        </p:txBody>
      </p:sp>
      <p:sp>
        <p:nvSpPr>
          <p:cNvPr id="524" name="Google Shape;524;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Three lines. Yours, private, and enough to act on.</a:t>
            </a:r>
            <a:endParaRPr b="0" i="0" sz="1150" u="none" cap="none" strike="noStrike">
              <a:solidFill>
                <a:schemeClr val="dk1"/>
              </a:solidFill>
              <a:latin typeface="Calibri"/>
              <a:ea typeface="Calibri"/>
              <a:cs typeface="Calibri"/>
              <a:sym typeface="Calibri"/>
            </a:endParaRPr>
          </a:p>
        </p:txBody>
      </p:sp>
      <p:sp>
        <p:nvSpPr>
          <p:cNvPr id="525" name="Google Shape;525;p22"/>
          <p:cNvSpPr/>
          <p:nvPr/>
        </p:nvSpPr>
        <p:spPr>
          <a:xfrm>
            <a:off x="566928" y="1828800"/>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22"/>
          <p:cNvSpPr/>
          <p:nvPr/>
        </p:nvSpPr>
        <p:spPr>
          <a:xfrm>
            <a:off x="566928" y="1828800"/>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22"/>
          <p:cNvSpPr/>
          <p:nvPr/>
        </p:nvSpPr>
        <p:spPr>
          <a:xfrm>
            <a:off x="786384" y="1901952"/>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MY CURRENT READ</a:t>
            </a:r>
            <a:endParaRPr b="0" i="0" sz="820" u="none" cap="none" strike="noStrike">
              <a:solidFill>
                <a:schemeClr val="dk1"/>
              </a:solidFill>
              <a:latin typeface="Calibri"/>
              <a:ea typeface="Calibri"/>
              <a:cs typeface="Calibri"/>
              <a:sym typeface="Calibri"/>
            </a:endParaRPr>
          </a:p>
        </p:txBody>
      </p:sp>
      <p:sp>
        <p:nvSpPr>
          <p:cNvPr id="528" name="Google Shape;528;p22"/>
          <p:cNvSpPr/>
          <p:nvPr/>
        </p:nvSpPr>
        <p:spPr>
          <a:xfrm>
            <a:off x="786384" y="2103120"/>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My position appears to be:</a:t>
            </a:r>
            <a:endParaRPr b="0" i="0" sz="1140" u="none" cap="none" strike="noStrike">
              <a:solidFill>
                <a:schemeClr val="dk1"/>
              </a:solidFill>
              <a:latin typeface="Calibri"/>
              <a:ea typeface="Calibri"/>
              <a:cs typeface="Calibri"/>
              <a:sym typeface="Calibri"/>
            </a:endParaRPr>
          </a:p>
        </p:txBody>
      </p:sp>
      <p:sp>
        <p:nvSpPr>
          <p:cNvPr id="529" name="Google Shape;529;p22"/>
          <p:cNvSpPr/>
          <p:nvPr/>
        </p:nvSpPr>
        <p:spPr>
          <a:xfrm>
            <a:off x="786384" y="2304288"/>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State  /  boundary  /  incomplete</a:t>
            </a:r>
            <a:endParaRPr b="0" i="0" sz="880" u="none" cap="none" strike="noStrike">
              <a:solidFill>
                <a:schemeClr val="dk1"/>
              </a:solidFill>
              <a:latin typeface="Calibri"/>
              <a:ea typeface="Calibri"/>
              <a:cs typeface="Calibri"/>
              <a:sym typeface="Calibri"/>
            </a:endParaRPr>
          </a:p>
        </p:txBody>
      </p:sp>
      <p:sp>
        <p:nvSpPr>
          <p:cNvPr id="530" name="Google Shape;530;p22"/>
          <p:cNvSpPr/>
          <p:nvPr/>
        </p:nvSpPr>
        <p:spPr>
          <a:xfrm>
            <a:off x="5577840" y="2103120"/>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1" name="Google Shape;531;p22"/>
          <p:cNvSpPr/>
          <p:nvPr/>
        </p:nvSpPr>
        <p:spPr>
          <a:xfrm>
            <a:off x="566928" y="2542032"/>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22"/>
          <p:cNvSpPr/>
          <p:nvPr/>
        </p:nvSpPr>
        <p:spPr>
          <a:xfrm>
            <a:off x="566928" y="2542032"/>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2"/>
          <p:cNvSpPr/>
          <p:nvPr/>
        </p:nvSpPr>
        <p:spPr>
          <a:xfrm>
            <a:off x="786384" y="2615184"/>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I NEED TO TEST</a:t>
            </a:r>
            <a:endParaRPr b="0" i="0" sz="820" u="none" cap="none" strike="noStrike">
              <a:solidFill>
                <a:schemeClr val="dk1"/>
              </a:solidFill>
              <a:latin typeface="Calibri"/>
              <a:ea typeface="Calibri"/>
              <a:cs typeface="Calibri"/>
              <a:sym typeface="Calibri"/>
            </a:endParaRPr>
          </a:p>
        </p:txBody>
      </p:sp>
      <p:sp>
        <p:nvSpPr>
          <p:cNvPr id="534" name="Google Shape;534;p22"/>
          <p:cNvSpPr/>
          <p:nvPr/>
        </p:nvSpPr>
        <p:spPr>
          <a:xfrm>
            <a:off x="786384" y="2816352"/>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category of move my evidence supports testing is:</a:t>
            </a:r>
            <a:endParaRPr b="0" i="0" sz="1140" u="none" cap="none" strike="noStrike">
              <a:solidFill>
                <a:schemeClr val="dk1"/>
              </a:solidFill>
              <a:latin typeface="Calibri"/>
              <a:ea typeface="Calibri"/>
              <a:cs typeface="Calibri"/>
              <a:sym typeface="Calibri"/>
            </a:endParaRPr>
          </a:p>
        </p:txBody>
      </p:sp>
      <p:sp>
        <p:nvSpPr>
          <p:cNvPr id="535" name="Google Shape;535;p22"/>
          <p:cNvSpPr/>
          <p:nvPr/>
        </p:nvSpPr>
        <p:spPr>
          <a:xfrm>
            <a:off x="786384" y="3017520"/>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of the seven categories.</a:t>
            </a:r>
            <a:endParaRPr b="0" i="0" sz="880" u="none" cap="none" strike="noStrike">
              <a:solidFill>
                <a:schemeClr val="dk1"/>
              </a:solidFill>
              <a:latin typeface="Calibri"/>
              <a:ea typeface="Calibri"/>
              <a:cs typeface="Calibri"/>
              <a:sym typeface="Calibri"/>
            </a:endParaRPr>
          </a:p>
        </p:txBody>
      </p:sp>
      <p:sp>
        <p:nvSpPr>
          <p:cNvPr id="536" name="Google Shape;536;p22"/>
          <p:cNvSpPr/>
          <p:nvPr/>
        </p:nvSpPr>
        <p:spPr>
          <a:xfrm>
            <a:off x="5577840" y="2816352"/>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7" name="Google Shape;537;p22"/>
          <p:cNvSpPr/>
          <p:nvPr/>
        </p:nvSpPr>
        <p:spPr>
          <a:xfrm>
            <a:off x="566928" y="3255264"/>
            <a:ext cx="8010144" cy="9692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22"/>
          <p:cNvSpPr/>
          <p:nvPr/>
        </p:nvSpPr>
        <p:spPr>
          <a:xfrm>
            <a:off x="566928" y="3255264"/>
            <a:ext cx="41148" cy="969264"/>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22"/>
          <p:cNvSpPr/>
          <p:nvPr/>
        </p:nvSpPr>
        <p:spPr>
          <a:xfrm>
            <a:off x="786384" y="3328416"/>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HAPPENS NEXT</a:t>
            </a:r>
            <a:endParaRPr b="0" i="0" sz="82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529584"/>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next action, conversation or piece of evidence is:</a:t>
            </a:r>
            <a:endParaRPr b="0" i="0" sz="1140" u="none" cap="none" strike="noStrike">
              <a:solidFill>
                <a:schemeClr val="dk1"/>
              </a:solidFill>
              <a:latin typeface="Calibri"/>
              <a:ea typeface="Calibri"/>
              <a:cs typeface="Calibri"/>
              <a:sym typeface="Calibri"/>
            </a:endParaRPr>
          </a:p>
        </p:txBody>
      </p:sp>
      <p:sp>
        <p:nvSpPr>
          <p:cNvPr id="541" name="Google Shape;541;p22"/>
          <p:cNvSpPr/>
          <p:nvPr/>
        </p:nvSpPr>
        <p:spPr>
          <a:xfrm>
            <a:off x="786384" y="3730752"/>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thing. Something you could begin this month.</a:t>
            </a:r>
            <a:endParaRPr b="0" i="0" sz="880" u="none" cap="none" strike="noStrike">
              <a:solidFill>
                <a:schemeClr val="dk1"/>
              </a:solidFill>
              <a:latin typeface="Calibri"/>
              <a:ea typeface="Calibri"/>
              <a:cs typeface="Calibri"/>
              <a:sym typeface="Calibri"/>
            </a:endParaRPr>
          </a:p>
        </p:txBody>
      </p:sp>
      <p:sp>
        <p:nvSpPr>
          <p:cNvPr id="542" name="Google Shape;542;p22"/>
          <p:cNvSpPr/>
          <p:nvPr/>
        </p:nvSpPr>
        <p:spPr>
          <a:xfrm>
            <a:off x="5577840" y="3529584"/>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43" name="Google Shape;543;p22"/>
          <p:cNvSpPr/>
          <p:nvPr/>
        </p:nvSpPr>
        <p:spPr>
          <a:xfrm>
            <a:off x="566928" y="424281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22"/>
          <p:cNvSpPr/>
          <p:nvPr/>
        </p:nvSpPr>
        <p:spPr>
          <a:xfrm>
            <a:off x="804672" y="4242816"/>
            <a:ext cx="7534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550"/>
              <a:buFont typeface="Cormorant Garamond"/>
              <a:buNone/>
            </a:pPr>
            <a:r>
              <a:rPr b="1" i="0" lang="en-US" sz="1550" u="none" cap="none" strike="noStrike">
                <a:solidFill>
                  <a:srgbClr val="F5F0E8"/>
                </a:solidFill>
                <a:latin typeface="Cormorant Garamond"/>
                <a:ea typeface="Cormorant Garamond"/>
                <a:cs typeface="Cormorant Garamond"/>
                <a:sym typeface="Cormorant Garamond"/>
              </a:rPr>
              <a:t>This note records what your evidence supports testing next.</a:t>
            </a:r>
            <a:endParaRPr b="0" i="0" sz="1550" u="none" cap="none" strike="noStrike">
              <a:solidFill>
                <a:schemeClr val="dk1"/>
              </a:solidFill>
              <a:latin typeface="Calibri"/>
              <a:ea typeface="Calibri"/>
              <a:cs typeface="Calibri"/>
              <a:sym typeface="Calibri"/>
            </a:endParaRPr>
          </a:p>
        </p:txBody>
      </p:sp>
      <p:sp>
        <p:nvSpPr>
          <p:cNvPr id="545" name="Google Shape;545;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46" name="Google Shape;546;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What travels?      What does not?      What can I prove?      What must I relearn?</a:t>
            </a:r>
            <a:endParaRPr b="0" i="0" sz="114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950208"/>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Two signals I will watch before my rescore date: ______ and ______</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4" name="Shape 554"/>
        <p:cNvGrpSpPr/>
        <p:nvPr/>
      </p:nvGrpSpPr>
      <p:grpSpPr>
        <a:xfrm>
          <a:off x="0" y="0"/>
          <a:ext cx="0" cy="0"/>
          <a:chOff x="0" y="0"/>
          <a:chExt cx="0" cy="0"/>
        </a:xfrm>
      </p:grpSpPr>
      <p:sp>
        <p:nvSpPr>
          <p:cNvPr id="555" name="Google Shape;555;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WHERE TO GO FROM HERE</a:t>
            </a:r>
            <a:endParaRPr b="0" i="0" sz="950" u="none" cap="none" strike="noStrike">
              <a:solidFill>
                <a:schemeClr val="dk1"/>
              </a:solidFill>
              <a:latin typeface="Calibri"/>
              <a:ea typeface="Calibri"/>
              <a:cs typeface="Calibri"/>
              <a:sym typeface="Calibri"/>
            </a:endParaRPr>
          </a:p>
        </p:txBody>
      </p:sp>
      <p:sp>
        <p:nvSpPr>
          <p:cNvPr id="556" name="Google Shape;556;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i="0" lang="en-US" sz="2700" u="none" cap="none" strike="noStrike">
                <a:solidFill>
                  <a:srgbClr val="0F2347"/>
                </a:solidFill>
                <a:latin typeface="Cormorant Garamond"/>
                <a:ea typeface="Cormorant Garamond"/>
                <a:cs typeface="Cormorant Garamond"/>
                <a:sym typeface="Cormorant Garamond"/>
              </a:rPr>
              <a:t>Choose How You Want to Continue the Read</a:t>
            </a:r>
            <a:endParaRPr b="0" i="0" sz="2700" u="none" cap="none" strike="noStrike">
              <a:solidFill>
                <a:schemeClr val="dk1"/>
              </a:solidFill>
              <a:latin typeface="Calibri"/>
              <a:ea typeface="Calibri"/>
              <a:cs typeface="Calibri"/>
              <a:sym typeface="Calibri"/>
            </a:endParaRPr>
          </a:p>
        </p:txBody>
      </p:sp>
      <p:sp>
        <p:nvSpPr>
          <p:cNvPr id="557" name="Google Shape;557;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Your read is complete. What you need next depends on what is still unresolved.</a:t>
            </a:r>
            <a:endParaRPr b="0" i="0" sz="1150" u="none" cap="none" strike="noStrike">
              <a:solidFill>
                <a:schemeClr val="dk1"/>
              </a:solidFill>
              <a:latin typeface="Calibri"/>
              <a:ea typeface="Calibri"/>
              <a:cs typeface="Calibri"/>
              <a:sym typeface="Calibri"/>
            </a:endParaRPr>
          </a:p>
        </p:txBody>
      </p:sp>
      <p:sp>
        <p:nvSpPr>
          <p:cNvPr id="558" name="Google Shape;558;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561" name="Google Shape;561;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have enough for now.</a:t>
            </a:r>
            <a:endParaRPr b="0" i="0" sz="1550" u="none" cap="none" strike="noStrike">
              <a:solidFill>
                <a:schemeClr val="dk1"/>
              </a:solidFill>
              <a:latin typeface="Calibri"/>
              <a:ea typeface="Calibri"/>
              <a:cs typeface="Calibri"/>
              <a:sym typeface="Calibri"/>
            </a:endParaRPr>
          </a:p>
        </p:txBody>
      </p:sp>
      <p:sp>
        <p:nvSpPr>
          <p:cNvPr id="562" name="Google Shape;562;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Take your Next-Move Note and act on it.</a:t>
            </a:r>
            <a:endParaRPr b="1" i="0" sz="1320" u="none" cap="none" strike="noStrike">
              <a:solidFill>
                <a:srgbClr val="C1440E"/>
              </a:solidFill>
              <a:latin typeface="Calibri"/>
              <a:ea typeface="Calibri"/>
              <a:cs typeface="Calibri"/>
              <a:sym typeface="Calibri"/>
            </a:endParaRPr>
          </a:p>
        </p:txBody>
      </p:sp>
      <p:sp>
        <p:nvSpPr>
          <p:cNvPr id="563" name="Google Shape;563;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Nothing further is required. The session was built to be complete on its own.</a:t>
            </a:r>
            <a:endParaRPr b="1" i="0" sz="1200" u="none" cap="none" strike="noStrike">
              <a:solidFill>
                <a:srgbClr val="5A6B84"/>
              </a:solidFill>
              <a:latin typeface="Calibri"/>
              <a:ea typeface="Calibri"/>
              <a:cs typeface="Calibri"/>
              <a:sym typeface="Calibri"/>
            </a:endParaRPr>
          </a:p>
        </p:txBody>
      </p:sp>
      <p:sp>
        <p:nvSpPr>
          <p:cNvPr id="564" name="Google Shape;564;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567" name="Google Shape;567;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want to keep working privately.</a:t>
            </a:r>
            <a:endParaRPr b="0" i="0" sz="1550" u="none" cap="none" strike="noStrike">
              <a:solidFill>
                <a:schemeClr val="dk1"/>
              </a:solidFill>
              <a:latin typeface="Calibri"/>
              <a:ea typeface="Calibri"/>
              <a:cs typeface="Calibri"/>
              <a:sym typeface="Calibri"/>
            </a:endParaRPr>
          </a:p>
        </p:txBody>
      </p:sp>
      <p:sp>
        <p:nvSpPr>
          <p:cNvPr id="568" name="Google Shape;568;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Continue with the Capability Formation Field Kit.</a:t>
            </a:r>
            <a:endParaRPr b="1" i="0" sz="1320" u="none" cap="none" strike="noStrike">
              <a:solidFill>
                <a:srgbClr val="C1440E"/>
              </a:solidFill>
              <a:latin typeface="Calibri"/>
              <a:ea typeface="Calibri"/>
              <a:cs typeface="Calibri"/>
              <a:sym typeface="Calibri"/>
            </a:endParaRPr>
          </a:p>
        </p:txBody>
      </p:sp>
      <p:sp>
        <p:nvSpPr>
          <p:cNvPr id="569" name="Google Shape;569;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You understand your reading and want a structured system you can return to on your own.</a:t>
            </a:r>
            <a:endParaRPr b="1" i="0" sz="1200" u="none" cap="none" strike="noStrike">
              <a:solidFill>
                <a:srgbClr val="5A6B84"/>
              </a:solidFill>
              <a:latin typeface="Calibri"/>
              <a:ea typeface="Calibri"/>
              <a:cs typeface="Calibri"/>
              <a:sym typeface="Calibri"/>
            </a:endParaRPr>
          </a:p>
        </p:txBody>
      </p:sp>
      <p:sp>
        <p:nvSpPr>
          <p:cNvPr id="570" name="Google Shape;570;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500"/>
              <a:buFont typeface="Cormorant Garamond"/>
              <a:buNone/>
            </a:pPr>
            <a:r>
              <a:rPr b="1" i="1" lang="en-US" sz="1800" u="none" cap="none" strike="noStrike">
                <a:solidFill>
                  <a:srgbClr val="0F2347"/>
                </a:solidFill>
                <a:latin typeface="Cormorant Garamond"/>
                <a:ea typeface="Cormorant Garamond"/>
                <a:cs typeface="Cormorant Garamond"/>
                <a:sym typeface="Cormorant Garamond"/>
              </a:rPr>
              <a:t>Different unresolved needs require different levels of support.</a:t>
            </a:r>
            <a:endParaRPr b="0" i="0" sz="1800" u="none" cap="none" strike="noStrike">
              <a:solidFill>
                <a:schemeClr val="dk1"/>
              </a:solidFill>
              <a:latin typeface="Calibri"/>
              <a:ea typeface="Calibri"/>
              <a:cs typeface="Calibri"/>
              <a:sym typeface="Calibri"/>
            </a:endParaRPr>
          </a:p>
        </p:txBody>
      </p:sp>
      <p:sp>
        <p:nvSpPr>
          <p:cNvPr id="571" name="Google Shape;571;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72" name="Google Shape;572;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7" name="Shape 577"/>
        <p:cNvGrpSpPr/>
        <p:nvPr/>
      </p:nvGrpSpPr>
      <p:grpSpPr>
        <a:xfrm>
          <a:off x="0" y="0"/>
          <a:ext cx="0" cy="0"/>
          <a:chOff x="0" y="0"/>
          <a:chExt cx="0" cy="0"/>
        </a:xfrm>
      </p:grpSpPr>
      <p:sp>
        <p:nvSpPr>
          <p:cNvPr id="578" name="Google Shape;578;g3fbe9e34838_0_94"/>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79" name="Google Shape;579;g3fbe9e34838_0_94"/>
          <p:cNvSpPr/>
          <p:nvPr/>
        </p:nvSpPr>
        <p:spPr>
          <a:xfrm>
            <a:off x="566928" y="603504"/>
            <a:ext cx="8010000"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80" name="Google Shape;580;g3fbe9e34838_0_94"/>
          <p:cNvSpPr/>
          <p:nvPr/>
        </p:nvSpPr>
        <p:spPr>
          <a:xfrm>
            <a:off x="566928" y="1755648"/>
            <a:ext cx="3712500"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g3fbe9e34838_0_94"/>
          <p:cNvSpPr/>
          <p:nvPr/>
        </p:nvSpPr>
        <p:spPr>
          <a:xfrm>
            <a:off x="804672" y="1901952"/>
            <a:ext cx="3200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1020">
                <a:solidFill>
                  <a:srgbClr val="5A6B84"/>
                </a:solidFill>
                <a:latin typeface="Montserrat"/>
                <a:ea typeface="Montserrat"/>
                <a:cs typeface="Montserrat"/>
                <a:sym typeface="Montserrat"/>
              </a:rPr>
              <a:t>TODAY'S GUIDED READ</a:t>
            </a:r>
            <a:endParaRPr sz="1020">
              <a:solidFill>
                <a:schemeClr val="dk1"/>
              </a:solidFill>
              <a:latin typeface="Calibri"/>
              <a:ea typeface="Calibri"/>
              <a:cs typeface="Calibri"/>
              <a:sym typeface="Calibri"/>
            </a:endParaRPr>
          </a:p>
        </p:txBody>
      </p:sp>
      <p:sp>
        <p:nvSpPr>
          <p:cNvPr id="582" name="Google Shape;582;g3fbe9e34838_0_94"/>
          <p:cNvSpPr/>
          <p:nvPr/>
        </p:nvSpPr>
        <p:spPr>
          <a:xfrm>
            <a:off x="804672"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g3fbe9e34838_0_94"/>
          <p:cNvSpPr/>
          <p:nvPr/>
        </p:nvSpPr>
        <p:spPr>
          <a:xfrm>
            <a:off x="987552" y="223113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evidence-based reading</a:t>
            </a:r>
            <a:endParaRPr sz="980">
              <a:solidFill>
                <a:schemeClr val="dk1"/>
              </a:solidFill>
              <a:latin typeface="Calibri"/>
              <a:ea typeface="Calibri"/>
              <a:cs typeface="Calibri"/>
              <a:sym typeface="Calibri"/>
            </a:endParaRPr>
          </a:p>
        </p:txBody>
      </p:sp>
      <p:sp>
        <p:nvSpPr>
          <p:cNvPr id="584" name="Google Shape;584;g3fbe9e34838_0_94"/>
          <p:cNvSpPr/>
          <p:nvPr/>
        </p:nvSpPr>
        <p:spPr>
          <a:xfrm>
            <a:off x="804672"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g3fbe9e34838_0_94"/>
          <p:cNvSpPr/>
          <p:nvPr/>
        </p:nvSpPr>
        <p:spPr>
          <a:xfrm>
            <a:off x="987552" y="250545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86" name="Google Shape;586;g3fbe9e34838_0_94"/>
          <p:cNvSpPr/>
          <p:nvPr/>
        </p:nvSpPr>
        <p:spPr>
          <a:xfrm>
            <a:off x="804672"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g3fbe9e34838_0_94"/>
          <p:cNvSpPr/>
          <p:nvPr/>
        </p:nvSpPr>
        <p:spPr>
          <a:xfrm>
            <a:off x="987552" y="277977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88" name="Google Shape;588;g3fbe9e34838_0_94"/>
          <p:cNvSpPr/>
          <p:nvPr/>
        </p:nvSpPr>
        <p:spPr>
          <a:xfrm>
            <a:off x="804672"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g3fbe9e34838_0_94"/>
          <p:cNvSpPr/>
          <p:nvPr/>
        </p:nvSpPr>
        <p:spPr>
          <a:xfrm>
            <a:off x="987552" y="305409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90" name="Google Shape;590;g3fbe9e34838_0_94"/>
          <p:cNvSpPr/>
          <p:nvPr/>
        </p:nvSpPr>
        <p:spPr>
          <a:xfrm>
            <a:off x="804672" y="3602736"/>
            <a:ext cx="3200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91" name="Google Shape;591;g3fbe9e34838_0_94"/>
          <p:cNvSpPr/>
          <p:nvPr/>
        </p:nvSpPr>
        <p:spPr>
          <a:xfrm>
            <a:off x="4443984" y="1755648"/>
            <a:ext cx="4133100"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g3fbe9e34838_0_94"/>
          <p:cNvSpPr/>
          <p:nvPr/>
        </p:nvSpPr>
        <p:spPr>
          <a:xfrm>
            <a:off x="4681728" y="1901952"/>
            <a:ext cx="31089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1020">
                <a:solidFill>
                  <a:srgbClr val="C9A84C"/>
                </a:solidFill>
                <a:latin typeface="Montserrat"/>
                <a:ea typeface="Montserrat"/>
                <a:cs typeface="Montserrat"/>
                <a:sym typeface="Montserrat"/>
              </a:rPr>
              <a:t>CAPABILITY FORMATION FIELD KIT</a:t>
            </a:r>
            <a:endParaRPr sz="1020">
              <a:solidFill>
                <a:schemeClr val="dk1"/>
              </a:solidFill>
              <a:latin typeface="Calibri"/>
              <a:ea typeface="Calibri"/>
              <a:cs typeface="Calibri"/>
              <a:sym typeface="Calibri"/>
            </a:endParaRPr>
          </a:p>
        </p:txBody>
      </p:sp>
      <p:sp>
        <p:nvSpPr>
          <p:cNvPr id="593" name="Google Shape;593;g3fbe9e34838_0_94"/>
          <p:cNvSpPr/>
          <p:nvPr/>
        </p:nvSpPr>
        <p:spPr>
          <a:xfrm>
            <a:off x="4681728"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g3fbe9e34838_0_94"/>
          <p:cNvSpPr/>
          <p:nvPr/>
        </p:nvSpPr>
        <p:spPr>
          <a:xfrm>
            <a:off x="4864608" y="223113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95" name="Google Shape;595;g3fbe9e34838_0_94"/>
          <p:cNvSpPr/>
          <p:nvPr/>
        </p:nvSpPr>
        <p:spPr>
          <a:xfrm>
            <a:off x="4681728"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g3fbe9e34838_0_94"/>
          <p:cNvSpPr/>
          <p:nvPr/>
        </p:nvSpPr>
        <p:spPr>
          <a:xfrm>
            <a:off x="4864608" y="250545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97" name="Google Shape;597;g3fbe9e34838_0_94"/>
          <p:cNvSpPr/>
          <p:nvPr/>
        </p:nvSpPr>
        <p:spPr>
          <a:xfrm>
            <a:off x="4681728"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g3fbe9e34838_0_94"/>
          <p:cNvSpPr/>
          <p:nvPr/>
        </p:nvSpPr>
        <p:spPr>
          <a:xfrm>
            <a:off x="4864608" y="277977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99" name="Google Shape;599;g3fbe9e34838_0_94"/>
          <p:cNvSpPr/>
          <p:nvPr/>
        </p:nvSpPr>
        <p:spPr>
          <a:xfrm>
            <a:off x="4681728"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g3fbe9e34838_0_94"/>
          <p:cNvSpPr/>
          <p:nvPr/>
        </p:nvSpPr>
        <p:spPr>
          <a:xfrm>
            <a:off x="4864608" y="305409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601" name="Google Shape;601;g3fbe9e34838_0_94"/>
          <p:cNvPicPr preferRelativeResize="0"/>
          <p:nvPr/>
        </p:nvPicPr>
        <p:blipFill rotWithShape="1">
          <a:blip r:embed="rId3">
            <a:alphaModFix/>
          </a:blip>
          <a:srcRect b="0" l="0" r="0" t="0"/>
          <a:stretch/>
        </p:blipFill>
        <p:spPr>
          <a:xfrm>
            <a:off x="7827264" y="1883664"/>
            <a:ext cx="658367" cy="852222"/>
          </a:xfrm>
          <a:prstGeom prst="rect">
            <a:avLst/>
          </a:prstGeom>
          <a:noFill/>
          <a:ln>
            <a:noFill/>
          </a:ln>
        </p:spPr>
      </p:pic>
      <p:pic>
        <p:nvPicPr>
          <p:cNvPr descr="preencoded.png" id="602" name="Google Shape;602;g3fbe9e34838_0_9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603" name="Google Shape;603;g3fbe9e34838_0_94">
            <a:hlinkClick r:id="rId6"/>
          </p:cNvPr>
          <p:cNvSpPr/>
          <p:nvPr/>
        </p:nvSpPr>
        <p:spPr>
          <a:xfrm>
            <a:off x="4681728" y="336499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604" name="Google Shape;604;g3fbe9e34838_0_94">
            <a:hlinkClick r:id="rId8"/>
          </p:cNvPr>
          <p:cNvSpPr/>
          <p:nvPr/>
        </p:nvSpPr>
        <p:spPr>
          <a:xfrm>
            <a:off x="4681728" y="363931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605" name="Google Shape;605;g3fbe9e34838_0_94"/>
          <p:cNvSpPr/>
          <p:nvPr/>
        </p:nvSpPr>
        <p:spPr>
          <a:xfrm>
            <a:off x="566928" y="4187952"/>
            <a:ext cx="8010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606" name="Google Shape;606;g3fbe9e34838_0_94"/>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07" name="Google Shape;607;g3fbe9e34838_0_94"/>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28</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612" name="Shape 612"/>
        <p:cNvGrpSpPr/>
        <p:nvPr/>
      </p:nvGrpSpPr>
      <p:grpSpPr>
        <a:xfrm>
          <a:off x="0" y="0"/>
          <a:ext cx="0" cy="0"/>
          <a:chOff x="0" y="0"/>
          <a:chExt cx="0" cy="0"/>
        </a:xfrm>
      </p:grpSpPr>
      <p:sp>
        <p:nvSpPr>
          <p:cNvPr id="613" name="Google Shape;613;g3fbe9e34838_0_128"/>
          <p:cNvSpPr/>
          <p:nvPr/>
        </p:nvSpPr>
        <p:spPr>
          <a:xfrm>
            <a:off x="566928" y="822960"/>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614" name="Google Shape;614;g3fbe9e34838_0_128"/>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615" name="Google Shape;615;g3fbe9e34838_0_128"/>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g3fbe9e34838_0_128"/>
          <p:cNvSpPr/>
          <p:nvPr/>
        </p:nvSpPr>
        <p:spPr>
          <a:xfrm>
            <a:off x="566925" y="2761500"/>
            <a:ext cx="8010000" cy="16179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5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500">
              <a:solidFill>
                <a:schemeClr val="dk1"/>
              </a:solidFill>
              <a:latin typeface="Calibri"/>
              <a:ea typeface="Calibri"/>
              <a:cs typeface="Calibri"/>
              <a:sym typeface="Calibri"/>
            </a:endParaRPr>
          </a:p>
        </p:txBody>
      </p:sp>
      <p:sp>
        <p:nvSpPr>
          <p:cNvPr id="617" name="Google Shape;617;g3fbe9e34838_0_12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22" name="Shape 622"/>
        <p:cNvGrpSpPr/>
        <p:nvPr/>
      </p:nvGrpSpPr>
      <p:grpSpPr>
        <a:xfrm>
          <a:off x="0" y="0"/>
          <a:ext cx="0" cy="0"/>
          <a:chOff x="0" y="0"/>
          <a:chExt cx="0" cy="0"/>
        </a:xfrm>
      </p:grpSpPr>
      <p:sp>
        <p:nvSpPr>
          <p:cNvPr id="623" name="Google Shape;623;g3fbec47727c_0_117"/>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24" name="Google Shape;624;g3fbec47727c_0_117"/>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9" name="Shape 629"/>
        <p:cNvGrpSpPr/>
        <p:nvPr/>
      </p:nvGrpSpPr>
      <p:grpSpPr>
        <a:xfrm>
          <a:off x="0" y="0"/>
          <a:ext cx="0" cy="0"/>
          <a:chOff x="0" y="0"/>
          <a:chExt cx="0" cy="0"/>
        </a:xfrm>
      </p:grpSpPr>
      <p:sp>
        <p:nvSpPr>
          <p:cNvPr id="630" name="Google Shape;630;h11f538478445b104_1_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31" name="Google Shape;631;h11f538478445b104_1_2"/>
          <p:cNvSpPr/>
          <p:nvPr/>
        </p:nvSpPr>
        <p:spPr>
          <a:xfrm>
            <a:off x="567003" y="2523836"/>
            <a:ext cx="8010000" cy="5487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h11f538478445b104_1_2"/>
          <p:cNvSpPr/>
          <p:nvPr/>
        </p:nvSpPr>
        <p:spPr>
          <a:xfrm>
            <a:off x="804747" y="2523836"/>
            <a:ext cx="753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33" name="Google Shape;633;h11f538478445b104_1_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8" name="Shape 638"/>
        <p:cNvGrpSpPr/>
        <p:nvPr/>
      </p:nvGrpSpPr>
      <p:grpSpPr>
        <a:xfrm>
          <a:off x="0" y="0"/>
          <a:ext cx="0" cy="0"/>
          <a:chOff x="0" y="0"/>
          <a:chExt cx="0" cy="0"/>
        </a:xfrm>
      </p:grpSpPr>
      <p:sp>
        <p:nvSpPr>
          <p:cNvPr id="639" name="Google Shape;639;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950"/>
              <a:buFont typeface="Montserrat"/>
              <a:buNone/>
            </a:pPr>
            <a:r>
              <a:rPr b="1" i="0" lang="en-US" sz="950" u="none" cap="none" strike="noStrike">
                <a:solidFill>
                  <a:srgbClr val="C1440E"/>
                </a:solidFill>
                <a:latin typeface="Montserrat"/>
                <a:ea typeface="Montserrat"/>
                <a:cs typeface="Montserrat"/>
                <a:sym typeface="Montserrat"/>
              </a:rPr>
              <a:t>LIVE ONLY  ·  RECORDING OFF  ·  10 MINUTES</a:t>
            </a:r>
            <a:endParaRPr b="0" i="0" sz="950" u="none" cap="none" strike="noStrike">
              <a:solidFill>
                <a:schemeClr val="dk1"/>
              </a:solidFill>
              <a:latin typeface="Calibri"/>
              <a:ea typeface="Calibri"/>
              <a:cs typeface="Calibri"/>
              <a:sym typeface="Calibri"/>
            </a:endParaRPr>
          </a:p>
        </p:txBody>
      </p:sp>
      <p:sp>
        <p:nvSpPr>
          <p:cNvPr id="640" name="Google Shape;640;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Questions &amp; Applications</a:t>
            </a:r>
            <a:endParaRPr b="0" i="0" sz="3200" u="none" cap="none" strike="noStrike">
              <a:solidFill>
                <a:schemeClr val="dk1"/>
              </a:solidFill>
              <a:latin typeface="Calibri"/>
              <a:ea typeface="Calibri"/>
              <a:cs typeface="Calibri"/>
              <a:sym typeface="Calibri"/>
            </a:endParaRPr>
          </a:p>
        </p:txBody>
      </p:sp>
      <p:sp>
        <p:nvSpPr>
          <p:cNvPr id="641" name="Google Shape;641;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Ten minutes. The recording has stopped.</a:t>
            </a:r>
            <a:endParaRPr b="0" i="0" sz="1150" u="none" cap="none" strike="noStrike">
              <a:solidFill>
                <a:schemeClr val="dk1"/>
              </a:solidFill>
              <a:latin typeface="Calibri"/>
              <a:ea typeface="Calibri"/>
              <a:cs typeface="Calibri"/>
              <a:sym typeface="Calibri"/>
            </a:endParaRPr>
          </a:p>
        </p:txBody>
      </p:sp>
      <p:sp>
        <p:nvSpPr>
          <p:cNvPr id="642" name="Google Shape;642;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44" name="Google Shape;644;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WELCOME</a:t>
            </a:r>
            <a:endParaRPr b="0" i="0" sz="820" u="none" cap="none" strike="noStrike">
              <a:solidFill>
                <a:schemeClr val="dk1"/>
              </a:solidFill>
              <a:latin typeface="Calibri"/>
              <a:ea typeface="Calibri"/>
              <a:cs typeface="Calibri"/>
              <a:sym typeface="Calibri"/>
            </a:endParaRPr>
          </a:p>
        </p:txBody>
      </p:sp>
      <p:sp>
        <p:nvSpPr>
          <p:cNvPr id="646" name="Google Shape;646;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b="0" i="0" lang="en-US" sz="1040" u="none" cap="none" strike="noStrike">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b="0" i="0" sz="1040" u="none" cap="none" strike="noStrike">
              <a:solidFill>
                <a:schemeClr val="dk1"/>
              </a:solidFill>
              <a:latin typeface="Calibri"/>
              <a:ea typeface="Calibri"/>
              <a:cs typeface="Calibri"/>
              <a:sym typeface="Calibri"/>
            </a:endParaRPr>
          </a:p>
        </p:txBody>
      </p:sp>
      <p:sp>
        <p:nvSpPr>
          <p:cNvPr id="647" name="Google Shape;647;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820"/>
              <a:buFont typeface="Montserrat"/>
              <a:buNone/>
            </a:pPr>
            <a:r>
              <a:rPr b="1" i="0" lang="en-US" sz="820" u="none" cap="none" strike="noStrike">
                <a:solidFill>
                  <a:srgbClr val="F5F0E8"/>
                </a:solidFill>
                <a:latin typeface="Montserrat"/>
                <a:ea typeface="Montserrat"/>
                <a:cs typeface="Montserrat"/>
                <a:sym typeface="Montserrat"/>
              </a:rPr>
              <a:t>OUTSIDE THE BOUNDARY</a:t>
            </a:r>
            <a:endParaRPr b="0" i="0" sz="820" u="none" cap="none" strike="noStrike">
              <a:solidFill>
                <a:schemeClr val="dk1"/>
              </a:solidFill>
              <a:latin typeface="Calibri"/>
              <a:ea typeface="Calibri"/>
              <a:cs typeface="Calibri"/>
              <a:sym typeface="Calibri"/>
            </a:endParaRPr>
          </a:p>
        </p:txBody>
      </p:sp>
      <p:sp>
        <p:nvSpPr>
          <p:cNvPr id="649" name="Google Shape;649;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b="0" i="0" lang="en-US" sz="1040" u="none" cap="none" strike="noStrike">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b="0" i="0" sz="1040" u="none" cap="none" strike="noStrike">
              <a:solidFill>
                <a:schemeClr val="dk1"/>
              </a:solidFill>
              <a:latin typeface="Calibri"/>
              <a:ea typeface="Calibri"/>
              <a:cs typeface="Calibri"/>
              <a:sym typeface="Calibri"/>
            </a:endParaRPr>
          </a:p>
        </p:txBody>
      </p:sp>
      <p:sp>
        <p:nvSpPr>
          <p:cNvPr id="650" name="Google Shape;650;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Close at 60:00.</a:t>
            </a:r>
            <a:endParaRPr b="0" i="0" sz="1150" u="none" cap="none" strike="noStrike">
              <a:solidFill>
                <a:schemeClr val="dk1"/>
              </a:solidFill>
              <a:latin typeface="Calibri"/>
              <a:ea typeface="Calibri"/>
              <a:cs typeface="Calibri"/>
              <a:sym typeface="Calibri"/>
            </a:endParaRPr>
          </a:p>
        </p:txBody>
      </p:sp>
      <p:sp>
        <p:nvSpPr>
          <p:cNvPr id="651" name="Google Shape;651;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52" name="Google Shape;652;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59" name="Google Shape;659;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Position Exposure Signals</a:t>
            </a:r>
            <a:endParaRPr b="0" i="0" sz="2600" u="none" cap="none" strike="noStrike">
              <a:solidFill>
                <a:schemeClr val="dk1"/>
              </a:solidFill>
              <a:latin typeface="Calibri"/>
              <a:ea typeface="Calibri"/>
              <a:cs typeface="Calibri"/>
              <a:sym typeface="Calibri"/>
            </a:endParaRPr>
          </a:p>
        </p:txBody>
      </p:sp>
      <p:sp>
        <p:nvSpPr>
          <p:cNvPr id="660" name="Google Shape;660;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661" name="Google Shape;661;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Your current role</a:t>
            </a:r>
            <a:endParaRPr b="0" i="0" sz="1250" u="none" cap="none" strike="noStrike">
              <a:solidFill>
                <a:schemeClr val="dk1"/>
              </a:solidFill>
              <a:latin typeface="Calibri"/>
              <a:ea typeface="Calibri"/>
              <a:cs typeface="Calibri"/>
              <a:sym typeface="Calibri"/>
            </a:endParaRPr>
          </a:p>
        </p:txBody>
      </p:sp>
      <p:sp>
        <p:nvSpPr>
          <p:cNvPr id="663" name="Google Shape;663;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Is the mandate being absorbed, narrowed, duplicated or repeatedly redefined?</a:t>
            </a:r>
            <a:endParaRPr b="0" i="0" sz="1100" u="none" cap="none" strike="noStrike">
              <a:solidFill>
                <a:schemeClr val="dk1"/>
              </a:solidFill>
              <a:latin typeface="Calibri"/>
              <a:ea typeface="Calibri"/>
              <a:cs typeface="Calibri"/>
              <a:sym typeface="Calibri"/>
            </a:endParaRPr>
          </a:p>
        </p:txBody>
      </p:sp>
      <p:sp>
        <p:nvSpPr>
          <p:cNvPr id="664" name="Google Shape;664;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 role you are considering</a:t>
            </a:r>
            <a:endParaRPr b="0" i="0" sz="1250" u="none" cap="none" strike="noStrike">
              <a:solidFill>
                <a:schemeClr val="dk1"/>
              </a:solidFill>
              <a:latin typeface="Calibri"/>
              <a:ea typeface="Calibri"/>
              <a:cs typeface="Calibri"/>
              <a:sym typeface="Calibri"/>
            </a:endParaRPr>
          </a:p>
        </p:txBody>
      </p:sp>
      <p:sp>
        <p:nvSpPr>
          <p:cNvPr id="666" name="Google Shape;666;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Does the position exist because of a strategy, or because of one sponsor?</a:t>
            </a:r>
            <a:endParaRPr b="0" i="0" sz="1100" u="none" cap="none" strike="noStrike">
              <a:solidFill>
                <a:schemeClr val="dk1"/>
              </a:solidFill>
              <a:latin typeface="Calibri"/>
              <a:ea typeface="Calibri"/>
              <a:cs typeface="Calibri"/>
              <a:sym typeface="Calibri"/>
            </a:endParaRPr>
          </a:p>
        </p:txBody>
      </p:sp>
      <p:sp>
        <p:nvSpPr>
          <p:cNvPr id="667" name="Google Shape;667;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Either</a:t>
            </a:r>
            <a:endParaRPr b="0" i="0" sz="1250" u="none" cap="none" strike="noStrike">
              <a:solidFill>
                <a:schemeClr val="dk1"/>
              </a:solidFill>
              <a:latin typeface="Calibri"/>
              <a:ea typeface="Calibri"/>
              <a:cs typeface="Calibri"/>
              <a:sym typeface="Calibri"/>
            </a:endParaRPr>
          </a:p>
        </p:txBody>
      </p:sp>
      <p:sp>
        <p:nvSpPr>
          <p:cNvPr id="669" name="Google Shape;669;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Who outside your manager would notice if the function disappeared?</a:t>
            </a:r>
            <a:endParaRPr b="0" i="0" sz="1100" u="none" cap="none" strike="noStrike">
              <a:solidFill>
                <a:schemeClr val="dk1"/>
              </a:solidFill>
              <a:latin typeface="Calibri"/>
              <a:ea typeface="Calibri"/>
              <a:cs typeface="Calibri"/>
              <a:sym typeface="Calibri"/>
            </a:endParaRPr>
          </a:p>
        </p:txBody>
      </p:sp>
      <p:sp>
        <p:nvSpPr>
          <p:cNvPr id="670" name="Google Shape;670;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77" name="Google Shape;677;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AI and Compounding</a:t>
            </a:r>
            <a:endParaRPr b="0" i="0" sz="2600" u="none" cap="none" strike="noStrike">
              <a:solidFill>
                <a:schemeClr val="dk1"/>
              </a:solidFill>
              <a:latin typeface="Calibri"/>
              <a:ea typeface="Calibri"/>
              <a:cs typeface="Calibri"/>
              <a:sym typeface="Calibri"/>
            </a:endParaRPr>
          </a:p>
        </p:txBody>
      </p:sp>
      <p:sp>
        <p:nvSpPr>
          <p:cNvPr id="678" name="Google Shape;678;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two axes. Not a technology session.</a:t>
            </a:r>
            <a:endParaRPr b="0" i="0" sz="1150" u="none" cap="none" strike="noStrike">
              <a:solidFill>
                <a:schemeClr val="dk1"/>
              </a:solidFill>
              <a:latin typeface="Calibri"/>
              <a:ea typeface="Calibri"/>
              <a:cs typeface="Calibri"/>
              <a:sym typeface="Calibri"/>
            </a:endParaRPr>
          </a:p>
        </p:txBody>
      </p:sp>
      <p:sp>
        <p:nvSpPr>
          <p:cNvPr id="679" name="Google Shape;679;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reading does not change</a:t>
            </a:r>
            <a:endParaRPr b="0" i="0" sz="1250" u="none" cap="none" strike="noStrike">
              <a:solidFill>
                <a:schemeClr val="dk1"/>
              </a:solidFill>
              <a:latin typeface="Calibri"/>
              <a:ea typeface="Calibri"/>
              <a:cs typeface="Calibri"/>
              <a:sym typeface="Calibri"/>
            </a:endParaRPr>
          </a:p>
        </p:txBody>
      </p:sp>
      <p:sp>
        <p:nvSpPr>
          <p:cNvPr id="681" name="Google Shape;681;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b="0" i="0" sz="1100" u="none" cap="none" strike="noStrike">
              <a:solidFill>
                <a:schemeClr val="dk1"/>
              </a:solidFill>
              <a:latin typeface="Calibri"/>
              <a:ea typeface="Calibri"/>
              <a:cs typeface="Calibri"/>
              <a:sym typeface="Calibri"/>
            </a:endParaRPr>
          </a:p>
        </p:txBody>
      </p:sp>
      <p:sp>
        <p:nvSpPr>
          <p:cNvPr id="682" name="Google Shape;682;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Density and Optionality do not become less important</a:t>
            </a:r>
            <a:endParaRPr b="0" i="0" sz="1250" u="none" cap="none" strike="noStrike">
              <a:solidFill>
                <a:schemeClr val="dk1"/>
              </a:solidFill>
              <a:latin typeface="Calibri"/>
              <a:ea typeface="Calibri"/>
              <a:cs typeface="Calibri"/>
              <a:sym typeface="Calibri"/>
            </a:endParaRPr>
          </a:p>
        </p:txBody>
      </p:sp>
      <p:sp>
        <p:nvSpPr>
          <p:cNvPr id="684" name="Google Shape;684;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They become more consequential.</a:t>
            </a:r>
            <a:endParaRPr b="0" i="0" sz="1100" u="none" cap="none" strike="noStrike">
              <a:solidFill>
                <a:schemeClr val="dk1"/>
              </a:solidFill>
              <a:latin typeface="Calibri"/>
              <a:ea typeface="Calibri"/>
              <a:cs typeface="Calibri"/>
              <a:sym typeface="Calibri"/>
            </a:endParaRPr>
          </a:p>
        </p:txBody>
      </p:sp>
      <p:sp>
        <p:nvSpPr>
          <p:cNvPr id="685" name="Google Shape;685;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What this is not</a:t>
            </a:r>
            <a:endParaRPr b="0" i="0" sz="1250" u="none" cap="none" strike="noStrike">
              <a:solidFill>
                <a:schemeClr val="dk1"/>
              </a:solidFill>
              <a:latin typeface="Calibri"/>
              <a:ea typeface="Calibri"/>
              <a:cs typeface="Calibri"/>
              <a:sym typeface="Calibri"/>
            </a:endParaRPr>
          </a:p>
        </p:txBody>
      </p:sp>
      <p:sp>
        <p:nvSpPr>
          <p:cNvPr id="687" name="Google Shape;687;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Not a prediction about jobs, tools or timelines. No tool names.</a:t>
            </a:r>
            <a:endParaRPr b="0" i="0" sz="1100" u="none" cap="none" strike="noStrike">
              <a:solidFill>
                <a:schemeClr val="dk1"/>
              </a:solidFill>
              <a:latin typeface="Calibri"/>
              <a:ea typeface="Calibri"/>
              <a:cs typeface="Calibri"/>
              <a:sym typeface="Calibri"/>
            </a:endParaRPr>
          </a:p>
        </p:txBody>
      </p:sp>
      <p:sp>
        <p:nvSpPr>
          <p:cNvPr id="688" name="Google Shape;688;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93" name="Shape 693"/>
        <p:cNvGrpSpPr/>
        <p:nvPr/>
      </p:nvGrpSpPr>
      <p:grpSpPr>
        <a:xfrm>
          <a:off x="0" y="0"/>
          <a:ext cx="0" cy="0"/>
          <a:chOff x="0" y="0"/>
          <a:chExt cx="0" cy="0"/>
        </a:xfrm>
      </p:grpSpPr>
      <p:sp>
        <p:nvSpPr>
          <p:cNvPr id="694" name="Google Shape;694;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95" name="Google Shape;695;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translation actually means</a:t>
            </a:r>
            <a:endParaRPr b="0" i="0" sz="2600" u="none" cap="none" strike="noStrike">
              <a:solidFill>
                <a:schemeClr val="dk1"/>
              </a:solidFill>
              <a:latin typeface="Calibri"/>
              <a:ea typeface="Calibri"/>
              <a:cs typeface="Calibri"/>
              <a:sym typeface="Calibri"/>
            </a:endParaRPr>
          </a:p>
        </p:txBody>
      </p:sp>
      <p:sp>
        <p:nvSpPr>
          <p:cNvPr id="696" name="Google Shape;696;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second move category.</a:t>
            </a:r>
            <a:endParaRPr b="0" i="0" sz="1150" u="none" cap="none" strike="noStrike">
              <a:solidFill>
                <a:schemeClr val="dk1"/>
              </a:solidFill>
              <a:latin typeface="Calibri"/>
              <a:ea typeface="Calibri"/>
              <a:cs typeface="Calibri"/>
              <a:sym typeface="Calibri"/>
            </a:endParaRPr>
          </a:p>
        </p:txBody>
      </p:sp>
      <p:sp>
        <p:nvSpPr>
          <p:cNvPr id="697" name="Google Shape;697;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Legibility is not bragging</a:t>
            </a:r>
            <a:endParaRPr b="0" i="0" sz="1250" u="none" cap="none" strike="noStrike">
              <a:solidFill>
                <a:schemeClr val="dk1"/>
              </a:solidFill>
              <a:latin typeface="Calibri"/>
              <a:ea typeface="Calibri"/>
              <a:cs typeface="Calibri"/>
              <a:sym typeface="Calibri"/>
            </a:endParaRPr>
          </a:p>
        </p:txBody>
      </p:sp>
      <p:sp>
        <p:nvSpPr>
          <p:cNvPr id="699" name="Google Shape;699;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It is evidence translated into language another context can understand.</a:t>
            </a:r>
            <a:endParaRPr b="0" i="0" sz="1100" u="none" cap="none" strike="noStrike">
              <a:solidFill>
                <a:schemeClr val="dk1"/>
              </a:solidFill>
              <a:latin typeface="Calibri"/>
              <a:ea typeface="Calibri"/>
              <a:cs typeface="Calibri"/>
              <a:sym typeface="Calibri"/>
            </a:endParaRPr>
          </a:p>
        </p:txBody>
      </p:sp>
      <p:sp>
        <p:nvSpPr>
          <p:cNvPr id="700" name="Google Shape;700;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02" name="Google Shape;702;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Name the problem, the constraint, what you did, and what changed, without internal vocabulary.</a:t>
            </a:r>
            <a:endParaRPr b="0" i="0" sz="1100" u="none" cap="none" strike="noStrike">
              <a:solidFill>
                <a:schemeClr val="dk1"/>
              </a:solidFill>
              <a:latin typeface="Calibri"/>
              <a:ea typeface="Calibri"/>
              <a:cs typeface="Calibri"/>
              <a:sym typeface="Calibri"/>
            </a:endParaRPr>
          </a:p>
        </p:txBody>
      </p:sp>
      <p:sp>
        <p:nvSpPr>
          <p:cNvPr id="703" name="Google Shape;703;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Why it matters</a:t>
            </a:r>
            <a:endParaRPr b="0" i="0" sz="1250" u="none" cap="none" strike="noStrike">
              <a:solidFill>
                <a:schemeClr val="dk1"/>
              </a:solidFill>
              <a:latin typeface="Calibri"/>
              <a:ea typeface="Calibri"/>
              <a:cs typeface="Calibri"/>
              <a:sym typeface="Calibri"/>
            </a:endParaRPr>
          </a:p>
        </p:txBody>
      </p:sp>
      <p:sp>
        <p:nvSpPr>
          <p:cNvPr id="705" name="Google Shape;705;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100" u="none" cap="none" strike="noStrike">
              <a:solidFill>
                <a:schemeClr val="dk1"/>
              </a:solidFill>
              <a:latin typeface="Calibri"/>
              <a:ea typeface="Calibri"/>
              <a:cs typeface="Calibri"/>
              <a:sym typeface="Calibri"/>
            </a:endParaRPr>
          </a:p>
        </p:txBody>
      </p:sp>
      <p:sp>
        <p:nvSpPr>
          <p:cNvPr id="706" name="Google Shape;706;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11" name="Shape 711"/>
        <p:cNvGrpSpPr/>
        <p:nvPr/>
      </p:nvGrpSpPr>
      <p:grpSpPr>
        <a:xfrm>
          <a:off x="0" y="0"/>
          <a:ext cx="0" cy="0"/>
          <a:chOff x="0" y="0"/>
          <a:chExt cx="0" cy="0"/>
        </a:xfrm>
      </p:grpSpPr>
      <p:sp>
        <p:nvSpPr>
          <p:cNvPr id="712" name="Google Shape;712;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713" name="Google Shape;713;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Promotion and formation</a:t>
            </a:r>
            <a:endParaRPr b="0" i="0" sz="2600" u="none" cap="none" strike="noStrike">
              <a:solidFill>
                <a:schemeClr val="dk1"/>
              </a:solidFill>
              <a:latin typeface="Calibri"/>
              <a:ea typeface="Calibri"/>
              <a:cs typeface="Calibri"/>
              <a:sym typeface="Calibri"/>
            </a:endParaRPr>
          </a:p>
        </p:txBody>
      </p:sp>
      <p:sp>
        <p:nvSpPr>
          <p:cNvPr id="714" name="Google Shape;714;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same misreading, in the place it is hardest to see.</a:t>
            </a:r>
            <a:endParaRPr b="0" i="0" sz="1150" u="none" cap="none" strike="noStrike">
              <a:solidFill>
                <a:schemeClr val="dk1"/>
              </a:solidFill>
              <a:latin typeface="Calibri"/>
              <a:ea typeface="Calibri"/>
              <a:cs typeface="Calibri"/>
              <a:sym typeface="Calibri"/>
            </a:endParaRPr>
          </a:p>
        </p:txBody>
      </p:sp>
      <p:sp>
        <p:nvSpPr>
          <p:cNvPr id="715" name="Google Shape;715;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tension</a:t>
            </a:r>
            <a:endParaRPr b="0" i="0" sz="1250" u="none" cap="none" strike="noStrike">
              <a:solidFill>
                <a:schemeClr val="dk1"/>
              </a:solidFill>
              <a:latin typeface="Calibri"/>
              <a:ea typeface="Calibri"/>
              <a:cs typeface="Calibri"/>
              <a:sym typeface="Calibri"/>
            </a:endParaRPr>
          </a:p>
        </p:txBody>
      </p:sp>
      <p:sp>
        <p:nvSpPr>
          <p:cNvPr id="717" name="Google Shape;717;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promotion can increase responsibility, visibility and dependence while reducing formation.</a:t>
            </a:r>
            <a:endParaRPr b="0" i="0" sz="1100" u="none" cap="none" strike="noStrike">
              <a:solidFill>
                <a:schemeClr val="dk1"/>
              </a:solidFill>
              <a:latin typeface="Calibri"/>
              <a:ea typeface="Calibri"/>
              <a:cs typeface="Calibri"/>
              <a:sym typeface="Calibri"/>
            </a:endParaRPr>
          </a:p>
        </p:txBody>
      </p:sp>
      <p:sp>
        <p:nvSpPr>
          <p:cNvPr id="718" name="Google Shape;718;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20" name="Google Shape;720;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high performer moves into approvals, representation and familiar judgment: more scope, fewer unfamiliar problems.</a:t>
            </a:r>
            <a:endParaRPr b="0" i="0" sz="1100" u="none" cap="none" strike="noStrike">
              <a:solidFill>
                <a:schemeClr val="dk1"/>
              </a:solidFill>
              <a:latin typeface="Calibri"/>
              <a:ea typeface="Calibri"/>
              <a:cs typeface="Calibri"/>
              <a:sym typeface="Calibri"/>
            </a:endParaRPr>
          </a:p>
        </p:txBody>
      </p:sp>
      <p:sp>
        <p:nvSpPr>
          <p:cNvPr id="721" name="Google Shape;721;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test</a:t>
            </a:r>
            <a:endParaRPr b="0" i="0" sz="1250" u="none" cap="none" strike="noStrike">
              <a:solidFill>
                <a:schemeClr val="dk1"/>
              </a:solidFill>
              <a:latin typeface="Calibri"/>
              <a:ea typeface="Calibri"/>
              <a:cs typeface="Calibri"/>
              <a:sym typeface="Calibri"/>
            </a:endParaRPr>
          </a:p>
        </p:txBody>
      </p:sp>
      <p:sp>
        <p:nvSpPr>
          <p:cNvPr id="723" name="Google Shape;723;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capability do you have now that you did not have before your responsibilities increased?</a:t>
            </a:r>
            <a:endParaRPr b="0" i="0" sz="1100" u="none" cap="none" strike="noStrike">
              <a:solidFill>
                <a:schemeClr val="dk1"/>
              </a:solidFill>
              <a:latin typeface="Calibri"/>
              <a:ea typeface="Calibri"/>
              <a:cs typeface="Calibri"/>
              <a:sym typeface="Calibri"/>
            </a:endParaRPr>
          </a:p>
        </p:txBody>
      </p:sp>
      <p:sp>
        <p:nvSpPr>
          <p:cNvPr id="724" name="Google Shape;724;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9" name="Shape 729"/>
        <p:cNvGrpSpPr/>
        <p:nvPr/>
      </p:nvGrpSpPr>
      <p:grpSpPr>
        <a:xfrm>
          <a:off x="0" y="0"/>
          <a:ext cx="0" cy="0"/>
          <a:chOff x="0" y="0"/>
          <a:chExt cx="0" cy="0"/>
        </a:xfrm>
      </p:grpSpPr>
      <p:sp>
        <p:nvSpPr>
          <p:cNvPr id="730" name="Google Shape;730;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INSTITUTIONAL DELIVERY CLOSE  ·  OPTIONAL</a:t>
            </a:r>
            <a:endParaRPr b="0" i="0" sz="900" u="none" cap="none" strike="noStrike">
              <a:solidFill>
                <a:schemeClr val="dk1"/>
              </a:solidFill>
              <a:latin typeface="Calibri"/>
              <a:ea typeface="Calibri"/>
              <a:cs typeface="Calibri"/>
              <a:sym typeface="Calibri"/>
            </a:endParaRPr>
          </a:p>
        </p:txBody>
      </p:sp>
      <p:sp>
        <p:nvSpPr>
          <p:cNvPr id="731" name="Google Shape;731;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has the journey built in you?</a:t>
            </a:r>
            <a:endParaRPr b="0" i="0" sz="2900" u="none" cap="none" strike="noStrike">
              <a:solidFill>
                <a:schemeClr val="dk1"/>
              </a:solidFill>
              <a:latin typeface="Calibri"/>
              <a:ea typeface="Calibri"/>
              <a:cs typeface="Calibri"/>
              <a:sym typeface="Calibri"/>
            </a:endParaRPr>
          </a:p>
        </p:txBody>
      </p:sp>
      <p:sp>
        <p:nvSpPr>
          <p:cNvPr id="732" name="Google Shape;732;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remains useful when the context changes?</a:t>
            </a:r>
            <a:endParaRPr b="0" i="0" sz="2900" u="none" cap="none" strike="noStrike">
              <a:solidFill>
                <a:schemeClr val="dk1"/>
              </a:solidFill>
              <a:latin typeface="Calibri"/>
              <a:ea typeface="Calibri"/>
              <a:cs typeface="Calibri"/>
              <a:sym typeface="Calibri"/>
            </a:endParaRPr>
          </a:p>
        </p:txBody>
      </p:sp>
      <p:sp>
        <p:nvSpPr>
          <p:cNvPr id="733" name="Google Shape;733;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can you do somewhere else?</a:t>
            </a:r>
            <a:endParaRPr b="0" i="0" sz="2900" u="none" cap="none" strike="noStrike">
              <a:solidFill>
                <a:schemeClr val="dk1"/>
              </a:solidFill>
              <a:latin typeface="Calibri"/>
              <a:ea typeface="Calibri"/>
              <a:cs typeface="Calibri"/>
              <a:sym typeface="Calibri"/>
            </a:endParaRPr>
          </a:p>
        </p:txBody>
      </p:sp>
      <p:sp>
        <p:nvSpPr>
          <p:cNvPr id="734" name="Google Shape;734;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000"/>
              <a:buFont typeface="Montserrat"/>
              <a:buNone/>
            </a:pPr>
            <a:r>
              <a:rPr b="1" i="0" lang="en-US" sz="1000" u="none" cap="none" strike="noStrike">
                <a:solidFill>
                  <a:srgbClr val="B8C5D9"/>
                </a:solidFill>
                <a:latin typeface="Montserrat"/>
                <a:ea typeface="Montserrat"/>
                <a:cs typeface="Montserrat"/>
                <a:sym typeface="Montserrat"/>
              </a:rPr>
              <a:t>Capability Formation  ·  Temidayo Afonja  ·  The Density Group</a:t>
            </a:r>
            <a:endParaRPr b="0" i="0" sz="1000" u="none" cap="none" strike="noStrike">
              <a:solidFill>
                <a:schemeClr val="dk1"/>
              </a:solidFill>
              <a:latin typeface="Calibri"/>
              <a:ea typeface="Calibri"/>
              <a:cs typeface="Calibri"/>
              <a:sym typeface="Calibri"/>
            </a:endParaRPr>
          </a:p>
        </p:txBody>
      </p:sp>
      <p:sp>
        <p:nvSpPr>
          <p:cNvPr id="736" name="Google Shape;736;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41" name="Shape 741"/>
        <p:cNvGrpSpPr/>
        <p:nvPr/>
      </p:nvGrpSpPr>
      <p:grpSpPr>
        <a:xfrm>
          <a:off x="0" y="0"/>
          <a:ext cx="0" cy="0"/>
          <a:chOff x="0" y="0"/>
          <a:chExt cx="0" cy="0"/>
        </a:xfrm>
      </p:grpSpPr>
      <p:sp>
        <p:nvSpPr>
          <p:cNvPr id="742" name="Google Shape;742;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OPTIONAL  ·  NOT PART OF THE TIMED CORE</a:t>
            </a:r>
            <a:endParaRPr b="0" i="0" sz="950" u="none" cap="none" strike="noStrike">
              <a:solidFill>
                <a:schemeClr val="dk1"/>
              </a:solidFill>
              <a:latin typeface="Calibri"/>
              <a:ea typeface="Calibri"/>
              <a:cs typeface="Calibri"/>
              <a:sym typeface="Calibri"/>
            </a:endParaRPr>
          </a:p>
        </p:txBody>
      </p:sp>
      <p:sp>
        <p:nvSpPr>
          <p:cNvPr id="743" name="Google Shape;743;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744" name="Google Shape;744;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One anonymous response. No score, state, employer, or identifying information is requested.</a:t>
            </a:r>
            <a:endParaRPr b="0" i="0" sz="1150" u="none" cap="none" strike="noStrike">
              <a:solidFill>
                <a:schemeClr val="dk1"/>
              </a:solidFill>
              <a:latin typeface="Calibri"/>
              <a:ea typeface="Calibri"/>
              <a:cs typeface="Calibri"/>
              <a:sym typeface="Calibri"/>
            </a:endParaRPr>
          </a:p>
        </p:txBody>
      </p:sp>
      <p:sp>
        <p:nvSpPr>
          <p:cNvPr id="745" name="Google Shape;745;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747" name="Google Shape;747;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749" name="Google Shape;749;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751" name="Google Shape;751;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753" name="Google Shape;753;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755" name="Google Shape;755;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756" name="Google Shape;756;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61" name="Shape 761"/>
        <p:cNvGrpSpPr/>
        <p:nvPr/>
      </p:nvGrpSpPr>
      <p:grpSpPr>
        <a:xfrm>
          <a:off x="0" y="0"/>
          <a:ext cx="0" cy="0"/>
          <a:chOff x="0" y="0"/>
          <a:chExt cx="0" cy="0"/>
        </a:xfrm>
      </p:grpSpPr>
      <p:sp>
        <p:nvSpPr>
          <p:cNvPr id="762" name="Google Shape;762;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763" name="Google Shape;763;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Stay or Leave?</a:t>
            </a:r>
            <a:endParaRPr b="0" i="0" sz="3200" u="none" cap="none" strike="noStrike">
              <a:solidFill>
                <a:schemeClr val="dk1"/>
              </a:solidFill>
              <a:latin typeface="Calibri"/>
              <a:ea typeface="Calibri"/>
              <a:cs typeface="Calibri"/>
              <a:sym typeface="Calibri"/>
            </a:endParaRPr>
          </a:p>
        </p:txBody>
      </p:sp>
      <p:sp>
        <p:nvSpPr>
          <p:cNvPr id="764" name="Google Shape;764;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400"/>
              <a:buFont typeface="DM Sans"/>
              <a:buNone/>
            </a:pPr>
            <a:r>
              <a:rPr b="0" i="0" lang="en-US" sz="1400" u="none" cap="none" strike="noStrike">
                <a:solidFill>
                  <a:srgbClr val="B8C5D9"/>
                </a:solidFill>
                <a:latin typeface="DM Sans"/>
                <a:ea typeface="DM Sans"/>
                <a:cs typeface="DM Sans"/>
                <a:sym typeface="DM Sans"/>
              </a:rPr>
              <a:t>Live Career Growth Assessment  ·  The Capability Position Read</a:t>
            </a:r>
            <a:endParaRPr b="0" i="0" sz="1400" u="none" cap="none" strike="noStrike">
              <a:solidFill>
                <a:schemeClr val="dk1"/>
              </a:solidFill>
              <a:latin typeface="Calibri"/>
              <a:ea typeface="Calibri"/>
              <a:cs typeface="Calibri"/>
              <a:sym typeface="Calibri"/>
            </a:endParaRPr>
          </a:p>
        </p:txBody>
      </p:sp>
      <p:sp>
        <p:nvSpPr>
          <p:cNvPr id="765" name="Google Shape;765;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6" name="Google Shape;766;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1" i="0" lang="en-US" sz="2400" u="none" cap="none" strike="noStrike">
                <a:solidFill>
                  <a:srgbClr val="C9A84C"/>
                </a:solidFill>
                <a:latin typeface="Cormorant Garamond"/>
                <a:ea typeface="Cormorant Garamond"/>
                <a:cs typeface="Cormorant Garamond"/>
                <a:sym typeface="Cormorant Garamond"/>
              </a:rPr>
              <a:t>Wednesday, September 23, 2026</a:t>
            </a:r>
            <a:endParaRPr b="0" i="0" sz="2400" u="none" cap="none" strike="noStrike">
              <a:solidFill>
                <a:schemeClr val="dk1"/>
              </a:solidFill>
              <a:latin typeface="Calibri"/>
              <a:ea typeface="Calibri"/>
              <a:cs typeface="Calibri"/>
              <a:sym typeface="Calibri"/>
            </a:endParaRPr>
          </a:p>
        </p:txBody>
      </p:sp>
      <p:sp>
        <p:nvSpPr>
          <p:cNvPr id="767" name="Google Shape;767;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300"/>
              <a:buFont typeface="DM Sans"/>
              <a:buNone/>
            </a:pPr>
            <a:r>
              <a:rPr b="0" i="0" lang="en-US" sz="1300" u="none" cap="none" strike="noStrike">
                <a:solidFill>
                  <a:srgbClr val="B8C5D9"/>
                </a:solidFill>
                <a:latin typeface="DM Sans"/>
                <a:ea typeface="DM Sans"/>
                <a:cs typeface="DM Sans"/>
                <a:sym typeface="DM Sans"/>
              </a:rPr>
              <a:t>6:00–7:00 PM Central Time  ·  Free  ·  60 minutes  ·  We begin shortly</a:t>
            </a:r>
            <a:endParaRPr b="0" i="0" sz="1300" u="none" cap="none" strike="noStrike">
              <a:solidFill>
                <a:schemeClr val="dk1"/>
              </a:solidFill>
              <a:latin typeface="Calibri"/>
              <a:ea typeface="Calibri"/>
              <a:cs typeface="Calibri"/>
              <a:sym typeface="Calibri"/>
            </a:endParaRPr>
          </a:p>
        </p:txBody>
      </p:sp>
      <p:sp>
        <p:nvSpPr>
          <p:cNvPr id="768" name="Google Shape;768;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150"/>
              <a:buFont typeface="DM Sans"/>
              <a:buNone/>
            </a:pPr>
            <a:r>
              <a:rPr b="0" i="1" lang="en-US" sz="1150" u="none" cap="none" strike="noStrike">
                <a:solidFill>
                  <a:srgbClr val="B8C5D9"/>
                </a:solidFill>
                <a:latin typeface="DM Sans"/>
                <a:ea typeface="DM Sans"/>
                <a:cs typeface="DM Sans"/>
                <a:sym typeface="DM Sans"/>
              </a:rPr>
              <a:t>Have the workbook open. Nothing is submitted or collected at any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73" name="Shape 773"/>
        <p:cNvGrpSpPr/>
        <p:nvPr/>
      </p:nvGrpSpPr>
      <p:grpSpPr>
        <a:xfrm>
          <a:off x="0" y="0"/>
          <a:ext cx="0" cy="0"/>
          <a:chOff x="0" y="0"/>
          <a:chExt cx="0" cy="0"/>
        </a:xfrm>
      </p:grpSpPr>
      <p:sp>
        <p:nvSpPr>
          <p:cNvPr id="774" name="Google Shape;774;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1250" u="none" cap="none" strike="noStrike">
                <a:solidFill>
                  <a:srgbClr val="C9A84C"/>
                </a:solidFill>
                <a:latin typeface="Montserrat"/>
                <a:ea typeface="Montserrat"/>
                <a:cs typeface="Montserrat"/>
                <a:sym typeface="Montserrat"/>
              </a:rPr>
              <a:t>THE MATRIX</a:t>
            </a:r>
            <a:endParaRPr b="0" i="0" sz="1250" u="none" cap="none" strike="noStrike">
              <a:solidFill>
                <a:schemeClr val="dk1"/>
              </a:solidFill>
              <a:latin typeface="Calibri"/>
              <a:ea typeface="Calibri"/>
              <a:cs typeface="Calibri"/>
              <a:sym typeface="Calibri"/>
            </a:endParaRPr>
          </a:p>
        </p:txBody>
      </p:sp>
      <p:sp>
        <p:nvSpPr>
          <p:cNvPr id="775" name="Google Shape;775;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776" name="Google Shape;776;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777" name="Google Shape;777;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779" name="Google Shape;779;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Deep expertise fused to one context.</a:t>
            </a:r>
            <a:endParaRPr b="0" i="0" sz="1200" u="none" cap="none" strike="noStrike">
              <a:solidFill>
                <a:schemeClr val="dk1"/>
              </a:solidFill>
              <a:latin typeface="Calibri"/>
              <a:ea typeface="Calibri"/>
              <a:cs typeface="Calibri"/>
              <a:sym typeface="Calibri"/>
            </a:endParaRPr>
          </a:p>
        </p:txBody>
      </p:sp>
      <p:sp>
        <p:nvSpPr>
          <p:cNvPr id="780" name="Google Shape;780;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782" name="Google Shape;782;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300" u="none" cap="none" strike="noStrike">
                <a:solidFill>
                  <a:srgbClr val="B8C5D9"/>
                </a:solidFill>
                <a:latin typeface="DM Sans"/>
                <a:ea typeface="DM Sans"/>
                <a:cs typeface="DM Sans"/>
                <a:sym typeface="DM Sans"/>
              </a:rPr>
              <a:t>Deep capability that travels.</a:t>
            </a:r>
            <a:endParaRPr b="1" i="0" sz="1300" u="none" cap="none" strike="noStrike">
              <a:solidFill>
                <a:schemeClr val="dk1"/>
              </a:solidFill>
              <a:latin typeface="Calibri"/>
              <a:ea typeface="Calibri"/>
              <a:cs typeface="Calibri"/>
              <a:sym typeface="Calibri"/>
            </a:endParaRPr>
          </a:p>
        </p:txBody>
      </p:sp>
      <p:sp>
        <p:nvSpPr>
          <p:cNvPr id="783" name="Google Shape;783;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785" name="Google Shape;785;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work stopped asking more of you.</a:t>
            </a:r>
            <a:endParaRPr b="0" i="0" sz="1100" u="none" cap="none" strike="noStrike">
              <a:solidFill>
                <a:schemeClr val="dk1"/>
              </a:solidFill>
              <a:latin typeface="Calibri"/>
              <a:ea typeface="Calibri"/>
              <a:cs typeface="Calibri"/>
              <a:sym typeface="Calibri"/>
            </a:endParaRPr>
          </a:p>
        </p:txBody>
      </p:sp>
      <p:sp>
        <p:nvSpPr>
          <p:cNvPr id="786" name="Google Shape;786;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788" name="Google Shape;788;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Options on paper, not enough depth beneath.</a:t>
            </a:r>
            <a:endParaRPr b="0" i="0" sz="1200" u="none" cap="none" strike="noStrike">
              <a:solidFill>
                <a:schemeClr val="dk1"/>
              </a:solidFill>
              <a:latin typeface="Calibri"/>
              <a:ea typeface="Calibri"/>
              <a:cs typeface="Calibri"/>
              <a:sym typeface="Calibri"/>
            </a:endParaRPr>
          </a:p>
        </p:txBody>
      </p:sp>
      <p:sp>
        <p:nvSpPr>
          <p:cNvPr id="789" name="Google Shape;789;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790" name="Google Shape;790;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791" name="Google Shape;791;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792" name="Google Shape;792;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793" name="Google Shape;793;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794" name="Google Shape;794;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Neither axis is moving.</a:t>
            </a:r>
            <a:endParaRPr b="0" i="0" sz="1100" u="none" cap="none" strike="noStrike">
              <a:solidFill>
                <a:schemeClr val="dk1"/>
              </a:solidFill>
              <a:latin typeface="Calibri"/>
              <a:ea typeface="Calibri"/>
              <a:cs typeface="Calibri"/>
              <a:sym typeface="Calibri"/>
            </a:endParaRPr>
          </a:p>
        </p:txBody>
      </p:sp>
      <p:sp>
        <p:nvSpPr>
          <p:cNvPr id="795" name="Google Shape;795;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you built travels. It is just not being added to.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