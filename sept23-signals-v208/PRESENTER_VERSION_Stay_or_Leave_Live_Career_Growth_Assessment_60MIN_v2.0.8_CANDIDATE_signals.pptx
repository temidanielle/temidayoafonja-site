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96" r:id="rId58"/>
    <p:sldId id="297" r:id="rId59"/>
    <p:sldId id="298" r:id="rId60"/>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y="5143500" cx="9144000"/>
  <p:notesSz cx="5143500" cy="9144000"/>
  <p:embeddedFontLst>
    <p:embeddedFont>
      <p:font typeface="Cormorant Garamond"/>
      <p:regular r:id="rId45"/>
      <p:bold r:id="rId46"/>
      <p:italic r:id="rId47"/>
      <p:boldItalic r:id="rId48"/>
    </p:embeddedFont>
    <p:embeddedFont>
      <p:font typeface="Montserrat"/>
      <p:regular r:id="rId49"/>
      <p:bold r:id="rId50"/>
      <p:italic r:id="rId51"/>
      <p:boldItalic r:id="rId52"/>
    </p:embeddedFont>
    <p:embeddedFont>
      <p:font typeface="DM Sans"/>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7" roundtripDataSignature="AMtx7mhQTHdQxO/Tz/5Dji6BoiR1EHK3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font" Target="fonts/CormorantGaramond-regular.fntdata"/><Relationship Id="rId46" Type="http://schemas.openxmlformats.org/officeDocument/2006/relationships/font" Target="fonts/CormorantGaramond-bold.fntdata"/><Relationship Id="rId47" Type="http://schemas.openxmlformats.org/officeDocument/2006/relationships/font" Target="fonts/CormorantGaramond-italic.fntdata"/><Relationship Id="rId48" Type="http://schemas.openxmlformats.org/officeDocument/2006/relationships/font" Target="fonts/CormorantGaramond-boldItalic.fntdata"/><Relationship Id="rId49" Type="http://schemas.openxmlformats.org/officeDocument/2006/relationships/font" Target="fonts/Montserrat-regular.fntdata"/><Relationship Id="rId50" Type="http://schemas.openxmlformats.org/officeDocument/2006/relationships/font" Target="fonts/Montserrat-bold.fntdata"/><Relationship Id="rId51" Type="http://schemas.openxmlformats.org/officeDocument/2006/relationships/font" Target="fonts/Montserrat-italic.fntdata"/><Relationship Id="rId52" Type="http://schemas.openxmlformats.org/officeDocument/2006/relationships/font" Target="fonts/Montserrat-boldItalic.fntdata"/><Relationship Id="rId53" Type="http://schemas.openxmlformats.org/officeDocument/2006/relationships/font" Target="fonts/DMSans-regular.fntdata"/><Relationship Id="rId54" Type="http://schemas.openxmlformats.org/officeDocument/2006/relationships/font" Target="fonts/DMSans-bold.fntdata"/><Relationship Id="rId55" Type="http://schemas.openxmlformats.org/officeDocument/2006/relationships/font" Target="fonts/DMSans-italic.fntdata"/><Relationship Id="rId56" Type="http://schemas.openxmlformats.org/officeDocument/2006/relationships/font" Target="fonts/DMSans-boldItalic.fntdata"/><Relationship Id="rId57" Type="http://customschemas.google.com/relationships/presentationmetadata" Target="metadata"/><Relationship Id="rId58" Type="http://schemas.openxmlformats.org/officeDocument/2006/relationships/slide" Target="slides/slide41.xml"/><Relationship Id="rId59" Type="http://schemas.openxmlformats.org/officeDocument/2006/relationships/slide" Target="slides/slide42.xml"/><Relationship Id="rId6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g3fbec47727c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g3fbec47727c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START THE RECORDING ON THIS SLIDE. This is the first evergreen teaching slide. The dated holding slide is shown BEFORE recording begins and is never recorded.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0:00-0:30. THIRTY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welcome, name the session, name the method, state the duration. Thirty seconds, and biography is capped at TWO SENTENCES. The lived example that earns the method comes on the next slide, so do not start it 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WHAT TO SAY: "This is a live guided assessment. In the next fifty minutes you will read your own position twice, once from memory and once against evidence, and leave with a note about what your evidence supports testing next. The last ten minutes are live questions and are not recorded."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EVERGREEN-SAFE: no date on this slide by design.</a:t>
            </a:r>
            <a:endParaRPr/>
          </a:p>
        </p:txBody>
      </p:sp>
      <p:sp>
        <p:nvSpPr>
          <p:cNvPr id="18" name="Google Shape;18;g3fbec47727c_0_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g3fbec47727c_0_81:notes"/>
          <p:cNvSpPr/>
          <p:nvPr>
            <p:ph idx="2" type="sldImg"/>
          </p:nvPr>
        </p:nvSpPr>
        <p:spPr>
          <a:xfrm>
            <a:off x="-3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 name="Google Shape;31;g3fbec47727c_0_81:notes"/>
          <p:cNvSpPr txBox="1"/>
          <p:nvPr>
            <p:ph idx="1" type="body"/>
          </p:nvPr>
        </p:nvSpPr>
        <p:spPr>
          <a:xfrm>
            <a:off x="0" y="0"/>
            <a:ext cx="225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TIMING: 1:00-3:00.</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WHAT TO SAY: two sentences of biography, then the question. The point of the list of fields is not breadth for its own sake — it is that the same person kept having to work out what carried over.</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WORKED EXAMPLE — use if it lands naturally, do not force it: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 entered privacy as a Senior Consultant. I did not start at entry level, but I did have a learning curve. Audit had already taught me evidence, controls and risk. Cybersecurity language, frameworks and context had to be learned. That distinction between what travels and what must be relearned is part of what we are doing today.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WHAT NOT TO SAY: do not describe yourself as industry agnostic. Do not list employers or clients. Do not turn this into a credentials slide.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PARTICIPANT ACTION: listening.</a:t>
            </a:r>
            <a:endParaRPr/>
          </a:p>
        </p:txBody>
      </p:sp>
      <p:sp>
        <p:nvSpPr>
          <p:cNvPr id="32" name="Google Shape;32;g3fbec47727c_0_81:notes"/>
          <p:cNvSpPr txBox="1"/>
          <p:nvPr>
            <p:ph idx="12" type="sldNum"/>
          </p:nvPr>
        </p:nvSpPr>
        <p:spPr>
          <a:xfrm>
            <a:off x="0" y="0"/>
            <a:ext cx="225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0:30-1:20. FIFTY SECONDS. The reframe is the first fifteen. The rest is the story below.</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read both boxes, then go straight into the story and let the story do the landing. Fifteen seconds on the reframe, the rest on the warrant. Recognition before terminology: the room needs to have heard one real example of what travels and what does not before Density and Optionality arrive as words.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SPOKEN WARRANT - SAY IT, DO NOT SKIP IT. Approximately thirty to forty-five seconds, and no longer:</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"When I moved from audit into cybersecurity, I did not start from zero. Evidence, controls and risk travelled with me. Cybersecurity language, privacy frameworks and technical context did not. Portability was not plug-and-play. Something important came with me, and the new context still required real relearning."</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Then land the point in one line: I did not start from zero, and I did not carry everything either.</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 NOT ADD TO THE STORY. No dates, no employers, no metrics, no reactions, no reason for the move, no outcome, and nothing further about what transferred. This is warrant, not biography. If you find yourself explaining the move, you have already gone too long.</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 not answer the stay/leave question. Say plainly that the session reads the position underneath it.</a:t>
            </a:r>
            <a:endParaRPr/>
          </a:p>
        </p:txBody>
      </p:sp>
      <p:sp>
        <p:nvSpPr>
          <p:cNvPr id="48" name="Google Shape;4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h11f538478445b104_2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h11f538478445b104_2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 THIS IS THE RECORDING AND PRIVACY DISCLOSURE. It must be delivered inside the first five minutes. Deliver it here, at minute 1:20.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1:20-2:00. FORTY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deliver the disclosure, name the boundary, point at the workbook, move. Forty seconds total. Do not let this become a preamble.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SAY IT ONCE, CALMLY, AND DO NOT EXPAND IT INTO A DISCLAIMER: "The teaching portion is recorded so people can revisit the method. Your scores and your private workbook stay yours. The live Q&amp;A at the end is not part of the evergreen replay."</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WORKBOOK: page 1 carries the same boundary and privacy language. Tell the room the workbook is open in full from the start. Nothing is released in stages.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Participant microphones are muted by default for the whole recorded core.</a:t>
            </a:r>
            <a:endParaRPr/>
          </a:p>
        </p:txBody>
      </p:sp>
      <p:sp>
        <p:nvSpPr>
          <p:cNvPr id="64" name="Google Shape;64;h11f538478445b104_2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38333402142a079_2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h38333402142a079_2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 — THIS IS THE LAST RECORDED SLIDE.  WORKBOOK PAGE 8 (rescore date line).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47:00-50:00. The close is delivered 47:00-48:00; 48:00-50:00 is FACILITATION BUFFER and this slide holds.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this close returns to the question the session opened with. Say it plainly and at the pace of ordinary speech. It is not a motivational ending, there is no call to believe in yourself, and it does not need lifting.</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WHAT TO SAY, close to the slide: you came in with a stay-or-leave question, I have not made that decision for you and I should not, and what you have now is a clearer read of what this work is building, what may travel, where the evidence is thin and what deserves testing next. Then the rescore date.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you are on time, use the buffer to restate the rescore date instruction and let the room finish writing. If you are behind, the buffer is where you absorb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EVERGREEN-SAFE CLOSE. Do NOT say "tonight", "this cohort", "September 23", or "before enrollment closes". This has to work for someone watching the replay months from now.</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AT 50:00 — STOP THE RECORDING BEFORE ADVANCING. STOP IT; DO NOT PAUSE IT. Look at the screen and confirm it has actually stopped before the first question is taken. If the platform records the whole meeting automatically, keep the raw file private and trim the distributed replay to end 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PRE-SESSION: if the Maven/Zoom integration starts recording automatically when the host enters early, PAUSE during the pre-session holding period, then start or resume on slide 1 at 6:00 PM CT and STOP at 6:50 PM CT. Pausing belongs to the pre-session window only. The distributed recording must contain minutes 0-50 and nothing else.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Then say out loud that the recording has stopped, and only then advance.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OFF.</a:t>
            </a:r>
            <a:endParaRPr/>
          </a:p>
        </p:txBody>
      </p:sp>
      <p:sp>
        <p:nvSpPr>
          <p:cNvPr id="84" name="Google Shape;84;h38333402142a079_2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h38333402142a079_2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h38333402142a079_2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2:00-3:30. NINETY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ask the question on the slide first and let it sit for a beat. Only then give it the name. The room recognizes the question before it learns the word.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WHAT TO SAY, in your own words: is the work still asking more of your judgment than it used to? That is what Density reads. It is about your conditions, not your effort, which is why a role can be demanding and important and still stop forming you.</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Give the one correction that matters, that busy is not the same as forming, and stop. The full teaching treatment is downstream, not 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 not take questions on the definition now. Say they will make more sense once people have scored.</a:t>
            </a:r>
            <a:endParaRPr/>
          </a:p>
        </p:txBody>
      </p:sp>
      <p:sp>
        <p:nvSpPr>
          <p:cNvPr id="92" name="Google Shape;92;h38333402142a079_2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38333402142a079_2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h38333402142a079_2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3:30-5:00. NINETY SECONDS.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same shape as the last slide. Ask the question, let it sit, then name it. The story on slide 2 was the warrant for this slide, so you can refer back to it in a phrase rather than retelling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WHAT TO SAY, in your own words: would what you are building still be useful somewhere else, and could you make it legible to someone outside your organization using evidence rather than your title? That is Optionality.</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SAY THE BOUNDARY AS WRITTEN. A low score is not a verdict on ability, and translation is not recognition. Making your capability legible removes a barrier. It does not decide what another organization does with what it sees, and this session does not predict hiring, promotion, sponsorship or pay.</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THE ROOM WANTS THE CAUSES, they are taught at slide 15 and in the appendix: a low score may mean the capability is context-bound, that the evidence is hard to read from outside, or that the right people have not seen the work. Do not rank them and do not imply one is more common than another. This session has no measurement that supports a prevalence claim.</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Next slide begins the private scoring. Tell the room to have the workbook open at page 2.</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WHAT THE OPTIONALITY SCORE IS, AND SAY THIS ONCE IF IT COMES UP: the six statements are a composite reading of portability conditions and signals. They are not a prediction. Nothing on this axis forecasts that another employer will value, hire, promote or pay anyone. If someone treats the number as a market verdict, correct it plainly: it reads the conditions you are working in, not a decision nobody has made yet.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INTERNAL, NOT FOR THE ROOM: statements 7, 10 and 12 carry anticipated employer valuation, visibility and a one-year forecast, which sit less cleanly inside that reading than the other three. They are recorded in the change log as a post-September-23 instrument-review item. Do NOT reword them in delivery: the statements are locked and the workbook is built on them.</a:t>
            </a:r>
            <a:endParaRPr/>
          </a:p>
        </p:txBody>
      </p:sp>
      <p:sp>
        <p:nvSpPr>
          <p:cNvPr id="106" name="Google Shape;106;h38333402142a079_2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 PRIVATE WRITING.  WORKBOOK PAGE 2.</a:t>
            </a:r>
            <a:br>
              <a:rPr lang="en-US"/>
            </a:br>
            <a:br>
              <a:rPr lang="en-US"/>
            </a:br>
            <a:r>
              <a:rPr lang="en-US"/>
              <a:t>TIMING: 5:00-6:40.</a:t>
            </a:r>
            <a:br>
              <a:rPr lang="en-US"/>
            </a:br>
            <a:br>
              <a:rPr lang="en-US"/>
            </a:br>
            <a:r>
              <a:rPr lang="en-US"/>
              <a:t>FACILITATION: One hundred seconds. Read each statement once, then stay silent while people score. Do not fill the silence.</a:t>
            </a:r>
            <a:br>
              <a:rPr lang="en-US"/>
            </a:br>
            <a:br>
              <a:rPr lang="en-US"/>
            </a:br>
            <a:r>
              <a:rPr lang="en-US"/>
              <a:t>WHAT TO SAY: score each statement 1 to 5 against the last ninety days only. No evidence line yet — that is deliberate, and you will see why.</a:t>
            </a:r>
            <a:endParaRPr/>
          </a:p>
        </p:txBody>
      </p:sp>
      <p:sp>
        <p:nvSpPr>
          <p:cNvPr id="119" name="Google Shape;1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 PRIVATE WRITING.  WORKBOOK PAGE 2.</a:t>
            </a:r>
            <a:br>
              <a:rPr lang="en-US"/>
            </a:br>
            <a:br>
              <a:rPr lang="en-US"/>
            </a:br>
            <a:r>
              <a:rPr lang="en-US"/>
              <a:t>TIMING: 6:40-8:10.</a:t>
            </a:r>
            <a:br>
              <a:rPr lang="en-US"/>
            </a:br>
            <a:br>
              <a:rPr lang="en-US"/>
            </a:br>
            <a:r>
              <a:rPr lang="en-US"/>
              <a:t>FACILITATION: Ninety seconds. Same rhythm. Do not signal that the scores are expected to change — that reveal has to be earned by the evidence pass.</a:t>
            </a:r>
            <a:br>
              <a:rPr lang="en-US"/>
            </a:br>
            <a:br>
              <a:rPr lang="en-US"/>
            </a:br>
            <a:r>
              <a:rPr lang="en-US"/>
              <a:t>WHAT TO SAY: score each statement 1 to 5 against the last ninety days only. No evidence line yet — that is deliberate, and you will see why.</a:t>
            </a:r>
            <a:endParaRPr/>
          </a:p>
        </p:txBody>
      </p:sp>
      <p:sp>
        <p:nvSpPr>
          <p:cNvPr id="141" name="Google Shape;14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 PRIVATE WRITING.  WORKBOOK PAGE 2.</a:t>
            </a:r>
            <a:br>
              <a:rPr lang="en-US"/>
            </a:br>
            <a:br>
              <a:rPr lang="en-US"/>
            </a:br>
            <a:r>
              <a:rPr lang="en-US"/>
              <a:t>TIMING: 8:10-8:40.</a:t>
            </a:r>
            <a:br>
              <a:rPr lang="en-US"/>
            </a:br>
            <a:br>
              <a:rPr lang="en-US"/>
            </a:br>
            <a:r>
              <a:rPr lang="en-US"/>
              <a:t>FACILITATION: Thirty seconds. Total and hold. Do not explain the states yet.</a:t>
            </a:r>
            <a:br>
              <a:rPr lang="en-US"/>
            </a:br>
            <a:br>
              <a:rPr lang="en-US"/>
            </a:br>
            <a:r>
              <a:rPr lang="en-US"/>
              <a:t>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a:t>
            </a:r>
            <a:br>
              <a:rPr lang="en-US"/>
            </a:br>
            <a:br>
              <a:rPr lang="en-US"/>
            </a:br>
            <a:r>
              <a:rPr lang="en-US"/>
              <a:t>Do not ask for totals. Do not poll. Nothing is collected.</a:t>
            </a:r>
            <a:endParaRPr/>
          </a:p>
        </p:txBody>
      </p:sp>
      <p:sp>
        <p:nvSpPr>
          <p:cNvPr id="163" name="Google Shape;16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 PRIVATE WRITING.  WORKBOOK PAGE 3.</a:t>
            </a:r>
            <a:br>
              <a:rPr lang="en-US"/>
            </a:br>
            <a:br>
              <a:rPr lang="en-US"/>
            </a:br>
            <a:r>
              <a:rPr lang="en-US"/>
              <a:t>TIMING: 8:40-10:10.</a:t>
            </a:r>
            <a:br>
              <a:rPr lang="en-US"/>
            </a:br>
            <a:br>
              <a:rPr lang="en-US"/>
            </a:br>
            <a:r>
              <a:rPr lang="en-US"/>
              <a:t>FACILITATION: Ninety seconds.</a:t>
            </a:r>
            <a:br>
              <a:rPr lang="en-US"/>
            </a:br>
            <a:br>
              <a:rPr lang="en-US"/>
            </a:br>
            <a:r>
              <a:rPr lang="en-US"/>
              <a:t>WHAT TO SAY: score each statement 1 to 5 against the last ninety days only. No evidence line yet — that is deliberate, and you will see why.</a:t>
            </a:r>
            <a:endParaRPr/>
          </a:p>
        </p:txBody>
      </p:sp>
      <p:sp>
        <p:nvSpPr>
          <p:cNvPr id="179" name="Google Shape;17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 PRIVATE WRITING.  WORKBOOK PAGE 3.</a:t>
            </a:r>
            <a:br>
              <a:rPr lang="en-US"/>
            </a:br>
            <a:br>
              <a:rPr lang="en-US"/>
            </a:br>
            <a:r>
              <a:rPr lang="en-US"/>
              <a:t>TIMING: 10:10-11:40.</a:t>
            </a:r>
            <a:br>
              <a:rPr lang="en-US"/>
            </a:br>
            <a:br>
              <a:rPr lang="en-US"/>
            </a:br>
            <a:r>
              <a:rPr lang="en-US"/>
              <a:t>FACILITATION: Ninety seconds. This is the last block of the first pass.</a:t>
            </a:r>
            <a:br>
              <a:rPr lang="en-US"/>
            </a:br>
            <a:br>
              <a:rPr lang="en-US"/>
            </a:br>
            <a:r>
              <a:rPr lang="en-US"/>
              <a:t>WHAT TO SAY: score each statement 1 to 5 against the last ninety days only. No evidence line yet — that is deliberate, and you will see why.</a:t>
            </a:r>
            <a:endParaRPr/>
          </a:p>
        </p:txBody>
      </p:sp>
      <p:sp>
        <p:nvSpPr>
          <p:cNvPr id="201" name="Google Shape;20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 PRIVATE WRITING.  WORKBOOK PAGE 3.</a:t>
            </a:r>
            <a:br>
              <a:rPr lang="en-US"/>
            </a:br>
            <a:br>
              <a:rPr lang="en-US"/>
            </a:br>
            <a:r>
              <a:rPr lang="en-US"/>
              <a:t>TIMING: 11:40-12:00.</a:t>
            </a:r>
            <a:br>
              <a:rPr lang="en-US"/>
            </a:br>
            <a:br>
              <a:rPr lang="en-US"/>
            </a:br>
            <a:r>
              <a:rPr lang="en-US"/>
              <a:t>FACILITATION: Twenty seconds. You now hold two numbers. The pair is the point of today.</a:t>
            </a:r>
            <a:br>
              <a:rPr lang="en-US"/>
            </a:br>
            <a:br>
              <a:rPr lang="en-US"/>
            </a:br>
            <a:r>
              <a:rPr lang="en-US"/>
              <a:t>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a:t>
            </a:r>
            <a:br>
              <a:rPr lang="en-US"/>
            </a:br>
            <a:br>
              <a:rPr lang="en-US"/>
            </a:br>
            <a:r>
              <a:rPr lang="en-US"/>
              <a:t>Do not ask for totals. Do not poll. Nothing is collected.</a:t>
            </a:r>
            <a:endParaRPr/>
          </a:p>
        </p:txBody>
      </p:sp>
      <p:sp>
        <p:nvSpPr>
          <p:cNvPr id="223" name="Google Shape;22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h38333402142a079_2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h38333402142a079_2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ON — THIS IS THE LAST RECORDED SLIDE.  WORKBOOK PAGE 8 (rescore date line).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47:00-50:00. The close is delivered 47:00-48:00; 48:00-50:00 is FACILITATION BUFFER and this slide holds.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this close returns to the question the session opened with. Say it plainly and at the pace of ordinary speech. It is not a motivational ending, there is no call to believe in yourself, and it does not need lifting.</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WHAT TO SAY, close to the slide: you came in with a stay-or-leave question, I have not made that decision for you and I should not, and what you have now is a clearer read of what this work is building, what may travel, where the evidence is thin and what deserves testing next. Then the rescore date.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you are on time, use the buffer to restate the rescore date instruction and let the room finish writing. If you are behind, the buffer is where you absorb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EVERGREEN-SAFE CLOSE. Do NOT say "tonight", "this cohort", "September 23", or "before enrollment closes". This has to work for someone watching the replay months from now.</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AT 50:00 — STOP THE RECORDING BEFORE ADVANCING. STOP IT; DO NOT PAUSE IT. Look at the screen and confirm it has actually stopped before the first question is taken. If the platform records the whole meeting automatically, keep the raw file private and trim the distributed replay to end 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PRE-SESSION: if the Maven/Zoom integration starts recording automatically when the host enters early, PAUSE during the pre-session holding period, then start or resume on slide 1 at 6:00 PM CT and STOP at 6:50 PM CT. Pausing belongs to the pre-session window only. The distributed recording must contain minutes 0-50 and nothing else.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Then say out loud that the recording has stopped, and only then advance.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OFF.</a:t>
            </a:r>
            <a:endParaRPr/>
          </a:p>
        </p:txBody>
      </p:sp>
      <p:sp>
        <p:nvSpPr>
          <p:cNvPr id="239" name="Google Shape;239;h38333402142a079_2_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11f538478445b104_2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h11f538478445b104_2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RECORDING ON.</a:t>
            </a:r>
            <a:br/>
            <a:br/>
            <a:r>
              <a:t>TIMING: 12:00-13:00. SIXTY SECONDS.</a:t>
            </a:r>
            <a:br/>
            <a:br/>
            <a:r>
              <a:t>FACILITATION: name each square once. Do not teach the state costs here — that block is at 33:00. Do not ask which square anyone is in.</a:t>
            </a:r>
            <a:br/>
          </a:p>
          <a:p>
            <a:r>
              <a:t>Lowest: Stagnant. Bottom-left, both axes low. "The work stopped asking more of you" plus no portability. Nothing is accruing in either direction.</a:t>
            </a:r>
          </a:p>
          <a:p>
            <a:r>
              <a:t>Then Depth Trap. Top-left. High Density, low Optionality. Reads as second-lowest but clearly above Stagnant, because something real is still being built — it just doesn't travel.</a:t>
            </a:r>
          </a:p>
          <a:p>
            <a:r>
              <a:t>Then Fragile. Bottom-right. Low Density, high Optionality. What you have moves, but nothing new is being added underneath it.</a:t>
            </a:r>
          </a:p>
          <a:p>
            <a:r>
              <a:t>Highest: Compounding. Top-right, both high, and the only square you inverted to navy.</a:t>
            </a:r>
            <a:br/>
            <a:r>
              <a:t>Compounding is set apart because it is the one square where both axes are high. It is a structural fact about the matrix, not a ranking, and not a square to aim for. Say "state is not identity" out loud on the next slide.</a:t>
            </a:r>
          </a:p>
        </p:txBody>
      </p:sp>
      <p:sp>
        <p:nvSpPr>
          <p:cNvPr id="247" name="Google Shape;247;h11f538478445b104_2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 PRIVATE WRITING.  WORKBOOK PAGE 3.</a:t>
            </a:r>
            <a:br>
              <a:rPr lang="en-US"/>
            </a:br>
            <a:br>
              <a:rPr lang="en-US"/>
            </a:br>
            <a:r>
              <a:rPr lang="en-US"/>
              <a:t>TIMING: 13:00-14:00. SIXTY SECONDS.</a:t>
            </a:r>
            <a:br>
              <a:rPr lang="en-US"/>
            </a:br>
            <a:br>
              <a:rPr lang="en-US"/>
            </a:br>
            <a:r>
              <a:rPr lang="en-US"/>
              <a:t>FACILITATION: everyone proceeds on the clock. There is no readiness poll, no staged release and no waiting for the room — this has to work with a large audience.</a:t>
            </a:r>
            <a:br>
              <a:rPr lang="en-US"/>
            </a:br>
            <a:br>
              <a:rPr lang="en-US"/>
            </a:br>
            <a:r>
              <a:rPr lang="en-US"/>
              <a:t>Say "state is not identity" here, plainly, and say that boundary is a legitimate reading rather than a failure to decide.</a:t>
            </a:r>
            <a:br>
              <a:rPr lang="en-US"/>
            </a:br>
            <a:br>
              <a:rPr lang="en-US"/>
            </a:br>
            <a:r>
              <a:rPr lang="en-US"/>
              <a:t>Do not ask for a show of hands on states. Do not invite anyone to name their square, their employer or their situation.</a:t>
            </a:r>
            <a:endParaRPr/>
          </a:p>
        </p:txBody>
      </p:sp>
      <p:sp>
        <p:nvSpPr>
          <p:cNvPr id="274" name="Google Shape;27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  WORKBOOK PAGE 4.</a:t>
            </a:r>
            <a:br>
              <a:rPr lang="en-US"/>
            </a:br>
            <a:br>
              <a:rPr lang="en-US"/>
            </a:br>
            <a:r>
              <a:rPr lang="en-US"/>
              <a:t>TIMING: 14:00-16:00. TWO MINUTES.</a:t>
            </a:r>
            <a:br>
              <a:rPr lang="en-US"/>
            </a:br>
            <a:br>
              <a:rPr lang="en-US"/>
            </a:br>
            <a:r>
              <a:rPr lang="en-US"/>
              <a:t>FACILITATION: the protocol is symmetric — that is the whole point. Low scores need evidence too, or the exercise becomes self-criticism.</a:t>
            </a:r>
            <a:br>
              <a:rPr lang="en-US"/>
            </a:br>
            <a:br>
              <a:rPr lang="en-US"/>
            </a:br>
            <a:r>
              <a:rPr lang="en-US"/>
              <a:t>The ? is not a softer 3. A 3 is a real reading of a mixed pattern. A ? means you could not support any number. One question mark only, and it stays inside the 1 to 5 scale: the workbook will not accept 0?, 6?, two question marks, or a question mark on its own.</a:t>
            </a:r>
            <a:br>
              <a:rPr lang="en-US"/>
            </a:br>
            <a:br>
              <a:rPr lang="en-US"/>
            </a:br>
            <a:r>
              <a:rPr lang="en-US"/>
              <a:t>Give permission for the ? BEFORE the rescore starts, or people round down to look rigorous and reproduce the artefact the rule exists to prevent.</a:t>
            </a:r>
            <a:endParaRPr/>
          </a:p>
        </p:txBody>
      </p:sp>
      <p:sp>
        <p:nvSpPr>
          <p:cNvPr id="296" name="Google Shape;29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WORKBOOK PAGE 4.</a:t>
            </a:r>
            <a:br/>
            <a:br/>
            <a:r>
              <a:t>TIMING: 16:00-18:00. TWO MINUTES. Forty seconds each.</a:t>
            </a:r>
            <a:br/>
            <a:br/>
            <a:r>
              <a:t>FACILITATION: one minute per misreading, in order, then stop. Do not take questions here — hold them for minute 50.</a:t>
            </a:r>
            <a:br/>
            <a:br/>
            <a:r>
              <a:t>This slide replaces three separate calibration slides. Do not expand it back out and do not add a fourth misreading.</a:t>
            </a:r>
            <a:br/>
            <a:br/>
            <a:r>
              <a:t>ONE: this occurs when someone scores the work they are about to do rather than the work that actually occurred inside the evidence window. Do not describe it as common, typical or most frequent — this session has no measurement that supports a prevalence claim.</a:t>
            </a:r>
            <a:br/>
            <a:br/>
            <a:r>
              <a:t>TWO: careful with tone. It can describe someone genuinely excellent at the work. Being needed is good; assuming it forms you is the misread.</a:t>
            </a:r>
            <a:br/>
            <a:br/>
            <a:r>
              <a:t>THREE: say the panel as written. Do not rank the causes and do not imply one is more common than another.</a:t>
            </a:r>
            <a:br/>
            <a:br/>
            <a:r>
              <a:t>Land the third one and move straight into the rescore. Do not take questions here — hold them for minute 50.</a:t>
            </a:r>
          </a:p>
        </p:txBody>
      </p:sp>
      <p:sp>
        <p:nvSpPr>
          <p:cNvPr id="321" name="Google Shape;32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PAGES 5 AND 6.</a:t>
            </a:r>
          </a:p>
          <a:p/>
          <a:p>
            <a:r>
              <a:t>TIMING: 18:00-30:00. TWELVE MINUTES. PROTECTED AND NON-NEGOTIABLE.</a:t>
            </a:r>
          </a:p>
          <a:p/>
          <a:p>
            <a:r>
              <a:t>FACILITATION: read the instruction once, then hold this slide and stay quiet. One short orientation cue at the midpoint, then the two warnings. Nothing else.</a:t>
            </a:r>
          </a:p>
          <a:p/>
          <a:p>
            <a:r>
              <a:t>NEVER RECOVER LOST TIME HERE. This block is the evidentiary centre of the session and the thing that makes it an assessment rather than a talk. If you are behind at minute 18, take the time from the 46:00-48:00 continuation sequence or the 49:00-50:00 buffer, never from this block.</a:t>
            </a:r>
          </a:p>
          <a:p/>
          <a:p>
            <a:r>
              <a:t>This slide holds for the full twelve minutes. Do not advance and do not fill the silence.</a:t>
            </a:r>
          </a:p>
          <a:p/>
          <a:p>
            <a:r>
              <a:t>ONE MIDPOINT CUE AT ABOUT 24:00. This is facilitator presence, not teaching. Say it once, quietly, then return to silence: "If you are around statement six, you are on pace. Keep the evidence phrases short." Do not add anything to it, do not answer a question in it, and do not restate the protocol.</a:t>
            </a:r>
          </a:p>
          <a:p/>
          <a:p>
            <a:r>
              <a:t>Give a two-minute warning at 28:00 and a thirty-second warning at 29:30. Keep your own microphone quiet the rest of the time.</a:t>
            </a:r>
          </a:p>
          <a:p/>
          <a:p>
            <a:r>
              <a:t>Short evidence phrases, not essays. Twelve statements in twelve minutes is sixty seconds each.</a:t>
            </a:r>
          </a:p>
        </p:txBody>
      </p:sp>
      <p:sp>
        <p:nvSpPr>
          <p:cNvPr id="347" name="Google Shape;34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PAGES 5 AND 6.</a:t>
            </a:r>
            <a:br/>
            <a:br/>
            <a:r>
              <a:t>TIMING: 30:00-31:00. SIXTY SECONDS.</a:t>
            </a:r>
            <a:br/>
            <a:br/>
            <a:r>
              <a:t>FACILITATION: insist on the re-total. People try to eyeball whether the square changed. The number has to be recomputed.</a:t>
            </a:r>
            <a:br/>
            <a:br/>
            <a:r>
              <a:t>A marked score counts as its number when totalling — 3? totals as 3. The question mark changes what happens NEXT, on the sensitivity slide, not the arithmetic here.</a:t>
            </a:r>
            <a:br/>
            <a:br/>
            <a:r>
              <a:t>Boundary band: a corrected total of 17 to 21 overrides the ordinary high/low split. Say it again here.</a:t>
            </a:r>
          </a:p>
        </p:txBody>
      </p:sp>
      <p:sp>
        <p:nvSpPr>
          <p:cNvPr id="372" name="Google Shape;37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WORKBOOK PAGE 7.</a:t>
            </a:r>
          </a:p>
          <a:p/>
          <a:p>
            <a:r>
              <a:t>TIMING: 31:00-32:00. SIXTY SECONDS.</a:t>
            </a:r>
          </a:p>
          <a:p/>
          <a:p>
            <a:r>
              <a:t>FACILITATION: thirty seconds per tier. Teach all three even though most of the room will only need one.</a:t>
            </a:r>
          </a:p>
          <a:p/>
          <a:p>
            <a:r>
              <a:t>THE SLIDE IS NOW THE SUMMARY, NOT THE SPECIFICATION. The full procedure is on workbook page 4 and is repeated below. Read the three tiers off the slide and let the workbook carry the mechanics.</a:t>
            </a:r>
          </a:p>
          <a:p/>
          <a:p>
            <a:r>
              <a:t>Teach all three tiers explicitly. A participant with no marked items can sit through the procedure believing they must run it. Say plainly that they do not.</a:t>
            </a:r>
          </a:p>
          <a:p/>
          <a:p>
            <a:r>
              <a:t>NONE: no range required. 1 OR 2: the axis is provisional, run the check. 3 OR MORE: the axis is incomplete and you do not place on it today.</a:t>
            </a:r>
          </a:p>
          <a:p/>
          <a:p>
            <a:r>
              <a:t>THE FULL SENSITIVITY PROCEDURE, for the room that asks and for workbook page 4: total the axis using the numbers exactly as written; total it again with every marked item one point lower; total it again one point higher. Every neighbouring score stays bounded inside the 1 to 5 scale, so a 1? is never tested at 0 and a 5? never at 6. If the range includes any total from 17 to 21, do not force a state, and hold the axis as boundary.</a:t>
            </a:r>
          </a:p>
          <a:p/>
          <a:p>
            <a:r>
              <a:t>THE DUAL-AXIS BOUNDARY RULE, said plainly:</a:t>
            </a:r>
          </a:p>
          <a:p>
            <a:r>
              <a:t>If exactly ONE axis is inside 17 to 21, read the two adjacent states that the OTHER axis selects. A boundary Density with high Optionality reads across Compounding and Fragile.</a:t>
            </a:r>
          </a:p>
          <a:p>
            <a:r>
              <a:t>If BOTH axes are inside 17 to 21, record Boundary and assign no single state at all.</a:t>
            </a:r>
          </a:p>
          <a:p/>
          <a:p>
            <a:r>
              <a:t>The governing instrument (v5.3.1) states that when any total touches the band, no single state is assigned and the placement is provisional. The one-axis case follows directly. The instrument does not address the both-axes case, where four squares would qualify rather than two; recording Boundary is the reading consistent with "no single state is assigned". This is documented in the change log.</a:t>
            </a:r>
          </a:p>
          <a:p/>
          <a:p>
            <a:r>
              <a:t>Say the boundary out loud: this is an operational convention, not a statistical confidence interval, and it carries no margin of error. Boundary and incomplete are legitimate outcomes.</a:t>
            </a:r>
          </a:p>
          <a:p/>
          <a:p>
            <a:r>
              <a:t>METHOD UNCHANGED IN v2.0.6. Only the slide face was simplified. The tiers, the band, the bounded neighbouring scores and the dual-axis rule are exactly what v2.0.5 carried.</a:t>
            </a:r>
          </a:p>
        </p:txBody>
      </p:sp>
      <p:sp>
        <p:nvSpPr>
          <p:cNvPr id="390" name="Google Shape;39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7.</a:t>
            </a:r>
          </a:p>
          <a:p/>
          <a:p>
            <a:r>
              <a:t>TIMING: 32:00-33:00. SIXTY SECONDS.</a:t>
            </a:r>
          </a:p>
          <a:p/>
          <a:p>
            <a:r>
              <a:t>FACILITATION: give the instruction, then let them place. Do not narrate over the writing.</a:t>
            </a:r>
          </a:p>
          <a:p/>
          <a:p>
            <a:r>
              <a:t>State plainly that boundary and incomplete are real readings, not failures.</a:t>
            </a:r>
          </a:p>
          <a:p/>
          <a:p>
            <a:r>
              <a:t>NO DIAGNOSTIC POLL INSIDE THE RECORDED ASSESSMENT. No staged reveal, no room-level state distribution, no anonymous count, and nothing that asks anyone to reveal a score, a state, an employer or a decision. Scores, states, employers and circumstances stay private. The optional "what moved" interaction is in the appendix and is OUT of the timed core.</a:t>
            </a:r>
          </a:p>
          <a:p/>
          <a:p>
            <a:r>
              <a:t>The one poll this session permits is the optional anonymous arrival poll, which runs BEFORE the recording starts while the dated holding slide is up. It is specified in the SOP. It never runs here.</a:t>
            </a:r>
          </a:p>
          <a:p/>
          <a:p>
            <a:r>
              <a:t>Do not invite anyone to name their square, their confidence number, their employer or their circumstances.</a:t>
            </a:r>
          </a:p>
        </p:txBody>
      </p:sp>
      <p:sp>
        <p:nvSpPr>
          <p:cNvPr id="416" name="Google Shape;41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fbec47727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g3fbec47727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 OPTIONAL, AND OUT OF THE TIMED CORE.</a:t>
            </a:r>
            <a:br>
              <a:rPr lang="en-US"/>
            </a:br>
            <a:br>
              <a:rPr lang="en-US"/>
            </a:br>
            <a:r>
              <a:rPr lang="en-US"/>
              <a:t>This interaction belonged to the earlier long-form build. The 60-minute run of show has no room for it and it is NOT part of the fifty-minute core. Do not insert it.</a:t>
            </a:r>
            <a:br>
              <a:rPr lang="en-US"/>
            </a:br>
            <a:br>
              <a:rPr lang="en-US"/>
            </a:br>
            <a:r>
              <a:rPr lang="en-US"/>
              <a:t>Use it only if a delivery genuinely runs ahead — which should not happen — or in a longer non-Lightning-Lesson delivery of the same material.</a:t>
            </a:r>
            <a:br>
              <a:rPr lang="en-US"/>
            </a:br>
            <a:br>
              <a:rPr lang="en-US"/>
            </a:br>
            <a:r>
              <a:rPr lang="en-US"/>
              <a:t>If it is ever used: DO NOT read singleton counts aloud. DO NOT ask anyone to reveal their state. DO NOT say "most people change" — that is a research claim this session cannot support.</a:t>
            </a:r>
            <a:endParaRPr/>
          </a:p>
        </p:txBody>
      </p:sp>
      <p:sp>
        <p:nvSpPr>
          <p:cNvPr id="439" name="Google Shape;439;g3fbec47727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a:t>
            </a:r>
          </a:p>
          <a:p/>
          <a:p>
            <a:r>
              <a:t>TIMING: 33:00-36:00. THREE MINUTES. Forty-five seconds per state.</a:t>
            </a:r>
          </a:p>
          <a:p/>
          <a:p>
            <a:r>
              <a:t>FACILITATION: one pass, four states, no favourites. Keep your eye on the clock, this block overruns easily.</a:t>
            </a:r>
          </a:p>
          <a:p/>
          <a:p>
            <a:r>
              <a:t>Give each state its essential reading and stop. Do NOT teach the heaviest square for this room and do NOT deepen a state based on audience distribution. Those are Intensive Edition mechanics and there is no room for them in sixty minutes.</a:t>
            </a:r>
          </a:p>
          <a:p/>
          <a:p>
            <a:r>
              <a:t>TODAY IS COMPLETE. The closing line on this slide says the reading they have is the one this assessment gives, and that it is complete. Say it that way. Do not say the fuller cost is held back, and do not imply the real interpretation sits behind a paid product. What continued work adds is depth, repetition, a named destination and private use, not a withheld answer.</a:t>
            </a:r>
          </a:p>
          <a:p/>
          <a:p>
            <a:r>
              <a:t>If you are running behind, this is NOT the block to cut. Take it from 46:00-48:00.</a:t>
            </a:r>
          </a:p>
        </p:txBody>
      </p:sp>
      <p:sp>
        <p:nvSpPr>
          <p:cNvPr id="458" name="Google Shape;45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WORKBOOK PAGE 8.</a:t>
            </a:r>
          </a:p>
          <a:p/>
          <a:p>
            <a:r>
              <a:t>TIMING: 39:00-42:00. THREE MINUTES. About twenty-five seconds each.</a:t>
            </a:r>
          </a:p>
          <a:p/>
          <a:p>
            <a:r>
              <a:t>FACILITATION: read the category and its line, move to the next. Resist elaborating.</a:t>
            </a:r>
          </a:p>
          <a:p/>
          <a:p>
            <a:r>
              <a:t>Read each category and its one-line reading. Do not work examples, there is no room for them in sixty minutes.</a:t>
            </a:r>
          </a:p>
          <a:p/>
          <a:p>
            <a:r>
              <a:t>THREE READINGS WERE REWRITTEN IN v2.0.6 AND THE WORDING MATTERS. Translate what is built is about making existing capability legible outside your own context, not about solving recognition. Widen exposure is about reaching people who can evaluate or use the capability, and the line says plainly that visibility is not evidence. Repair formation conditions is a category to test, not an instruction to stay.</a:t>
            </a:r>
          </a:p>
          <a:p/>
          <a:p>
            <a:r>
              <a:t>Prepare for exit is preparation, not a recommendation to resign. Say it that way.</a:t>
            </a:r>
          </a:p>
          <a:p/>
          <a:p>
            <a:r>
              <a:t>Say the bottom line as written: no square prescribes a category. Someone in Depth Trap is not instructed to translate; someone in Fragile is not instructed to exit.</a:t>
            </a:r>
          </a:p>
        </p:txBody>
      </p:sp>
      <p:sp>
        <p:nvSpPr>
          <p:cNvPr id="481" name="Google Shape;48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 PRIVATE WRITING.  WORKBOOK PAGE 8.</a:t>
            </a:r>
          </a:p>
          <a:p/>
          <a:p>
            <a:r>
              <a:t>TIMING: 42:00-46:00. FOUR MINUTES. This is a real writing period, protect it.</a:t>
            </a:r>
          </a:p>
          <a:p/>
          <a:p>
            <a:r>
              <a:t>FACILITATION: read the four portability questions once, read the three prompts once, then stop talking for the rest of the block.</a:t>
            </a:r>
          </a:p>
          <a:p/>
          <a:p>
            <a:r>
              <a:t>THE FOUR-QUESTION PORTABILITY AUDIT IS ON THIS SLIDE AND IS SPOKEN ONCE, HERE. It is the interpretive frame for the note, not a new exercise: there is nothing to score and nothing to hand in. Read them and move on:</a:t>
            </a:r>
          </a:p>
          <a:p>
            <a:r>
              <a:t>What travels? What does not? What can I prove? What must I relearn?</a:t>
            </a:r>
          </a:p>
          <a:p/>
          <a:p>
            <a:r>
              <a:t>SAY THE DESTINATION BOUNDARY IN ONE LINE. You cannot fully answer what travels until you know where it is travelling to. Generic portability is not destination-specific portability, and this session has not named anyone's destination. What the four questions do here is tell you which of them your evidence can already answer and which one is still open.</a:t>
            </a:r>
          </a:p>
          <a:p/>
          <a:p>
            <a:r>
              <a:t>Read the three prompts once, then stop talking and let people write. Four minutes feels long from the front and short from the seat.</a:t>
            </a:r>
          </a:p>
          <a:p/>
          <a:p>
            <a:r>
              <a:t>Do not call it the Next-Move Decision. That is the Intensive Edition's artifact and it is a different, longer instrument.</a:t>
            </a:r>
          </a:p>
          <a:p/>
          <a:p>
            <a:r>
              <a:t>Do not ask anyone to read theirs aloud, and do not invite anyone to share a move category, an employer or a situation.</a:t>
            </a:r>
          </a:p>
          <a:p/>
          <a:p>
            <a:r>
              <a:t>Give a sixty-second warning at 45:00.</a:t>
            </a:r>
          </a:p>
        </p:txBody>
      </p:sp>
      <p:sp>
        <p:nvSpPr>
          <p:cNvPr id="520" name="Google Shape;52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RECORDING ON.</a:t>
            </a:r>
          </a:p>
          <a:p/>
          <a:p>
            <a:r>
              <a:t>TIMING: 46:00-47:00. SIXTY SECONDS. The continuation sequence is the first place to take time from if you are behind.</a:t>
            </a:r>
          </a:p>
          <a:p/>
          <a:p>
            <a:r>
              <a:t>FACILITATION: read the two routes in order, land route one, then move. Do not linger and do not add examples.</a:t>
            </a:r>
          </a:p>
          <a:p/>
          <a:p>
            <a:r>
              <a:t>ROUTE 1 IS NOT A THROWAWAY. Say it first and say it plainly. The credibility of the next slide depends on genuinely releasing the people who have enough.</a:t>
            </a:r>
          </a:p>
          <a:p/>
          <a:p>
            <a:r>
              <a:t>WHAT TO SAY: "Some of you now have enough to act. Good, you do not need anything else from me today. Some of you want a structured system you can keep working with privately. Different needs, different routes."</a:t>
            </a:r>
          </a:p>
          <a:p/>
          <a:p>
            <a:r>
              <a:t>TWO ROUTES ONLY IN THIS DELIVERY. Career Move Review is the current advisory offer for someone with a specific destination, and it is NOT on this slide, because its fulfillment route is not operational. Do not describe it, do not price it and do not take bookings for it from the stage. If a participant asks for a human read against a specific move, say that it is not open yet and take nothing further.</a:t>
            </a:r>
          </a:p>
          <a:p/>
          <a:p>
            <a:r>
              <a:t>Keep the Proof is not on this slide either, and that is deliberate. It answers a different problem and belongs in follow-up, not in the recorded continuation sequence.</a:t>
            </a:r>
          </a:p>
          <a:p/>
          <a:p>
            <a:r>
              <a:t>NO PRICING ON THIS SLIDE. Do not say "if you want to buy", "I have two offers" or "special opportunity".</a:t>
            </a:r>
          </a:p>
        </p:txBody>
      </p:sp>
      <p:sp>
        <p:nvSpPr>
          <p:cNvPr id="553" name="Google Shape;55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fbe9e34838_0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g3fbe9e34838_0_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RECORDING ON.</a:t>
            </a:r>
          </a:p>
          <a:p/>
          <a:p>
            <a:r>
              <a:t>TIMING: 47:00-48:00. SIXTY SECONDS.</a:t>
            </a:r>
          </a:p>
          <a:p/>
          <a:p>
            <a:r>
              <a:t>FACILITATION: name what today already gave them, then name what the Field Kit adds. Sixty seconds. If you are behind, this is the first slide to shorten.</a:t>
            </a:r>
          </a:p>
          <a:p/>
          <a:p>
            <a:r>
              <a:t>TODAY IS COMPLETE. Say so. This session delivers a full guided reading. The Field Kit is not the rest of it. It is a private system they can own, revisit and rerun as conditions change.</a:t>
            </a:r>
          </a:p>
          <a:p/>
          <a:p>
            <a:r>
              <a:t>Do not call the Field Kit the complete version of the session, the full assessment, required, included, a bundle, or more worksheets.</a:t>
            </a:r>
          </a:p>
          <a:p/>
          <a:p>
            <a:r>
              <a:t>THE CURRENT INDIVIDUAL OFFER ARCHITECTURE, for your own reference and not for the stage: the Career Evidence Starter is free, Keep the Proof is $49, the Capability Formation Field Kit is $150, and the Career Move Review is $500 with qualification before payment. Only the Field Kit appears in this recorded continuation sequence.</a:t>
            </a:r>
          </a:p>
          <a:p/>
          <a:p>
            <a:r>
              <a:t>THE PRIVATE CAPABILITY POSITION READ IS RETIRED. It is not an offer, it is not coming back under that name, and it is not mentioned here, on slide 23 or in Q&amp;A. Career Move Review is the current advisory architecture, and it stays off the participant-facing sequence until its route is verified operational.</a:t>
            </a:r>
          </a:p>
          <a:p/>
          <a:p>
            <a:r>
              <a:t>IMMEDIATELY BEFORE DELIVERY, VERIFY THE CURRENT PUBLIC PRICE AND PURCHASE ROUTE. If both remain current, post the purchase link and current price in the live chat. The permanent replay slide remains price-free.</a:t>
            </a:r>
          </a:p>
          <a:p/>
          <a:p>
            <a:r>
              <a:t>PREBUILT CHAT MESSAGE:</a:t>
            </a:r>
          </a:p>
          <a:p>
            <a:r>
              <a:t>Continue privately with the Capability Formation Field Kit:</a:t>
            </a:r>
          </a:p>
          <a:p>
            <a:r>
              <a:t>https://temidayoafonja.com/fieldkit</a:t>
            </a:r>
          </a:p>
          <a:p/>
          <a:p>
            <a:r>
              <a:t>Visible branded route on the slide face: temidayoafonja.com/fieldkit. The CTA, the URL and the QR all resolve to that page, which is the stable evergreen destination, because a recorded replay outlives any storefront link. The live page remains the source of truth for current pricing.</a:t>
            </a:r>
          </a:p>
          <a:p/>
          <a:p>
            <a:r>
              <a:t>NO PRICE APPEARS ON THIS SLIDE FACE BY DESIGN. No discount, no attendee price, no coupon, no bundle, no crossed-out price, no urgency.</a:t>
            </a:r>
          </a:p>
          <a:p/>
          <a:p>
            <a:r>
              <a:t>The former paid group workshop is retired from active public sale and is NOT the current public next step. Do not mention it.</a:t>
            </a:r>
          </a:p>
        </p:txBody>
      </p:sp>
      <p:sp>
        <p:nvSpPr>
          <p:cNvPr id="576" name="Google Shape;576;g3fbe9e34838_0_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fbe9e34838_0_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g3fbe9e34838_0_1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RECORDING ON — THIS IS THE LAST RECORDED SLIDE.  WORKBOOK PAGE 8 (rescore date line).</a:t>
            </a:r>
          </a:p>
          <a:p/>
          <a:p>
            <a:r>
              <a:t>TIMING: 48:00-50:00. The close is delivered 48:00-49:00; 49:00-50:00 is FACILITATION BUFFER and this slide holds.</a:t>
            </a:r>
          </a:p>
          <a:p/>
          <a:p>
            <a:r>
              <a:t>FACILITATION: this close returns to the question the session opened with. Say it plainly and at the pace of ordinary speech. It is not a motivational ending, there is no call to believe in yourself, and it does not need lifting.</a:t>
            </a:r>
          </a:p>
          <a:p/>
          <a:p>
            <a:r>
              <a:t>WHAT TO SAY, close to the slide: you came in with a stay-or-leave question, I have not made that decision for you and I should not, and what you have now is a clearer read of what this work is building, what may travel, where the evidence is thin and what deserves testing next. Then the rescore date.</a:t>
            </a:r>
          </a:p>
          <a:p/>
          <a:p>
            <a:r>
              <a:t>If you are on time, use the buffer to restate the rescore date instruction and let the room finish writing. If you are behind, the buffer is where you absorb it.</a:t>
            </a:r>
          </a:p>
          <a:p/>
          <a:p>
            <a:r>
              <a:t>EVERGREEN-SAFE CLOSE. Do NOT say "tonight", "this cohort", "September 23", or "before enrollment closes". This has to work for someone watching the replay months from now.</a:t>
            </a:r>
          </a:p>
          <a:p/>
          <a:p>
            <a:r>
              <a:t>AT 50:00 — STOP THE RECORDING BEFORE ADVANCING. STOP IT; DO NOT PAUSE IT. Look at the screen and confirm it has actually stopped before the first question is taken. If the platform records the whole meeting automatically, keep the raw file private and trim the distributed replay to end here.</a:t>
            </a:r>
          </a:p>
          <a:p/>
          <a:p>
            <a:r>
              <a:t>PRE-SESSION: if the Maven/Zoom integration starts recording automatically when the host enters early, PAUSE during the pre-session holding period, then start or resume on slide 1 at 6:00 PM CT and STOP at 6:50 PM CT. Pausing belongs to the pre-session window only. The distributed recording must contain minutes 0-50 and nothing else.</a:t>
            </a:r>
          </a:p>
          <a:p/>
          <a:p>
            <a:r>
              <a:t>Then say out loud that the recording has stopped, and only then advance.</a:t>
            </a:r>
          </a:p>
          <a:p/>
          <a:p>
            <a:r>
              <a:t>RECORDING OFF.</a:t>
            </a:r>
          </a:p>
        </p:txBody>
      </p:sp>
      <p:sp>
        <p:nvSpPr>
          <p:cNvPr id="611" name="Google Shape;611;g3fbe9e34838_0_1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fbec47727c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g3fbec47727c_0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OFF. CONFIRM ON SCREEN THAT IT HAS STOPPED BEFORE TAKING THE FIRST QUESTION.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50:00-60:00. TEN MINUTES. HARD STOP AT 60:00.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confirm on screen that recording has stopped, say so aloud, then take the first question. Watch the clock and close at 60:00.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This block is never distributed. It is excluded from the evergreen replay under every distribution model, including a registration-gated one. Participant questions can contain employer names, personal circumstances and third-party names, which is exactly why it sits outside the recorded core.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Q&amp;A MAY clarify the method, the evidence protocol, boundary and incomplete readings, and move-category distinctions.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Q&amp;A MUST NOT become individual stay/leave coaching. Do not tell anyone to resign or stay. Do not predict layoffs. Do not give legal, medical, financial, immigration or mental-health advice. Do not ask for scores, states or employer names.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 question is really a request for a personal decision, name the boundary once and stop there.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ON DESTINATION-SPECIFIC PORTABILITY. If someone asks whether their experience will transfer to a named role, function, industry or employer, the honest answer is that this session did not read that destination. The four questions tell them what their evidence can already support and what is still open. Do not estimate their odds, and do not imply that better wording or better documentation decides what another organization will do.</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PRIVATE CAPABILITY POSITION READ IS RETIRED AND IS NOT OFFERED. Career Move Review is the current advisory architecture and is not being sold from this stage while its route is unverified. If someone asks for a human read against a specific move, say it is not open yet. You may point to the Field Kit if it genuinely fits the question, or to nothing at all. Neither is required.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Appendix material may be used here if a question calls for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at 60:00 and thank the room.</a:t>
            </a:r>
            <a:endParaRPr/>
          </a:p>
        </p:txBody>
      </p:sp>
      <p:sp>
        <p:nvSpPr>
          <p:cNvPr id="621" name="Google Shape;621;g3fbec47727c_0_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h11f538478445b104_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h11f538478445b104_1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OFF. CONFIRM ON SCREEN THAT IT HAS STOPPED BEFORE TAKING THE FIRST QUESTION.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50:00-60:00. TEN MINUTES. HARD STOP AT 60:00.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confirm on screen that recording has stopped, say so aloud, then take the first question. Watch the clock and close at 60:00.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This block is never distributed. It is excluded from the evergreen replay under every distribution model, including a registration-gated one. Participant questions can contain employer names, personal circumstances and third-party names, which is exactly why it sits outside the recorded core.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Q&amp;A MAY clarify the method, the evidence protocol, boundary and incomplete readings, and move-category distinctions.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Q&amp;A MUST NOT become individual stay/leave coaching. Do not tell anyone to resign or stay. Do not predict layoffs. Do not give legal, medical, financial, immigration or mental-health advice. Do not ask for scores, states or employer names.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 question is really a request for a personal decision, name the boundary once and stop there.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ON DESTINATION-SPECIFIC PORTABILITY. If someone asks whether their experience will transfer to a named role, function, industry or employer, the honest answer is that this session did not read that destination. The four questions tell them what their evidence can already support and what is still open. Do not estimate their odds, and do not imply that better wording or better documentation decides what another organization will do.</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PRIVATE CAPABILITY POSITION READ IS RETIRED AND IS NOT OFFERED. Career Move Review is the current advisory architecture and is not being sold from this stage while its route is unverified. If someone asks for a human read against a specific move, say it is not open yet. You may point to the Field Kit if it genuinely fits the question, or to nothing at all. Neither is required.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Appendix material may be used here if a question calls for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at 60:00 and thank the room.</a:t>
            </a:r>
            <a:endParaRPr/>
          </a:p>
        </p:txBody>
      </p:sp>
      <p:sp>
        <p:nvSpPr>
          <p:cNvPr id="628" name="Google Shape;628;h11f538478445b104_1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 name="Google Shape;63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RECORDING OFF. CONFIRM ON SCREEN THAT IT HAS STOPPED BEFORE TAKING THE FIRST QUESTION.</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TIMING: 50:00-60:00. TEN MINUTES. HARD STOP AT 60:00.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FACILITATION: confirm on screen that recording has stopped, say so aloud, then take the first question. Watch the clock and close at 60:00.</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This block is never distributed. It is excluded from the evergreen replay under every distribution model, including a registration-gated one. Participant questions can contain employer names, personal circumstances and third-party names, which is exactly why it sits outside the recorded core.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Q&amp;A MAY clarify the method, the evidence protocol, boundary and incomplete readings, and move-category distinctions.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Q&amp;A MUST NOT become individual stay/leave coaching. Do not tell anyone to resign or stay. Do not predict layoffs. Do not give legal, medical, financial, immigration or mental-health advice. Do not ask for scores, states or employer names.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 question is really a request for a personal decision, name the boundary once and stop there.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ON DESTINATION-SPECIFIC PORTABILITY. If someone asks whether their experience will transfer to a named role, function, industry or employer, the honest answer is that this session did not read that destination. The four questions tell them what their evidence can already support and what is still open. Do not estimate their odds, and do not imply that better wording or better documentation decides what another organization will do.</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PRIVATE CAPABILITY POSITION READ IS RETIRED AND IS NOT OFFERED. Career Move Review is the current advisory architecture and is not being sold from this stage while its route is unverified. If someone asks for a human read against a specific move, say it is not open yet. You may point to the Field Kit if it genuinely fits the question, or to nothing at all. Neither is required.</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Appendix material may be used here if a question calls for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at 60:00 and thank the room.</a:t>
            </a:r>
            <a:endParaRPr/>
          </a:p>
        </p:txBody>
      </p:sp>
      <p:sp>
        <p:nvSpPr>
          <p:cNvPr id="637" name="Google Shape;63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 name="Google Shape;65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 live-only. Not part of the recorded core.</a:t>
            </a:r>
            <a:br>
              <a:rPr lang="en-US"/>
            </a:br>
            <a:br>
              <a:rPr lang="en-US"/>
            </a:br>
            <a:r>
              <a:rPr lang="en-US"/>
              <a:t>Use during Q&amp;A if someone asks how to read organisational signals. These are questions to investigate, never predictions about a specific employer.</a:t>
            </a:r>
            <a:endParaRPr/>
          </a:p>
        </p:txBody>
      </p:sp>
      <p:sp>
        <p:nvSpPr>
          <p:cNvPr id="656" name="Google Shape;65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3" name="Google Shape;67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 live-only. Moved out of the timed core deliberately.</a:t>
            </a:r>
            <a:br>
              <a:rPr lang="en-US"/>
            </a:br>
            <a:br>
              <a:rPr lang="en-US"/>
            </a:br>
            <a:r>
              <a:rPr lang="en-US"/>
              <a:t>If asked: one application, sixty seconds, no tool names, no job-loss predictions, no industry forecasts.</a:t>
            </a:r>
            <a:endParaRPr/>
          </a:p>
        </p:txBody>
      </p:sp>
      <p:sp>
        <p:nvSpPr>
          <p:cNvPr id="674" name="Google Shape;674;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APPENDIX — live-only. Useful when someone scores low on statement 8 and reads it as a verdict on ability.</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STATE THE LIMIT WHENEVER YOU USE THIS SLIDE: translation does not guarantee acceptance. Another organization still has to decide that this evidence is comparable enough to trust in its context. Legibility removes one barrier; it does not remove genuine experience gaps, market constraints or employer preferences, and nothing here should be heard as a promise that better wording will.</a:t>
            </a:r>
            <a:endParaRPr/>
          </a:p>
        </p:txBody>
      </p:sp>
      <p:sp>
        <p:nvSpPr>
          <p:cNvPr id="692" name="Google Shape;69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 live-only. This is the sharpest version of misreading two and a useful answer in Q&amp;A.</a:t>
            </a:r>
            <a:br>
              <a:rPr lang="en-US"/>
            </a:br>
            <a:br>
              <a:rPr lang="en-US"/>
            </a:br>
            <a:r>
              <a:rPr lang="en-US"/>
              <a:t>Not a diagnosis of anyone's specific promotion.</a:t>
            </a:r>
            <a:endParaRPr/>
          </a:p>
        </p:txBody>
      </p:sp>
      <p:sp>
        <p:nvSpPr>
          <p:cNvPr id="710" name="Google Shape;710;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OPTIONAL INSTITUTIONAL CLOSE — use INSTEAD of the continuation slides 23 and 24 when delivering for a university, alumni association, professional body or employee group.</a:t>
            </a:r>
            <a:br>
              <a:rPr lang="en-US"/>
            </a:br>
            <a:br>
              <a:rPr lang="en-US"/>
            </a:br>
            <a:r>
              <a:rPr lang="en-US"/>
              <a:t>No pricing. No Field Kit or private-read pitch. No product CTA of any kind.</a:t>
            </a:r>
            <a:br>
              <a:rPr lang="en-US"/>
            </a:br>
            <a:br>
              <a:rPr lang="en-US"/>
            </a:br>
            <a:r>
              <a:rPr lang="en-US"/>
              <a:t>This lets the same core deck serve institutional outreach without building a second presentation.</a:t>
            </a:r>
            <a:endParaRPr/>
          </a:p>
        </p:txBody>
      </p:sp>
      <p:sp>
        <p:nvSpPr>
          <p:cNvPr id="728" name="Google Shape;72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9" name="Google Shape;73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 OPTIONAL, AND OUT OF THE TIMED CORE.</a:t>
            </a:r>
            <a:br>
              <a:rPr lang="en-US"/>
            </a:br>
            <a:br>
              <a:rPr lang="en-US"/>
            </a:br>
            <a:r>
              <a:rPr lang="en-US"/>
              <a:t>This interaction belonged to the earlier long-form build. The 60-minute run of show has no room for it and it is NOT part of the fifty-minute core. Do not insert it.</a:t>
            </a:r>
            <a:br>
              <a:rPr lang="en-US"/>
            </a:br>
            <a:br>
              <a:rPr lang="en-US"/>
            </a:br>
            <a:r>
              <a:rPr lang="en-US"/>
              <a:t>Use it only if a delivery genuinely runs ahead — which should not happen — or in a longer non-Lightning-Lesson delivery of the same material.</a:t>
            </a:r>
            <a:br>
              <a:rPr lang="en-US"/>
            </a:br>
            <a:br>
              <a:rPr lang="en-US"/>
            </a:br>
            <a:r>
              <a:rPr lang="en-US"/>
              <a:t>If it is ever used: DO NOT read singleton counts aloud. DO NOT ask anyone to reveal their state. DO NOT say "most people change" — that is a research claim this session cannot support.</a:t>
            </a:r>
            <a:endParaRPr/>
          </a:p>
        </p:txBody>
      </p:sp>
      <p:sp>
        <p:nvSpPr>
          <p:cNvPr id="740" name="Google Shape;74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9" name="Google Shape;759;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PRE-SESSION HOLDING SLIDE. NOT RECORDED, EVER. It carries the only date in the deck and it is shown before the recording starts.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Up from 5:45 PM CT with the recording OFF. At 6:00 PM CT start the recording on slide 1.</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OPTIONAL ANONYMOUS ARRIVAL POLL, PRE-RECORDING ONLY. If the platform makes an anonymous poll easy, it may run while this slide is up. If it does not, skip it. It is optional and nothing depends on it.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one question is "What brought you here?" and the options are: my work feels static; I am considering an internal move; I am considering a career pivot; my role has changed around me; I want to know what would still count somewhere else.</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NEVER ASK, HERE OR ANYWHERE: what state someone is in, their score, their employer, whether they plan to quit, or whether they expect layoffs. Nothing diagnostic, nothing score-revealing, nothing decision-revealing.</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the poll before the recording starts. Do not read individual answers aloud, do not report a distribution into the recorded core, and do not refer back to it once recording begins.</a:t>
            </a:r>
            <a:endParaRPr/>
          </a:p>
        </p:txBody>
      </p:sp>
      <p:sp>
        <p:nvSpPr>
          <p:cNvPr id="760" name="Google Shape;760;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1" name="Google Shape;77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RECORDING ON.</a:t>
            </a:r>
            <a:br>
              <a:rPr lang="en-US"/>
            </a:br>
            <a:br>
              <a:rPr lang="en-US"/>
            </a:br>
            <a:r>
              <a:rPr lang="en-US"/>
              <a:t>TIMING: 12:00-13:00. SIXTY SECONDS.</a:t>
            </a:r>
            <a:br>
              <a:rPr lang="en-US"/>
            </a:br>
            <a:br>
              <a:rPr lang="en-US"/>
            </a:br>
            <a:r>
              <a:rPr lang="en-US"/>
              <a:t>FACILITATION: name each square once. Do not teach the state costs here — that block is at 35:00. Do not ask which square anyone is in.</a:t>
            </a:r>
            <a:br>
              <a:rPr lang="en-US"/>
            </a:br>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Lowest: Stagnant.</a:t>
            </a:r>
            <a:r>
              <a:rPr lang="en-US" sz="1100">
                <a:latin typeface="Arial"/>
                <a:ea typeface="Arial"/>
                <a:cs typeface="Arial"/>
                <a:sym typeface="Arial"/>
              </a:rPr>
              <a:t> Bottom-left, both axes low. "The work stopped asking more of you" plus no portability. Nothing is accruing in either direction.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Then Depth Trap.</a:t>
            </a:r>
            <a:r>
              <a:rPr lang="en-US" sz="1100">
                <a:latin typeface="Arial"/>
                <a:ea typeface="Arial"/>
                <a:cs typeface="Arial"/>
                <a:sym typeface="Arial"/>
              </a:rPr>
              <a:t> Top-left. High Density, low Optionality. Reads as second-lowest but clearly above Stagnant, because something real is still being built — it just doesn't travel.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Then Fragile.</a:t>
            </a:r>
            <a:r>
              <a:rPr lang="en-US" sz="1100">
                <a:latin typeface="Arial"/>
                <a:ea typeface="Arial"/>
                <a:cs typeface="Arial"/>
                <a:sym typeface="Arial"/>
              </a:rPr>
              <a:t> Bottom-right. Low Density, high Optionality. What you have moves, but nothing new is being added underneath it.</a:t>
            </a:r>
            <a:endParaRPr sz="1100">
              <a:latin typeface="Arial"/>
              <a:ea typeface="Arial"/>
              <a:cs typeface="Arial"/>
              <a:sym typeface="Arial"/>
            </a:endParaRPr>
          </a:p>
          <a:p>
            <a:pPr indent="0" lvl="0" marL="0" rtl="0" algn="l">
              <a:lnSpc>
                <a:spcPct val="115000"/>
              </a:lnSpc>
              <a:spcBef>
                <a:spcPts val="1200"/>
              </a:spcBef>
              <a:spcAft>
                <a:spcPts val="1200"/>
              </a:spcAft>
              <a:buSzPts val="1100"/>
              <a:buNone/>
            </a:pPr>
            <a:r>
              <a:rPr b="1" lang="en-US" sz="1100">
                <a:latin typeface="Arial"/>
                <a:ea typeface="Arial"/>
                <a:cs typeface="Arial"/>
                <a:sym typeface="Arial"/>
              </a:rPr>
              <a:t>Highest: Compounding.</a:t>
            </a:r>
            <a:r>
              <a:rPr lang="en-US" sz="1100">
                <a:latin typeface="Arial"/>
                <a:ea typeface="Arial"/>
                <a:cs typeface="Arial"/>
                <a:sym typeface="Arial"/>
              </a:rPr>
              <a:t> Top-right, both high, and the only square you inverted to navy.</a:t>
            </a:r>
            <a:br>
              <a:rPr lang="en-US"/>
            </a:br>
            <a:r>
              <a:rPr lang="en-US"/>
              <a:t>Compounding is set apart because it is the one square where both axes are high. It is a structural fact about the matrix, not a ranking, and not a square to aim for. Say "state is not identity" out loud on the next slide.</a:t>
            </a:r>
            <a:endParaRPr/>
          </a:p>
        </p:txBody>
      </p:sp>
      <p:sp>
        <p:nvSpPr>
          <p:cNvPr id="772" name="Google Shape;77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RECORDING ON.</a:t>
            </a:r>
          </a:p>
          <a:p/>
          <a:p>
            <a:r>
              <a:t>TIMING: 36:00-37:00. SIXTY SECONDS LIVE.</a:t>
            </a:r>
          </a:p>
          <a:p/>
          <a:p>
            <a:r>
              <a:t>FACILITATION: frame the section and move. Do not start listing signals here, the</a:t>
            </a:r>
          </a:p>
          <a:p>
            <a:r>
              <a:t>two slides that follow carry them. Sixty seconds.</a:t>
            </a:r>
          </a:p>
          <a:p/>
          <a:p>
            <a:r>
              <a:t>WHAT TO SAY: "Your reading describes the last ninety days. It is accurate for</a:t>
            </a:r>
          </a:p>
          <a:p>
            <a:r>
              <a:t>that window and it will go out of date. These next two slides are what to watch</a:t>
            </a:r>
          </a:p>
          <a:p>
            <a:r>
              <a:t>between now and your rescore date."</a:t>
            </a:r>
          </a:p>
          <a:p/>
          <a:p>
            <a:r>
              <a:t>SAY THE BOUNDARY IN ONE LINE AND DO NOT EXPAND IT: these are questions to</a:t>
            </a:r>
          </a:p>
          <a:p>
            <a:r>
              <a:t>investigate, not predictions. Nothing here forecasts a layoff, diagnoses an</a:t>
            </a:r>
          </a:p>
          <a:p>
            <a:r>
              <a:t>employer or claims anything about the job market. If a participant hears a</a:t>
            </a:r>
          </a:p>
          <a:p>
            <a:r>
              <a:t>forecast, correct it plainly: a signal tells you where to go and look, it does</a:t>
            </a:r>
          </a:p>
          <a:p>
            <a:r>
              <a:t>not tell you what is going to happen.</a:t>
            </a:r>
          </a:p>
          <a:p/>
          <a:p>
            <a:r>
              <a:t>WHY THIS SITS HERE AND NOT EARLIER. They have just seen what their state costs.</a:t>
            </a:r>
          </a:p>
          <a:p>
            <a:r>
              <a:t>A cost is about the position they are in now. A signal is about the position</a:t>
            </a:r>
          </a:p>
          <a:p>
            <a:r>
              <a:t>drifting while they are not watching. One belongs before the move categories,</a:t>
            </a:r>
          </a:p>
          <a:p>
            <a:r>
              <a:t>the other after the read, and this is the only place both are true.</a:t>
            </a:r>
          </a:p>
          <a:p/>
          <a:p>
            <a:r>
              <a:t>FOR THE REPLAY AND FOR QUESTIONS, NOT FOR THE LIVE SIXTY SECONDS: the honest</a:t>
            </a:r>
          </a:p>
          <a:p>
            <a:r>
              <a:t>reason this section exists is that the instrument reads a ninety-day window.</a:t>
            </a:r>
          </a:p>
          <a:p>
            <a:r>
              <a:t>Anything that reads a window goes stale. Signals are the cheapest way to notice</a:t>
            </a:r>
          </a:p>
          <a:p>
            <a:r>
              <a:t>staleness early, and noticing early is the difference between choosing a move</a:t>
            </a:r>
          </a:p>
          <a:p>
            <a:r>
              <a:t>and being handed one. None of that needs saying out loud tonight.</a:t>
            </a:r>
          </a:p>
          <a:p/>
          <a:p>
            <a:r>
              <a:t>DO NOT turn this into a discussion. No hands, no examples from the room, no</a:t>
            </a:r>
          </a:p>
          <a:p>
            <a:r>
              <a:t>naming of employers.</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RECORDING ON.</a:t>
            </a:r>
          </a:p>
          <a:p/>
          <a:p>
            <a:r>
              <a:t>TIMING: 37:00-38:00. SIXTY SECONDS LIVE. About twelve seconds a signal.</a:t>
            </a:r>
          </a:p>
          <a:p/>
          <a:p>
            <a:r>
              <a:t>FACILITATION: read the five once, in order, and stop. Do not explain any of them</a:t>
            </a:r>
          </a:p>
          <a:p>
            <a:r>
              <a:t>and do not add an example. The footer line is the only interpretation this slide</a:t>
            </a:r>
          </a:p>
          <a:p>
            <a:r>
              <a:t>needs, and you say it last.</a:t>
            </a:r>
          </a:p>
          <a:p/>
          <a:p>
            <a:r>
              <a:t>FOOTER LINE, SAY IT EXACTLY: "One signal is something to examine. Several</a:t>
            </a:r>
          </a:p>
          <a:p>
            <a:r>
              <a:t>together are worth testing a move."</a:t>
            </a:r>
          </a:p>
          <a:p/>
          <a:p>
            <a:r>
              <a:t>THESE ARE QUESTIONS, NOT VERDICTS. Each line is something a participant can go</a:t>
            </a:r>
          </a:p>
          <a:p>
            <a:r>
              <a:t>and check against their own last ninety days. None of them is evidence on its</a:t>
            </a:r>
          </a:p>
          <a:p>
            <a:r>
              <a:t>own, and none of them says anything about what an employer is going to do. If</a:t>
            </a:r>
          </a:p>
          <a:p>
            <a:r>
              <a:t>someone treats one as a prediction, say it plainly: noticing a signal is a</a:t>
            </a:r>
          </a:p>
          <a:p>
            <a:r>
              <a:t>reason to gather evidence, never a reason to panic and never a reason to leave.</a:t>
            </a:r>
          </a:p>
          <a:p/>
          <a:p>
            <a:r>
              <a:t>WHERE THESE COME FROM. This is the Position Exposure Signals appendix, promoted</a:t>
            </a:r>
          </a:p>
          <a:p>
            <a:r>
              <a:t>into the recorded core and expanded. It used to be a Q&amp;A card. It is here now</a:t>
            </a:r>
          </a:p>
          <a:p>
            <a:r>
              <a:t>because the people who most need it are the ones who never asked the question.</a:t>
            </a:r>
          </a:p>
          <a:p/>
          <a:p>
            <a:r>
              <a:t>FOR THE REPLAY, NOT FOR THE LIVE SIXTY SECONDS: signals one, two and three are</a:t>
            </a:r>
          </a:p>
          <a:p>
            <a:r>
              <a:t>about where decisions and authority sit. Four and five are about how replaceable</a:t>
            </a:r>
          </a:p>
          <a:p>
            <a:r>
              <a:t>the function looks from outside. A participant who sees several at once is not</a:t>
            </a:r>
          </a:p>
          <a:p>
            <a:r>
              <a:t>in trouble, they are in a position worth testing sooner than ninety days.</a:t>
            </a:r>
          </a:p>
          <a:p/>
          <a:p>
            <a:r>
              <a:t>DO NOT ask who recognises which signal. Same rule as the matrix. Their reading</a:t>
            </a:r>
          </a:p>
          <a:p>
            <a:r>
              <a:t>stays theirs.</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RECORDING ON.</a:t>
            </a:r>
          </a:p>
          <a:p/>
          <a:p>
            <a:r>
              <a:t>TIMING: 38:00-39:00. SIXTY SECONDS LIVE. About twelve seconds a signal.</a:t>
            </a:r>
          </a:p>
          <a:p/>
          <a:p>
            <a:r>
              <a:t>FACILITATION: read the five once, read the footer line, then move to the move</a:t>
            </a:r>
          </a:p>
          <a:p>
            <a:r>
              <a:t>categories. Sixty seconds.</a:t>
            </a:r>
          </a:p>
          <a:p/>
          <a:p>
            <a:r>
              <a:t>FOOTER LINE, SAY IT EXACTLY: "Choose two signals to watch before your rescore</a:t>
            </a:r>
          </a:p>
          <a:p>
            <a:r>
              <a:t>date." Two, not five. A watch list nobody keeps is worse than no watch list.</a:t>
            </a:r>
          </a:p>
          <a:p/>
          <a:p>
            <a:r>
              <a:t>WHY THIS SLIDE EXISTS. Compounding is the state most likely to feel fine, which</a:t>
            </a:r>
          </a:p>
          <a:p>
            <a:r>
              <a:t>makes it the state least likely to notice drift. The state costs slide already</a:t>
            </a:r>
          </a:p>
          <a:p>
            <a:r>
              <a:t>says a strong current position still requires renewal. This slide is what that</a:t>
            </a:r>
          </a:p>
          <a:p>
            <a:r>
              <a:t>sentence looks like in practice. Say the subtitle out loud, it is doing the work.</a:t>
            </a:r>
          </a:p>
          <a:p/>
          <a:p>
            <a:r>
              <a:t>THIS IS NOT A WARNING TO PEOPLE WHO SCORED WELL. A strong reading is a real</a:t>
            </a:r>
          </a:p>
          <a:p>
            <a:r>
              <a:t>reading. The point is that it describes ninety days that have already happened,</a:t>
            </a:r>
          </a:p>
          <a:p>
            <a:r>
              <a:t>and renewal is what keeps it true. Noticing a signal here is a reason to gather</a:t>
            </a:r>
          </a:p>
          <a:p>
            <a:r>
              <a:t>evidence, not a reason to doubt the score they just worked twelve minutes for.</a:t>
            </a:r>
          </a:p>
          <a:p/>
          <a:p>
            <a:r>
              <a:t>FOR THE REPLAY, NOT FOR THE LIVE SIXTY SECONDS: the first three signals are</a:t>
            </a:r>
          </a:p>
          <a:p>
            <a:r>
              <a:t>about formation going quiet, the last two are about evidence going stale. Both</a:t>
            </a:r>
          </a:p>
          <a:p>
            <a:r>
              <a:t>are cheap to check and both are invisible from inside a role that is going well.</a:t>
            </a:r>
          </a:p>
          <a:p/>
          <a:p>
            <a:r>
              <a:t>HAND OFF INTO THE MOVE CATEGORIES: "Two signals to watch. Now the seven</a:t>
            </a:r>
          </a:p>
          <a:p>
            <a:r>
              <a:t>directions your evidence might support testing." Do not linger.</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g3fbe9e34838_0_90"/>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13" name="Google Shape;13;g3fbe9e34838_0_90"/>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14" name="Google Shape;14;g3fbe9e34838_0_90"/>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hyperlink" Target="https://temidayoafonja.com/fieldkit" TargetMode="External"/><Relationship Id="rId5" Type="http://schemas.openxmlformats.org/officeDocument/2006/relationships/image" Target="../media/image3.png"/><Relationship Id="rId6" Type="http://schemas.openxmlformats.org/officeDocument/2006/relationships/hyperlink" Target="https://temidayoafonja.com/fieldkit" TargetMode="External"/><Relationship Id="rId7" Type="http://schemas.openxmlformats.org/officeDocument/2006/relationships/hyperlink" Target="https://temidayoafonja.com/fieldkit" TargetMode="External"/><Relationship Id="rId8" Type="http://schemas.openxmlformats.org/officeDocument/2006/relationships/hyperlink" Target="https://temidayoafonja.com/fieldkit" TargetMode="External"/><Relationship Id="rId9" Type="http://schemas.openxmlformats.org/officeDocument/2006/relationships/hyperlink" Target="https://temidayoafonja.com/fieldkit"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19" name="Shape 19"/>
        <p:cNvGrpSpPr/>
        <p:nvPr/>
      </p:nvGrpSpPr>
      <p:grpSpPr>
        <a:xfrm>
          <a:off x="0" y="0"/>
          <a:ext cx="0" cy="0"/>
          <a:chOff x="0" y="0"/>
          <a:chExt cx="0" cy="0"/>
        </a:xfrm>
      </p:grpSpPr>
      <p:sp>
        <p:nvSpPr>
          <p:cNvPr id="20" name="Google Shape;20;g3fbec47727c_0_62"/>
          <p:cNvSpPr/>
          <p:nvPr/>
        </p:nvSpPr>
        <p:spPr>
          <a:xfrm>
            <a:off x="566928" y="457200"/>
            <a:ext cx="60351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A CAPABILITY FORMATION EXPERIENCE</a:t>
            </a:r>
            <a:endParaRPr b="0" i="0" sz="900" u="none" cap="none" strike="noStrike">
              <a:solidFill>
                <a:schemeClr val="dk1"/>
              </a:solidFill>
              <a:latin typeface="Calibri"/>
              <a:ea typeface="Calibri"/>
              <a:cs typeface="Calibri"/>
              <a:sym typeface="Calibri"/>
            </a:endParaRPr>
          </a:p>
        </p:txBody>
      </p:sp>
      <p:sp>
        <p:nvSpPr>
          <p:cNvPr id="21" name="Google Shape;21;g3fbec47727c_0_62"/>
          <p:cNvSpPr/>
          <p:nvPr/>
        </p:nvSpPr>
        <p:spPr>
          <a:xfrm>
            <a:off x="566928" y="1170432"/>
            <a:ext cx="5943600" cy="731400"/>
          </a:xfrm>
          <a:prstGeom prst="rect">
            <a:avLst/>
          </a:prstGeom>
          <a:noFill/>
          <a:ln>
            <a:noFill/>
          </a:ln>
        </p:spPr>
        <p:txBody>
          <a:bodyPr anchorCtr="0" anchor="ctr" bIns="0" lIns="0" spcFirstLastPara="1" rIns="0" wrap="square" tIns="0">
            <a:noAutofit/>
          </a:bodyPr>
          <a:lstStyle/>
          <a:p>
            <a:pPr indent="0" lvl="0" marL="0" marR="0" rtl="0" algn="l">
              <a:lnSpc>
                <a:spcPct val="105263"/>
              </a:lnSpc>
              <a:spcBef>
                <a:spcPts val="0"/>
              </a:spcBef>
              <a:spcAft>
                <a:spcPts val="0"/>
              </a:spcAft>
              <a:buClr>
                <a:srgbClr val="F5F0E8"/>
              </a:buClr>
              <a:buSzPts val="3800"/>
              <a:buFont typeface="Cormorant Garamond"/>
              <a:buNone/>
            </a:pPr>
            <a:r>
              <a:rPr b="1" i="0" lang="en-US" sz="3800" u="none" cap="none" strike="noStrike">
                <a:solidFill>
                  <a:srgbClr val="F5F0E8"/>
                </a:solidFill>
                <a:latin typeface="Cormorant Garamond"/>
                <a:ea typeface="Cormorant Garamond"/>
                <a:cs typeface="Cormorant Garamond"/>
                <a:sym typeface="Cormorant Garamond"/>
              </a:rPr>
              <a:t>Stay or Leave?</a:t>
            </a:r>
            <a:endParaRPr b="0" i="0" sz="3800" u="none" cap="none" strike="noStrike">
              <a:solidFill>
                <a:schemeClr val="dk1"/>
              </a:solidFill>
              <a:latin typeface="Calibri"/>
              <a:ea typeface="Calibri"/>
              <a:cs typeface="Calibri"/>
              <a:sym typeface="Calibri"/>
            </a:endParaRPr>
          </a:p>
        </p:txBody>
      </p:sp>
      <p:sp>
        <p:nvSpPr>
          <p:cNvPr id="22" name="Google Shape;22;g3fbec47727c_0_62"/>
          <p:cNvSpPr/>
          <p:nvPr/>
        </p:nvSpPr>
        <p:spPr>
          <a:xfrm>
            <a:off x="566928" y="2011680"/>
            <a:ext cx="5943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500"/>
              <a:buFont typeface="DM Sans"/>
              <a:buNone/>
            </a:pPr>
            <a:r>
              <a:rPr b="0" i="0" lang="en-US" sz="1500" u="none" cap="none" strike="noStrike">
                <a:solidFill>
                  <a:srgbClr val="F5F0E8"/>
                </a:solidFill>
                <a:latin typeface="DM Sans"/>
                <a:ea typeface="DM Sans"/>
                <a:cs typeface="DM Sans"/>
                <a:sym typeface="DM Sans"/>
              </a:rPr>
              <a:t>Live Career Growth Assessment</a:t>
            </a:r>
            <a:endParaRPr b="0" i="0" sz="1500" u="none" cap="none" strike="noStrike">
              <a:solidFill>
                <a:schemeClr val="dk1"/>
              </a:solidFill>
              <a:latin typeface="Calibri"/>
              <a:ea typeface="Calibri"/>
              <a:cs typeface="Calibri"/>
              <a:sym typeface="Calibri"/>
            </a:endParaRPr>
          </a:p>
        </p:txBody>
      </p:sp>
      <p:sp>
        <p:nvSpPr>
          <p:cNvPr id="23" name="Google Shape;23;g3fbec47727c_0_62"/>
          <p:cNvSpPr/>
          <p:nvPr/>
        </p:nvSpPr>
        <p:spPr>
          <a:xfrm>
            <a:off x="566928" y="2670048"/>
            <a:ext cx="2651700" cy="20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 name="Google Shape;24;g3fbec47727c_0_62"/>
          <p:cNvSpPr/>
          <p:nvPr/>
        </p:nvSpPr>
        <p:spPr>
          <a:xfrm>
            <a:off x="566928" y="2852928"/>
            <a:ext cx="5943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000"/>
              <a:buFont typeface="Cormorant Garamond"/>
              <a:buNone/>
            </a:pPr>
            <a:r>
              <a:t/>
            </a:r>
            <a:endParaRPr b="1" sz="2000">
              <a:solidFill>
                <a:srgbClr val="F5F0E8"/>
              </a:solidFill>
              <a:latin typeface="Cormorant Garamond"/>
              <a:ea typeface="Cormorant Garamond"/>
              <a:cs typeface="Cormorant Garamond"/>
              <a:sym typeface="Cormorant Garamond"/>
            </a:endParaRPr>
          </a:p>
          <a:p>
            <a:pPr indent="0" lvl="0" marL="0" marR="0" rtl="0" algn="l">
              <a:lnSpc>
                <a:spcPct val="100000"/>
              </a:lnSpc>
              <a:spcBef>
                <a:spcPts val="0"/>
              </a:spcBef>
              <a:spcAft>
                <a:spcPts val="0"/>
              </a:spcAft>
              <a:buClr>
                <a:srgbClr val="F5F0E8"/>
              </a:buClr>
              <a:buSzPts val="2000"/>
              <a:buFont typeface="Cormorant Garamond"/>
              <a:buNone/>
            </a:pPr>
            <a:r>
              <a:rPr b="1" i="1" lang="en-US" sz="2300">
                <a:solidFill>
                  <a:srgbClr val="C9A84C"/>
                </a:solidFill>
                <a:latin typeface="Cormorant Garamond"/>
                <a:ea typeface="Cormorant Garamond"/>
                <a:cs typeface="Cormorant Garamond"/>
                <a:sym typeface="Cormorant Garamond"/>
              </a:rPr>
              <a:t>Read the Position Before You Make the Move</a:t>
            </a:r>
            <a:endParaRPr b="1" i="1" sz="2300">
              <a:solidFill>
                <a:srgbClr val="C9A84C"/>
              </a:solidFill>
              <a:latin typeface="Cormorant Garamond"/>
              <a:ea typeface="Cormorant Garamond"/>
              <a:cs typeface="Cormorant Garamond"/>
              <a:sym typeface="Cormorant Garamond"/>
            </a:endParaRPr>
          </a:p>
          <a:p>
            <a:pPr indent="0" lvl="0" marL="0" marR="0" rtl="0" algn="l">
              <a:lnSpc>
                <a:spcPct val="100000"/>
              </a:lnSpc>
              <a:spcBef>
                <a:spcPts val="0"/>
              </a:spcBef>
              <a:spcAft>
                <a:spcPts val="0"/>
              </a:spcAft>
              <a:buClr>
                <a:srgbClr val="F5F0E8"/>
              </a:buClr>
              <a:buSzPts val="2000"/>
              <a:buFont typeface="Cormorant Garamond"/>
              <a:buNone/>
            </a:pPr>
            <a:r>
              <a:t/>
            </a:r>
            <a:endParaRPr b="1" sz="2000">
              <a:solidFill>
                <a:srgbClr val="F5F0E8"/>
              </a:solidFill>
              <a:latin typeface="Cormorant Garamond"/>
              <a:ea typeface="Cormorant Garamond"/>
              <a:cs typeface="Cormorant Garamond"/>
              <a:sym typeface="Cormorant Garamond"/>
            </a:endParaRPr>
          </a:p>
        </p:txBody>
      </p:sp>
      <p:sp>
        <p:nvSpPr>
          <p:cNvPr id="25" name="Google Shape;25;g3fbec47727c_0_62"/>
          <p:cNvSpPr/>
          <p:nvPr/>
        </p:nvSpPr>
        <p:spPr>
          <a:xfrm>
            <a:off x="566928" y="3218688"/>
            <a:ext cx="59436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250"/>
              <a:buFont typeface="DM Sans"/>
              <a:buNone/>
            </a:pPr>
            <a:r>
              <a:t/>
            </a:r>
            <a:endParaRPr b="0" i="0" sz="1250" u="none" cap="none" strike="noStrike">
              <a:solidFill>
                <a:schemeClr val="dk1"/>
              </a:solidFill>
              <a:latin typeface="Calibri"/>
              <a:ea typeface="Calibri"/>
              <a:cs typeface="Calibri"/>
              <a:sym typeface="Calibri"/>
            </a:endParaRPr>
          </a:p>
        </p:txBody>
      </p:sp>
      <p:sp>
        <p:nvSpPr>
          <p:cNvPr id="26" name="Google Shape;26;g3fbec47727c_0_62"/>
          <p:cNvSpPr/>
          <p:nvPr/>
        </p:nvSpPr>
        <p:spPr>
          <a:xfrm>
            <a:off x="566928" y="3675888"/>
            <a:ext cx="5943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950"/>
              <a:buFont typeface="Montserrat"/>
              <a:buNone/>
            </a:pPr>
            <a:r>
              <a:rPr b="1" i="0" lang="en-US" sz="950" u="none" cap="none" strike="noStrike">
                <a:solidFill>
                  <a:srgbClr val="B8C5D9"/>
                </a:solidFill>
                <a:latin typeface="Montserrat"/>
                <a:ea typeface="Montserrat"/>
                <a:cs typeface="Montserrat"/>
                <a:sym typeface="Montserrat"/>
              </a:rPr>
              <a:t>FREE GUIDED ASSESSMENT  ·  60 MINUTES</a:t>
            </a:r>
            <a:endParaRPr b="0" i="0" sz="950" u="none" cap="none" strike="noStrike">
              <a:solidFill>
                <a:schemeClr val="dk1"/>
              </a:solidFill>
              <a:latin typeface="Calibri"/>
              <a:ea typeface="Calibri"/>
              <a:cs typeface="Calibri"/>
              <a:sym typeface="Calibri"/>
            </a:endParaRPr>
          </a:p>
        </p:txBody>
      </p:sp>
      <p:sp>
        <p:nvSpPr>
          <p:cNvPr id="27" name="Google Shape;27;g3fbec47727c_0_62"/>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8" name="Google Shape;28;g3fbec47727c_0_62"/>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3" name="Shape 33"/>
        <p:cNvGrpSpPr/>
        <p:nvPr/>
      </p:nvGrpSpPr>
      <p:grpSpPr>
        <a:xfrm>
          <a:off x="0" y="0"/>
          <a:ext cx="0" cy="0"/>
          <a:chOff x="0" y="0"/>
          <a:chExt cx="0" cy="0"/>
        </a:xfrm>
      </p:grpSpPr>
      <p:pic>
        <p:nvPicPr>
          <p:cNvPr descr="temi-photo.jpg" id="34" name="Google Shape;34;g3fbec47727c_0_81"/>
          <p:cNvPicPr preferRelativeResize="0"/>
          <p:nvPr/>
        </p:nvPicPr>
        <p:blipFill rotWithShape="1">
          <a:blip r:embed="rId3">
            <a:alphaModFix/>
          </a:blip>
          <a:srcRect b="0" l="0" r="0" t="0"/>
          <a:stretch/>
        </p:blipFill>
        <p:spPr>
          <a:xfrm>
            <a:off x="6124254" y="1493255"/>
            <a:ext cx="2640330" cy="2640330"/>
          </a:xfrm>
          <a:prstGeom prst="rect">
            <a:avLst/>
          </a:prstGeom>
          <a:noFill/>
          <a:ln>
            <a:noFill/>
          </a:ln>
        </p:spPr>
      </p:pic>
      <p:sp>
        <p:nvSpPr>
          <p:cNvPr id="35" name="Google Shape;35;g3fbec47727c_0_81"/>
          <p:cNvSpPr txBox="1"/>
          <p:nvPr/>
        </p:nvSpPr>
        <p:spPr>
          <a:xfrm>
            <a:off x="493789" y="411480"/>
            <a:ext cx="58296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F2347"/>
                </a:solidFill>
                <a:latin typeface="Arial"/>
                <a:ea typeface="Arial"/>
                <a:cs typeface="Arial"/>
                <a:sym typeface="Arial"/>
              </a:rPr>
              <a:t>WELCOME</a:t>
            </a:r>
            <a:endParaRPr b="0" i="0" sz="1100" u="none" cap="none" strike="noStrike">
              <a:solidFill>
                <a:srgbClr val="000000"/>
              </a:solidFill>
              <a:latin typeface="Arial"/>
              <a:ea typeface="Arial"/>
              <a:cs typeface="Arial"/>
              <a:sym typeface="Arial"/>
            </a:endParaRPr>
          </a:p>
        </p:txBody>
      </p:sp>
      <p:sp>
        <p:nvSpPr>
          <p:cNvPr id="36" name="Google Shape;36;g3fbec47727c_0_81"/>
          <p:cNvSpPr txBox="1"/>
          <p:nvPr/>
        </p:nvSpPr>
        <p:spPr>
          <a:xfrm>
            <a:off x="493789" y="685800"/>
            <a:ext cx="50064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F2347"/>
                </a:solidFill>
                <a:latin typeface="Georgia"/>
                <a:ea typeface="Georgia"/>
                <a:cs typeface="Georgia"/>
                <a:sym typeface="Georgia"/>
              </a:rPr>
              <a:t>Why I Built This Lesson</a:t>
            </a:r>
            <a:endParaRPr b="0" i="0" sz="1100" u="none" cap="none" strike="noStrike">
              <a:solidFill>
                <a:srgbClr val="000000"/>
              </a:solidFill>
              <a:latin typeface="Arial"/>
              <a:ea typeface="Arial"/>
              <a:cs typeface="Arial"/>
              <a:sym typeface="Arial"/>
            </a:endParaRPr>
          </a:p>
        </p:txBody>
      </p:sp>
      <p:sp>
        <p:nvSpPr>
          <p:cNvPr id="37" name="Google Shape;37;g3fbec47727c_0_81"/>
          <p:cNvSpPr/>
          <p:nvPr/>
        </p:nvSpPr>
        <p:spPr>
          <a:xfrm>
            <a:off x="507506" y="1200150"/>
            <a:ext cx="1783200" cy="13800"/>
          </a:xfrm>
          <a:prstGeom prst="rect">
            <a:avLst/>
          </a:prstGeom>
          <a:solidFill>
            <a:srgbClr val="C9A84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8" name="Google Shape;38;g3fbec47727c_0_81"/>
          <p:cNvSpPr txBox="1"/>
          <p:nvPr/>
        </p:nvSpPr>
        <p:spPr>
          <a:xfrm>
            <a:off x="6261943" y="4133575"/>
            <a:ext cx="2196600" cy="184800"/>
          </a:xfrm>
          <a:prstGeom prst="rect">
            <a:avLst/>
          </a:prstGeom>
          <a:noFill/>
          <a:ln>
            <a:noFill/>
          </a:ln>
        </p:spPr>
        <p:txBody>
          <a:bodyPr anchorCtr="0" anchor="t" bIns="0" lIns="0" spcFirstLastPara="1" rIns="0" wrap="square" tIns="0">
            <a:spAutoFit/>
          </a:bodyPr>
          <a:lstStyle/>
          <a:p>
            <a:pPr indent="0" lvl="0" marL="0" marR="0" rtl="0" algn="ctr">
              <a:lnSpc>
                <a:spcPct val="131250"/>
              </a:lnSpc>
              <a:spcBef>
                <a:spcPts val="0"/>
              </a:spcBef>
              <a:spcAft>
                <a:spcPts val="0"/>
              </a:spcAft>
              <a:buClr>
                <a:srgbClr val="000000"/>
              </a:buClr>
              <a:buSzPts val="1200"/>
              <a:buFont typeface="Arial"/>
              <a:buNone/>
            </a:pPr>
            <a:r>
              <a:rPr b="1" i="0" lang="en-US" sz="1200" u="none" cap="none" strike="noStrike">
                <a:solidFill>
                  <a:srgbClr val="0F2347"/>
                </a:solidFill>
                <a:latin typeface="Georgia"/>
                <a:ea typeface="Georgia"/>
                <a:cs typeface="Georgia"/>
                <a:sym typeface="Georgia"/>
              </a:rPr>
              <a:t>Temidayo Afonja </a:t>
            </a:r>
            <a:endParaRPr b="0" i="0" sz="1100" u="none" cap="none" strike="noStrike">
              <a:solidFill>
                <a:srgbClr val="000000"/>
              </a:solidFill>
              <a:latin typeface="Arial"/>
              <a:ea typeface="Arial"/>
              <a:cs typeface="Arial"/>
              <a:sym typeface="Arial"/>
            </a:endParaRPr>
          </a:p>
        </p:txBody>
      </p:sp>
      <p:sp>
        <p:nvSpPr>
          <p:cNvPr id="39" name="Google Shape;39;g3fbec47727c_0_81"/>
          <p:cNvSpPr txBox="1"/>
          <p:nvPr/>
        </p:nvSpPr>
        <p:spPr>
          <a:xfrm>
            <a:off x="469664" y="1729700"/>
            <a:ext cx="4924200" cy="847500"/>
          </a:xfrm>
          <a:prstGeom prst="rect">
            <a:avLst/>
          </a:prstGeom>
          <a:noFill/>
          <a:ln>
            <a:noFill/>
          </a:ln>
        </p:spPr>
        <p:txBody>
          <a:bodyPr anchorCtr="0" anchor="t" bIns="0" lIns="0" spcFirstLastPara="1" rIns="0" wrap="square" tIns="0">
            <a:spAutoFit/>
          </a:bodyPr>
          <a:lstStyle/>
          <a:p>
            <a:pPr indent="0" lvl="0" marL="0" marR="0" rtl="0" algn="l">
              <a:lnSpc>
                <a:spcPct val="130769"/>
              </a:lnSpc>
              <a:spcBef>
                <a:spcPts val="0"/>
              </a:spcBef>
              <a:spcAft>
                <a:spcPts val="0"/>
              </a:spcAft>
              <a:buClr>
                <a:srgbClr val="000000"/>
              </a:buClr>
              <a:buSzPts val="1000"/>
              <a:buFont typeface="Arial"/>
              <a:buNone/>
            </a:pPr>
            <a:r>
              <a:rPr b="1" i="0" lang="en-US" sz="1000" u="none" cap="none" strike="noStrike">
                <a:solidFill>
                  <a:srgbClr val="0F2347"/>
                </a:solidFill>
                <a:latin typeface="Arial"/>
                <a:ea typeface="Arial"/>
                <a:cs typeface="Arial"/>
                <a:sym typeface="Arial"/>
              </a:rPr>
              <a:t>My career has moved through accounting and audit, cybersecurity, people strategy, employee experience and enterprise transformation, across multiple industries and sectors.</a:t>
            </a:r>
            <a:endParaRPr b="0" i="0" sz="1100" u="none" cap="none" strike="noStrike">
              <a:solidFill>
                <a:srgbClr val="000000"/>
              </a:solidFill>
              <a:latin typeface="Arial"/>
              <a:ea typeface="Arial"/>
              <a:cs typeface="Arial"/>
              <a:sym typeface="Arial"/>
            </a:endParaRPr>
          </a:p>
          <a:p>
            <a:pPr indent="0" lvl="0" marL="0" marR="0" rtl="0" algn="l">
              <a:lnSpc>
                <a:spcPct val="130769"/>
              </a:lnSpc>
              <a:spcBef>
                <a:spcPts val="700"/>
              </a:spcBef>
              <a:spcAft>
                <a:spcPts val="0"/>
              </a:spcAft>
              <a:buClr>
                <a:srgbClr val="000000"/>
              </a:buClr>
              <a:buSzPts val="1000"/>
              <a:buFont typeface="Arial"/>
              <a:buNone/>
            </a:pPr>
            <a:r>
              <a:rPr b="1" i="0" lang="en-US" sz="1000" u="none" cap="none" strike="noStrike">
                <a:solidFill>
                  <a:srgbClr val="0F2347"/>
                </a:solidFill>
                <a:latin typeface="Arial"/>
                <a:ea typeface="Arial"/>
                <a:cs typeface="Arial"/>
                <a:sym typeface="Arial"/>
              </a:rPr>
              <a:t>That journey made me interested in a different career question:</a:t>
            </a:r>
            <a:endParaRPr b="0" i="0" sz="1100" u="none" cap="none" strike="noStrike">
              <a:solidFill>
                <a:srgbClr val="000000"/>
              </a:solidFill>
              <a:latin typeface="Arial"/>
              <a:ea typeface="Arial"/>
              <a:cs typeface="Arial"/>
              <a:sym typeface="Arial"/>
            </a:endParaRPr>
          </a:p>
        </p:txBody>
      </p:sp>
      <p:sp>
        <p:nvSpPr>
          <p:cNvPr id="40" name="Google Shape;40;g3fbec47727c_0_81"/>
          <p:cNvSpPr txBox="1"/>
          <p:nvPr/>
        </p:nvSpPr>
        <p:spPr>
          <a:xfrm>
            <a:off x="497114" y="2923581"/>
            <a:ext cx="4869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F2347"/>
                </a:solidFill>
                <a:latin typeface="Georgia"/>
                <a:ea typeface="Georgia"/>
                <a:cs typeface="Georgia"/>
                <a:sym typeface="Georgia"/>
              </a:rPr>
              <a:t>In 2026, the question became personal.</a:t>
            </a:r>
            <a:endParaRPr b="1" i="0" sz="1400" u="none" cap="none" strike="noStrike">
              <a:solidFill>
                <a:srgbClr val="0F2347"/>
              </a:solidFill>
              <a:latin typeface="Georgia"/>
              <a:ea typeface="Georgia"/>
              <a:cs typeface="Georgia"/>
              <a:sym typeface="Georgia"/>
            </a:endParaRPr>
          </a:p>
        </p:txBody>
      </p:sp>
      <p:sp>
        <p:nvSpPr>
          <p:cNvPr id="41" name="Google Shape;41;g3fbec47727c_0_81"/>
          <p:cNvSpPr/>
          <p:nvPr/>
        </p:nvSpPr>
        <p:spPr>
          <a:xfrm>
            <a:off x="493789" y="3566160"/>
            <a:ext cx="4869300" cy="788700"/>
          </a:xfrm>
          <a:prstGeom prst="rect">
            <a:avLst/>
          </a:prstGeom>
          <a:solidFill>
            <a:srgbClr val="0F234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2" name="Google Shape;42;g3fbec47727c_0_81"/>
          <p:cNvSpPr txBox="1"/>
          <p:nvPr/>
        </p:nvSpPr>
        <p:spPr>
          <a:xfrm>
            <a:off x="685818" y="3723894"/>
            <a:ext cx="4491900" cy="490800"/>
          </a:xfrm>
          <a:prstGeom prst="rect">
            <a:avLst/>
          </a:prstGeom>
          <a:noFill/>
          <a:ln>
            <a:noFill/>
          </a:ln>
        </p:spPr>
        <p:txBody>
          <a:bodyPr anchorCtr="0" anchor="t" bIns="0" lIns="0" spcFirstLastPara="1" rIns="0" wrap="square" tIns="0">
            <a:spAutoFit/>
          </a:bodyPr>
          <a:lstStyle/>
          <a:p>
            <a:pPr indent="0" lvl="0" marL="0" marR="0" rtl="0" algn="l">
              <a:lnSpc>
                <a:spcPct val="127777"/>
              </a:lnSpc>
              <a:spcBef>
                <a:spcPts val="0"/>
              </a:spcBef>
              <a:spcAft>
                <a:spcPts val="0"/>
              </a:spcAft>
              <a:buClr>
                <a:srgbClr val="000000"/>
              </a:buClr>
              <a:buSzPts val="1400"/>
              <a:buFont typeface="Arial"/>
              <a:buNone/>
            </a:pPr>
            <a:r>
              <a:rPr b="1" i="0" lang="en-US" sz="1400" u="none" cap="none" strike="noStrike">
                <a:solidFill>
                  <a:srgbClr val="F5F0E8"/>
                </a:solidFill>
                <a:latin typeface="Georgia"/>
                <a:ea typeface="Georgia"/>
                <a:cs typeface="Georgia"/>
                <a:sym typeface="Georgia"/>
              </a:rPr>
              <a:t>“Can a career begin to stall while the person is still performing well?”</a:t>
            </a:r>
            <a:endParaRPr b="0" i="0" sz="1100" u="none" cap="none" strike="noStrike">
              <a:solidFill>
                <a:srgbClr val="000000"/>
              </a:solidFill>
              <a:latin typeface="Arial"/>
              <a:ea typeface="Arial"/>
              <a:cs typeface="Arial"/>
              <a:sym typeface="Arial"/>
            </a:endParaRPr>
          </a:p>
        </p:txBody>
      </p:sp>
      <p:sp>
        <p:nvSpPr>
          <p:cNvPr id="43" name="Google Shape;43;g3fbec47727c_0_81"/>
          <p:cNvSpPr txBox="1"/>
          <p:nvPr/>
        </p:nvSpPr>
        <p:spPr>
          <a:xfrm>
            <a:off x="493789" y="4848606"/>
            <a:ext cx="37035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F2347"/>
                </a:solidFill>
                <a:latin typeface="Arial"/>
                <a:ea typeface="Arial"/>
                <a:cs typeface="Arial"/>
                <a:sym typeface="Arial"/>
              </a:rPr>
              <a:t>TEMIDAYO AFONJA   |   TEMIDAYOAFONJA.COM</a:t>
            </a:r>
            <a:endParaRPr b="0" i="0" sz="1100" u="none" cap="none" strike="noStrike">
              <a:solidFill>
                <a:srgbClr val="000000"/>
              </a:solidFill>
              <a:latin typeface="Arial"/>
              <a:ea typeface="Arial"/>
              <a:cs typeface="Arial"/>
              <a:sym typeface="Arial"/>
            </a:endParaRPr>
          </a:p>
        </p:txBody>
      </p:sp>
      <p:sp>
        <p:nvSpPr>
          <p:cNvPr id="44" name="Google Shape;44;g3fbec47727c_0_81"/>
          <p:cNvSpPr txBox="1"/>
          <p:nvPr/>
        </p:nvSpPr>
        <p:spPr>
          <a:xfrm>
            <a:off x="8572729" y="4848606"/>
            <a:ext cx="1920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0F2347"/>
                </a:solidFill>
                <a:latin typeface="Arial"/>
                <a:ea typeface="Arial"/>
                <a:cs typeface="Arial"/>
                <a:sym typeface="Arial"/>
              </a:rPr>
              <a:t>1</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9" name="Shape 49"/>
        <p:cNvGrpSpPr/>
        <p:nvPr/>
      </p:nvGrpSpPr>
      <p:grpSpPr>
        <a:xfrm>
          <a:off x="0" y="0"/>
          <a:ext cx="0" cy="0"/>
          <a:chOff x="0" y="0"/>
          <a:chExt cx="0" cy="0"/>
        </a:xfrm>
      </p:grpSpPr>
      <p:sp>
        <p:nvSpPr>
          <p:cNvPr id="50" name="Google Shape;50;p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THE REFRAME</a:t>
            </a:r>
            <a:endParaRPr b="0" i="0" sz="950" u="none" cap="none" strike="noStrike">
              <a:solidFill>
                <a:schemeClr val="dk1"/>
              </a:solidFill>
              <a:latin typeface="Calibri"/>
              <a:ea typeface="Calibri"/>
              <a:cs typeface="Calibri"/>
              <a:sym typeface="Calibri"/>
            </a:endParaRPr>
          </a:p>
        </p:txBody>
      </p:sp>
      <p:sp>
        <p:nvSpPr>
          <p:cNvPr id="51" name="Google Shape;51;p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The question underneath the question</a:t>
            </a:r>
            <a:endParaRPr b="0" i="0" sz="2800" u="none" cap="none" strike="noStrike">
              <a:solidFill>
                <a:schemeClr val="dk1"/>
              </a:solidFill>
              <a:latin typeface="Calibri"/>
              <a:ea typeface="Calibri"/>
              <a:cs typeface="Calibri"/>
              <a:sym typeface="Calibri"/>
            </a:endParaRPr>
          </a:p>
        </p:txBody>
      </p:sp>
      <p:sp>
        <p:nvSpPr>
          <p:cNvPr id="52" name="Google Shape;52;p2"/>
          <p:cNvSpPr/>
          <p:nvPr/>
        </p:nvSpPr>
        <p:spPr>
          <a:xfrm>
            <a:off x="566928" y="1847088"/>
            <a:ext cx="3886200" cy="148132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 name="Google Shape;53;p2"/>
          <p:cNvSpPr/>
          <p:nvPr/>
        </p:nvSpPr>
        <p:spPr>
          <a:xfrm>
            <a:off x="786384" y="1993392"/>
            <a:ext cx="3474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820"/>
              <a:buFont typeface="Montserrat"/>
              <a:buNone/>
            </a:pPr>
            <a:r>
              <a:rPr b="1" i="0" lang="en-US" sz="1220" u="none" cap="none" strike="noStrike">
                <a:solidFill>
                  <a:srgbClr val="5A6B84"/>
                </a:solidFill>
                <a:latin typeface="Montserrat"/>
                <a:ea typeface="Montserrat"/>
                <a:cs typeface="Montserrat"/>
                <a:sym typeface="Montserrat"/>
              </a:rPr>
              <a:t>WHAT YOU CAME IN ASKING</a:t>
            </a:r>
            <a:endParaRPr b="0" i="0" sz="1220" u="none" cap="none" strike="noStrike">
              <a:solidFill>
                <a:schemeClr val="dk1"/>
              </a:solidFill>
              <a:latin typeface="Calibri"/>
              <a:ea typeface="Calibri"/>
              <a:cs typeface="Calibri"/>
              <a:sym typeface="Calibri"/>
            </a:endParaRPr>
          </a:p>
        </p:txBody>
      </p:sp>
      <p:sp>
        <p:nvSpPr>
          <p:cNvPr id="54" name="Google Shape;54;p2"/>
          <p:cNvSpPr/>
          <p:nvPr/>
        </p:nvSpPr>
        <p:spPr>
          <a:xfrm>
            <a:off x="786384" y="2304288"/>
            <a:ext cx="3474720" cy="82296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800"/>
              <a:buFont typeface="Cormorant Garamond"/>
              <a:buNone/>
            </a:pPr>
            <a:r>
              <a:rPr b="1" i="0" lang="en-US" sz="1800" u="none" cap="none" strike="noStrike">
                <a:solidFill>
                  <a:srgbClr val="0F2347"/>
                </a:solidFill>
                <a:latin typeface="Cormorant Garamond"/>
                <a:ea typeface="Cormorant Garamond"/>
                <a:cs typeface="Cormorant Garamond"/>
                <a:sym typeface="Cormorant Garamond"/>
              </a:rPr>
              <a:t>“Should I stay in this role,</a:t>
            </a:r>
            <a:endParaRPr b="0" i="0" sz="18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0F2347"/>
              </a:buClr>
              <a:buSzPts val="1800"/>
              <a:buFont typeface="Cormorant Garamond"/>
              <a:buNone/>
            </a:pPr>
            <a:r>
              <a:rPr b="1" i="0" lang="en-US" sz="1800" u="none" cap="none" strike="noStrike">
                <a:solidFill>
                  <a:srgbClr val="0F2347"/>
                </a:solidFill>
                <a:latin typeface="Cormorant Garamond"/>
                <a:ea typeface="Cormorant Garamond"/>
                <a:cs typeface="Cormorant Garamond"/>
                <a:sym typeface="Cormorant Garamond"/>
              </a:rPr>
              <a:t>or should I go?”</a:t>
            </a:r>
            <a:endParaRPr b="0" i="0" sz="1800" u="none" cap="none" strike="noStrike">
              <a:solidFill>
                <a:schemeClr val="dk1"/>
              </a:solidFill>
              <a:latin typeface="Calibri"/>
              <a:ea typeface="Calibri"/>
              <a:cs typeface="Calibri"/>
              <a:sym typeface="Calibri"/>
            </a:endParaRPr>
          </a:p>
        </p:txBody>
      </p:sp>
      <p:sp>
        <p:nvSpPr>
          <p:cNvPr id="55" name="Google Shape;55;p2"/>
          <p:cNvSpPr/>
          <p:nvPr/>
        </p:nvSpPr>
        <p:spPr>
          <a:xfrm>
            <a:off x="4690872" y="1847088"/>
            <a:ext cx="3886200" cy="148132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 name="Google Shape;56;p2"/>
          <p:cNvSpPr/>
          <p:nvPr/>
        </p:nvSpPr>
        <p:spPr>
          <a:xfrm>
            <a:off x="4910328" y="1993392"/>
            <a:ext cx="3474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820"/>
              <a:buFont typeface="Montserrat"/>
              <a:buNone/>
            </a:pPr>
            <a:r>
              <a:rPr b="1" i="0" lang="en-US" sz="1220" u="none" cap="none" strike="noStrike">
                <a:solidFill>
                  <a:srgbClr val="C9A84C"/>
                </a:solidFill>
                <a:latin typeface="Montserrat"/>
                <a:ea typeface="Montserrat"/>
                <a:cs typeface="Montserrat"/>
                <a:sym typeface="Montserrat"/>
              </a:rPr>
              <a:t>WHAT YOU NEED TO </a:t>
            </a:r>
            <a:r>
              <a:rPr b="1" lang="en-US" sz="1220">
                <a:solidFill>
                  <a:srgbClr val="C9A84C"/>
                </a:solidFill>
                <a:latin typeface="Montserrat"/>
                <a:ea typeface="Montserrat"/>
                <a:cs typeface="Montserrat"/>
                <a:sym typeface="Montserrat"/>
              </a:rPr>
              <a:t>ANSWER</a:t>
            </a:r>
            <a:r>
              <a:rPr b="1" i="0" lang="en-US" sz="1220" u="none" cap="none" strike="noStrike">
                <a:solidFill>
                  <a:srgbClr val="C9A84C"/>
                </a:solidFill>
                <a:latin typeface="Montserrat"/>
                <a:ea typeface="Montserrat"/>
                <a:cs typeface="Montserrat"/>
                <a:sym typeface="Montserrat"/>
              </a:rPr>
              <a:t> FIRST</a:t>
            </a:r>
            <a:endParaRPr b="0" i="0" sz="1220" u="none" cap="none" strike="noStrike">
              <a:solidFill>
                <a:schemeClr val="dk1"/>
              </a:solidFill>
              <a:latin typeface="Calibri"/>
              <a:ea typeface="Calibri"/>
              <a:cs typeface="Calibri"/>
              <a:sym typeface="Calibri"/>
            </a:endParaRPr>
          </a:p>
        </p:txBody>
      </p:sp>
      <p:sp>
        <p:nvSpPr>
          <p:cNvPr id="57" name="Google Shape;57;p2"/>
          <p:cNvSpPr/>
          <p:nvPr/>
        </p:nvSpPr>
        <p:spPr>
          <a:xfrm>
            <a:off x="4910328" y="2286000"/>
            <a:ext cx="3474720"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F5F0E8"/>
              </a:buClr>
              <a:buSzPts val="1500"/>
              <a:buFont typeface="Cormorant Garamond"/>
              <a:buNone/>
            </a:pPr>
            <a:r>
              <a:rPr b="1" i="0" lang="en-US" sz="1650" u="none" cap="none" strike="noStrike">
                <a:solidFill>
                  <a:srgbClr val="F5F0E8"/>
                </a:solidFill>
                <a:latin typeface="Cormorant Garamond"/>
                <a:ea typeface="Cormorant Garamond"/>
                <a:cs typeface="Cormorant Garamond"/>
                <a:sym typeface="Cormorant Garamond"/>
              </a:rPr>
              <a:t>“Is this work still building me, and what would still travel if the context changed?”</a:t>
            </a:r>
            <a:endParaRPr b="0" i="0" sz="1650" u="none" cap="none" strike="noStrike">
              <a:solidFill>
                <a:schemeClr val="dk1"/>
              </a:solidFill>
              <a:latin typeface="Calibri"/>
              <a:ea typeface="Calibri"/>
              <a:cs typeface="Calibri"/>
              <a:sym typeface="Calibri"/>
            </a:endParaRPr>
          </a:p>
        </p:txBody>
      </p:sp>
      <p:sp>
        <p:nvSpPr>
          <p:cNvPr id="58" name="Google Shape;58;p2"/>
          <p:cNvSpPr/>
          <p:nvPr/>
        </p:nvSpPr>
        <p:spPr>
          <a:xfrm>
            <a:off x="566928" y="3584448"/>
            <a:ext cx="8010144"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The first question is yours alone. The second sits upstream of it, and this session can read it more rigorously.</a:t>
            </a:r>
            <a:endParaRPr b="0" i="0" sz="1250" u="none" cap="none" strike="noStrike">
              <a:solidFill>
                <a:schemeClr val="dk1"/>
              </a:solidFill>
              <a:latin typeface="Calibri"/>
              <a:ea typeface="Calibri"/>
              <a:cs typeface="Calibri"/>
              <a:sym typeface="Calibri"/>
            </a:endParaRPr>
          </a:p>
        </p:txBody>
      </p:sp>
      <p:sp>
        <p:nvSpPr>
          <p:cNvPr id="59" name="Google Shape;59;p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60" name="Google Shape;60;p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5" name="Shape 65"/>
        <p:cNvGrpSpPr/>
        <p:nvPr/>
      </p:nvGrpSpPr>
      <p:grpSpPr>
        <a:xfrm>
          <a:off x="0" y="0"/>
          <a:ext cx="0" cy="0"/>
          <a:chOff x="0" y="0"/>
          <a:chExt cx="0" cy="0"/>
        </a:xfrm>
      </p:grpSpPr>
      <p:sp>
        <p:nvSpPr>
          <p:cNvPr id="66" name="Google Shape;66;h11f538478445b104_2_46"/>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BOUNDARY</a:t>
            </a:r>
            <a:endParaRPr b="0" i="0" sz="950" u="none" cap="none" strike="noStrike">
              <a:solidFill>
                <a:schemeClr val="dk1"/>
              </a:solidFill>
              <a:latin typeface="Calibri"/>
              <a:ea typeface="Calibri"/>
              <a:cs typeface="Calibri"/>
              <a:sym typeface="Calibri"/>
            </a:endParaRPr>
          </a:p>
        </p:txBody>
      </p:sp>
      <p:sp>
        <p:nvSpPr>
          <p:cNvPr id="67" name="Google Shape;67;h11f538478445b104_2_46"/>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700"/>
              <a:buFont typeface="Cormorant Garamond"/>
              <a:buNone/>
            </a:pPr>
            <a:r>
              <a:rPr b="1" lang="en-US" sz="2700">
                <a:solidFill>
                  <a:srgbClr val="0F2347"/>
                </a:solidFill>
                <a:latin typeface="Cormorant Garamond"/>
                <a:ea typeface="Cormorant Garamond"/>
                <a:cs typeface="Cormorant Garamond"/>
                <a:sym typeface="Cormorant Garamond"/>
              </a:rPr>
              <a:t>The session, today</a:t>
            </a:r>
            <a:r>
              <a:rPr b="1" i="0" lang="en-US" sz="2700" u="none" cap="none" strike="noStrike">
                <a:solidFill>
                  <a:srgbClr val="0F2347"/>
                </a:solidFill>
                <a:latin typeface="Cormorant Garamond"/>
                <a:ea typeface="Cormorant Garamond"/>
                <a:cs typeface="Cormorant Garamond"/>
                <a:sym typeface="Cormorant Garamond"/>
              </a:rPr>
              <a:t> will and will not</a:t>
            </a:r>
            <a:r>
              <a:rPr b="1" lang="en-US" sz="2700">
                <a:solidFill>
                  <a:srgbClr val="0F2347"/>
                </a:solidFill>
                <a:latin typeface="Cormorant Garamond"/>
                <a:ea typeface="Cormorant Garamond"/>
                <a:cs typeface="Cormorant Garamond"/>
                <a:sym typeface="Cormorant Garamond"/>
              </a:rPr>
              <a:t>…</a:t>
            </a:r>
            <a:endParaRPr b="0" i="0" sz="2700" u="none" cap="none" strike="noStrike">
              <a:solidFill>
                <a:schemeClr val="dk1"/>
              </a:solidFill>
              <a:latin typeface="Calibri"/>
              <a:ea typeface="Calibri"/>
              <a:cs typeface="Calibri"/>
              <a:sym typeface="Calibri"/>
            </a:endParaRPr>
          </a:p>
        </p:txBody>
      </p:sp>
      <p:sp>
        <p:nvSpPr>
          <p:cNvPr id="68" name="Google Shape;68;h11f538478445b104_2_46"/>
          <p:cNvSpPr/>
          <p:nvPr/>
        </p:nvSpPr>
        <p:spPr>
          <a:xfrm>
            <a:off x="566928" y="1371600"/>
            <a:ext cx="8010000" cy="4755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 name="Google Shape;69;h11f538478445b104_2_46"/>
          <p:cNvSpPr/>
          <p:nvPr/>
        </p:nvSpPr>
        <p:spPr>
          <a:xfrm>
            <a:off x="804672" y="1371600"/>
            <a:ext cx="7534800" cy="47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700"/>
              <a:buFont typeface="Cormorant Garamond"/>
              <a:buNone/>
            </a:pPr>
            <a:r>
              <a:rPr b="1" i="0" lang="en-US" sz="1700" u="none" cap="none" strike="noStrike">
                <a:solidFill>
                  <a:srgbClr val="F5F0E8"/>
                </a:solidFill>
                <a:latin typeface="Cormorant Garamond"/>
                <a:ea typeface="Cormorant Garamond"/>
                <a:cs typeface="Cormorant Garamond"/>
                <a:sym typeface="Cormorant Garamond"/>
              </a:rPr>
              <a:t>This read will not tell you to stay or leave.</a:t>
            </a:r>
            <a:endParaRPr b="0" i="0" sz="1700" u="none" cap="none" strike="noStrike">
              <a:solidFill>
                <a:schemeClr val="dk1"/>
              </a:solidFill>
              <a:latin typeface="Calibri"/>
              <a:ea typeface="Calibri"/>
              <a:cs typeface="Calibri"/>
              <a:sym typeface="Calibri"/>
            </a:endParaRPr>
          </a:p>
        </p:txBody>
      </p:sp>
      <p:sp>
        <p:nvSpPr>
          <p:cNvPr id="70" name="Google Shape;70;h11f538478445b104_2_46"/>
          <p:cNvSpPr/>
          <p:nvPr/>
        </p:nvSpPr>
        <p:spPr>
          <a:xfrm>
            <a:off x="566928" y="2011680"/>
            <a:ext cx="1600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IT WILL</a:t>
            </a:r>
            <a:endParaRPr b="0" i="0" sz="840" u="none" cap="none" strike="noStrike">
              <a:solidFill>
                <a:schemeClr val="dk1"/>
              </a:solidFill>
              <a:latin typeface="Calibri"/>
              <a:ea typeface="Calibri"/>
              <a:cs typeface="Calibri"/>
              <a:sym typeface="Calibri"/>
            </a:endParaRPr>
          </a:p>
        </p:txBody>
      </p:sp>
      <p:sp>
        <p:nvSpPr>
          <p:cNvPr id="71" name="Google Shape;71;h11f538478445b104_2_46"/>
          <p:cNvSpPr/>
          <p:nvPr/>
        </p:nvSpPr>
        <p:spPr>
          <a:xfrm>
            <a:off x="2304288" y="1975104"/>
            <a:ext cx="6272700" cy="512100"/>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Give you a defensible reading of your current position, and </a:t>
            </a:r>
            <a:r>
              <a:rPr b="1" i="0" lang="en-US" sz="1140" u="none" cap="none" strike="noStrike">
                <a:solidFill>
                  <a:srgbClr val="0F2347"/>
                </a:solidFill>
                <a:latin typeface="DM Sans"/>
                <a:ea typeface="DM Sans"/>
                <a:cs typeface="DM Sans"/>
                <a:sym typeface="DM Sans"/>
              </a:rPr>
              <a:t>all seven categories of move</a:t>
            </a:r>
            <a:r>
              <a:rPr b="0" i="0" lang="en-US" sz="1140" u="none" cap="none" strike="noStrike">
                <a:solidFill>
                  <a:srgbClr val="0F2347"/>
                </a:solidFill>
                <a:latin typeface="DM Sans"/>
                <a:ea typeface="DM Sans"/>
                <a:cs typeface="DM Sans"/>
                <a:sym typeface="DM Sans"/>
              </a:rPr>
              <a:t>, then the one your evidence supports testing.</a:t>
            </a:r>
            <a:endParaRPr b="0" i="0" sz="1140" u="none" cap="none" strike="noStrike">
              <a:solidFill>
                <a:schemeClr val="dk1"/>
              </a:solidFill>
              <a:latin typeface="Calibri"/>
              <a:ea typeface="Calibri"/>
              <a:cs typeface="Calibri"/>
              <a:sym typeface="Calibri"/>
            </a:endParaRPr>
          </a:p>
        </p:txBody>
      </p:sp>
      <p:sp>
        <p:nvSpPr>
          <p:cNvPr id="72" name="Google Shape;72;h11f538478445b104_2_46"/>
          <p:cNvSpPr/>
          <p:nvPr/>
        </p:nvSpPr>
        <p:spPr>
          <a:xfrm>
            <a:off x="566928" y="2615184"/>
            <a:ext cx="1600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IT WILL NOT</a:t>
            </a:r>
            <a:endParaRPr b="0" i="0" sz="840" u="none" cap="none" strike="noStrike">
              <a:solidFill>
                <a:schemeClr val="dk1"/>
              </a:solidFill>
              <a:latin typeface="Calibri"/>
              <a:ea typeface="Calibri"/>
              <a:cs typeface="Calibri"/>
              <a:sym typeface="Calibri"/>
            </a:endParaRPr>
          </a:p>
        </p:txBody>
      </p:sp>
      <p:sp>
        <p:nvSpPr>
          <p:cNvPr id="73" name="Google Shape;73;h11f538478445b104_2_46"/>
          <p:cNvSpPr/>
          <p:nvPr/>
        </p:nvSpPr>
        <p:spPr>
          <a:xfrm>
            <a:off x="2304288" y="2578608"/>
            <a:ext cx="6272700" cy="512100"/>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Predict layoffs, diagnose your employer, or make an employment decision for you.</a:t>
            </a:r>
            <a:endParaRPr b="0" i="0" sz="1140" u="none" cap="none" strike="noStrike">
              <a:solidFill>
                <a:schemeClr val="dk1"/>
              </a:solidFill>
              <a:latin typeface="Calibri"/>
              <a:ea typeface="Calibri"/>
              <a:cs typeface="Calibri"/>
              <a:sym typeface="Calibri"/>
            </a:endParaRPr>
          </a:p>
        </p:txBody>
      </p:sp>
      <p:sp>
        <p:nvSpPr>
          <p:cNvPr id="74" name="Google Shape;74;h11f538478445b104_2_46"/>
          <p:cNvSpPr/>
          <p:nvPr/>
        </p:nvSpPr>
        <p:spPr>
          <a:xfrm>
            <a:off x="566928" y="3218688"/>
            <a:ext cx="1600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YOUR SCORES</a:t>
            </a:r>
            <a:endParaRPr b="0" i="0" sz="840" u="none" cap="none" strike="noStrike">
              <a:solidFill>
                <a:schemeClr val="dk1"/>
              </a:solidFill>
              <a:latin typeface="Calibri"/>
              <a:ea typeface="Calibri"/>
              <a:cs typeface="Calibri"/>
              <a:sym typeface="Calibri"/>
            </a:endParaRPr>
          </a:p>
        </p:txBody>
      </p:sp>
      <p:sp>
        <p:nvSpPr>
          <p:cNvPr id="75" name="Google Shape;75;h11f538478445b104_2_46"/>
          <p:cNvSpPr/>
          <p:nvPr/>
        </p:nvSpPr>
        <p:spPr>
          <a:xfrm>
            <a:off x="2304288" y="3182112"/>
            <a:ext cx="6272700" cy="512100"/>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Stay private. Nothing is submitted, collected or shared at any point.</a:t>
            </a:r>
            <a:endParaRPr b="0" i="0" sz="1140" u="none" cap="none" strike="noStrike">
              <a:solidFill>
                <a:schemeClr val="dk1"/>
              </a:solidFill>
              <a:latin typeface="Calibri"/>
              <a:ea typeface="Calibri"/>
              <a:cs typeface="Calibri"/>
              <a:sym typeface="Calibri"/>
            </a:endParaRPr>
          </a:p>
        </p:txBody>
      </p:sp>
      <p:sp>
        <p:nvSpPr>
          <p:cNvPr id="76" name="Google Shape;76;h11f538478445b104_2_46"/>
          <p:cNvSpPr/>
          <p:nvPr/>
        </p:nvSpPr>
        <p:spPr>
          <a:xfrm>
            <a:off x="566928" y="3822192"/>
            <a:ext cx="1600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THE RECORDING</a:t>
            </a:r>
            <a:endParaRPr b="0" i="0" sz="840" u="none" cap="none" strike="noStrike">
              <a:solidFill>
                <a:schemeClr val="dk1"/>
              </a:solidFill>
              <a:latin typeface="Calibri"/>
              <a:ea typeface="Calibri"/>
              <a:cs typeface="Calibri"/>
              <a:sym typeface="Calibri"/>
            </a:endParaRPr>
          </a:p>
        </p:txBody>
      </p:sp>
      <p:sp>
        <p:nvSpPr>
          <p:cNvPr id="77" name="Google Shape;77;h11f538478445b104_2_46"/>
          <p:cNvSpPr/>
          <p:nvPr/>
        </p:nvSpPr>
        <p:spPr>
          <a:xfrm>
            <a:off x="2304288" y="3785616"/>
            <a:ext cx="6272700" cy="512100"/>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The teaching runs to minute 50 and is recorded. The last ten minutes are live questions and are not recorded.</a:t>
            </a:r>
            <a:endParaRPr b="0" i="0" sz="1140" u="none" cap="none" strike="noStrike">
              <a:solidFill>
                <a:schemeClr val="dk1"/>
              </a:solidFill>
              <a:latin typeface="Calibri"/>
              <a:ea typeface="Calibri"/>
              <a:cs typeface="Calibri"/>
              <a:sym typeface="Calibri"/>
            </a:endParaRPr>
          </a:p>
        </p:txBody>
      </p:sp>
      <p:sp>
        <p:nvSpPr>
          <p:cNvPr id="78" name="Google Shape;78;h11f538478445b104_2_46"/>
          <p:cNvSpPr/>
          <p:nvPr/>
        </p:nvSpPr>
        <p:spPr>
          <a:xfrm>
            <a:off x="566928" y="4498848"/>
            <a:ext cx="80100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39"/>
              <a:buFont typeface="DM Sans"/>
              <a:buNone/>
            </a:pPr>
            <a:r>
              <a:rPr b="0" i="1" lang="en-US" sz="940" u="none" cap="none" strike="noStrike">
                <a:solidFill>
                  <a:srgbClr val="5A6B84"/>
                </a:solidFill>
                <a:latin typeface="DM Sans"/>
                <a:ea typeface="DM Sans"/>
                <a:cs typeface="DM Sans"/>
                <a:sym typeface="DM Sans"/>
              </a:rPr>
              <a:t>This is not legal, medical, financial, immigration or mental-health advice.</a:t>
            </a:r>
            <a:endParaRPr b="0" i="0" sz="940" u="none" cap="none" strike="noStrike">
              <a:solidFill>
                <a:schemeClr val="dk1"/>
              </a:solidFill>
              <a:latin typeface="Calibri"/>
              <a:ea typeface="Calibri"/>
              <a:cs typeface="Calibri"/>
              <a:sym typeface="Calibri"/>
            </a:endParaRPr>
          </a:p>
        </p:txBody>
      </p:sp>
      <p:sp>
        <p:nvSpPr>
          <p:cNvPr id="79" name="Google Shape;79;h11f538478445b104_2_46"/>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80" name="Google Shape;80;h11f538478445b104_2_46"/>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5" name="Shape 85"/>
        <p:cNvGrpSpPr/>
        <p:nvPr/>
      </p:nvGrpSpPr>
      <p:grpSpPr>
        <a:xfrm>
          <a:off x="0" y="0"/>
          <a:ext cx="0" cy="0"/>
          <a:chOff x="0" y="0"/>
          <a:chExt cx="0" cy="0"/>
        </a:xfrm>
      </p:grpSpPr>
      <p:sp>
        <p:nvSpPr>
          <p:cNvPr id="86" name="Google Shape;86;h38333402142a079_2_31"/>
          <p:cNvSpPr/>
          <p:nvPr/>
        </p:nvSpPr>
        <p:spPr>
          <a:xfrm>
            <a:off x="566928" y="1188720"/>
            <a:ext cx="8010000" cy="1188600"/>
          </a:xfrm>
          <a:prstGeom prst="rect">
            <a:avLst/>
          </a:prstGeom>
          <a:noFill/>
          <a:ln>
            <a:noFill/>
          </a:ln>
        </p:spPr>
        <p:txBody>
          <a:bodyPr anchorCtr="0" anchor="ctr" bIns="0" lIns="0" spcFirstLastPara="1" rIns="0" wrap="square" tIns="0">
            <a:noAutofit/>
          </a:bodyPr>
          <a:lstStyle/>
          <a:p>
            <a:pPr indent="0" lvl="0" marL="0" marR="0" rtl="0" algn="l">
              <a:lnSpc>
                <a:spcPct val="122580"/>
              </a:lnSpc>
              <a:spcBef>
                <a:spcPts val="0"/>
              </a:spcBef>
              <a:spcAft>
                <a:spcPts val="0"/>
              </a:spcAft>
              <a:buClr>
                <a:srgbClr val="F5F0E8"/>
              </a:buClr>
              <a:buSzPts val="3100"/>
              <a:buFont typeface="Cormorant Garamond"/>
              <a:buNone/>
            </a:pPr>
            <a:r>
              <a:t/>
            </a:r>
            <a:endParaRPr b="1" sz="3100">
              <a:solidFill>
                <a:srgbClr val="F5F0E8"/>
              </a:solidFill>
              <a:latin typeface="Cormorant Garamond"/>
              <a:ea typeface="Cormorant Garamond"/>
              <a:cs typeface="Cormorant Garamond"/>
              <a:sym typeface="Cormorant Garamond"/>
            </a:endParaRPr>
          </a:p>
          <a:p>
            <a:pPr indent="0" lvl="0" marL="0" marR="0" rtl="0" algn="l">
              <a:lnSpc>
                <a:spcPct val="122580"/>
              </a:lnSpc>
              <a:spcBef>
                <a:spcPts val="0"/>
              </a:spcBef>
              <a:spcAft>
                <a:spcPts val="0"/>
              </a:spcAft>
              <a:buClr>
                <a:srgbClr val="F5F0E8"/>
              </a:buClr>
              <a:buSzPts val="3100"/>
              <a:buFont typeface="Cormorant Garamond"/>
              <a:buNone/>
            </a:pPr>
            <a:r>
              <a:rPr b="1" lang="en-US" sz="3800">
                <a:solidFill>
                  <a:srgbClr val="F5F0E8"/>
                </a:solidFill>
                <a:latin typeface="Cormorant Garamond"/>
                <a:ea typeface="Cormorant Garamond"/>
                <a:cs typeface="Cormorant Garamond"/>
                <a:sym typeface="Cormorant Garamond"/>
              </a:rPr>
              <a:t>Definitions</a:t>
            </a:r>
            <a:endParaRPr b="0" i="0" sz="3100" u="none" cap="none" strike="noStrike">
              <a:solidFill>
                <a:schemeClr val="dk1"/>
              </a:solidFill>
              <a:latin typeface="Calibri"/>
              <a:ea typeface="Calibri"/>
              <a:cs typeface="Calibri"/>
              <a:sym typeface="Calibri"/>
            </a:endParaRPr>
          </a:p>
        </p:txBody>
      </p:sp>
      <p:sp>
        <p:nvSpPr>
          <p:cNvPr id="87" name="Google Shape;87;h38333402142a079_2_31"/>
          <p:cNvSpPr/>
          <p:nvPr/>
        </p:nvSpPr>
        <p:spPr>
          <a:xfrm>
            <a:off x="566928" y="2523744"/>
            <a:ext cx="2651700" cy="20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h38333402142a079_2_31"/>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700"/>
              <a:buFont typeface="Montserrat"/>
              <a:buNone/>
            </a:pPr>
            <a:r>
              <a:rPr b="1" i="0" lang="en-US" sz="700" u="none" cap="none" strike="noStrike">
                <a:solidFill>
                  <a:srgbClr val="B8C5D9"/>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3" name="Shape 93"/>
        <p:cNvGrpSpPr/>
        <p:nvPr/>
      </p:nvGrpSpPr>
      <p:grpSpPr>
        <a:xfrm>
          <a:off x="0" y="0"/>
          <a:ext cx="0" cy="0"/>
          <a:chOff x="0" y="0"/>
          <a:chExt cx="0" cy="0"/>
        </a:xfrm>
      </p:grpSpPr>
      <p:sp>
        <p:nvSpPr>
          <p:cNvPr id="94" name="Google Shape;94;h38333402142a079_2_39"/>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DEFINITION ONE </a:t>
            </a:r>
            <a:endParaRPr b="0" i="0" sz="950" u="none" cap="none" strike="noStrike">
              <a:solidFill>
                <a:schemeClr val="dk1"/>
              </a:solidFill>
              <a:latin typeface="Calibri"/>
              <a:ea typeface="Calibri"/>
              <a:cs typeface="Calibri"/>
              <a:sym typeface="Calibri"/>
            </a:endParaRPr>
          </a:p>
        </p:txBody>
      </p:sp>
      <p:sp>
        <p:nvSpPr>
          <p:cNvPr id="95" name="Google Shape;95;h38333402142a079_2_39"/>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400"/>
              <a:buFont typeface="Cormorant Garamond"/>
              <a:buNone/>
            </a:pPr>
            <a:r>
              <a:rPr b="1" i="0" lang="en-US" sz="3400" u="none" cap="none" strike="noStrike">
                <a:solidFill>
                  <a:srgbClr val="0F2347"/>
                </a:solidFill>
                <a:latin typeface="Cormorant Garamond"/>
                <a:ea typeface="Cormorant Garamond"/>
                <a:cs typeface="Cormorant Garamond"/>
                <a:sym typeface="Cormorant Garamond"/>
              </a:rPr>
              <a:t>Is the work still building you?</a:t>
            </a:r>
            <a:endParaRPr b="0" i="0" sz="3400" u="none" cap="none" strike="noStrike">
              <a:solidFill>
                <a:schemeClr val="dk1"/>
              </a:solidFill>
              <a:latin typeface="Calibri"/>
              <a:ea typeface="Calibri"/>
              <a:cs typeface="Calibri"/>
              <a:sym typeface="Calibri"/>
            </a:endParaRPr>
          </a:p>
        </p:txBody>
      </p:sp>
      <p:sp>
        <p:nvSpPr>
          <p:cNvPr id="96" name="Google Shape;96;h38333402142a079_2_39"/>
          <p:cNvSpPr/>
          <p:nvPr/>
        </p:nvSpPr>
        <p:spPr>
          <a:xfrm>
            <a:off x="566928" y="1371600"/>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This reading calls that Density.</a:t>
            </a:r>
            <a:endParaRPr b="0" i="0" sz="1150" u="none" cap="none" strike="noStrike">
              <a:solidFill>
                <a:schemeClr val="dk1"/>
              </a:solidFill>
              <a:latin typeface="Calibri"/>
              <a:ea typeface="Calibri"/>
              <a:cs typeface="Calibri"/>
              <a:sym typeface="Calibri"/>
            </a:endParaRPr>
          </a:p>
        </p:txBody>
      </p:sp>
      <p:sp>
        <p:nvSpPr>
          <p:cNvPr id="97" name="Google Shape;97;h38333402142a079_2_39"/>
          <p:cNvSpPr/>
          <p:nvPr/>
        </p:nvSpPr>
        <p:spPr>
          <a:xfrm>
            <a:off x="566928" y="1828800"/>
            <a:ext cx="8010000" cy="64020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0F2347"/>
              </a:buClr>
              <a:buSzPts val="1400"/>
              <a:buFont typeface="DM Sans"/>
              <a:buNone/>
            </a:pPr>
            <a:r>
              <a:rPr b="1" lang="en-US" sz="1600">
                <a:solidFill>
                  <a:srgbClr val="0F2347"/>
                </a:solidFill>
                <a:highlight>
                  <a:schemeClr val="accent4"/>
                </a:highlight>
                <a:latin typeface="DM Sans"/>
                <a:ea typeface="DM Sans"/>
                <a:cs typeface="DM Sans"/>
                <a:sym typeface="DM Sans"/>
              </a:rPr>
              <a:t>DENSITY</a:t>
            </a:r>
            <a:r>
              <a:rPr b="0" i="0" lang="en-US" sz="1400" u="none" cap="none" strike="noStrike">
                <a:solidFill>
                  <a:srgbClr val="0F2347"/>
                </a:solidFill>
                <a:latin typeface="DM Sans"/>
                <a:ea typeface="DM Sans"/>
                <a:cs typeface="DM Sans"/>
                <a:sym typeface="DM Sans"/>
              </a:rPr>
              <a:t> reads whether this environment is still forming you. It reads your conditions, not your effort. A role can be demanding, important and exhausting and still stop building you.</a:t>
            </a:r>
            <a:endParaRPr b="0" i="0" sz="1400" u="none" cap="none" strike="noStrike">
              <a:solidFill>
                <a:schemeClr val="dk1"/>
              </a:solidFill>
              <a:latin typeface="Calibri"/>
              <a:ea typeface="Calibri"/>
              <a:cs typeface="Calibri"/>
              <a:sym typeface="Calibri"/>
            </a:endParaRPr>
          </a:p>
        </p:txBody>
      </p:sp>
      <p:sp>
        <p:nvSpPr>
          <p:cNvPr id="98" name="Google Shape;98;h38333402142a079_2_39"/>
          <p:cNvSpPr/>
          <p:nvPr/>
        </p:nvSpPr>
        <p:spPr>
          <a:xfrm>
            <a:off x="566928" y="2688336"/>
            <a:ext cx="8010000" cy="6585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 name="Google Shape;99;h38333402142a079_2_39"/>
          <p:cNvSpPr/>
          <p:nvPr/>
        </p:nvSpPr>
        <p:spPr>
          <a:xfrm>
            <a:off x="804672" y="2688336"/>
            <a:ext cx="7534800" cy="6585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200"/>
              <a:buFont typeface="DM Sans"/>
              <a:buNone/>
            </a:pPr>
            <a:r>
              <a:rPr b="1" i="0" lang="en-US" sz="1200" u="none" cap="none" strike="noStrike">
                <a:solidFill>
                  <a:srgbClr val="0F2347"/>
                </a:solidFill>
                <a:latin typeface="DM Sans"/>
                <a:ea typeface="DM Sans"/>
                <a:cs typeface="DM Sans"/>
                <a:sym typeface="DM Sans"/>
              </a:rPr>
              <a:t>Not how busy you are. Not how much pressure you carry. Not how much the organization depends on you. The question is whether the work is still asking more of your judgment than it did ninety days ago.</a:t>
            </a:r>
            <a:endParaRPr b="0" i="0" sz="1200" u="none" cap="none" strike="noStrike">
              <a:solidFill>
                <a:schemeClr val="dk1"/>
              </a:solidFill>
              <a:latin typeface="Calibri"/>
              <a:ea typeface="Calibri"/>
              <a:cs typeface="Calibri"/>
              <a:sym typeface="Calibri"/>
            </a:endParaRPr>
          </a:p>
        </p:txBody>
      </p:sp>
      <p:sp>
        <p:nvSpPr>
          <p:cNvPr id="100" name="Google Shape;100;h38333402142a079_2_39"/>
          <p:cNvSpPr/>
          <p:nvPr/>
        </p:nvSpPr>
        <p:spPr>
          <a:xfrm>
            <a:off x="566928" y="3566160"/>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Six statements measure it. You will score them in a moment.</a:t>
            </a:r>
            <a:endParaRPr b="0" i="0" sz="1150" u="none" cap="none" strike="noStrike">
              <a:solidFill>
                <a:schemeClr val="dk1"/>
              </a:solidFill>
              <a:latin typeface="Calibri"/>
              <a:ea typeface="Calibri"/>
              <a:cs typeface="Calibri"/>
              <a:sym typeface="Calibri"/>
            </a:endParaRPr>
          </a:p>
        </p:txBody>
      </p:sp>
      <p:sp>
        <p:nvSpPr>
          <p:cNvPr id="101" name="Google Shape;101;h38333402142a079_2_39"/>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02" name="Google Shape;102;h38333402142a079_2_39"/>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7" name="Shape 107"/>
        <p:cNvGrpSpPr/>
        <p:nvPr/>
      </p:nvGrpSpPr>
      <p:grpSpPr>
        <a:xfrm>
          <a:off x="0" y="0"/>
          <a:ext cx="0" cy="0"/>
          <a:chOff x="0" y="0"/>
          <a:chExt cx="0" cy="0"/>
        </a:xfrm>
      </p:grpSpPr>
      <p:sp>
        <p:nvSpPr>
          <p:cNvPr id="108" name="Google Shape;108;h38333402142a079_2_52"/>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DEFINITION TWO</a:t>
            </a:r>
            <a:endParaRPr b="0" i="0" sz="950" u="none" cap="none" strike="noStrike">
              <a:solidFill>
                <a:schemeClr val="dk1"/>
              </a:solidFill>
              <a:latin typeface="Calibri"/>
              <a:ea typeface="Calibri"/>
              <a:cs typeface="Calibri"/>
              <a:sym typeface="Calibri"/>
            </a:endParaRPr>
          </a:p>
        </p:txBody>
      </p:sp>
      <p:sp>
        <p:nvSpPr>
          <p:cNvPr id="109" name="Google Shape;109;h38333402142a079_2_52"/>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400"/>
              <a:buFont typeface="Cormorant Garamond"/>
              <a:buNone/>
            </a:pPr>
            <a:r>
              <a:rPr b="1" i="0" lang="en-US" sz="3400" u="none" cap="none" strike="noStrike">
                <a:solidFill>
                  <a:srgbClr val="0F2347"/>
                </a:solidFill>
                <a:latin typeface="Cormorant Garamond"/>
                <a:ea typeface="Cormorant Garamond"/>
                <a:cs typeface="Cormorant Garamond"/>
                <a:sym typeface="Cormorant Garamond"/>
              </a:rPr>
              <a:t>Will what you build still travel?</a:t>
            </a:r>
            <a:endParaRPr b="0" i="0" sz="3400" u="none" cap="none" strike="noStrike">
              <a:solidFill>
                <a:schemeClr val="dk1"/>
              </a:solidFill>
              <a:latin typeface="Calibri"/>
              <a:ea typeface="Calibri"/>
              <a:cs typeface="Calibri"/>
              <a:sym typeface="Calibri"/>
            </a:endParaRPr>
          </a:p>
        </p:txBody>
      </p:sp>
      <p:sp>
        <p:nvSpPr>
          <p:cNvPr id="110" name="Google Shape;110;h38333402142a079_2_52"/>
          <p:cNvSpPr/>
          <p:nvPr/>
        </p:nvSpPr>
        <p:spPr>
          <a:xfrm>
            <a:off x="566928" y="1828800"/>
            <a:ext cx="8010000" cy="640200"/>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0F2347"/>
              </a:buClr>
              <a:buSzPts val="1400"/>
              <a:buFont typeface="DM Sans"/>
              <a:buNone/>
            </a:pPr>
            <a:r>
              <a:rPr b="1" lang="en-US" sz="1600">
                <a:solidFill>
                  <a:srgbClr val="0F2347"/>
                </a:solidFill>
                <a:highlight>
                  <a:schemeClr val="accent4"/>
                </a:highlight>
                <a:latin typeface="DM Sans"/>
                <a:ea typeface="DM Sans"/>
                <a:cs typeface="DM Sans"/>
                <a:sym typeface="DM Sans"/>
              </a:rPr>
              <a:t>Optionality</a:t>
            </a:r>
            <a:r>
              <a:rPr b="0" i="0" lang="en-US" sz="1400" u="none" cap="none" strike="noStrike">
                <a:solidFill>
                  <a:srgbClr val="0F2347"/>
                </a:solidFill>
                <a:latin typeface="DM Sans"/>
                <a:ea typeface="DM Sans"/>
                <a:cs typeface="DM Sans"/>
                <a:sym typeface="DM Sans"/>
              </a:rPr>
              <a:t> reads whether what this work is building stays useful beyond your current context, and whether you could make it legible to someone outside your organization using evidence rather than your title.</a:t>
            </a:r>
            <a:endParaRPr b="0" i="0" sz="1400" u="none" cap="none" strike="noStrike">
              <a:solidFill>
                <a:schemeClr val="dk1"/>
              </a:solidFill>
              <a:latin typeface="Calibri"/>
              <a:ea typeface="Calibri"/>
              <a:cs typeface="Calibri"/>
              <a:sym typeface="Calibri"/>
            </a:endParaRPr>
          </a:p>
        </p:txBody>
      </p:sp>
      <p:sp>
        <p:nvSpPr>
          <p:cNvPr id="111" name="Google Shape;111;h38333402142a079_2_52"/>
          <p:cNvSpPr/>
          <p:nvPr/>
        </p:nvSpPr>
        <p:spPr>
          <a:xfrm>
            <a:off x="566928" y="2688336"/>
            <a:ext cx="8010000" cy="6585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 name="Google Shape;112;h38333402142a079_2_52"/>
          <p:cNvSpPr/>
          <p:nvPr/>
        </p:nvSpPr>
        <p:spPr>
          <a:xfrm>
            <a:off x="804672" y="2688336"/>
            <a:ext cx="7534800" cy="6585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F2347"/>
              </a:buClr>
              <a:buSzPts val="1200"/>
              <a:buFont typeface="DM Sans"/>
              <a:buNone/>
            </a:pPr>
            <a:r>
              <a:rPr b="1" i="0" lang="en-US" sz="1200" u="none" cap="none" strike="noStrike">
                <a:solidFill>
                  <a:srgbClr val="0F2347"/>
                </a:solidFill>
                <a:latin typeface="DM Sans"/>
                <a:ea typeface="DM Sans"/>
                <a:cs typeface="DM Sans"/>
                <a:sym typeface="DM Sans"/>
              </a:rPr>
              <a:t>A low score is not a verdict on your ability. And translation is not recognition. Making your work legible removes a barrier. It does not decide what another organization does with what it sees.</a:t>
            </a:r>
            <a:endParaRPr b="0" i="0" sz="1200" u="none" cap="none" strike="noStrike">
              <a:solidFill>
                <a:schemeClr val="dk1"/>
              </a:solidFill>
              <a:latin typeface="Calibri"/>
              <a:ea typeface="Calibri"/>
              <a:cs typeface="Calibri"/>
              <a:sym typeface="Calibri"/>
            </a:endParaRPr>
          </a:p>
        </p:txBody>
      </p:sp>
      <p:sp>
        <p:nvSpPr>
          <p:cNvPr id="113" name="Google Shape;113;h38333402142a079_2_52"/>
          <p:cNvSpPr/>
          <p:nvPr/>
        </p:nvSpPr>
        <p:spPr>
          <a:xfrm>
            <a:off x="566928" y="3566160"/>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Six statements measure it. Same scale, same window.</a:t>
            </a:r>
            <a:endParaRPr b="0" i="0" sz="1150" u="none" cap="none" strike="noStrike">
              <a:solidFill>
                <a:schemeClr val="dk1"/>
              </a:solidFill>
              <a:latin typeface="Calibri"/>
              <a:ea typeface="Calibri"/>
              <a:cs typeface="Calibri"/>
              <a:sym typeface="Calibri"/>
            </a:endParaRPr>
          </a:p>
        </p:txBody>
      </p:sp>
      <p:sp>
        <p:nvSpPr>
          <p:cNvPr id="114" name="Google Shape;114;h38333402142a079_2_52"/>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15" name="Google Shape;115;h38333402142a079_2_52"/>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0" name="Shape 120"/>
        <p:cNvGrpSpPr/>
        <p:nvPr/>
      </p:nvGrpSpPr>
      <p:grpSpPr>
        <a:xfrm>
          <a:off x="0" y="0"/>
          <a:ext cx="0" cy="0"/>
          <a:chOff x="0" y="0"/>
          <a:chExt cx="0" cy="0"/>
        </a:xfrm>
      </p:grpSpPr>
      <p:sp>
        <p:nvSpPr>
          <p:cNvPr id="121" name="Google Shape;121;p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122" name="Google Shape;122;p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i="0" lang="en-US" sz="2400" u="none" cap="none" strike="noStrike">
                <a:solidFill>
                  <a:srgbClr val="0F2347"/>
                </a:solidFill>
                <a:latin typeface="Cormorant Garamond"/>
                <a:ea typeface="Cormorant Garamond"/>
                <a:cs typeface="Cormorant Garamond"/>
                <a:sym typeface="Cormorant Garamond"/>
              </a:rPr>
              <a:t>Your initial read: statements 1 to 3</a:t>
            </a:r>
            <a:endParaRPr b="0" i="0" sz="2400" u="none" cap="none" strike="noStrike">
              <a:solidFill>
                <a:schemeClr val="dk1"/>
              </a:solidFill>
              <a:latin typeface="Calibri"/>
              <a:ea typeface="Calibri"/>
              <a:cs typeface="Calibri"/>
              <a:sym typeface="Calibri"/>
            </a:endParaRPr>
          </a:p>
        </p:txBody>
      </p:sp>
      <p:sp>
        <p:nvSpPr>
          <p:cNvPr id="123" name="Google Shape;123;p6"/>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Density. Live, silent. 1 strongly disagree to 5 strongly agree.</a:t>
            </a:r>
            <a:endParaRPr b="0" i="0" sz="1150" u="none" cap="none" strike="noStrike">
              <a:solidFill>
                <a:schemeClr val="dk1"/>
              </a:solidFill>
              <a:latin typeface="Calibri"/>
              <a:ea typeface="Calibri"/>
              <a:cs typeface="Calibri"/>
              <a:sym typeface="Calibri"/>
            </a:endParaRPr>
          </a:p>
        </p:txBody>
      </p:sp>
      <p:sp>
        <p:nvSpPr>
          <p:cNvPr id="124" name="Google Shape;124;p6"/>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 name="Google Shape;125;p6"/>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a:t>
            </a:r>
            <a:endParaRPr b="0" i="0" sz="1000" u="none" cap="none" strike="noStrike">
              <a:solidFill>
                <a:schemeClr val="dk1"/>
              </a:solidFill>
              <a:latin typeface="Calibri"/>
              <a:ea typeface="Calibri"/>
              <a:cs typeface="Calibri"/>
              <a:sym typeface="Calibri"/>
            </a:endParaRPr>
          </a:p>
        </p:txBody>
      </p:sp>
      <p:sp>
        <p:nvSpPr>
          <p:cNvPr id="126" name="Google Shape;126;p6"/>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In the last ninety days I have been handed a problem I did not already know how to solve.</a:t>
            </a:r>
            <a:endParaRPr b="0" i="0" sz="1250" u="none" cap="none" strike="noStrike">
              <a:solidFill>
                <a:schemeClr val="dk1"/>
              </a:solidFill>
              <a:latin typeface="Calibri"/>
              <a:ea typeface="Calibri"/>
              <a:cs typeface="Calibri"/>
              <a:sym typeface="Calibri"/>
            </a:endParaRPr>
          </a:p>
        </p:txBody>
      </p:sp>
      <p:sp>
        <p:nvSpPr>
          <p:cNvPr id="127" name="Google Shape;127;p6"/>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28" name="Google Shape;128;p6"/>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 name="Google Shape;129;p6"/>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2</a:t>
            </a:r>
            <a:endParaRPr b="0" i="0" sz="1000" u="none" cap="none" strike="noStrike">
              <a:solidFill>
                <a:schemeClr val="dk1"/>
              </a:solidFill>
              <a:latin typeface="Calibri"/>
              <a:ea typeface="Calibri"/>
              <a:cs typeface="Calibri"/>
              <a:sym typeface="Calibri"/>
            </a:endParaRPr>
          </a:p>
        </p:txBody>
      </p:sp>
      <p:sp>
        <p:nvSpPr>
          <p:cNvPr id="130" name="Google Shape;130;p6"/>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 work close enough to people who are better than me that I can watch how they think.</a:t>
            </a:r>
            <a:endParaRPr b="0" i="0" sz="1250" u="none" cap="none" strike="noStrike">
              <a:solidFill>
                <a:schemeClr val="dk1"/>
              </a:solidFill>
              <a:latin typeface="Calibri"/>
              <a:ea typeface="Calibri"/>
              <a:cs typeface="Calibri"/>
              <a:sym typeface="Calibri"/>
            </a:endParaRPr>
          </a:p>
        </p:txBody>
      </p:sp>
      <p:sp>
        <p:nvSpPr>
          <p:cNvPr id="131" name="Google Shape;131;p6"/>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32" name="Google Shape;132;p6"/>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 name="Google Shape;133;p6"/>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3</a:t>
            </a:r>
            <a:endParaRPr b="0" i="0" sz="1000" u="none" cap="none" strike="noStrike">
              <a:solidFill>
                <a:schemeClr val="dk1"/>
              </a:solidFill>
              <a:latin typeface="Calibri"/>
              <a:ea typeface="Calibri"/>
              <a:cs typeface="Calibri"/>
              <a:sym typeface="Calibri"/>
            </a:endParaRPr>
          </a:p>
        </p:txBody>
      </p:sp>
      <p:sp>
        <p:nvSpPr>
          <p:cNvPr id="134" name="Google Shape;134;p6"/>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work is reviewed by someone who can tell the difference between good and adequate, and who says so directly.</a:t>
            </a:r>
            <a:endParaRPr b="0" i="0" sz="1250" u="none" cap="none" strike="noStrike">
              <a:solidFill>
                <a:schemeClr val="dk1"/>
              </a:solidFill>
              <a:latin typeface="Calibri"/>
              <a:ea typeface="Calibri"/>
              <a:cs typeface="Calibri"/>
              <a:sym typeface="Calibri"/>
            </a:endParaRPr>
          </a:p>
        </p:txBody>
      </p:sp>
      <p:sp>
        <p:nvSpPr>
          <p:cNvPr id="135" name="Google Shape;135;p6"/>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36" name="Google Shape;136;p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37" name="Google Shape;137;p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42" name="Shape 142"/>
        <p:cNvGrpSpPr/>
        <p:nvPr/>
      </p:nvGrpSpPr>
      <p:grpSpPr>
        <a:xfrm>
          <a:off x="0" y="0"/>
          <a:ext cx="0" cy="0"/>
          <a:chOff x="0" y="0"/>
          <a:chExt cx="0" cy="0"/>
        </a:xfrm>
      </p:grpSpPr>
      <p:sp>
        <p:nvSpPr>
          <p:cNvPr id="143" name="Google Shape;143;p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144" name="Google Shape;144;p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i="0" lang="en-US" sz="2400" u="none" cap="none" strike="noStrike">
                <a:solidFill>
                  <a:srgbClr val="0F2347"/>
                </a:solidFill>
                <a:latin typeface="Cormorant Garamond"/>
                <a:ea typeface="Cormorant Garamond"/>
                <a:cs typeface="Cormorant Garamond"/>
                <a:sym typeface="Cormorant Garamond"/>
              </a:rPr>
              <a:t>Your initial read: statements 4 to 6</a:t>
            </a:r>
            <a:endParaRPr b="0" i="0" sz="2400" u="none" cap="none" strike="noStrike">
              <a:solidFill>
                <a:schemeClr val="dk1"/>
              </a:solidFill>
              <a:latin typeface="Calibri"/>
              <a:ea typeface="Calibri"/>
              <a:cs typeface="Calibri"/>
              <a:sym typeface="Calibri"/>
            </a:endParaRPr>
          </a:p>
        </p:txBody>
      </p:sp>
      <p:sp>
        <p:nvSpPr>
          <p:cNvPr id="145" name="Google Shape;145;p7"/>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Density, continued. Same window, same instruction.</a:t>
            </a:r>
            <a:endParaRPr b="0" i="0" sz="1150" u="none" cap="none" strike="noStrike">
              <a:solidFill>
                <a:schemeClr val="dk1"/>
              </a:solidFill>
              <a:latin typeface="Calibri"/>
              <a:ea typeface="Calibri"/>
              <a:cs typeface="Calibri"/>
              <a:sym typeface="Calibri"/>
            </a:endParaRPr>
          </a:p>
        </p:txBody>
      </p:sp>
      <p:sp>
        <p:nvSpPr>
          <p:cNvPr id="146" name="Google Shape;146;p7"/>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 name="Google Shape;147;p7"/>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4</a:t>
            </a:r>
            <a:endParaRPr b="0" i="0" sz="1000" u="none" cap="none" strike="noStrike">
              <a:solidFill>
                <a:schemeClr val="dk1"/>
              </a:solidFill>
              <a:latin typeface="Calibri"/>
              <a:ea typeface="Calibri"/>
              <a:cs typeface="Calibri"/>
              <a:sym typeface="Calibri"/>
            </a:endParaRPr>
          </a:p>
        </p:txBody>
      </p:sp>
      <p:sp>
        <p:nvSpPr>
          <p:cNvPr id="148" name="Google Shape;148;p7"/>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The feedback I receive changes what I do next, not just how I feel.</a:t>
            </a:r>
            <a:endParaRPr b="0" i="0" sz="1250" u="none" cap="none" strike="noStrike">
              <a:solidFill>
                <a:schemeClr val="dk1"/>
              </a:solidFill>
              <a:latin typeface="Calibri"/>
              <a:ea typeface="Calibri"/>
              <a:cs typeface="Calibri"/>
              <a:sym typeface="Calibri"/>
            </a:endParaRPr>
          </a:p>
        </p:txBody>
      </p:sp>
      <p:sp>
        <p:nvSpPr>
          <p:cNvPr id="149" name="Google Shape;149;p7"/>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50" name="Google Shape;150;p7"/>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 name="Google Shape;151;p7"/>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5</a:t>
            </a:r>
            <a:endParaRPr b="0" i="0" sz="1000" u="none" cap="none" strike="noStrike">
              <a:solidFill>
                <a:schemeClr val="dk1"/>
              </a:solidFill>
              <a:latin typeface="Calibri"/>
              <a:ea typeface="Calibri"/>
              <a:cs typeface="Calibri"/>
              <a:sym typeface="Calibri"/>
            </a:endParaRPr>
          </a:p>
        </p:txBody>
      </p:sp>
      <p:sp>
        <p:nvSpPr>
          <p:cNvPr id="152" name="Google Shape;152;p7"/>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 regularly operate at the edge of my competence rather than the comfortable center of it.</a:t>
            </a:r>
            <a:endParaRPr b="0" i="0" sz="1250" u="none" cap="none" strike="noStrike">
              <a:solidFill>
                <a:schemeClr val="dk1"/>
              </a:solidFill>
              <a:latin typeface="Calibri"/>
              <a:ea typeface="Calibri"/>
              <a:cs typeface="Calibri"/>
              <a:sym typeface="Calibri"/>
            </a:endParaRPr>
          </a:p>
        </p:txBody>
      </p:sp>
      <p:sp>
        <p:nvSpPr>
          <p:cNvPr id="153" name="Google Shape;153;p7"/>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54" name="Google Shape;154;p7"/>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p7"/>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6</a:t>
            </a:r>
            <a:endParaRPr b="0" i="0" sz="1000" u="none" cap="none" strike="noStrike">
              <a:solidFill>
                <a:schemeClr val="dk1"/>
              </a:solidFill>
              <a:latin typeface="Calibri"/>
              <a:ea typeface="Calibri"/>
              <a:cs typeface="Calibri"/>
              <a:sym typeface="Calibri"/>
            </a:endParaRPr>
          </a:p>
        </p:txBody>
      </p:sp>
      <p:sp>
        <p:nvSpPr>
          <p:cNvPr id="156" name="Google Shape;156;p7"/>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Looking back six months, the work I do now would have been genuinely hard for me then.</a:t>
            </a:r>
            <a:endParaRPr b="0" i="0" sz="1250" u="none" cap="none" strike="noStrike">
              <a:solidFill>
                <a:schemeClr val="dk1"/>
              </a:solidFill>
              <a:latin typeface="Calibri"/>
              <a:ea typeface="Calibri"/>
              <a:cs typeface="Calibri"/>
              <a:sym typeface="Calibri"/>
            </a:endParaRPr>
          </a:p>
        </p:txBody>
      </p:sp>
      <p:sp>
        <p:nvSpPr>
          <p:cNvPr id="157" name="Google Shape;157;p7"/>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58" name="Google Shape;158;p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59" name="Google Shape;159;p7"/>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64" name="Shape 164"/>
        <p:cNvGrpSpPr/>
        <p:nvPr/>
      </p:nvGrpSpPr>
      <p:grpSpPr>
        <a:xfrm>
          <a:off x="0" y="0"/>
          <a:ext cx="0" cy="0"/>
          <a:chOff x="0" y="0"/>
          <a:chExt cx="0" cy="0"/>
        </a:xfrm>
      </p:grpSpPr>
      <p:sp>
        <p:nvSpPr>
          <p:cNvPr id="165" name="Google Shape;165;p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166" name="Google Shape;166;p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Your initial Density reading</a:t>
            </a:r>
            <a:endParaRPr b="0" i="0" sz="2800" u="none" cap="none" strike="noStrike">
              <a:solidFill>
                <a:schemeClr val="dk1"/>
              </a:solidFill>
              <a:latin typeface="Calibri"/>
              <a:ea typeface="Calibri"/>
              <a:cs typeface="Calibri"/>
              <a:sym typeface="Calibri"/>
            </a:endParaRPr>
          </a:p>
        </p:txBody>
      </p:sp>
      <p:sp>
        <p:nvSpPr>
          <p:cNvPr id="167" name="Google Shape;167;p8"/>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Add statements 1 to 6.</a:t>
            </a:r>
            <a:endParaRPr b="0" i="0" sz="1150" u="none" cap="none" strike="noStrike">
              <a:solidFill>
                <a:schemeClr val="dk1"/>
              </a:solidFill>
              <a:latin typeface="Calibri"/>
              <a:ea typeface="Calibri"/>
              <a:cs typeface="Calibri"/>
              <a:sym typeface="Calibri"/>
            </a:endParaRPr>
          </a:p>
        </p:txBody>
      </p:sp>
      <p:sp>
        <p:nvSpPr>
          <p:cNvPr id="168" name="Google Shape;168;p8"/>
          <p:cNvSpPr/>
          <p:nvPr/>
        </p:nvSpPr>
        <p:spPr>
          <a:xfrm>
            <a:off x="566928" y="1920240"/>
            <a:ext cx="8010144" cy="11887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p8"/>
          <p:cNvSpPr/>
          <p:nvPr/>
        </p:nvSpPr>
        <p:spPr>
          <a:xfrm>
            <a:off x="859536" y="2103120"/>
            <a:ext cx="45720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DENSITY TOTAL</a:t>
            </a:r>
            <a:endParaRPr b="0" i="0" sz="950" u="none" cap="none" strike="noStrike">
              <a:solidFill>
                <a:schemeClr val="dk1"/>
              </a:solidFill>
              <a:latin typeface="Calibri"/>
              <a:ea typeface="Calibri"/>
              <a:cs typeface="Calibri"/>
              <a:sym typeface="Calibri"/>
            </a:endParaRPr>
          </a:p>
        </p:txBody>
      </p:sp>
      <p:sp>
        <p:nvSpPr>
          <p:cNvPr id="170" name="Google Shape;170;p8"/>
          <p:cNvSpPr/>
          <p:nvPr/>
        </p:nvSpPr>
        <p:spPr>
          <a:xfrm>
            <a:off x="859536" y="2414016"/>
            <a:ext cx="45720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3200"/>
              <a:buFont typeface="Cormorant Garamond"/>
              <a:buNone/>
            </a:pPr>
            <a:r>
              <a:rPr b="1" i="0" lang="en-US" sz="3200" u="none" cap="none" strike="noStrike">
                <a:solidFill>
                  <a:srgbClr val="F5F0E8"/>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171" name="Google Shape;171;p8"/>
          <p:cNvSpPr/>
          <p:nvPr/>
        </p:nvSpPr>
        <p:spPr>
          <a:xfrm>
            <a:off x="5486400" y="2139696"/>
            <a:ext cx="2834640" cy="8229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B8C5D9"/>
              </a:buClr>
              <a:buSzPts val="1150"/>
              <a:buFont typeface="DM Sans"/>
              <a:buNone/>
            </a:pPr>
            <a:r>
              <a:rPr b="0" i="0" lang="en-US" sz="1150" u="none" cap="none" strike="noStrike">
                <a:solidFill>
                  <a:srgbClr val="B8C5D9"/>
                </a:solidFill>
                <a:latin typeface="DM Sans"/>
                <a:ea typeface="DM Sans"/>
                <a:cs typeface="DM Sans"/>
                <a:sym typeface="DM Sans"/>
              </a:rPr>
              <a:t>19 to 30 is high</a:t>
            </a:r>
            <a:endParaRPr b="0" i="0" sz="1150" u="none" cap="none" strike="noStrike">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b="0" i="0" lang="en-US" sz="1150" u="none" cap="none" strike="noStrike">
                <a:solidFill>
                  <a:srgbClr val="B8C5D9"/>
                </a:solidFill>
                <a:latin typeface="DM Sans"/>
                <a:ea typeface="DM Sans"/>
                <a:cs typeface="DM Sans"/>
                <a:sym typeface="DM Sans"/>
              </a:rPr>
              <a:t>6 to 18 is low</a:t>
            </a:r>
            <a:endParaRPr b="0" i="0" sz="1150" u="none" cap="none" strike="noStrike">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b="0" i="0" lang="en-US" sz="1150" u="none" cap="none" strike="noStrike">
                <a:solidFill>
                  <a:srgbClr val="B8C5D9"/>
                </a:solidFill>
                <a:latin typeface="DM Sans"/>
                <a:ea typeface="DM Sans"/>
                <a:cs typeface="DM Sans"/>
                <a:sym typeface="DM Sans"/>
              </a:rPr>
              <a:t>17 to 21 is the boundary band</a:t>
            </a:r>
            <a:endParaRPr b="0" i="0" sz="1150" u="none" cap="none" strike="noStrike">
              <a:solidFill>
                <a:schemeClr val="dk1"/>
              </a:solidFill>
              <a:latin typeface="Calibri"/>
              <a:ea typeface="Calibri"/>
              <a:cs typeface="Calibri"/>
              <a:sym typeface="Calibri"/>
            </a:endParaRPr>
          </a:p>
        </p:txBody>
      </p:sp>
      <p:sp>
        <p:nvSpPr>
          <p:cNvPr id="172" name="Google Shape;172;p8"/>
          <p:cNvSpPr/>
          <p:nvPr/>
        </p:nvSpPr>
        <p:spPr>
          <a:xfrm>
            <a:off x="566928" y="334670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Hold the number. Do not share it.</a:t>
            </a:r>
            <a:endParaRPr b="0" i="0" sz="1250" u="none" cap="none" strike="noStrike">
              <a:solidFill>
                <a:schemeClr val="dk1"/>
              </a:solidFill>
              <a:latin typeface="Calibri"/>
              <a:ea typeface="Calibri"/>
              <a:cs typeface="Calibri"/>
              <a:sym typeface="Calibri"/>
            </a:endParaRPr>
          </a:p>
        </p:txBody>
      </p:sp>
      <p:sp>
        <p:nvSpPr>
          <p:cNvPr id="173" name="Google Shape;173;p8"/>
          <p:cNvSpPr/>
          <p:nvPr/>
        </p:nvSpPr>
        <p:spPr>
          <a:xfrm>
            <a:off x="566928" y="3712464"/>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b="0" i="1" lang="en-US" sz="1060" u="none" cap="none" strike="noStrike">
                <a:solidFill>
                  <a:srgbClr val="5A6B84"/>
                </a:solidFill>
                <a:latin typeface="DM Sans"/>
                <a:ea typeface="DM Sans"/>
                <a:cs typeface="DM Sans"/>
                <a:sym typeface="DM Sans"/>
              </a:rPr>
              <a:t>A total inside 17 to 21 sits on the boundary. It does not resolve to high or low — you will read both neighbouring states rather than pick one.</a:t>
            </a:r>
            <a:endParaRPr b="0" i="0" sz="1060" u="none" cap="none" strike="noStrike">
              <a:solidFill>
                <a:schemeClr val="dk1"/>
              </a:solidFill>
              <a:latin typeface="Calibri"/>
              <a:ea typeface="Calibri"/>
              <a:cs typeface="Calibri"/>
              <a:sym typeface="Calibri"/>
            </a:endParaRPr>
          </a:p>
        </p:txBody>
      </p:sp>
      <p:sp>
        <p:nvSpPr>
          <p:cNvPr id="174" name="Google Shape;174;p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75" name="Google Shape;175;p8"/>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8</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80" name="Shape 180"/>
        <p:cNvGrpSpPr/>
        <p:nvPr/>
      </p:nvGrpSpPr>
      <p:grpSpPr>
        <a:xfrm>
          <a:off x="0" y="0"/>
          <a:ext cx="0" cy="0"/>
          <a:chOff x="0" y="0"/>
          <a:chExt cx="0" cy="0"/>
        </a:xfrm>
      </p:grpSpPr>
      <p:sp>
        <p:nvSpPr>
          <p:cNvPr id="181" name="Google Shape;181;p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182" name="Google Shape;182;p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i="0" lang="en-US" sz="2400" u="none" cap="none" strike="noStrike">
                <a:solidFill>
                  <a:srgbClr val="0F2347"/>
                </a:solidFill>
                <a:latin typeface="Cormorant Garamond"/>
                <a:ea typeface="Cormorant Garamond"/>
                <a:cs typeface="Cormorant Garamond"/>
                <a:sym typeface="Cormorant Garamond"/>
              </a:rPr>
              <a:t>Your initial read: statements 7 to 9</a:t>
            </a:r>
            <a:endParaRPr b="0" i="0" sz="2400" u="none" cap="none" strike="noStrike">
              <a:solidFill>
                <a:schemeClr val="dk1"/>
              </a:solidFill>
              <a:latin typeface="Calibri"/>
              <a:ea typeface="Calibri"/>
              <a:cs typeface="Calibri"/>
              <a:sym typeface="Calibri"/>
            </a:endParaRPr>
          </a:p>
        </p:txBody>
      </p:sp>
      <p:sp>
        <p:nvSpPr>
          <p:cNvPr id="183" name="Google Shape;183;p9"/>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Optionality. Same scale, same window.</a:t>
            </a:r>
            <a:endParaRPr b="0" i="0" sz="1150" u="none" cap="none" strike="noStrike">
              <a:solidFill>
                <a:schemeClr val="dk1"/>
              </a:solidFill>
              <a:latin typeface="Calibri"/>
              <a:ea typeface="Calibri"/>
              <a:cs typeface="Calibri"/>
              <a:sym typeface="Calibri"/>
            </a:endParaRPr>
          </a:p>
        </p:txBody>
      </p:sp>
      <p:sp>
        <p:nvSpPr>
          <p:cNvPr id="184" name="Google Shape;184;p9"/>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9"/>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7</a:t>
            </a:r>
            <a:endParaRPr b="0" i="0" sz="1000" u="none" cap="none" strike="noStrike">
              <a:solidFill>
                <a:schemeClr val="dk1"/>
              </a:solidFill>
              <a:latin typeface="Calibri"/>
              <a:ea typeface="Calibri"/>
              <a:cs typeface="Calibri"/>
              <a:sym typeface="Calibri"/>
            </a:endParaRPr>
          </a:p>
        </p:txBody>
      </p:sp>
      <p:sp>
        <p:nvSpPr>
          <p:cNvPr id="186" name="Google Shape;186;p9"/>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The capability I am building would be valued by an employer in a different industry.</a:t>
            </a:r>
            <a:endParaRPr b="0" i="0" sz="1250" u="none" cap="none" strike="noStrike">
              <a:solidFill>
                <a:schemeClr val="dk1"/>
              </a:solidFill>
              <a:latin typeface="Calibri"/>
              <a:ea typeface="Calibri"/>
              <a:cs typeface="Calibri"/>
              <a:sym typeface="Calibri"/>
            </a:endParaRPr>
          </a:p>
        </p:txBody>
      </p:sp>
      <p:sp>
        <p:nvSpPr>
          <p:cNvPr id="187" name="Google Shape;187;p9"/>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88" name="Google Shape;188;p9"/>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9" name="Google Shape;189;p9"/>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8</a:t>
            </a:r>
            <a:endParaRPr b="0" i="0" sz="1000" u="none" cap="none" strike="noStrike">
              <a:solidFill>
                <a:schemeClr val="dk1"/>
              </a:solidFill>
              <a:latin typeface="Calibri"/>
              <a:ea typeface="Calibri"/>
              <a:cs typeface="Calibri"/>
              <a:sym typeface="Calibri"/>
            </a:endParaRPr>
          </a:p>
        </p:txBody>
      </p:sp>
      <p:sp>
        <p:nvSpPr>
          <p:cNvPr id="190" name="Google Shape;190;p9"/>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 can describe what I do in terms of outcomes, not just my company’s internal language.</a:t>
            </a:r>
            <a:endParaRPr b="0" i="0" sz="1250" u="none" cap="none" strike="noStrike">
              <a:solidFill>
                <a:schemeClr val="dk1"/>
              </a:solidFill>
              <a:latin typeface="Calibri"/>
              <a:ea typeface="Calibri"/>
              <a:cs typeface="Calibri"/>
              <a:sym typeface="Calibri"/>
            </a:endParaRPr>
          </a:p>
        </p:txBody>
      </p:sp>
      <p:sp>
        <p:nvSpPr>
          <p:cNvPr id="191" name="Google Shape;191;p9"/>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92" name="Google Shape;192;p9"/>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3" name="Google Shape;193;p9"/>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9</a:t>
            </a:r>
            <a:endParaRPr b="0" i="0" sz="1000" u="none" cap="none" strike="noStrike">
              <a:solidFill>
                <a:schemeClr val="dk1"/>
              </a:solidFill>
              <a:latin typeface="Calibri"/>
              <a:ea typeface="Calibri"/>
              <a:cs typeface="Calibri"/>
              <a:sym typeface="Calibri"/>
            </a:endParaRPr>
          </a:p>
        </p:txBody>
      </p:sp>
      <p:sp>
        <p:nvSpPr>
          <p:cNvPr id="194" name="Google Shape;194;p9"/>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If my role disappeared tomorrow, the capability I built would still be mine to carry.</a:t>
            </a:r>
            <a:endParaRPr b="0" i="0" sz="1250" u="none" cap="none" strike="noStrike">
              <a:solidFill>
                <a:schemeClr val="dk1"/>
              </a:solidFill>
              <a:latin typeface="Calibri"/>
              <a:ea typeface="Calibri"/>
              <a:cs typeface="Calibri"/>
              <a:sym typeface="Calibri"/>
            </a:endParaRPr>
          </a:p>
        </p:txBody>
      </p:sp>
      <p:sp>
        <p:nvSpPr>
          <p:cNvPr id="195" name="Google Shape;195;p9"/>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196" name="Google Shape;196;p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197" name="Google Shape;197;p9"/>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9</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02" name="Shape 202"/>
        <p:cNvGrpSpPr/>
        <p:nvPr/>
      </p:nvGrpSpPr>
      <p:grpSpPr>
        <a:xfrm>
          <a:off x="0" y="0"/>
          <a:ext cx="0" cy="0"/>
          <a:chOff x="0" y="0"/>
          <a:chExt cx="0" cy="0"/>
        </a:xfrm>
      </p:grpSpPr>
      <p:sp>
        <p:nvSpPr>
          <p:cNvPr id="203" name="Google Shape;203;p1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204" name="Google Shape;204;p1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400"/>
              <a:buFont typeface="Cormorant Garamond"/>
              <a:buNone/>
            </a:pPr>
            <a:r>
              <a:rPr b="1" i="0" lang="en-US" sz="2400" u="none" cap="none" strike="noStrike">
                <a:solidFill>
                  <a:srgbClr val="0F2347"/>
                </a:solidFill>
                <a:latin typeface="Cormorant Garamond"/>
                <a:ea typeface="Cormorant Garamond"/>
                <a:cs typeface="Cormorant Garamond"/>
                <a:sym typeface="Cormorant Garamond"/>
              </a:rPr>
              <a:t>Your initial read: statements 10 to 12</a:t>
            </a:r>
            <a:endParaRPr b="0" i="0" sz="2400" u="none" cap="none" strike="noStrike">
              <a:solidFill>
                <a:schemeClr val="dk1"/>
              </a:solidFill>
              <a:latin typeface="Calibri"/>
              <a:ea typeface="Calibri"/>
              <a:cs typeface="Calibri"/>
              <a:sym typeface="Calibri"/>
            </a:endParaRPr>
          </a:p>
        </p:txBody>
      </p:sp>
      <p:sp>
        <p:nvSpPr>
          <p:cNvPr id="205" name="Google Shape;205;p10"/>
          <p:cNvSpPr/>
          <p:nvPr/>
        </p:nvSpPr>
        <p:spPr>
          <a:xfrm>
            <a:off x="566928" y="1316736"/>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Optionality, continued. Last block of the first pass.</a:t>
            </a:r>
            <a:endParaRPr b="0" i="0" sz="1150" u="none" cap="none" strike="noStrike">
              <a:solidFill>
                <a:schemeClr val="dk1"/>
              </a:solidFill>
              <a:latin typeface="Calibri"/>
              <a:ea typeface="Calibri"/>
              <a:cs typeface="Calibri"/>
              <a:sym typeface="Calibri"/>
            </a:endParaRPr>
          </a:p>
        </p:txBody>
      </p:sp>
      <p:sp>
        <p:nvSpPr>
          <p:cNvPr id="206" name="Google Shape;206;p10"/>
          <p:cNvSpPr/>
          <p:nvPr/>
        </p:nvSpPr>
        <p:spPr>
          <a:xfrm>
            <a:off x="566928" y="179222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7" name="Google Shape;207;p10"/>
          <p:cNvSpPr/>
          <p:nvPr/>
        </p:nvSpPr>
        <p:spPr>
          <a:xfrm>
            <a:off x="566928" y="179222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10</a:t>
            </a:r>
            <a:endParaRPr b="0" i="0" sz="1000" u="none" cap="none" strike="noStrike">
              <a:solidFill>
                <a:schemeClr val="dk1"/>
              </a:solidFill>
              <a:latin typeface="Calibri"/>
              <a:ea typeface="Calibri"/>
              <a:cs typeface="Calibri"/>
              <a:sym typeface="Calibri"/>
            </a:endParaRPr>
          </a:p>
        </p:txBody>
      </p:sp>
      <p:sp>
        <p:nvSpPr>
          <p:cNvPr id="208" name="Google Shape;208;p10"/>
          <p:cNvSpPr/>
          <p:nvPr/>
        </p:nvSpPr>
        <p:spPr>
          <a:xfrm>
            <a:off x="1024128" y="1773936"/>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People with the power to hire or advance me, inside or outside my company, can already see what I am good at.</a:t>
            </a:r>
            <a:endParaRPr b="0" i="0" sz="1250" u="none" cap="none" strike="noStrike">
              <a:solidFill>
                <a:schemeClr val="dk1"/>
              </a:solidFill>
              <a:latin typeface="Calibri"/>
              <a:ea typeface="Calibri"/>
              <a:cs typeface="Calibri"/>
              <a:sym typeface="Calibri"/>
            </a:endParaRPr>
          </a:p>
        </p:txBody>
      </p:sp>
      <p:sp>
        <p:nvSpPr>
          <p:cNvPr id="209" name="Google Shape;209;p10"/>
          <p:cNvSpPr/>
          <p:nvPr/>
        </p:nvSpPr>
        <p:spPr>
          <a:xfrm>
            <a:off x="7205472" y="1828800"/>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210" name="Google Shape;210;p10"/>
          <p:cNvSpPr/>
          <p:nvPr/>
        </p:nvSpPr>
        <p:spPr>
          <a:xfrm>
            <a:off x="566928" y="2633472"/>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p10"/>
          <p:cNvSpPr/>
          <p:nvPr/>
        </p:nvSpPr>
        <p:spPr>
          <a:xfrm>
            <a:off x="566928" y="2633472"/>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11</a:t>
            </a:r>
            <a:endParaRPr b="0" i="0" sz="1000" u="none" cap="none" strike="noStrike">
              <a:solidFill>
                <a:schemeClr val="dk1"/>
              </a:solidFill>
              <a:latin typeface="Calibri"/>
              <a:ea typeface="Calibri"/>
              <a:cs typeface="Calibri"/>
              <a:sym typeface="Calibri"/>
            </a:endParaRPr>
          </a:p>
        </p:txBody>
      </p:sp>
      <p:sp>
        <p:nvSpPr>
          <p:cNvPr id="212" name="Google Shape;212;p10"/>
          <p:cNvSpPr/>
          <p:nvPr/>
        </p:nvSpPr>
        <p:spPr>
          <a:xfrm>
            <a:off x="1024128" y="2615184"/>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What I am learning is a transferable capability rather than a company-specific procedure.</a:t>
            </a:r>
            <a:endParaRPr b="0" i="0" sz="1250" u="none" cap="none" strike="noStrike">
              <a:solidFill>
                <a:schemeClr val="dk1"/>
              </a:solidFill>
              <a:latin typeface="Calibri"/>
              <a:ea typeface="Calibri"/>
              <a:cs typeface="Calibri"/>
              <a:sym typeface="Calibri"/>
            </a:endParaRPr>
          </a:p>
        </p:txBody>
      </p:sp>
      <p:sp>
        <p:nvSpPr>
          <p:cNvPr id="213" name="Google Shape;213;p10"/>
          <p:cNvSpPr/>
          <p:nvPr/>
        </p:nvSpPr>
        <p:spPr>
          <a:xfrm>
            <a:off x="7205472" y="2670048"/>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214" name="Google Shape;214;p10"/>
          <p:cNvSpPr/>
          <p:nvPr/>
        </p:nvSpPr>
        <p:spPr>
          <a:xfrm>
            <a:off x="566928" y="34747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5" name="Google Shape;215;p10"/>
          <p:cNvSpPr/>
          <p:nvPr/>
        </p:nvSpPr>
        <p:spPr>
          <a:xfrm>
            <a:off x="566928" y="34747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12</a:t>
            </a:r>
            <a:endParaRPr b="0" i="0" sz="1000" u="none" cap="none" strike="noStrike">
              <a:solidFill>
                <a:schemeClr val="dk1"/>
              </a:solidFill>
              <a:latin typeface="Calibri"/>
              <a:ea typeface="Calibri"/>
              <a:cs typeface="Calibri"/>
              <a:sym typeface="Calibri"/>
            </a:endParaRPr>
          </a:p>
        </p:txBody>
      </p:sp>
      <p:sp>
        <p:nvSpPr>
          <p:cNvPr id="216" name="Google Shape;216;p10"/>
          <p:cNvSpPr/>
          <p:nvPr/>
        </p:nvSpPr>
        <p:spPr>
          <a:xfrm>
            <a:off x="1024128" y="3456432"/>
            <a:ext cx="6089904" cy="566928"/>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I could rebuild a strong position somewhere else within a year.</a:t>
            </a:r>
            <a:endParaRPr b="0" i="0" sz="1250" u="none" cap="none" strike="noStrike">
              <a:solidFill>
                <a:schemeClr val="dk1"/>
              </a:solidFill>
              <a:latin typeface="Calibri"/>
              <a:ea typeface="Calibri"/>
              <a:cs typeface="Calibri"/>
              <a:sym typeface="Calibri"/>
            </a:endParaRPr>
          </a:p>
        </p:txBody>
      </p:sp>
      <p:sp>
        <p:nvSpPr>
          <p:cNvPr id="217" name="Google Shape;217;p10"/>
          <p:cNvSpPr/>
          <p:nvPr/>
        </p:nvSpPr>
        <p:spPr>
          <a:xfrm>
            <a:off x="7205472" y="3511296"/>
            <a:ext cx="137160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850"/>
              <a:buFont typeface="Montserrat"/>
              <a:buNone/>
            </a:pPr>
            <a:r>
              <a:rPr b="1" i="0" lang="en-US" sz="850" u="none" cap="none" strike="noStrike">
                <a:solidFill>
                  <a:srgbClr val="5A6B84"/>
                </a:solidFill>
                <a:latin typeface="Montserrat"/>
                <a:ea typeface="Montserrat"/>
                <a:cs typeface="Montserrat"/>
                <a:sym typeface="Montserrat"/>
              </a:rPr>
              <a:t>1    2    3    4    5</a:t>
            </a:r>
            <a:endParaRPr b="0" i="0" sz="850" u="none" cap="none" strike="noStrike">
              <a:solidFill>
                <a:schemeClr val="dk1"/>
              </a:solidFill>
              <a:latin typeface="Calibri"/>
              <a:ea typeface="Calibri"/>
              <a:cs typeface="Calibri"/>
              <a:sym typeface="Calibri"/>
            </a:endParaRPr>
          </a:p>
        </p:txBody>
      </p:sp>
      <p:sp>
        <p:nvSpPr>
          <p:cNvPr id="218" name="Google Shape;218;p1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19" name="Google Shape;219;p10"/>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10</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24" name="Shape 224"/>
        <p:cNvGrpSpPr/>
        <p:nvPr/>
      </p:nvGrpSpPr>
      <p:grpSpPr>
        <a:xfrm>
          <a:off x="0" y="0"/>
          <a:ext cx="0" cy="0"/>
          <a:chOff x="0" y="0"/>
          <a:chExt cx="0" cy="0"/>
        </a:xfrm>
      </p:grpSpPr>
      <p:sp>
        <p:nvSpPr>
          <p:cNvPr id="225" name="Google Shape;225;p11"/>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READ</a:t>
            </a:r>
            <a:endParaRPr b="0" i="0" sz="950" u="none" cap="none" strike="noStrike">
              <a:solidFill>
                <a:schemeClr val="dk1"/>
              </a:solidFill>
              <a:latin typeface="Calibri"/>
              <a:ea typeface="Calibri"/>
              <a:cs typeface="Calibri"/>
              <a:sym typeface="Calibri"/>
            </a:endParaRPr>
          </a:p>
        </p:txBody>
      </p:sp>
      <p:sp>
        <p:nvSpPr>
          <p:cNvPr id="226" name="Google Shape;226;p1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Your initial Optionality reading</a:t>
            </a:r>
            <a:endParaRPr b="0" i="0" sz="2800" u="none" cap="none" strike="noStrike">
              <a:solidFill>
                <a:schemeClr val="dk1"/>
              </a:solidFill>
              <a:latin typeface="Calibri"/>
              <a:ea typeface="Calibri"/>
              <a:cs typeface="Calibri"/>
              <a:sym typeface="Calibri"/>
            </a:endParaRPr>
          </a:p>
        </p:txBody>
      </p:sp>
      <p:sp>
        <p:nvSpPr>
          <p:cNvPr id="227" name="Google Shape;227;p11"/>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Add statements 7 to 12.</a:t>
            </a:r>
            <a:endParaRPr b="0" i="0" sz="1150" u="none" cap="none" strike="noStrike">
              <a:solidFill>
                <a:schemeClr val="dk1"/>
              </a:solidFill>
              <a:latin typeface="Calibri"/>
              <a:ea typeface="Calibri"/>
              <a:cs typeface="Calibri"/>
              <a:sym typeface="Calibri"/>
            </a:endParaRPr>
          </a:p>
        </p:txBody>
      </p:sp>
      <p:sp>
        <p:nvSpPr>
          <p:cNvPr id="228" name="Google Shape;228;p11"/>
          <p:cNvSpPr/>
          <p:nvPr/>
        </p:nvSpPr>
        <p:spPr>
          <a:xfrm>
            <a:off x="566928" y="1920240"/>
            <a:ext cx="8010144" cy="11887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9" name="Google Shape;229;p11"/>
          <p:cNvSpPr/>
          <p:nvPr/>
        </p:nvSpPr>
        <p:spPr>
          <a:xfrm>
            <a:off x="859536" y="2103120"/>
            <a:ext cx="45720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INITIAL OPTIONALITY TOTAL</a:t>
            </a:r>
            <a:endParaRPr b="0" i="0" sz="950" u="none" cap="none" strike="noStrike">
              <a:solidFill>
                <a:schemeClr val="dk1"/>
              </a:solidFill>
              <a:latin typeface="Calibri"/>
              <a:ea typeface="Calibri"/>
              <a:cs typeface="Calibri"/>
              <a:sym typeface="Calibri"/>
            </a:endParaRPr>
          </a:p>
        </p:txBody>
      </p:sp>
      <p:sp>
        <p:nvSpPr>
          <p:cNvPr id="230" name="Google Shape;230;p11"/>
          <p:cNvSpPr/>
          <p:nvPr/>
        </p:nvSpPr>
        <p:spPr>
          <a:xfrm>
            <a:off x="859536" y="2414016"/>
            <a:ext cx="45720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3200"/>
              <a:buFont typeface="Cormorant Garamond"/>
              <a:buNone/>
            </a:pPr>
            <a:r>
              <a:rPr b="1" i="0" lang="en-US" sz="3200" u="none" cap="none" strike="noStrike">
                <a:solidFill>
                  <a:srgbClr val="F5F0E8"/>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231" name="Google Shape;231;p11"/>
          <p:cNvSpPr/>
          <p:nvPr/>
        </p:nvSpPr>
        <p:spPr>
          <a:xfrm>
            <a:off x="5486400" y="2139696"/>
            <a:ext cx="2834640" cy="82296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B8C5D9"/>
              </a:buClr>
              <a:buSzPts val="1150"/>
              <a:buFont typeface="DM Sans"/>
              <a:buNone/>
            </a:pPr>
            <a:r>
              <a:rPr b="1" i="0" lang="en-US" sz="1450" u="none" cap="none" strike="noStrike">
                <a:solidFill>
                  <a:srgbClr val="B8C5D9"/>
                </a:solidFill>
                <a:latin typeface="DM Sans"/>
                <a:ea typeface="DM Sans"/>
                <a:cs typeface="DM Sans"/>
                <a:sym typeface="DM Sans"/>
              </a:rPr>
              <a:t>19 to 30 is high</a:t>
            </a:r>
            <a:endParaRPr b="1" i="0" sz="1450" u="none" cap="none" strike="noStrike">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b="1" i="0" lang="en-US" sz="1450" u="none" cap="none" strike="noStrike">
                <a:solidFill>
                  <a:srgbClr val="B8C5D9"/>
                </a:solidFill>
                <a:latin typeface="DM Sans"/>
                <a:ea typeface="DM Sans"/>
                <a:cs typeface="DM Sans"/>
                <a:sym typeface="DM Sans"/>
              </a:rPr>
              <a:t>6 to 18 is low</a:t>
            </a:r>
            <a:endParaRPr b="1" i="0" sz="1450" u="none" cap="none" strike="noStrike">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B8C5D9"/>
              </a:buClr>
              <a:buSzPts val="1150"/>
              <a:buFont typeface="DM Sans"/>
              <a:buNone/>
            </a:pPr>
            <a:r>
              <a:rPr b="1" i="0" lang="en-US" sz="1450" u="none" cap="none" strike="noStrike">
                <a:solidFill>
                  <a:srgbClr val="B8C5D9"/>
                </a:solidFill>
                <a:latin typeface="DM Sans"/>
                <a:ea typeface="DM Sans"/>
                <a:cs typeface="DM Sans"/>
                <a:sym typeface="DM Sans"/>
              </a:rPr>
              <a:t>17 to 21 is the boundary band</a:t>
            </a:r>
            <a:endParaRPr b="1" i="0" sz="1450" u="none" cap="none" strike="noStrike">
              <a:solidFill>
                <a:schemeClr val="dk1"/>
              </a:solidFill>
              <a:latin typeface="Calibri"/>
              <a:ea typeface="Calibri"/>
              <a:cs typeface="Calibri"/>
              <a:sym typeface="Calibri"/>
            </a:endParaRPr>
          </a:p>
        </p:txBody>
      </p:sp>
      <p:sp>
        <p:nvSpPr>
          <p:cNvPr id="232" name="Google Shape;232;p11"/>
          <p:cNvSpPr/>
          <p:nvPr/>
        </p:nvSpPr>
        <p:spPr>
          <a:xfrm>
            <a:off x="566928" y="334670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Hold the number. Do not share it.</a:t>
            </a:r>
            <a:endParaRPr b="0" i="0" sz="1250" u="none" cap="none" strike="noStrike">
              <a:solidFill>
                <a:schemeClr val="dk1"/>
              </a:solidFill>
              <a:latin typeface="Calibri"/>
              <a:ea typeface="Calibri"/>
              <a:cs typeface="Calibri"/>
              <a:sym typeface="Calibri"/>
            </a:endParaRPr>
          </a:p>
        </p:txBody>
      </p:sp>
      <p:sp>
        <p:nvSpPr>
          <p:cNvPr id="233" name="Google Shape;233;p11"/>
          <p:cNvSpPr/>
          <p:nvPr/>
        </p:nvSpPr>
        <p:spPr>
          <a:xfrm>
            <a:off x="566928" y="3712464"/>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b="0" i="1" lang="en-US" sz="1060" u="none" cap="none" strike="noStrike">
                <a:solidFill>
                  <a:srgbClr val="5A6B84"/>
                </a:solidFill>
                <a:latin typeface="DM Sans"/>
                <a:ea typeface="DM Sans"/>
                <a:cs typeface="DM Sans"/>
                <a:sym typeface="DM Sans"/>
              </a:rPr>
              <a:t>A total inside 17 to 21 sits on the boundary. It does not resolve to high or low</a:t>
            </a:r>
            <a:r>
              <a:rPr i="1" lang="en-US" sz="1060">
                <a:solidFill>
                  <a:srgbClr val="5A6B84"/>
                </a:solidFill>
                <a:latin typeface="DM Sans"/>
                <a:ea typeface="DM Sans"/>
                <a:cs typeface="DM Sans"/>
                <a:sym typeface="DM Sans"/>
              </a:rPr>
              <a:t>, </a:t>
            </a:r>
            <a:r>
              <a:rPr b="0" i="1" lang="en-US" sz="1060" u="none" cap="none" strike="noStrike">
                <a:solidFill>
                  <a:srgbClr val="5A6B84"/>
                </a:solidFill>
                <a:latin typeface="DM Sans"/>
                <a:ea typeface="DM Sans"/>
                <a:cs typeface="DM Sans"/>
                <a:sym typeface="DM Sans"/>
              </a:rPr>
              <a:t>you will read both neighbouring states rather than pick one.</a:t>
            </a:r>
            <a:endParaRPr b="0" i="0" sz="1060" u="none" cap="none" strike="noStrike">
              <a:solidFill>
                <a:schemeClr val="dk1"/>
              </a:solidFill>
              <a:latin typeface="Calibri"/>
              <a:ea typeface="Calibri"/>
              <a:cs typeface="Calibri"/>
              <a:sym typeface="Calibri"/>
            </a:endParaRPr>
          </a:p>
        </p:txBody>
      </p:sp>
      <p:sp>
        <p:nvSpPr>
          <p:cNvPr id="234" name="Google Shape;234;p1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35" name="Google Shape;235;p1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240" name="Shape 240"/>
        <p:cNvGrpSpPr/>
        <p:nvPr/>
      </p:nvGrpSpPr>
      <p:grpSpPr>
        <a:xfrm>
          <a:off x="0" y="0"/>
          <a:ext cx="0" cy="0"/>
          <a:chOff x="0" y="0"/>
          <a:chExt cx="0" cy="0"/>
        </a:xfrm>
      </p:grpSpPr>
      <p:sp>
        <p:nvSpPr>
          <p:cNvPr id="241" name="Google Shape;241;h38333402142a079_2_70"/>
          <p:cNvSpPr/>
          <p:nvPr/>
        </p:nvSpPr>
        <p:spPr>
          <a:xfrm>
            <a:off x="566928" y="1188720"/>
            <a:ext cx="8010000" cy="1188600"/>
          </a:xfrm>
          <a:prstGeom prst="rect">
            <a:avLst/>
          </a:prstGeom>
          <a:noFill/>
          <a:ln>
            <a:noFill/>
          </a:ln>
        </p:spPr>
        <p:txBody>
          <a:bodyPr anchorCtr="0" anchor="ctr" bIns="0" lIns="0" spcFirstLastPara="1" rIns="0" wrap="square" tIns="0">
            <a:noAutofit/>
          </a:bodyPr>
          <a:lstStyle/>
          <a:p>
            <a:pPr indent="0" lvl="0" marL="0" marR="0" rtl="0" algn="l">
              <a:lnSpc>
                <a:spcPct val="122580"/>
              </a:lnSpc>
              <a:spcBef>
                <a:spcPts val="0"/>
              </a:spcBef>
              <a:spcAft>
                <a:spcPts val="0"/>
              </a:spcAft>
              <a:buClr>
                <a:srgbClr val="F5F0E8"/>
              </a:buClr>
              <a:buSzPts val="3100"/>
              <a:buFont typeface="Cormorant Garamond"/>
              <a:buNone/>
            </a:pPr>
            <a:r>
              <a:t/>
            </a:r>
            <a:endParaRPr b="1" sz="3100">
              <a:solidFill>
                <a:srgbClr val="F5F0E8"/>
              </a:solidFill>
              <a:latin typeface="Cormorant Garamond"/>
              <a:ea typeface="Cormorant Garamond"/>
              <a:cs typeface="Cormorant Garamond"/>
              <a:sym typeface="Cormorant Garamond"/>
            </a:endParaRPr>
          </a:p>
          <a:p>
            <a:pPr indent="0" lvl="0" marL="0" marR="0" rtl="0" algn="l">
              <a:lnSpc>
                <a:spcPct val="122580"/>
              </a:lnSpc>
              <a:spcBef>
                <a:spcPts val="0"/>
              </a:spcBef>
              <a:spcAft>
                <a:spcPts val="0"/>
              </a:spcAft>
              <a:buClr>
                <a:srgbClr val="F5F0E8"/>
              </a:buClr>
              <a:buSzPts val="3100"/>
              <a:buFont typeface="Cormorant Garamond"/>
              <a:buNone/>
            </a:pPr>
            <a:r>
              <a:rPr b="1" lang="en-US" sz="3800">
                <a:solidFill>
                  <a:srgbClr val="F5F0E8"/>
                </a:solidFill>
                <a:latin typeface="Cormorant Garamond"/>
                <a:ea typeface="Cormorant Garamond"/>
                <a:cs typeface="Cormorant Garamond"/>
                <a:sym typeface="Cormorant Garamond"/>
              </a:rPr>
              <a:t>Matrix</a:t>
            </a:r>
            <a:endParaRPr b="0" i="0" sz="3800" u="none" cap="none" strike="noStrike">
              <a:solidFill>
                <a:schemeClr val="dk1"/>
              </a:solidFill>
              <a:latin typeface="Calibri"/>
              <a:ea typeface="Calibri"/>
              <a:cs typeface="Calibri"/>
              <a:sym typeface="Calibri"/>
            </a:endParaRPr>
          </a:p>
        </p:txBody>
      </p:sp>
      <p:sp>
        <p:nvSpPr>
          <p:cNvPr id="242" name="Google Shape;242;h38333402142a079_2_70"/>
          <p:cNvSpPr/>
          <p:nvPr/>
        </p:nvSpPr>
        <p:spPr>
          <a:xfrm>
            <a:off x="566928" y="2523744"/>
            <a:ext cx="2651700" cy="20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h38333402142a079_2_70"/>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700"/>
              <a:buFont typeface="Montserrat"/>
              <a:buNone/>
            </a:pPr>
            <a:r>
              <a:rPr b="1" i="0" lang="en-US" sz="700" u="none" cap="none" strike="noStrike">
                <a:solidFill>
                  <a:srgbClr val="B8C5D9"/>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48" name="Shape 248"/>
        <p:cNvGrpSpPr/>
        <p:nvPr/>
      </p:nvGrpSpPr>
      <p:grpSpPr>
        <a:xfrm>
          <a:off x="0" y="0"/>
          <a:ext cx="0" cy="0"/>
          <a:chOff x="0" y="0"/>
          <a:chExt cx="0" cy="0"/>
        </a:xfrm>
      </p:grpSpPr>
      <p:sp>
        <p:nvSpPr>
          <p:cNvPr id="249" name="Google Shape;249;h11f538478445b104_2_18"/>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THE MATRIX</a:t>
            </a:r>
            <a:endParaRPr b="0" i="0" sz="950" u="none" cap="none" strike="noStrike">
              <a:solidFill>
                <a:schemeClr val="dk1"/>
              </a:solidFill>
              <a:latin typeface="Calibri"/>
              <a:ea typeface="Calibri"/>
              <a:cs typeface="Calibri"/>
              <a:sym typeface="Calibri"/>
            </a:endParaRPr>
          </a:p>
        </p:txBody>
      </p:sp>
      <p:sp>
        <p:nvSpPr>
          <p:cNvPr id="250" name="Google Shape;250;h11f538478445b104_2_18"/>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The four states</a:t>
            </a:r>
            <a:endParaRPr b="0" i="0" sz="3000" u="none" cap="none" strike="noStrike">
              <a:solidFill>
                <a:schemeClr val="dk1"/>
              </a:solidFill>
              <a:latin typeface="Calibri"/>
              <a:ea typeface="Calibri"/>
              <a:cs typeface="Calibri"/>
              <a:sym typeface="Calibri"/>
            </a:endParaRPr>
          </a:p>
        </p:txBody>
      </p:sp>
      <p:sp>
        <p:nvSpPr>
          <p:cNvPr id="251" name="Google Shape;251;h11f538478445b104_2_18"/>
          <p:cNvSpPr/>
          <p:nvPr/>
        </p:nvSpPr>
        <p:spPr>
          <a:xfrm>
            <a:off x="566928" y="1353312"/>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Density crossed with Optionality. Your state helps you see a form of exposure your job title cannot.</a:t>
            </a:r>
            <a:endParaRPr b="0" i="0" sz="1150" u="none" cap="none" strike="noStrike">
              <a:solidFill>
                <a:schemeClr val="dk1"/>
              </a:solidFill>
              <a:latin typeface="Calibri"/>
              <a:ea typeface="Calibri"/>
              <a:cs typeface="Calibri"/>
              <a:sym typeface="Calibri"/>
            </a:endParaRPr>
          </a:p>
        </p:txBody>
      </p:sp>
      <p:sp>
        <p:nvSpPr>
          <p:cNvPr id="252" name="Google Shape;252;h11f538478445b104_2_18"/>
          <p:cNvSpPr/>
          <p:nvPr/>
        </p:nvSpPr>
        <p:spPr>
          <a:xfrm>
            <a:off x="1133856" y="1792224"/>
            <a:ext cx="3721500" cy="12069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3" name="Google Shape;253;h11f538478445b104_2_18"/>
          <p:cNvSpPr/>
          <p:nvPr/>
        </p:nvSpPr>
        <p:spPr>
          <a:xfrm>
            <a:off x="1353312" y="1975104"/>
            <a:ext cx="3282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C9A84C"/>
                </a:solidFill>
                <a:latin typeface="Montserrat"/>
                <a:ea typeface="Montserrat"/>
                <a:cs typeface="Montserrat"/>
                <a:sym typeface="Montserrat"/>
              </a:rPr>
              <a:t>2   </a:t>
            </a:r>
            <a:r>
              <a:rPr b="1" i="0" lang="en-US" sz="1000" u="none" cap="none" strike="noStrike">
                <a:solidFill>
                  <a:srgbClr val="0F2347"/>
                </a:solidFill>
                <a:latin typeface="Montserrat"/>
                <a:ea typeface="Montserrat"/>
                <a:cs typeface="Montserrat"/>
                <a:sym typeface="Montserrat"/>
              </a:rPr>
              <a:t>DEPTH TRAP</a:t>
            </a:r>
            <a:endParaRPr b="0" i="0" sz="1000" u="none" cap="none" strike="noStrike">
              <a:solidFill>
                <a:schemeClr val="dk1"/>
              </a:solidFill>
              <a:latin typeface="Calibri"/>
              <a:ea typeface="Calibri"/>
              <a:cs typeface="Calibri"/>
              <a:sym typeface="Calibri"/>
            </a:endParaRPr>
          </a:p>
        </p:txBody>
      </p:sp>
      <p:sp>
        <p:nvSpPr>
          <p:cNvPr id="254" name="Google Shape;254;h11f538478445b104_2_18"/>
          <p:cNvSpPr/>
          <p:nvPr/>
        </p:nvSpPr>
        <p:spPr>
          <a:xfrm>
            <a:off x="1353312" y="2286000"/>
            <a:ext cx="328260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1100" u="none" cap="none" strike="noStrike">
                <a:solidFill>
                  <a:srgbClr val="5A6B84"/>
                </a:solidFill>
                <a:latin typeface="DM Sans"/>
                <a:ea typeface="DM Sans"/>
                <a:cs typeface="DM Sans"/>
                <a:sym typeface="DM Sans"/>
              </a:rPr>
              <a:t>Deep expertise fused to one context.</a:t>
            </a:r>
            <a:endParaRPr b="1" i="0" sz="1100" u="none" cap="none" strike="noStrike">
              <a:solidFill>
                <a:schemeClr val="dk1"/>
              </a:solidFill>
              <a:latin typeface="Calibri"/>
              <a:ea typeface="Calibri"/>
              <a:cs typeface="Calibri"/>
              <a:sym typeface="Calibri"/>
            </a:endParaRPr>
          </a:p>
        </p:txBody>
      </p:sp>
      <p:sp>
        <p:nvSpPr>
          <p:cNvPr id="255" name="Google Shape;255;h11f538478445b104_2_18"/>
          <p:cNvSpPr/>
          <p:nvPr/>
        </p:nvSpPr>
        <p:spPr>
          <a:xfrm>
            <a:off x="4855464" y="1792224"/>
            <a:ext cx="3721500" cy="12069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h11f538478445b104_2_18"/>
          <p:cNvSpPr/>
          <p:nvPr/>
        </p:nvSpPr>
        <p:spPr>
          <a:xfrm>
            <a:off x="5074920" y="1975104"/>
            <a:ext cx="3282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000"/>
              <a:buFont typeface="Montserrat"/>
              <a:buNone/>
            </a:pPr>
            <a:r>
              <a:rPr b="1" i="0" lang="en-US" sz="1000" u="none" cap="none" strike="noStrike">
                <a:solidFill>
                  <a:srgbClr val="B8C5D9"/>
                </a:solidFill>
                <a:latin typeface="Montserrat"/>
                <a:ea typeface="Montserrat"/>
                <a:cs typeface="Montserrat"/>
                <a:sym typeface="Montserrat"/>
              </a:rPr>
              <a:t>4   </a:t>
            </a:r>
            <a:r>
              <a:rPr b="1" i="0" lang="en-US" sz="1000" u="none" cap="none" strike="noStrike">
                <a:solidFill>
                  <a:srgbClr val="C9A84C"/>
                </a:solidFill>
                <a:latin typeface="Montserrat"/>
                <a:ea typeface="Montserrat"/>
                <a:cs typeface="Montserrat"/>
                <a:sym typeface="Montserrat"/>
              </a:rPr>
              <a:t>COMPOUNDING</a:t>
            </a:r>
            <a:endParaRPr b="0" i="0" sz="1000" u="none" cap="none" strike="noStrike">
              <a:solidFill>
                <a:schemeClr val="dk1"/>
              </a:solidFill>
              <a:latin typeface="Calibri"/>
              <a:ea typeface="Calibri"/>
              <a:cs typeface="Calibri"/>
              <a:sym typeface="Calibri"/>
            </a:endParaRPr>
          </a:p>
        </p:txBody>
      </p:sp>
      <p:sp>
        <p:nvSpPr>
          <p:cNvPr id="257" name="Google Shape;257;h11f538478445b104_2_18"/>
          <p:cNvSpPr/>
          <p:nvPr/>
        </p:nvSpPr>
        <p:spPr>
          <a:xfrm>
            <a:off x="5074920" y="2286000"/>
            <a:ext cx="328260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B8C5D9"/>
              </a:buClr>
              <a:buSzPts val="1100"/>
              <a:buFont typeface="DM Sans"/>
              <a:buNone/>
            </a:pPr>
            <a:r>
              <a:rPr b="1" i="0" lang="en-US" sz="1100" u="none" cap="none" strike="noStrike">
                <a:solidFill>
                  <a:srgbClr val="B8C5D9"/>
                </a:solidFill>
                <a:latin typeface="DM Sans"/>
                <a:ea typeface="DM Sans"/>
                <a:cs typeface="DM Sans"/>
                <a:sym typeface="DM Sans"/>
              </a:rPr>
              <a:t>Deep capability that travels.</a:t>
            </a:r>
            <a:endParaRPr b="1" i="0" sz="1100" u="none" cap="none" strike="noStrike">
              <a:solidFill>
                <a:schemeClr val="dk1"/>
              </a:solidFill>
              <a:latin typeface="Calibri"/>
              <a:ea typeface="Calibri"/>
              <a:cs typeface="Calibri"/>
              <a:sym typeface="Calibri"/>
            </a:endParaRPr>
          </a:p>
        </p:txBody>
      </p:sp>
      <p:sp>
        <p:nvSpPr>
          <p:cNvPr id="258" name="Google Shape;258;h11f538478445b104_2_18"/>
          <p:cNvSpPr/>
          <p:nvPr/>
        </p:nvSpPr>
        <p:spPr>
          <a:xfrm>
            <a:off x="1133856" y="2999232"/>
            <a:ext cx="3721500" cy="12069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9" name="Google Shape;259;h11f538478445b104_2_18"/>
          <p:cNvSpPr/>
          <p:nvPr/>
        </p:nvSpPr>
        <p:spPr>
          <a:xfrm>
            <a:off x="1353312" y="3182112"/>
            <a:ext cx="3282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C9A84C"/>
                </a:solidFill>
                <a:latin typeface="Montserrat"/>
                <a:ea typeface="Montserrat"/>
                <a:cs typeface="Montserrat"/>
                <a:sym typeface="Montserrat"/>
              </a:rPr>
              <a:t>1   </a:t>
            </a:r>
            <a:r>
              <a:rPr b="1" i="0" lang="en-US" sz="1000" u="none" cap="none" strike="noStrike">
                <a:solidFill>
                  <a:srgbClr val="0F2347"/>
                </a:solidFill>
                <a:latin typeface="Montserrat"/>
                <a:ea typeface="Montserrat"/>
                <a:cs typeface="Montserrat"/>
                <a:sym typeface="Montserrat"/>
              </a:rPr>
              <a:t>STAGNANT</a:t>
            </a:r>
            <a:endParaRPr b="0" i="0" sz="1000" u="none" cap="none" strike="noStrike">
              <a:solidFill>
                <a:schemeClr val="dk1"/>
              </a:solidFill>
              <a:latin typeface="Calibri"/>
              <a:ea typeface="Calibri"/>
              <a:cs typeface="Calibri"/>
              <a:sym typeface="Calibri"/>
            </a:endParaRPr>
          </a:p>
        </p:txBody>
      </p:sp>
      <p:sp>
        <p:nvSpPr>
          <p:cNvPr id="260" name="Google Shape;260;h11f538478445b104_2_18"/>
          <p:cNvSpPr/>
          <p:nvPr/>
        </p:nvSpPr>
        <p:spPr>
          <a:xfrm>
            <a:off x="1353312" y="3493008"/>
            <a:ext cx="328260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1100" u="none" cap="none" strike="noStrike">
                <a:solidFill>
                  <a:srgbClr val="5A6B84"/>
                </a:solidFill>
                <a:latin typeface="DM Sans"/>
                <a:ea typeface="DM Sans"/>
                <a:cs typeface="DM Sans"/>
                <a:sym typeface="DM Sans"/>
              </a:rPr>
              <a:t>The work stopped asking more of you.</a:t>
            </a:r>
            <a:endParaRPr b="1" i="0" sz="1100" u="none" cap="none" strike="noStrike">
              <a:solidFill>
                <a:schemeClr val="dk1"/>
              </a:solidFill>
              <a:latin typeface="Calibri"/>
              <a:ea typeface="Calibri"/>
              <a:cs typeface="Calibri"/>
              <a:sym typeface="Calibri"/>
            </a:endParaRPr>
          </a:p>
        </p:txBody>
      </p:sp>
      <p:sp>
        <p:nvSpPr>
          <p:cNvPr id="261" name="Google Shape;261;h11f538478445b104_2_18"/>
          <p:cNvSpPr/>
          <p:nvPr/>
        </p:nvSpPr>
        <p:spPr>
          <a:xfrm>
            <a:off x="4855464" y="2999232"/>
            <a:ext cx="3721500" cy="12069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2" name="Google Shape;262;h11f538478445b104_2_18"/>
          <p:cNvSpPr/>
          <p:nvPr/>
        </p:nvSpPr>
        <p:spPr>
          <a:xfrm>
            <a:off x="5074920" y="3182112"/>
            <a:ext cx="3282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C9A84C"/>
                </a:solidFill>
                <a:latin typeface="Montserrat"/>
                <a:ea typeface="Montserrat"/>
                <a:cs typeface="Montserrat"/>
                <a:sym typeface="Montserrat"/>
              </a:rPr>
              <a:t>3   </a:t>
            </a:r>
            <a:r>
              <a:rPr b="1" i="0" lang="en-US" sz="1000" u="none" cap="none" strike="noStrike">
                <a:solidFill>
                  <a:srgbClr val="0F2347"/>
                </a:solidFill>
                <a:latin typeface="Montserrat"/>
                <a:ea typeface="Montserrat"/>
                <a:cs typeface="Montserrat"/>
                <a:sym typeface="Montserrat"/>
              </a:rPr>
              <a:t>FRAGILE</a:t>
            </a:r>
            <a:endParaRPr b="0" i="0" sz="1000" u="none" cap="none" strike="noStrike">
              <a:solidFill>
                <a:schemeClr val="dk1"/>
              </a:solidFill>
              <a:latin typeface="Calibri"/>
              <a:ea typeface="Calibri"/>
              <a:cs typeface="Calibri"/>
              <a:sym typeface="Calibri"/>
            </a:endParaRPr>
          </a:p>
        </p:txBody>
      </p:sp>
      <p:sp>
        <p:nvSpPr>
          <p:cNvPr id="263" name="Google Shape;263;h11f538478445b104_2_18"/>
          <p:cNvSpPr/>
          <p:nvPr/>
        </p:nvSpPr>
        <p:spPr>
          <a:xfrm>
            <a:off x="5074920" y="3493008"/>
            <a:ext cx="328260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1100" u="none" cap="none" strike="noStrike">
                <a:solidFill>
                  <a:srgbClr val="5A6B84"/>
                </a:solidFill>
                <a:latin typeface="DM Sans"/>
                <a:ea typeface="DM Sans"/>
                <a:cs typeface="DM Sans"/>
                <a:sym typeface="DM Sans"/>
              </a:rPr>
              <a:t>Options on paper, not enough depth beneath.</a:t>
            </a:r>
            <a:endParaRPr b="1" i="0" sz="1100" u="none" cap="none" strike="noStrike">
              <a:solidFill>
                <a:schemeClr val="dk1"/>
              </a:solidFill>
              <a:latin typeface="Calibri"/>
              <a:ea typeface="Calibri"/>
              <a:cs typeface="Calibri"/>
              <a:sym typeface="Calibri"/>
            </a:endParaRPr>
          </a:p>
        </p:txBody>
      </p:sp>
      <p:sp>
        <p:nvSpPr>
          <p:cNvPr id="264" name="Google Shape;264;h11f538478445b104_2_18"/>
          <p:cNvSpPr/>
          <p:nvPr/>
        </p:nvSpPr>
        <p:spPr>
          <a:xfrm rot="-5400000">
            <a:off x="182970" y="2249394"/>
            <a:ext cx="1280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40"/>
              <a:buFont typeface="Montserrat"/>
              <a:buNone/>
            </a:pPr>
            <a:r>
              <a:rPr b="1" i="0" lang="en-US" sz="740" u="none" cap="none" strike="noStrike">
                <a:solidFill>
                  <a:srgbClr val="5A6B84"/>
                </a:solidFill>
                <a:latin typeface="Montserrat"/>
                <a:ea typeface="Montserrat"/>
                <a:cs typeface="Montserrat"/>
                <a:sym typeface="Montserrat"/>
              </a:rPr>
              <a:t>DENSITY / HIGH</a:t>
            </a:r>
            <a:endParaRPr b="0" i="0" sz="740" u="none" cap="none" strike="noStrike">
              <a:solidFill>
                <a:schemeClr val="dk1"/>
              </a:solidFill>
              <a:latin typeface="Calibri"/>
              <a:ea typeface="Calibri"/>
              <a:cs typeface="Calibri"/>
              <a:sym typeface="Calibri"/>
            </a:endParaRPr>
          </a:p>
        </p:txBody>
      </p:sp>
      <p:sp>
        <p:nvSpPr>
          <p:cNvPr id="265" name="Google Shape;265;h11f538478445b104_2_18"/>
          <p:cNvSpPr/>
          <p:nvPr/>
        </p:nvSpPr>
        <p:spPr>
          <a:xfrm rot="-5400000">
            <a:off x="182970" y="3456402"/>
            <a:ext cx="1280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40"/>
              <a:buFont typeface="Montserrat"/>
              <a:buNone/>
            </a:pPr>
            <a:r>
              <a:rPr b="1" i="0" lang="en-US" sz="740" u="none" cap="none" strike="noStrike">
                <a:solidFill>
                  <a:srgbClr val="5A6B84"/>
                </a:solidFill>
                <a:latin typeface="Montserrat"/>
                <a:ea typeface="Montserrat"/>
                <a:cs typeface="Montserrat"/>
                <a:sym typeface="Montserrat"/>
              </a:rPr>
              <a:t>DENSITY / LOW</a:t>
            </a:r>
            <a:endParaRPr b="0" i="0" sz="740" u="none" cap="none" strike="noStrike">
              <a:solidFill>
                <a:schemeClr val="dk1"/>
              </a:solidFill>
              <a:latin typeface="Calibri"/>
              <a:ea typeface="Calibri"/>
              <a:cs typeface="Calibri"/>
              <a:sym typeface="Calibri"/>
            </a:endParaRPr>
          </a:p>
        </p:txBody>
      </p:sp>
      <p:sp>
        <p:nvSpPr>
          <p:cNvPr id="266" name="Google Shape;266;h11f538478445b104_2_18"/>
          <p:cNvSpPr/>
          <p:nvPr/>
        </p:nvSpPr>
        <p:spPr>
          <a:xfrm>
            <a:off x="1133856" y="4315968"/>
            <a:ext cx="74433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60"/>
              <a:buFont typeface="Montserrat"/>
              <a:buNone/>
            </a:pPr>
            <a:r>
              <a:rPr b="1" i="0" lang="en-US" sz="760" u="none" cap="none" strike="noStrike">
                <a:solidFill>
                  <a:srgbClr val="5A6B84"/>
                </a:solidFill>
                <a:latin typeface="Montserrat"/>
                <a:ea typeface="Montserrat"/>
                <a:cs typeface="Montserrat"/>
                <a:sym typeface="Montserrat"/>
              </a:rPr>
              <a:t>OPTIONALITY:  LOW AT LEFT   →   HIGH AT RIGHT</a:t>
            </a:r>
            <a:endParaRPr b="0" i="0" sz="760" u="none" cap="none" strike="noStrike">
              <a:solidFill>
                <a:schemeClr val="dk1"/>
              </a:solidFill>
              <a:latin typeface="Calibri"/>
              <a:ea typeface="Calibri"/>
              <a:cs typeface="Calibri"/>
              <a:sym typeface="Calibri"/>
            </a:endParaRPr>
          </a:p>
        </p:txBody>
      </p:sp>
      <p:sp>
        <p:nvSpPr>
          <p:cNvPr id="267" name="Google Shape;267;h11f538478445b104_2_18"/>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68" name="Google Shape;268;h11f538478445b104_2_18"/>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12</a:t>
            </a:r>
            <a:endParaRPr b="0" i="0" sz="700" u="none" cap="none" strike="noStrike">
              <a:solidFill>
                <a:schemeClr val="dk1"/>
              </a:solidFill>
              <a:latin typeface="Calibri"/>
              <a:ea typeface="Calibri"/>
              <a:cs typeface="Calibri"/>
              <a:sym typeface="Calibri"/>
            </a:endParaRPr>
          </a:p>
        </p:txBody>
      </p:sp>
      <p:sp>
        <p:nvSpPr>
          <p:cNvPr id="269" name="Google Shape;269;h11f538478445b104_2_18"/>
          <p:cNvSpPr/>
          <p:nvPr/>
        </p:nvSpPr>
        <p:spPr>
          <a:xfrm>
            <a:off x="1353312" y="3822191"/>
            <a:ext cx="3282600" cy="3657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950" u="none" cap="none" strike="noStrike">
                <a:solidFill>
                  <a:srgbClr val="5A6B84"/>
                </a:solidFill>
                <a:latin typeface="DM Sans"/>
                <a:ea typeface="DM Sans"/>
                <a:cs typeface="DM Sans"/>
                <a:sym typeface="DM Sans"/>
              </a:rPr>
              <a:t>Neither axis is moving.</a:t>
            </a:r>
            <a:endParaRPr b="1" i="0" sz="1100" u="none" cap="none" strike="noStrike">
              <a:solidFill>
                <a:schemeClr val="dk1"/>
              </a:solidFill>
              <a:latin typeface="Calibri"/>
              <a:ea typeface="Calibri"/>
              <a:cs typeface="Calibri"/>
              <a:sym typeface="Calibri"/>
            </a:endParaRPr>
          </a:p>
        </p:txBody>
      </p:sp>
      <p:sp>
        <p:nvSpPr>
          <p:cNvPr id="270" name="Google Shape;270;h11f538478445b104_2_18"/>
          <p:cNvSpPr/>
          <p:nvPr/>
        </p:nvSpPr>
        <p:spPr>
          <a:xfrm>
            <a:off x="5074920" y="3822191"/>
            <a:ext cx="3282600" cy="3657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1" i="0" lang="en-US" sz="950" u="none" cap="none" strike="noStrike">
                <a:solidFill>
                  <a:srgbClr val="5A6B84"/>
                </a:solidFill>
                <a:latin typeface="DM Sans"/>
                <a:ea typeface="DM Sans"/>
                <a:cs typeface="DM Sans"/>
                <a:sym typeface="DM Sans"/>
              </a:rPr>
              <a:t>What you built travels. It is just not being added to.</a:t>
            </a:r>
            <a:endParaRPr b="1" i="0" sz="11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75" name="Shape 275"/>
        <p:cNvGrpSpPr/>
        <p:nvPr/>
      </p:nvGrpSpPr>
      <p:grpSpPr>
        <a:xfrm>
          <a:off x="0" y="0"/>
          <a:ext cx="0" cy="0"/>
          <a:chOff x="0" y="0"/>
          <a:chExt cx="0" cy="0"/>
        </a:xfrm>
      </p:grpSpPr>
      <p:sp>
        <p:nvSpPr>
          <p:cNvPr id="276" name="Google Shape;276;p1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FIRST PLACEMENT</a:t>
            </a:r>
            <a:endParaRPr b="0" i="0" sz="950" u="none" cap="none" strike="noStrike">
              <a:solidFill>
                <a:schemeClr val="dk1"/>
              </a:solidFill>
              <a:latin typeface="Calibri"/>
              <a:ea typeface="Calibri"/>
              <a:cs typeface="Calibri"/>
              <a:sym typeface="Calibri"/>
            </a:endParaRPr>
          </a:p>
        </p:txBody>
      </p:sp>
      <p:sp>
        <p:nvSpPr>
          <p:cNvPr id="277" name="Google Shape;277;p1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Place yourself. Privately, and provisionally.</a:t>
            </a:r>
            <a:endParaRPr b="0" i="0" sz="2600" u="none" cap="none" strike="noStrike">
              <a:solidFill>
                <a:schemeClr val="dk1"/>
              </a:solidFill>
              <a:latin typeface="Calibri"/>
              <a:ea typeface="Calibri"/>
              <a:cs typeface="Calibri"/>
              <a:sym typeface="Calibri"/>
            </a:endParaRPr>
          </a:p>
        </p:txBody>
      </p:sp>
      <p:sp>
        <p:nvSpPr>
          <p:cNvPr id="278" name="Google Shape;278;p13"/>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Cross your two numbers, then rate your confidence in the placement from 1 to 5.</a:t>
            </a:r>
            <a:endParaRPr b="0" i="0" sz="1150" u="none" cap="none" strike="noStrike">
              <a:solidFill>
                <a:schemeClr val="dk1"/>
              </a:solidFill>
              <a:latin typeface="Calibri"/>
              <a:ea typeface="Calibri"/>
              <a:cs typeface="Calibri"/>
              <a:sym typeface="Calibri"/>
            </a:endParaRPr>
          </a:p>
        </p:txBody>
      </p:sp>
      <p:sp>
        <p:nvSpPr>
          <p:cNvPr id="279" name="Google Shape;279;p13"/>
          <p:cNvSpPr/>
          <p:nvPr/>
        </p:nvSpPr>
        <p:spPr>
          <a:xfrm>
            <a:off x="566928" y="1938528"/>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0" name="Google Shape;280;p13"/>
          <p:cNvSpPr/>
          <p:nvPr/>
        </p:nvSpPr>
        <p:spPr>
          <a:xfrm>
            <a:off x="566928" y="19385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1</a:t>
            </a:r>
            <a:endParaRPr b="0" i="0" sz="950" u="none" cap="none" strike="noStrike">
              <a:solidFill>
                <a:schemeClr val="dk1"/>
              </a:solidFill>
              <a:latin typeface="Calibri"/>
              <a:ea typeface="Calibri"/>
              <a:cs typeface="Calibri"/>
              <a:sym typeface="Calibri"/>
            </a:endParaRPr>
          </a:p>
        </p:txBody>
      </p:sp>
      <p:sp>
        <p:nvSpPr>
          <p:cNvPr id="281" name="Google Shape;281;p13"/>
          <p:cNvSpPr/>
          <p:nvPr/>
        </p:nvSpPr>
        <p:spPr>
          <a:xfrm>
            <a:off x="1005840" y="1911096"/>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Cross Density and Optionality</a:t>
            </a:r>
            <a:endParaRPr b="0" i="0" sz="1300" u="none" cap="none" strike="noStrike">
              <a:solidFill>
                <a:schemeClr val="dk1"/>
              </a:solidFill>
              <a:latin typeface="Calibri"/>
              <a:ea typeface="Calibri"/>
              <a:cs typeface="Calibri"/>
              <a:sym typeface="Calibri"/>
            </a:endParaRPr>
          </a:p>
        </p:txBody>
      </p:sp>
      <p:sp>
        <p:nvSpPr>
          <p:cNvPr id="282" name="Google Shape;282;p13"/>
          <p:cNvSpPr/>
          <p:nvPr/>
        </p:nvSpPr>
        <p:spPr>
          <a:xfrm>
            <a:off x="1005840" y="2167128"/>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Two totals, one square. If either total sits inside 17 to 21, mark it boundary instead of picking a square.</a:t>
            </a:r>
            <a:endParaRPr b="0" i="0" sz="1100" u="none" cap="none" strike="noStrike">
              <a:solidFill>
                <a:schemeClr val="dk1"/>
              </a:solidFill>
              <a:latin typeface="Calibri"/>
              <a:ea typeface="Calibri"/>
              <a:cs typeface="Calibri"/>
              <a:sym typeface="Calibri"/>
            </a:endParaRPr>
          </a:p>
        </p:txBody>
      </p:sp>
      <p:sp>
        <p:nvSpPr>
          <p:cNvPr id="283" name="Google Shape;283;p13"/>
          <p:cNvSpPr/>
          <p:nvPr/>
        </p:nvSpPr>
        <p:spPr>
          <a:xfrm>
            <a:off x="566928" y="25968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4" name="Google Shape;284;p13"/>
          <p:cNvSpPr/>
          <p:nvPr/>
        </p:nvSpPr>
        <p:spPr>
          <a:xfrm>
            <a:off x="566928" y="259689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2</a:t>
            </a:r>
            <a:endParaRPr b="0" i="0" sz="950" u="none" cap="none" strike="noStrike">
              <a:solidFill>
                <a:schemeClr val="dk1"/>
              </a:solidFill>
              <a:latin typeface="Calibri"/>
              <a:ea typeface="Calibri"/>
              <a:cs typeface="Calibri"/>
              <a:sym typeface="Calibri"/>
            </a:endParaRPr>
          </a:p>
        </p:txBody>
      </p:sp>
      <p:sp>
        <p:nvSpPr>
          <p:cNvPr id="285" name="Google Shape;285;p13"/>
          <p:cNvSpPr/>
          <p:nvPr/>
        </p:nvSpPr>
        <p:spPr>
          <a:xfrm>
            <a:off x="1005840" y="2569464"/>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Rate your confidence from 1 to 5</a:t>
            </a:r>
            <a:endParaRPr b="0" i="0" sz="1300" u="none" cap="none" strike="noStrike">
              <a:solidFill>
                <a:schemeClr val="dk1"/>
              </a:solidFill>
              <a:latin typeface="Calibri"/>
              <a:ea typeface="Calibri"/>
              <a:cs typeface="Calibri"/>
              <a:sym typeface="Calibri"/>
            </a:endParaRPr>
          </a:p>
        </p:txBody>
      </p:sp>
      <p:sp>
        <p:nvSpPr>
          <p:cNvPr id="286" name="Google Shape;286;p13"/>
          <p:cNvSpPr/>
          <p:nvPr/>
        </p:nvSpPr>
        <p:spPr>
          <a:xfrm>
            <a:off x="1005840" y="2825496"/>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Write the number privately. You will compare it against your confidence after the evidence pass.</a:t>
            </a:r>
            <a:endParaRPr b="0" i="0" sz="1100" u="none" cap="none" strike="noStrike">
              <a:solidFill>
                <a:schemeClr val="dk1"/>
              </a:solidFill>
              <a:latin typeface="Calibri"/>
              <a:ea typeface="Calibri"/>
              <a:cs typeface="Calibri"/>
              <a:sym typeface="Calibri"/>
            </a:endParaRPr>
          </a:p>
        </p:txBody>
      </p:sp>
      <p:sp>
        <p:nvSpPr>
          <p:cNvPr id="287" name="Google Shape;287;p13"/>
          <p:cNvSpPr/>
          <p:nvPr/>
        </p:nvSpPr>
        <p:spPr>
          <a:xfrm>
            <a:off x="566928" y="3255264"/>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8" name="Google Shape;288;p13"/>
          <p:cNvSpPr/>
          <p:nvPr/>
        </p:nvSpPr>
        <p:spPr>
          <a:xfrm>
            <a:off x="566928" y="32552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289" name="Google Shape;289;p13"/>
          <p:cNvSpPr/>
          <p:nvPr/>
        </p:nvSpPr>
        <p:spPr>
          <a:xfrm>
            <a:off x="1005840" y="3227832"/>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Hold it lightly</a:t>
            </a:r>
            <a:endParaRPr b="0" i="0" sz="1300" u="none" cap="none" strike="noStrike">
              <a:solidFill>
                <a:schemeClr val="dk1"/>
              </a:solidFill>
              <a:latin typeface="Calibri"/>
              <a:ea typeface="Calibri"/>
              <a:cs typeface="Calibri"/>
              <a:sym typeface="Calibri"/>
            </a:endParaRPr>
          </a:p>
        </p:txBody>
      </p:sp>
      <p:sp>
        <p:nvSpPr>
          <p:cNvPr id="290" name="Google Shape;290;p13"/>
          <p:cNvSpPr/>
          <p:nvPr/>
        </p:nvSpPr>
        <p:spPr>
          <a:xfrm>
            <a:off x="1005840" y="3483864"/>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This is a first read, not a finding. State is not identity</a:t>
            </a:r>
            <a:r>
              <a:rPr lang="en-US" sz="1100">
                <a:solidFill>
                  <a:srgbClr val="5A6B84"/>
                </a:solidFill>
                <a:latin typeface="DM Sans"/>
                <a:ea typeface="DM Sans"/>
                <a:cs typeface="DM Sans"/>
                <a:sym typeface="DM Sans"/>
              </a:rPr>
              <a:t>; </a:t>
            </a:r>
            <a:r>
              <a:rPr b="0" i="0" lang="en-US" sz="1100" u="none" cap="none" strike="noStrike">
                <a:solidFill>
                  <a:srgbClr val="5A6B84"/>
                </a:solidFill>
                <a:latin typeface="DM Sans"/>
                <a:ea typeface="DM Sans"/>
                <a:cs typeface="DM Sans"/>
                <a:sym typeface="DM Sans"/>
              </a:rPr>
              <a:t>it reads conditions in a ninety-day window, and it moves.</a:t>
            </a:r>
            <a:endParaRPr b="0" i="0" sz="1100" u="none" cap="none" strike="noStrike">
              <a:solidFill>
                <a:schemeClr val="dk1"/>
              </a:solidFill>
              <a:latin typeface="Calibri"/>
              <a:ea typeface="Calibri"/>
              <a:cs typeface="Calibri"/>
              <a:sym typeface="Calibri"/>
            </a:endParaRPr>
          </a:p>
        </p:txBody>
      </p:sp>
      <p:sp>
        <p:nvSpPr>
          <p:cNvPr id="291" name="Google Shape;291;p1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292" name="Google Shape;292;p1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97" name="Shape 297"/>
        <p:cNvGrpSpPr/>
        <p:nvPr/>
      </p:nvGrpSpPr>
      <p:grpSpPr>
        <a:xfrm>
          <a:off x="0" y="0"/>
          <a:ext cx="0" cy="0"/>
          <a:chOff x="0" y="0"/>
          <a:chExt cx="0" cy="0"/>
        </a:xfrm>
      </p:grpSpPr>
      <p:sp>
        <p:nvSpPr>
          <p:cNvPr id="298" name="Google Shape;298;p14"/>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THE STANDARD</a:t>
            </a:r>
            <a:endParaRPr b="0" i="0" sz="950" u="none" cap="none" strike="noStrike">
              <a:solidFill>
                <a:schemeClr val="dk1"/>
              </a:solidFill>
              <a:latin typeface="Calibri"/>
              <a:ea typeface="Calibri"/>
              <a:cs typeface="Calibri"/>
              <a:sym typeface="Calibri"/>
            </a:endParaRPr>
          </a:p>
        </p:txBody>
      </p:sp>
      <p:sp>
        <p:nvSpPr>
          <p:cNvPr id="299" name="Google Shape;299;p14"/>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The evidence protocol</a:t>
            </a:r>
            <a:endParaRPr b="0" i="0" sz="3000" u="none" cap="none" strike="noStrike">
              <a:solidFill>
                <a:schemeClr val="dk1"/>
              </a:solidFill>
              <a:latin typeface="Calibri"/>
              <a:ea typeface="Calibri"/>
              <a:cs typeface="Calibri"/>
              <a:sym typeface="Calibri"/>
            </a:endParaRPr>
          </a:p>
        </p:txBody>
      </p:sp>
      <p:sp>
        <p:nvSpPr>
          <p:cNvPr id="300" name="Google Shape;300;p14"/>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This is what your second reading has to survive.</a:t>
            </a:r>
            <a:endParaRPr b="0" i="0" sz="1150" u="none" cap="none" strike="noStrike">
              <a:solidFill>
                <a:schemeClr val="dk1"/>
              </a:solidFill>
              <a:latin typeface="Calibri"/>
              <a:ea typeface="Calibri"/>
              <a:cs typeface="Calibri"/>
              <a:sym typeface="Calibri"/>
            </a:endParaRPr>
          </a:p>
        </p:txBody>
      </p:sp>
      <p:sp>
        <p:nvSpPr>
          <p:cNvPr id="301" name="Google Shape;301;p14"/>
          <p:cNvSpPr/>
          <p:nvPr/>
        </p:nvSpPr>
        <p:spPr>
          <a:xfrm>
            <a:off x="566928" y="1810512"/>
            <a:ext cx="8010144" cy="51206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2" name="Google Shape;302;p14"/>
          <p:cNvSpPr/>
          <p:nvPr/>
        </p:nvSpPr>
        <p:spPr>
          <a:xfrm>
            <a:off x="804672" y="1810512"/>
            <a:ext cx="7534656"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600"/>
              <a:buFont typeface="Cormorant Garamond"/>
              <a:buNone/>
            </a:pPr>
            <a:r>
              <a:rPr b="1" i="0" lang="en-US" sz="1600" u="none" cap="none" strike="noStrike">
                <a:solidFill>
                  <a:srgbClr val="F5F0E8"/>
                </a:solidFill>
                <a:latin typeface="Cormorant Garamond"/>
                <a:ea typeface="Cormorant Garamond"/>
                <a:cs typeface="Cormorant Garamond"/>
                <a:sym typeface="Cormorant Garamond"/>
              </a:rPr>
              <a:t>Every corrected score requires an evidence line from the last ninety days. Every score, in both directions.</a:t>
            </a:r>
            <a:endParaRPr b="0" i="0" sz="1600" u="none" cap="none" strike="noStrike">
              <a:solidFill>
                <a:schemeClr val="dk1"/>
              </a:solidFill>
              <a:latin typeface="Calibri"/>
              <a:ea typeface="Calibri"/>
              <a:cs typeface="Calibri"/>
              <a:sym typeface="Calibri"/>
            </a:endParaRPr>
          </a:p>
        </p:txBody>
      </p:sp>
      <p:sp>
        <p:nvSpPr>
          <p:cNvPr id="303" name="Google Shape;303;p14"/>
          <p:cNvSpPr/>
          <p:nvPr/>
        </p:nvSpPr>
        <p:spPr>
          <a:xfrm>
            <a:off x="566928" y="2468880"/>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4" name="Google Shape;304;p14"/>
          <p:cNvSpPr/>
          <p:nvPr/>
        </p:nvSpPr>
        <p:spPr>
          <a:xfrm>
            <a:off x="768096" y="2468880"/>
            <a:ext cx="109728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Montserrat"/>
              <a:buNone/>
            </a:pPr>
            <a:r>
              <a:rPr b="1" i="0" lang="en-US" sz="900" u="none" cap="none" strike="noStrike">
                <a:solidFill>
                  <a:srgbClr val="0F2347"/>
                </a:solidFill>
                <a:latin typeface="Montserrat"/>
                <a:ea typeface="Montserrat"/>
                <a:cs typeface="Montserrat"/>
                <a:sym typeface="Montserrat"/>
              </a:rPr>
              <a:t>A 4 OR 5</a:t>
            </a:r>
            <a:endParaRPr b="0" i="0" sz="900" u="none" cap="none" strike="noStrike">
              <a:solidFill>
                <a:schemeClr val="dk1"/>
              </a:solidFill>
              <a:latin typeface="Calibri"/>
              <a:ea typeface="Calibri"/>
              <a:cs typeface="Calibri"/>
              <a:sym typeface="Calibri"/>
            </a:endParaRPr>
          </a:p>
        </p:txBody>
      </p:sp>
      <p:sp>
        <p:nvSpPr>
          <p:cNvPr id="305" name="Google Shape;305;p14"/>
          <p:cNvSpPr/>
          <p:nvPr/>
        </p:nvSpPr>
        <p:spPr>
          <a:xfrm>
            <a:off x="1984248" y="2468880"/>
            <a:ext cx="6391656"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0" i="0" lang="en-US" sz="1100" u="none" cap="none" strike="noStrike">
                <a:solidFill>
                  <a:srgbClr val="0F2347"/>
                </a:solidFill>
                <a:latin typeface="DM Sans"/>
                <a:ea typeface="DM Sans"/>
                <a:cs typeface="DM Sans"/>
                <a:sym typeface="DM Sans"/>
              </a:rPr>
              <a:t>At least one clear positive instance from within the window.</a:t>
            </a:r>
            <a:endParaRPr b="0" i="0" sz="1100" u="none" cap="none" strike="noStrike">
              <a:solidFill>
                <a:schemeClr val="dk1"/>
              </a:solidFill>
              <a:latin typeface="Calibri"/>
              <a:ea typeface="Calibri"/>
              <a:cs typeface="Calibri"/>
              <a:sym typeface="Calibri"/>
            </a:endParaRPr>
          </a:p>
        </p:txBody>
      </p:sp>
      <p:sp>
        <p:nvSpPr>
          <p:cNvPr id="306" name="Google Shape;306;p14"/>
          <p:cNvSpPr/>
          <p:nvPr/>
        </p:nvSpPr>
        <p:spPr>
          <a:xfrm>
            <a:off x="566928" y="2944368"/>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7" name="Google Shape;307;p14"/>
          <p:cNvSpPr/>
          <p:nvPr/>
        </p:nvSpPr>
        <p:spPr>
          <a:xfrm>
            <a:off x="768096" y="2944368"/>
            <a:ext cx="109728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Montserrat"/>
              <a:buNone/>
            </a:pPr>
            <a:r>
              <a:rPr b="1" i="0" lang="en-US" sz="900" u="none" cap="none" strike="noStrike">
                <a:solidFill>
                  <a:srgbClr val="0F2347"/>
                </a:solidFill>
                <a:latin typeface="Montserrat"/>
                <a:ea typeface="Montserrat"/>
                <a:cs typeface="Montserrat"/>
                <a:sym typeface="Montserrat"/>
              </a:rPr>
              <a:t>A 3</a:t>
            </a:r>
            <a:endParaRPr b="0" i="0" sz="900" u="none" cap="none" strike="noStrike">
              <a:solidFill>
                <a:schemeClr val="dk1"/>
              </a:solidFill>
              <a:latin typeface="Calibri"/>
              <a:ea typeface="Calibri"/>
              <a:cs typeface="Calibri"/>
              <a:sym typeface="Calibri"/>
            </a:endParaRPr>
          </a:p>
        </p:txBody>
      </p:sp>
      <p:sp>
        <p:nvSpPr>
          <p:cNvPr id="308" name="Google Shape;308;p14"/>
          <p:cNvSpPr/>
          <p:nvPr/>
        </p:nvSpPr>
        <p:spPr>
          <a:xfrm>
            <a:off x="1984248" y="2944368"/>
            <a:ext cx="6391656"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0" i="0" lang="en-US" sz="1100" u="none" cap="none" strike="noStrike">
                <a:solidFill>
                  <a:srgbClr val="0F2347"/>
                </a:solidFill>
                <a:latin typeface="DM Sans"/>
                <a:ea typeface="DM Sans"/>
                <a:cs typeface="DM Sans"/>
                <a:sym typeface="DM Sans"/>
              </a:rPr>
              <a:t>The mixed or inconsistent pattern. A 3 is a reading, not an absence of one.</a:t>
            </a:r>
            <a:endParaRPr b="0" i="0" sz="1100" u="none" cap="none" strike="noStrike">
              <a:solidFill>
                <a:schemeClr val="dk1"/>
              </a:solidFill>
              <a:latin typeface="Calibri"/>
              <a:ea typeface="Calibri"/>
              <a:cs typeface="Calibri"/>
              <a:sym typeface="Calibri"/>
            </a:endParaRPr>
          </a:p>
        </p:txBody>
      </p:sp>
      <p:sp>
        <p:nvSpPr>
          <p:cNvPr id="309" name="Google Shape;309;p14"/>
          <p:cNvSpPr/>
          <p:nvPr/>
        </p:nvSpPr>
        <p:spPr>
          <a:xfrm>
            <a:off x="566928" y="3419856"/>
            <a:ext cx="8010144" cy="4023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0" name="Google Shape;310;p14"/>
          <p:cNvSpPr/>
          <p:nvPr/>
        </p:nvSpPr>
        <p:spPr>
          <a:xfrm>
            <a:off x="768096" y="3419856"/>
            <a:ext cx="109728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Montserrat"/>
              <a:buNone/>
            </a:pPr>
            <a:r>
              <a:rPr b="1" i="0" lang="en-US" sz="900" u="none" cap="none" strike="noStrike">
                <a:solidFill>
                  <a:srgbClr val="0F2347"/>
                </a:solidFill>
                <a:latin typeface="Montserrat"/>
                <a:ea typeface="Montserrat"/>
                <a:cs typeface="Montserrat"/>
                <a:sym typeface="Montserrat"/>
              </a:rPr>
              <a:t>A 1 OR 2</a:t>
            </a:r>
            <a:endParaRPr b="0" i="0" sz="900" u="none" cap="none" strike="noStrike">
              <a:solidFill>
                <a:schemeClr val="dk1"/>
              </a:solidFill>
              <a:latin typeface="Calibri"/>
              <a:ea typeface="Calibri"/>
              <a:cs typeface="Calibri"/>
              <a:sym typeface="Calibri"/>
            </a:endParaRPr>
          </a:p>
        </p:txBody>
      </p:sp>
      <p:sp>
        <p:nvSpPr>
          <p:cNvPr id="311" name="Google Shape;311;p14"/>
          <p:cNvSpPr/>
          <p:nvPr/>
        </p:nvSpPr>
        <p:spPr>
          <a:xfrm>
            <a:off x="1984248" y="3419856"/>
            <a:ext cx="6391656"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0" i="0" lang="en-US" sz="1100" u="none" cap="none" strike="noStrike">
                <a:solidFill>
                  <a:srgbClr val="0F2347"/>
                </a:solidFill>
                <a:latin typeface="DM Sans"/>
                <a:ea typeface="DM Sans"/>
                <a:cs typeface="DM Sans"/>
                <a:sym typeface="DM Sans"/>
              </a:rPr>
              <a:t>What repeatedly happened instead, a counterexample, or no qualifying instance in the window.</a:t>
            </a:r>
            <a:endParaRPr b="0" i="0" sz="1100" u="none" cap="none" strike="noStrike">
              <a:solidFill>
                <a:schemeClr val="dk1"/>
              </a:solidFill>
              <a:latin typeface="Calibri"/>
              <a:ea typeface="Calibri"/>
              <a:cs typeface="Calibri"/>
              <a:sym typeface="Calibri"/>
            </a:endParaRPr>
          </a:p>
        </p:txBody>
      </p:sp>
      <p:sp>
        <p:nvSpPr>
          <p:cNvPr id="312" name="Google Shape;312;p14"/>
          <p:cNvSpPr/>
          <p:nvPr/>
        </p:nvSpPr>
        <p:spPr>
          <a:xfrm>
            <a:off x="566928" y="3895344"/>
            <a:ext cx="8010144" cy="402336"/>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3" name="Google Shape;313;p14"/>
          <p:cNvSpPr/>
          <p:nvPr/>
        </p:nvSpPr>
        <p:spPr>
          <a:xfrm>
            <a:off x="768096" y="3895344"/>
            <a:ext cx="109728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900"/>
              <a:buFont typeface="Montserrat"/>
              <a:buNone/>
            </a:pPr>
            <a:r>
              <a:rPr b="1" i="0" lang="en-US" sz="900" u="none" cap="none" strike="noStrike">
                <a:solidFill>
                  <a:srgbClr val="F5F0E8"/>
                </a:solidFill>
                <a:latin typeface="Montserrat"/>
                <a:ea typeface="Montserrat"/>
                <a:cs typeface="Montserrat"/>
                <a:sym typeface="Montserrat"/>
              </a:rPr>
              <a:t>A  ?</a:t>
            </a:r>
            <a:endParaRPr b="0" i="0" sz="900" u="none" cap="none" strike="noStrike">
              <a:solidFill>
                <a:schemeClr val="dk1"/>
              </a:solidFill>
              <a:latin typeface="Calibri"/>
              <a:ea typeface="Calibri"/>
              <a:cs typeface="Calibri"/>
              <a:sym typeface="Calibri"/>
            </a:endParaRPr>
          </a:p>
        </p:txBody>
      </p:sp>
      <p:sp>
        <p:nvSpPr>
          <p:cNvPr id="314" name="Google Shape;314;p14"/>
          <p:cNvSpPr/>
          <p:nvPr/>
        </p:nvSpPr>
        <p:spPr>
          <a:xfrm>
            <a:off x="1984248" y="3895344"/>
            <a:ext cx="6391656"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100"/>
              <a:buFont typeface="DM Sans"/>
              <a:buNone/>
            </a:pPr>
            <a:r>
              <a:rPr b="1" i="0" lang="en-US" sz="1100" u="none" cap="none" strike="noStrike">
                <a:solidFill>
                  <a:srgbClr val="F5F0E8"/>
                </a:solidFill>
                <a:latin typeface="DM Sans"/>
                <a:ea typeface="DM Sans"/>
                <a:cs typeface="DM Sans"/>
                <a:sym typeface="DM Sans"/>
              </a:rPr>
              <a:t>Cannot support it either way? Write your most defensible number and add one question mark: 3?, 4?, 2?</a:t>
            </a:r>
            <a:endParaRPr b="0" i="0" sz="1100" u="none" cap="none" strike="noStrike">
              <a:solidFill>
                <a:schemeClr val="dk1"/>
              </a:solidFill>
              <a:latin typeface="Calibri"/>
              <a:ea typeface="Calibri"/>
              <a:cs typeface="Calibri"/>
              <a:sym typeface="Calibri"/>
            </a:endParaRPr>
          </a:p>
        </p:txBody>
      </p:sp>
      <p:sp>
        <p:nvSpPr>
          <p:cNvPr id="315" name="Google Shape;315;p14"/>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347"/>
              </a:buClr>
              <a:buSzPts val="1150"/>
              <a:buFont typeface="DM Sans"/>
              <a:buNone/>
            </a:pPr>
            <a:r>
              <a:rPr b="1" i="0" lang="en-US" sz="1150" u="none" cap="none" strike="noStrike">
                <a:solidFill>
                  <a:srgbClr val="0F2347"/>
                </a:solidFill>
                <a:latin typeface="DM Sans"/>
                <a:ea typeface="DM Sans"/>
                <a:cs typeface="DM Sans"/>
                <a:sym typeface="DM Sans"/>
              </a:rPr>
              <a:t>A 3 means mixed. A question mark means unsupported.</a:t>
            </a:r>
            <a:endParaRPr b="0" i="0" sz="1150" u="none" cap="none" strike="noStrike">
              <a:solidFill>
                <a:schemeClr val="dk1"/>
              </a:solidFill>
              <a:latin typeface="Calibri"/>
              <a:ea typeface="Calibri"/>
              <a:cs typeface="Calibri"/>
              <a:sym typeface="Calibri"/>
            </a:endParaRPr>
          </a:p>
        </p:txBody>
      </p:sp>
      <p:sp>
        <p:nvSpPr>
          <p:cNvPr id="316" name="Google Shape;316;p14"/>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317" name="Google Shape;317;p14"/>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22" name="Shape 322"/>
        <p:cNvGrpSpPr/>
        <p:nvPr/>
      </p:nvGrpSpPr>
      <p:grpSpPr>
        <a:xfrm>
          <a:off x="0" y="0"/>
          <a:ext cx="0" cy="0"/>
          <a:chOff x="0" y="0"/>
          <a:chExt cx="0" cy="0"/>
        </a:xfrm>
      </p:grpSpPr>
      <p:sp>
        <p:nvSpPr>
          <p:cNvPr id="323" name="Google Shape;323;p15"/>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CALIBRATION</a:t>
            </a:r>
            <a:endParaRPr b="0" i="0" sz="950" u="none" cap="none" strike="noStrike">
              <a:solidFill>
                <a:schemeClr val="dk1"/>
              </a:solidFill>
              <a:latin typeface="Calibri"/>
              <a:ea typeface="Calibri"/>
              <a:cs typeface="Calibri"/>
              <a:sym typeface="Calibri"/>
            </a:endParaRPr>
          </a:p>
        </p:txBody>
      </p:sp>
      <p:sp>
        <p:nvSpPr>
          <p:cNvPr id="324" name="Google Shape;324;p15"/>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Three ways a self-score goes wrong</a:t>
            </a:r>
            <a:endParaRPr b="0" i="0" sz="2800" u="none" cap="none" strike="noStrike">
              <a:solidFill>
                <a:schemeClr val="dk1"/>
              </a:solidFill>
              <a:latin typeface="Calibri"/>
              <a:ea typeface="Calibri"/>
              <a:cs typeface="Calibri"/>
              <a:sym typeface="Calibri"/>
            </a:endParaRPr>
          </a:p>
        </p:txBody>
      </p:sp>
      <p:sp>
        <p:nvSpPr>
          <p:cNvPr id="325" name="Google Shape;325;p15"/>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Run all three against your first numbers before you rescore.</a:t>
            </a:r>
            <a:endParaRPr b="0" i="0" sz="1150" u="none" cap="none" strike="noStrike">
              <a:solidFill>
                <a:schemeClr val="dk1"/>
              </a:solidFill>
              <a:latin typeface="Calibri"/>
              <a:ea typeface="Calibri"/>
              <a:cs typeface="Calibri"/>
              <a:sym typeface="Calibri"/>
            </a:endParaRPr>
          </a:p>
        </p:txBody>
      </p:sp>
      <p:sp>
        <p:nvSpPr>
          <p:cNvPr id="326" name="Google Shape;326;p15"/>
          <p:cNvSpPr/>
          <p:nvPr/>
        </p:nvSpPr>
        <p:spPr>
          <a:xfrm>
            <a:off x="566928" y="1719072"/>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15"/>
          <p:cNvSpPr/>
          <p:nvPr/>
        </p:nvSpPr>
        <p:spPr>
          <a:xfrm>
            <a:off x="566928" y="1719072"/>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8" name="Google Shape;328;p15"/>
          <p:cNvSpPr/>
          <p:nvPr/>
        </p:nvSpPr>
        <p:spPr>
          <a:xfrm>
            <a:off x="804672" y="1783080"/>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60"/>
              <a:buFont typeface="Montserrat"/>
              <a:buNone/>
            </a:pPr>
            <a:r>
              <a:rPr b="1" i="0" lang="en-US" sz="860" u="none" cap="none" strike="noStrike">
                <a:solidFill>
                  <a:srgbClr val="0F2347"/>
                </a:solidFill>
                <a:latin typeface="Montserrat"/>
                <a:ea typeface="Montserrat"/>
                <a:cs typeface="Montserrat"/>
                <a:sym typeface="Montserrat"/>
              </a:rPr>
              <a:t>1.  SCORING THE INTENDED LIFE</a:t>
            </a:r>
            <a:endParaRPr b="0" i="0" sz="860" u="none" cap="none" strike="noStrike">
              <a:solidFill>
                <a:schemeClr val="dk1"/>
              </a:solidFill>
              <a:latin typeface="Calibri"/>
              <a:ea typeface="Calibri"/>
              <a:cs typeface="Calibri"/>
              <a:sym typeface="Calibri"/>
            </a:endParaRPr>
          </a:p>
        </p:txBody>
      </p:sp>
      <p:sp>
        <p:nvSpPr>
          <p:cNvPr id="329" name="Google Shape;329;p15"/>
          <p:cNvSpPr/>
          <p:nvPr/>
        </p:nvSpPr>
        <p:spPr>
          <a:xfrm>
            <a:off x="804672" y="1993392"/>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40"/>
              <a:buFont typeface="DM Sans"/>
              <a:buNone/>
            </a:pPr>
            <a:r>
              <a:rPr b="0" i="1" lang="en-US" sz="1040" u="none" cap="none" strike="noStrike">
                <a:solidFill>
                  <a:srgbClr val="5A6B84"/>
                </a:solidFill>
                <a:latin typeface="DM Sans"/>
                <a:ea typeface="DM Sans"/>
                <a:cs typeface="DM Sans"/>
                <a:sym typeface="DM Sans"/>
              </a:rPr>
              <a:t>“My rotation was approved last month. Statement 1 gets a 4.”</a:t>
            </a:r>
            <a:endParaRPr b="0" i="0" sz="1040" u="none" cap="none" strike="noStrike">
              <a:solidFill>
                <a:schemeClr val="dk1"/>
              </a:solidFill>
              <a:latin typeface="Calibri"/>
              <a:ea typeface="Calibri"/>
              <a:cs typeface="Calibri"/>
              <a:sym typeface="Calibri"/>
            </a:endParaRPr>
          </a:p>
        </p:txBody>
      </p:sp>
      <p:sp>
        <p:nvSpPr>
          <p:cNvPr id="330" name="Google Shape;330;p15"/>
          <p:cNvSpPr/>
          <p:nvPr/>
        </p:nvSpPr>
        <p:spPr>
          <a:xfrm>
            <a:off x="804672" y="2203704"/>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i="0" lang="en-US" sz="1060" u="none" cap="none" strike="noStrike">
                <a:solidFill>
                  <a:srgbClr val="0F2347"/>
                </a:solidFill>
                <a:latin typeface="DM Sans"/>
                <a:ea typeface="DM Sans"/>
                <a:cs typeface="DM Sans"/>
                <a:sym typeface="DM Sans"/>
              </a:rPr>
              <a:t>The window is the last ninety days of work that happened — not work that was approved, promised or planned.</a:t>
            </a:r>
            <a:endParaRPr b="0" i="0" sz="1060" u="none" cap="none" strike="noStrike">
              <a:solidFill>
                <a:schemeClr val="dk1"/>
              </a:solidFill>
              <a:latin typeface="Calibri"/>
              <a:ea typeface="Calibri"/>
              <a:cs typeface="Calibri"/>
              <a:sym typeface="Calibri"/>
            </a:endParaRPr>
          </a:p>
        </p:txBody>
      </p:sp>
      <p:sp>
        <p:nvSpPr>
          <p:cNvPr id="331" name="Google Shape;331;p15"/>
          <p:cNvSpPr/>
          <p:nvPr/>
        </p:nvSpPr>
        <p:spPr>
          <a:xfrm>
            <a:off x="566928" y="2624328"/>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2" name="Google Shape;332;p15"/>
          <p:cNvSpPr/>
          <p:nvPr/>
        </p:nvSpPr>
        <p:spPr>
          <a:xfrm>
            <a:off x="566928" y="2624328"/>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3" name="Google Shape;333;p15"/>
          <p:cNvSpPr/>
          <p:nvPr/>
        </p:nvSpPr>
        <p:spPr>
          <a:xfrm>
            <a:off x="804672" y="2688336"/>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60"/>
              <a:buFont typeface="Montserrat"/>
              <a:buNone/>
            </a:pPr>
            <a:r>
              <a:rPr b="1" i="0" lang="en-US" sz="860" u="none" cap="none" strike="noStrike">
                <a:solidFill>
                  <a:srgbClr val="0F2347"/>
                </a:solidFill>
                <a:latin typeface="Montserrat"/>
                <a:ea typeface="Montserrat"/>
                <a:cs typeface="Montserrat"/>
                <a:sym typeface="Montserrat"/>
              </a:rPr>
              <a:t>2.  CONFUSING VALUED WITH FORMED</a:t>
            </a:r>
            <a:endParaRPr b="0" i="0" sz="860" u="none" cap="none" strike="noStrike">
              <a:solidFill>
                <a:schemeClr val="dk1"/>
              </a:solidFill>
              <a:latin typeface="Calibri"/>
              <a:ea typeface="Calibri"/>
              <a:cs typeface="Calibri"/>
              <a:sym typeface="Calibri"/>
            </a:endParaRPr>
          </a:p>
        </p:txBody>
      </p:sp>
      <p:sp>
        <p:nvSpPr>
          <p:cNvPr id="334" name="Google Shape;334;p15"/>
          <p:cNvSpPr/>
          <p:nvPr/>
        </p:nvSpPr>
        <p:spPr>
          <a:xfrm>
            <a:off x="804672" y="2898648"/>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40"/>
              <a:buFont typeface="DM Sans"/>
              <a:buNone/>
            </a:pPr>
            <a:r>
              <a:rPr b="0" i="1" lang="en-US" sz="1040" u="none" cap="none" strike="noStrike">
                <a:solidFill>
                  <a:srgbClr val="5A6B84"/>
                </a:solidFill>
                <a:latin typeface="DM Sans"/>
                <a:ea typeface="DM Sans"/>
                <a:cs typeface="DM Sans"/>
                <a:sym typeface="DM Sans"/>
              </a:rPr>
              <a:t>“Three VPs ask for my read before anything ships. Statement 3 gets a 5.”</a:t>
            </a:r>
            <a:endParaRPr b="0" i="0" sz="1040" u="none" cap="none" strike="noStrike">
              <a:solidFill>
                <a:schemeClr val="dk1"/>
              </a:solidFill>
              <a:latin typeface="Calibri"/>
              <a:ea typeface="Calibri"/>
              <a:cs typeface="Calibri"/>
              <a:sym typeface="Calibri"/>
            </a:endParaRPr>
          </a:p>
        </p:txBody>
      </p:sp>
      <p:sp>
        <p:nvSpPr>
          <p:cNvPr id="335" name="Google Shape;335;p15"/>
          <p:cNvSpPr/>
          <p:nvPr/>
        </p:nvSpPr>
        <p:spPr>
          <a:xfrm>
            <a:off x="804672" y="3108960"/>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i="0" lang="en-US" sz="1060" u="none" cap="none" strike="noStrike">
                <a:solidFill>
                  <a:srgbClr val="0F2347"/>
                </a:solidFill>
                <a:latin typeface="DM Sans"/>
                <a:ea typeface="DM Sans"/>
                <a:cs typeface="DM Sans"/>
                <a:sym typeface="DM Sans"/>
              </a:rPr>
              <a:t>Being relied on is real. It is not the same as being developed.</a:t>
            </a:r>
            <a:endParaRPr b="0" i="0" sz="1060" u="none" cap="none" strike="noStrike">
              <a:solidFill>
                <a:schemeClr val="dk1"/>
              </a:solidFill>
              <a:latin typeface="Calibri"/>
              <a:ea typeface="Calibri"/>
              <a:cs typeface="Calibri"/>
              <a:sym typeface="Calibri"/>
            </a:endParaRPr>
          </a:p>
        </p:txBody>
      </p:sp>
      <p:sp>
        <p:nvSpPr>
          <p:cNvPr id="336" name="Google Shape;336;p15"/>
          <p:cNvSpPr/>
          <p:nvPr/>
        </p:nvSpPr>
        <p:spPr>
          <a:xfrm>
            <a:off x="566928" y="3529584"/>
            <a:ext cx="8010144" cy="85953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7" name="Google Shape;337;p15"/>
          <p:cNvSpPr/>
          <p:nvPr/>
        </p:nvSpPr>
        <p:spPr>
          <a:xfrm>
            <a:off x="566928" y="3529584"/>
            <a:ext cx="41148" cy="85953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8" name="Google Shape;338;p15"/>
          <p:cNvSpPr/>
          <p:nvPr/>
        </p:nvSpPr>
        <p:spPr>
          <a:xfrm>
            <a:off x="804672" y="3593592"/>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60"/>
              <a:buFont typeface="Montserrat"/>
              <a:buNone/>
            </a:pPr>
            <a:r>
              <a:rPr b="1" i="0" lang="en-US" sz="860" u="none" cap="none" strike="noStrike">
                <a:solidFill>
                  <a:srgbClr val="0F2347"/>
                </a:solidFill>
                <a:latin typeface="Montserrat"/>
                <a:ea typeface="Montserrat"/>
                <a:cs typeface="Montserrat"/>
                <a:sym typeface="Montserrat"/>
              </a:rPr>
              <a:t>3.  READING LOW OPTIONALITY AS A VERDICT</a:t>
            </a:r>
            <a:endParaRPr b="0" i="0" sz="860" u="none" cap="none" strike="noStrike">
              <a:solidFill>
                <a:schemeClr val="dk1"/>
              </a:solidFill>
              <a:latin typeface="Calibri"/>
              <a:ea typeface="Calibri"/>
              <a:cs typeface="Calibri"/>
              <a:sym typeface="Calibri"/>
            </a:endParaRPr>
          </a:p>
        </p:txBody>
      </p:sp>
      <p:sp>
        <p:nvSpPr>
          <p:cNvPr id="339" name="Google Shape;339;p15"/>
          <p:cNvSpPr/>
          <p:nvPr/>
        </p:nvSpPr>
        <p:spPr>
          <a:xfrm>
            <a:off x="804672" y="3803904"/>
            <a:ext cx="75529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40"/>
              <a:buFont typeface="DM Sans"/>
              <a:buNone/>
            </a:pPr>
            <a:r>
              <a:rPr b="0" i="1" lang="en-US" sz="1040" u="none" cap="none" strike="noStrike">
                <a:solidFill>
                  <a:srgbClr val="5A6B84"/>
                </a:solidFill>
                <a:latin typeface="DM Sans"/>
                <a:ea typeface="DM Sans"/>
                <a:cs typeface="DM Sans"/>
                <a:sym typeface="DM Sans"/>
              </a:rPr>
              <a:t>“Statement 10 is a 2 because I am not senior enough.”</a:t>
            </a:r>
            <a:endParaRPr b="0" i="0" sz="1040" u="none" cap="none" strike="noStrike">
              <a:solidFill>
                <a:schemeClr val="dk1"/>
              </a:solidFill>
              <a:latin typeface="Calibri"/>
              <a:ea typeface="Calibri"/>
              <a:cs typeface="Calibri"/>
              <a:sym typeface="Calibri"/>
            </a:endParaRPr>
          </a:p>
        </p:txBody>
      </p:sp>
      <p:sp>
        <p:nvSpPr>
          <p:cNvPr id="340" name="Google Shape;340;p15"/>
          <p:cNvSpPr/>
          <p:nvPr/>
        </p:nvSpPr>
        <p:spPr>
          <a:xfrm>
            <a:off x="804672" y="4014216"/>
            <a:ext cx="7552944" cy="310896"/>
          </a:xfrm>
          <a:prstGeom prst="rect">
            <a:avLst/>
          </a:prstGeom>
          <a:noFill/>
          <a:ln>
            <a:noFill/>
          </a:ln>
        </p:spPr>
        <p:txBody>
          <a:bodyPr anchorCtr="0" anchor="ctr" bIns="0" lIns="0" spcFirstLastPara="1" rIns="0" wrap="square" tIns="0">
            <a:noAutofit/>
          </a:bodyPr>
          <a:lstStyle/>
          <a:p>
            <a:pPr indent="0" lvl="0" marL="0" marR="0" rtl="0" algn="l">
              <a:lnSpc>
                <a:spcPct val="127358"/>
              </a:lnSpc>
              <a:spcBef>
                <a:spcPts val="0"/>
              </a:spcBef>
              <a:spcAft>
                <a:spcPts val="0"/>
              </a:spcAft>
              <a:buClr>
                <a:srgbClr val="0F2347"/>
              </a:buClr>
              <a:buSzPts val="1060"/>
              <a:buFont typeface="DM Sans"/>
              <a:buNone/>
            </a:pPr>
            <a:r>
              <a:rPr b="1" i="0" lang="en-US" sz="1060" u="none" cap="none" strike="noStrike">
                <a:solidFill>
                  <a:srgbClr val="0F2347"/>
                </a:solidFill>
                <a:latin typeface="DM Sans"/>
                <a:ea typeface="DM Sans"/>
                <a:cs typeface="DM Sans"/>
                <a:sym typeface="DM Sans"/>
              </a:rPr>
              <a:t>A low Optionality score may reflect context-bound capability, weak translation, limited exposure, or a combination. It is not a verdict on ability or worth.</a:t>
            </a:r>
            <a:endParaRPr b="0" i="0" sz="1060" u="none" cap="none" strike="noStrike">
              <a:solidFill>
                <a:schemeClr val="dk1"/>
              </a:solidFill>
              <a:latin typeface="Calibri"/>
              <a:ea typeface="Calibri"/>
              <a:cs typeface="Calibri"/>
              <a:sym typeface="Calibri"/>
            </a:endParaRPr>
          </a:p>
        </p:txBody>
      </p:sp>
      <p:sp>
        <p:nvSpPr>
          <p:cNvPr id="341" name="Google Shape;341;p15"/>
          <p:cNvSpPr/>
          <p:nvPr/>
        </p:nvSpPr>
        <p:spPr>
          <a:xfrm>
            <a:off x="566928" y="4443984"/>
            <a:ext cx="801014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40"/>
              <a:buFont typeface="DM Sans"/>
              <a:buNone/>
            </a:pPr>
            <a:r>
              <a:rPr b="0" i="1" lang="en-US" sz="1040" u="none" cap="none" strike="noStrike">
                <a:solidFill>
                  <a:srgbClr val="5A6B84"/>
                </a:solidFill>
                <a:latin typeface="DM Sans"/>
                <a:ea typeface="DM Sans"/>
                <a:cs typeface="DM Sans"/>
                <a:sym typeface="DM Sans"/>
              </a:rPr>
              <a:t>Three is the set. Run them, then rescore.</a:t>
            </a:r>
            <a:endParaRPr b="0" i="0" sz="1040" u="none" cap="none" strike="noStrike">
              <a:solidFill>
                <a:schemeClr val="dk1"/>
              </a:solidFill>
              <a:latin typeface="Calibri"/>
              <a:ea typeface="Calibri"/>
              <a:cs typeface="Calibri"/>
              <a:sym typeface="Calibri"/>
            </a:endParaRPr>
          </a:p>
        </p:txBody>
      </p:sp>
      <p:sp>
        <p:nvSpPr>
          <p:cNvPr id="342" name="Google Shape;342;p15"/>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343" name="Google Shape;343;p15"/>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48" name="Shape 348"/>
        <p:cNvGrpSpPr/>
        <p:nvPr/>
      </p:nvGrpSpPr>
      <p:grpSpPr>
        <a:xfrm>
          <a:off x="0" y="0"/>
          <a:ext cx="0" cy="0"/>
          <a:chOff x="0" y="0"/>
          <a:chExt cx="0" cy="0"/>
        </a:xfrm>
      </p:grpSpPr>
      <p:sp>
        <p:nvSpPr>
          <p:cNvPr id="349" name="Google Shape;349;p1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EVIDENCE-BACKED READ</a:t>
            </a:r>
            <a:endParaRPr b="0" i="0" sz="950" u="none" cap="none" strike="noStrike">
              <a:solidFill>
                <a:schemeClr val="dk1"/>
              </a:solidFill>
              <a:latin typeface="Calibri"/>
              <a:ea typeface="Calibri"/>
              <a:cs typeface="Calibri"/>
              <a:sym typeface="Calibri"/>
            </a:endParaRPr>
          </a:p>
        </p:txBody>
      </p:sp>
      <p:sp>
        <p:nvSpPr>
          <p:cNvPr id="350" name="Google Shape;350;p1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Score all twelve again</a:t>
            </a:r>
            <a:endParaRPr b="0" i="0" sz="3000" u="none" cap="none" strike="noStrike">
              <a:solidFill>
                <a:schemeClr val="dk1"/>
              </a:solidFill>
              <a:latin typeface="Calibri"/>
              <a:ea typeface="Calibri"/>
              <a:cs typeface="Calibri"/>
              <a:sym typeface="Calibri"/>
            </a:endParaRPr>
          </a:p>
        </p:txBody>
      </p:sp>
      <p:sp>
        <p:nvSpPr>
          <p:cNvPr id="351" name="Google Shape;351;p16"/>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Evidence in both directions. Do not change your first number.</a:t>
            </a:r>
            <a:endParaRPr b="0" i="0" sz="1150" u="none" cap="none" strike="noStrike">
              <a:solidFill>
                <a:schemeClr val="dk1"/>
              </a:solidFill>
              <a:latin typeface="Calibri"/>
              <a:ea typeface="Calibri"/>
              <a:cs typeface="Calibri"/>
              <a:sym typeface="Calibri"/>
            </a:endParaRPr>
          </a:p>
        </p:txBody>
      </p:sp>
      <p:sp>
        <p:nvSpPr>
          <p:cNvPr id="352" name="Google Shape;352;p16"/>
          <p:cNvSpPr/>
          <p:nvPr/>
        </p:nvSpPr>
        <p:spPr>
          <a:xfrm>
            <a:off x="566928" y="1847088"/>
            <a:ext cx="8010144" cy="87782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3" name="Google Shape;353;p16"/>
          <p:cNvSpPr/>
          <p:nvPr/>
        </p:nvSpPr>
        <p:spPr>
          <a:xfrm>
            <a:off x="822960" y="1956816"/>
            <a:ext cx="31089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839"/>
              <a:buFont typeface="Montserrat"/>
              <a:buNone/>
            </a:pPr>
            <a:r>
              <a:rPr b="1" i="0" lang="en-US" sz="840" u="none" cap="none" strike="noStrike">
                <a:solidFill>
                  <a:srgbClr val="C9A84C"/>
                </a:solidFill>
                <a:latin typeface="Montserrat"/>
                <a:ea typeface="Montserrat"/>
                <a:cs typeface="Montserrat"/>
                <a:sym typeface="Montserrat"/>
              </a:rPr>
              <a:t>THE PROTOCOL, IN SHORT</a:t>
            </a:r>
            <a:endParaRPr b="0" i="0" sz="840" u="none" cap="none" strike="noStrike">
              <a:solidFill>
                <a:schemeClr val="dk1"/>
              </a:solidFill>
              <a:latin typeface="Calibri"/>
              <a:ea typeface="Calibri"/>
              <a:cs typeface="Calibri"/>
              <a:sym typeface="Calibri"/>
            </a:endParaRPr>
          </a:p>
        </p:txBody>
      </p:sp>
      <p:sp>
        <p:nvSpPr>
          <p:cNvPr id="354" name="Google Shape;354;p16"/>
          <p:cNvSpPr/>
          <p:nvPr/>
        </p:nvSpPr>
        <p:spPr>
          <a:xfrm>
            <a:off x="822960" y="2231136"/>
            <a:ext cx="65836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4 or 5</a:t>
            </a:r>
            <a:endParaRPr b="0" i="0" sz="950" u="none" cap="none" strike="noStrike">
              <a:solidFill>
                <a:schemeClr val="dk1"/>
              </a:solidFill>
              <a:latin typeface="Calibri"/>
              <a:ea typeface="Calibri"/>
              <a:cs typeface="Calibri"/>
              <a:sym typeface="Calibri"/>
            </a:endParaRPr>
          </a:p>
        </p:txBody>
      </p:sp>
      <p:sp>
        <p:nvSpPr>
          <p:cNvPr id="355" name="Google Shape;355;p16"/>
          <p:cNvSpPr/>
          <p:nvPr/>
        </p:nvSpPr>
        <p:spPr>
          <a:xfrm>
            <a:off x="1517904" y="2231136"/>
            <a:ext cx="31089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000"/>
              <a:buFont typeface="DM Sans"/>
              <a:buNone/>
            </a:pPr>
            <a:r>
              <a:rPr b="0" i="0" lang="en-US" sz="1000" u="none" cap="none" strike="noStrike">
                <a:solidFill>
                  <a:srgbClr val="F5F0E8"/>
                </a:solidFill>
                <a:latin typeface="DM Sans"/>
                <a:ea typeface="DM Sans"/>
                <a:cs typeface="DM Sans"/>
                <a:sym typeface="DM Sans"/>
              </a:rPr>
              <a:t>one clear positive instance</a:t>
            </a:r>
            <a:endParaRPr b="0" i="0" sz="1000" u="none" cap="none" strike="noStrike">
              <a:solidFill>
                <a:schemeClr val="dk1"/>
              </a:solidFill>
              <a:latin typeface="Calibri"/>
              <a:ea typeface="Calibri"/>
              <a:cs typeface="Calibri"/>
              <a:sym typeface="Calibri"/>
            </a:endParaRPr>
          </a:p>
        </p:txBody>
      </p:sp>
      <p:sp>
        <p:nvSpPr>
          <p:cNvPr id="356" name="Google Shape;356;p16"/>
          <p:cNvSpPr/>
          <p:nvPr/>
        </p:nvSpPr>
        <p:spPr>
          <a:xfrm>
            <a:off x="4754880" y="2231136"/>
            <a:ext cx="65836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357" name="Google Shape;357;p16"/>
          <p:cNvSpPr/>
          <p:nvPr/>
        </p:nvSpPr>
        <p:spPr>
          <a:xfrm>
            <a:off x="5449824" y="2231136"/>
            <a:ext cx="31089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000"/>
              <a:buFont typeface="DM Sans"/>
              <a:buNone/>
            </a:pPr>
            <a:r>
              <a:rPr b="0" i="0" lang="en-US" sz="1000" u="none" cap="none" strike="noStrike">
                <a:solidFill>
                  <a:srgbClr val="F5F0E8"/>
                </a:solidFill>
                <a:latin typeface="DM Sans"/>
                <a:ea typeface="DM Sans"/>
                <a:cs typeface="DM Sans"/>
                <a:sym typeface="DM Sans"/>
              </a:rPr>
              <a:t>the mixed or inconsistent pattern</a:t>
            </a:r>
            <a:endParaRPr b="0" i="0" sz="1000" u="none" cap="none" strike="noStrike">
              <a:solidFill>
                <a:schemeClr val="dk1"/>
              </a:solidFill>
              <a:latin typeface="Calibri"/>
              <a:ea typeface="Calibri"/>
              <a:cs typeface="Calibri"/>
              <a:sym typeface="Calibri"/>
            </a:endParaRPr>
          </a:p>
        </p:txBody>
      </p:sp>
      <p:sp>
        <p:nvSpPr>
          <p:cNvPr id="358" name="Google Shape;358;p16"/>
          <p:cNvSpPr/>
          <p:nvPr/>
        </p:nvSpPr>
        <p:spPr>
          <a:xfrm>
            <a:off x="822960" y="2487168"/>
            <a:ext cx="65836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1 or 2</a:t>
            </a:r>
            <a:endParaRPr b="0" i="0" sz="950" u="none" cap="none" strike="noStrike">
              <a:solidFill>
                <a:schemeClr val="dk1"/>
              </a:solidFill>
              <a:latin typeface="Calibri"/>
              <a:ea typeface="Calibri"/>
              <a:cs typeface="Calibri"/>
              <a:sym typeface="Calibri"/>
            </a:endParaRPr>
          </a:p>
        </p:txBody>
      </p:sp>
      <p:sp>
        <p:nvSpPr>
          <p:cNvPr id="359" name="Google Shape;359;p16"/>
          <p:cNvSpPr/>
          <p:nvPr/>
        </p:nvSpPr>
        <p:spPr>
          <a:xfrm>
            <a:off x="1517904" y="2487168"/>
            <a:ext cx="31089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000"/>
              <a:buFont typeface="DM Sans"/>
              <a:buNone/>
            </a:pPr>
            <a:r>
              <a:rPr b="0" i="0" lang="en-US" sz="1000" u="none" cap="none" strike="noStrike">
                <a:solidFill>
                  <a:srgbClr val="F5F0E8"/>
                </a:solidFill>
                <a:latin typeface="DM Sans"/>
                <a:ea typeface="DM Sans"/>
                <a:cs typeface="DM Sans"/>
                <a:sym typeface="DM Sans"/>
              </a:rPr>
              <a:t>what happened instead, or no qualifying instance</a:t>
            </a:r>
            <a:endParaRPr b="0" i="0" sz="1000" u="none" cap="none" strike="noStrike">
              <a:solidFill>
                <a:schemeClr val="dk1"/>
              </a:solidFill>
              <a:latin typeface="Calibri"/>
              <a:ea typeface="Calibri"/>
              <a:cs typeface="Calibri"/>
              <a:sym typeface="Calibri"/>
            </a:endParaRPr>
          </a:p>
        </p:txBody>
      </p:sp>
      <p:sp>
        <p:nvSpPr>
          <p:cNvPr id="360" name="Google Shape;360;p16"/>
          <p:cNvSpPr/>
          <p:nvPr/>
        </p:nvSpPr>
        <p:spPr>
          <a:xfrm>
            <a:off x="4754880" y="2487168"/>
            <a:ext cx="658368"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a:t>
            </a:r>
            <a:endParaRPr b="0" i="0" sz="950" u="none" cap="none" strike="noStrike">
              <a:solidFill>
                <a:schemeClr val="dk1"/>
              </a:solidFill>
              <a:latin typeface="Calibri"/>
              <a:ea typeface="Calibri"/>
              <a:cs typeface="Calibri"/>
              <a:sym typeface="Calibri"/>
            </a:endParaRPr>
          </a:p>
        </p:txBody>
      </p:sp>
      <p:sp>
        <p:nvSpPr>
          <p:cNvPr id="361" name="Google Shape;361;p16"/>
          <p:cNvSpPr/>
          <p:nvPr/>
        </p:nvSpPr>
        <p:spPr>
          <a:xfrm>
            <a:off x="5449824" y="2487168"/>
            <a:ext cx="31089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000"/>
              <a:buFont typeface="DM Sans"/>
              <a:buNone/>
            </a:pPr>
            <a:r>
              <a:rPr b="0" i="0" lang="en-US" sz="1000" u="none" cap="none" strike="noStrike">
                <a:solidFill>
                  <a:srgbClr val="F5F0E8"/>
                </a:solidFill>
                <a:latin typeface="DM Sans"/>
                <a:ea typeface="DM Sans"/>
                <a:cs typeface="DM Sans"/>
                <a:sym typeface="DM Sans"/>
              </a:rPr>
              <a:t>most defensible number, marked once: 3?, 4?, 2?</a:t>
            </a:r>
            <a:endParaRPr b="0" i="0" sz="1000" u="none" cap="none" strike="noStrike">
              <a:solidFill>
                <a:schemeClr val="dk1"/>
              </a:solidFill>
              <a:latin typeface="Calibri"/>
              <a:ea typeface="Calibri"/>
              <a:cs typeface="Calibri"/>
              <a:sym typeface="Calibri"/>
            </a:endParaRPr>
          </a:p>
        </p:txBody>
      </p:sp>
      <p:sp>
        <p:nvSpPr>
          <p:cNvPr id="362" name="Google Shape;362;p16"/>
          <p:cNvSpPr/>
          <p:nvPr/>
        </p:nvSpPr>
        <p:spPr>
          <a:xfrm>
            <a:off x="566928" y="2944368"/>
            <a:ext cx="3840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Montserrat"/>
              <a:buNone/>
            </a:pPr>
            <a:r>
              <a:rPr b="1" i="0" lang="en-US" sz="1100" u="none" cap="none" strike="noStrike">
                <a:solidFill>
                  <a:srgbClr val="0F2347"/>
                </a:solidFill>
                <a:latin typeface="Montserrat"/>
                <a:ea typeface="Montserrat"/>
                <a:cs typeface="Montserrat"/>
                <a:sym typeface="Montserrat"/>
              </a:rPr>
              <a:t>Density   1 · 2 · 3 · 4 · 5 · 6</a:t>
            </a:r>
            <a:endParaRPr b="0" i="0" sz="1100" u="none" cap="none" strike="noStrike">
              <a:solidFill>
                <a:schemeClr val="dk1"/>
              </a:solidFill>
              <a:latin typeface="Calibri"/>
              <a:ea typeface="Calibri"/>
              <a:cs typeface="Calibri"/>
              <a:sym typeface="Calibri"/>
            </a:endParaRPr>
          </a:p>
        </p:txBody>
      </p:sp>
      <p:sp>
        <p:nvSpPr>
          <p:cNvPr id="363" name="Google Shape;363;p16"/>
          <p:cNvSpPr/>
          <p:nvPr/>
        </p:nvSpPr>
        <p:spPr>
          <a:xfrm>
            <a:off x="4754880" y="2944368"/>
            <a:ext cx="3840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Montserrat"/>
              <a:buNone/>
            </a:pPr>
            <a:r>
              <a:rPr b="1" i="0" lang="en-US" sz="1100" u="none" cap="none" strike="noStrike">
                <a:solidFill>
                  <a:srgbClr val="0F2347"/>
                </a:solidFill>
                <a:latin typeface="Montserrat"/>
                <a:ea typeface="Montserrat"/>
                <a:cs typeface="Montserrat"/>
                <a:sym typeface="Montserrat"/>
              </a:rPr>
              <a:t>Optionality   7 · 8 · 9 · 10 · 11 · 12</a:t>
            </a:r>
            <a:endParaRPr b="0" i="0" sz="1100" u="none" cap="none" strike="noStrike">
              <a:solidFill>
                <a:schemeClr val="dk1"/>
              </a:solidFill>
              <a:latin typeface="Calibri"/>
              <a:ea typeface="Calibri"/>
              <a:cs typeface="Calibri"/>
              <a:sym typeface="Calibri"/>
            </a:endParaRPr>
          </a:p>
        </p:txBody>
      </p:sp>
      <p:sp>
        <p:nvSpPr>
          <p:cNvPr id="364" name="Google Shape;364;p16"/>
          <p:cNvSpPr/>
          <p:nvPr/>
        </p:nvSpPr>
        <p:spPr>
          <a:xfrm>
            <a:off x="566928" y="3401568"/>
            <a:ext cx="8010144" cy="78638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5" name="Google Shape;365;p16"/>
          <p:cNvSpPr/>
          <p:nvPr/>
        </p:nvSpPr>
        <p:spPr>
          <a:xfrm>
            <a:off x="822960" y="3401568"/>
            <a:ext cx="7498080" cy="786384"/>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F2347"/>
              </a:buClr>
              <a:buSzPts val="1150"/>
              <a:buFont typeface="DM Sans"/>
              <a:buNone/>
            </a:pPr>
            <a:r>
              <a:rPr b="0" i="0" lang="en-US" sz="1150" u="none" cap="none" strike="noStrike">
                <a:solidFill>
                  <a:srgbClr val="0F2347"/>
                </a:solidFill>
                <a:latin typeface="DM Sans"/>
                <a:ea typeface="DM Sans"/>
                <a:cs typeface="DM Sans"/>
                <a:sym typeface="DM Sans"/>
              </a:rPr>
              <a:t>Write the corrected number and a short evidence phrase under it. Your first number stays where it is. Phrases, not essays — twelve minutes for twelve statements.</a:t>
            </a:r>
            <a:endParaRPr b="0" i="0" sz="1150" u="none" cap="none" strike="noStrike">
              <a:solidFill>
                <a:schemeClr val="dk1"/>
              </a:solidFill>
              <a:latin typeface="Calibri"/>
              <a:ea typeface="Calibri"/>
              <a:cs typeface="Calibri"/>
              <a:sym typeface="Calibri"/>
            </a:endParaRPr>
          </a:p>
        </p:txBody>
      </p:sp>
      <p:sp>
        <p:nvSpPr>
          <p:cNvPr id="366" name="Google Shape;366;p16"/>
          <p:cNvSpPr/>
          <p:nvPr/>
        </p:nvSpPr>
        <p:spPr>
          <a:xfrm>
            <a:off x="566928" y="4334256"/>
            <a:ext cx="801014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040"/>
              <a:buFont typeface="DM Sans"/>
              <a:buNone/>
            </a:pPr>
            <a:r>
              <a:rPr b="1" i="0" lang="en-US" sz="1040" u="none" cap="none" strike="noStrike">
                <a:solidFill>
                  <a:srgbClr val="C1440E"/>
                </a:solidFill>
                <a:latin typeface="DM Sans"/>
                <a:ea typeface="DM Sans"/>
                <a:cs typeface="DM Sans"/>
                <a:sym typeface="DM Sans"/>
              </a:rPr>
              <a:t>Workbook pages 5 and 6.</a:t>
            </a:r>
            <a:endParaRPr b="0" i="0" sz="1040" u="none" cap="none" strike="noStrike">
              <a:solidFill>
                <a:schemeClr val="dk1"/>
              </a:solidFill>
              <a:latin typeface="Calibri"/>
              <a:ea typeface="Calibri"/>
              <a:cs typeface="Calibri"/>
              <a:sym typeface="Calibri"/>
            </a:endParaRPr>
          </a:p>
        </p:txBody>
      </p:sp>
      <p:sp>
        <p:nvSpPr>
          <p:cNvPr id="367" name="Google Shape;367;p1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368" name="Google Shape;368;p1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73" name="Shape 373"/>
        <p:cNvGrpSpPr/>
        <p:nvPr/>
      </p:nvGrpSpPr>
      <p:grpSpPr>
        <a:xfrm>
          <a:off x="0" y="0"/>
          <a:ext cx="0" cy="0"/>
          <a:chOff x="0" y="0"/>
          <a:chExt cx="0" cy="0"/>
        </a:xfrm>
      </p:grpSpPr>
      <p:sp>
        <p:nvSpPr>
          <p:cNvPr id="374" name="Google Shape;374;p1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CORRECTED READ</a:t>
            </a:r>
            <a:endParaRPr b="0" i="0" sz="950" u="none" cap="none" strike="noStrike">
              <a:solidFill>
                <a:schemeClr val="dk1"/>
              </a:solidFill>
              <a:latin typeface="Calibri"/>
              <a:ea typeface="Calibri"/>
              <a:cs typeface="Calibri"/>
              <a:sym typeface="Calibri"/>
            </a:endParaRPr>
          </a:p>
        </p:txBody>
      </p:sp>
      <p:sp>
        <p:nvSpPr>
          <p:cNvPr id="375" name="Google Shape;375;p1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800"/>
              <a:buFont typeface="Cormorant Garamond"/>
              <a:buNone/>
            </a:pPr>
            <a:r>
              <a:rPr b="1" i="0" lang="en-US" sz="2800" u="none" cap="none" strike="noStrike">
                <a:solidFill>
                  <a:srgbClr val="0F2347"/>
                </a:solidFill>
                <a:latin typeface="Cormorant Garamond"/>
                <a:ea typeface="Cormorant Garamond"/>
                <a:cs typeface="Cormorant Garamond"/>
                <a:sym typeface="Cormorant Garamond"/>
              </a:rPr>
              <a:t>Re-total before you place again</a:t>
            </a:r>
            <a:endParaRPr b="0" i="0" sz="2800" u="none" cap="none" strike="noStrike">
              <a:solidFill>
                <a:schemeClr val="dk1"/>
              </a:solidFill>
              <a:latin typeface="Calibri"/>
              <a:ea typeface="Calibri"/>
              <a:cs typeface="Calibri"/>
              <a:sym typeface="Calibri"/>
            </a:endParaRPr>
          </a:p>
        </p:txBody>
      </p:sp>
      <p:sp>
        <p:nvSpPr>
          <p:cNvPr id="376" name="Google Shape;376;p17"/>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New numbers. A fresh placement, not a review of the first one.</a:t>
            </a:r>
            <a:endParaRPr b="0" i="0" sz="1150" u="none" cap="none" strike="noStrike">
              <a:solidFill>
                <a:schemeClr val="dk1"/>
              </a:solidFill>
              <a:latin typeface="Calibri"/>
              <a:ea typeface="Calibri"/>
              <a:cs typeface="Calibri"/>
              <a:sym typeface="Calibri"/>
            </a:endParaRPr>
          </a:p>
        </p:txBody>
      </p:sp>
      <p:sp>
        <p:nvSpPr>
          <p:cNvPr id="377" name="Google Shape;377;p17"/>
          <p:cNvSpPr/>
          <p:nvPr/>
        </p:nvSpPr>
        <p:spPr>
          <a:xfrm>
            <a:off x="566928" y="1920240"/>
            <a:ext cx="3931920" cy="109728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8" name="Google Shape;378;p17"/>
          <p:cNvSpPr/>
          <p:nvPr/>
        </p:nvSpPr>
        <p:spPr>
          <a:xfrm>
            <a:off x="841248" y="2084832"/>
            <a:ext cx="338328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DENSITY, CORRECTED</a:t>
            </a:r>
            <a:endParaRPr b="0" i="0" sz="900" u="none" cap="none" strike="noStrike">
              <a:solidFill>
                <a:schemeClr val="dk1"/>
              </a:solidFill>
              <a:latin typeface="Calibri"/>
              <a:ea typeface="Calibri"/>
              <a:cs typeface="Calibri"/>
              <a:sym typeface="Calibri"/>
            </a:endParaRPr>
          </a:p>
        </p:txBody>
      </p:sp>
      <p:sp>
        <p:nvSpPr>
          <p:cNvPr id="379" name="Google Shape;379;p17"/>
          <p:cNvSpPr/>
          <p:nvPr/>
        </p:nvSpPr>
        <p:spPr>
          <a:xfrm>
            <a:off x="841248" y="2359152"/>
            <a:ext cx="338328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________  / 30</a:t>
            </a:r>
            <a:endParaRPr b="0" i="0" sz="2900" u="none" cap="none" strike="noStrike">
              <a:solidFill>
                <a:schemeClr val="dk1"/>
              </a:solidFill>
              <a:latin typeface="Calibri"/>
              <a:ea typeface="Calibri"/>
              <a:cs typeface="Calibri"/>
              <a:sym typeface="Calibri"/>
            </a:endParaRPr>
          </a:p>
        </p:txBody>
      </p:sp>
      <p:sp>
        <p:nvSpPr>
          <p:cNvPr id="380" name="Google Shape;380;p17"/>
          <p:cNvSpPr/>
          <p:nvPr/>
        </p:nvSpPr>
        <p:spPr>
          <a:xfrm>
            <a:off x="4690872" y="1920240"/>
            <a:ext cx="3886200" cy="109728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1" name="Google Shape;381;p17"/>
          <p:cNvSpPr/>
          <p:nvPr/>
        </p:nvSpPr>
        <p:spPr>
          <a:xfrm>
            <a:off x="4965192" y="2084832"/>
            <a:ext cx="338328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OPTIONALITY, CORRECTED</a:t>
            </a:r>
            <a:endParaRPr b="0" i="0" sz="900" u="none" cap="none" strike="noStrike">
              <a:solidFill>
                <a:schemeClr val="dk1"/>
              </a:solidFill>
              <a:latin typeface="Calibri"/>
              <a:ea typeface="Calibri"/>
              <a:cs typeface="Calibri"/>
              <a:sym typeface="Calibri"/>
            </a:endParaRPr>
          </a:p>
        </p:txBody>
      </p:sp>
      <p:sp>
        <p:nvSpPr>
          <p:cNvPr id="382" name="Google Shape;382;p17"/>
          <p:cNvSpPr/>
          <p:nvPr/>
        </p:nvSpPr>
        <p:spPr>
          <a:xfrm>
            <a:off x="4965192" y="2359152"/>
            <a:ext cx="338328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________  / 30</a:t>
            </a:r>
            <a:endParaRPr b="0" i="0" sz="2900" u="none" cap="none" strike="noStrike">
              <a:solidFill>
                <a:schemeClr val="dk1"/>
              </a:solidFill>
              <a:latin typeface="Calibri"/>
              <a:ea typeface="Calibri"/>
              <a:cs typeface="Calibri"/>
              <a:sym typeface="Calibri"/>
            </a:endParaRPr>
          </a:p>
        </p:txBody>
      </p:sp>
      <p:sp>
        <p:nvSpPr>
          <p:cNvPr id="383" name="Google Shape;383;p17"/>
          <p:cNvSpPr/>
          <p:nvPr/>
        </p:nvSpPr>
        <p:spPr>
          <a:xfrm>
            <a:off x="566928" y="3200400"/>
            <a:ext cx="8010144"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1440E"/>
              </a:buClr>
              <a:buSzPts val="1200"/>
              <a:buFont typeface="DM Sans"/>
              <a:buNone/>
            </a:pPr>
            <a:r>
              <a:rPr b="1" i="0" lang="en-US" sz="1200" u="none" cap="none" strike="noStrike">
                <a:solidFill>
                  <a:srgbClr val="C1440E"/>
                </a:solidFill>
                <a:latin typeface="DM Sans"/>
                <a:ea typeface="DM Sans"/>
                <a:cs typeface="DM Sans"/>
                <a:sym typeface="DM Sans"/>
              </a:rPr>
              <a:t>19 to 30 high  ·  6 to 18 low  ·  17 to 21 is the boundary band, and it overrides both</a:t>
            </a:r>
            <a:endParaRPr b="0" i="0" sz="1200" u="none" cap="none" strike="noStrike">
              <a:solidFill>
                <a:schemeClr val="dk1"/>
              </a:solidFill>
              <a:latin typeface="Calibri"/>
              <a:ea typeface="Calibri"/>
              <a:cs typeface="Calibri"/>
              <a:sym typeface="Calibri"/>
            </a:endParaRPr>
          </a:p>
        </p:txBody>
      </p:sp>
      <p:sp>
        <p:nvSpPr>
          <p:cNvPr id="384" name="Google Shape;384;p17"/>
          <p:cNvSpPr/>
          <p:nvPr/>
        </p:nvSpPr>
        <p:spPr>
          <a:xfrm>
            <a:off x="566928" y="3602736"/>
            <a:ext cx="8010144" cy="548640"/>
          </a:xfrm>
          <a:prstGeom prst="rect">
            <a:avLst/>
          </a:prstGeom>
          <a:noFill/>
          <a:ln>
            <a:noFill/>
          </a:ln>
        </p:spPr>
        <p:txBody>
          <a:bodyPr anchorCtr="0" anchor="ctr" bIns="0" lIns="0" spcFirstLastPara="1" rIns="0" wrap="square" tIns="0">
            <a:noAutofit/>
          </a:bodyPr>
          <a:lstStyle/>
          <a:p>
            <a:pPr indent="0" lvl="0" marL="0" marR="0" rtl="0" algn="ctr">
              <a:lnSpc>
                <a:spcPct val="138000"/>
              </a:lnSpc>
              <a:spcBef>
                <a:spcPts val="0"/>
              </a:spcBef>
              <a:spcAft>
                <a:spcPts val="0"/>
              </a:spcAft>
              <a:buClr>
                <a:srgbClr val="5A6B84"/>
              </a:buClr>
              <a:buSzPts val="1150"/>
              <a:buFont typeface="DM Sans"/>
              <a:buNone/>
            </a:pPr>
            <a:r>
              <a:rPr b="0" i="0" lang="en-US" sz="1150" u="none" cap="none" strike="noStrike">
                <a:solidFill>
                  <a:srgbClr val="5A6B84"/>
                </a:solidFill>
                <a:latin typeface="DM Sans"/>
                <a:ea typeface="DM Sans"/>
                <a:cs typeface="DM Sans"/>
                <a:sym typeface="DM Sans"/>
              </a:rPr>
              <a:t>Total the axis using the numbers exactly as you wrote them. A question-marked score counts as its number. Rate your confidence in the corrected placement from 1 to 5.</a:t>
            </a:r>
            <a:endParaRPr b="0" i="0" sz="1150" u="none" cap="none" strike="noStrike">
              <a:solidFill>
                <a:schemeClr val="dk1"/>
              </a:solidFill>
              <a:latin typeface="Calibri"/>
              <a:ea typeface="Calibri"/>
              <a:cs typeface="Calibri"/>
              <a:sym typeface="Calibri"/>
            </a:endParaRPr>
          </a:p>
        </p:txBody>
      </p:sp>
      <p:sp>
        <p:nvSpPr>
          <p:cNvPr id="385" name="Google Shape;385;p1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386" name="Google Shape;386;p17"/>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91" name="Shape 391"/>
        <p:cNvGrpSpPr/>
        <p:nvPr/>
      </p:nvGrpSpPr>
      <p:grpSpPr>
        <a:xfrm>
          <a:off x="0" y="0"/>
          <a:ext cx="0" cy="0"/>
          <a:chOff x="0" y="0"/>
          <a:chExt cx="0" cy="0"/>
        </a:xfrm>
      </p:grpSpPr>
      <p:sp>
        <p:nvSpPr>
          <p:cNvPr id="392" name="Google Shape;392;p1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CORRECTED READ</a:t>
            </a:r>
            <a:endParaRPr b="0" i="0" sz="950" u="none" cap="none" strike="noStrike">
              <a:solidFill>
                <a:schemeClr val="dk1"/>
              </a:solidFill>
              <a:latin typeface="Calibri"/>
              <a:ea typeface="Calibri"/>
              <a:cs typeface="Calibri"/>
              <a:sym typeface="Calibri"/>
            </a:endParaRPr>
          </a:p>
        </p:txBody>
      </p:sp>
      <p:sp>
        <p:nvSpPr>
          <p:cNvPr id="393" name="Google Shape;393;p1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When the evidence remains uncertain</a:t>
            </a:r>
            <a:endParaRPr b="0" i="0" sz="2600" u="none" cap="none" strike="noStrike">
              <a:solidFill>
                <a:schemeClr val="dk1"/>
              </a:solidFill>
              <a:latin typeface="Calibri"/>
              <a:ea typeface="Calibri"/>
              <a:cs typeface="Calibri"/>
              <a:sym typeface="Calibri"/>
            </a:endParaRPr>
          </a:p>
        </p:txBody>
      </p:sp>
      <p:sp>
        <p:nvSpPr>
          <p:cNvPr id="394" name="Google Shape;394;p18"/>
          <p:cNvSpPr/>
          <p:nvPr/>
        </p:nvSpPr>
        <p:spPr>
          <a:xfrm>
            <a:off x="566928" y="133502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The sensitivity check. An operational convention, not a statistical confidence interval.</a:t>
            </a:r>
            <a:endParaRPr b="0" i="0" sz="1150" u="none" cap="none" strike="noStrike">
              <a:solidFill>
                <a:schemeClr val="dk1"/>
              </a:solidFill>
              <a:latin typeface="Calibri"/>
              <a:ea typeface="Calibri"/>
              <a:cs typeface="Calibri"/>
              <a:sym typeface="Calibri"/>
            </a:endParaRPr>
          </a:p>
        </p:txBody>
      </p:sp>
      <p:sp>
        <p:nvSpPr>
          <p:cNvPr id="395" name="Google Shape;395;p18"/>
          <p:cNvSpPr/>
          <p:nvPr/>
        </p:nvSpPr>
        <p:spPr>
          <a:xfrm>
            <a:off x="566928" y="1719072"/>
            <a:ext cx="676656" cy="438912"/>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6" name="Google Shape;396;p18"/>
          <p:cNvSpPr/>
          <p:nvPr/>
        </p:nvSpPr>
        <p:spPr>
          <a:xfrm>
            <a:off x="566928" y="1719072"/>
            <a:ext cx="676656" cy="43891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347"/>
              </a:buClr>
              <a:buSzPts val="900"/>
              <a:buFont typeface="Montserrat"/>
              <a:buNone/>
            </a:pPr>
            <a:r>
              <a:rPr b="1" i="0" lang="en-US" sz="900" u="none" cap="none" strike="noStrike">
                <a:solidFill>
                  <a:srgbClr val="0F2347"/>
                </a:solidFill>
                <a:latin typeface="Montserrat"/>
                <a:ea typeface="Montserrat"/>
                <a:cs typeface="Montserrat"/>
                <a:sym typeface="Montserrat"/>
              </a:rPr>
              <a:t>NONE</a:t>
            </a:r>
            <a:endParaRPr b="0" i="0" sz="900" u="none" cap="none" strike="noStrike">
              <a:solidFill>
                <a:schemeClr val="dk1"/>
              </a:solidFill>
              <a:latin typeface="Calibri"/>
              <a:ea typeface="Calibri"/>
              <a:cs typeface="Calibri"/>
              <a:sym typeface="Calibri"/>
            </a:endParaRPr>
          </a:p>
        </p:txBody>
      </p:sp>
      <p:sp>
        <p:nvSpPr>
          <p:cNvPr id="397" name="Google Shape;397;p18"/>
          <p:cNvSpPr/>
          <p:nvPr/>
        </p:nvSpPr>
        <p:spPr>
          <a:xfrm>
            <a:off x="1408176" y="1700784"/>
            <a:ext cx="7168896"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50"/>
              <a:buFont typeface="DM Sans"/>
              <a:buNone/>
            </a:pPr>
            <a:r>
              <a:rPr b="1" i="0" lang="en-US" sz="1150" u="none" cap="none" strike="noStrike">
                <a:solidFill>
                  <a:srgbClr val="0F2347"/>
                </a:solidFill>
                <a:latin typeface="DM Sans"/>
                <a:ea typeface="DM Sans"/>
                <a:cs typeface="DM Sans"/>
                <a:sym typeface="DM Sans"/>
              </a:rPr>
              <a:t>Use the corrected total normally.</a:t>
            </a:r>
            <a:endParaRPr b="0" i="0" sz="1150" u="none" cap="none" strike="noStrike">
              <a:solidFill>
                <a:schemeClr val="dk1"/>
              </a:solidFill>
              <a:latin typeface="Calibri"/>
              <a:ea typeface="Calibri"/>
              <a:cs typeface="Calibri"/>
              <a:sym typeface="Calibri"/>
            </a:endParaRPr>
          </a:p>
        </p:txBody>
      </p:sp>
      <p:sp>
        <p:nvSpPr>
          <p:cNvPr id="398" name="Google Shape;398;p18"/>
          <p:cNvSpPr/>
          <p:nvPr/>
        </p:nvSpPr>
        <p:spPr>
          <a:xfrm>
            <a:off x="1408176" y="1938528"/>
            <a:ext cx="7168896"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20"/>
              <a:buFont typeface="DM Sans"/>
              <a:buNone/>
            </a:pPr>
            <a:r>
              <a:rPr b="0" i="0" lang="en-US" sz="1020" u="none" cap="none" strike="noStrike">
                <a:solidFill>
                  <a:srgbClr val="5A6B84"/>
                </a:solidFill>
                <a:latin typeface="DM Sans"/>
                <a:ea typeface="DM Sans"/>
                <a:cs typeface="DM Sans"/>
                <a:sym typeface="DM Sans"/>
              </a:rPr>
              <a:t>No sensitivity range is required.</a:t>
            </a:r>
            <a:endParaRPr b="0" i="0" sz="1020" u="none" cap="none" strike="noStrike">
              <a:solidFill>
                <a:schemeClr val="dk1"/>
              </a:solidFill>
              <a:latin typeface="Calibri"/>
              <a:ea typeface="Calibri"/>
              <a:cs typeface="Calibri"/>
              <a:sym typeface="Calibri"/>
            </a:endParaRPr>
          </a:p>
        </p:txBody>
      </p:sp>
      <p:sp>
        <p:nvSpPr>
          <p:cNvPr id="399" name="Google Shape;399;p18"/>
          <p:cNvSpPr/>
          <p:nvPr/>
        </p:nvSpPr>
        <p:spPr>
          <a:xfrm>
            <a:off x="566928" y="2286000"/>
            <a:ext cx="676656" cy="786384"/>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0" name="Google Shape;400;p18"/>
          <p:cNvSpPr/>
          <p:nvPr/>
        </p:nvSpPr>
        <p:spPr>
          <a:xfrm>
            <a:off x="566928" y="2286000"/>
            <a:ext cx="676656" cy="7863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1 OR 2</a:t>
            </a:r>
            <a:endParaRPr b="0" i="0" sz="900" u="none" cap="none" strike="noStrike">
              <a:solidFill>
                <a:schemeClr val="dk1"/>
              </a:solidFill>
              <a:latin typeface="Calibri"/>
              <a:ea typeface="Calibri"/>
              <a:cs typeface="Calibri"/>
              <a:sym typeface="Calibri"/>
            </a:endParaRPr>
          </a:p>
        </p:txBody>
      </p:sp>
      <p:sp>
        <p:nvSpPr>
          <p:cNvPr id="401" name="Google Shape;401;p18"/>
          <p:cNvSpPr/>
          <p:nvPr/>
        </p:nvSpPr>
        <p:spPr>
          <a:xfrm>
            <a:off x="1408176" y="2286000"/>
            <a:ext cx="7168896" cy="78638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2" name="Google Shape;402;p18"/>
          <p:cNvSpPr/>
          <p:nvPr/>
        </p:nvSpPr>
        <p:spPr>
          <a:xfrm>
            <a:off x="1609344" y="2395728"/>
            <a:ext cx="67665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39"/>
              <a:buFont typeface="Montserrat"/>
              <a:buNone/>
            </a:pPr>
            <a:r>
              <a:rPr b="1" i="0" lang="en-US" sz="840" u="none" cap="none" strike="noStrike">
                <a:solidFill>
                  <a:srgbClr val="0F2347"/>
                </a:solidFill>
                <a:latin typeface="Montserrat"/>
                <a:ea typeface="Montserrat"/>
                <a:cs typeface="Montserrat"/>
                <a:sym typeface="Montserrat"/>
              </a:rPr>
              <a:t>PROVISIONAL.  RUN THE NEIGHBORING-SCORE SENSITIVITY CHECK.</a:t>
            </a:r>
            <a:endParaRPr b="0" i="0" sz="840" u="none" cap="none" strike="noStrike">
              <a:solidFill>
                <a:schemeClr val="dk1"/>
              </a:solidFill>
              <a:latin typeface="Calibri"/>
              <a:ea typeface="Calibri"/>
              <a:cs typeface="Calibri"/>
              <a:sym typeface="Calibri"/>
            </a:endParaRPr>
          </a:p>
        </p:txBody>
      </p:sp>
      <p:sp>
        <p:nvSpPr>
          <p:cNvPr id="403" name="Google Shape;403;p18"/>
          <p:cNvSpPr/>
          <p:nvPr/>
        </p:nvSpPr>
        <p:spPr>
          <a:xfrm>
            <a:off x="1609344" y="2724912"/>
            <a:ext cx="82296" cy="8229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4" name="Google Shape;404;p18"/>
          <p:cNvSpPr/>
          <p:nvPr/>
        </p:nvSpPr>
        <p:spPr>
          <a:xfrm>
            <a:off x="1810512" y="2651760"/>
            <a:ext cx="656539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50"/>
              <a:buFont typeface="DM Sans"/>
              <a:buNone/>
            </a:pPr>
            <a:r>
              <a:rPr b="0" i="0" lang="en-US" sz="1050" u="none" cap="none" strike="noStrike">
                <a:solidFill>
                  <a:srgbClr val="0F2347"/>
                </a:solidFill>
                <a:latin typeface="DM Sans"/>
                <a:ea typeface="DM Sans"/>
                <a:cs typeface="DM Sans"/>
                <a:sym typeface="DM Sans"/>
              </a:rPr>
              <a:t>If the range touches 17 to 21, hold the axis as boundary.</a:t>
            </a:r>
            <a:endParaRPr b="0" i="0" sz="1050" u="none" cap="none" strike="noStrike">
              <a:solidFill>
                <a:schemeClr val="dk1"/>
              </a:solidFill>
              <a:latin typeface="Calibri"/>
              <a:ea typeface="Calibri"/>
              <a:cs typeface="Calibri"/>
              <a:sym typeface="Calibri"/>
            </a:endParaRPr>
          </a:p>
        </p:txBody>
      </p:sp>
      <p:sp>
        <p:nvSpPr>
          <p:cNvPr id="405" name="Google Shape;405;p18"/>
          <p:cNvSpPr/>
          <p:nvPr/>
        </p:nvSpPr>
        <p:spPr>
          <a:xfrm>
            <a:off x="566928" y="3822191"/>
            <a:ext cx="801014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50"/>
              <a:buFont typeface="DM Sans"/>
              <a:buNone/>
            </a:pPr>
            <a:r>
              <a:rPr b="1" i="0" lang="en-US" sz="1050" u="none" cap="none" strike="noStrike">
                <a:solidFill>
                  <a:srgbClr val="0F2347"/>
                </a:solidFill>
                <a:latin typeface="DM Sans"/>
                <a:ea typeface="DM Sans"/>
                <a:cs typeface="DM Sans"/>
                <a:sym typeface="DM Sans"/>
              </a:rPr>
              <a:t>17 TO 21 IS THE BOUNDARY BAND. A boundary reading overrides the normal high and low split.</a:t>
            </a:r>
            <a:endParaRPr b="0" i="0" sz="1050" u="none" cap="none" strike="noStrike">
              <a:solidFill>
                <a:schemeClr val="dk1"/>
              </a:solidFill>
              <a:latin typeface="Calibri"/>
              <a:ea typeface="Calibri"/>
              <a:cs typeface="Calibri"/>
              <a:sym typeface="Calibri"/>
            </a:endParaRPr>
          </a:p>
        </p:txBody>
      </p:sp>
      <p:sp>
        <p:nvSpPr>
          <p:cNvPr id="406" name="Google Shape;406;p18"/>
          <p:cNvSpPr/>
          <p:nvPr/>
        </p:nvSpPr>
        <p:spPr>
          <a:xfrm>
            <a:off x="566928" y="3218688"/>
            <a:ext cx="676656" cy="457200"/>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p18"/>
          <p:cNvSpPr/>
          <p:nvPr/>
        </p:nvSpPr>
        <p:spPr>
          <a:xfrm>
            <a:off x="566928" y="3218688"/>
            <a:ext cx="67665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00"/>
              <a:buFont typeface="Montserrat"/>
              <a:buNone/>
            </a:pPr>
            <a:r>
              <a:rPr b="1" i="0" lang="en-US" sz="900" u="none" cap="none" strike="noStrike">
                <a:solidFill>
                  <a:srgbClr val="F5F0E8"/>
                </a:solidFill>
                <a:latin typeface="Montserrat"/>
                <a:ea typeface="Montserrat"/>
                <a:cs typeface="Montserrat"/>
                <a:sym typeface="Montserrat"/>
              </a:rPr>
              <a:t>3+</a:t>
            </a:r>
            <a:endParaRPr b="0" i="0" sz="900" u="none" cap="none" strike="noStrike">
              <a:solidFill>
                <a:schemeClr val="dk1"/>
              </a:solidFill>
              <a:latin typeface="Calibri"/>
              <a:ea typeface="Calibri"/>
              <a:cs typeface="Calibri"/>
              <a:sym typeface="Calibri"/>
            </a:endParaRPr>
          </a:p>
        </p:txBody>
      </p:sp>
      <p:sp>
        <p:nvSpPr>
          <p:cNvPr id="408" name="Google Shape;408;p18"/>
          <p:cNvSpPr/>
          <p:nvPr/>
        </p:nvSpPr>
        <p:spPr>
          <a:xfrm>
            <a:off x="1408176" y="3218688"/>
            <a:ext cx="7168896"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9" name="Google Shape;409;p18"/>
          <p:cNvSpPr/>
          <p:nvPr/>
        </p:nvSpPr>
        <p:spPr>
          <a:xfrm>
            <a:off x="1609344" y="3218688"/>
            <a:ext cx="67665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100"/>
              <a:buFont typeface="DM Sans"/>
              <a:buNone/>
            </a:pPr>
            <a:r>
              <a:rPr b="1" i="0" lang="en-US" sz="1100" u="none" cap="none" strike="noStrike">
                <a:solidFill>
                  <a:srgbClr val="F5F0E8"/>
                </a:solidFill>
                <a:latin typeface="DM Sans"/>
                <a:ea typeface="DM Sans"/>
                <a:cs typeface="DM Sans"/>
                <a:sym typeface="DM Sans"/>
              </a:rPr>
              <a:t>INCOMPLETE. Do not place on that axis today. Incomplete is a legitimate reading, not a failure.</a:t>
            </a:r>
            <a:endParaRPr b="0" i="0" sz="1100" u="none" cap="none" strike="noStrike">
              <a:solidFill>
                <a:schemeClr val="dk1"/>
              </a:solidFill>
              <a:latin typeface="Calibri"/>
              <a:ea typeface="Calibri"/>
              <a:cs typeface="Calibri"/>
              <a:sym typeface="Calibri"/>
            </a:endParaRPr>
          </a:p>
        </p:txBody>
      </p:sp>
      <p:sp>
        <p:nvSpPr>
          <p:cNvPr id="410" name="Google Shape;410;p18"/>
          <p:cNvSpPr/>
          <p:nvPr/>
        </p:nvSpPr>
        <p:spPr>
          <a:xfrm>
            <a:off x="566928" y="4187952"/>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0207"/>
              </a:lnSpc>
              <a:spcBef>
                <a:spcPts val="0"/>
              </a:spcBef>
              <a:spcAft>
                <a:spcPts val="0"/>
              </a:spcAft>
              <a:buClr>
                <a:srgbClr val="C1440E"/>
              </a:buClr>
              <a:buSzPts val="960"/>
              <a:buFont typeface="DM Sans"/>
              <a:buNone/>
            </a:pPr>
            <a:r>
              <a:rPr b="1" i="0" lang="en-US" sz="960" u="none" cap="none" strike="noStrike">
                <a:solidFill>
                  <a:srgbClr val="C1440E"/>
                </a:solidFill>
                <a:latin typeface="DM Sans"/>
                <a:ea typeface="DM Sans"/>
                <a:cs typeface="DM Sans"/>
                <a:sym typeface="DM Sans"/>
              </a:rPr>
              <a:t>ONE axis in the band: read the two adjacent states the other axis selects.</a:t>
            </a:r>
            <a:endParaRPr b="0" i="0" sz="960" u="none" cap="none" strike="noStrike">
              <a:solidFill>
                <a:schemeClr val="dk1"/>
              </a:solidFill>
              <a:latin typeface="Calibri"/>
              <a:ea typeface="Calibri"/>
              <a:cs typeface="Calibri"/>
              <a:sym typeface="Calibri"/>
            </a:endParaRPr>
          </a:p>
          <a:p>
            <a:pPr indent="0" lvl="0" marL="0" marR="0" rtl="0" algn="l">
              <a:lnSpc>
                <a:spcPct val="130207"/>
              </a:lnSpc>
              <a:spcBef>
                <a:spcPts val="0"/>
              </a:spcBef>
              <a:spcAft>
                <a:spcPts val="0"/>
              </a:spcAft>
              <a:buClr>
                <a:srgbClr val="C1440E"/>
              </a:buClr>
              <a:buSzPts val="960"/>
              <a:buFont typeface="DM Sans"/>
              <a:buNone/>
            </a:pPr>
            <a:r>
              <a:rPr b="1" i="0" lang="en-US" sz="960" u="none" cap="none" strike="noStrike">
                <a:solidFill>
                  <a:srgbClr val="C1440E"/>
                </a:solidFill>
                <a:latin typeface="DM Sans"/>
                <a:ea typeface="DM Sans"/>
                <a:cs typeface="DM Sans"/>
                <a:sym typeface="DM Sans"/>
              </a:rPr>
              <a:t>BOTH axes in the band: record Boundary and assign no single state.</a:t>
            </a:r>
            <a:endParaRPr b="0" i="0" sz="960" u="none" cap="none" strike="noStrike">
              <a:solidFill>
                <a:schemeClr val="dk1"/>
              </a:solidFill>
              <a:latin typeface="Calibri"/>
              <a:ea typeface="Calibri"/>
              <a:cs typeface="Calibri"/>
              <a:sym typeface="Calibri"/>
            </a:endParaRPr>
          </a:p>
        </p:txBody>
      </p:sp>
      <p:sp>
        <p:nvSpPr>
          <p:cNvPr id="411" name="Google Shape;411;p1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12" name="Google Shape;412;p18"/>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18</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17" name="Shape 417"/>
        <p:cNvGrpSpPr/>
        <p:nvPr/>
      </p:nvGrpSpPr>
      <p:grpSpPr>
        <a:xfrm>
          <a:off x="0" y="0"/>
          <a:ext cx="0" cy="0"/>
          <a:chOff x="0" y="0"/>
          <a:chExt cx="0" cy="0"/>
        </a:xfrm>
      </p:grpSpPr>
      <p:sp>
        <p:nvSpPr>
          <p:cNvPr id="418" name="Google Shape;418;p1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CORRECTED READ</a:t>
            </a:r>
            <a:endParaRPr b="0" i="0" sz="950" u="none" cap="none" strike="noStrike">
              <a:solidFill>
                <a:schemeClr val="dk1"/>
              </a:solidFill>
              <a:latin typeface="Calibri"/>
              <a:ea typeface="Calibri"/>
              <a:cs typeface="Calibri"/>
              <a:sym typeface="Calibri"/>
            </a:endParaRPr>
          </a:p>
        </p:txBody>
      </p:sp>
      <p:sp>
        <p:nvSpPr>
          <p:cNvPr id="419" name="Google Shape;419;p1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Your corrected position</a:t>
            </a:r>
            <a:endParaRPr b="0" i="0" sz="3000" u="none" cap="none" strike="noStrike">
              <a:solidFill>
                <a:schemeClr val="dk1"/>
              </a:solidFill>
              <a:latin typeface="Calibri"/>
              <a:ea typeface="Calibri"/>
              <a:cs typeface="Calibri"/>
              <a:sym typeface="Calibri"/>
            </a:endParaRPr>
          </a:p>
        </p:txBody>
      </p:sp>
      <p:sp>
        <p:nvSpPr>
          <p:cNvPr id="420" name="Google Shape;420;p19"/>
          <p:cNvSpPr/>
          <p:nvPr/>
        </p:nvSpPr>
        <p:spPr>
          <a:xfrm>
            <a:off x="566928" y="192024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1" name="Google Shape;421;p19"/>
          <p:cNvSpPr/>
          <p:nvPr/>
        </p:nvSpPr>
        <p:spPr>
          <a:xfrm>
            <a:off x="566928" y="192024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1</a:t>
            </a:r>
            <a:endParaRPr b="0" i="0" sz="950" u="none" cap="none" strike="noStrike">
              <a:solidFill>
                <a:schemeClr val="dk1"/>
              </a:solidFill>
              <a:latin typeface="Calibri"/>
              <a:ea typeface="Calibri"/>
              <a:cs typeface="Calibri"/>
              <a:sym typeface="Calibri"/>
            </a:endParaRPr>
          </a:p>
        </p:txBody>
      </p:sp>
      <p:sp>
        <p:nvSpPr>
          <p:cNvPr id="422" name="Google Shape;422;p19"/>
          <p:cNvSpPr/>
          <p:nvPr/>
        </p:nvSpPr>
        <p:spPr>
          <a:xfrm>
            <a:off x="1005840" y="1892808"/>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Place your corrected square</a:t>
            </a:r>
            <a:endParaRPr b="0" i="0" sz="1300" u="none" cap="none" strike="noStrike">
              <a:solidFill>
                <a:schemeClr val="dk1"/>
              </a:solidFill>
              <a:latin typeface="Calibri"/>
              <a:ea typeface="Calibri"/>
              <a:cs typeface="Calibri"/>
              <a:sym typeface="Calibri"/>
            </a:endParaRPr>
          </a:p>
        </p:txBody>
      </p:sp>
      <p:sp>
        <p:nvSpPr>
          <p:cNvPr id="423" name="Google Shape;423;p19"/>
          <p:cNvSpPr/>
          <p:nvPr/>
        </p:nvSpPr>
        <p:spPr>
          <a:xfrm>
            <a:off x="1005840" y="2148840"/>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Or mark boundary, or mark the axis incomplete. All three are legitimate readings.</a:t>
            </a:r>
            <a:endParaRPr b="0" i="0" sz="1100" u="none" cap="none" strike="noStrike">
              <a:solidFill>
                <a:schemeClr val="dk1"/>
              </a:solidFill>
              <a:latin typeface="Calibri"/>
              <a:ea typeface="Calibri"/>
              <a:cs typeface="Calibri"/>
              <a:sym typeface="Calibri"/>
            </a:endParaRPr>
          </a:p>
        </p:txBody>
      </p:sp>
      <p:sp>
        <p:nvSpPr>
          <p:cNvPr id="424" name="Google Shape;424;p19"/>
          <p:cNvSpPr/>
          <p:nvPr/>
        </p:nvSpPr>
        <p:spPr>
          <a:xfrm>
            <a:off x="566928" y="2578608"/>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5" name="Google Shape;425;p19"/>
          <p:cNvSpPr/>
          <p:nvPr/>
        </p:nvSpPr>
        <p:spPr>
          <a:xfrm>
            <a:off x="566928" y="257860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2</a:t>
            </a:r>
            <a:endParaRPr b="0" i="0" sz="950" u="none" cap="none" strike="noStrike">
              <a:solidFill>
                <a:schemeClr val="dk1"/>
              </a:solidFill>
              <a:latin typeface="Calibri"/>
              <a:ea typeface="Calibri"/>
              <a:cs typeface="Calibri"/>
              <a:sym typeface="Calibri"/>
            </a:endParaRPr>
          </a:p>
        </p:txBody>
      </p:sp>
      <p:sp>
        <p:nvSpPr>
          <p:cNvPr id="426" name="Google Shape;426;p19"/>
          <p:cNvSpPr/>
          <p:nvPr/>
        </p:nvSpPr>
        <p:spPr>
          <a:xfrm>
            <a:off x="1005840" y="2551176"/>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Rate your confidence from 1 to 5</a:t>
            </a:r>
            <a:endParaRPr b="0" i="0" sz="1300" u="none" cap="none" strike="noStrike">
              <a:solidFill>
                <a:schemeClr val="dk1"/>
              </a:solidFill>
              <a:latin typeface="Calibri"/>
              <a:ea typeface="Calibri"/>
              <a:cs typeface="Calibri"/>
              <a:sym typeface="Calibri"/>
            </a:endParaRPr>
          </a:p>
        </p:txBody>
      </p:sp>
      <p:sp>
        <p:nvSpPr>
          <p:cNvPr id="427" name="Google Shape;427;p19"/>
          <p:cNvSpPr/>
          <p:nvPr/>
        </p:nvSpPr>
        <p:spPr>
          <a:xfrm>
            <a:off x="1005840" y="2807208"/>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Compare it with the confidence number from your first placement on workbook page 3. The comparison is private.</a:t>
            </a:r>
            <a:endParaRPr b="0" i="0" sz="1100" u="none" cap="none" strike="noStrike">
              <a:solidFill>
                <a:schemeClr val="dk1"/>
              </a:solidFill>
              <a:latin typeface="Calibri"/>
              <a:ea typeface="Calibri"/>
              <a:cs typeface="Calibri"/>
              <a:sym typeface="Calibri"/>
            </a:endParaRPr>
          </a:p>
        </p:txBody>
      </p:sp>
      <p:sp>
        <p:nvSpPr>
          <p:cNvPr id="428" name="Google Shape;428;p19"/>
          <p:cNvSpPr/>
          <p:nvPr/>
        </p:nvSpPr>
        <p:spPr>
          <a:xfrm>
            <a:off x="566928" y="32369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9" name="Google Shape;429;p19"/>
          <p:cNvSpPr/>
          <p:nvPr/>
        </p:nvSpPr>
        <p:spPr>
          <a:xfrm>
            <a:off x="566928" y="323697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430" name="Google Shape;430;p19"/>
          <p:cNvSpPr/>
          <p:nvPr/>
        </p:nvSpPr>
        <p:spPr>
          <a:xfrm>
            <a:off x="1005840" y="3209544"/>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00"/>
              <a:buFont typeface="DM Sans"/>
              <a:buNone/>
            </a:pPr>
            <a:r>
              <a:rPr b="1" i="0" lang="en-US" sz="1300" u="none" cap="none" strike="noStrike">
                <a:solidFill>
                  <a:srgbClr val="0F2347"/>
                </a:solidFill>
                <a:latin typeface="DM Sans"/>
                <a:ea typeface="DM Sans"/>
                <a:cs typeface="DM Sans"/>
                <a:sym typeface="DM Sans"/>
              </a:rPr>
              <a:t>Keep both readings visible</a:t>
            </a:r>
            <a:endParaRPr b="0" i="0" sz="1300" u="none" cap="none" strike="noStrike">
              <a:solidFill>
                <a:schemeClr val="dk1"/>
              </a:solidFill>
              <a:latin typeface="Calibri"/>
              <a:ea typeface="Calibri"/>
              <a:cs typeface="Calibri"/>
              <a:sym typeface="Calibri"/>
            </a:endParaRPr>
          </a:p>
        </p:txBody>
      </p:sp>
      <p:sp>
        <p:nvSpPr>
          <p:cNvPr id="431" name="Google Shape;431;p19"/>
          <p:cNvSpPr/>
          <p:nvPr/>
        </p:nvSpPr>
        <p:spPr>
          <a:xfrm>
            <a:off x="1005840" y="3465576"/>
            <a:ext cx="757123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The first number and the corrected number sit side by side. The distance between them is the finding.</a:t>
            </a:r>
            <a:endParaRPr b="0" i="0" sz="1100" u="none" cap="none" strike="noStrike">
              <a:solidFill>
                <a:schemeClr val="dk1"/>
              </a:solidFill>
              <a:latin typeface="Calibri"/>
              <a:ea typeface="Calibri"/>
              <a:cs typeface="Calibri"/>
              <a:sym typeface="Calibri"/>
            </a:endParaRPr>
          </a:p>
        </p:txBody>
      </p:sp>
      <p:sp>
        <p:nvSpPr>
          <p:cNvPr id="432" name="Google Shape;432;p19"/>
          <p:cNvSpPr/>
          <p:nvPr/>
        </p:nvSpPr>
        <p:spPr>
          <a:xfrm>
            <a:off x="566928" y="3968496"/>
            <a:ext cx="8010144" cy="54864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3" name="Google Shape;433;p19"/>
          <p:cNvSpPr/>
          <p:nvPr/>
        </p:nvSpPr>
        <p:spPr>
          <a:xfrm>
            <a:off x="804672" y="3968496"/>
            <a:ext cx="7534656"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600"/>
              <a:buFont typeface="Cormorant Garamond"/>
              <a:buNone/>
            </a:pPr>
            <a:r>
              <a:rPr b="1" i="0" lang="en-US" sz="1600" u="none" cap="none" strike="noStrike">
                <a:solidFill>
                  <a:srgbClr val="F5F0E8"/>
                </a:solidFill>
                <a:latin typeface="Cormorant Garamond"/>
                <a:ea typeface="Cormorant Garamond"/>
                <a:cs typeface="Cormorant Garamond"/>
                <a:sym typeface="Cormorant Garamond"/>
              </a:rPr>
              <a:t>A position you can defend with evidence is worth more than a position you feel confident about.</a:t>
            </a:r>
            <a:endParaRPr b="0" i="0" sz="1600" u="none" cap="none" strike="noStrike">
              <a:solidFill>
                <a:schemeClr val="dk1"/>
              </a:solidFill>
              <a:latin typeface="Calibri"/>
              <a:ea typeface="Calibri"/>
              <a:cs typeface="Calibri"/>
              <a:sym typeface="Calibri"/>
            </a:endParaRPr>
          </a:p>
        </p:txBody>
      </p:sp>
      <p:sp>
        <p:nvSpPr>
          <p:cNvPr id="434" name="Google Shape;434;p1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35" name="Google Shape;435;p19"/>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19</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40" name="Shape 440"/>
        <p:cNvGrpSpPr/>
        <p:nvPr/>
      </p:nvGrpSpPr>
      <p:grpSpPr>
        <a:xfrm>
          <a:off x="0" y="0"/>
          <a:ext cx="0" cy="0"/>
          <a:chOff x="0" y="0"/>
          <a:chExt cx="0" cy="0"/>
        </a:xfrm>
      </p:grpSpPr>
      <p:sp>
        <p:nvSpPr>
          <p:cNvPr id="441" name="Google Shape;441;g3fbec47727c_0_0"/>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What moved when you tested your first read</a:t>
            </a:r>
            <a:endParaRPr b="0" i="0" sz="2600" u="none" cap="none" strike="noStrike">
              <a:solidFill>
                <a:schemeClr val="dk1"/>
              </a:solidFill>
              <a:latin typeface="Calibri"/>
              <a:ea typeface="Calibri"/>
              <a:cs typeface="Calibri"/>
              <a:sym typeface="Calibri"/>
            </a:endParaRPr>
          </a:p>
        </p:txBody>
      </p:sp>
      <p:sp>
        <p:nvSpPr>
          <p:cNvPr id="442" name="Google Shape;442;g3fbec47727c_0_0"/>
          <p:cNvSpPr/>
          <p:nvPr/>
        </p:nvSpPr>
        <p:spPr>
          <a:xfrm>
            <a:off x="566928" y="1810512"/>
            <a:ext cx="801000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3" name="Google Shape;443;g3fbec47727c_0_0"/>
          <p:cNvSpPr/>
          <p:nvPr/>
        </p:nvSpPr>
        <p:spPr>
          <a:xfrm>
            <a:off x="804672" y="1810512"/>
            <a:ext cx="753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After testing your first read against evidence, which is closest?</a:t>
            </a:r>
            <a:endParaRPr b="0" i="0" sz="1250" u="none" cap="none" strike="noStrike">
              <a:solidFill>
                <a:schemeClr val="dk1"/>
              </a:solidFill>
              <a:latin typeface="Calibri"/>
              <a:ea typeface="Calibri"/>
              <a:cs typeface="Calibri"/>
              <a:sym typeface="Calibri"/>
            </a:endParaRPr>
          </a:p>
        </p:txBody>
      </p:sp>
      <p:sp>
        <p:nvSpPr>
          <p:cNvPr id="444" name="Google Shape;444;g3fbec47727c_0_0"/>
          <p:cNvSpPr/>
          <p:nvPr/>
        </p:nvSpPr>
        <p:spPr>
          <a:xfrm>
            <a:off x="566928" y="2432304"/>
            <a:ext cx="128100" cy="128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5" name="Google Shape;445;g3fbec47727c_0_0"/>
          <p:cNvSpPr/>
          <p:nvPr/>
        </p:nvSpPr>
        <p:spPr>
          <a:xfrm>
            <a:off x="877824" y="2377440"/>
            <a:ext cx="7699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totals moved meaningfully</a:t>
            </a:r>
            <a:endParaRPr b="0" i="0" sz="1250" u="none" cap="none" strike="noStrike">
              <a:solidFill>
                <a:schemeClr val="dk1"/>
              </a:solidFill>
              <a:latin typeface="Calibri"/>
              <a:ea typeface="Calibri"/>
              <a:cs typeface="Calibri"/>
              <a:sym typeface="Calibri"/>
            </a:endParaRPr>
          </a:p>
        </p:txBody>
      </p:sp>
      <p:sp>
        <p:nvSpPr>
          <p:cNvPr id="446" name="Google Shape;446;g3fbec47727c_0_0"/>
          <p:cNvSpPr/>
          <p:nvPr/>
        </p:nvSpPr>
        <p:spPr>
          <a:xfrm>
            <a:off x="566928" y="2871216"/>
            <a:ext cx="128100" cy="128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7" name="Google Shape;447;g3fbec47727c_0_0"/>
          <p:cNvSpPr/>
          <p:nvPr/>
        </p:nvSpPr>
        <p:spPr>
          <a:xfrm>
            <a:off x="877824" y="2816352"/>
            <a:ext cx="7699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provisional position moved</a:t>
            </a:r>
            <a:endParaRPr b="0" i="0" sz="1250" u="none" cap="none" strike="noStrike">
              <a:solidFill>
                <a:schemeClr val="dk1"/>
              </a:solidFill>
              <a:latin typeface="Calibri"/>
              <a:ea typeface="Calibri"/>
              <a:cs typeface="Calibri"/>
              <a:sym typeface="Calibri"/>
            </a:endParaRPr>
          </a:p>
        </p:txBody>
      </p:sp>
      <p:sp>
        <p:nvSpPr>
          <p:cNvPr id="448" name="Google Shape;448;g3fbec47727c_0_0"/>
          <p:cNvSpPr/>
          <p:nvPr/>
        </p:nvSpPr>
        <p:spPr>
          <a:xfrm>
            <a:off x="566928" y="3310128"/>
            <a:ext cx="128100" cy="128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9" name="Google Shape;449;g3fbec47727c_0_0"/>
          <p:cNvSpPr/>
          <p:nvPr/>
        </p:nvSpPr>
        <p:spPr>
          <a:xfrm>
            <a:off x="877824" y="3255264"/>
            <a:ext cx="7699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position stayed similar, but I trust the reading more</a:t>
            </a:r>
            <a:endParaRPr b="0" i="0" sz="1250" u="none" cap="none" strike="noStrike">
              <a:solidFill>
                <a:schemeClr val="dk1"/>
              </a:solidFill>
              <a:latin typeface="Calibri"/>
              <a:ea typeface="Calibri"/>
              <a:cs typeface="Calibri"/>
              <a:sym typeface="Calibri"/>
            </a:endParaRPr>
          </a:p>
        </p:txBody>
      </p:sp>
      <p:sp>
        <p:nvSpPr>
          <p:cNvPr id="450" name="Google Shape;450;g3fbec47727c_0_0"/>
          <p:cNvSpPr/>
          <p:nvPr/>
        </p:nvSpPr>
        <p:spPr>
          <a:xfrm>
            <a:off x="566928" y="3749040"/>
            <a:ext cx="128100" cy="128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1" name="Google Shape;451;g3fbec47727c_0_0"/>
          <p:cNvSpPr/>
          <p:nvPr/>
        </p:nvSpPr>
        <p:spPr>
          <a:xfrm>
            <a:off x="877824" y="3694176"/>
            <a:ext cx="7699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evidence is still incomplete</a:t>
            </a:r>
            <a:endParaRPr b="0" i="0" sz="1250" u="none" cap="none" strike="noStrike">
              <a:solidFill>
                <a:schemeClr val="dk1"/>
              </a:solidFill>
              <a:latin typeface="Calibri"/>
              <a:ea typeface="Calibri"/>
              <a:cs typeface="Calibri"/>
              <a:sym typeface="Calibri"/>
            </a:endParaRPr>
          </a:p>
        </p:txBody>
      </p:sp>
      <p:sp>
        <p:nvSpPr>
          <p:cNvPr id="452" name="Google Shape;452;g3fbec47727c_0_0"/>
          <p:cNvSpPr/>
          <p:nvPr/>
        </p:nvSpPr>
        <p:spPr>
          <a:xfrm>
            <a:off x="566928" y="4261104"/>
            <a:ext cx="8010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1" lang="en-US" sz="1100" u="none" cap="none" strike="noStrike">
                <a:solidFill>
                  <a:srgbClr val="5A6B84"/>
                </a:solidFill>
                <a:latin typeface="DM Sans"/>
                <a:ea typeface="DM Sans"/>
                <a:cs typeface="DM Sans"/>
                <a:sym typeface="DM Sans"/>
              </a:rPr>
              <a:t>Every one of these is a legitimate outcome. Incomplete evidence is information, not failure.</a:t>
            </a:r>
            <a:endParaRPr b="0" i="0" sz="1100" u="none" cap="none" strike="noStrike">
              <a:solidFill>
                <a:schemeClr val="dk1"/>
              </a:solidFill>
              <a:latin typeface="Calibri"/>
              <a:ea typeface="Calibri"/>
              <a:cs typeface="Calibri"/>
              <a:sym typeface="Calibri"/>
            </a:endParaRPr>
          </a:p>
        </p:txBody>
      </p:sp>
      <p:sp>
        <p:nvSpPr>
          <p:cNvPr id="453" name="Google Shape;453;g3fbec47727c_0_0"/>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54" name="Google Shape;454;g3fbec47727c_0_0"/>
          <p:cNvSpPr/>
          <p:nvPr/>
        </p:nvSpPr>
        <p:spPr>
          <a:xfrm>
            <a:off x="8363712" y="4911852"/>
            <a:ext cx="365700" cy="183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20</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59" name="Shape 459"/>
        <p:cNvGrpSpPr/>
        <p:nvPr/>
      </p:nvGrpSpPr>
      <p:grpSpPr>
        <a:xfrm>
          <a:off x="0" y="0"/>
          <a:ext cx="0" cy="0"/>
          <a:chOff x="0" y="0"/>
          <a:chExt cx="0" cy="0"/>
        </a:xfrm>
      </p:grpSpPr>
      <p:sp>
        <p:nvSpPr>
          <p:cNvPr id="460" name="Google Shape;460;p2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STATE COSTS</a:t>
            </a:r>
            <a:endParaRPr b="0" i="0" sz="950" u="none" cap="none" strike="noStrike">
              <a:solidFill>
                <a:schemeClr val="dk1"/>
              </a:solidFill>
              <a:latin typeface="Calibri"/>
              <a:ea typeface="Calibri"/>
              <a:cs typeface="Calibri"/>
              <a:sym typeface="Calibri"/>
            </a:endParaRPr>
          </a:p>
        </p:txBody>
      </p:sp>
      <p:sp>
        <p:nvSpPr>
          <p:cNvPr id="461" name="Google Shape;461;p2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What each state costs</a:t>
            </a:r>
            <a:endParaRPr b="0" i="0" sz="3000" u="none" cap="none" strike="noStrike">
              <a:solidFill>
                <a:schemeClr val="dk1"/>
              </a:solidFill>
              <a:latin typeface="Calibri"/>
              <a:ea typeface="Calibri"/>
              <a:cs typeface="Calibri"/>
              <a:sym typeface="Calibri"/>
            </a:endParaRPr>
          </a:p>
        </p:txBody>
      </p:sp>
      <p:sp>
        <p:nvSpPr>
          <p:cNvPr id="462" name="Google Shape;462;p20"/>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Four states. One immediate cost to notice in each.</a:t>
            </a:r>
            <a:endParaRPr b="0" i="0" sz="1150" u="none" cap="none" strike="noStrike">
              <a:solidFill>
                <a:schemeClr val="dk1"/>
              </a:solidFill>
              <a:latin typeface="Calibri"/>
              <a:ea typeface="Calibri"/>
              <a:cs typeface="Calibri"/>
              <a:sym typeface="Calibri"/>
            </a:endParaRPr>
          </a:p>
        </p:txBody>
      </p:sp>
      <p:sp>
        <p:nvSpPr>
          <p:cNvPr id="463" name="Google Shape;463;p20"/>
          <p:cNvSpPr/>
          <p:nvPr/>
        </p:nvSpPr>
        <p:spPr>
          <a:xfrm>
            <a:off x="566928" y="1883664"/>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4" name="Google Shape;464;p20"/>
          <p:cNvSpPr/>
          <p:nvPr/>
        </p:nvSpPr>
        <p:spPr>
          <a:xfrm>
            <a:off x="749808" y="1883664"/>
            <a:ext cx="1828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000"/>
              <a:buFont typeface="Montserrat"/>
              <a:buNone/>
            </a:pPr>
            <a:r>
              <a:rPr b="1" i="0" lang="en-US" sz="1000" u="none" cap="none" strike="noStrike">
                <a:solidFill>
                  <a:srgbClr val="0F2347"/>
                </a:solidFill>
                <a:latin typeface="Montserrat"/>
                <a:ea typeface="Montserrat"/>
                <a:cs typeface="Montserrat"/>
                <a:sym typeface="Montserrat"/>
              </a:rPr>
              <a:t>STAGNANT</a:t>
            </a:r>
            <a:endParaRPr b="0" i="0" sz="1000" u="none" cap="none" strike="noStrike">
              <a:solidFill>
                <a:schemeClr val="dk1"/>
              </a:solidFill>
              <a:latin typeface="Calibri"/>
              <a:ea typeface="Calibri"/>
              <a:cs typeface="Calibri"/>
              <a:sym typeface="Calibri"/>
            </a:endParaRPr>
          </a:p>
        </p:txBody>
      </p:sp>
      <p:sp>
        <p:nvSpPr>
          <p:cNvPr id="465" name="Google Shape;465;p20"/>
          <p:cNvSpPr/>
          <p:nvPr/>
        </p:nvSpPr>
        <p:spPr>
          <a:xfrm>
            <a:off x="2944368" y="1883664"/>
            <a:ext cx="563270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Neither axis is accruing.</a:t>
            </a:r>
            <a:endParaRPr b="0" i="0" sz="1250" u="none" cap="none" strike="noStrike">
              <a:solidFill>
                <a:schemeClr val="dk1"/>
              </a:solidFill>
              <a:latin typeface="Calibri"/>
              <a:ea typeface="Calibri"/>
              <a:cs typeface="Calibri"/>
              <a:sym typeface="Calibri"/>
            </a:endParaRPr>
          </a:p>
        </p:txBody>
      </p:sp>
      <p:sp>
        <p:nvSpPr>
          <p:cNvPr id="466" name="Google Shape;466;p20"/>
          <p:cNvSpPr/>
          <p:nvPr/>
        </p:nvSpPr>
        <p:spPr>
          <a:xfrm>
            <a:off x="566928" y="2450592"/>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7" name="Google Shape;467;p20"/>
          <p:cNvSpPr/>
          <p:nvPr/>
        </p:nvSpPr>
        <p:spPr>
          <a:xfrm>
            <a:off x="749808" y="2450592"/>
            <a:ext cx="1828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0F2347"/>
                </a:solidFill>
                <a:latin typeface="Montserrat"/>
                <a:ea typeface="Montserrat"/>
                <a:cs typeface="Montserrat"/>
                <a:sym typeface="Montserrat"/>
              </a:rPr>
              <a:t>DEPTH TRAP</a:t>
            </a:r>
            <a:endParaRPr b="0" i="0" sz="1000" u="none" cap="none" strike="noStrike">
              <a:solidFill>
                <a:schemeClr val="dk1"/>
              </a:solidFill>
              <a:latin typeface="Calibri"/>
              <a:ea typeface="Calibri"/>
              <a:cs typeface="Calibri"/>
              <a:sym typeface="Calibri"/>
            </a:endParaRPr>
          </a:p>
        </p:txBody>
      </p:sp>
      <p:sp>
        <p:nvSpPr>
          <p:cNvPr id="468" name="Google Shape;468;p20"/>
          <p:cNvSpPr/>
          <p:nvPr/>
        </p:nvSpPr>
        <p:spPr>
          <a:xfrm>
            <a:off x="2944368" y="2450592"/>
            <a:ext cx="563270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Value is deep but context-bound.</a:t>
            </a:r>
            <a:endParaRPr b="0" i="0" sz="1250" u="none" cap="none" strike="noStrike">
              <a:solidFill>
                <a:schemeClr val="dk1"/>
              </a:solidFill>
              <a:latin typeface="Calibri"/>
              <a:ea typeface="Calibri"/>
              <a:cs typeface="Calibri"/>
              <a:sym typeface="Calibri"/>
            </a:endParaRPr>
          </a:p>
        </p:txBody>
      </p:sp>
      <p:sp>
        <p:nvSpPr>
          <p:cNvPr id="469" name="Google Shape;469;p20"/>
          <p:cNvSpPr/>
          <p:nvPr/>
        </p:nvSpPr>
        <p:spPr>
          <a:xfrm>
            <a:off x="566928" y="3017520"/>
            <a:ext cx="2148840"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0" name="Google Shape;470;p20"/>
          <p:cNvSpPr/>
          <p:nvPr/>
        </p:nvSpPr>
        <p:spPr>
          <a:xfrm>
            <a:off x="749808" y="3017520"/>
            <a:ext cx="1828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000"/>
              <a:buFont typeface="Montserrat"/>
              <a:buNone/>
            </a:pPr>
            <a:r>
              <a:rPr b="1" i="0" lang="en-US" sz="1000" u="none" cap="none" strike="noStrike">
                <a:solidFill>
                  <a:srgbClr val="0F2347"/>
                </a:solidFill>
                <a:latin typeface="Montserrat"/>
                <a:ea typeface="Montserrat"/>
                <a:cs typeface="Montserrat"/>
                <a:sym typeface="Montserrat"/>
              </a:rPr>
              <a:t>FRAGILE</a:t>
            </a:r>
            <a:endParaRPr b="0" i="0" sz="1000" u="none" cap="none" strike="noStrike">
              <a:solidFill>
                <a:schemeClr val="dk1"/>
              </a:solidFill>
              <a:latin typeface="Calibri"/>
              <a:ea typeface="Calibri"/>
              <a:cs typeface="Calibri"/>
              <a:sym typeface="Calibri"/>
            </a:endParaRPr>
          </a:p>
        </p:txBody>
      </p:sp>
      <p:sp>
        <p:nvSpPr>
          <p:cNvPr id="471" name="Google Shape;471;p20"/>
          <p:cNvSpPr/>
          <p:nvPr/>
        </p:nvSpPr>
        <p:spPr>
          <a:xfrm>
            <a:off x="2944368" y="3017520"/>
            <a:ext cx="563270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What travels today is no longer being renewed.</a:t>
            </a:r>
            <a:endParaRPr b="0" i="0" sz="1250" u="none" cap="none" strike="noStrike">
              <a:solidFill>
                <a:schemeClr val="dk1"/>
              </a:solidFill>
              <a:latin typeface="Calibri"/>
              <a:ea typeface="Calibri"/>
              <a:cs typeface="Calibri"/>
              <a:sym typeface="Calibri"/>
            </a:endParaRPr>
          </a:p>
        </p:txBody>
      </p:sp>
      <p:sp>
        <p:nvSpPr>
          <p:cNvPr id="472" name="Google Shape;472;p20"/>
          <p:cNvSpPr/>
          <p:nvPr/>
        </p:nvSpPr>
        <p:spPr>
          <a:xfrm>
            <a:off x="566928" y="3584448"/>
            <a:ext cx="2148840"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p20"/>
          <p:cNvSpPr/>
          <p:nvPr/>
        </p:nvSpPr>
        <p:spPr>
          <a:xfrm>
            <a:off x="749808" y="3584448"/>
            <a:ext cx="1828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C9A84C"/>
                </a:solidFill>
                <a:latin typeface="Montserrat"/>
                <a:ea typeface="Montserrat"/>
                <a:cs typeface="Montserrat"/>
                <a:sym typeface="Montserrat"/>
              </a:rPr>
              <a:t>COMPOUNDING</a:t>
            </a:r>
            <a:endParaRPr b="0" i="0" sz="1000" u="none" cap="none" strike="noStrike">
              <a:solidFill>
                <a:schemeClr val="dk1"/>
              </a:solidFill>
              <a:latin typeface="Calibri"/>
              <a:ea typeface="Calibri"/>
              <a:cs typeface="Calibri"/>
              <a:sym typeface="Calibri"/>
            </a:endParaRPr>
          </a:p>
        </p:txBody>
      </p:sp>
      <p:sp>
        <p:nvSpPr>
          <p:cNvPr id="474" name="Google Shape;474;p20"/>
          <p:cNvSpPr/>
          <p:nvPr/>
        </p:nvSpPr>
        <p:spPr>
          <a:xfrm>
            <a:off x="2944368" y="3584448"/>
            <a:ext cx="563270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A strong current position still requires renewal.</a:t>
            </a:r>
            <a:endParaRPr b="0" i="0" sz="1250" u="none" cap="none" strike="noStrike">
              <a:solidFill>
                <a:schemeClr val="dk1"/>
              </a:solidFill>
              <a:latin typeface="Calibri"/>
              <a:ea typeface="Calibri"/>
              <a:cs typeface="Calibri"/>
              <a:sym typeface="Calibri"/>
            </a:endParaRPr>
          </a:p>
        </p:txBody>
      </p:sp>
      <p:sp>
        <p:nvSpPr>
          <p:cNvPr id="475" name="Google Shape;475;p20"/>
          <p:cNvSpPr/>
          <p:nvPr/>
        </p:nvSpPr>
        <p:spPr>
          <a:xfrm>
            <a:off x="566928" y="4224528"/>
            <a:ext cx="8010144" cy="457200"/>
          </a:xfrm>
          <a:prstGeom prst="rect">
            <a:avLst/>
          </a:prstGeom>
          <a:noFill/>
          <a:ln>
            <a:noFill/>
          </a:ln>
        </p:spPr>
        <p:txBody>
          <a:bodyPr anchorCtr="0" anchor="ctr" bIns="0" lIns="0" spcFirstLastPara="1" rIns="0" wrap="square" tIns="0">
            <a:noAutofit/>
          </a:bodyPr>
          <a:lstStyle/>
          <a:p>
            <a:pPr indent="0" lvl="0" marL="0" marR="0" rtl="0" algn="l">
              <a:lnSpc>
                <a:spcPct val="132075"/>
              </a:lnSpc>
              <a:spcBef>
                <a:spcPts val="0"/>
              </a:spcBef>
              <a:spcAft>
                <a:spcPts val="0"/>
              </a:spcAft>
              <a:buClr>
                <a:srgbClr val="5A6B84"/>
              </a:buClr>
              <a:buSzPts val="1060"/>
              <a:buFont typeface="DM Sans"/>
              <a:buNone/>
            </a:pPr>
            <a:r>
              <a:rPr b="0" i="1" lang="en-US" sz="1060" u="none" cap="none" strike="noStrike">
                <a:solidFill>
                  <a:srgbClr val="5A6B84"/>
                </a:solidFill>
                <a:latin typeface="DM Sans"/>
                <a:ea typeface="DM Sans"/>
                <a:cs typeface="DM Sans"/>
                <a:sym typeface="DM Sans"/>
              </a:rPr>
              <a:t>That is the reading this assessment gives you today, and it is complete. Working a square in depth, against a named destination, and rerunning it as conditions change is what continued work adds.</a:t>
            </a:r>
            <a:endParaRPr b="0" i="0" sz="1060" u="none" cap="none" strike="noStrike">
              <a:solidFill>
                <a:schemeClr val="dk1"/>
              </a:solidFill>
              <a:latin typeface="Calibri"/>
              <a:ea typeface="Calibri"/>
              <a:cs typeface="Calibri"/>
              <a:sym typeface="Calibri"/>
            </a:endParaRPr>
          </a:p>
        </p:txBody>
      </p:sp>
      <p:sp>
        <p:nvSpPr>
          <p:cNvPr id="476" name="Google Shape;476;p2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77" name="Google Shape;477;p20"/>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21</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82" name="Shape 482"/>
        <p:cNvGrpSpPr/>
        <p:nvPr/>
      </p:nvGrpSpPr>
      <p:grpSpPr>
        <a:xfrm>
          <a:off x="0" y="0"/>
          <a:ext cx="0" cy="0"/>
          <a:chOff x="0" y="0"/>
          <a:chExt cx="0" cy="0"/>
        </a:xfrm>
      </p:grpSpPr>
      <p:sp>
        <p:nvSpPr>
          <p:cNvPr id="483" name="Google Shape;483;p21"/>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MOVE CATEGORIES</a:t>
            </a:r>
            <a:endParaRPr b="0" i="0" sz="950" u="none" cap="none" strike="noStrike">
              <a:solidFill>
                <a:schemeClr val="dk1"/>
              </a:solidFill>
              <a:latin typeface="Calibri"/>
              <a:ea typeface="Calibri"/>
              <a:cs typeface="Calibri"/>
              <a:sym typeface="Calibri"/>
            </a:endParaRPr>
          </a:p>
        </p:txBody>
      </p:sp>
      <p:sp>
        <p:nvSpPr>
          <p:cNvPr id="484" name="Google Shape;484;p2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Seven categories of move</a:t>
            </a:r>
            <a:endParaRPr b="0" i="0" sz="3000" u="none" cap="none" strike="noStrike">
              <a:solidFill>
                <a:schemeClr val="dk1"/>
              </a:solidFill>
              <a:latin typeface="Calibri"/>
              <a:ea typeface="Calibri"/>
              <a:cs typeface="Calibri"/>
              <a:sym typeface="Calibri"/>
            </a:endParaRPr>
          </a:p>
        </p:txBody>
      </p:sp>
      <p:sp>
        <p:nvSpPr>
          <p:cNvPr id="485" name="Google Shape;485;p21"/>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Direction, not a plan. Your evidence helps you choose which category to test.</a:t>
            </a:r>
            <a:endParaRPr b="0" i="0" sz="1150" u="none" cap="none" strike="noStrike">
              <a:solidFill>
                <a:schemeClr val="dk1"/>
              </a:solidFill>
              <a:latin typeface="Calibri"/>
              <a:ea typeface="Calibri"/>
              <a:cs typeface="Calibri"/>
              <a:sym typeface="Calibri"/>
            </a:endParaRPr>
          </a:p>
        </p:txBody>
      </p:sp>
      <p:sp>
        <p:nvSpPr>
          <p:cNvPr id="486" name="Google Shape;486;p21"/>
          <p:cNvSpPr/>
          <p:nvPr/>
        </p:nvSpPr>
        <p:spPr>
          <a:xfrm>
            <a:off x="566928" y="17739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7" name="Google Shape;487;p21"/>
          <p:cNvSpPr/>
          <p:nvPr/>
        </p:nvSpPr>
        <p:spPr>
          <a:xfrm>
            <a:off x="566928" y="177393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1</a:t>
            </a:r>
            <a:endParaRPr b="0" i="0" sz="950" u="none" cap="none" strike="noStrike">
              <a:solidFill>
                <a:schemeClr val="dk1"/>
              </a:solidFill>
              <a:latin typeface="Calibri"/>
              <a:ea typeface="Calibri"/>
              <a:cs typeface="Calibri"/>
              <a:sym typeface="Calibri"/>
            </a:endParaRPr>
          </a:p>
        </p:txBody>
      </p:sp>
      <p:sp>
        <p:nvSpPr>
          <p:cNvPr id="488" name="Google Shape;488;p21"/>
          <p:cNvSpPr/>
          <p:nvPr/>
        </p:nvSpPr>
        <p:spPr>
          <a:xfrm>
            <a:off x="987552" y="175564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Remain and deepen</a:t>
            </a:r>
            <a:endParaRPr b="0" i="0" sz="1160" u="none" cap="none" strike="noStrike">
              <a:solidFill>
                <a:schemeClr val="dk1"/>
              </a:solidFill>
              <a:latin typeface="Calibri"/>
              <a:ea typeface="Calibri"/>
              <a:cs typeface="Calibri"/>
              <a:sym typeface="Calibri"/>
            </a:endParaRPr>
          </a:p>
        </p:txBody>
      </p:sp>
      <p:sp>
        <p:nvSpPr>
          <p:cNvPr id="489" name="Google Shape;489;p21"/>
          <p:cNvSpPr/>
          <p:nvPr/>
        </p:nvSpPr>
        <p:spPr>
          <a:xfrm>
            <a:off x="3566160" y="175564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The formation conditions are real and worth protecting.</a:t>
            </a:r>
            <a:endParaRPr b="0" i="0" sz="1060" u="none" cap="none" strike="noStrike">
              <a:solidFill>
                <a:schemeClr val="dk1"/>
              </a:solidFill>
              <a:latin typeface="Calibri"/>
              <a:ea typeface="Calibri"/>
              <a:cs typeface="Calibri"/>
              <a:sym typeface="Calibri"/>
            </a:endParaRPr>
          </a:p>
        </p:txBody>
      </p:sp>
      <p:sp>
        <p:nvSpPr>
          <p:cNvPr id="490" name="Google Shape;490;p21"/>
          <p:cNvSpPr/>
          <p:nvPr/>
        </p:nvSpPr>
        <p:spPr>
          <a:xfrm>
            <a:off x="566928" y="21396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1" name="Google Shape;491;p21"/>
          <p:cNvSpPr/>
          <p:nvPr/>
        </p:nvSpPr>
        <p:spPr>
          <a:xfrm>
            <a:off x="566928" y="213969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2</a:t>
            </a:r>
            <a:endParaRPr b="0" i="0" sz="950" u="none" cap="none" strike="noStrike">
              <a:solidFill>
                <a:schemeClr val="dk1"/>
              </a:solidFill>
              <a:latin typeface="Calibri"/>
              <a:ea typeface="Calibri"/>
              <a:cs typeface="Calibri"/>
              <a:sym typeface="Calibri"/>
            </a:endParaRPr>
          </a:p>
        </p:txBody>
      </p:sp>
      <p:sp>
        <p:nvSpPr>
          <p:cNvPr id="492" name="Google Shape;492;p21"/>
          <p:cNvSpPr/>
          <p:nvPr/>
        </p:nvSpPr>
        <p:spPr>
          <a:xfrm>
            <a:off x="987552" y="212140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Translate what is built</a:t>
            </a:r>
            <a:endParaRPr b="0" i="0" sz="1160" u="none" cap="none" strike="noStrike">
              <a:solidFill>
                <a:schemeClr val="dk1"/>
              </a:solidFill>
              <a:latin typeface="Calibri"/>
              <a:ea typeface="Calibri"/>
              <a:cs typeface="Calibri"/>
              <a:sym typeface="Calibri"/>
            </a:endParaRPr>
          </a:p>
        </p:txBody>
      </p:sp>
      <p:sp>
        <p:nvSpPr>
          <p:cNvPr id="493" name="Google Shape;493;p21"/>
          <p:cNvSpPr/>
          <p:nvPr/>
        </p:nvSpPr>
        <p:spPr>
          <a:xfrm>
            <a:off x="3566160" y="212140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The capability exists. The evidence for it is not yet legible outside.</a:t>
            </a:r>
            <a:endParaRPr b="0" i="0" sz="1060" u="none" cap="none" strike="noStrike">
              <a:solidFill>
                <a:schemeClr val="dk1"/>
              </a:solidFill>
              <a:latin typeface="Calibri"/>
              <a:ea typeface="Calibri"/>
              <a:cs typeface="Calibri"/>
              <a:sym typeface="Calibri"/>
            </a:endParaRPr>
          </a:p>
        </p:txBody>
      </p:sp>
      <p:sp>
        <p:nvSpPr>
          <p:cNvPr id="494" name="Google Shape;494;p21"/>
          <p:cNvSpPr/>
          <p:nvPr/>
        </p:nvSpPr>
        <p:spPr>
          <a:xfrm>
            <a:off x="566928" y="250545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5" name="Google Shape;495;p21"/>
          <p:cNvSpPr/>
          <p:nvPr/>
        </p:nvSpPr>
        <p:spPr>
          <a:xfrm>
            <a:off x="566928" y="250545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496" name="Google Shape;496;p21"/>
          <p:cNvSpPr/>
          <p:nvPr/>
        </p:nvSpPr>
        <p:spPr>
          <a:xfrm>
            <a:off x="987552" y="248716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Widen exposure</a:t>
            </a:r>
            <a:endParaRPr b="0" i="0" sz="1160" u="none" cap="none" strike="noStrike">
              <a:solidFill>
                <a:schemeClr val="dk1"/>
              </a:solidFill>
              <a:latin typeface="Calibri"/>
              <a:ea typeface="Calibri"/>
              <a:cs typeface="Calibri"/>
              <a:sym typeface="Calibri"/>
            </a:endParaRPr>
          </a:p>
        </p:txBody>
      </p:sp>
      <p:sp>
        <p:nvSpPr>
          <p:cNvPr id="497" name="Google Shape;497;p21"/>
          <p:cNvSpPr/>
          <p:nvPr/>
        </p:nvSpPr>
        <p:spPr>
          <a:xfrm>
            <a:off x="3566160" y="248716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Reach people who can evaluate or use it. Visibility is not evidence.</a:t>
            </a:r>
            <a:endParaRPr b="0" i="0" sz="1060" u="none" cap="none" strike="noStrike">
              <a:solidFill>
                <a:schemeClr val="dk1"/>
              </a:solidFill>
              <a:latin typeface="Calibri"/>
              <a:ea typeface="Calibri"/>
              <a:cs typeface="Calibri"/>
              <a:sym typeface="Calibri"/>
            </a:endParaRPr>
          </a:p>
        </p:txBody>
      </p:sp>
      <p:sp>
        <p:nvSpPr>
          <p:cNvPr id="498" name="Google Shape;498;p21"/>
          <p:cNvSpPr/>
          <p:nvPr/>
        </p:nvSpPr>
        <p:spPr>
          <a:xfrm>
            <a:off x="566928" y="287121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9" name="Google Shape;499;p21"/>
          <p:cNvSpPr/>
          <p:nvPr/>
        </p:nvSpPr>
        <p:spPr>
          <a:xfrm>
            <a:off x="566928" y="287121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4</a:t>
            </a:r>
            <a:endParaRPr b="0" i="0" sz="950" u="none" cap="none" strike="noStrike">
              <a:solidFill>
                <a:schemeClr val="dk1"/>
              </a:solidFill>
              <a:latin typeface="Calibri"/>
              <a:ea typeface="Calibri"/>
              <a:cs typeface="Calibri"/>
              <a:sym typeface="Calibri"/>
            </a:endParaRPr>
          </a:p>
        </p:txBody>
      </p:sp>
      <p:sp>
        <p:nvSpPr>
          <p:cNvPr id="500" name="Google Shape;500;p21"/>
          <p:cNvSpPr/>
          <p:nvPr/>
        </p:nvSpPr>
        <p:spPr>
          <a:xfrm>
            <a:off x="987552" y="285292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Test portability</a:t>
            </a:r>
            <a:endParaRPr b="0" i="0" sz="1160" u="none" cap="none" strike="noStrike">
              <a:solidFill>
                <a:schemeClr val="dk1"/>
              </a:solidFill>
              <a:latin typeface="Calibri"/>
              <a:ea typeface="Calibri"/>
              <a:cs typeface="Calibri"/>
              <a:sym typeface="Calibri"/>
            </a:endParaRPr>
          </a:p>
        </p:txBody>
      </p:sp>
      <p:sp>
        <p:nvSpPr>
          <p:cNvPr id="501" name="Google Shape;501;p21"/>
          <p:cNvSpPr/>
          <p:nvPr/>
        </p:nvSpPr>
        <p:spPr>
          <a:xfrm>
            <a:off x="3566160" y="285292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Find out what travels before you need it to.</a:t>
            </a:r>
            <a:endParaRPr b="0" i="0" sz="1060" u="none" cap="none" strike="noStrike">
              <a:solidFill>
                <a:schemeClr val="dk1"/>
              </a:solidFill>
              <a:latin typeface="Calibri"/>
              <a:ea typeface="Calibri"/>
              <a:cs typeface="Calibri"/>
              <a:sym typeface="Calibri"/>
            </a:endParaRPr>
          </a:p>
        </p:txBody>
      </p:sp>
      <p:sp>
        <p:nvSpPr>
          <p:cNvPr id="502" name="Google Shape;502;p21"/>
          <p:cNvSpPr/>
          <p:nvPr/>
        </p:nvSpPr>
        <p:spPr>
          <a:xfrm>
            <a:off x="566928" y="32369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3" name="Google Shape;503;p21"/>
          <p:cNvSpPr/>
          <p:nvPr/>
        </p:nvSpPr>
        <p:spPr>
          <a:xfrm>
            <a:off x="566928" y="323697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5</a:t>
            </a:r>
            <a:endParaRPr b="0" i="0" sz="950" u="none" cap="none" strike="noStrike">
              <a:solidFill>
                <a:schemeClr val="dk1"/>
              </a:solidFill>
              <a:latin typeface="Calibri"/>
              <a:ea typeface="Calibri"/>
              <a:cs typeface="Calibri"/>
              <a:sym typeface="Calibri"/>
            </a:endParaRPr>
          </a:p>
        </p:txBody>
      </p:sp>
      <p:sp>
        <p:nvSpPr>
          <p:cNvPr id="504" name="Google Shape;504;p21"/>
          <p:cNvSpPr/>
          <p:nvPr/>
        </p:nvSpPr>
        <p:spPr>
          <a:xfrm>
            <a:off x="987552" y="321868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Repair formation conditions</a:t>
            </a:r>
            <a:endParaRPr b="0" i="0" sz="1160" u="none" cap="none" strike="noStrike">
              <a:solidFill>
                <a:schemeClr val="dk1"/>
              </a:solidFill>
              <a:latin typeface="Calibri"/>
              <a:ea typeface="Calibri"/>
              <a:cs typeface="Calibri"/>
              <a:sym typeface="Calibri"/>
            </a:endParaRPr>
          </a:p>
        </p:txBody>
      </p:sp>
      <p:sp>
        <p:nvSpPr>
          <p:cNvPr id="505" name="Google Shape;505;p21"/>
          <p:cNvSpPr/>
          <p:nvPr/>
        </p:nvSpPr>
        <p:spPr>
          <a:xfrm>
            <a:off x="3566160" y="321868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Test whether changing the work or conditions could repair the problem.</a:t>
            </a:r>
            <a:endParaRPr b="0" i="0" sz="1060" u="none" cap="none" strike="noStrike">
              <a:solidFill>
                <a:schemeClr val="dk1"/>
              </a:solidFill>
              <a:latin typeface="Calibri"/>
              <a:ea typeface="Calibri"/>
              <a:cs typeface="Calibri"/>
              <a:sym typeface="Calibri"/>
            </a:endParaRPr>
          </a:p>
        </p:txBody>
      </p:sp>
      <p:sp>
        <p:nvSpPr>
          <p:cNvPr id="506" name="Google Shape;506;p21"/>
          <p:cNvSpPr/>
          <p:nvPr/>
        </p:nvSpPr>
        <p:spPr>
          <a:xfrm>
            <a:off x="566928" y="36027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7" name="Google Shape;507;p21"/>
          <p:cNvSpPr/>
          <p:nvPr/>
        </p:nvSpPr>
        <p:spPr>
          <a:xfrm>
            <a:off x="566928" y="360273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6</a:t>
            </a:r>
            <a:endParaRPr b="0" i="0" sz="950" u="none" cap="none" strike="noStrike">
              <a:solidFill>
                <a:schemeClr val="dk1"/>
              </a:solidFill>
              <a:latin typeface="Calibri"/>
              <a:ea typeface="Calibri"/>
              <a:cs typeface="Calibri"/>
              <a:sym typeface="Calibri"/>
            </a:endParaRPr>
          </a:p>
        </p:txBody>
      </p:sp>
      <p:sp>
        <p:nvSpPr>
          <p:cNvPr id="508" name="Google Shape;508;p21"/>
          <p:cNvSpPr/>
          <p:nvPr/>
        </p:nvSpPr>
        <p:spPr>
          <a:xfrm>
            <a:off x="987552" y="358444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Prepare for exit</a:t>
            </a:r>
            <a:endParaRPr b="0" i="0" sz="1160" u="none" cap="none" strike="noStrike">
              <a:solidFill>
                <a:schemeClr val="dk1"/>
              </a:solidFill>
              <a:latin typeface="Calibri"/>
              <a:ea typeface="Calibri"/>
              <a:cs typeface="Calibri"/>
              <a:sym typeface="Calibri"/>
            </a:endParaRPr>
          </a:p>
        </p:txBody>
      </p:sp>
      <p:sp>
        <p:nvSpPr>
          <p:cNvPr id="509" name="Google Shape;509;p21"/>
          <p:cNvSpPr/>
          <p:nvPr/>
        </p:nvSpPr>
        <p:spPr>
          <a:xfrm>
            <a:off x="3566160" y="358444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Your evidence gives you reason to prepare in case the conditions do not repair.</a:t>
            </a:r>
            <a:endParaRPr b="0" i="0" sz="1060" u="none" cap="none" strike="noStrike">
              <a:solidFill>
                <a:schemeClr val="dk1"/>
              </a:solidFill>
              <a:latin typeface="Calibri"/>
              <a:ea typeface="Calibri"/>
              <a:cs typeface="Calibri"/>
              <a:sym typeface="Calibri"/>
            </a:endParaRPr>
          </a:p>
        </p:txBody>
      </p:sp>
      <p:sp>
        <p:nvSpPr>
          <p:cNvPr id="510" name="Google Shape;510;p21"/>
          <p:cNvSpPr/>
          <p:nvPr/>
        </p:nvSpPr>
        <p:spPr>
          <a:xfrm>
            <a:off x="566928" y="39684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1" name="Google Shape;511;p21"/>
          <p:cNvSpPr/>
          <p:nvPr/>
        </p:nvSpPr>
        <p:spPr>
          <a:xfrm>
            <a:off x="566928" y="396849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7</a:t>
            </a:r>
            <a:endParaRPr b="0" i="0" sz="950" u="none" cap="none" strike="noStrike">
              <a:solidFill>
                <a:schemeClr val="dk1"/>
              </a:solidFill>
              <a:latin typeface="Calibri"/>
              <a:ea typeface="Calibri"/>
              <a:cs typeface="Calibri"/>
              <a:sym typeface="Calibri"/>
            </a:endParaRPr>
          </a:p>
        </p:txBody>
      </p:sp>
      <p:sp>
        <p:nvSpPr>
          <p:cNvPr id="512" name="Google Shape;512;p21"/>
          <p:cNvSpPr/>
          <p:nvPr/>
        </p:nvSpPr>
        <p:spPr>
          <a:xfrm>
            <a:off x="987552" y="3950208"/>
            <a:ext cx="243230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1" i="0" lang="en-US" sz="1160" u="none" cap="none" strike="noStrike">
                <a:solidFill>
                  <a:srgbClr val="0F2347"/>
                </a:solidFill>
                <a:latin typeface="DM Sans"/>
                <a:ea typeface="DM Sans"/>
                <a:cs typeface="DM Sans"/>
                <a:sym typeface="DM Sans"/>
              </a:rPr>
              <a:t>Seek an external perspective</a:t>
            </a:r>
            <a:endParaRPr b="0" i="0" sz="1160" u="none" cap="none" strike="noStrike">
              <a:solidFill>
                <a:schemeClr val="dk1"/>
              </a:solidFill>
              <a:latin typeface="Calibri"/>
              <a:ea typeface="Calibri"/>
              <a:cs typeface="Calibri"/>
              <a:sym typeface="Calibri"/>
            </a:endParaRPr>
          </a:p>
        </p:txBody>
      </p:sp>
      <p:sp>
        <p:nvSpPr>
          <p:cNvPr id="513" name="Google Shape;513;p21"/>
          <p:cNvSpPr/>
          <p:nvPr/>
        </p:nvSpPr>
        <p:spPr>
          <a:xfrm>
            <a:off x="3566160" y="3950208"/>
            <a:ext cx="5010912"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60"/>
              <a:buFont typeface="DM Sans"/>
              <a:buNone/>
            </a:pPr>
            <a:r>
              <a:rPr b="0" i="0" lang="en-US" sz="1060" u="none" cap="none" strike="noStrike">
                <a:solidFill>
                  <a:srgbClr val="5A6B84"/>
                </a:solidFill>
                <a:latin typeface="DM Sans"/>
                <a:ea typeface="DM Sans"/>
                <a:cs typeface="DM Sans"/>
                <a:sym typeface="DM Sans"/>
              </a:rPr>
              <a:t>High stakes, incomplete evidence, or a boundary position.</a:t>
            </a:r>
            <a:endParaRPr b="0" i="0" sz="1060" u="none" cap="none" strike="noStrike">
              <a:solidFill>
                <a:schemeClr val="dk1"/>
              </a:solidFill>
              <a:latin typeface="Calibri"/>
              <a:ea typeface="Calibri"/>
              <a:cs typeface="Calibri"/>
              <a:sym typeface="Calibri"/>
            </a:endParaRPr>
          </a:p>
        </p:txBody>
      </p:sp>
      <p:sp>
        <p:nvSpPr>
          <p:cNvPr id="514" name="Google Shape;514;p21"/>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100"/>
              <a:buFont typeface="DM Sans"/>
              <a:buNone/>
            </a:pPr>
            <a:r>
              <a:rPr b="1" i="0" lang="en-US" sz="1100" u="none" cap="none" strike="noStrike">
                <a:solidFill>
                  <a:srgbClr val="C1440E"/>
                </a:solidFill>
                <a:latin typeface="DM Sans"/>
                <a:ea typeface="DM Sans"/>
                <a:cs typeface="DM Sans"/>
                <a:sym typeface="DM Sans"/>
              </a:rPr>
              <a:t>No square prescribes a category. Your evidence and constraints still apply.</a:t>
            </a:r>
            <a:endParaRPr b="0" i="0" sz="1100" u="none" cap="none" strike="noStrike">
              <a:solidFill>
                <a:schemeClr val="dk1"/>
              </a:solidFill>
              <a:latin typeface="Calibri"/>
              <a:ea typeface="Calibri"/>
              <a:cs typeface="Calibri"/>
              <a:sym typeface="Calibri"/>
            </a:endParaRPr>
          </a:p>
        </p:txBody>
      </p:sp>
      <p:sp>
        <p:nvSpPr>
          <p:cNvPr id="515" name="Google Shape;515;p2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516" name="Google Shape;516;p21"/>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21" name="Shape 521"/>
        <p:cNvGrpSpPr/>
        <p:nvPr/>
      </p:nvGrpSpPr>
      <p:grpSpPr>
        <a:xfrm>
          <a:off x="0" y="0"/>
          <a:ext cx="0" cy="0"/>
          <a:chOff x="0" y="0"/>
          <a:chExt cx="0" cy="0"/>
        </a:xfrm>
      </p:grpSpPr>
      <p:sp>
        <p:nvSpPr>
          <p:cNvPr id="522" name="Google Shape;522;p2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THE ARTIFACT</a:t>
            </a:r>
            <a:endParaRPr b="0" i="0" sz="950" u="none" cap="none" strike="noStrike">
              <a:solidFill>
                <a:schemeClr val="dk1"/>
              </a:solidFill>
              <a:latin typeface="Calibri"/>
              <a:ea typeface="Calibri"/>
              <a:cs typeface="Calibri"/>
              <a:sym typeface="Calibri"/>
            </a:endParaRPr>
          </a:p>
        </p:txBody>
      </p:sp>
      <p:sp>
        <p:nvSpPr>
          <p:cNvPr id="523" name="Google Shape;523;p22"/>
          <p:cNvSpPr/>
          <p:nvPr/>
        </p:nvSpPr>
        <p:spPr>
          <a:xfrm>
            <a:off x="566928" y="603504"/>
            <a:ext cx="8010144" cy="585216"/>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i="0" lang="en-US" sz="3200" u="none" cap="none" strike="noStrike">
                <a:solidFill>
                  <a:srgbClr val="0F2347"/>
                </a:solidFill>
                <a:latin typeface="Cormorant Garamond"/>
                <a:ea typeface="Cormorant Garamond"/>
                <a:cs typeface="Cormorant Garamond"/>
                <a:sym typeface="Cormorant Garamond"/>
              </a:rPr>
              <a:t>The Next-Move Note</a:t>
            </a:r>
            <a:endParaRPr b="0" i="0" sz="3200" u="none" cap="none" strike="noStrike">
              <a:solidFill>
                <a:schemeClr val="dk1"/>
              </a:solidFill>
              <a:latin typeface="Calibri"/>
              <a:ea typeface="Calibri"/>
              <a:cs typeface="Calibri"/>
              <a:sym typeface="Calibri"/>
            </a:endParaRPr>
          </a:p>
        </p:txBody>
      </p:sp>
      <p:sp>
        <p:nvSpPr>
          <p:cNvPr id="524" name="Google Shape;524;p22"/>
          <p:cNvSpPr/>
          <p:nvPr/>
        </p:nvSpPr>
        <p:spPr>
          <a:xfrm>
            <a:off x="566928" y="1207008"/>
            <a:ext cx="801014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Three lines. Yours, private, and enough to act on.</a:t>
            </a:r>
            <a:endParaRPr b="0" i="0" sz="1150" u="none" cap="none" strike="noStrike">
              <a:solidFill>
                <a:schemeClr val="dk1"/>
              </a:solidFill>
              <a:latin typeface="Calibri"/>
              <a:ea typeface="Calibri"/>
              <a:cs typeface="Calibri"/>
              <a:sym typeface="Calibri"/>
            </a:endParaRPr>
          </a:p>
        </p:txBody>
      </p:sp>
      <p:sp>
        <p:nvSpPr>
          <p:cNvPr id="525" name="Google Shape;525;p22"/>
          <p:cNvSpPr/>
          <p:nvPr/>
        </p:nvSpPr>
        <p:spPr>
          <a:xfrm>
            <a:off x="566928" y="1828800"/>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6" name="Google Shape;526;p22"/>
          <p:cNvSpPr/>
          <p:nvPr/>
        </p:nvSpPr>
        <p:spPr>
          <a:xfrm>
            <a:off x="566928" y="1828800"/>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7" name="Google Shape;527;p22"/>
          <p:cNvSpPr/>
          <p:nvPr/>
        </p:nvSpPr>
        <p:spPr>
          <a:xfrm>
            <a:off x="786384" y="1901952"/>
            <a:ext cx="7571232"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20"/>
              <a:buFont typeface="Montserrat"/>
              <a:buNone/>
            </a:pPr>
            <a:r>
              <a:rPr b="1" i="0" lang="en-US" sz="820" u="none" cap="none" strike="noStrike">
                <a:solidFill>
                  <a:srgbClr val="0F2347"/>
                </a:solidFill>
                <a:latin typeface="Montserrat"/>
                <a:ea typeface="Montserrat"/>
                <a:cs typeface="Montserrat"/>
                <a:sym typeface="Montserrat"/>
              </a:rPr>
              <a:t>MY CURRENT READ</a:t>
            </a:r>
            <a:endParaRPr b="0" i="0" sz="820" u="none" cap="none" strike="noStrike">
              <a:solidFill>
                <a:schemeClr val="dk1"/>
              </a:solidFill>
              <a:latin typeface="Calibri"/>
              <a:ea typeface="Calibri"/>
              <a:cs typeface="Calibri"/>
              <a:sym typeface="Calibri"/>
            </a:endParaRPr>
          </a:p>
        </p:txBody>
      </p:sp>
      <p:sp>
        <p:nvSpPr>
          <p:cNvPr id="528" name="Google Shape;528;p22"/>
          <p:cNvSpPr/>
          <p:nvPr/>
        </p:nvSpPr>
        <p:spPr>
          <a:xfrm>
            <a:off x="786384" y="2103120"/>
            <a:ext cx="49377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My position appears to be:</a:t>
            </a:r>
            <a:endParaRPr b="0" i="0" sz="1140" u="none" cap="none" strike="noStrike">
              <a:solidFill>
                <a:schemeClr val="dk1"/>
              </a:solidFill>
              <a:latin typeface="Calibri"/>
              <a:ea typeface="Calibri"/>
              <a:cs typeface="Calibri"/>
              <a:sym typeface="Calibri"/>
            </a:endParaRPr>
          </a:p>
        </p:txBody>
      </p:sp>
      <p:sp>
        <p:nvSpPr>
          <p:cNvPr id="529" name="Google Shape;529;p22"/>
          <p:cNvSpPr/>
          <p:nvPr/>
        </p:nvSpPr>
        <p:spPr>
          <a:xfrm>
            <a:off x="786384" y="2304288"/>
            <a:ext cx="49377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880"/>
              <a:buFont typeface="DM Sans"/>
              <a:buNone/>
            </a:pPr>
            <a:r>
              <a:rPr b="0" i="1" lang="en-US" sz="880" u="none" cap="none" strike="noStrike">
                <a:solidFill>
                  <a:srgbClr val="5A6B84"/>
                </a:solidFill>
                <a:latin typeface="DM Sans"/>
                <a:ea typeface="DM Sans"/>
                <a:cs typeface="DM Sans"/>
                <a:sym typeface="DM Sans"/>
              </a:rPr>
              <a:t>State  /  boundary  /  incomplete</a:t>
            </a:r>
            <a:endParaRPr b="0" i="0" sz="880" u="none" cap="none" strike="noStrike">
              <a:solidFill>
                <a:schemeClr val="dk1"/>
              </a:solidFill>
              <a:latin typeface="Calibri"/>
              <a:ea typeface="Calibri"/>
              <a:cs typeface="Calibri"/>
              <a:sym typeface="Calibri"/>
            </a:endParaRPr>
          </a:p>
        </p:txBody>
      </p:sp>
      <p:sp>
        <p:nvSpPr>
          <p:cNvPr id="530" name="Google Shape;530;p22"/>
          <p:cNvSpPr/>
          <p:nvPr/>
        </p:nvSpPr>
        <p:spPr>
          <a:xfrm>
            <a:off x="5577840" y="2103120"/>
            <a:ext cx="2999232"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300"/>
              <a:buFont typeface="DM Sans"/>
              <a:buNone/>
            </a:pPr>
            <a:r>
              <a:rPr b="0" i="0" lang="en-US" sz="1300" u="none" cap="none" strike="noStrike">
                <a:solidFill>
                  <a:srgbClr val="5A6B84"/>
                </a:solidFill>
                <a:latin typeface="DM Sans"/>
                <a:ea typeface="DM Sans"/>
                <a:cs typeface="DM Sans"/>
                <a:sym typeface="DM Sans"/>
              </a:rPr>
              <a:t>____________________</a:t>
            </a:r>
            <a:endParaRPr b="0" i="0" sz="1300" u="none" cap="none" strike="noStrike">
              <a:solidFill>
                <a:schemeClr val="dk1"/>
              </a:solidFill>
              <a:latin typeface="Calibri"/>
              <a:ea typeface="Calibri"/>
              <a:cs typeface="Calibri"/>
              <a:sym typeface="Calibri"/>
            </a:endParaRPr>
          </a:p>
        </p:txBody>
      </p:sp>
      <p:sp>
        <p:nvSpPr>
          <p:cNvPr id="531" name="Google Shape;531;p22"/>
          <p:cNvSpPr/>
          <p:nvPr/>
        </p:nvSpPr>
        <p:spPr>
          <a:xfrm>
            <a:off x="566928" y="2542032"/>
            <a:ext cx="8010144" cy="65836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2" name="Google Shape;532;p22"/>
          <p:cNvSpPr/>
          <p:nvPr/>
        </p:nvSpPr>
        <p:spPr>
          <a:xfrm>
            <a:off x="566928" y="2542032"/>
            <a:ext cx="41148" cy="65836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3" name="Google Shape;533;p22"/>
          <p:cNvSpPr/>
          <p:nvPr/>
        </p:nvSpPr>
        <p:spPr>
          <a:xfrm>
            <a:off x="786384" y="2615184"/>
            <a:ext cx="7571232"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20"/>
              <a:buFont typeface="Montserrat"/>
              <a:buNone/>
            </a:pPr>
            <a:r>
              <a:rPr b="1" i="0" lang="en-US" sz="820" u="none" cap="none" strike="noStrike">
                <a:solidFill>
                  <a:srgbClr val="0F2347"/>
                </a:solidFill>
                <a:latin typeface="Montserrat"/>
                <a:ea typeface="Montserrat"/>
                <a:cs typeface="Montserrat"/>
                <a:sym typeface="Montserrat"/>
              </a:rPr>
              <a:t>WHAT I NEED TO TEST</a:t>
            </a:r>
            <a:endParaRPr b="0" i="0" sz="820" u="none" cap="none" strike="noStrike">
              <a:solidFill>
                <a:schemeClr val="dk1"/>
              </a:solidFill>
              <a:latin typeface="Calibri"/>
              <a:ea typeface="Calibri"/>
              <a:cs typeface="Calibri"/>
              <a:sym typeface="Calibri"/>
            </a:endParaRPr>
          </a:p>
        </p:txBody>
      </p:sp>
      <p:sp>
        <p:nvSpPr>
          <p:cNvPr id="534" name="Google Shape;534;p22"/>
          <p:cNvSpPr/>
          <p:nvPr/>
        </p:nvSpPr>
        <p:spPr>
          <a:xfrm>
            <a:off x="786384" y="2816352"/>
            <a:ext cx="49377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The category of move my evidence supports testing is:</a:t>
            </a:r>
            <a:endParaRPr b="0" i="0" sz="1140" u="none" cap="none" strike="noStrike">
              <a:solidFill>
                <a:schemeClr val="dk1"/>
              </a:solidFill>
              <a:latin typeface="Calibri"/>
              <a:ea typeface="Calibri"/>
              <a:cs typeface="Calibri"/>
              <a:sym typeface="Calibri"/>
            </a:endParaRPr>
          </a:p>
        </p:txBody>
      </p:sp>
      <p:sp>
        <p:nvSpPr>
          <p:cNvPr id="535" name="Google Shape;535;p22"/>
          <p:cNvSpPr/>
          <p:nvPr/>
        </p:nvSpPr>
        <p:spPr>
          <a:xfrm>
            <a:off x="786384" y="3017520"/>
            <a:ext cx="49377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880"/>
              <a:buFont typeface="DM Sans"/>
              <a:buNone/>
            </a:pPr>
            <a:r>
              <a:rPr b="0" i="1" lang="en-US" sz="880" u="none" cap="none" strike="noStrike">
                <a:solidFill>
                  <a:srgbClr val="5A6B84"/>
                </a:solidFill>
                <a:latin typeface="DM Sans"/>
                <a:ea typeface="DM Sans"/>
                <a:cs typeface="DM Sans"/>
                <a:sym typeface="DM Sans"/>
              </a:rPr>
              <a:t>One of the seven categories.</a:t>
            </a:r>
            <a:endParaRPr b="0" i="0" sz="880" u="none" cap="none" strike="noStrike">
              <a:solidFill>
                <a:schemeClr val="dk1"/>
              </a:solidFill>
              <a:latin typeface="Calibri"/>
              <a:ea typeface="Calibri"/>
              <a:cs typeface="Calibri"/>
              <a:sym typeface="Calibri"/>
            </a:endParaRPr>
          </a:p>
        </p:txBody>
      </p:sp>
      <p:sp>
        <p:nvSpPr>
          <p:cNvPr id="536" name="Google Shape;536;p22"/>
          <p:cNvSpPr/>
          <p:nvPr/>
        </p:nvSpPr>
        <p:spPr>
          <a:xfrm>
            <a:off x="5577840" y="2816352"/>
            <a:ext cx="2999232"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300"/>
              <a:buFont typeface="DM Sans"/>
              <a:buNone/>
            </a:pPr>
            <a:r>
              <a:rPr b="0" i="0" lang="en-US" sz="1300" u="none" cap="none" strike="noStrike">
                <a:solidFill>
                  <a:srgbClr val="5A6B84"/>
                </a:solidFill>
                <a:latin typeface="DM Sans"/>
                <a:ea typeface="DM Sans"/>
                <a:cs typeface="DM Sans"/>
                <a:sym typeface="DM Sans"/>
              </a:rPr>
              <a:t>____________________</a:t>
            </a:r>
            <a:endParaRPr b="0" i="0" sz="1300" u="none" cap="none" strike="noStrike">
              <a:solidFill>
                <a:schemeClr val="dk1"/>
              </a:solidFill>
              <a:latin typeface="Calibri"/>
              <a:ea typeface="Calibri"/>
              <a:cs typeface="Calibri"/>
              <a:sym typeface="Calibri"/>
            </a:endParaRPr>
          </a:p>
        </p:txBody>
      </p:sp>
      <p:sp>
        <p:nvSpPr>
          <p:cNvPr id="537" name="Google Shape;537;p22"/>
          <p:cNvSpPr/>
          <p:nvPr/>
        </p:nvSpPr>
        <p:spPr>
          <a:xfrm>
            <a:off x="566928" y="3255264"/>
            <a:ext cx="8010144" cy="969264"/>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8" name="Google Shape;538;p22"/>
          <p:cNvSpPr/>
          <p:nvPr/>
        </p:nvSpPr>
        <p:spPr>
          <a:xfrm>
            <a:off x="566928" y="3255264"/>
            <a:ext cx="41148" cy="969264"/>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9" name="Google Shape;539;p22"/>
          <p:cNvSpPr/>
          <p:nvPr/>
        </p:nvSpPr>
        <p:spPr>
          <a:xfrm>
            <a:off x="786384" y="3328416"/>
            <a:ext cx="7571232"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20"/>
              <a:buFont typeface="Montserrat"/>
              <a:buNone/>
            </a:pPr>
            <a:r>
              <a:rPr b="1" i="0" lang="en-US" sz="820" u="none" cap="none" strike="noStrike">
                <a:solidFill>
                  <a:srgbClr val="0F2347"/>
                </a:solidFill>
                <a:latin typeface="Montserrat"/>
                <a:ea typeface="Montserrat"/>
                <a:cs typeface="Montserrat"/>
                <a:sym typeface="Montserrat"/>
              </a:rPr>
              <a:t>WHAT HAPPENS NEXT</a:t>
            </a:r>
            <a:endParaRPr b="0" i="0" sz="820" u="none" cap="none" strike="noStrike">
              <a:solidFill>
                <a:schemeClr val="dk1"/>
              </a:solidFill>
              <a:latin typeface="Calibri"/>
              <a:ea typeface="Calibri"/>
              <a:cs typeface="Calibri"/>
              <a:sym typeface="Calibri"/>
            </a:endParaRPr>
          </a:p>
        </p:txBody>
      </p:sp>
      <p:sp>
        <p:nvSpPr>
          <p:cNvPr id="540" name="Google Shape;540;p22"/>
          <p:cNvSpPr/>
          <p:nvPr/>
        </p:nvSpPr>
        <p:spPr>
          <a:xfrm>
            <a:off x="786384" y="3529584"/>
            <a:ext cx="49377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The next action, conversation or piece of evidence is:</a:t>
            </a:r>
            <a:endParaRPr b="0" i="0" sz="1140" u="none" cap="none" strike="noStrike">
              <a:solidFill>
                <a:schemeClr val="dk1"/>
              </a:solidFill>
              <a:latin typeface="Calibri"/>
              <a:ea typeface="Calibri"/>
              <a:cs typeface="Calibri"/>
              <a:sym typeface="Calibri"/>
            </a:endParaRPr>
          </a:p>
        </p:txBody>
      </p:sp>
      <p:sp>
        <p:nvSpPr>
          <p:cNvPr id="541" name="Google Shape;541;p22"/>
          <p:cNvSpPr/>
          <p:nvPr/>
        </p:nvSpPr>
        <p:spPr>
          <a:xfrm>
            <a:off x="786384" y="3730752"/>
            <a:ext cx="49377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880"/>
              <a:buFont typeface="DM Sans"/>
              <a:buNone/>
            </a:pPr>
            <a:r>
              <a:rPr b="0" i="1" lang="en-US" sz="880" u="none" cap="none" strike="noStrike">
                <a:solidFill>
                  <a:srgbClr val="5A6B84"/>
                </a:solidFill>
                <a:latin typeface="DM Sans"/>
                <a:ea typeface="DM Sans"/>
                <a:cs typeface="DM Sans"/>
                <a:sym typeface="DM Sans"/>
              </a:rPr>
              <a:t>One thing. Something you could begin this month.</a:t>
            </a:r>
            <a:endParaRPr b="0" i="0" sz="880" u="none" cap="none" strike="noStrike">
              <a:solidFill>
                <a:schemeClr val="dk1"/>
              </a:solidFill>
              <a:latin typeface="Calibri"/>
              <a:ea typeface="Calibri"/>
              <a:cs typeface="Calibri"/>
              <a:sym typeface="Calibri"/>
            </a:endParaRPr>
          </a:p>
        </p:txBody>
      </p:sp>
      <p:sp>
        <p:nvSpPr>
          <p:cNvPr id="542" name="Google Shape;542;p22"/>
          <p:cNvSpPr/>
          <p:nvPr/>
        </p:nvSpPr>
        <p:spPr>
          <a:xfrm>
            <a:off x="5577840" y="3529584"/>
            <a:ext cx="2999232"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300"/>
              <a:buFont typeface="DM Sans"/>
              <a:buNone/>
            </a:pPr>
            <a:r>
              <a:rPr b="0" i="0" lang="en-US" sz="1300" u="none" cap="none" strike="noStrike">
                <a:solidFill>
                  <a:srgbClr val="5A6B84"/>
                </a:solidFill>
                <a:latin typeface="DM Sans"/>
                <a:ea typeface="DM Sans"/>
                <a:cs typeface="DM Sans"/>
                <a:sym typeface="DM Sans"/>
              </a:rPr>
              <a:t>____________________</a:t>
            </a:r>
            <a:endParaRPr b="0" i="0" sz="1300" u="none" cap="none" strike="noStrike">
              <a:solidFill>
                <a:schemeClr val="dk1"/>
              </a:solidFill>
              <a:latin typeface="Calibri"/>
              <a:ea typeface="Calibri"/>
              <a:cs typeface="Calibri"/>
              <a:sym typeface="Calibri"/>
            </a:endParaRPr>
          </a:p>
        </p:txBody>
      </p:sp>
      <p:sp>
        <p:nvSpPr>
          <p:cNvPr id="543" name="Google Shape;543;p22"/>
          <p:cNvSpPr/>
          <p:nvPr/>
        </p:nvSpPr>
        <p:spPr>
          <a:xfrm>
            <a:off x="566928" y="4242816"/>
            <a:ext cx="8010144" cy="4572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4" name="Google Shape;544;p22"/>
          <p:cNvSpPr/>
          <p:nvPr/>
        </p:nvSpPr>
        <p:spPr>
          <a:xfrm>
            <a:off x="804672" y="4242816"/>
            <a:ext cx="753465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550"/>
              <a:buFont typeface="Cormorant Garamond"/>
              <a:buNone/>
            </a:pPr>
            <a:r>
              <a:rPr b="1" i="0" lang="en-US" sz="1550" u="none" cap="none" strike="noStrike">
                <a:solidFill>
                  <a:srgbClr val="F5F0E8"/>
                </a:solidFill>
                <a:latin typeface="Cormorant Garamond"/>
                <a:ea typeface="Cormorant Garamond"/>
                <a:cs typeface="Cormorant Garamond"/>
                <a:sym typeface="Cormorant Garamond"/>
              </a:rPr>
              <a:t>This is a note, not a decision. It records what your evidence supports testing next.</a:t>
            </a:r>
            <a:endParaRPr b="0" i="0" sz="1550" u="none" cap="none" strike="noStrike">
              <a:solidFill>
                <a:schemeClr val="dk1"/>
              </a:solidFill>
              <a:latin typeface="Calibri"/>
              <a:ea typeface="Calibri"/>
              <a:cs typeface="Calibri"/>
              <a:sym typeface="Calibri"/>
            </a:endParaRPr>
          </a:p>
        </p:txBody>
      </p:sp>
      <p:sp>
        <p:nvSpPr>
          <p:cNvPr id="545" name="Google Shape;545;p2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546" name="Google Shape;546;p2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26</a:t>
            </a:r>
            <a:endParaRPr b="0" i="0" sz="700" u="none" cap="none" strike="noStrike">
              <a:solidFill>
                <a:schemeClr val="dk1"/>
              </a:solidFill>
              <a:latin typeface="Calibri"/>
              <a:ea typeface="Calibri"/>
              <a:cs typeface="Calibri"/>
              <a:sym typeface="Calibri"/>
            </a:endParaRPr>
          </a:p>
        </p:txBody>
      </p:sp>
      <p:sp>
        <p:nvSpPr>
          <p:cNvPr id="547" name="Google Shape;547;p22"/>
          <p:cNvSpPr/>
          <p:nvPr/>
        </p:nvSpPr>
        <p:spPr>
          <a:xfrm>
            <a:off x="566928" y="1481328"/>
            <a:ext cx="8010144" cy="27432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8" name="Google Shape;548;p22"/>
          <p:cNvSpPr/>
          <p:nvPr/>
        </p:nvSpPr>
        <p:spPr>
          <a:xfrm>
            <a:off x="566928" y="1481328"/>
            <a:ext cx="36576" cy="27432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p22"/>
          <p:cNvSpPr/>
          <p:nvPr/>
        </p:nvSpPr>
        <p:spPr>
          <a:xfrm>
            <a:off x="786384" y="1517904"/>
            <a:ext cx="7571231"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50"/>
              <a:buFont typeface="DM Sans"/>
              <a:buNone/>
            </a:pPr>
            <a:r>
              <a:rPr b="1" i="0" lang="en-US" sz="1150" u="none" cap="none" strike="noStrike">
                <a:solidFill>
                  <a:srgbClr val="0F2347"/>
                </a:solidFill>
                <a:latin typeface="DM Sans"/>
                <a:ea typeface="DM Sans"/>
                <a:cs typeface="DM Sans"/>
                <a:sym typeface="DM Sans"/>
              </a:rPr>
              <a:t>What travels?      What does not?      What can I prove?      What must I relearn?</a:t>
            </a:r>
            <a:endParaRPr b="0" i="0" sz="1140" u="none" cap="none" strike="noStrike">
              <a:solidFill>
                <a:schemeClr val="dk1"/>
              </a:solidFill>
              <a:latin typeface="Calibri"/>
              <a:ea typeface="Calibri"/>
              <a:cs typeface="Calibri"/>
              <a:sym typeface="Calibri"/>
            </a:endParaRPr>
          </a:p>
        </p:txBody>
      </p:sp>
      <p:sp>
        <p:nvSpPr>
          <p:cNvPr id="540" name="Google Shape;540;p22"/>
          <p:cNvSpPr/>
          <p:nvPr/>
        </p:nvSpPr>
        <p:spPr>
          <a:xfrm>
            <a:off x="786384" y="3950208"/>
            <a:ext cx="7571231"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40"/>
              <a:buFont typeface="DM Sans"/>
              <a:buNone/>
            </a:pPr>
            <a:r>
              <a:rPr b="0" i="0" lang="en-US" sz="1140" u="none" cap="none" strike="noStrike">
                <a:solidFill>
                  <a:srgbClr val="0F2347"/>
                </a:solidFill>
                <a:latin typeface="DM Sans"/>
                <a:ea typeface="DM Sans"/>
                <a:cs typeface="DM Sans"/>
                <a:sym typeface="DM Sans"/>
              </a:rPr>
              <a:t>Two signals I will watch before my rescore date: ______ and ______</a:t>
            </a:r>
            <a:endParaRPr b="0" i="0" sz="114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54" name="Shape 554"/>
        <p:cNvGrpSpPr/>
        <p:nvPr/>
      </p:nvGrpSpPr>
      <p:grpSpPr>
        <a:xfrm>
          <a:off x="0" y="0"/>
          <a:ext cx="0" cy="0"/>
          <a:chOff x="0" y="0"/>
          <a:chExt cx="0" cy="0"/>
        </a:xfrm>
      </p:grpSpPr>
      <p:sp>
        <p:nvSpPr>
          <p:cNvPr id="555" name="Google Shape;555;p23"/>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WHERE TO GO FROM HERE</a:t>
            </a:r>
            <a:endParaRPr b="0" i="0" sz="950" u="none" cap="none" strike="noStrike">
              <a:solidFill>
                <a:schemeClr val="dk1"/>
              </a:solidFill>
              <a:latin typeface="Calibri"/>
              <a:ea typeface="Calibri"/>
              <a:cs typeface="Calibri"/>
              <a:sym typeface="Calibri"/>
            </a:endParaRPr>
          </a:p>
        </p:txBody>
      </p:sp>
      <p:sp>
        <p:nvSpPr>
          <p:cNvPr id="556" name="Google Shape;556;p23"/>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700"/>
              <a:buFont typeface="Cormorant Garamond"/>
              <a:buNone/>
            </a:pPr>
            <a:r>
              <a:rPr b="1" i="0" lang="en-US" sz="2700" u="none" cap="none" strike="noStrike">
                <a:solidFill>
                  <a:srgbClr val="0F2347"/>
                </a:solidFill>
                <a:latin typeface="Cormorant Garamond"/>
                <a:ea typeface="Cormorant Garamond"/>
                <a:cs typeface="Cormorant Garamond"/>
                <a:sym typeface="Cormorant Garamond"/>
              </a:rPr>
              <a:t>Choose How You Want to Continue the Read</a:t>
            </a:r>
            <a:endParaRPr b="0" i="0" sz="2700" u="none" cap="none" strike="noStrike">
              <a:solidFill>
                <a:schemeClr val="dk1"/>
              </a:solidFill>
              <a:latin typeface="Calibri"/>
              <a:ea typeface="Calibri"/>
              <a:cs typeface="Calibri"/>
              <a:sym typeface="Calibri"/>
            </a:endParaRPr>
          </a:p>
        </p:txBody>
      </p:sp>
      <p:sp>
        <p:nvSpPr>
          <p:cNvPr id="557" name="Google Shape;557;p23"/>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Your read is complete. What you need next depends on what is still unresolved.</a:t>
            </a:r>
            <a:endParaRPr b="0" i="0" sz="1150" u="none" cap="none" strike="noStrike">
              <a:solidFill>
                <a:schemeClr val="dk1"/>
              </a:solidFill>
              <a:latin typeface="Calibri"/>
              <a:ea typeface="Calibri"/>
              <a:cs typeface="Calibri"/>
              <a:sym typeface="Calibri"/>
            </a:endParaRPr>
          </a:p>
        </p:txBody>
      </p:sp>
      <p:sp>
        <p:nvSpPr>
          <p:cNvPr id="558" name="Google Shape;558;p23"/>
          <p:cNvSpPr/>
          <p:nvPr/>
        </p:nvSpPr>
        <p:spPr>
          <a:xfrm>
            <a:off x="566928" y="2011680"/>
            <a:ext cx="8010144" cy="76809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9" name="Google Shape;559;p23"/>
          <p:cNvSpPr/>
          <p:nvPr/>
        </p:nvSpPr>
        <p:spPr>
          <a:xfrm>
            <a:off x="749808" y="2157984"/>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0" name="Google Shape;560;p23"/>
          <p:cNvSpPr/>
          <p:nvPr/>
        </p:nvSpPr>
        <p:spPr>
          <a:xfrm>
            <a:off x="749808" y="2157984"/>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1</a:t>
            </a:r>
            <a:endParaRPr b="0" i="0" sz="1000" u="none" cap="none" strike="noStrike">
              <a:solidFill>
                <a:schemeClr val="dk1"/>
              </a:solidFill>
              <a:latin typeface="Calibri"/>
              <a:ea typeface="Calibri"/>
              <a:cs typeface="Calibri"/>
              <a:sym typeface="Calibri"/>
            </a:endParaRPr>
          </a:p>
        </p:txBody>
      </p:sp>
      <p:sp>
        <p:nvSpPr>
          <p:cNvPr id="561" name="Google Shape;561;p23"/>
          <p:cNvSpPr/>
          <p:nvPr/>
        </p:nvSpPr>
        <p:spPr>
          <a:xfrm>
            <a:off x="1188720" y="2084832"/>
            <a:ext cx="718718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50"/>
              <a:buFont typeface="DM Sans"/>
              <a:buNone/>
            </a:pPr>
            <a:r>
              <a:rPr b="1" i="0" lang="en-US" sz="1550" u="none" cap="none" strike="noStrike">
                <a:solidFill>
                  <a:srgbClr val="0F2347"/>
                </a:solidFill>
                <a:latin typeface="DM Sans"/>
                <a:ea typeface="DM Sans"/>
                <a:cs typeface="DM Sans"/>
                <a:sym typeface="DM Sans"/>
              </a:rPr>
              <a:t>I have enough for now.</a:t>
            </a:r>
            <a:endParaRPr b="0" i="0" sz="1550" u="none" cap="none" strike="noStrike">
              <a:solidFill>
                <a:schemeClr val="dk1"/>
              </a:solidFill>
              <a:latin typeface="Calibri"/>
              <a:ea typeface="Calibri"/>
              <a:cs typeface="Calibri"/>
              <a:sym typeface="Calibri"/>
            </a:endParaRPr>
          </a:p>
        </p:txBody>
      </p:sp>
      <p:sp>
        <p:nvSpPr>
          <p:cNvPr id="562" name="Google Shape;562;p23"/>
          <p:cNvSpPr/>
          <p:nvPr/>
        </p:nvSpPr>
        <p:spPr>
          <a:xfrm>
            <a:off x="1188720" y="2322576"/>
            <a:ext cx="718718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120"/>
              <a:buFont typeface="DM Sans"/>
              <a:buNone/>
            </a:pPr>
            <a:r>
              <a:rPr b="1" i="0" lang="en-US" sz="1320" u="none" cap="none" strike="noStrike">
                <a:solidFill>
                  <a:srgbClr val="C1440E"/>
                </a:solidFill>
                <a:latin typeface="DM Sans"/>
                <a:ea typeface="DM Sans"/>
                <a:cs typeface="DM Sans"/>
                <a:sym typeface="DM Sans"/>
              </a:rPr>
              <a:t>Take your Next-Move Note and act on it.</a:t>
            </a:r>
            <a:endParaRPr b="1" i="0" sz="1320" u="none" cap="none" strike="noStrike">
              <a:solidFill>
                <a:srgbClr val="C1440E"/>
              </a:solidFill>
              <a:latin typeface="Calibri"/>
              <a:ea typeface="Calibri"/>
              <a:cs typeface="Calibri"/>
              <a:sym typeface="Calibri"/>
            </a:endParaRPr>
          </a:p>
        </p:txBody>
      </p:sp>
      <p:sp>
        <p:nvSpPr>
          <p:cNvPr id="563" name="Google Shape;563;p23"/>
          <p:cNvSpPr/>
          <p:nvPr/>
        </p:nvSpPr>
        <p:spPr>
          <a:xfrm>
            <a:off x="1188720" y="2532888"/>
            <a:ext cx="718718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00"/>
              <a:buFont typeface="DM Sans"/>
              <a:buNone/>
            </a:pPr>
            <a:r>
              <a:rPr b="1" i="0" lang="en-US" sz="1200" u="none" cap="none" strike="noStrike">
                <a:solidFill>
                  <a:srgbClr val="5A6B84"/>
                </a:solidFill>
                <a:latin typeface="DM Sans"/>
                <a:ea typeface="DM Sans"/>
                <a:cs typeface="DM Sans"/>
                <a:sym typeface="DM Sans"/>
              </a:rPr>
              <a:t>Nothing further is required. The session was built to be complete on its own.</a:t>
            </a:r>
            <a:endParaRPr b="1" i="0" sz="1200" u="none" cap="none" strike="noStrike">
              <a:solidFill>
                <a:srgbClr val="5A6B84"/>
              </a:solidFill>
              <a:latin typeface="Calibri"/>
              <a:ea typeface="Calibri"/>
              <a:cs typeface="Calibri"/>
              <a:sym typeface="Calibri"/>
            </a:endParaRPr>
          </a:p>
        </p:txBody>
      </p:sp>
      <p:sp>
        <p:nvSpPr>
          <p:cNvPr id="564" name="Google Shape;564;p23"/>
          <p:cNvSpPr/>
          <p:nvPr/>
        </p:nvSpPr>
        <p:spPr>
          <a:xfrm>
            <a:off x="566928" y="2871216"/>
            <a:ext cx="8010144" cy="76809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5" name="Google Shape;565;p23"/>
          <p:cNvSpPr/>
          <p:nvPr/>
        </p:nvSpPr>
        <p:spPr>
          <a:xfrm>
            <a:off x="749808" y="3017520"/>
            <a:ext cx="292608" cy="2926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6" name="Google Shape;566;p23"/>
          <p:cNvSpPr/>
          <p:nvPr/>
        </p:nvSpPr>
        <p:spPr>
          <a:xfrm>
            <a:off x="749808" y="3017520"/>
            <a:ext cx="29260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1000"/>
              <a:buFont typeface="Montserrat"/>
              <a:buNone/>
            </a:pPr>
            <a:r>
              <a:rPr b="1" i="0" lang="en-US" sz="1000" u="none" cap="none" strike="noStrike">
                <a:solidFill>
                  <a:srgbClr val="F5F0E8"/>
                </a:solidFill>
                <a:latin typeface="Montserrat"/>
                <a:ea typeface="Montserrat"/>
                <a:cs typeface="Montserrat"/>
                <a:sym typeface="Montserrat"/>
              </a:rPr>
              <a:t>2</a:t>
            </a:r>
            <a:endParaRPr b="0" i="0" sz="1000" u="none" cap="none" strike="noStrike">
              <a:solidFill>
                <a:schemeClr val="dk1"/>
              </a:solidFill>
              <a:latin typeface="Calibri"/>
              <a:ea typeface="Calibri"/>
              <a:cs typeface="Calibri"/>
              <a:sym typeface="Calibri"/>
            </a:endParaRPr>
          </a:p>
        </p:txBody>
      </p:sp>
      <p:sp>
        <p:nvSpPr>
          <p:cNvPr id="567" name="Google Shape;567;p23"/>
          <p:cNvSpPr/>
          <p:nvPr/>
        </p:nvSpPr>
        <p:spPr>
          <a:xfrm>
            <a:off x="1188720" y="2944368"/>
            <a:ext cx="718718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350"/>
              <a:buFont typeface="DM Sans"/>
              <a:buNone/>
            </a:pPr>
            <a:r>
              <a:rPr b="1" i="0" lang="en-US" sz="1550" u="none" cap="none" strike="noStrike">
                <a:solidFill>
                  <a:srgbClr val="0F2347"/>
                </a:solidFill>
                <a:latin typeface="DM Sans"/>
                <a:ea typeface="DM Sans"/>
                <a:cs typeface="DM Sans"/>
                <a:sym typeface="DM Sans"/>
              </a:rPr>
              <a:t>I want to keep working privately.</a:t>
            </a:r>
            <a:endParaRPr b="0" i="0" sz="1550" u="none" cap="none" strike="noStrike">
              <a:solidFill>
                <a:schemeClr val="dk1"/>
              </a:solidFill>
              <a:latin typeface="Calibri"/>
              <a:ea typeface="Calibri"/>
              <a:cs typeface="Calibri"/>
              <a:sym typeface="Calibri"/>
            </a:endParaRPr>
          </a:p>
        </p:txBody>
      </p:sp>
      <p:sp>
        <p:nvSpPr>
          <p:cNvPr id="568" name="Google Shape;568;p23"/>
          <p:cNvSpPr/>
          <p:nvPr/>
        </p:nvSpPr>
        <p:spPr>
          <a:xfrm>
            <a:off x="1188720" y="3182112"/>
            <a:ext cx="718718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120"/>
              <a:buFont typeface="DM Sans"/>
              <a:buNone/>
            </a:pPr>
            <a:r>
              <a:rPr b="1" i="0" lang="en-US" sz="1320" u="none" cap="none" strike="noStrike">
                <a:solidFill>
                  <a:srgbClr val="C1440E"/>
                </a:solidFill>
                <a:latin typeface="DM Sans"/>
                <a:ea typeface="DM Sans"/>
                <a:cs typeface="DM Sans"/>
                <a:sym typeface="DM Sans"/>
              </a:rPr>
              <a:t>Continue with the Capability Formation Field Kit.</a:t>
            </a:r>
            <a:endParaRPr b="1" i="0" sz="1320" u="none" cap="none" strike="noStrike">
              <a:solidFill>
                <a:srgbClr val="C1440E"/>
              </a:solidFill>
              <a:latin typeface="Calibri"/>
              <a:ea typeface="Calibri"/>
              <a:cs typeface="Calibri"/>
              <a:sym typeface="Calibri"/>
            </a:endParaRPr>
          </a:p>
        </p:txBody>
      </p:sp>
      <p:sp>
        <p:nvSpPr>
          <p:cNvPr id="569" name="Google Shape;569;p23"/>
          <p:cNvSpPr/>
          <p:nvPr/>
        </p:nvSpPr>
        <p:spPr>
          <a:xfrm>
            <a:off x="1188720" y="3392424"/>
            <a:ext cx="718718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000"/>
              <a:buFont typeface="DM Sans"/>
              <a:buNone/>
            </a:pPr>
            <a:r>
              <a:rPr b="1" i="0" lang="en-US" sz="1200" u="none" cap="none" strike="noStrike">
                <a:solidFill>
                  <a:srgbClr val="5A6B84"/>
                </a:solidFill>
                <a:latin typeface="DM Sans"/>
                <a:ea typeface="DM Sans"/>
                <a:cs typeface="DM Sans"/>
                <a:sym typeface="DM Sans"/>
              </a:rPr>
              <a:t>You understand your reading and want a structured system you can return to on your own.</a:t>
            </a:r>
            <a:endParaRPr b="1" i="0" sz="1200" u="none" cap="none" strike="noStrike">
              <a:solidFill>
                <a:srgbClr val="5A6B84"/>
              </a:solidFill>
              <a:latin typeface="Calibri"/>
              <a:ea typeface="Calibri"/>
              <a:cs typeface="Calibri"/>
              <a:sym typeface="Calibri"/>
            </a:endParaRPr>
          </a:p>
        </p:txBody>
      </p:sp>
      <p:sp>
        <p:nvSpPr>
          <p:cNvPr id="570" name="Google Shape;570;p23"/>
          <p:cNvSpPr/>
          <p:nvPr/>
        </p:nvSpPr>
        <p:spPr>
          <a:xfrm>
            <a:off x="566928" y="3986784"/>
            <a:ext cx="801014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347"/>
              </a:buClr>
              <a:buSzPts val="1500"/>
              <a:buFont typeface="Cormorant Garamond"/>
              <a:buNone/>
            </a:pPr>
            <a:r>
              <a:rPr b="1" i="1" lang="en-US" sz="1800" u="none" cap="none" strike="noStrike">
                <a:solidFill>
                  <a:srgbClr val="0F2347"/>
                </a:solidFill>
                <a:latin typeface="Cormorant Garamond"/>
                <a:ea typeface="Cormorant Garamond"/>
                <a:cs typeface="Cormorant Garamond"/>
                <a:sym typeface="Cormorant Garamond"/>
              </a:rPr>
              <a:t>Different unresolved needs require different levels of support.</a:t>
            </a:r>
            <a:endParaRPr b="0" i="0" sz="1800" u="none" cap="none" strike="noStrike">
              <a:solidFill>
                <a:schemeClr val="dk1"/>
              </a:solidFill>
              <a:latin typeface="Calibri"/>
              <a:ea typeface="Calibri"/>
              <a:cs typeface="Calibri"/>
              <a:sym typeface="Calibri"/>
            </a:endParaRPr>
          </a:p>
        </p:txBody>
      </p:sp>
      <p:sp>
        <p:nvSpPr>
          <p:cNvPr id="571" name="Google Shape;571;p23"/>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572" name="Google Shape;572;p2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77" name="Shape 577"/>
        <p:cNvGrpSpPr/>
        <p:nvPr/>
      </p:nvGrpSpPr>
      <p:grpSpPr>
        <a:xfrm>
          <a:off x="0" y="0"/>
          <a:ext cx="0" cy="0"/>
          <a:chOff x="0" y="0"/>
          <a:chExt cx="0" cy="0"/>
        </a:xfrm>
      </p:grpSpPr>
      <p:sp>
        <p:nvSpPr>
          <p:cNvPr id="578" name="Google Shape;578;g3fbe9e34838_0_94"/>
          <p:cNvSpPr/>
          <p:nvPr/>
        </p:nvSpPr>
        <p:spPr>
          <a:xfrm>
            <a:off x="566928" y="310896"/>
            <a:ext cx="8010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50"/>
              <a:buFont typeface="Montserrat"/>
              <a:buNone/>
            </a:pPr>
            <a:r>
              <a:rPr b="1" lang="en-US" sz="950">
                <a:solidFill>
                  <a:srgbClr val="C9A84C"/>
                </a:solidFill>
                <a:latin typeface="Montserrat"/>
                <a:ea typeface="Montserrat"/>
                <a:cs typeface="Montserrat"/>
                <a:sym typeface="Montserrat"/>
              </a:rPr>
              <a:t>KEEP WORKING PRIVATELY</a:t>
            </a:r>
            <a:endParaRPr sz="950">
              <a:solidFill>
                <a:schemeClr val="dk1"/>
              </a:solidFill>
              <a:latin typeface="Calibri"/>
              <a:ea typeface="Calibri"/>
              <a:cs typeface="Calibri"/>
              <a:sym typeface="Calibri"/>
            </a:endParaRPr>
          </a:p>
        </p:txBody>
      </p:sp>
      <p:sp>
        <p:nvSpPr>
          <p:cNvPr id="579" name="Google Shape;579;g3fbe9e34838_0_94"/>
          <p:cNvSpPr/>
          <p:nvPr/>
        </p:nvSpPr>
        <p:spPr>
          <a:xfrm>
            <a:off x="566928" y="603504"/>
            <a:ext cx="8010000" cy="9144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050"/>
              <a:buFont typeface="Cormorant Garamond"/>
              <a:buNone/>
            </a:pPr>
            <a:r>
              <a:rPr b="1" lang="en-US" sz="2050">
                <a:solidFill>
                  <a:srgbClr val="0F2347"/>
                </a:solidFill>
                <a:latin typeface="Cormorant Garamond"/>
                <a:ea typeface="Cormorant Garamond"/>
                <a:cs typeface="Cormorant Garamond"/>
                <a:sym typeface="Cormorant Garamond"/>
              </a:rPr>
              <a:t>This session gives you a guided reading.</a:t>
            </a:r>
            <a:endParaRPr sz="2050">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0F2347"/>
              </a:buClr>
              <a:buSzPts val="2050"/>
              <a:buFont typeface="Cormorant Garamond"/>
              <a:buNone/>
            </a:pPr>
            <a:r>
              <a:rPr b="1" lang="en-US" sz="2050">
                <a:solidFill>
                  <a:srgbClr val="0F2347"/>
                </a:solidFill>
                <a:latin typeface="Cormorant Garamond"/>
                <a:ea typeface="Cormorant Garamond"/>
                <a:cs typeface="Cormorant Garamond"/>
                <a:sym typeface="Cormorant Garamond"/>
              </a:rPr>
              <a:t>The Field Kit gives you a system you can return to.</a:t>
            </a:r>
            <a:endParaRPr sz="2050">
              <a:solidFill>
                <a:schemeClr val="dk1"/>
              </a:solidFill>
              <a:latin typeface="Calibri"/>
              <a:ea typeface="Calibri"/>
              <a:cs typeface="Calibri"/>
              <a:sym typeface="Calibri"/>
            </a:endParaRPr>
          </a:p>
        </p:txBody>
      </p:sp>
      <p:sp>
        <p:nvSpPr>
          <p:cNvPr id="580" name="Google Shape;580;g3fbe9e34838_0_94"/>
          <p:cNvSpPr/>
          <p:nvPr/>
        </p:nvSpPr>
        <p:spPr>
          <a:xfrm>
            <a:off x="566928" y="1755648"/>
            <a:ext cx="3712500" cy="22860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1" name="Google Shape;581;g3fbe9e34838_0_94"/>
          <p:cNvSpPr/>
          <p:nvPr/>
        </p:nvSpPr>
        <p:spPr>
          <a:xfrm>
            <a:off x="804672" y="1901952"/>
            <a:ext cx="3200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820"/>
              <a:buFont typeface="Montserrat"/>
              <a:buNone/>
            </a:pPr>
            <a:r>
              <a:rPr b="1" lang="en-US" sz="1020">
                <a:solidFill>
                  <a:srgbClr val="5A6B84"/>
                </a:solidFill>
                <a:latin typeface="Montserrat"/>
                <a:ea typeface="Montserrat"/>
                <a:cs typeface="Montserrat"/>
                <a:sym typeface="Montserrat"/>
              </a:rPr>
              <a:t>TODAY'S GUIDED READ</a:t>
            </a:r>
            <a:endParaRPr sz="1020">
              <a:solidFill>
                <a:schemeClr val="dk1"/>
              </a:solidFill>
              <a:latin typeface="Calibri"/>
              <a:ea typeface="Calibri"/>
              <a:cs typeface="Calibri"/>
              <a:sym typeface="Calibri"/>
            </a:endParaRPr>
          </a:p>
        </p:txBody>
      </p:sp>
      <p:sp>
        <p:nvSpPr>
          <p:cNvPr id="582" name="Google Shape;582;g3fbe9e34838_0_94"/>
          <p:cNvSpPr/>
          <p:nvPr/>
        </p:nvSpPr>
        <p:spPr>
          <a:xfrm>
            <a:off x="804672" y="228600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g3fbe9e34838_0_94"/>
          <p:cNvSpPr/>
          <p:nvPr/>
        </p:nvSpPr>
        <p:spPr>
          <a:xfrm>
            <a:off x="987552" y="2231136"/>
            <a:ext cx="3054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An initial and evidence-based reading</a:t>
            </a:r>
            <a:endParaRPr sz="980">
              <a:solidFill>
                <a:schemeClr val="dk1"/>
              </a:solidFill>
              <a:latin typeface="Calibri"/>
              <a:ea typeface="Calibri"/>
              <a:cs typeface="Calibri"/>
              <a:sym typeface="Calibri"/>
            </a:endParaRPr>
          </a:p>
        </p:txBody>
      </p:sp>
      <p:sp>
        <p:nvSpPr>
          <p:cNvPr id="584" name="Google Shape;584;g3fbe9e34838_0_94"/>
          <p:cNvSpPr/>
          <p:nvPr/>
        </p:nvSpPr>
        <p:spPr>
          <a:xfrm>
            <a:off x="804672" y="256032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g3fbe9e34838_0_94"/>
          <p:cNvSpPr/>
          <p:nvPr/>
        </p:nvSpPr>
        <p:spPr>
          <a:xfrm>
            <a:off x="987552" y="2505456"/>
            <a:ext cx="3054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 provisional position</a:t>
            </a:r>
            <a:endParaRPr sz="980">
              <a:solidFill>
                <a:schemeClr val="dk1"/>
              </a:solidFill>
              <a:latin typeface="Calibri"/>
              <a:ea typeface="Calibri"/>
              <a:cs typeface="Calibri"/>
              <a:sym typeface="Calibri"/>
            </a:endParaRPr>
          </a:p>
        </p:txBody>
      </p:sp>
      <p:sp>
        <p:nvSpPr>
          <p:cNvPr id="586" name="Google Shape;586;g3fbe9e34838_0_94"/>
          <p:cNvSpPr/>
          <p:nvPr/>
        </p:nvSpPr>
        <p:spPr>
          <a:xfrm>
            <a:off x="804672" y="283464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g3fbe9e34838_0_94"/>
          <p:cNvSpPr/>
          <p:nvPr/>
        </p:nvSpPr>
        <p:spPr>
          <a:xfrm>
            <a:off x="987552" y="2779776"/>
            <a:ext cx="3054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One move category to test</a:t>
            </a:r>
            <a:endParaRPr sz="980">
              <a:solidFill>
                <a:schemeClr val="dk1"/>
              </a:solidFill>
              <a:latin typeface="Calibri"/>
              <a:ea typeface="Calibri"/>
              <a:cs typeface="Calibri"/>
              <a:sym typeface="Calibri"/>
            </a:endParaRPr>
          </a:p>
        </p:txBody>
      </p:sp>
      <p:sp>
        <p:nvSpPr>
          <p:cNvPr id="588" name="Google Shape;588;g3fbe9e34838_0_94"/>
          <p:cNvSpPr/>
          <p:nvPr/>
        </p:nvSpPr>
        <p:spPr>
          <a:xfrm>
            <a:off x="804672" y="310896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g3fbe9e34838_0_94"/>
          <p:cNvSpPr/>
          <p:nvPr/>
        </p:nvSpPr>
        <p:spPr>
          <a:xfrm>
            <a:off x="987552" y="3054096"/>
            <a:ext cx="30540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980"/>
              <a:buFont typeface="DM Sans"/>
              <a:buNone/>
            </a:pPr>
            <a:r>
              <a:rPr lang="en-US" sz="980">
                <a:solidFill>
                  <a:srgbClr val="0F2347"/>
                </a:solidFill>
                <a:latin typeface="DM Sans"/>
                <a:ea typeface="DM Sans"/>
                <a:cs typeface="DM Sans"/>
                <a:sym typeface="DM Sans"/>
              </a:rPr>
              <a:t>A written Next-Move Note</a:t>
            </a:r>
            <a:endParaRPr sz="980">
              <a:solidFill>
                <a:schemeClr val="dk1"/>
              </a:solidFill>
              <a:latin typeface="Calibri"/>
              <a:ea typeface="Calibri"/>
              <a:cs typeface="Calibri"/>
              <a:sym typeface="Calibri"/>
            </a:endParaRPr>
          </a:p>
        </p:txBody>
      </p:sp>
      <p:sp>
        <p:nvSpPr>
          <p:cNvPr id="590" name="Google Shape;590;g3fbe9e34838_0_94"/>
          <p:cNvSpPr/>
          <p:nvPr/>
        </p:nvSpPr>
        <p:spPr>
          <a:xfrm>
            <a:off x="804672" y="3602736"/>
            <a:ext cx="32004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960"/>
              <a:buFont typeface="DM Sans"/>
              <a:buNone/>
            </a:pPr>
            <a:r>
              <a:rPr i="1" lang="en-US" sz="960">
                <a:solidFill>
                  <a:srgbClr val="5A6B84"/>
                </a:solidFill>
                <a:latin typeface="DM Sans"/>
                <a:ea typeface="DM Sans"/>
                <a:cs typeface="DM Sans"/>
                <a:sym typeface="DM Sans"/>
              </a:rPr>
              <a:t>Complete on its own.</a:t>
            </a:r>
            <a:endParaRPr sz="960">
              <a:solidFill>
                <a:schemeClr val="dk1"/>
              </a:solidFill>
              <a:latin typeface="Calibri"/>
              <a:ea typeface="Calibri"/>
              <a:cs typeface="Calibri"/>
              <a:sym typeface="Calibri"/>
            </a:endParaRPr>
          </a:p>
        </p:txBody>
      </p:sp>
      <p:sp>
        <p:nvSpPr>
          <p:cNvPr id="591" name="Google Shape;591;g3fbe9e34838_0_94"/>
          <p:cNvSpPr/>
          <p:nvPr/>
        </p:nvSpPr>
        <p:spPr>
          <a:xfrm>
            <a:off x="4443984" y="1755648"/>
            <a:ext cx="4133100" cy="22860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2" name="Google Shape;592;g3fbe9e34838_0_94"/>
          <p:cNvSpPr/>
          <p:nvPr/>
        </p:nvSpPr>
        <p:spPr>
          <a:xfrm>
            <a:off x="4681728" y="1901952"/>
            <a:ext cx="31089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820"/>
              <a:buFont typeface="Montserrat"/>
              <a:buNone/>
            </a:pPr>
            <a:r>
              <a:rPr b="1" lang="en-US" sz="1020">
                <a:solidFill>
                  <a:srgbClr val="C9A84C"/>
                </a:solidFill>
                <a:latin typeface="Montserrat"/>
                <a:ea typeface="Montserrat"/>
                <a:cs typeface="Montserrat"/>
                <a:sym typeface="Montserrat"/>
              </a:rPr>
              <a:t>CAPABILITY FORMATION FIELD KIT</a:t>
            </a:r>
            <a:endParaRPr sz="1020">
              <a:solidFill>
                <a:schemeClr val="dk1"/>
              </a:solidFill>
              <a:latin typeface="Calibri"/>
              <a:ea typeface="Calibri"/>
              <a:cs typeface="Calibri"/>
              <a:sym typeface="Calibri"/>
            </a:endParaRPr>
          </a:p>
        </p:txBody>
      </p:sp>
      <p:sp>
        <p:nvSpPr>
          <p:cNvPr id="593" name="Google Shape;593;g3fbe9e34838_0_94"/>
          <p:cNvSpPr/>
          <p:nvPr/>
        </p:nvSpPr>
        <p:spPr>
          <a:xfrm>
            <a:off x="4681728" y="228600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g3fbe9e34838_0_94"/>
          <p:cNvSpPr/>
          <p:nvPr/>
        </p:nvSpPr>
        <p:spPr>
          <a:xfrm>
            <a:off x="4864608" y="2231136"/>
            <a:ext cx="2834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Fuller state-cost work</a:t>
            </a:r>
            <a:endParaRPr sz="980">
              <a:solidFill>
                <a:schemeClr val="dk1"/>
              </a:solidFill>
              <a:latin typeface="Calibri"/>
              <a:ea typeface="Calibri"/>
              <a:cs typeface="Calibri"/>
              <a:sym typeface="Calibri"/>
            </a:endParaRPr>
          </a:p>
        </p:txBody>
      </p:sp>
      <p:sp>
        <p:nvSpPr>
          <p:cNvPr id="595" name="Google Shape;595;g3fbe9e34838_0_94"/>
          <p:cNvSpPr/>
          <p:nvPr/>
        </p:nvSpPr>
        <p:spPr>
          <a:xfrm>
            <a:off x="4681728" y="256032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g3fbe9e34838_0_94"/>
          <p:cNvSpPr/>
          <p:nvPr/>
        </p:nvSpPr>
        <p:spPr>
          <a:xfrm>
            <a:off x="4864608" y="2505456"/>
            <a:ext cx="2834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A repeatable private evidence process</a:t>
            </a:r>
            <a:endParaRPr sz="980">
              <a:solidFill>
                <a:schemeClr val="dk1"/>
              </a:solidFill>
              <a:latin typeface="Calibri"/>
              <a:ea typeface="Calibri"/>
              <a:cs typeface="Calibri"/>
              <a:sym typeface="Calibri"/>
            </a:endParaRPr>
          </a:p>
        </p:txBody>
      </p:sp>
      <p:sp>
        <p:nvSpPr>
          <p:cNvPr id="597" name="Google Shape;597;g3fbe9e34838_0_94"/>
          <p:cNvSpPr/>
          <p:nvPr/>
        </p:nvSpPr>
        <p:spPr>
          <a:xfrm>
            <a:off x="4681728" y="283464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8" name="Google Shape;598;g3fbe9e34838_0_94"/>
          <p:cNvSpPr/>
          <p:nvPr/>
        </p:nvSpPr>
        <p:spPr>
          <a:xfrm>
            <a:off x="4864608" y="2779776"/>
            <a:ext cx="2834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Structured rescoring as conditions change</a:t>
            </a:r>
            <a:endParaRPr sz="980">
              <a:solidFill>
                <a:schemeClr val="dk1"/>
              </a:solidFill>
              <a:latin typeface="Calibri"/>
              <a:ea typeface="Calibri"/>
              <a:cs typeface="Calibri"/>
              <a:sym typeface="Calibri"/>
            </a:endParaRPr>
          </a:p>
        </p:txBody>
      </p:sp>
      <p:sp>
        <p:nvSpPr>
          <p:cNvPr id="599" name="Google Shape;599;g3fbe9e34838_0_94"/>
          <p:cNvSpPr/>
          <p:nvPr/>
        </p:nvSpPr>
        <p:spPr>
          <a:xfrm>
            <a:off x="4681728" y="3108960"/>
            <a:ext cx="63900" cy="639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0" name="Google Shape;600;g3fbe9e34838_0_94"/>
          <p:cNvSpPr/>
          <p:nvPr/>
        </p:nvSpPr>
        <p:spPr>
          <a:xfrm>
            <a:off x="4864608" y="3054096"/>
            <a:ext cx="2834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980"/>
              <a:buFont typeface="DM Sans"/>
              <a:buNone/>
            </a:pPr>
            <a:r>
              <a:rPr lang="en-US" sz="980">
                <a:solidFill>
                  <a:srgbClr val="F5F0E8"/>
                </a:solidFill>
                <a:latin typeface="DM Sans"/>
                <a:ea typeface="DM Sans"/>
                <a:cs typeface="DM Sans"/>
                <a:sym typeface="DM Sans"/>
              </a:rPr>
              <a:t>A system you own and return to</a:t>
            </a:r>
            <a:endParaRPr sz="980">
              <a:solidFill>
                <a:schemeClr val="dk1"/>
              </a:solidFill>
              <a:latin typeface="Calibri"/>
              <a:ea typeface="Calibri"/>
              <a:cs typeface="Calibri"/>
              <a:sym typeface="Calibri"/>
            </a:endParaRPr>
          </a:p>
        </p:txBody>
      </p:sp>
      <p:pic>
        <p:nvPicPr>
          <p:cNvPr descr="preencoded.png" id="601" name="Google Shape;601;g3fbe9e34838_0_94"/>
          <p:cNvPicPr preferRelativeResize="0"/>
          <p:nvPr/>
        </p:nvPicPr>
        <p:blipFill rotWithShape="1">
          <a:blip r:embed="rId3">
            <a:alphaModFix/>
          </a:blip>
          <a:srcRect b="0" l="0" r="0" t="0"/>
          <a:stretch/>
        </p:blipFill>
        <p:spPr>
          <a:xfrm>
            <a:off x="7827264" y="1883664"/>
            <a:ext cx="658367" cy="852222"/>
          </a:xfrm>
          <a:prstGeom prst="rect">
            <a:avLst/>
          </a:prstGeom>
          <a:noFill/>
          <a:ln>
            <a:noFill/>
          </a:ln>
        </p:spPr>
      </p:pic>
      <p:pic>
        <p:nvPicPr>
          <p:cNvPr descr="preencoded.png" id="602" name="Google Shape;602;g3fbe9e34838_0_94">
            <a:hlinkClick r:id="rId4"/>
          </p:cNvPr>
          <p:cNvPicPr preferRelativeResize="0"/>
          <p:nvPr/>
        </p:nvPicPr>
        <p:blipFill rotWithShape="1">
          <a:blip r:embed="rId5">
            <a:alphaModFix/>
          </a:blip>
          <a:srcRect b="0" l="0" r="0" t="0"/>
          <a:stretch/>
        </p:blipFill>
        <p:spPr>
          <a:xfrm>
            <a:off x="7818120" y="3035808"/>
            <a:ext cx="676656" cy="676656"/>
          </a:xfrm>
          <a:prstGeom prst="rect">
            <a:avLst/>
          </a:prstGeom>
          <a:noFill/>
          <a:ln>
            <a:noFill/>
          </a:ln>
        </p:spPr>
      </p:pic>
      <p:sp>
        <p:nvSpPr>
          <p:cNvPr id="603" name="Google Shape;603;g3fbe9e34838_0_94">
            <a:hlinkClick r:id="rId6"/>
          </p:cNvPr>
          <p:cNvSpPr/>
          <p:nvPr/>
        </p:nvSpPr>
        <p:spPr>
          <a:xfrm>
            <a:off x="4681728" y="3364992"/>
            <a:ext cx="2743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1050"/>
              <a:buFont typeface="Montserrat"/>
              <a:buNone/>
            </a:pPr>
            <a:r>
              <a:rPr b="1" lang="en-US" sz="1050" u="sng">
                <a:solidFill>
                  <a:srgbClr val="C9A84C"/>
                </a:solidFill>
                <a:latin typeface="Montserrat"/>
                <a:ea typeface="Montserrat"/>
                <a:cs typeface="Montserrat"/>
                <a:sym typeface="Montserrat"/>
                <a:hlinkClick r:id="rId7">
                  <a:extLst>
                    <a:ext uri="{A12FA001-AC4F-418D-AE19-62706E023703}">
                      <ahyp:hlinkClr val="tx"/>
                    </a:ext>
                  </a:extLst>
                </a:hlinkClick>
              </a:rPr>
              <a:t>EXPLORE THE FIELD KIT</a:t>
            </a:r>
            <a:endParaRPr sz="1050">
              <a:solidFill>
                <a:schemeClr val="dk1"/>
              </a:solidFill>
              <a:latin typeface="Calibri"/>
              <a:ea typeface="Calibri"/>
              <a:cs typeface="Calibri"/>
              <a:sym typeface="Calibri"/>
            </a:endParaRPr>
          </a:p>
        </p:txBody>
      </p:sp>
      <p:sp>
        <p:nvSpPr>
          <p:cNvPr id="604" name="Google Shape;604;g3fbe9e34838_0_94">
            <a:hlinkClick r:id="rId8"/>
          </p:cNvPr>
          <p:cNvSpPr/>
          <p:nvPr/>
        </p:nvSpPr>
        <p:spPr>
          <a:xfrm>
            <a:off x="4681728" y="3639312"/>
            <a:ext cx="27432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F0E8"/>
              </a:buClr>
              <a:buSzPts val="1100"/>
              <a:buFont typeface="DM Sans"/>
              <a:buNone/>
            </a:pPr>
            <a:r>
              <a:rPr lang="en-US" sz="1100" u="sng">
                <a:solidFill>
                  <a:srgbClr val="F5F0E8"/>
                </a:solidFill>
                <a:latin typeface="DM Sans"/>
                <a:ea typeface="DM Sans"/>
                <a:cs typeface="DM Sans"/>
                <a:sym typeface="DM Sans"/>
                <a:hlinkClick r:id="rId9">
                  <a:extLst>
                    <a:ext uri="{A12FA001-AC4F-418D-AE19-62706E023703}">
                      <ahyp:hlinkClr val="tx"/>
                    </a:ext>
                  </a:extLst>
                </a:hlinkClick>
              </a:rPr>
              <a:t>temidayoafonja.com/fieldkit</a:t>
            </a:r>
            <a:endParaRPr sz="1100">
              <a:solidFill>
                <a:schemeClr val="dk1"/>
              </a:solidFill>
              <a:latin typeface="Calibri"/>
              <a:ea typeface="Calibri"/>
              <a:cs typeface="Calibri"/>
              <a:sym typeface="Calibri"/>
            </a:endParaRPr>
          </a:p>
        </p:txBody>
      </p:sp>
      <p:sp>
        <p:nvSpPr>
          <p:cNvPr id="605" name="Google Shape;605;g3fbe9e34838_0_94"/>
          <p:cNvSpPr/>
          <p:nvPr/>
        </p:nvSpPr>
        <p:spPr>
          <a:xfrm>
            <a:off x="566928" y="4187952"/>
            <a:ext cx="80100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84"/>
              </a:buClr>
              <a:buSzPts val="1100"/>
              <a:buFont typeface="DM Sans"/>
              <a:buNone/>
            </a:pPr>
            <a:r>
              <a:rPr i="1" lang="en-US" sz="1100">
                <a:solidFill>
                  <a:srgbClr val="5A6B84"/>
                </a:solidFill>
                <a:latin typeface="DM Sans"/>
                <a:ea typeface="DM Sans"/>
                <a:cs typeface="DM Sans"/>
                <a:sym typeface="DM Sans"/>
              </a:rPr>
              <a:t>Use the Field Kit when you want to keep reading the position without needing another live session.</a:t>
            </a:r>
            <a:endParaRPr sz="1100">
              <a:solidFill>
                <a:schemeClr val="dk1"/>
              </a:solidFill>
              <a:latin typeface="Calibri"/>
              <a:ea typeface="Calibri"/>
              <a:cs typeface="Calibri"/>
              <a:sym typeface="Calibri"/>
            </a:endParaRPr>
          </a:p>
        </p:txBody>
      </p:sp>
      <p:sp>
        <p:nvSpPr>
          <p:cNvPr id="606" name="Google Shape;606;g3fbe9e34838_0_94"/>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
        <p:nvSpPr>
          <p:cNvPr id="607" name="Google Shape;607;g3fbe9e34838_0_94"/>
          <p:cNvSpPr/>
          <p:nvPr/>
        </p:nvSpPr>
        <p:spPr>
          <a:xfrm>
            <a:off x="8211312" y="4759452"/>
            <a:ext cx="3657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28</a:t>
            </a:r>
            <a:endParaRPr sz="7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612" name="Shape 612"/>
        <p:cNvGrpSpPr/>
        <p:nvPr/>
      </p:nvGrpSpPr>
      <p:grpSpPr>
        <a:xfrm>
          <a:off x="0" y="0"/>
          <a:ext cx="0" cy="0"/>
          <a:chOff x="0" y="0"/>
          <a:chExt cx="0" cy="0"/>
        </a:xfrm>
      </p:grpSpPr>
      <p:sp>
        <p:nvSpPr>
          <p:cNvPr id="613" name="Google Shape;613;g3fbe9e34838_0_128"/>
          <p:cNvSpPr/>
          <p:nvPr/>
        </p:nvSpPr>
        <p:spPr>
          <a:xfrm>
            <a:off x="566928" y="822960"/>
            <a:ext cx="8010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Montserrat"/>
              <a:buNone/>
            </a:pPr>
            <a:r>
              <a:rPr b="1" lang="en-US" sz="900">
                <a:solidFill>
                  <a:srgbClr val="C9A84C"/>
                </a:solidFill>
                <a:latin typeface="Montserrat"/>
                <a:ea typeface="Montserrat"/>
                <a:cs typeface="Montserrat"/>
                <a:sym typeface="Montserrat"/>
              </a:rPr>
              <a:t>BEFORE YOU GO</a:t>
            </a:r>
            <a:endParaRPr sz="900">
              <a:solidFill>
                <a:schemeClr val="dk1"/>
              </a:solidFill>
              <a:latin typeface="Calibri"/>
              <a:ea typeface="Calibri"/>
              <a:cs typeface="Calibri"/>
              <a:sym typeface="Calibri"/>
            </a:endParaRPr>
          </a:p>
        </p:txBody>
      </p:sp>
      <p:sp>
        <p:nvSpPr>
          <p:cNvPr id="614" name="Google Shape;614;g3fbe9e34838_0_128"/>
          <p:cNvSpPr/>
          <p:nvPr/>
        </p:nvSpPr>
        <p:spPr>
          <a:xfrm>
            <a:off x="566928" y="1188720"/>
            <a:ext cx="8010000" cy="1188600"/>
          </a:xfrm>
          <a:prstGeom prst="rect">
            <a:avLst/>
          </a:prstGeom>
          <a:noFill/>
          <a:ln>
            <a:noFill/>
          </a:ln>
        </p:spPr>
        <p:txBody>
          <a:bodyPr anchorCtr="0" anchor="ctr" bIns="0" lIns="0" spcFirstLastPara="1" rIns="0" wrap="square" tIns="0">
            <a:noAutofit/>
          </a:bodyPr>
          <a:lstStyle/>
          <a:p>
            <a:pPr indent="0" lvl="0" marL="0" marR="0" rtl="0" algn="l">
              <a:lnSpc>
                <a:spcPct val="122580"/>
              </a:lnSpc>
              <a:spcBef>
                <a:spcPts val="0"/>
              </a:spcBef>
              <a:spcAft>
                <a:spcPts val="0"/>
              </a:spcAft>
              <a:buClr>
                <a:srgbClr val="F5F0E8"/>
              </a:buClr>
              <a:buSzPts val="3100"/>
              <a:buFont typeface="Cormorant Garamond"/>
              <a:buNone/>
            </a:pPr>
            <a:r>
              <a:rPr b="1" lang="en-US" sz="3100">
                <a:solidFill>
                  <a:srgbClr val="F5F0E8"/>
                </a:solidFill>
                <a:latin typeface="Cormorant Garamond"/>
                <a:ea typeface="Cormorant Garamond"/>
                <a:cs typeface="Cormorant Garamond"/>
                <a:sym typeface="Cormorant Garamond"/>
              </a:rPr>
              <a:t>You came in asking stay or leave.</a:t>
            </a:r>
            <a:endParaRPr sz="3100">
              <a:solidFill>
                <a:schemeClr val="dk1"/>
              </a:solidFill>
              <a:latin typeface="Calibri"/>
              <a:ea typeface="Calibri"/>
              <a:cs typeface="Calibri"/>
              <a:sym typeface="Calibri"/>
            </a:endParaRPr>
          </a:p>
          <a:p>
            <a:pPr indent="0" lvl="0" marL="0" marR="0" rtl="0" algn="l">
              <a:lnSpc>
                <a:spcPct val="122580"/>
              </a:lnSpc>
              <a:spcBef>
                <a:spcPts val="0"/>
              </a:spcBef>
              <a:spcAft>
                <a:spcPts val="0"/>
              </a:spcAft>
              <a:buClr>
                <a:srgbClr val="F5F0E8"/>
              </a:buClr>
              <a:buSzPts val="3100"/>
              <a:buFont typeface="Cormorant Garamond"/>
              <a:buNone/>
            </a:pPr>
            <a:r>
              <a:rPr b="1" lang="en-US" sz="3100">
                <a:solidFill>
                  <a:srgbClr val="F5F0E8"/>
                </a:solidFill>
                <a:latin typeface="Cormorant Garamond"/>
                <a:ea typeface="Cormorant Garamond"/>
                <a:cs typeface="Cormorant Garamond"/>
                <a:sym typeface="Cormorant Garamond"/>
              </a:rPr>
              <a:t>You leave with a clearer read.</a:t>
            </a:r>
            <a:endParaRPr sz="3100">
              <a:solidFill>
                <a:schemeClr val="dk1"/>
              </a:solidFill>
              <a:latin typeface="Calibri"/>
              <a:ea typeface="Calibri"/>
              <a:cs typeface="Calibri"/>
              <a:sym typeface="Calibri"/>
            </a:endParaRPr>
          </a:p>
        </p:txBody>
      </p:sp>
      <p:sp>
        <p:nvSpPr>
          <p:cNvPr id="615" name="Google Shape;615;g3fbe9e34838_0_128"/>
          <p:cNvSpPr/>
          <p:nvPr/>
        </p:nvSpPr>
        <p:spPr>
          <a:xfrm>
            <a:off x="566928" y="2523744"/>
            <a:ext cx="2651700" cy="20100"/>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6" name="Google Shape;616;g3fbe9e34838_0_128"/>
          <p:cNvSpPr/>
          <p:nvPr/>
        </p:nvSpPr>
        <p:spPr>
          <a:xfrm>
            <a:off x="566925" y="2761500"/>
            <a:ext cx="8010000" cy="1617900"/>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B8C5D9"/>
              </a:buClr>
              <a:buSzPts val="1300"/>
              <a:buFont typeface="DM Sans"/>
              <a:buNone/>
            </a:pPr>
            <a:r>
              <a:rPr lang="en-US" sz="1500">
                <a:solidFill>
                  <a:srgbClr val="B8C5D9"/>
                </a:solidFill>
                <a:latin typeface="DM Sans"/>
                <a:ea typeface="DM Sans"/>
                <a:cs typeface="DM Sans"/>
                <a:sym typeface="DM Sans"/>
              </a:rPr>
              <a:t>I have not made that decision for you, and I should not. What you have is a clearer read of what this work is building, what may travel, where the evidence is thin, and what deserves testing next. Put a date ninety days from now on your note, then come back and see what changed.</a:t>
            </a:r>
            <a:endParaRPr sz="1500">
              <a:solidFill>
                <a:schemeClr val="dk1"/>
              </a:solidFill>
              <a:latin typeface="Calibri"/>
              <a:ea typeface="Calibri"/>
              <a:cs typeface="Calibri"/>
              <a:sym typeface="Calibri"/>
            </a:endParaRPr>
          </a:p>
        </p:txBody>
      </p:sp>
      <p:sp>
        <p:nvSpPr>
          <p:cNvPr id="617" name="Google Shape;617;g3fbe9e34838_0_128"/>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C5D9"/>
              </a:buClr>
              <a:buSzPts val="700"/>
              <a:buFont typeface="Montserrat"/>
              <a:buNone/>
            </a:pPr>
            <a:r>
              <a:rPr b="1" lang="en-US" sz="700">
                <a:solidFill>
                  <a:srgbClr val="B8C5D9"/>
                </a:solidFill>
                <a:latin typeface="Montserrat"/>
                <a:ea typeface="Montserrat"/>
                <a:cs typeface="Montserrat"/>
                <a:sym typeface="Montserrat"/>
              </a:rPr>
              <a:t>TEMIDAYO AFONJA   |   THE DENSITY GROUP</a:t>
            </a:r>
            <a:endParaRPr sz="7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22" name="Shape 622"/>
        <p:cNvGrpSpPr/>
        <p:nvPr/>
      </p:nvGrpSpPr>
      <p:grpSpPr>
        <a:xfrm>
          <a:off x="0" y="0"/>
          <a:ext cx="0" cy="0"/>
          <a:chOff x="0" y="0"/>
          <a:chExt cx="0" cy="0"/>
        </a:xfrm>
      </p:grpSpPr>
      <p:sp>
        <p:nvSpPr>
          <p:cNvPr id="623" name="Google Shape;623;g3fbec47727c_0_117"/>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i="0" lang="en-US" sz="4000" u="none" cap="none" strike="noStrike">
                <a:solidFill>
                  <a:srgbClr val="0F2347"/>
                </a:solidFill>
                <a:latin typeface="Cormorant Garamond"/>
                <a:ea typeface="Cormorant Garamond"/>
                <a:cs typeface="Cormorant Garamond"/>
                <a:sym typeface="Cormorant Garamond"/>
              </a:rPr>
              <a:t>Q &amp; A</a:t>
            </a:r>
            <a:endParaRPr b="0" i="0" sz="4000" u="none" cap="none" strike="noStrike">
              <a:solidFill>
                <a:schemeClr val="dk1"/>
              </a:solidFill>
              <a:latin typeface="Calibri"/>
              <a:ea typeface="Calibri"/>
              <a:cs typeface="Calibri"/>
              <a:sym typeface="Calibri"/>
            </a:endParaRPr>
          </a:p>
        </p:txBody>
      </p:sp>
      <p:sp>
        <p:nvSpPr>
          <p:cNvPr id="624" name="Google Shape;624;g3fbec47727c_0_117"/>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29" name="Shape 629"/>
        <p:cNvGrpSpPr/>
        <p:nvPr/>
      </p:nvGrpSpPr>
      <p:grpSpPr>
        <a:xfrm>
          <a:off x="0" y="0"/>
          <a:ext cx="0" cy="0"/>
          <a:chOff x="0" y="0"/>
          <a:chExt cx="0" cy="0"/>
        </a:xfrm>
      </p:grpSpPr>
      <p:sp>
        <p:nvSpPr>
          <p:cNvPr id="630" name="Google Shape;630;h11f538478445b104_1_2"/>
          <p:cNvSpPr/>
          <p:nvPr/>
        </p:nvSpPr>
        <p:spPr>
          <a:xfrm>
            <a:off x="566928" y="603504"/>
            <a:ext cx="8010000" cy="8229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i="0" lang="en-US" sz="4000" u="none" cap="none" strike="noStrike">
                <a:solidFill>
                  <a:srgbClr val="0F2347"/>
                </a:solidFill>
                <a:latin typeface="Cormorant Garamond"/>
                <a:ea typeface="Cormorant Garamond"/>
                <a:cs typeface="Cormorant Garamond"/>
                <a:sym typeface="Cormorant Garamond"/>
              </a:rPr>
              <a:t>Q &amp; A</a:t>
            </a:r>
            <a:endParaRPr b="0" i="0" sz="4000" u="none" cap="none" strike="noStrike">
              <a:solidFill>
                <a:schemeClr val="dk1"/>
              </a:solidFill>
              <a:latin typeface="Calibri"/>
              <a:ea typeface="Calibri"/>
              <a:cs typeface="Calibri"/>
              <a:sym typeface="Calibri"/>
            </a:endParaRPr>
          </a:p>
        </p:txBody>
      </p:sp>
      <p:sp>
        <p:nvSpPr>
          <p:cNvPr id="631" name="Google Shape;631;h11f538478445b104_1_2"/>
          <p:cNvSpPr/>
          <p:nvPr/>
        </p:nvSpPr>
        <p:spPr>
          <a:xfrm>
            <a:off x="567003" y="2523836"/>
            <a:ext cx="8010000" cy="54870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2" name="Google Shape;632;h11f538478445b104_1_2"/>
          <p:cNvSpPr/>
          <p:nvPr/>
        </p:nvSpPr>
        <p:spPr>
          <a:xfrm>
            <a:off x="804747" y="2523836"/>
            <a:ext cx="75348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500"/>
              <a:buFont typeface="Cormorant Garamond"/>
              <a:buNone/>
            </a:pPr>
            <a:r>
              <a:rPr b="1" i="0" lang="en-US" sz="1500" u="none" cap="none" strike="noStrike">
                <a:solidFill>
                  <a:srgbClr val="F5F0E8"/>
                </a:solidFill>
                <a:latin typeface="Cormorant Garamond"/>
                <a:ea typeface="Cormorant Garamond"/>
                <a:cs typeface="Cormorant Garamond"/>
                <a:sym typeface="Cormorant Garamond"/>
              </a:rPr>
              <a:t>“I can help you clarify what your evidence supports. I cannot make the employment decision for you.”</a:t>
            </a:r>
            <a:endParaRPr b="0" i="0" sz="1500" u="none" cap="none" strike="noStrike">
              <a:solidFill>
                <a:schemeClr val="dk1"/>
              </a:solidFill>
              <a:latin typeface="Calibri"/>
              <a:ea typeface="Calibri"/>
              <a:cs typeface="Calibri"/>
              <a:sym typeface="Calibri"/>
            </a:endParaRPr>
          </a:p>
        </p:txBody>
      </p:sp>
      <p:sp>
        <p:nvSpPr>
          <p:cNvPr id="633" name="Google Shape;633;h11f538478445b104_1_2"/>
          <p:cNvSpPr/>
          <p:nvPr/>
        </p:nvSpPr>
        <p:spPr>
          <a:xfrm>
            <a:off x="566928" y="4759452"/>
            <a:ext cx="4755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38" name="Shape 638"/>
        <p:cNvGrpSpPr/>
        <p:nvPr/>
      </p:nvGrpSpPr>
      <p:grpSpPr>
        <a:xfrm>
          <a:off x="0" y="0"/>
          <a:ext cx="0" cy="0"/>
          <a:chOff x="0" y="0"/>
          <a:chExt cx="0" cy="0"/>
        </a:xfrm>
      </p:grpSpPr>
      <p:sp>
        <p:nvSpPr>
          <p:cNvPr id="639" name="Google Shape;639;p26"/>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950"/>
              <a:buFont typeface="Montserrat"/>
              <a:buNone/>
            </a:pPr>
            <a:r>
              <a:rPr b="1" i="0" lang="en-US" sz="950" u="none" cap="none" strike="noStrike">
                <a:solidFill>
                  <a:srgbClr val="C1440E"/>
                </a:solidFill>
                <a:latin typeface="Montserrat"/>
                <a:ea typeface="Montserrat"/>
                <a:cs typeface="Montserrat"/>
                <a:sym typeface="Montserrat"/>
              </a:rPr>
              <a:t>LIVE ONLY  ·  RECORDING OFF  ·  10 MINUTES</a:t>
            </a:r>
            <a:endParaRPr b="0" i="0" sz="950" u="none" cap="none" strike="noStrike">
              <a:solidFill>
                <a:schemeClr val="dk1"/>
              </a:solidFill>
              <a:latin typeface="Calibri"/>
              <a:ea typeface="Calibri"/>
              <a:cs typeface="Calibri"/>
              <a:sym typeface="Calibri"/>
            </a:endParaRPr>
          </a:p>
        </p:txBody>
      </p:sp>
      <p:sp>
        <p:nvSpPr>
          <p:cNvPr id="640" name="Google Shape;640;p26"/>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200"/>
              <a:buFont typeface="Cormorant Garamond"/>
              <a:buNone/>
            </a:pPr>
            <a:r>
              <a:rPr b="1" i="0" lang="en-US" sz="3200" u="none" cap="none" strike="noStrike">
                <a:solidFill>
                  <a:srgbClr val="0F2347"/>
                </a:solidFill>
                <a:latin typeface="Cormorant Garamond"/>
                <a:ea typeface="Cormorant Garamond"/>
                <a:cs typeface="Cormorant Garamond"/>
                <a:sym typeface="Cormorant Garamond"/>
              </a:rPr>
              <a:t>Questions &amp; Applications</a:t>
            </a:r>
            <a:endParaRPr b="0" i="0" sz="3200" u="none" cap="none" strike="noStrike">
              <a:solidFill>
                <a:schemeClr val="dk1"/>
              </a:solidFill>
              <a:latin typeface="Calibri"/>
              <a:ea typeface="Calibri"/>
              <a:cs typeface="Calibri"/>
              <a:sym typeface="Calibri"/>
            </a:endParaRPr>
          </a:p>
        </p:txBody>
      </p:sp>
      <p:sp>
        <p:nvSpPr>
          <p:cNvPr id="641" name="Google Shape;641;p26"/>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Ten minutes. The recording has stopped.</a:t>
            </a:r>
            <a:endParaRPr b="0" i="0" sz="1150" u="none" cap="none" strike="noStrike">
              <a:solidFill>
                <a:schemeClr val="dk1"/>
              </a:solidFill>
              <a:latin typeface="Calibri"/>
              <a:ea typeface="Calibri"/>
              <a:cs typeface="Calibri"/>
              <a:sym typeface="Calibri"/>
            </a:endParaRPr>
          </a:p>
        </p:txBody>
      </p:sp>
      <p:sp>
        <p:nvSpPr>
          <p:cNvPr id="642" name="Google Shape;642;p26"/>
          <p:cNvSpPr/>
          <p:nvPr/>
        </p:nvSpPr>
        <p:spPr>
          <a:xfrm>
            <a:off x="566928" y="1773936"/>
            <a:ext cx="8010144" cy="54864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3" name="Google Shape;643;p26"/>
          <p:cNvSpPr/>
          <p:nvPr/>
        </p:nvSpPr>
        <p:spPr>
          <a:xfrm>
            <a:off x="804672" y="1773936"/>
            <a:ext cx="7534656"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1500"/>
              <a:buFont typeface="Cormorant Garamond"/>
              <a:buNone/>
            </a:pPr>
            <a:r>
              <a:rPr b="1" i="0" lang="en-US" sz="1500" u="none" cap="none" strike="noStrike">
                <a:solidFill>
                  <a:srgbClr val="F5F0E8"/>
                </a:solidFill>
                <a:latin typeface="Cormorant Garamond"/>
                <a:ea typeface="Cormorant Garamond"/>
                <a:cs typeface="Cormorant Garamond"/>
                <a:sym typeface="Cormorant Garamond"/>
              </a:rPr>
              <a:t>“I can help you clarify what your evidence supports. I cannot make the employment decision for you.”</a:t>
            </a:r>
            <a:endParaRPr b="0" i="0" sz="1500" u="none" cap="none" strike="noStrike">
              <a:solidFill>
                <a:schemeClr val="dk1"/>
              </a:solidFill>
              <a:latin typeface="Calibri"/>
              <a:ea typeface="Calibri"/>
              <a:cs typeface="Calibri"/>
              <a:sym typeface="Calibri"/>
            </a:endParaRPr>
          </a:p>
        </p:txBody>
      </p:sp>
      <p:sp>
        <p:nvSpPr>
          <p:cNvPr id="644" name="Google Shape;644;p26"/>
          <p:cNvSpPr/>
          <p:nvPr/>
        </p:nvSpPr>
        <p:spPr>
          <a:xfrm>
            <a:off x="566928" y="2487168"/>
            <a:ext cx="3886200" cy="1591056"/>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5" name="Google Shape;645;p26"/>
          <p:cNvSpPr/>
          <p:nvPr/>
        </p:nvSpPr>
        <p:spPr>
          <a:xfrm>
            <a:off x="786384" y="2633472"/>
            <a:ext cx="3474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820"/>
              <a:buFont typeface="Montserrat"/>
              <a:buNone/>
            </a:pPr>
            <a:r>
              <a:rPr b="1" i="0" lang="en-US" sz="820" u="none" cap="none" strike="noStrike">
                <a:solidFill>
                  <a:srgbClr val="0F2347"/>
                </a:solidFill>
                <a:latin typeface="Montserrat"/>
                <a:ea typeface="Montserrat"/>
                <a:cs typeface="Montserrat"/>
                <a:sym typeface="Montserrat"/>
              </a:rPr>
              <a:t>WELCOME</a:t>
            </a:r>
            <a:endParaRPr b="0" i="0" sz="820" u="none" cap="none" strike="noStrike">
              <a:solidFill>
                <a:schemeClr val="dk1"/>
              </a:solidFill>
              <a:latin typeface="Calibri"/>
              <a:ea typeface="Calibri"/>
              <a:cs typeface="Calibri"/>
              <a:sym typeface="Calibri"/>
            </a:endParaRPr>
          </a:p>
        </p:txBody>
      </p:sp>
      <p:sp>
        <p:nvSpPr>
          <p:cNvPr id="646" name="Google Shape;646;p26"/>
          <p:cNvSpPr/>
          <p:nvPr/>
        </p:nvSpPr>
        <p:spPr>
          <a:xfrm>
            <a:off x="786384" y="2871216"/>
            <a:ext cx="3474720" cy="1097280"/>
          </a:xfrm>
          <a:prstGeom prst="rect">
            <a:avLst/>
          </a:prstGeom>
          <a:noFill/>
          <a:ln>
            <a:noFill/>
          </a:ln>
        </p:spPr>
        <p:txBody>
          <a:bodyPr anchorCtr="0" anchor="ctr" bIns="0" lIns="0" spcFirstLastPara="1" rIns="0" wrap="square" tIns="0">
            <a:noAutofit/>
          </a:bodyPr>
          <a:lstStyle/>
          <a:p>
            <a:pPr indent="0" lvl="0" marL="0" marR="0" rtl="0" algn="l">
              <a:lnSpc>
                <a:spcPct val="134615"/>
              </a:lnSpc>
              <a:spcBef>
                <a:spcPts val="0"/>
              </a:spcBef>
              <a:spcAft>
                <a:spcPts val="0"/>
              </a:spcAft>
              <a:buClr>
                <a:srgbClr val="0F2347"/>
              </a:buClr>
              <a:buSzPts val="1040"/>
              <a:buFont typeface="DM Sans"/>
              <a:buNone/>
            </a:pPr>
            <a:r>
              <a:rPr b="0" i="0" lang="en-US" sz="1040" u="none" cap="none" strike="noStrike">
                <a:solidFill>
                  <a:srgbClr val="0F2347"/>
                </a:solidFill>
                <a:latin typeface="DM Sans"/>
                <a:ea typeface="DM Sans"/>
                <a:cs typeface="DM Sans"/>
                <a:sym typeface="DM Sans"/>
              </a:rPr>
              <a:t>Statement interpretation  ·  the evidence protocol  ·  boundary and incomplete readings  ·  move-category distinctions  ·  what to investigate next</a:t>
            </a:r>
            <a:endParaRPr b="0" i="0" sz="1040" u="none" cap="none" strike="noStrike">
              <a:solidFill>
                <a:schemeClr val="dk1"/>
              </a:solidFill>
              <a:latin typeface="Calibri"/>
              <a:ea typeface="Calibri"/>
              <a:cs typeface="Calibri"/>
              <a:sym typeface="Calibri"/>
            </a:endParaRPr>
          </a:p>
        </p:txBody>
      </p:sp>
      <p:sp>
        <p:nvSpPr>
          <p:cNvPr id="647" name="Google Shape;647;p26"/>
          <p:cNvSpPr/>
          <p:nvPr/>
        </p:nvSpPr>
        <p:spPr>
          <a:xfrm>
            <a:off x="4690872" y="2487168"/>
            <a:ext cx="3886200" cy="1591056"/>
          </a:xfrm>
          <a:prstGeom prst="rect">
            <a:avLst/>
          </a:prstGeom>
          <a:solidFill>
            <a:srgbClr val="C1440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8" name="Google Shape;648;p26"/>
          <p:cNvSpPr/>
          <p:nvPr/>
        </p:nvSpPr>
        <p:spPr>
          <a:xfrm>
            <a:off x="4910328" y="2633472"/>
            <a:ext cx="3474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820"/>
              <a:buFont typeface="Montserrat"/>
              <a:buNone/>
            </a:pPr>
            <a:r>
              <a:rPr b="1" i="0" lang="en-US" sz="820" u="none" cap="none" strike="noStrike">
                <a:solidFill>
                  <a:srgbClr val="F5F0E8"/>
                </a:solidFill>
                <a:latin typeface="Montserrat"/>
                <a:ea typeface="Montserrat"/>
                <a:cs typeface="Montserrat"/>
                <a:sym typeface="Montserrat"/>
              </a:rPr>
              <a:t>OUTSIDE THE BOUNDARY</a:t>
            </a:r>
            <a:endParaRPr b="0" i="0" sz="820" u="none" cap="none" strike="noStrike">
              <a:solidFill>
                <a:schemeClr val="dk1"/>
              </a:solidFill>
              <a:latin typeface="Calibri"/>
              <a:ea typeface="Calibri"/>
              <a:cs typeface="Calibri"/>
              <a:sym typeface="Calibri"/>
            </a:endParaRPr>
          </a:p>
        </p:txBody>
      </p:sp>
      <p:sp>
        <p:nvSpPr>
          <p:cNvPr id="649" name="Google Shape;649;p26"/>
          <p:cNvSpPr/>
          <p:nvPr/>
        </p:nvSpPr>
        <p:spPr>
          <a:xfrm>
            <a:off x="4910328" y="2871216"/>
            <a:ext cx="3474720" cy="1097280"/>
          </a:xfrm>
          <a:prstGeom prst="rect">
            <a:avLst/>
          </a:prstGeom>
          <a:noFill/>
          <a:ln>
            <a:noFill/>
          </a:ln>
        </p:spPr>
        <p:txBody>
          <a:bodyPr anchorCtr="0" anchor="ctr" bIns="0" lIns="0" spcFirstLastPara="1" rIns="0" wrap="square" tIns="0">
            <a:noAutofit/>
          </a:bodyPr>
          <a:lstStyle/>
          <a:p>
            <a:pPr indent="0" lvl="0" marL="0" marR="0" rtl="0" algn="l">
              <a:lnSpc>
                <a:spcPct val="134615"/>
              </a:lnSpc>
              <a:spcBef>
                <a:spcPts val="0"/>
              </a:spcBef>
              <a:spcAft>
                <a:spcPts val="0"/>
              </a:spcAft>
              <a:buClr>
                <a:srgbClr val="F5F0E8"/>
              </a:buClr>
              <a:buSzPts val="1040"/>
              <a:buFont typeface="DM Sans"/>
              <a:buNone/>
            </a:pPr>
            <a:r>
              <a:rPr b="0" i="0" lang="en-US" sz="1040" u="none" cap="none" strike="noStrike">
                <a:solidFill>
                  <a:srgbClr val="F5F0E8"/>
                </a:solidFill>
                <a:latin typeface="DM Sans"/>
                <a:ea typeface="DM Sans"/>
                <a:cs typeface="DM Sans"/>
                <a:sym typeface="DM Sans"/>
              </a:rPr>
              <a:t>Telling someone to stay or leave  ·  predicting layoffs  ·  legal, medical, financial, immigration or tax questions  ·  diagnosing an employer  ·  asking for scores, states or employer names</a:t>
            </a:r>
            <a:endParaRPr b="0" i="0" sz="1040" u="none" cap="none" strike="noStrike">
              <a:solidFill>
                <a:schemeClr val="dk1"/>
              </a:solidFill>
              <a:latin typeface="Calibri"/>
              <a:ea typeface="Calibri"/>
              <a:cs typeface="Calibri"/>
              <a:sym typeface="Calibri"/>
            </a:endParaRPr>
          </a:p>
        </p:txBody>
      </p:sp>
      <p:sp>
        <p:nvSpPr>
          <p:cNvPr id="650" name="Google Shape;650;p26"/>
          <p:cNvSpPr/>
          <p:nvPr/>
        </p:nvSpPr>
        <p:spPr>
          <a:xfrm>
            <a:off x="566928" y="4224528"/>
            <a:ext cx="8010144"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347"/>
              </a:buClr>
              <a:buSzPts val="1150"/>
              <a:buFont typeface="DM Sans"/>
              <a:buNone/>
            </a:pPr>
            <a:r>
              <a:rPr b="1" i="0" lang="en-US" sz="1150" u="none" cap="none" strike="noStrike">
                <a:solidFill>
                  <a:srgbClr val="0F2347"/>
                </a:solidFill>
                <a:latin typeface="DM Sans"/>
                <a:ea typeface="DM Sans"/>
                <a:cs typeface="DM Sans"/>
                <a:sym typeface="DM Sans"/>
              </a:rPr>
              <a:t>Close at 60:00.</a:t>
            </a:r>
            <a:endParaRPr b="0" i="0" sz="1150" u="none" cap="none" strike="noStrike">
              <a:solidFill>
                <a:schemeClr val="dk1"/>
              </a:solidFill>
              <a:latin typeface="Calibri"/>
              <a:ea typeface="Calibri"/>
              <a:cs typeface="Calibri"/>
              <a:sym typeface="Calibri"/>
            </a:endParaRPr>
          </a:p>
        </p:txBody>
      </p:sp>
      <p:sp>
        <p:nvSpPr>
          <p:cNvPr id="651" name="Google Shape;651;p26"/>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652" name="Google Shape;652;p26"/>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29</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57" name="Shape 657"/>
        <p:cNvGrpSpPr/>
        <p:nvPr/>
      </p:nvGrpSpPr>
      <p:grpSpPr>
        <a:xfrm>
          <a:off x="0" y="0"/>
          <a:ext cx="0" cy="0"/>
          <a:chOff x="0" y="0"/>
          <a:chExt cx="0" cy="0"/>
        </a:xfrm>
      </p:grpSpPr>
      <p:sp>
        <p:nvSpPr>
          <p:cNvPr id="658" name="Google Shape;658;p27"/>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NOT PART OF THE RECORDED CORE</a:t>
            </a:r>
            <a:endParaRPr b="0" i="0" sz="950" u="none" cap="none" strike="noStrike">
              <a:solidFill>
                <a:schemeClr val="dk1"/>
              </a:solidFill>
              <a:latin typeface="Calibri"/>
              <a:ea typeface="Calibri"/>
              <a:cs typeface="Calibri"/>
              <a:sym typeface="Calibri"/>
            </a:endParaRPr>
          </a:p>
        </p:txBody>
      </p:sp>
      <p:sp>
        <p:nvSpPr>
          <p:cNvPr id="659" name="Google Shape;659;p27"/>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Position Exposure Signals</a:t>
            </a:r>
            <a:endParaRPr b="0" i="0" sz="2600" u="none" cap="none" strike="noStrike">
              <a:solidFill>
                <a:schemeClr val="dk1"/>
              </a:solidFill>
              <a:latin typeface="Calibri"/>
              <a:ea typeface="Calibri"/>
              <a:cs typeface="Calibri"/>
              <a:sym typeface="Calibri"/>
            </a:endParaRPr>
          </a:p>
        </p:txBody>
      </p:sp>
      <p:sp>
        <p:nvSpPr>
          <p:cNvPr id="660" name="Google Shape;660;p27"/>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Questions to investigate, not predictions.</a:t>
            </a:r>
            <a:endParaRPr b="0" i="0" sz="1150" u="none" cap="none" strike="noStrike">
              <a:solidFill>
                <a:schemeClr val="dk1"/>
              </a:solidFill>
              <a:latin typeface="Calibri"/>
              <a:ea typeface="Calibri"/>
              <a:cs typeface="Calibri"/>
              <a:sym typeface="Calibri"/>
            </a:endParaRPr>
          </a:p>
        </p:txBody>
      </p:sp>
      <p:sp>
        <p:nvSpPr>
          <p:cNvPr id="661" name="Google Shape;661;p27"/>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2" name="Google Shape;662;p27"/>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Your current role</a:t>
            </a:r>
            <a:endParaRPr b="0" i="0" sz="1250" u="none" cap="none" strike="noStrike">
              <a:solidFill>
                <a:schemeClr val="dk1"/>
              </a:solidFill>
              <a:latin typeface="Calibri"/>
              <a:ea typeface="Calibri"/>
              <a:cs typeface="Calibri"/>
              <a:sym typeface="Calibri"/>
            </a:endParaRPr>
          </a:p>
        </p:txBody>
      </p:sp>
      <p:sp>
        <p:nvSpPr>
          <p:cNvPr id="663" name="Google Shape;663;p27"/>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Is the mandate being absorbed, narrowed, duplicated or repeatedly redefined?</a:t>
            </a:r>
            <a:endParaRPr b="0" i="0" sz="1100" u="none" cap="none" strike="noStrike">
              <a:solidFill>
                <a:schemeClr val="dk1"/>
              </a:solidFill>
              <a:latin typeface="Calibri"/>
              <a:ea typeface="Calibri"/>
              <a:cs typeface="Calibri"/>
              <a:sym typeface="Calibri"/>
            </a:endParaRPr>
          </a:p>
        </p:txBody>
      </p:sp>
      <p:sp>
        <p:nvSpPr>
          <p:cNvPr id="664" name="Google Shape;664;p27"/>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5" name="Google Shape;665;p27"/>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A role you are considering</a:t>
            </a:r>
            <a:endParaRPr b="0" i="0" sz="1250" u="none" cap="none" strike="noStrike">
              <a:solidFill>
                <a:schemeClr val="dk1"/>
              </a:solidFill>
              <a:latin typeface="Calibri"/>
              <a:ea typeface="Calibri"/>
              <a:cs typeface="Calibri"/>
              <a:sym typeface="Calibri"/>
            </a:endParaRPr>
          </a:p>
        </p:txBody>
      </p:sp>
      <p:sp>
        <p:nvSpPr>
          <p:cNvPr id="666" name="Google Shape;666;p27"/>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Does the position exist because of a strategy, or because of one sponsor?</a:t>
            </a:r>
            <a:endParaRPr b="0" i="0" sz="1100" u="none" cap="none" strike="noStrike">
              <a:solidFill>
                <a:schemeClr val="dk1"/>
              </a:solidFill>
              <a:latin typeface="Calibri"/>
              <a:ea typeface="Calibri"/>
              <a:cs typeface="Calibri"/>
              <a:sym typeface="Calibri"/>
            </a:endParaRPr>
          </a:p>
        </p:txBody>
      </p:sp>
      <p:sp>
        <p:nvSpPr>
          <p:cNvPr id="667" name="Google Shape;667;p27"/>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8" name="Google Shape;668;p27"/>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Either</a:t>
            </a:r>
            <a:endParaRPr b="0" i="0" sz="1250" u="none" cap="none" strike="noStrike">
              <a:solidFill>
                <a:schemeClr val="dk1"/>
              </a:solidFill>
              <a:latin typeface="Calibri"/>
              <a:ea typeface="Calibri"/>
              <a:cs typeface="Calibri"/>
              <a:sym typeface="Calibri"/>
            </a:endParaRPr>
          </a:p>
        </p:txBody>
      </p:sp>
      <p:sp>
        <p:nvSpPr>
          <p:cNvPr id="669" name="Google Shape;669;p27"/>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Who outside your manager would notice if the function disappeared?</a:t>
            </a:r>
            <a:endParaRPr b="0" i="0" sz="1100" u="none" cap="none" strike="noStrike">
              <a:solidFill>
                <a:schemeClr val="dk1"/>
              </a:solidFill>
              <a:latin typeface="Calibri"/>
              <a:ea typeface="Calibri"/>
              <a:cs typeface="Calibri"/>
              <a:sym typeface="Calibri"/>
            </a:endParaRPr>
          </a:p>
        </p:txBody>
      </p:sp>
      <p:sp>
        <p:nvSpPr>
          <p:cNvPr id="670" name="Google Shape;670;p27"/>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75" name="Shape 675"/>
        <p:cNvGrpSpPr/>
        <p:nvPr/>
      </p:nvGrpSpPr>
      <p:grpSpPr>
        <a:xfrm>
          <a:off x="0" y="0"/>
          <a:ext cx="0" cy="0"/>
          <a:chOff x="0" y="0"/>
          <a:chExt cx="0" cy="0"/>
        </a:xfrm>
      </p:grpSpPr>
      <p:sp>
        <p:nvSpPr>
          <p:cNvPr id="676" name="Google Shape;676;p28"/>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NOT PART OF THE RECORDED CORE</a:t>
            </a:r>
            <a:endParaRPr b="0" i="0" sz="950" u="none" cap="none" strike="noStrike">
              <a:solidFill>
                <a:schemeClr val="dk1"/>
              </a:solidFill>
              <a:latin typeface="Calibri"/>
              <a:ea typeface="Calibri"/>
              <a:cs typeface="Calibri"/>
              <a:sym typeface="Calibri"/>
            </a:endParaRPr>
          </a:p>
        </p:txBody>
      </p:sp>
      <p:sp>
        <p:nvSpPr>
          <p:cNvPr id="677" name="Google Shape;677;p28"/>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AI and Compounding</a:t>
            </a:r>
            <a:endParaRPr b="0" i="0" sz="2600" u="none" cap="none" strike="noStrike">
              <a:solidFill>
                <a:schemeClr val="dk1"/>
              </a:solidFill>
              <a:latin typeface="Calibri"/>
              <a:ea typeface="Calibri"/>
              <a:cs typeface="Calibri"/>
              <a:sym typeface="Calibri"/>
            </a:endParaRPr>
          </a:p>
        </p:txBody>
      </p:sp>
      <p:sp>
        <p:nvSpPr>
          <p:cNvPr id="678" name="Google Shape;678;p28"/>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An application of the two axes. Not a technology session.</a:t>
            </a:r>
            <a:endParaRPr b="0" i="0" sz="1150" u="none" cap="none" strike="noStrike">
              <a:solidFill>
                <a:schemeClr val="dk1"/>
              </a:solidFill>
              <a:latin typeface="Calibri"/>
              <a:ea typeface="Calibri"/>
              <a:cs typeface="Calibri"/>
              <a:sym typeface="Calibri"/>
            </a:endParaRPr>
          </a:p>
        </p:txBody>
      </p:sp>
      <p:sp>
        <p:nvSpPr>
          <p:cNvPr id="679" name="Google Shape;679;p28"/>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0" name="Google Shape;680;p28"/>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reading does not change</a:t>
            </a:r>
            <a:endParaRPr b="0" i="0" sz="1250" u="none" cap="none" strike="noStrike">
              <a:solidFill>
                <a:schemeClr val="dk1"/>
              </a:solidFill>
              <a:latin typeface="Calibri"/>
              <a:ea typeface="Calibri"/>
              <a:cs typeface="Calibri"/>
              <a:sym typeface="Calibri"/>
            </a:endParaRPr>
          </a:p>
        </p:txBody>
      </p:sp>
      <p:sp>
        <p:nvSpPr>
          <p:cNvPr id="681" name="Google Shape;681;p28"/>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Where AI makes routine output easier to reproduce, your position depends more heavily on judgment, learning velocity, and capability that travels across unfamiliar problems.</a:t>
            </a:r>
            <a:endParaRPr b="0" i="0" sz="1100" u="none" cap="none" strike="noStrike">
              <a:solidFill>
                <a:schemeClr val="dk1"/>
              </a:solidFill>
              <a:latin typeface="Calibri"/>
              <a:ea typeface="Calibri"/>
              <a:cs typeface="Calibri"/>
              <a:sym typeface="Calibri"/>
            </a:endParaRPr>
          </a:p>
        </p:txBody>
      </p:sp>
      <p:sp>
        <p:nvSpPr>
          <p:cNvPr id="682" name="Google Shape;682;p28"/>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3" name="Google Shape;683;p28"/>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Density and Optionality do not become less important</a:t>
            </a:r>
            <a:endParaRPr b="0" i="0" sz="1250" u="none" cap="none" strike="noStrike">
              <a:solidFill>
                <a:schemeClr val="dk1"/>
              </a:solidFill>
              <a:latin typeface="Calibri"/>
              <a:ea typeface="Calibri"/>
              <a:cs typeface="Calibri"/>
              <a:sym typeface="Calibri"/>
            </a:endParaRPr>
          </a:p>
        </p:txBody>
      </p:sp>
      <p:sp>
        <p:nvSpPr>
          <p:cNvPr id="684" name="Google Shape;684;p28"/>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They become more consequential.</a:t>
            </a:r>
            <a:endParaRPr b="0" i="0" sz="1100" u="none" cap="none" strike="noStrike">
              <a:solidFill>
                <a:schemeClr val="dk1"/>
              </a:solidFill>
              <a:latin typeface="Calibri"/>
              <a:ea typeface="Calibri"/>
              <a:cs typeface="Calibri"/>
              <a:sym typeface="Calibri"/>
            </a:endParaRPr>
          </a:p>
        </p:txBody>
      </p:sp>
      <p:sp>
        <p:nvSpPr>
          <p:cNvPr id="685" name="Google Shape;685;p28"/>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6" name="Google Shape;686;p28"/>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What this is not</a:t>
            </a:r>
            <a:endParaRPr b="0" i="0" sz="1250" u="none" cap="none" strike="noStrike">
              <a:solidFill>
                <a:schemeClr val="dk1"/>
              </a:solidFill>
              <a:latin typeface="Calibri"/>
              <a:ea typeface="Calibri"/>
              <a:cs typeface="Calibri"/>
              <a:sym typeface="Calibri"/>
            </a:endParaRPr>
          </a:p>
        </p:txBody>
      </p:sp>
      <p:sp>
        <p:nvSpPr>
          <p:cNvPr id="687" name="Google Shape;687;p28"/>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Not a prediction about jobs, tools or timelines. No tool names.</a:t>
            </a:r>
            <a:endParaRPr b="0" i="0" sz="1100" u="none" cap="none" strike="noStrike">
              <a:solidFill>
                <a:schemeClr val="dk1"/>
              </a:solidFill>
              <a:latin typeface="Calibri"/>
              <a:ea typeface="Calibri"/>
              <a:cs typeface="Calibri"/>
              <a:sym typeface="Calibri"/>
            </a:endParaRPr>
          </a:p>
        </p:txBody>
      </p:sp>
      <p:sp>
        <p:nvSpPr>
          <p:cNvPr id="688" name="Google Shape;688;p28"/>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693" name="Shape 693"/>
        <p:cNvGrpSpPr/>
        <p:nvPr/>
      </p:nvGrpSpPr>
      <p:grpSpPr>
        <a:xfrm>
          <a:off x="0" y="0"/>
          <a:ext cx="0" cy="0"/>
          <a:chOff x="0" y="0"/>
          <a:chExt cx="0" cy="0"/>
        </a:xfrm>
      </p:grpSpPr>
      <p:sp>
        <p:nvSpPr>
          <p:cNvPr id="694" name="Google Shape;694;p29"/>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NOT PART OF THE RECORDED CORE</a:t>
            </a:r>
            <a:endParaRPr b="0" i="0" sz="950" u="none" cap="none" strike="noStrike">
              <a:solidFill>
                <a:schemeClr val="dk1"/>
              </a:solidFill>
              <a:latin typeface="Calibri"/>
              <a:ea typeface="Calibri"/>
              <a:cs typeface="Calibri"/>
              <a:sym typeface="Calibri"/>
            </a:endParaRPr>
          </a:p>
        </p:txBody>
      </p:sp>
      <p:sp>
        <p:nvSpPr>
          <p:cNvPr id="695" name="Google Shape;695;p29"/>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What translation actually means</a:t>
            </a:r>
            <a:endParaRPr b="0" i="0" sz="2600" u="none" cap="none" strike="noStrike">
              <a:solidFill>
                <a:schemeClr val="dk1"/>
              </a:solidFill>
              <a:latin typeface="Calibri"/>
              <a:ea typeface="Calibri"/>
              <a:cs typeface="Calibri"/>
              <a:sym typeface="Calibri"/>
            </a:endParaRPr>
          </a:p>
        </p:txBody>
      </p:sp>
      <p:sp>
        <p:nvSpPr>
          <p:cNvPr id="696" name="Google Shape;696;p29"/>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An application of the second move category.</a:t>
            </a:r>
            <a:endParaRPr b="0" i="0" sz="1150" u="none" cap="none" strike="noStrike">
              <a:solidFill>
                <a:schemeClr val="dk1"/>
              </a:solidFill>
              <a:latin typeface="Calibri"/>
              <a:ea typeface="Calibri"/>
              <a:cs typeface="Calibri"/>
              <a:sym typeface="Calibri"/>
            </a:endParaRPr>
          </a:p>
        </p:txBody>
      </p:sp>
      <p:sp>
        <p:nvSpPr>
          <p:cNvPr id="697" name="Google Shape;697;p29"/>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8" name="Google Shape;698;p29"/>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Legibility is not bragging</a:t>
            </a:r>
            <a:endParaRPr b="0" i="0" sz="1250" u="none" cap="none" strike="noStrike">
              <a:solidFill>
                <a:schemeClr val="dk1"/>
              </a:solidFill>
              <a:latin typeface="Calibri"/>
              <a:ea typeface="Calibri"/>
              <a:cs typeface="Calibri"/>
              <a:sym typeface="Calibri"/>
            </a:endParaRPr>
          </a:p>
        </p:txBody>
      </p:sp>
      <p:sp>
        <p:nvSpPr>
          <p:cNvPr id="699" name="Google Shape;699;p29"/>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It is evidence translated into language another context can understand.</a:t>
            </a:r>
            <a:endParaRPr b="0" i="0" sz="1100" u="none" cap="none" strike="noStrike">
              <a:solidFill>
                <a:schemeClr val="dk1"/>
              </a:solidFill>
              <a:latin typeface="Calibri"/>
              <a:ea typeface="Calibri"/>
              <a:cs typeface="Calibri"/>
              <a:sym typeface="Calibri"/>
            </a:endParaRPr>
          </a:p>
        </p:txBody>
      </p:sp>
      <p:sp>
        <p:nvSpPr>
          <p:cNvPr id="700" name="Google Shape;700;p29"/>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1" name="Google Shape;701;p29"/>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pattern</a:t>
            </a:r>
            <a:endParaRPr b="0" i="0" sz="1250" u="none" cap="none" strike="noStrike">
              <a:solidFill>
                <a:schemeClr val="dk1"/>
              </a:solidFill>
              <a:latin typeface="Calibri"/>
              <a:ea typeface="Calibri"/>
              <a:cs typeface="Calibri"/>
              <a:sym typeface="Calibri"/>
            </a:endParaRPr>
          </a:p>
        </p:txBody>
      </p:sp>
      <p:sp>
        <p:nvSpPr>
          <p:cNvPr id="702" name="Google Shape;702;p29"/>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Name the problem, the constraint, what you did, and what changed — without internal vocabulary.</a:t>
            </a:r>
            <a:endParaRPr b="0" i="0" sz="1100" u="none" cap="none" strike="noStrike">
              <a:solidFill>
                <a:schemeClr val="dk1"/>
              </a:solidFill>
              <a:latin typeface="Calibri"/>
              <a:ea typeface="Calibri"/>
              <a:cs typeface="Calibri"/>
              <a:sym typeface="Calibri"/>
            </a:endParaRPr>
          </a:p>
        </p:txBody>
      </p:sp>
      <p:sp>
        <p:nvSpPr>
          <p:cNvPr id="703" name="Google Shape;703;p29"/>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4" name="Google Shape;704;p29"/>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Why it matters</a:t>
            </a:r>
            <a:endParaRPr b="0" i="0" sz="1250" u="none" cap="none" strike="noStrike">
              <a:solidFill>
                <a:schemeClr val="dk1"/>
              </a:solidFill>
              <a:latin typeface="Calibri"/>
              <a:ea typeface="Calibri"/>
              <a:cs typeface="Calibri"/>
              <a:sym typeface="Calibri"/>
            </a:endParaRPr>
          </a:p>
        </p:txBody>
      </p:sp>
      <p:sp>
        <p:nvSpPr>
          <p:cNvPr id="705" name="Google Shape;705;p29"/>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A low Optionality score may reflect context-bound capability, weak translation, limited exposure, or a combination. It is not a verdict on ability or worth.</a:t>
            </a:r>
            <a:endParaRPr b="0" i="0" sz="1100" u="none" cap="none" strike="noStrike">
              <a:solidFill>
                <a:schemeClr val="dk1"/>
              </a:solidFill>
              <a:latin typeface="Calibri"/>
              <a:ea typeface="Calibri"/>
              <a:cs typeface="Calibri"/>
              <a:sym typeface="Calibri"/>
            </a:endParaRPr>
          </a:p>
        </p:txBody>
      </p:sp>
      <p:sp>
        <p:nvSpPr>
          <p:cNvPr id="706" name="Google Shape;706;p29"/>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711" name="Shape 711"/>
        <p:cNvGrpSpPr/>
        <p:nvPr/>
      </p:nvGrpSpPr>
      <p:grpSpPr>
        <a:xfrm>
          <a:off x="0" y="0"/>
          <a:ext cx="0" cy="0"/>
          <a:chOff x="0" y="0"/>
          <a:chExt cx="0" cy="0"/>
        </a:xfrm>
      </p:grpSpPr>
      <p:sp>
        <p:nvSpPr>
          <p:cNvPr id="712" name="Google Shape;712;p3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NOT PART OF THE RECORDED CORE</a:t>
            </a:r>
            <a:endParaRPr b="0" i="0" sz="950" u="none" cap="none" strike="noStrike">
              <a:solidFill>
                <a:schemeClr val="dk1"/>
              </a:solidFill>
              <a:latin typeface="Calibri"/>
              <a:ea typeface="Calibri"/>
              <a:cs typeface="Calibri"/>
              <a:sym typeface="Calibri"/>
            </a:endParaRPr>
          </a:p>
        </p:txBody>
      </p:sp>
      <p:sp>
        <p:nvSpPr>
          <p:cNvPr id="713" name="Google Shape;713;p30"/>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Promotion and formation</a:t>
            </a:r>
            <a:endParaRPr b="0" i="0" sz="2600" u="none" cap="none" strike="noStrike">
              <a:solidFill>
                <a:schemeClr val="dk1"/>
              </a:solidFill>
              <a:latin typeface="Calibri"/>
              <a:ea typeface="Calibri"/>
              <a:cs typeface="Calibri"/>
              <a:sym typeface="Calibri"/>
            </a:endParaRPr>
          </a:p>
        </p:txBody>
      </p:sp>
      <p:sp>
        <p:nvSpPr>
          <p:cNvPr id="714" name="Google Shape;714;p30"/>
          <p:cNvSpPr/>
          <p:nvPr/>
        </p:nvSpPr>
        <p:spPr>
          <a:xfrm>
            <a:off x="566928" y="1371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The same misreading, in the place it is hardest to see.</a:t>
            </a:r>
            <a:endParaRPr b="0" i="0" sz="1150" u="none" cap="none" strike="noStrike">
              <a:solidFill>
                <a:schemeClr val="dk1"/>
              </a:solidFill>
              <a:latin typeface="Calibri"/>
              <a:ea typeface="Calibri"/>
              <a:cs typeface="Calibri"/>
              <a:sym typeface="Calibri"/>
            </a:endParaRPr>
          </a:p>
        </p:txBody>
      </p:sp>
      <p:sp>
        <p:nvSpPr>
          <p:cNvPr id="715" name="Google Shape;715;p30"/>
          <p:cNvSpPr/>
          <p:nvPr/>
        </p:nvSpPr>
        <p:spPr>
          <a:xfrm>
            <a:off x="566928" y="1883664"/>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6" name="Google Shape;716;p30"/>
          <p:cNvSpPr/>
          <p:nvPr/>
        </p:nvSpPr>
        <p:spPr>
          <a:xfrm>
            <a:off x="804672" y="1883664"/>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tension</a:t>
            </a:r>
            <a:endParaRPr b="0" i="0" sz="1250" u="none" cap="none" strike="noStrike">
              <a:solidFill>
                <a:schemeClr val="dk1"/>
              </a:solidFill>
              <a:latin typeface="Calibri"/>
              <a:ea typeface="Calibri"/>
              <a:cs typeface="Calibri"/>
              <a:sym typeface="Calibri"/>
            </a:endParaRPr>
          </a:p>
        </p:txBody>
      </p:sp>
      <p:sp>
        <p:nvSpPr>
          <p:cNvPr id="717" name="Google Shape;717;p30"/>
          <p:cNvSpPr/>
          <p:nvPr/>
        </p:nvSpPr>
        <p:spPr>
          <a:xfrm>
            <a:off x="804672" y="2139696"/>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A promotion can increase responsibility, visibility and dependence while reducing formation.</a:t>
            </a:r>
            <a:endParaRPr b="0" i="0" sz="1100" u="none" cap="none" strike="noStrike">
              <a:solidFill>
                <a:schemeClr val="dk1"/>
              </a:solidFill>
              <a:latin typeface="Calibri"/>
              <a:ea typeface="Calibri"/>
              <a:cs typeface="Calibri"/>
              <a:sym typeface="Calibri"/>
            </a:endParaRPr>
          </a:p>
        </p:txBody>
      </p:sp>
      <p:sp>
        <p:nvSpPr>
          <p:cNvPr id="718" name="Google Shape;718;p30"/>
          <p:cNvSpPr/>
          <p:nvPr/>
        </p:nvSpPr>
        <p:spPr>
          <a:xfrm>
            <a:off x="566928" y="2596896"/>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9" name="Google Shape;719;p30"/>
          <p:cNvSpPr/>
          <p:nvPr/>
        </p:nvSpPr>
        <p:spPr>
          <a:xfrm>
            <a:off x="804672" y="2596896"/>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pattern</a:t>
            </a:r>
            <a:endParaRPr b="0" i="0" sz="1250" u="none" cap="none" strike="noStrike">
              <a:solidFill>
                <a:schemeClr val="dk1"/>
              </a:solidFill>
              <a:latin typeface="Calibri"/>
              <a:ea typeface="Calibri"/>
              <a:cs typeface="Calibri"/>
              <a:sym typeface="Calibri"/>
            </a:endParaRPr>
          </a:p>
        </p:txBody>
      </p:sp>
      <p:sp>
        <p:nvSpPr>
          <p:cNvPr id="720" name="Google Shape;720;p30"/>
          <p:cNvSpPr/>
          <p:nvPr/>
        </p:nvSpPr>
        <p:spPr>
          <a:xfrm>
            <a:off x="804672" y="285292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A high performer moves into approvals, representation and familiar judgment — more scope, fewer unfamiliar problems.</a:t>
            </a:r>
            <a:endParaRPr b="0" i="0" sz="1100" u="none" cap="none" strike="noStrike">
              <a:solidFill>
                <a:schemeClr val="dk1"/>
              </a:solidFill>
              <a:latin typeface="Calibri"/>
              <a:ea typeface="Calibri"/>
              <a:cs typeface="Calibri"/>
              <a:sym typeface="Calibri"/>
            </a:endParaRPr>
          </a:p>
        </p:txBody>
      </p:sp>
      <p:sp>
        <p:nvSpPr>
          <p:cNvPr id="721" name="Google Shape;721;p30"/>
          <p:cNvSpPr/>
          <p:nvPr/>
        </p:nvSpPr>
        <p:spPr>
          <a:xfrm>
            <a:off x="566928" y="3310128"/>
            <a:ext cx="25603" cy="56692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2" name="Google Shape;722;p30"/>
          <p:cNvSpPr/>
          <p:nvPr/>
        </p:nvSpPr>
        <p:spPr>
          <a:xfrm>
            <a:off x="804672" y="3310128"/>
            <a:ext cx="77724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The test</a:t>
            </a:r>
            <a:endParaRPr b="0" i="0" sz="1250" u="none" cap="none" strike="noStrike">
              <a:solidFill>
                <a:schemeClr val="dk1"/>
              </a:solidFill>
              <a:latin typeface="Calibri"/>
              <a:ea typeface="Calibri"/>
              <a:cs typeface="Calibri"/>
              <a:sym typeface="Calibri"/>
            </a:endParaRPr>
          </a:p>
        </p:txBody>
      </p:sp>
      <p:sp>
        <p:nvSpPr>
          <p:cNvPr id="723" name="Google Shape;723;p30"/>
          <p:cNvSpPr/>
          <p:nvPr/>
        </p:nvSpPr>
        <p:spPr>
          <a:xfrm>
            <a:off x="804672" y="356616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What capability do you have now that you did not have before your responsibilities increased?</a:t>
            </a:r>
            <a:endParaRPr b="0" i="0" sz="1100" u="none" cap="none" strike="noStrike">
              <a:solidFill>
                <a:schemeClr val="dk1"/>
              </a:solidFill>
              <a:latin typeface="Calibri"/>
              <a:ea typeface="Calibri"/>
              <a:cs typeface="Calibri"/>
              <a:sym typeface="Calibri"/>
            </a:endParaRPr>
          </a:p>
        </p:txBody>
      </p:sp>
      <p:sp>
        <p:nvSpPr>
          <p:cNvPr id="724" name="Google Shape;724;p30"/>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F2347"/>
        </a:solidFill>
      </p:bgPr>
    </p:bg>
    <p:spTree>
      <p:nvGrpSpPr>
        <p:cNvPr id="729" name="Shape 729"/>
        <p:cNvGrpSpPr/>
        <p:nvPr/>
      </p:nvGrpSpPr>
      <p:grpSpPr>
        <a:xfrm>
          <a:off x="0" y="0"/>
          <a:ext cx="0" cy="0"/>
          <a:chOff x="0" y="0"/>
          <a:chExt cx="0" cy="0"/>
        </a:xfrm>
      </p:grpSpPr>
      <p:sp>
        <p:nvSpPr>
          <p:cNvPr id="730" name="Google Shape;730;p31"/>
          <p:cNvSpPr/>
          <p:nvPr/>
        </p:nvSpPr>
        <p:spPr>
          <a:xfrm>
            <a:off x="566928" y="658368"/>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INSTITUTIONAL DELIVERY CLOSE  ·  OPTIONAL</a:t>
            </a:r>
            <a:endParaRPr b="0" i="0" sz="900" u="none" cap="none" strike="noStrike">
              <a:solidFill>
                <a:schemeClr val="dk1"/>
              </a:solidFill>
              <a:latin typeface="Calibri"/>
              <a:ea typeface="Calibri"/>
              <a:cs typeface="Calibri"/>
              <a:sym typeface="Calibri"/>
            </a:endParaRPr>
          </a:p>
        </p:txBody>
      </p:sp>
      <p:sp>
        <p:nvSpPr>
          <p:cNvPr id="731" name="Google Shape;731;p31"/>
          <p:cNvSpPr/>
          <p:nvPr/>
        </p:nvSpPr>
        <p:spPr>
          <a:xfrm>
            <a:off x="566928" y="1225296"/>
            <a:ext cx="8010144"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What has the journey built in you?</a:t>
            </a:r>
            <a:endParaRPr b="0" i="0" sz="2900" u="none" cap="none" strike="noStrike">
              <a:solidFill>
                <a:schemeClr val="dk1"/>
              </a:solidFill>
              <a:latin typeface="Calibri"/>
              <a:ea typeface="Calibri"/>
              <a:cs typeface="Calibri"/>
              <a:sym typeface="Calibri"/>
            </a:endParaRPr>
          </a:p>
        </p:txBody>
      </p:sp>
      <p:sp>
        <p:nvSpPr>
          <p:cNvPr id="732" name="Google Shape;732;p31"/>
          <p:cNvSpPr/>
          <p:nvPr/>
        </p:nvSpPr>
        <p:spPr>
          <a:xfrm>
            <a:off x="566928" y="1883664"/>
            <a:ext cx="8010144"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What remains useful when the context changes?</a:t>
            </a:r>
            <a:endParaRPr b="0" i="0" sz="2900" u="none" cap="none" strike="noStrike">
              <a:solidFill>
                <a:schemeClr val="dk1"/>
              </a:solidFill>
              <a:latin typeface="Calibri"/>
              <a:ea typeface="Calibri"/>
              <a:cs typeface="Calibri"/>
              <a:sym typeface="Calibri"/>
            </a:endParaRPr>
          </a:p>
        </p:txBody>
      </p:sp>
      <p:sp>
        <p:nvSpPr>
          <p:cNvPr id="733" name="Google Shape;733;p31"/>
          <p:cNvSpPr/>
          <p:nvPr/>
        </p:nvSpPr>
        <p:spPr>
          <a:xfrm>
            <a:off x="566928" y="2542032"/>
            <a:ext cx="8010144"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2900"/>
              <a:buFont typeface="Cormorant Garamond"/>
              <a:buNone/>
            </a:pPr>
            <a:r>
              <a:rPr b="1" i="0" lang="en-US" sz="2900" u="none" cap="none" strike="noStrike">
                <a:solidFill>
                  <a:srgbClr val="F5F0E8"/>
                </a:solidFill>
                <a:latin typeface="Cormorant Garamond"/>
                <a:ea typeface="Cormorant Garamond"/>
                <a:cs typeface="Cormorant Garamond"/>
                <a:sym typeface="Cormorant Garamond"/>
              </a:rPr>
              <a:t>What can you do somewhere else?</a:t>
            </a:r>
            <a:endParaRPr b="0" i="0" sz="2900" u="none" cap="none" strike="noStrike">
              <a:solidFill>
                <a:schemeClr val="dk1"/>
              </a:solidFill>
              <a:latin typeface="Calibri"/>
              <a:ea typeface="Calibri"/>
              <a:cs typeface="Calibri"/>
              <a:sym typeface="Calibri"/>
            </a:endParaRPr>
          </a:p>
        </p:txBody>
      </p:sp>
      <p:sp>
        <p:nvSpPr>
          <p:cNvPr id="734" name="Google Shape;734;p31"/>
          <p:cNvSpPr/>
          <p:nvPr/>
        </p:nvSpPr>
        <p:spPr>
          <a:xfrm>
            <a:off x="566928" y="3401568"/>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5" name="Google Shape;735;p31"/>
          <p:cNvSpPr/>
          <p:nvPr/>
        </p:nvSpPr>
        <p:spPr>
          <a:xfrm>
            <a:off x="566928" y="3657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1000"/>
              <a:buFont typeface="Montserrat"/>
              <a:buNone/>
            </a:pPr>
            <a:r>
              <a:rPr b="1" i="0" lang="en-US" sz="1000" u="none" cap="none" strike="noStrike">
                <a:solidFill>
                  <a:srgbClr val="B8C5D9"/>
                </a:solidFill>
                <a:latin typeface="Montserrat"/>
                <a:ea typeface="Montserrat"/>
                <a:cs typeface="Montserrat"/>
                <a:sym typeface="Montserrat"/>
              </a:rPr>
              <a:t>Capability Formation  ·  Temidayo Afonja  ·  The Density Group</a:t>
            </a:r>
            <a:endParaRPr b="0" i="0" sz="1000" u="none" cap="none" strike="noStrike">
              <a:solidFill>
                <a:schemeClr val="dk1"/>
              </a:solidFill>
              <a:latin typeface="Calibri"/>
              <a:ea typeface="Calibri"/>
              <a:cs typeface="Calibri"/>
              <a:sym typeface="Calibri"/>
            </a:endParaRPr>
          </a:p>
        </p:txBody>
      </p:sp>
      <p:sp>
        <p:nvSpPr>
          <p:cNvPr id="736" name="Google Shape;736;p31"/>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741" name="Shape 741"/>
        <p:cNvGrpSpPr/>
        <p:nvPr/>
      </p:nvGrpSpPr>
      <p:grpSpPr>
        <a:xfrm>
          <a:off x="0" y="0"/>
          <a:ext cx="0" cy="0"/>
          <a:chOff x="0" y="0"/>
          <a:chExt cx="0" cy="0"/>
        </a:xfrm>
      </p:grpSpPr>
      <p:sp>
        <p:nvSpPr>
          <p:cNvPr id="742" name="Google Shape;742;p3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950"/>
              <a:buFont typeface="Montserrat"/>
              <a:buNone/>
            </a:pPr>
            <a:r>
              <a:rPr b="1" i="0" lang="en-US" sz="950" u="none" cap="none" strike="noStrike">
                <a:solidFill>
                  <a:srgbClr val="5A6B84"/>
                </a:solidFill>
                <a:latin typeface="Montserrat"/>
                <a:ea typeface="Montserrat"/>
                <a:cs typeface="Montserrat"/>
                <a:sym typeface="Montserrat"/>
              </a:rPr>
              <a:t>APPENDIX  ·  OPTIONAL  ·  NOT PART OF THE TIMED CORE</a:t>
            </a:r>
            <a:endParaRPr b="0" i="0" sz="950" u="none" cap="none" strike="noStrike">
              <a:solidFill>
                <a:schemeClr val="dk1"/>
              </a:solidFill>
              <a:latin typeface="Calibri"/>
              <a:ea typeface="Calibri"/>
              <a:cs typeface="Calibri"/>
              <a:sym typeface="Calibri"/>
            </a:endParaRPr>
          </a:p>
        </p:txBody>
      </p:sp>
      <p:sp>
        <p:nvSpPr>
          <p:cNvPr id="743" name="Google Shape;743;p3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2600"/>
              <a:buFont typeface="Cormorant Garamond"/>
              <a:buNone/>
            </a:pPr>
            <a:r>
              <a:rPr b="1" i="0" lang="en-US" sz="2600" u="none" cap="none" strike="noStrike">
                <a:solidFill>
                  <a:srgbClr val="0F2347"/>
                </a:solidFill>
                <a:latin typeface="Cormorant Garamond"/>
                <a:ea typeface="Cormorant Garamond"/>
                <a:cs typeface="Cormorant Garamond"/>
                <a:sym typeface="Cormorant Garamond"/>
              </a:rPr>
              <a:t>What moved when you tested your first read</a:t>
            </a:r>
            <a:endParaRPr b="0" i="0" sz="2600" u="none" cap="none" strike="noStrike">
              <a:solidFill>
                <a:schemeClr val="dk1"/>
              </a:solidFill>
              <a:latin typeface="Calibri"/>
              <a:ea typeface="Calibri"/>
              <a:cs typeface="Calibri"/>
              <a:sym typeface="Calibri"/>
            </a:endParaRPr>
          </a:p>
        </p:txBody>
      </p:sp>
      <p:sp>
        <p:nvSpPr>
          <p:cNvPr id="744" name="Google Shape;744;p32"/>
          <p:cNvSpPr/>
          <p:nvPr/>
        </p:nvSpPr>
        <p:spPr>
          <a:xfrm>
            <a:off x="566928" y="133502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One anonymous response. No score, state, employer, or identifying information is requested.</a:t>
            </a:r>
            <a:endParaRPr b="0" i="0" sz="1150" u="none" cap="none" strike="noStrike">
              <a:solidFill>
                <a:schemeClr val="dk1"/>
              </a:solidFill>
              <a:latin typeface="Calibri"/>
              <a:ea typeface="Calibri"/>
              <a:cs typeface="Calibri"/>
              <a:sym typeface="Calibri"/>
            </a:endParaRPr>
          </a:p>
        </p:txBody>
      </p:sp>
      <p:sp>
        <p:nvSpPr>
          <p:cNvPr id="745" name="Google Shape;745;p32"/>
          <p:cNvSpPr/>
          <p:nvPr/>
        </p:nvSpPr>
        <p:spPr>
          <a:xfrm>
            <a:off x="566928" y="1810512"/>
            <a:ext cx="8010144" cy="457200"/>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6" name="Google Shape;746;p32"/>
          <p:cNvSpPr/>
          <p:nvPr/>
        </p:nvSpPr>
        <p:spPr>
          <a:xfrm>
            <a:off x="804672" y="1810512"/>
            <a:ext cx="753465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1" i="0" lang="en-US" sz="1250" u="none" cap="none" strike="noStrike">
                <a:solidFill>
                  <a:srgbClr val="0F2347"/>
                </a:solidFill>
                <a:latin typeface="DM Sans"/>
                <a:ea typeface="DM Sans"/>
                <a:cs typeface="DM Sans"/>
                <a:sym typeface="DM Sans"/>
              </a:rPr>
              <a:t>After testing your first read against evidence, which is closest?</a:t>
            </a:r>
            <a:endParaRPr b="0" i="0" sz="1250" u="none" cap="none" strike="noStrike">
              <a:solidFill>
                <a:schemeClr val="dk1"/>
              </a:solidFill>
              <a:latin typeface="Calibri"/>
              <a:ea typeface="Calibri"/>
              <a:cs typeface="Calibri"/>
              <a:sym typeface="Calibri"/>
            </a:endParaRPr>
          </a:p>
        </p:txBody>
      </p:sp>
      <p:sp>
        <p:nvSpPr>
          <p:cNvPr id="747" name="Google Shape;747;p32"/>
          <p:cNvSpPr/>
          <p:nvPr/>
        </p:nvSpPr>
        <p:spPr>
          <a:xfrm>
            <a:off x="566928" y="2432304"/>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8" name="Google Shape;748;p32"/>
          <p:cNvSpPr/>
          <p:nvPr/>
        </p:nvSpPr>
        <p:spPr>
          <a:xfrm>
            <a:off x="877824" y="2377440"/>
            <a:ext cx="769924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totals moved meaningfully</a:t>
            </a:r>
            <a:endParaRPr b="0" i="0" sz="1250" u="none" cap="none" strike="noStrike">
              <a:solidFill>
                <a:schemeClr val="dk1"/>
              </a:solidFill>
              <a:latin typeface="Calibri"/>
              <a:ea typeface="Calibri"/>
              <a:cs typeface="Calibri"/>
              <a:sym typeface="Calibri"/>
            </a:endParaRPr>
          </a:p>
        </p:txBody>
      </p:sp>
      <p:sp>
        <p:nvSpPr>
          <p:cNvPr id="749" name="Google Shape;749;p32"/>
          <p:cNvSpPr/>
          <p:nvPr/>
        </p:nvSpPr>
        <p:spPr>
          <a:xfrm>
            <a:off x="566928" y="2871216"/>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0" name="Google Shape;750;p32"/>
          <p:cNvSpPr/>
          <p:nvPr/>
        </p:nvSpPr>
        <p:spPr>
          <a:xfrm>
            <a:off x="877824" y="2816352"/>
            <a:ext cx="769924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provisional position moved</a:t>
            </a:r>
            <a:endParaRPr b="0" i="0" sz="1250" u="none" cap="none" strike="noStrike">
              <a:solidFill>
                <a:schemeClr val="dk1"/>
              </a:solidFill>
              <a:latin typeface="Calibri"/>
              <a:ea typeface="Calibri"/>
              <a:cs typeface="Calibri"/>
              <a:sym typeface="Calibri"/>
            </a:endParaRPr>
          </a:p>
        </p:txBody>
      </p:sp>
      <p:sp>
        <p:nvSpPr>
          <p:cNvPr id="751" name="Google Shape;751;p32"/>
          <p:cNvSpPr/>
          <p:nvPr/>
        </p:nvSpPr>
        <p:spPr>
          <a:xfrm>
            <a:off x="566928" y="3310128"/>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2" name="Google Shape;752;p32"/>
          <p:cNvSpPr/>
          <p:nvPr/>
        </p:nvSpPr>
        <p:spPr>
          <a:xfrm>
            <a:off x="877824" y="3255264"/>
            <a:ext cx="769924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position stayed similar, but I trust the reading more</a:t>
            </a:r>
            <a:endParaRPr b="0" i="0" sz="1250" u="none" cap="none" strike="noStrike">
              <a:solidFill>
                <a:schemeClr val="dk1"/>
              </a:solidFill>
              <a:latin typeface="Calibri"/>
              <a:ea typeface="Calibri"/>
              <a:cs typeface="Calibri"/>
              <a:sym typeface="Calibri"/>
            </a:endParaRPr>
          </a:p>
        </p:txBody>
      </p:sp>
      <p:sp>
        <p:nvSpPr>
          <p:cNvPr id="753" name="Google Shape;753;p32"/>
          <p:cNvSpPr/>
          <p:nvPr/>
        </p:nvSpPr>
        <p:spPr>
          <a:xfrm>
            <a:off x="566928" y="3749040"/>
            <a:ext cx="128016" cy="128016"/>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4" name="Google Shape;754;p32"/>
          <p:cNvSpPr/>
          <p:nvPr/>
        </p:nvSpPr>
        <p:spPr>
          <a:xfrm>
            <a:off x="877824" y="3694176"/>
            <a:ext cx="769924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250"/>
              <a:buFont typeface="DM Sans"/>
              <a:buNone/>
            </a:pPr>
            <a:r>
              <a:rPr b="0" i="0" lang="en-US" sz="1250" u="none" cap="none" strike="noStrike">
                <a:solidFill>
                  <a:srgbClr val="0F2347"/>
                </a:solidFill>
                <a:latin typeface="DM Sans"/>
                <a:ea typeface="DM Sans"/>
                <a:cs typeface="DM Sans"/>
                <a:sym typeface="DM Sans"/>
              </a:rPr>
              <a:t>My evidence is still incomplete</a:t>
            </a:r>
            <a:endParaRPr b="0" i="0" sz="1250" u="none" cap="none" strike="noStrike">
              <a:solidFill>
                <a:schemeClr val="dk1"/>
              </a:solidFill>
              <a:latin typeface="Calibri"/>
              <a:ea typeface="Calibri"/>
              <a:cs typeface="Calibri"/>
              <a:sym typeface="Calibri"/>
            </a:endParaRPr>
          </a:p>
        </p:txBody>
      </p:sp>
      <p:sp>
        <p:nvSpPr>
          <p:cNvPr id="755" name="Google Shape;755;p32"/>
          <p:cNvSpPr/>
          <p:nvPr/>
        </p:nvSpPr>
        <p:spPr>
          <a:xfrm>
            <a:off x="566928" y="4261104"/>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00"/>
              <a:buFont typeface="DM Sans"/>
              <a:buNone/>
            </a:pPr>
            <a:r>
              <a:rPr b="0" i="1" lang="en-US" sz="1100" u="none" cap="none" strike="noStrike">
                <a:solidFill>
                  <a:srgbClr val="5A6B84"/>
                </a:solidFill>
                <a:latin typeface="DM Sans"/>
                <a:ea typeface="DM Sans"/>
                <a:cs typeface="DM Sans"/>
                <a:sym typeface="DM Sans"/>
              </a:rPr>
              <a:t>Every one of these is a legitimate outcome. Incomplete evidence is information, not failure.</a:t>
            </a:r>
            <a:endParaRPr b="0" i="0" sz="1100" u="none" cap="none" strike="noStrike">
              <a:solidFill>
                <a:schemeClr val="dk1"/>
              </a:solidFill>
              <a:latin typeface="Calibri"/>
              <a:ea typeface="Calibri"/>
              <a:cs typeface="Calibri"/>
              <a:sym typeface="Calibri"/>
            </a:endParaRPr>
          </a:p>
        </p:txBody>
      </p:sp>
      <p:sp>
        <p:nvSpPr>
          <p:cNvPr id="756" name="Google Shape;756;p3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F2347"/>
        </a:solidFill>
      </p:bgPr>
    </p:bg>
    <p:spTree>
      <p:nvGrpSpPr>
        <p:cNvPr id="761" name="Shape 761"/>
        <p:cNvGrpSpPr/>
        <p:nvPr/>
      </p:nvGrpSpPr>
      <p:grpSpPr>
        <a:xfrm>
          <a:off x="0" y="0"/>
          <a:ext cx="0" cy="0"/>
          <a:chOff x="0" y="0"/>
          <a:chExt cx="0" cy="0"/>
        </a:xfrm>
      </p:grpSpPr>
      <p:sp>
        <p:nvSpPr>
          <p:cNvPr id="762" name="Google Shape;762;p33"/>
          <p:cNvSpPr/>
          <p:nvPr/>
        </p:nvSpPr>
        <p:spPr>
          <a:xfrm>
            <a:off x="566928" y="914400"/>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Montserrat"/>
              <a:buNone/>
            </a:pPr>
            <a:r>
              <a:rPr b="1" i="0" lang="en-US" sz="900" u="none" cap="none" strike="noStrike">
                <a:solidFill>
                  <a:srgbClr val="C9A84C"/>
                </a:solidFill>
                <a:latin typeface="Montserrat"/>
                <a:ea typeface="Montserrat"/>
                <a:cs typeface="Montserrat"/>
                <a:sym typeface="Montserrat"/>
              </a:rPr>
              <a:t>A CAPABILITY FORMATION EXPERIENCE</a:t>
            </a:r>
            <a:endParaRPr b="0" i="0" sz="900" u="none" cap="none" strike="noStrike">
              <a:solidFill>
                <a:schemeClr val="dk1"/>
              </a:solidFill>
              <a:latin typeface="Calibri"/>
              <a:ea typeface="Calibri"/>
              <a:cs typeface="Calibri"/>
              <a:sym typeface="Calibri"/>
            </a:endParaRPr>
          </a:p>
        </p:txBody>
      </p:sp>
      <p:sp>
        <p:nvSpPr>
          <p:cNvPr id="763" name="Google Shape;763;p33"/>
          <p:cNvSpPr/>
          <p:nvPr/>
        </p:nvSpPr>
        <p:spPr>
          <a:xfrm>
            <a:off x="566928" y="1316736"/>
            <a:ext cx="8010144"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0E8"/>
              </a:buClr>
              <a:buSzPts val="3200"/>
              <a:buFont typeface="Cormorant Garamond"/>
              <a:buNone/>
            </a:pPr>
            <a:r>
              <a:rPr b="1" i="0" lang="en-US" sz="3200" u="none" cap="none" strike="noStrike">
                <a:solidFill>
                  <a:srgbClr val="F5F0E8"/>
                </a:solidFill>
                <a:latin typeface="Cormorant Garamond"/>
                <a:ea typeface="Cormorant Garamond"/>
                <a:cs typeface="Cormorant Garamond"/>
                <a:sym typeface="Cormorant Garamond"/>
              </a:rPr>
              <a:t>Stay or Leave?</a:t>
            </a:r>
            <a:endParaRPr b="0" i="0" sz="3200" u="none" cap="none" strike="noStrike">
              <a:solidFill>
                <a:schemeClr val="dk1"/>
              </a:solidFill>
              <a:latin typeface="Calibri"/>
              <a:ea typeface="Calibri"/>
              <a:cs typeface="Calibri"/>
              <a:sym typeface="Calibri"/>
            </a:endParaRPr>
          </a:p>
        </p:txBody>
      </p:sp>
      <p:sp>
        <p:nvSpPr>
          <p:cNvPr id="764" name="Google Shape;764;p33"/>
          <p:cNvSpPr/>
          <p:nvPr/>
        </p:nvSpPr>
        <p:spPr>
          <a:xfrm>
            <a:off x="566928" y="210312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1400"/>
              <a:buFont typeface="DM Sans"/>
              <a:buNone/>
            </a:pPr>
            <a:r>
              <a:rPr b="0" i="0" lang="en-US" sz="1400" u="none" cap="none" strike="noStrike">
                <a:solidFill>
                  <a:srgbClr val="B8C5D9"/>
                </a:solidFill>
                <a:latin typeface="DM Sans"/>
                <a:ea typeface="DM Sans"/>
                <a:cs typeface="DM Sans"/>
                <a:sym typeface="DM Sans"/>
              </a:rPr>
              <a:t>Live Career Growth Assessment  ·  The Capability Position Read</a:t>
            </a:r>
            <a:endParaRPr b="0" i="0" sz="1400" u="none" cap="none" strike="noStrike">
              <a:solidFill>
                <a:schemeClr val="dk1"/>
              </a:solidFill>
              <a:latin typeface="Calibri"/>
              <a:ea typeface="Calibri"/>
              <a:cs typeface="Calibri"/>
              <a:sym typeface="Calibri"/>
            </a:endParaRPr>
          </a:p>
        </p:txBody>
      </p:sp>
      <p:sp>
        <p:nvSpPr>
          <p:cNvPr id="765" name="Google Shape;765;p33"/>
          <p:cNvSpPr/>
          <p:nvPr/>
        </p:nvSpPr>
        <p:spPr>
          <a:xfrm>
            <a:off x="566928" y="2615184"/>
            <a:ext cx="2651760" cy="20117"/>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6" name="Google Shape;766;p33"/>
          <p:cNvSpPr/>
          <p:nvPr/>
        </p:nvSpPr>
        <p:spPr>
          <a:xfrm>
            <a:off x="566928" y="2852928"/>
            <a:ext cx="8010144"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1" i="0" lang="en-US" sz="2400" u="none" cap="none" strike="noStrike">
                <a:solidFill>
                  <a:srgbClr val="C9A84C"/>
                </a:solidFill>
                <a:latin typeface="Cormorant Garamond"/>
                <a:ea typeface="Cormorant Garamond"/>
                <a:cs typeface="Cormorant Garamond"/>
                <a:sym typeface="Cormorant Garamond"/>
              </a:rPr>
              <a:t>Wednesday, September 23, 2026</a:t>
            </a:r>
            <a:endParaRPr b="0" i="0" sz="2400" u="none" cap="none" strike="noStrike">
              <a:solidFill>
                <a:schemeClr val="dk1"/>
              </a:solidFill>
              <a:latin typeface="Calibri"/>
              <a:ea typeface="Calibri"/>
              <a:cs typeface="Calibri"/>
              <a:sym typeface="Calibri"/>
            </a:endParaRPr>
          </a:p>
        </p:txBody>
      </p:sp>
      <p:sp>
        <p:nvSpPr>
          <p:cNvPr id="767" name="Google Shape;767;p33"/>
          <p:cNvSpPr/>
          <p:nvPr/>
        </p:nvSpPr>
        <p:spPr>
          <a:xfrm>
            <a:off x="566928" y="329184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1300"/>
              <a:buFont typeface="DM Sans"/>
              <a:buNone/>
            </a:pPr>
            <a:r>
              <a:rPr b="0" i="0" lang="en-US" sz="1300" u="none" cap="none" strike="noStrike">
                <a:solidFill>
                  <a:srgbClr val="B8C5D9"/>
                </a:solidFill>
                <a:latin typeface="DM Sans"/>
                <a:ea typeface="DM Sans"/>
                <a:cs typeface="DM Sans"/>
                <a:sym typeface="DM Sans"/>
              </a:rPr>
              <a:t>6:00–7:00 PM Central Time  ·  Free  ·  60 minutes  ·  We begin shortly</a:t>
            </a:r>
            <a:endParaRPr b="0" i="0" sz="1300" u="none" cap="none" strike="noStrike">
              <a:solidFill>
                <a:schemeClr val="dk1"/>
              </a:solidFill>
              <a:latin typeface="Calibri"/>
              <a:ea typeface="Calibri"/>
              <a:cs typeface="Calibri"/>
              <a:sym typeface="Calibri"/>
            </a:endParaRPr>
          </a:p>
        </p:txBody>
      </p:sp>
      <p:sp>
        <p:nvSpPr>
          <p:cNvPr id="768" name="Google Shape;768;p33"/>
          <p:cNvSpPr/>
          <p:nvPr/>
        </p:nvSpPr>
        <p:spPr>
          <a:xfrm>
            <a:off x="566928" y="3657600"/>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C5D9"/>
              </a:buClr>
              <a:buSzPts val="1150"/>
              <a:buFont typeface="DM Sans"/>
              <a:buNone/>
            </a:pPr>
            <a:r>
              <a:rPr b="0" i="1" lang="en-US" sz="1150" u="none" cap="none" strike="noStrike">
                <a:solidFill>
                  <a:srgbClr val="B8C5D9"/>
                </a:solidFill>
                <a:latin typeface="DM Sans"/>
                <a:ea typeface="DM Sans"/>
                <a:cs typeface="DM Sans"/>
                <a:sym typeface="DM Sans"/>
              </a:rPr>
              <a:t>Have the workbook open. Nothing is submitted or collected at any point.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773" name="Shape 773"/>
        <p:cNvGrpSpPr/>
        <p:nvPr/>
      </p:nvGrpSpPr>
      <p:grpSpPr>
        <a:xfrm>
          <a:off x="0" y="0"/>
          <a:ext cx="0" cy="0"/>
          <a:chOff x="0" y="0"/>
          <a:chExt cx="0" cy="0"/>
        </a:xfrm>
      </p:grpSpPr>
      <p:sp>
        <p:nvSpPr>
          <p:cNvPr id="774" name="Google Shape;774;p12"/>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1250" u="none" cap="none" strike="noStrike">
                <a:solidFill>
                  <a:srgbClr val="C9A84C"/>
                </a:solidFill>
                <a:latin typeface="Montserrat"/>
                <a:ea typeface="Montserrat"/>
                <a:cs typeface="Montserrat"/>
                <a:sym typeface="Montserrat"/>
              </a:rPr>
              <a:t>THE MATRIX</a:t>
            </a:r>
            <a:endParaRPr b="0" i="0" sz="1250" u="none" cap="none" strike="noStrike">
              <a:solidFill>
                <a:schemeClr val="dk1"/>
              </a:solidFill>
              <a:latin typeface="Calibri"/>
              <a:ea typeface="Calibri"/>
              <a:cs typeface="Calibri"/>
              <a:sym typeface="Calibri"/>
            </a:endParaRPr>
          </a:p>
        </p:txBody>
      </p:sp>
      <p:sp>
        <p:nvSpPr>
          <p:cNvPr id="775" name="Google Shape;775;p12"/>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The four states</a:t>
            </a:r>
            <a:endParaRPr b="0" i="0" sz="3000" u="none" cap="none" strike="noStrike">
              <a:solidFill>
                <a:schemeClr val="dk1"/>
              </a:solidFill>
              <a:latin typeface="Calibri"/>
              <a:ea typeface="Calibri"/>
              <a:cs typeface="Calibri"/>
              <a:sym typeface="Calibri"/>
            </a:endParaRPr>
          </a:p>
        </p:txBody>
      </p:sp>
      <p:sp>
        <p:nvSpPr>
          <p:cNvPr id="776" name="Google Shape;776;p12"/>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Density crossed with Optionality. Your state helps you see a form of exposure your job title cannot.</a:t>
            </a:r>
            <a:endParaRPr b="0" i="0" sz="1150" u="none" cap="none" strike="noStrike">
              <a:solidFill>
                <a:schemeClr val="dk1"/>
              </a:solidFill>
              <a:latin typeface="Calibri"/>
              <a:ea typeface="Calibri"/>
              <a:cs typeface="Calibri"/>
              <a:sym typeface="Calibri"/>
            </a:endParaRPr>
          </a:p>
        </p:txBody>
      </p:sp>
      <p:sp>
        <p:nvSpPr>
          <p:cNvPr id="777" name="Google Shape;777;p12"/>
          <p:cNvSpPr/>
          <p:nvPr/>
        </p:nvSpPr>
        <p:spPr>
          <a:xfrm>
            <a:off x="1133856" y="1792224"/>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8" name="Google Shape;778;p12"/>
          <p:cNvSpPr/>
          <p:nvPr/>
        </p:nvSpPr>
        <p:spPr>
          <a:xfrm>
            <a:off x="1353312" y="1975104"/>
            <a:ext cx="328269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0F2347"/>
                </a:solidFill>
                <a:latin typeface="Montserrat"/>
                <a:ea typeface="Montserrat"/>
                <a:cs typeface="Montserrat"/>
                <a:sym typeface="Montserrat"/>
              </a:rPr>
              <a:t>DEPTH TRAP</a:t>
            </a:r>
            <a:endParaRPr b="0" i="0" sz="1000" u="none" cap="none" strike="noStrike">
              <a:solidFill>
                <a:schemeClr val="dk1"/>
              </a:solidFill>
              <a:latin typeface="Calibri"/>
              <a:ea typeface="Calibri"/>
              <a:cs typeface="Calibri"/>
              <a:sym typeface="Calibri"/>
            </a:endParaRPr>
          </a:p>
        </p:txBody>
      </p:sp>
      <p:sp>
        <p:nvSpPr>
          <p:cNvPr id="779" name="Google Shape;779;p12"/>
          <p:cNvSpPr/>
          <p:nvPr/>
        </p:nvSpPr>
        <p:spPr>
          <a:xfrm>
            <a:off x="1353312" y="2286000"/>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200" u="none" cap="none" strike="noStrike">
                <a:solidFill>
                  <a:srgbClr val="5A6B84"/>
                </a:solidFill>
                <a:latin typeface="DM Sans"/>
                <a:ea typeface="DM Sans"/>
                <a:cs typeface="DM Sans"/>
                <a:sym typeface="DM Sans"/>
              </a:rPr>
              <a:t>Deep expertise fused to one context.</a:t>
            </a:r>
            <a:endParaRPr b="0" i="0" sz="1200" u="none" cap="none" strike="noStrike">
              <a:solidFill>
                <a:schemeClr val="dk1"/>
              </a:solidFill>
              <a:latin typeface="Calibri"/>
              <a:ea typeface="Calibri"/>
              <a:cs typeface="Calibri"/>
              <a:sym typeface="Calibri"/>
            </a:endParaRPr>
          </a:p>
        </p:txBody>
      </p:sp>
      <p:sp>
        <p:nvSpPr>
          <p:cNvPr id="780" name="Google Shape;780;p12"/>
          <p:cNvSpPr/>
          <p:nvPr/>
        </p:nvSpPr>
        <p:spPr>
          <a:xfrm>
            <a:off x="4855464" y="1792224"/>
            <a:ext cx="3721608" cy="1207008"/>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1" name="Google Shape;781;p12"/>
          <p:cNvSpPr/>
          <p:nvPr/>
        </p:nvSpPr>
        <p:spPr>
          <a:xfrm>
            <a:off x="5074920" y="1975104"/>
            <a:ext cx="328269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000"/>
              <a:buFont typeface="Montserrat"/>
              <a:buNone/>
            </a:pPr>
            <a:r>
              <a:rPr b="1" i="0" lang="en-US" sz="1000" u="none" cap="none" strike="noStrike">
                <a:solidFill>
                  <a:srgbClr val="C9A84C"/>
                </a:solidFill>
                <a:latin typeface="Montserrat"/>
                <a:ea typeface="Montserrat"/>
                <a:cs typeface="Montserrat"/>
                <a:sym typeface="Montserrat"/>
              </a:rPr>
              <a:t>COMPOUNDING</a:t>
            </a:r>
            <a:endParaRPr b="0" i="0" sz="1000" u="none" cap="none" strike="noStrike">
              <a:solidFill>
                <a:schemeClr val="dk1"/>
              </a:solidFill>
              <a:latin typeface="Calibri"/>
              <a:ea typeface="Calibri"/>
              <a:cs typeface="Calibri"/>
              <a:sym typeface="Calibri"/>
            </a:endParaRPr>
          </a:p>
        </p:txBody>
      </p:sp>
      <p:sp>
        <p:nvSpPr>
          <p:cNvPr id="782" name="Google Shape;782;p12"/>
          <p:cNvSpPr/>
          <p:nvPr/>
        </p:nvSpPr>
        <p:spPr>
          <a:xfrm>
            <a:off x="5074920" y="2286000"/>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B8C5D9"/>
              </a:buClr>
              <a:buSzPts val="1100"/>
              <a:buFont typeface="DM Sans"/>
              <a:buNone/>
            </a:pPr>
            <a:r>
              <a:rPr b="1" i="0" lang="en-US" sz="1300" u="none" cap="none" strike="noStrike">
                <a:solidFill>
                  <a:srgbClr val="B8C5D9"/>
                </a:solidFill>
                <a:latin typeface="DM Sans"/>
                <a:ea typeface="DM Sans"/>
                <a:cs typeface="DM Sans"/>
                <a:sym typeface="DM Sans"/>
              </a:rPr>
              <a:t>Deep capability that travels.</a:t>
            </a:r>
            <a:endParaRPr b="1" i="0" sz="1300" u="none" cap="none" strike="noStrike">
              <a:solidFill>
                <a:schemeClr val="dk1"/>
              </a:solidFill>
              <a:latin typeface="Calibri"/>
              <a:ea typeface="Calibri"/>
              <a:cs typeface="Calibri"/>
              <a:sym typeface="Calibri"/>
            </a:endParaRPr>
          </a:p>
        </p:txBody>
      </p:sp>
      <p:sp>
        <p:nvSpPr>
          <p:cNvPr id="783" name="Google Shape;783;p12"/>
          <p:cNvSpPr/>
          <p:nvPr/>
        </p:nvSpPr>
        <p:spPr>
          <a:xfrm>
            <a:off x="1133856" y="2999232"/>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4" name="Google Shape;784;p12"/>
          <p:cNvSpPr/>
          <p:nvPr/>
        </p:nvSpPr>
        <p:spPr>
          <a:xfrm>
            <a:off x="1353312" y="3182112"/>
            <a:ext cx="328269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0F2347"/>
                </a:solidFill>
                <a:latin typeface="Montserrat"/>
                <a:ea typeface="Montserrat"/>
                <a:cs typeface="Montserrat"/>
                <a:sym typeface="Montserrat"/>
              </a:rPr>
              <a:t>STAGNANT</a:t>
            </a:r>
            <a:endParaRPr b="0" i="0" sz="1000" u="none" cap="none" strike="noStrike">
              <a:solidFill>
                <a:schemeClr val="dk1"/>
              </a:solidFill>
              <a:latin typeface="Calibri"/>
              <a:ea typeface="Calibri"/>
              <a:cs typeface="Calibri"/>
              <a:sym typeface="Calibri"/>
            </a:endParaRPr>
          </a:p>
        </p:txBody>
      </p:sp>
      <p:sp>
        <p:nvSpPr>
          <p:cNvPr id="785" name="Google Shape;785;p12"/>
          <p:cNvSpPr/>
          <p:nvPr/>
        </p:nvSpPr>
        <p:spPr>
          <a:xfrm>
            <a:off x="1353312" y="3493008"/>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The work stopped asking more of you.</a:t>
            </a:r>
            <a:endParaRPr b="0" i="0" sz="1100" u="none" cap="none" strike="noStrike">
              <a:solidFill>
                <a:schemeClr val="dk1"/>
              </a:solidFill>
              <a:latin typeface="Calibri"/>
              <a:ea typeface="Calibri"/>
              <a:cs typeface="Calibri"/>
              <a:sym typeface="Calibri"/>
            </a:endParaRPr>
          </a:p>
        </p:txBody>
      </p:sp>
      <p:sp>
        <p:nvSpPr>
          <p:cNvPr id="786" name="Google Shape;786;p12"/>
          <p:cNvSpPr/>
          <p:nvPr/>
        </p:nvSpPr>
        <p:spPr>
          <a:xfrm>
            <a:off x="4855464" y="2999232"/>
            <a:ext cx="3721608" cy="120700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7" name="Google Shape;787;p12"/>
          <p:cNvSpPr/>
          <p:nvPr/>
        </p:nvSpPr>
        <p:spPr>
          <a:xfrm>
            <a:off x="5074920" y="3182112"/>
            <a:ext cx="328269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000"/>
              <a:buFont typeface="Montserrat"/>
              <a:buNone/>
            </a:pPr>
            <a:r>
              <a:rPr b="1" i="0" lang="en-US" sz="1000" u="none" cap="none" strike="noStrike">
                <a:solidFill>
                  <a:srgbClr val="0F2347"/>
                </a:solidFill>
                <a:latin typeface="Montserrat"/>
                <a:ea typeface="Montserrat"/>
                <a:cs typeface="Montserrat"/>
                <a:sym typeface="Montserrat"/>
              </a:rPr>
              <a:t>FRAGILE</a:t>
            </a:r>
            <a:endParaRPr b="0" i="0" sz="1000" u="none" cap="none" strike="noStrike">
              <a:solidFill>
                <a:schemeClr val="dk1"/>
              </a:solidFill>
              <a:latin typeface="Calibri"/>
              <a:ea typeface="Calibri"/>
              <a:cs typeface="Calibri"/>
              <a:sym typeface="Calibri"/>
            </a:endParaRPr>
          </a:p>
        </p:txBody>
      </p:sp>
      <p:sp>
        <p:nvSpPr>
          <p:cNvPr id="788" name="Google Shape;788;p12"/>
          <p:cNvSpPr/>
          <p:nvPr/>
        </p:nvSpPr>
        <p:spPr>
          <a:xfrm>
            <a:off x="5074920" y="3493008"/>
            <a:ext cx="3282696"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200" u="none" cap="none" strike="noStrike">
                <a:solidFill>
                  <a:srgbClr val="5A6B84"/>
                </a:solidFill>
                <a:latin typeface="DM Sans"/>
                <a:ea typeface="DM Sans"/>
                <a:cs typeface="DM Sans"/>
                <a:sym typeface="DM Sans"/>
              </a:rPr>
              <a:t>Options on paper, not enough depth beneath.</a:t>
            </a:r>
            <a:endParaRPr b="0" i="0" sz="1200" u="none" cap="none" strike="noStrike">
              <a:solidFill>
                <a:schemeClr val="dk1"/>
              </a:solidFill>
              <a:latin typeface="Calibri"/>
              <a:ea typeface="Calibri"/>
              <a:cs typeface="Calibri"/>
              <a:sym typeface="Calibri"/>
            </a:endParaRPr>
          </a:p>
        </p:txBody>
      </p:sp>
      <p:sp>
        <p:nvSpPr>
          <p:cNvPr id="789" name="Google Shape;789;p12"/>
          <p:cNvSpPr/>
          <p:nvPr/>
        </p:nvSpPr>
        <p:spPr>
          <a:xfrm rot="-5400000">
            <a:off x="182880" y="2249424"/>
            <a:ext cx="128016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40"/>
              <a:buFont typeface="Montserrat"/>
              <a:buNone/>
            </a:pPr>
            <a:r>
              <a:rPr b="1" i="0" lang="en-US" sz="740" u="none" cap="none" strike="noStrike">
                <a:solidFill>
                  <a:srgbClr val="5A6B84"/>
                </a:solidFill>
                <a:latin typeface="Montserrat"/>
                <a:ea typeface="Montserrat"/>
                <a:cs typeface="Montserrat"/>
                <a:sym typeface="Montserrat"/>
              </a:rPr>
              <a:t>DENSITY / HIGH</a:t>
            </a:r>
            <a:endParaRPr b="0" i="0" sz="740" u="none" cap="none" strike="noStrike">
              <a:solidFill>
                <a:schemeClr val="dk1"/>
              </a:solidFill>
              <a:latin typeface="Calibri"/>
              <a:ea typeface="Calibri"/>
              <a:cs typeface="Calibri"/>
              <a:sym typeface="Calibri"/>
            </a:endParaRPr>
          </a:p>
        </p:txBody>
      </p:sp>
      <p:sp>
        <p:nvSpPr>
          <p:cNvPr id="790" name="Google Shape;790;p12"/>
          <p:cNvSpPr/>
          <p:nvPr/>
        </p:nvSpPr>
        <p:spPr>
          <a:xfrm rot="-5400000">
            <a:off x="182880" y="3456432"/>
            <a:ext cx="128016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40"/>
              <a:buFont typeface="Montserrat"/>
              <a:buNone/>
            </a:pPr>
            <a:r>
              <a:rPr b="1" i="0" lang="en-US" sz="740" u="none" cap="none" strike="noStrike">
                <a:solidFill>
                  <a:srgbClr val="5A6B84"/>
                </a:solidFill>
                <a:latin typeface="Montserrat"/>
                <a:ea typeface="Montserrat"/>
                <a:cs typeface="Montserrat"/>
                <a:sym typeface="Montserrat"/>
              </a:rPr>
              <a:t>DENSITY / LOW</a:t>
            </a:r>
            <a:endParaRPr b="0" i="0" sz="740" u="none" cap="none" strike="noStrike">
              <a:solidFill>
                <a:schemeClr val="dk1"/>
              </a:solidFill>
              <a:latin typeface="Calibri"/>
              <a:ea typeface="Calibri"/>
              <a:cs typeface="Calibri"/>
              <a:sym typeface="Calibri"/>
            </a:endParaRPr>
          </a:p>
        </p:txBody>
      </p:sp>
      <p:sp>
        <p:nvSpPr>
          <p:cNvPr id="791" name="Google Shape;791;p12"/>
          <p:cNvSpPr/>
          <p:nvPr/>
        </p:nvSpPr>
        <p:spPr>
          <a:xfrm>
            <a:off x="1133856" y="4315968"/>
            <a:ext cx="7443216"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A6B84"/>
              </a:buClr>
              <a:buSzPts val="760"/>
              <a:buFont typeface="Montserrat"/>
              <a:buNone/>
            </a:pPr>
            <a:r>
              <a:rPr b="1" i="0" lang="en-US" sz="760" u="none" cap="none" strike="noStrike">
                <a:solidFill>
                  <a:srgbClr val="5A6B84"/>
                </a:solidFill>
                <a:latin typeface="Montserrat"/>
                <a:ea typeface="Montserrat"/>
                <a:cs typeface="Montserrat"/>
                <a:sym typeface="Montserrat"/>
              </a:rPr>
              <a:t>OPTIONALITY:  LOW AT LEFT   →   HIGH AT RIGHT</a:t>
            </a:r>
            <a:endParaRPr b="0" i="0" sz="760" u="none" cap="none" strike="noStrike">
              <a:solidFill>
                <a:schemeClr val="dk1"/>
              </a:solidFill>
              <a:latin typeface="Calibri"/>
              <a:ea typeface="Calibri"/>
              <a:cs typeface="Calibri"/>
              <a:sym typeface="Calibri"/>
            </a:endParaRPr>
          </a:p>
        </p:txBody>
      </p:sp>
      <p:sp>
        <p:nvSpPr>
          <p:cNvPr id="792" name="Google Shape;792;p1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793" name="Google Shape;793;p12"/>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12</a:t>
            </a:r>
            <a:endParaRPr b="0" i="0" sz="700" u="none" cap="none" strike="noStrike">
              <a:solidFill>
                <a:schemeClr val="dk1"/>
              </a:solidFill>
              <a:latin typeface="Calibri"/>
              <a:ea typeface="Calibri"/>
              <a:cs typeface="Calibri"/>
              <a:sym typeface="Calibri"/>
            </a:endParaRPr>
          </a:p>
        </p:txBody>
      </p:sp>
      <p:sp>
        <p:nvSpPr>
          <p:cNvPr id="794" name="Google Shape;794;p12"/>
          <p:cNvSpPr/>
          <p:nvPr/>
        </p:nvSpPr>
        <p:spPr>
          <a:xfrm>
            <a:off x="1353312" y="3822191"/>
            <a:ext cx="3282696" cy="36576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Neither axis is moving.</a:t>
            </a:r>
            <a:endParaRPr b="0" i="0" sz="1100" u="none" cap="none" strike="noStrike">
              <a:solidFill>
                <a:schemeClr val="dk1"/>
              </a:solidFill>
              <a:latin typeface="Calibri"/>
              <a:ea typeface="Calibri"/>
              <a:cs typeface="Calibri"/>
              <a:sym typeface="Calibri"/>
            </a:endParaRPr>
          </a:p>
        </p:txBody>
      </p:sp>
      <p:sp>
        <p:nvSpPr>
          <p:cNvPr id="795" name="Google Shape;795;p12"/>
          <p:cNvSpPr/>
          <p:nvPr/>
        </p:nvSpPr>
        <p:spPr>
          <a:xfrm>
            <a:off x="5074920" y="3822191"/>
            <a:ext cx="3282696" cy="36576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A6B84"/>
              </a:buClr>
              <a:buSzPts val="1100"/>
              <a:buFont typeface="DM Sans"/>
              <a:buNone/>
            </a:pPr>
            <a:r>
              <a:rPr b="0" i="0" lang="en-US" sz="1100" u="none" cap="none" strike="noStrike">
                <a:solidFill>
                  <a:srgbClr val="5A6B84"/>
                </a:solidFill>
                <a:latin typeface="DM Sans"/>
                <a:ea typeface="DM Sans"/>
                <a:cs typeface="DM Sans"/>
                <a:sym typeface="DM Sans"/>
              </a:rPr>
              <a:t>What you built travels. It is just not being added to.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Signals;1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SIGNALS</a:t>
            </a:r>
            <a:endParaRPr b="0" i="0" sz="950" u="none" cap="none" strike="noStrike">
              <a:solidFill>
                <a:schemeClr val="dk1"/>
              </a:solidFill>
              <a:latin typeface="Calibri"/>
              <a:ea typeface="Calibri"/>
              <a:cs typeface="Calibri"/>
              <a:sym typeface="Calibri"/>
            </a:endParaRPr>
          </a:p>
        </p:txBody>
      </p:sp>
      <p:sp>
        <p:nvSpPr>
          <p:cNvPr id="11" name="Signals;1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Signals Worth Watching</a:t>
            </a:r>
            <a:endParaRPr b="0" i="0" sz="3000" u="none" cap="none" strike="noStrike">
              <a:solidFill>
                <a:schemeClr val="dk1"/>
              </a:solidFill>
              <a:latin typeface="Calibri"/>
              <a:ea typeface="Calibri"/>
              <a:cs typeface="Calibri"/>
              <a:sym typeface="Calibri"/>
            </a:endParaRPr>
          </a:p>
        </p:txBody>
      </p:sp>
      <p:sp>
        <p:nvSpPr>
          <p:cNvPr id="12" name="Signals;12"/>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Questions to investigate, not predictions.</a:t>
            </a:r>
            <a:endParaRPr b="0" i="0" sz="1150" u="none" cap="none" strike="noStrike">
              <a:solidFill>
                <a:schemeClr val="dk1"/>
              </a:solidFill>
              <a:latin typeface="Calibri"/>
              <a:ea typeface="Calibri"/>
              <a:cs typeface="Calibri"/>
              <a:sym typeface="Calibri"/>
            </a:endParaRPr>
          </a:p>
        </p:txBody>
      </p:sp>
      <p:sp>
        <p:nvSpPr>
          <p:cNvPr id="42" name="Signals;4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3" name="Signals;4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22</a:t>
            </a:r>
            <a:endParaRPr b="0" i="0" sz="700" u="none" cap="none" strike="noStrike">
              <a:solidFill>
                <a:schemeClr val="dk1"/>
              </a:solidFill>
              <a:latin typeface="Calibri"/>
              <a:ea typeface="Calibri"/>
              <a:cs typeface="Calibri"/>
              <a:sym typeface="Calibri"/>
            </a:endParaRPr>
          </a:p>
        </p:txBody>
      </p:sp>
      <p:sp>
        <p:nvSpPr>
          <p:cNvPr id="547" name="Google Shape;547;p22"/>
          <p:cNvSpPr/>
          <p:nvPr/>
        </p:nvSpPr>
        <p:spPr>
          <a:xfrm>
            <a:off x="566928" y="2606040"/>
            <a:ext cx="8010144" cy="841248"/>
          </a:xfrm>
          <a:prstGeom prst="rect">
            <a:avLst/>
          </a:prstGeom>
          <a:solidFill>
            <a:srgbClr val="E9ED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8" name="Google Shape;548;p22"/>
          <p:cNvSpPr/>
          <p:nvPr/>
        </p:nvSpPr>
        <p:spPr>
          <a:xfrm>
            <a:off x="566928" y="2606040"/>
            <a:ext cx="41148" cy="841248"/>
          </a:xfrm>
          <a:prstGeom prst="rect">
            <a:avLst/>
          </a:prstGeom>
          <a:solidFill>
            <a:srgbClr val="C9A8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p22"/>
          <p:cNvSpPr/>
          <p:nvPr/>
        </p:nvSpPr>
        <p:spPr>
          <a:xfrm>
            <a:off x="822960" y="2843784"/>
            <a:ext cx="7498079"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50"/>
              <a:buFont typeface="DM Sans"/>
              <a:buNone/>
            </a:pPr>
            <a:r>
              <a:rPr b="0" i="0" lang="en-US" sz="1250" u="none" cap="none" strike="noStrike">
                <a:solidFill>
                  <a:srgbClr val="0F2347"/>
                </a:solidFill>
                <a:latin typeface="DM Sans"/>
                <a:ea typeface="DM Sans"/>
                <a:cs typeface="DM Sans"/>
                <a:sym typeface="DM Sans"/>
              </a:rPr>
              <a:t>Your reading describes the last ninety days. These signals tell you what to watch between now and your next read.</a:t>
            </a:r>
            <a:endParaRPr b="0" i="0" sz="114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Signals;1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SIGNALS</a:t>
            </a:r>
            <a:endParaRPr b="0" i="0" sz="950" u="none" cap="none" strike="noStrike">
              <a:solidFill>
                <a:schemeClr val="dk1"/>
              </a:solidFill>
              <a:latin typeface="Calibri"/>
              <a:ea typeface="Calibri"/>
              <a:cs typeface="Calibri"/>
              <a:sym typeface="Calibri"/>
            </a:endParaRPr>
          </a:p>
        </p:txBody>
      </p:sp>
      <p:sp>
        <p:nvSpPr>
          <p:cNvPr id="11" name="Signals;1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Signals around your role</a:t>
            </a:r>
            <a:endParaRPr b="0" i="0" sz="3000" u="none" cap="none" strike="noStrike">
              <a:solidFill>
                <a:schemeClr val="dk1"/>
              </a:solidFill>
              <a:latin typeface="Calibri"/>
              <a:ea typeface="Calibri"/>
              <a:cs typeface="Calibri"/>
              <a:sym typeface="Calibri"/>
            </a:endParaRPr>
          </a:p>
        </p:txBody>
      </p:sp>
      <p:sp>
        <p:nvSpPr>
          <p:cNvPr id="13" name="Signals;13"/>
          <p:cNvSpPr/>
          <p:nvPr/>
        </p:nvSpPr>
        <p:spPr>
          <a:xfrm>
            <a:off x="566928" y="164592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Signals;14"/>
          <p:cNvSpPr/>
          <p:nvPr/>
        </p:nvSpPr>
        <p:spPr>
          <a:xfrm>
            <a:off x="566928" y="164592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1</a:t>
            </a:r>
            <a:endParaRPr b="0" i="0" sz="950" u="none" cap="none" strike="noStrike">
              <a:solidFill>
                <a:schemeClr val="dk1"/>
              </a:solidFill>
              <a:latin typeface="Calibri"/>
              <a:ea typeface="Calibri"/>
              <a:cs typeface="Calibri"/>
              <a:sym typeface="Calibri"/>
            </a:endParaRPr>
          </a:p>
        </p:txBody>
      </p:sp>
      <p:sp>
        <p:nvSpPr>
          <p:cNvPr id="15" name="Signals;15"/>
          <p:cNvSpPr/>
          <p:nvPr/>
        </p:nvSpPr>
        <p:spPr>
          <a:xfrm>
            <a:off x="987552" y="1627632"/>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Your mandate is being absorbed, narrowed, duplicated, or redefined again.</a:t>
            </a:r>
            <a:endParaRPr b="0" i="0" sz="1160" u="none" cap="none" strike="noStrike">
              <a:solidFill>
                <a:schemeClr val="dk1"/>
              </a:solidFill>
              <a:latin typeface="Calibri"/>
              <a:ea typeface="Calibri"/>
              <a:cs typeface="Calibri"/>
              <a:sym typeface="Calibri"/>
            </a:endParaRPr>
          </a:p>
        </p:txBody>
      </p:sp>
      <p:sp>
        <p:nvSpPr>
          <p:cNvPr id="17" name="Signals;17"/>
          <p:cNvSpPr/>
          <p:nvPr/>
        </p:nvSpPr>
        <p:spPr>
          <a:xfrm>
            <a:off x="566928" y="224028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 name="Signals;18"/>
          <p:cNvSpPr/>
          <p:nvPr/>
        </p:nvSpPr>
        <p:spPr>
          <a:xfrm>
            <a:off x="566928" y="22402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2</a:t>
            </a:r>
            <a:endParaRPr b="0" i="0" sz="950" u="none" cap="none" strike="noStrike">
              <a:solidFill>
                <a:schemeClr val="dk1"/>
              </a:solidFill>
              <a:latin typeface="Calibri"/>
              <a:ea typeface="Calibri"/>
              <a:cs typeface="Calibri"/>
              <a:sym typeface="Calibri"/>
            </a:endParaRPr>
          </a:p>
        </p:txBody>
      </p:sp>
      <p:sp>
        <p:nvSpPr>
          <p:cNvPr id="19" name="Signals;19"/>
          <p:cNvSpPr/>
          <p:nvPr/>
        </p:nvSpPr>
        <p:spPr>
          <a:xfrm>
            <a:off x="987552" y="2221992"/>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Decisions about your work are being made in rooms you are no longer in.</a:t>
            </a:r>
            <a:endParaRPr b="0" i="0" sz="1160" u="none" cap="none" strike="noStrike">
              <a:solidFill>
                <a:schemeClr val="dk1"/>
              </a:solidFill>
              <a:latin typeface="Calibri"/>
              <a:ea typeface="Calibri"/>
              <a:cs typeface="Calibri"/>
              <a:sym typeface="Calibri"/>
            </a:endParaRPr>
          </a:p>
        </p:txBody>
      </p:sp>
      <p:sp>
        <p:nvSpPr>
          <p:cNvPr id="21" name="Signals;21"/>
          <p:cNvSpPr/>
          <p:nvPr/>
        </p:nvSpPr>
        <p:spPr>
          <a:xfrm>
            <a:off x="566928" y="283464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 name="Signals;22"/>
          <p:cNvSpPr/>
          <p:nvPr/>
        </p:nvSpPr>
        <p:spPr>
          <a:xfrm>
            <a:off x="566928" y="283464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23" name="Signals;23"/>
          <p:cNvSpPr/>
          <p:nvPr/>
        </p:nvSpPr>
        <p:spPr>
          <a:xfrm>
            <a:off x="987552" y="2816352"/>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Your role exists because of one sponsor, and that sponsor's position is changing.</a:t>
            </a:r>
            <a:endParaRPr b="0" i="0" sz="1160" u="none" cap="none" strike="noStrike">
              <a:solidFill>
                <a:schemeClr val="dk1"/>
              </a:solidFill>
              <a:latin typeface="Calibri"/>
              <a:ea typeface="Calibri"/>
              <a:cs typeface="Calibri"/>
              <a:sym typeface="Calibri"/>
            </a:endParaRPr>
          </a:p>
        </p:txBody>
      </p:sp>
      <p:sp>
        <p:nvSpPr>
          <p:cNvPr id="25" name="Signals;25"/>
          <p:cNvSpPr/>
          <p:nvPr/>
        </p:nvSpPr>
        <p:spPr>
          <a:xfrm>
            <a:off x="566928" y="342900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 name="Signals;26"/>
          <p:cNvSpPr/>
          <p:nvPr/>
        </p:nvSpPr>
        <p:spPr>
          <a:xfrm>
            <a:off x="566928" y="34290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4</a:t>
            </a:r>
            <a:endParaRPr b="0" i="0" sz="950" u="none" cap="none" strike="noStrike">
              <a:solidFill>
                <a:schemeClr val="dk1"/>
              </a:solidFill>
              <a:latin typeface="Calibri"/>
              <a:ea typeface="Calibri"/>
              <a:cs typeface="Calibri"/>
              <a:sym typeface="Calibri"/>
            </a:endParaRPr>
          </a:p>
        </p:txBody>
      </p:sp>
      <p:sp>
        <p:nvSpPr>
          <p:cNvPr id="27" name="Signals;27"/>
          <p:cNvSpPr/>
          <p:nvPr/>
        </p:nvSpPr>
        <p:spPr>
          <a:xfrm>
            <a:off x="987552" y="3410712"/>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Few people outside your manager would notice if your function disappeared.</a:t>
            </a:r>
            <a:endParaRPr b="0" i="0" sz="1160" u="none" cap="none" strike="noStrike">
              <a:solidFill>
                <a:schemeClr val="dk1"/>
              </a:solidFill>
              <a:latin typeface="Calibri"/>
              <a:ea typeface="Calibri"/>
              <a:cs typeface="Calibri"/>
              <a:sym typeface="Calibri"/>
            </a:endParaRPr>
          </a:p>
        </p:txBody>
      </p:sp>
      <p:sp>
        <p:nvSpPr>
          <p:cNvPr id="29" name="Signals;29"/>
          <p:cNvSpPr/>
          <p:nvPr/>
        </p:nvSpPr>
        <p:spPr>
          <a:xfrm>
            <a:off x="566928" y="4023360"/>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 name="Signals;30"/>
          <p:cNvSpPr/>
          <p:nvPr/>
        </p:nvSpPr>
        <p:spPr>
          <a:xfrm>
            <a:off x="566928" y="402336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5</a:t>
            </a:r>
            <a:endParaRPr b="0" i="0" sz="950" u="none" cap="none" strike="noStrike">
              <a:solidFill>
                <a:schemeClr val="dk1"/>
              </a:solidFill>
              <a:latin typeface="Calibri"/>
              <a:ea typeface="Calibri"/>
              <a:cs typeface="Calibri"/>
              <a:sym typeface="Calibri"/>
            </a:endParaRPr>
          </a:p>
        </p:txBody>
      </p:sp>
      <p:sp>
        <p:nvSpPr>
          <p:cNvPr id="31" name="Signals;31"/>
          <p:cNvSpPr/>
          <p:nvPr/>
        </p:nvSpPr>
        <p:spPr>
          <a:xfrm>
            <a:off x="987552" y="4005072"/>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The routine parts of your work are getting easier to automate or reproduce.</a:t>
            </a:r>
            <a:endParaRPr b="0" i="0" sz="1160" u="none" cap="none" strike="noStrike">
              <a:solidFill>
                <a:schemeClr val="dk1"/>
              </a:solidFill>
              <a:latin typeface="Calibri"/>
              <a:ea typeface="Calibri"/>
              <a:cs typeface="Calibri"/>
              <a:sym typeface="Calibri"/>
            </a:endParaRPr>
          </a:p>
        </p:txBody>
      </p:sp>
      <p:sp>
        <p:nvSpPr>
          <p:cNvPr id="41" name="Signals;41"/>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100"/>
              <a:buFont typeface="DM Sans"/>
              <a:buNone/>
            </a:pPr>
            <a:r>
              <a:rPr b="1" i="0" lang="en-US" sz="1100" u="none" cap="none" strike="noStrike">
                <a:solidFill>
                  <a:srgbClr val="C1440E"/>
                </a:solidFill>
                <a:latin typeface="DM Sans"/>
                <a:ea typeface="DM Sans"/>
                <a:cs typeface="DM Sans"/>
                <a:sym typeface="DM Sans"/>
              </a:rPr>
              <a:t>One signal is something to examine. Several together are worth testing a move.</a:t>
            </a:r>
            <a:endParaRPr b="0" i="0" sz="1100" u="none" cap="none" strike="noStrike">
              <a:solidFill>
                <a:schemeClr val="dk1"/>
              </a:solidFill>
              <a:latin typeface="Calibri"/>
              <a:ea typeface="Calibri"/>
              <a:cs typeface="Calibri"/>
              <a:sym typeface="Calibri"/>
            </a:endParaRPr>
          </a:p>
        </p:txBody>
      </p:sp>
      <p:sp>
        <p:nvSpPr>
          <p:cNvPr id="42" name="Signals;4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3" name="Signals;4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Signals;10"/>
          <p:cNvSpPr/>
          <p:nvPr/>
        </p:nvSpPr>
        <p:spPr>
          <a:xfrm>
            <a:off x="566928" y="310896"/>
            <a:ext cx="801014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50"/>
              <a:buFont typeface="Montserrat"/>
              <a:buNone/>
            </a:pPr>
            <a:r>
              <a:rPr b="1" i="0" lang="en-US" sz="950" u="none" cap="none" strike="noStrike">
                <a:solidFill>
                  <a:srgbClr val="C9A84C"/>
                </a:solidFill>
                <a:latin typeface="Montserrat"/>
                <a:ea typeface="Montserrat"/>
                <a:cs typeface="Montserrat"/>
                <a:sym typeface="Montserrat"/>
              </a:rPr>
              <a:t>SIGNALS</a:t>
            </a:r>
            <a:endParaRPr b="0" i="0" sz="950" u="none" cap="none" strike="noStrike">
              <a:solidFill>
                <a:schemeClr val="dk1"/>
              </a:solidFill>
              <a:latin typeface="Calibri"/>
              <a:ea typeface="Calibri"/>
              <a:cs typeface="Calibri"/>
              <a:sym typeface="Calibri"/>
            </a:endParaRPr>
          </a:p>
        </p:txBody>
      </p:sp>
      <p:sp>
        <p:nvSpPr>
          <p:cNvPr id="11" name="Signals;11"/>
          <p:cNvSpPr/>
          <p:nvPr/>
        </p:nvSpPr>
        <p:spPr>
          <a:xfrm>
            <a:off x="566928" y="603504"/>
            <a:ext cx="8010144" cy="8229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0F2347"/>
              </a:buClr>
              <a:buSzPts val="3000"/>
              <a:buFont typeface="Cormorant Garamond"/>
              <a:buNone/>
            </a:pPr>
            <a:r>
              <a:rPr b="1" i="0" lang="en-US" sz="3000" u="none" cap="none" strike="noStrike">
                <a:solidFill>
                  <a:srgbClr val="0F2347"/>
                </a:solidFill>
                <a:latin typeface="Cormorant Garamond"/>
                <a:ea typeface="Cormorant Garamond"/>
                <a:cs typeface="Cormorant Garamond"/>
                <a:sym typeface="Cormorant Garamond"/>
              </a:rPr>
              <a:t>Signals when things feel fine</a:t>
            </a:r>
            <a:endParaRPr b="0" i="0" sz="3000" u="none" cap="none" strike="noStrike">
              <a:solidFill>
                <a:schemeClr val="dk1"/>
              </a:solidFill>
              <a:latin typeface="Calibri"/>
              <a:ea typeface="Calibri"/>
              <a:cs typeface="Calibri"/>
              <a:sym typeface="Calibri"/>
            </a:endParaRPr>
          </a:p>
        </p:txBody>
      </p:sp>
      <p:sp>
        <p:nvSpPr>
          <p:cNvPr id="12" name="Signals;12"/>
          <p:cNvSpPr/>
          <p:nvPr/>
        </p:nvSpPr>
        <p:spPr>
          <a:xfrm>
            <a:off x="566928" y="1353312"/>
            <a:ext cx="8010144"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1150"/>
              <a:buFont typeface="DM Sans"/>
              <a:buNone/>
            </a:pPr>
            <a:r>
              <a:rPr b="0" i="1" lang="en-US" sz="1150" u="none" cap="none" strike="noStrike">
                <a:solidFill>
                  <a:srgbClr val="5A6B84"/>
                </a:solidFill>
                <a:latin typeface="DM Sans"/>
                <a:ea typeface="DM Sans"/>
                <a:cs typeface="DM Sans"/>
                <a:sym typeface="DM Sans"/>
              </a:rPr>
              <a:t>Compounding is the state most likely to feel fine. A strong position still needs renewal.</a:t>
            </a:r>
            <a:endParaRPr b="0" i="0" sz="1150" u="none" cap="none" strike="noStrike">
              <a:solidFill>
                <a:schemeClr val="dk1"/>
              </a:solidFill>
              <a:latin typeface="Calibri"/>
              <a:ea typeface="Calibri"/>
              <a:cs typeface="Calibri"/>
              <a:sym typeface="Calibri"/>
            </a:endParaRPr>
          </a:p>
        </p:txBody>
      </p:sp>
      <p:sp>
        <p:nvSpPr>
          <p:cNvPr id="13" name="Signals;13"/>
          <p:cNvSpPr/>
          <p:nvPr/>
        </p:nvSpPr>
        <p:spPr>
          <a:xfrm>
            <a:off x="566928" y="177393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Signals;14"/>
          <p:cNvSpPr/>
          <p:nvPr/>
        </p:nvSpPr>
        <p:spPr>
          <a:xfrm>
            <a:off x="566928" y="177393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1</a:t>
            </a:r>
            <a:endParaRPr b="0" i="0" sz="950" u="none" cap="none" strike="noStrike">
              <a:solidFill>
                <a:schemeClr val="dk1"/>
              </a:solidFill>
              <a:latin typeface="Calibri"/>
              <a:ea typeface="Calibri"/>
              <a:cs typeface="Calibri"/>
              <a:sym typeface="Calibri"/>
            </a:endParaRPr>
          </a:p>
        </p:txBody>
      </p:sp>
      <p:sp>
        <p:nvSpPr>
          <p:cNvPr id="15" name="Signals;15"/>
          <p:cNvSpPr/>
          <p:nvPr/>
        </p:nvSpPr>
        <p:spPr>
          <a:xfrm>
            <a:off x="987552" y="1755648"/>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You cannot name what you are learning right now.</a:t>
            </a:r>
            <a:endParaRPr b="0" i="0" sz="1160" u="none" cap="none" strike="noStrike">
              <a:solidFill>
                <a:schemeClr val="dk1"/>
              </a:solidFill>
              <a:latin typeface="Calibri"/>
              <a:ea typeface="Calibri"/>
              <a:cs typeface="Calibri"/>
              <a:sym typeface="Calibri"/>
            </a:endParaRPr>
          </a:p>
        </p:txBody>
      </p:sp>
      <p:sp>
        <p:nvSpPr>
          <p:cNvPr id="17" name="Signals;17"/>
          <p:cNvSpPr/>
          <p:nvPr/>
        </p:nvSpPr>
        <p:spPr>
          <a:xfrm>
            <a:off x="566928" y="232257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 name="Signals;18"/>
          <p:cNvSpPr/>
          <p:nvPr/>
        </p:nvSpPr>
        <p:spPr>
          <a:xfrm>
            <a:off x="566928" y="232257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2</a:t>
            </a:r>
            <a:endParaRPr b="0" i="0" sz="950" u="none" cap="none" strike="noStrike">
              <a:solidFill>
                <a:schemeClr val="dk1"/>
              </a:solidFill>
              <a:latin typeface="Calibri"/>
              <a:ea typeface="Calibri"/>
              <a:cs typeface="Calibri"/>
              <a:sym typeface="Calibri"/>
            </a:endParaRPr>
          </a:p>
        </p:txBody>
      </p:sp>
      <p:sp>
        <p:nvSpPr>
          <p:cNvPr id="19" name="Signals;19"/>
          <p:cNvSpPr/>
          <p:nvPr/>
        </p:nvSpPr>
        <p:spPr>
          <a:xfrm>
            <a:off x="987552" y="2304288"/>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You are being praised for the same things as last year.</a:t>
            </a:r>
            <a:endParaRPr b="0" i="0" sz="1160" u="none" cap="none" strike="noStrike">
              <a:solidFill>
                <a:schemeClr val="dk1"/>
              </a:solidFill>
              <a:latin typeface="Calibri"/>
              <a:ea typeface="Calibri"/>
              <a:cs typeface="Calibri"/>
              <a:sym typeface="Calibri"/>
            </a:endParaRPr>
          </a:p>
        </p:txBody>
      </p:sp>
      <p:sp>
        <p:nvSpPr>
          <p:cNvPr id="21" name="Signals;21"/>
          <p:cNvSpPr/>
          <p:nvPr/>
        </p:nvSpPr>
        <p:spPr>
          <a:xfrm>
            <a:off x="566928" y="287121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 name="Signals;22"/>
          <p:cNvSpPr/>
          <p:nvPr/>
        </p:nvSpPr>
        <p:spPr>
          <a:xfrm>
            <a:off x="566928" y="287121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3</a:t>
            </a:r>
            <a:endParaRPr b="0" i="0" sz="950" u="none" cap="none" strike="noStrike">
              <a:solidFill>
                <a:schemeClr val="dk1"/>
              </a:solidFill>
              <a:latin typeface="Calibri"/>
              <a:ea typeface="Calibri"/>
              <a:cs typeface="Calibri"/>
              <a:sym typeface="Calibri"/>
            </a:endParaRPr>
          </a:p>
        </p:txBody>
      </p:sp>
      <p:sp>
        <p:nvSpPr>
          <p:cNvPr id="23" name="Signals;23"/>
          <p:cNvSpPr/>
          <p:nvPr/>
        </p:nvSpPr>
        <p:spPr>
          <a:xfrm>
            <a:off x="987552" y="2852928"/>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Your last unfamiliar problem was more than 90 days ago.</a:t>
            </a:r>
            <a:endParaRPr b="0" i="0" sz="1160" u="none" cap="none" strike="noStrike">
              <a:solidFill>
                <a:schemeClr val="dk1"/>
              </a:solidFill>
              <a:latin typeface="Calibri"/>
              <a:ea typeface="Calibri"/>
              <a:cs typeface="Calibri"/>
              <a:sym typeface="Calibri"/>
            </a:endParaRPr>
          </a:p>
        </p:txBody>
      </p:sp>
      <p:sp>
        <p:nvSpPr>
          <p:cNvPr id="25" name="Signals;25"/>
          <p:cNvSpPr/>
          <p:nvPr/>
        </p:nvSpPr>
        <p:spPr>
          <a:xfrm>
            <a:off x="566928" y="341985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 name="Signals;26"/>
          <p:cNvSpPr/>
          <p:nvPr/>
        </p:nvSpPr>
        <p:spPr>
          <a:xfrm>
            <a:off x="566928" y="341985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4</a:t>
            </a:r>
            <a:endParaRPr b="0" i="0" sz="950" u="none" cap="none" strike="noStrike">
              <a:solidFill>
                <a:schemeClr val="dk1"/>
              </a:solidFill>
              <a:latin typeface="Calibri"/>
              <a:ea typeface="Calibri"/>
              <a:cs typeface="Calibri"/>
              <a:sym typeface="Calibri"/>
            </a:endParaRPr>
          </a:p>
        </p:txBody>
      </p:sp>
      <p:sp>
        <p:nvSpPr>
          <p:cNvPr id="27" name="Signals;27"/>
          <p:cNvSpPr/>
          <p:nvPr/>
        </p:nvSpPr>
        <p:spPr>
          <a:xfrm>
            <a:off x="987552" y="3401568"/>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Your evidence has not been updated in a quarter.</a:t>
            </a:r>
            <a:endParaRPr b="0" i="0" sz="1160" u="none" cap="none" strike="noStrike">
              <a:solidFill>
                <a:schemeClr val="dk1"/>
              </a:solidFill>
              <a:latin typeface="Calibri"/>
              <a:ea typeface="Calibri"/>
              <a:cs typeface="Calibri"/>
              <a:sym typeface="Calibri"/>
            </a:endParaRPr>
          </a:p>
        </p:txBody>
      </p:sp>
      <p:sp>
        <p:nvSpPr>
          <p:cNvPr id="29" name="Signals;29"/>
          <p:cNvSpPr/>
          <p:nvPr/>
        </p:nvSpPr>
        <p:spPr>
          <a:xfrm>
            <a:off x="566928" y="3968496"/>
            <a:ext cx="274320" cy="274320"/>
          </a:xfrm>
          <a:prstGeom prst="rect">
            <a:avLst/>
          </a:prstGeom>
          <a:solidFill>
            <a:srgbClr val="0F23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 name="Signals;30"/>
          <p:cNvSpPr/>
          <p:nvPr/>
        </p:nvSpPr>
        <p:spPr>
          <a:xfrm>
            <a:off x="566928" y="396849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0E8"/>
              </a:buClr>
              <a:buSzPts val="950"/>
              <a:buFont typeface="Montserrat"/>
              <a:buNone/>
            </a:pPr>
            <a:r>
              <a:rPr b="1" i="0" lang="en-US" sz="950" u="none" cap="none" strike="noStrike">
                <a:solidFill>
                  <a:srgbClr val="F5F0E8"/>
                </a:solidFill>
                <a:latin typeface="Montserrat"/>
                <a:ea typeface="Montserrat"/>
                <a:cs typeface="Montserrat"/>
                <a:sym typeface="Montserrat"/>
              </a:rPr>
              <a:t>5</a:t>
            </a:r>
            <a:endParaRPr b="0" i="0" sz="950" u="none" cap="none" strike="noStrike">
              <a:solidFill>
                <a:schemeClr val="dk1"/>
              </a:solidFill>
              <a:latin typeface="Calibri"/>
              <a:ea typeface="Calibri"/>
              <a:cs typeface="Calibri"/>
              <a:sym typeface="Calibri"/>
            </a:endParaRPr>
          </a:p>
        </p:txBody>
      </p:sp>
      <p:sp>
        <p:nvSpPr>
          <p:cNvPr id="31" name="Signals;31"/>
          <p:cNvSpPr/>
          <p:nvPr/>
        </p:nvSpPr>
        <p:spPr>
          <a:xfrm>
            <a:off x="987552" y="3950208"/>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60"/>
              <a:buFont typeface="DM Sans"/>
              <a:buNone/>
            </a:pPr>
            <a:r>
              <a:rPr b="0" i="0" lang="en-US" sz="1160" u="none" cap="none" strike="noStrike">
                <a:solidFill>
                  <a:srgbClr val="0F2347"/>
                </a:solidFill>
                <a:latin typeface="DM Sans"/>
                <a:ea typeface="DM Sans"/>
                <a:cs typeface="DM Sans"/>
                <a:sym typeface="DM Sans"/>
              </a:rPr>
              <a:t>People outside your organization have not seen your recent work.</a:t>
            </a:r>
            <a:endParaRPr b="0" i="0" sz="1160" u="none" cap="none" strike="noStrike">
              <a:solidFill>
                <a:schemeClr val="dk1"/>
              </a:solidFill>
              <a:latin typeface="Calibri"/>
              <a:ea typeface="Calibri"/>
              <a:cs typeface="Calibri"/>
              <a:sym typeface="Calibri"/>
            </a:endParaRPr>
          </a:p>
        </p:txBody>
      </p:sp>
      <p:sp>
        <p:nvSpPr>
          <p:cNvPr id="41" name="Signals;41"/>
          <p:cNvSpPr/>
          <p:nvPr/>
        </p:nvSpPr>
        <p:spPr>
          <a:xfrm>
            <a:off x="566928" y="4443984"/>
            <a:ext cx="8010144"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1440E"/>
              </a:buClr>
              <a:buSzPts val="1100"/>
              <a:buFont typeface="DM Sans"/>
              <a:buNone/>
            </a:pPr>
            <a:r>
              <a:rPr b="1" i="0" lang="en-US" sz="1100" u="none" cap="none" strike="noStrike">
                <a:solidFill>
                  <a:srgbClr val="C1440E"/>
                </a:solidFill>
                <a:latin typeface="DM Sans"/>
                <a:ea typeface="DM Sans"/>
                <a:cs typeface="DM Sans"/>
                <a:sym typeface="DM Sans"/>
              </a:rPr>
              <a:t>Choose two signals to watch before your rescore date.</a:t>
            </a:r>
            <a:endParaRPr b="0" i="0" sz="1100" u="none" cap="none" strike="noStrike">
              <a:solidFill>
                <a:schemeClr val="dk1"/>
              </a:solidFill>
              <a:latin typeface="Calibri"/>
              <a:ea typeface="Calibri"/>
              <a:cs typeface="Calibri"/>
              <a:sym typeface="Calibri"/>
            </a:endParaRPr>
          </a:p>
        </p:txBody>
      </p:sp>
      <p:sp>
        <p:nvSpPr>
          <p:cNvPr id="42" name="Signals;42"/>
          <p:cNvSpPr/>
          <p:nvPr/>
        </p:nvSpPr>
        <p:spPr>
          <a:xfrm>
            <a:off x="566928" y="4759452"/>
            <a:ext cx="4754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6B84"/>
              </a:buClr>
              <a:buSzPts val="700"/>
              <a:buFont typeface="Montserrat"/>
              <a:buNone/>
            </a:pPr>
            <a:r>
              <a:rPr b="1" i="0" lang="en-US" sz="700" u="none" cap="none" strike="noStrike">
                <a:solidFill>
                  <a:srgbClr val="5A6B84"/>
                </a:solidFill>
                <a:latin typeface="Montserrat"/>
                <a:ea typeface="Montserrat"/>
                <a:cs typeface="Montserrat"/>
                <a:sym typeface="Montserrat"/>
              </a:rPr>
              <a:t>TEMIDAYO AFONJA   |   THE DENSITY GROUP</a:t>
            </a:r>
            <a:endParaRPr b="0" i="0" sz="700" u="none" cap="none" strike="noStrike">
              <a:solidFill>
                <a:schemeClr val="dk1"/>
              </a:solidFill>
              <a:latin typeface="Calibri"/>
              <a:ea typeface="Calibri"/>
              <a:cs typeface="Calibri"/>
              <a:sym typeface="Calibri"/>
            </a:endParaRPr>
          </a:p>
        </p:txBody>
      </p:sp>
      <p:sp>
        <p:nvSpPr>
          <p:cNvPr id="43" name="Signals;43"/>
          <p:cNvSpPr/>
          <p:nvPr/>
        </p:nvSpPr>
        <p:spPr>
          <a:xfrm>
            <a:off x="8211312" y="4759452"/>
            <a:ext cx="3657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5A6B84"/>
              </a:buClr>
              <a:buSzPts val="700"/>
              <a:buFont typeface="Montserrat"/>
              <a:buNone/>
            </a:pPr>
            <a:r>
              <a:rPr b="1" lang="en-US" sz="700">
                <a:solidFill>
                  <a:srgbClr val="5A6B84"/>
                </a:solidFill>
                <a:latin typeface="Montserrat"/>
                <a:ea typeface="Montserrat"/>
                <a:cs typeface="Montserrat"/>
                <a:sym typeface="Montserrat"/>
              </a:rPr>
              <a:t>24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2026-08-30T18:07:34Z</dcterms:created>
  <dc:creator>Temidayo Afonja</dc:creator>
</cp:coreProperties>
</file>