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V7_MG01_Opening_Consequence.png  (MG01)</a:t>
            </a:r>
          </a:p>
          <a:p/>
          <a:p>
            <a:r>
              <a:t>On screen: MORE RESPONSIBILITY CAN MEAN GROWTH. IT CAN ALSO MEAN YOU ABSORB MORE.</a:t>
            </a:r>
          </a:p>
          <a:p/>
          <a:p>
            <a:r>
              <a:t>Script: "Maybe it is. Or maybe the organization has simply learned that you will absorb more."</a:t>
            </a:r>
          </a:p>
          <a:p/>
          <a:p>
            <a:r>
              <a:t>Purpose: The distinction the whole video rests on.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V7_MG02_CAR_Framework.png  (MG02)</a:t>
            </a:r>
          </a:p>
          <a:p/>
          <a:p>
            <a:r>
              <a:t>On screen: C COMPLEXITY / A AUTHORITY / R RETURN</a:t>
            </a:r>
          </a:p>
          <a:p/>
          <a:p>
            <a:r>
              <a:t>Script: "So use the CAR test: Complexity, Authority, Return."</a:t>
            </a:r>
          </a:p>
          <a:p/>
          <a:p>
            <a:r>
              <a:t>Purpose: The hero graphic and the memory device. Returns briefly at each section change.</a:t>
            </a:r>
          </a:p>
          <a:p>
            <a:r>
              <a:t>Hold: 9 to 11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V7_MG03_Complexity.png  (MG03)</a:t>
            </a:r>
          </a:p>
          <a:p/>
          <a:p>
            <a:r>
              <a:t>On screen: MORE UNITS OF THE SAME PROBLEM  vs.  NEW VARIABLES, AMBIGUITY, TRADEOFFS</a:t>
            </a:r>
          </a:p>
          <a:p/>
          <a:p>
            <a:r>
              <a:t>Script: "Did the problem become more complex, or did the volume simply increase?"</a:t>
            </a:r>
          </a:p>
          <a:p/>
          <a:p>
            <a:r>
              <a:t>Purpose: Separates capacity use from a genuine change in the class of problem.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V7_MG04_Authority.png  (MG04)</a:t>
            </a:r>
          </a:p>
          <a:p/>
          <a:p>
            <a:r>
              <a:t>On screen: RESPONSIBILITY: What you carry / ACCOUNTABILITY: What you answer for / AUTHORITY: What you can influence or decide</a:t>
            </a:r>
          </a:p>
          <a:p/>
          <a:p>
            <a:r>
              <a:t>Script: "Responsibility is what you are expected to carry. Accountability is what you will answer for. Authority is what you can influence or decide."</a:t>
            </a:r>
          </a:p>
          <a:p/>
          <a:p>
            <a:r>
              <a:t>Purpose: The distinction the section turns on.</a:t>
            </a:r>
          </a:p>
          <a:p>
            <a:r>
              <a:t>Hold: 10 to 11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V7_MG05_Return.png  (MG05)</a:t>
            </a:r>
          </a:p>
          <a:p/>
          <a:p>
            <a:r>
              <a:t>On screen: WHAT DID THE WORK RETURN? / Capability, Evidence, Recognition</a:t>
            </a:r>
          </a:p>
          <a:p/>
          <a:p>
            <a:r>
              <a:t>Script: "I would look for return in three places: capability, evidence, and recognition."</a:t>
            </a:r>
          </a:p>
          <a:p/>
          <a:p>
            <a:r>
              <a:t>Purpose: Names what should be coming back, without implying every assignment must produce immediate promotion or pay.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V7_MG06_Pattern_Read.png  (MG06)</a:t>
            </a:r>
          </a:p>
          <a:p/>
          <a:p>
            <a:r>
              <a:t>On screen: COMPLEXITY UP, AUTHORITY AND RETURN UP = REAL GROWTH  /  VOLUME ONLY UP = MORE LOAD</a:t>
            </a:r>
          </a:p>
          <a:p/>
          <a:p>
            <a:r>
              <a:t>Script: "If Complexity, Authority, and Return are all expanding, you are probably looking at real growth."</a:t>
            </a:r>
          </a:p>
          <a:p/>
          <a:p>
            <a:r>
              <a:t>Purpose: Lets the viewer read their own pattern.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V7_MG07_Scope_Conversation_A.png  (MG07)</a:t>
            </a:r>
          </a:p>
          <a:p/>
          <a:p>
            <a:r>
              <a:t>On screen: What should remain? / What should come off my plate?</a:t>
            </a:r>
          </a:p>
          <a:p/>
          <a:p>
            <a:r>
              <a:t>Script: "Then take four questions into the conversation with your manager."</a:t>
            </a:r>
          </a:p>
          <a:p/>
          <a:p>
            <a:r>
              <a:t>Purpose: First half of the four questions. Split into two frames so each question stays large enough to read on a phone.</a:t>
            </a:r>
          </a:p>
          <a:p>
            <a:r>
              <a:t>Hold: 7 to 8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V7_MG08_Scope_Conversation_B.png  (MG08)</a:t>
            </a:r>
          </a:p>
          <a:p/>
          <a:p>
            <a:r>
              <a:t>On screen: Which decisions belong to me? / When will this be reviewed?</a:t>
            </a:r>
          </a:p>
          <a:p/>
          <a:p>
            <a:r>
              <a:t>Script: "Which decisions need to belong to me for these outcomes? And how and when will the expanded scope be formally reviewed?"</a:t>
            </a:r>
          </a:p>
          <a:p/>
          <a:p>
            <a:r>
              <a:t>Purpose: Second half of the four questions. This is the frame a viewer will screenshot before a manager conversation.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V7_CTA_Capability_Formation_Field_Kit.png  (CTA)</a:t>
            </a:r>
          </a:p>
          <a:p/>
          <a:p>
            <a:r>
              <a:t>On screen: CAPABILITY FORMATION FIELD KIT / temidayoafonja.com/fieldkit</a:t>
            </a:r>
          </a:p>
          <a:p/>
          <a:p>
            <a:r>
              <a:t>Script: "the Capability Formation Field Kit helps you read the evidence in your role. It is linked below."</a:t>
            </a:r>
          </a:p>
          <a:p/>
          <a:p>
            <a:r>
              <a:t>Purpose: The single primary product route in this video.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V7_WATCH_NEXT_Built_It_From_Scratch.png  (WN)</a:t>
            </a:r>
          </a:p>
          <a:p/>
          <a:p>
            <a:r>
              <a:t>On screen: WATCH NEXT: HOW TO SHOW YOUR IMPACT AT WORK WHEN YOU BUILT IT FROM SCRATCH</a:t>
            </a:r>
          </a:p>
          <a:p/>
          <a:p>
            <a:r>
              <a:t>Script: "In the next video, I will show you how to make that work visible: How to Show Your Impact at Work When You Built It From Scratch."</a:t>
            </a:r>
          </a:p>
          <a:p/>
          <a:p>
            <a:r>
              <a:t>Purpose: Final visual. Right of frame kept clear for the clickable end-screen element.</a:t>
            </a:r>
          </a:p>
          <a:p>
            <a:r>
              <a:t>Hold: 10 to 14 seconds, through the closing line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015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RESPONSIBILITY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CAN MEAN GROWTH.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/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CAN ALSO MEAN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ABSORB MORE.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CAR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64232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288032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15874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08254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5325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87705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 IS FOR COMPLEXITY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79082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Did the problem change, or just the volume?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30669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5225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MORE UNITS OF</a:t>
            </a:r>
            <a:br/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SAME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489323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Capacity is being used.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306699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5225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NEW VARIABLES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4069461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Ambiguity  ·  Tradeoffs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 IS FOR 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853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Three words people use as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03885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RESPONSIBILITY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297535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you carry.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84524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ACCOUNTABILITY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3621024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you answer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3019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426669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you can influence or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 IS FOR RETURN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74037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1997837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11653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2735453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49269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473069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RECOGNITION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350385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did the work return?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PATTERN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8582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Read the three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81940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03530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COMPLEXITY, AUTHORITY</a:t>
            </a:r>
            <a:br/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AND RETURN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442188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Real growth.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281940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03530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VOLUME ONLY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582162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More load.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SCOPE CONVERSATION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1838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74218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should remain?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556000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479800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should come off my plate?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SCOPE CONVERSATION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1838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74218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decisions belong to me?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556000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479800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When will this be reviewed?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 FIELD KIT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what your work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actually building.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See where your options are expanding, and where they are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954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376424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0662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Show Your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Impact at Work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When You Built It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From Scratch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