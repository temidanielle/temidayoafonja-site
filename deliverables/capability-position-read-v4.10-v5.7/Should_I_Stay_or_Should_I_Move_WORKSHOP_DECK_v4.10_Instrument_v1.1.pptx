
<file path=[Content_Types].xml><?xml version="1.0" encoding="utf-8"?>
<Types xmlns="http://schemas.openxmlformats.org/package/2006/content-types">
  <Default Extension="rels" ContentType="application/vnd.openxmlformats-package.relationships+xml"/>
  <Default Extension="fntdata" ContentType="application/x-fontdata"/>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98" r:id="rId4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embeddedFontLst>
    <p:embeddedFont>
      <p:font typeface="DM Sans"/>
      <p:regular r:id="rId50"/>
      <p:bold r:id="rId51"/>
    </p:embeddedFont>
    <p:embeddedFont>
      <p:font typeface="Cormorant Garamond"/>
      <p:regular r:id="rId5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19.xml"/><Relationship Id="rId50" Type="http://schemas.openxmlformats.org/officeDocument/2006/relationships/font" Target="fonts/font1.fntdata"/><Relationship Id="rId51" Type="http://schemas.openxmlformats.org/officeDocument/2006/relationships/font" Target="fonts/font2.fntdata"/><Relationship Id="rId5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0:00. Segment 0–8.
Hold while people arrive. Do not open with the framework. Open with the room you were in.
The eighteen years and the programme figures belong in the spoken introduction only, framed as where the vantage comes from. They are never proof that a Capability Formation score moves.
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
Ask the room as people join: who has already taken the Diagnostic? Those people rescore against the evidence protocol rather than recalling their previous number.
RECORDING BOUNDARY: if recording, capture teaching segments only. Live scoring, participant discussion, voluntary reads and working time are never recorded. State this out loud before you start.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BOUNDARY.
Say the top line verbatim. People who came for permission to resign need to hear now that they will not get it here. People afraid of being told to leave need the same sentence.
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
State the recording boundary out loud even if you are not recording. It buys candour for the rest of the session.
Safety language to keep available all session: state is not identity, exposure is not ability, current conditions are not a permanent verdict.
Learner action: none. Workbook page 2 carries the same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to 3:00, inside the 0–8 segment. THE OPENING STORY. Spoken, never read from the screen. Company unnamed.</a:t>
            </a:r>
            <a:endParaRPr lang="en-US" dirty="0"/>
          </a:p>
          <a:p>
            <a:r>
              <a:t>Deliver only the cleared wording. Four optional beats remain unconfirmed — the exact public title, what was tested about portability, what was made deliberately visible outside, and any specific hindsight after the role ended. Omit any beat that is not yet cleared and let the story run shorter; never improvise around it or blend it into a cleared passage. The Story Evidence Table holds the line-by-line basis and status.</a:t>
            </a:r>
          </a:p>
          <a:p>
            <a: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p>
          <a:p>
            <a:r>
              <a:t>TONE: reflective in substance, restrained in delivery. Findings, not feelings. Short sentences. Not aggrieved, not therapeutic, not vindicating. If it sounds like processing rather than teaching, it has drifted.</a:t>
            </a:r>
          </a:p>
          <a:p>
            <a:r>
              <a:t>THE BEATS:</a:t>
            </a:r>
          </a:p>
          <a:p>
            <a:r>
              <a:t>Eighteen years on the institutional side: development reviews, promotion slates, restructuring lists.</a:t>
            </a:r>
          </a:p>
          <a:p>
            <a:r>
              <a:t>The remit: first person appointed into the remit and its sole holder. True of both the original global remit and the employee experience and belonging remit that followed. Describe the remit in general terms; do not name the title.</a:t>
            </a:r>
          </a:p>
          <a:p>
            <a: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p>
          <a:p>
            <a:r>
              <a:t>The event, flat and once: “In March 2026, a reorganisation absorbed the function I led.” Do not pause for effect.</a:t>
            </a:r>
          </a:p>
          <a:p>
            <a: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p>
          <a:p>
            <a:r>
              <a:t>The turn: eighteen years of knowing how institutions read people did not produce a clear reading of her own position; you cannot see the outside of a building you are standing inside.</a:t>
            </a:r>
          </a:p>
          <a:p>
            <a:r>
              <a:t>CLOSE, VERBATIM: “The room reads your position whether or not you have.”</a:t>
            </a:r>
          </a:p>
          <a:p>
            <a: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p>
          <a:p>
            <a:r>
              <a:t>IF ASKED WHICH COMPANY: “I keep the company out of it. The point is not who did it.”</a:t>
            </a:r>
          </a:p>
          <a:p>
            <a:r>
              <a:t>This carries the authority load of the session, because retention, turnover and effectiveness figures are barred from serving as evidence that a Capability Formation score moves.</a:t>
            </a:r>
          </a:p>
          <a:p>
            <a:r>
              <a:t>If the room goes quiet after the close, let it.</a:t>
            </a:r>
          </a:p>
          <a:p>
            <a:r>
              <a:t>Learner action: none.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THE VANTAGE.
Section 4 of the Field Kit, compressed. It establishes authority without a single statistic.
Say the four questions slowly. Let the room notice that the performance rating is not among them.
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
Transition line into the next slide is on the slide: the room reads your position whether or not you have.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THE REFRAME. This is the category-creation moment.
Do not disparage the stay-or-move question and do not tell the room they arrived with the wrong question. It is the right question. Honour it, then show the reading that sits under it.
Say it as: you are not wrong to be asking whether to stay. You are asking it without a reading of the position you would be staying in or leaving.
Likely resistance: someone wants a yes or no today. Name that openly and point back at the boundary slide by name.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ORIENTATION.
Telling them the sequence lowers resistance to being corrected later.
Say the number twelve out loud, twice. The full instrument is administered live on both passes. There is no proxy subset in this session.
Likely misconception: the first score is the answer. Say plainly that the first score is raw material and the second one is the reading.
Learner action: none. Workbook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to 14. DEFINE, THEN CORRECT THE DEFINITION, THEN SCORE.
The definitional correction runs before the first score. If people score first and are corrected second, they defend the first number.
Name the misconception out loud the first time you say the word.
Learner action: none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to 14. DEFINE, CORRECT, THEN SCORE.
The misconception here is quieter than the Density one. People hear Optionality as recruiter interest. Correct it before scoring.
Useful line: an offer is an outcome of Optionality, not a measure of it.
Learner action: none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to 14. BRIEF LIVE APPLICATION. Sixty to ninety seconds, taken from the definition block, not added to the session length.
Say both sentences and stop. Do not open a discussion about tools here; if one starts, park it for the appendix or Q&amp;A.
DO NOT: recommend AI tools, teach prompting, name vendors, or use future-proofing language. This is an application of Density and Optionality, and it stays inside that frame.
The appendix slide carries the fuller treatment. Workbook page 25 carries the take-home prompt.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ONE OF FOUR. Roughly two and a half minutes.
DO NOT ASK FOR EVIDENCE. This is the uncalibrated baseline and the evidence protocol has not been taught yet. Asking for evidence here collapses the entire two-pass design.
DO NOT SIGNAL that the numbers are about to change. No "we'll see how accurate that was", no knowing smile. The baseline is contaminated the moment the room expects to be corrected.
If asked whether they should justify a score: "Not yet. Score it as you read it. We will come back to evidence, and you will keep this number."
Learner action: score statements 1 to 3 on workbook page 4. Scores stay private.
Resist filling the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TWO OF FOUR. Roughly two and a half minutes.
Statement 6 asks them to compare against six months ago. Some will want to argue with the window. Hold it: the window is what keeps hope out of the number.
Still no evidence lines.
Learner action: score statements 4 to 6 on workbook page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Canonical axis score out of thirty. No fifteen-point subtotal exists in this build.
Do not collect these numbers. Private scoring produces more honest numbers.
If someone is on a laptop in Acrobat Reader, the total fills itself. If they are in a browser or on a phone, the fields still type but the total may not calculate; tell them to add the six by hand and keep going. Do not spend live time on viewer support.
Learner action: total six scores, write it down. Workbook page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THREE OF FOUR. Roughly two and a half minutes.
Still no evidence lines.
Learner action: score statements 7 to 9 on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FOUR OF FOUR. Roughly two and a half minutes.
Do not characterise which statements commonly move. You have no pilot data and a stated expectation contaminates the result.
Learner action: score statements 10 to 12 on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That closing line matters. The first placement is not a warm-up; it is a record of the position they walked in with.
Learner action: total six scores.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 31.
The subtitle is the load-bearing sentence and it is deliberately not a claim about causation. Say it as written: your current state reveals a form of exposure your job title cannot. Do not say that your state determines your exposure.
Do not celebrate Compounding. The Field Kit case for that state is a person who thought it had nothing to tell them and was being passed over.
Learner action: none. Recognition should be quiet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 31. PSYCHOLOGICAL SAFETY AND THE NINE-BOX. NEVER CUT UNDER TIME PRESSURE.
Every experienced participant has been rated on performance against potential in a talent review. A two-by-two with four named quadrants gets pattern-matched to that grid silently unless you kill the association out loud. Say the top line verbatim.
The fourth panel is load-bearing in Version 1.1. The two-pass design creates a risk the old design did not: participants concluding their first read was naive. Say it out loud. "Uncalibrated is not the same as wrong."
Expand each panel from the workbook wording on page 7; the slide carries the headline only.
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
Someone in this room is about to discover that a successful role has stopped forming them. This slide is what keeps that discovery useful instead of shaming.
Learner action: none. Workbook page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 31. FIRST PLACEMENT. Ninety seconds.
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
Capture anonymized totals only. Do not record who is in which square.
Do NOT interpret the distribution and do NOT say one square is usually heavier.
Make sure they write the confidence number. It is easy to skip, and it is one of the things the second placement is compared against.
Say "provisional" out loud. Say "you will do this again" out loud. It is what stops the first placement being heard as the verdict.
Spoken line, not on the slide: small changes matter more near a boundary by construction, because a one-point move can cross the band.
Learner action: tick a square, write a confidence number. Workbook page 6.
Record the initial four-square count silently. Do not display, chart, or read out the initial state distribution until after the corrected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CALIBRATION SEGMENT OPENS.
Frame this as a competence problem rather than an honesty problem. Nobody in the room is lying. The instrument is simply hard to point at yourself.
Say what is coming: the evidence protocol, three misreadings, then they score all twelve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THE PROTOCOL. Read aloud BEFORE the second pass, never before the first.
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
SAY THE LOW-SCORE SENTENCE OUT LOUD: "A low score needs evidence too. If you are going to write a 2, I want to know what happened instead. Otherwise you are not being rigorous, you are being modest, and modesty is not a reading."
SAY THE MARKER SENTENCE OUT LOUD: "You are not scoring a three because you do not know. A three means mixed. A question mark means unsupported. Those are different findings."
Participants need permission for the question mark BEFORE they start, or they round down to look rigorous, which reproduces the exact artefact the old rule created.
One question mark only, and it stays inside the 1 to 5 scale. The workbook will not accept 0?, 6?, or two question marks.
Say the consequences: one or two marked items on an axis makes the placement provisional and triggers the neighbouring-score sensitivity check. Three or more and that axis is incomplete today.
Learner action: none yet. Protocol only. Workbook page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MISREADING ONE.
Read the wrong version in the voice of someone being reasonable, because they are. These examples are deliberately different from the ones in the Field Kit, so owners are not shown material they already bought.
Note the corrected version carries an evidence line for the LOW score too. Under Instrument Version 1.1 a 2 has to be defended like anything else. Model that out loud.
Ask: how many of you scored a plan rather than a fact? Do not predict the number of hands.
Learner action: mark any statement they now want to 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MISREADING TWO.
Give this misreading time. Do not rush past it and do not soften it.
Safety line if needed: being needed by an environment is a real achievement. It is simply a different fact from being strengthened by it.
The promotion application follows immediately and belongs to this misreading. Keep the two together and take the time for both out of this block, not out of the rescore.
Learner action: mark statements to 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APPLICATION OF MISREADING TWO. Ninety seconds, taken from this block.
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
Title the moment as written: why promotion can stop forming a high performer. Say the guard sentence on the slide out loud.
If a recently promoted participant reacts, hold the frame: this is a question to score, not a diagnosis. Statement 1 and statement 5 are where it shows up.
This is an application of Density, not a new concept and not a career-course module.
Learner action: none live. Workbook page 25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MISREADING THREE.
This one prevents damage. A capable person reading a low number as a verdict is the failure mode of the whole instrument.
This is also where the symmetric protocol earns its keep: both versions score a 2, but only one of them has evidence under it. The number did not change. The reading did.
Learner action: mark statements to 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THE ACCUMULATED ARGUMENT.
The whole map lands here in one piece rather than being dripped in before the first score. The first score is taken cold, on the protocol alone. That is what makes the second score a correction rather than a suggestion.
Read the entering belief, pause, ask who recognises it, then reveal. Never read both columns of a pair in sequence.
Hold the finished slide for fifteen seconds without speaking before you move to the rescore. The map does the persuading.
Learner action: none. Read it. Workbook page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to 62. PASS TWO. SIXTEEN MINUTES. THE EVIDENTIARY CENTRE. NEVER CUT.
This is the segment to protect if you are running late. Compress the state-cost segment and the voluntary reads first, never this.
Abbreviated protocol only. Do not re-teach it.
EMPHASISE: do not erase the first number. The pair is the data.
Say the neutral formulation verbatim. Do not tell them their numbers are about to move, do not say most people change, do not predict quadrant changes.
Anyone who arrived having already taken the Diagnostic rescores against the protocol rather than recalling their previous number.
Some participants will find several items where the instance is not immediately available. That is where the time goes, and it is the right place for it to go. Do not state a number.
Learner action: rescore all twelve with evidence lines on workbook pages 12 to 15, keep both numbers, mark what cannot be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to 69. SECOND PLACEMENT. NEVER CUT.
Say the word "re-total" out loud. Participants otherwise carry the first number forward without noticing.
If any axis carries a question mark, the next slide runs before they place. Do not let a marked axis be placed without the neighbouring-score sensitivity check.
ROOM-LEVEL COUNT, ANONYMOUS: corrected confidence distribution and the four-square count again, through the anonymous method, as totals only.
DO NOT ask what moved until the placement is complete. That is the sequence rule and breaking it invalidates the movement counts.
Learner action: re-total, place again, record corrected confidence and date. Workbook page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to 69. THE UNCERTAINTY PROCEDURE. NEVER CUT.
NAME IT: the neighbouring-score sensitivity check. Use that name every time, in the room and in the workbook.
SAY THE BOUNDARY OUT LOUD: this is an operational convention for the pilot. It is not a statistical confidence interval and it does not carry a margin of error. It asks one question: would a plausible neighbouring value change where you place yourself?
Uncertainty-marked scores stay bounded by 1 and 5. A 1? is never tested at 0. A 5? is never tested at 6.
When plausible neighbouring values change the placement, or when any of the three totals touches the 17 to 21 boundary band, no single state is assigned. Read both neighbouring states and mark the placement provisional.
Walk it on the board with one made-up example. Forty seconds, and it prevents five minutes of confusion.
WORKED EXAMPLE: 4, 4, 4, 3, 4 and a 3-marked. Total 22. Lower the marked item: 21. Raise it: 23. The range touches 21, which is inside 17 to 21, so that person reads both neighbouring states rather than picking one.
INCOMPLETE AXIS: expect it, and say it as a finding. "Three or more items you could not support means we do not have ninety days of evidence on that axis. That is a result about the window, not about you. Usually leave, a transition, or a role you had only just started."
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
Learner action: run the check, then place. Workbook page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 to 75. THE MOVEMENT MOMENT.
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
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
State no expectation before you count. Do not say most people's numbers move and do not say some change quadrant. After enough deliveries these become stated figures on this slide; until then they are questions, not claims.
IF NOBODY MOVES: do not improvise an explanation. Say plainly that this room scored strictly on the first pass, ask who found an instance harder to name than expected, and move on. A room that does not move is a finding, not a failure.
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
Learner action: complete workbook page 17 immediately after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 to 75.
This is the honest version of the argument for everything downstream, and it is true, so it lands as candour rather than as a pitch.
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
Do not claim established accuracy, reliability or validity for the instrument. It is a pilot instrument at Version 1.1.
Do not mention any product here. The close handles that.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to 82. SEGMENT OPENING.
Name the cost precisely and give it away. What to do about it is the participant's to weigh.
The four state-cost readings are compressed to one overview slide. Teach all four briefly, then spend the remaining live time on the one or two squares that were heaviest in the room count.
Say the reference exactly: a concise reference is on workbook page 19, and the fuller treatment is in Section 5 of the Field Kit. The state cases are not in the workbook. Do not tell the room the full treatment is in the workbook.
Tell the room they only need to read their own square carefully. The other three are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to 82. COMPRESSED STATE COSTS.
Teach all four from this slide in about three minutes total, then go deep on the one or two squares that were heaviest in the room count. Do not walk all four in equal depth.
Say the reference as written: your short reference is in the workbook, the fuller treatment is in your Field Kit. Do not say the four readings are in the workbook in full. Workbook page 19 carries the short reference only, and the state cases are not in the workbook at all.
If Depth Trap is heavy in the anonymous count, spend the extra time there and say explicitly that translation is a category, not an instruction to exit. Some participants may interpret Depth Trap as an instruction to leave.
Compounding: deliver flatly.
Fragile: what travels today may no longer be renewed by the work being done now.
Stagnant: handle with the most care, and return to the safety slide.
The Field Kit cases stay in the Field Kit. Do not read them from the screen and do not say they are printed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to 82. WORKBOOK PAGE 20.
Two to three minutes of quiet writing. Do not narrate over it.
Spoken line rather than a slide: a person moves between states, and the same role can change state around a person who did not move at all. Optionality can lag a change in Density. Small changes matter more near a boundary by construction.
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
Learner action: complete workbook page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to 86. Move categories and Next-Move Decision setup.
Do not prescribe by quadrant. If someone asks which one their square means, hand the question back: which of these does your evidence support?
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
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
Almost every category needs another person, which is why line 8 of the Next-Move Decision asks who.
Learner action: none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to 86. THE PRIMARY ARTIFACT. Setup only; the writing happens in the next block.
TEN lines, on workbook page 22. This slide shows five of them at legible size. Read lines 01 to 05 aloud from the workbook rather than putting ten small lines on the screen.
Line 06 wording is fixed and appears identically on the slide, in the workbook and in the voluntary reads: "The category of move my evidence supports testing is". Never "the move my position requires".
Line 08 is the highest-leverage line on the page, because almost every move category needs another person and a plan naming nobody stays in the notebook.
Line 07 is provisional by design. Line 09 is what makes it responsible.
This page maps onto the Field Kit Self-Read Skeleton, so anyone who owns the Kit can carry today's page straight into it.
DO NOT COLLECT WORKBOOK RESPONSES. Capture only anonymized room-level counts and voluntarily shared, permissioned language. Do not collect individual move categories, individual first actions, the names of people participants intend to contact, employer names or any third-party name.
Learner action: complete all ten lines on workbook page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 to 94. SILENT WORK. EIGHT MINUTES. PROTECTED UNDER ALL TIME PRESSURE.
Never reduce this below eight minutes. If the room is running long, the time comes from the state-cost segment and the voluntary reads, never from here and never from the rescore.
Do not fill the silence, do not play music, do not narrate the countdown beyond the two-minute warning.
Stay visible and available for quiet questions.
If someone finishes early, ask them privately to write a second sentence under line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to 100. NAMED CUT POINT.
Take two reads instead of three if you are behind. In a room over twenty, make this written rather than spoken and note on the capture sheet that the qualitative measure is degraded at that size.
The line is read exactly as written: the category of move my evidence supports testing is. If a participant says "requires", let it pass in their read and use the correct wording yourself.
When you respond, comment on the fit between evidence and category. Do not endorse or discourage the action itself. The boundary slide is what you are honouring.
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
Ask for permission per person, out loud, after they read. If they do not answer, treat that as no.
Do not record scores, states, employer names or third-party names in any circumstance.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 105. THE CLOSE.
Do not send everybody to the same place.
The Field Kit unlocks at the end of this session, not at purchase. Say that it is already theirs. It is not an offer.
The free Diagnostic is an uncalibrated public entry signal and it is for someone they would send it to. It is NOT the rescore tool. Say that plainly: you have been calibrated, and Section 7 of the Field Kit is what holds that standard.
The book is NOT mentioned here. It moves to the follow-up email, so the last live moment stays on the participant's own decision rather than on a purchase.
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 105. CLOSE.
End on the rescore date. A dated commitment is what converts diagnostic clarity into a decision you can measure.
Do not add an offer here. The previous slide did that work.
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IN THE CORE SCORING SEQUENCE.
Use in Q&amp;A, in the replay, or point people at workbook page 26. Do not run it inside the scoring sequence and do not let it displace the calibration work.
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
If someone asks whether they are about to be made redundant, do not answer it. Hand back the questions and, where the stakes are high, name the seventh move category: seek an external perspective.
Nothing here is a claim about any employer, including any of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FULLER TREATMENT OF THE BRIEF LIVE APPLICATION.
Use in Q&amp;A or in the replay. The live session carries the two sentences only.
DO NOT: name or recommend AI tools, teach prompting, recommend vendors, or use future-proofing language. Any of those turns a capability reading into a technology talk and the product is not that.
If pressed for tool advice, decline plainly and return to the axes: the question this instrument answers is what the work is forming in you and whether it travels.
Workbook page 25 carries the take-home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MOVED OUT OF THE TIMED CORE IN v4.8. Use in the Q&amp;A time or the replay.
This is not a confidence module and not a mindset module. Do not build one. It is the operational content of "Translate what is built".
Say both sentences as written. Legibility is not bragging, it is evidence translated into language another context can understand. You do not need louder confidence, you need claims that can survive evidence.
Teach the three-part translation and stop: the problem, the outcome, the capability the work formed. Then say the discipline: remove adjectives about yourself.
A job interview is one application of this and may be named as one. Do not reposition the session as interview coaching or a job-search course, and do not take interview questions here; point at the workbook page and the appendix.
Learner action: none live. Workbook page 25 after the session, and the material stays on that page whether or not this slide is ever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to 33. STAGED RELEASE OF PART B. Allow two minutes for release, opening and navigation; do not treat it as instant.</a:t>
            </a:r>
          </a:p>
          <a:p/>
          <a:p>
            <a:r>
              <a:t>Release Part B only after every first placement and confidence number in the room is complete. The first reading is only worth something if it was made before calibration was taught.</a:t>
            </a:r>
          </a:p>
          <a:p/>
          <a:p>
            <a:r>
              <a:t>Tell the room to keep Part A open: they will need their initial Density and Optionality totals, their initial state, and their initial confidence to compare against later.</a:t>
            </a:r>
          </a:p>
          <a:p/>
          <a:p>
            <a:r>
              <a:t>The two-hour calendar block is the binding constraint. The internal bands are a design hypothesis until two rehearsals confirm them.</a:t>
            </a:r>
          </a:p>
          <a:p/>
          <a:p>
            <a:r>
              <a:t>Learner action: open the second file (Part 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1</a:t>
            </a:r>
            <a:endParaRPr lang="en-US" sz="900" dirty="0"/>
          </a:p>
        </p:txBody>
      </p:sp>
      <p:sp>
        <p:nvSpPr>
          <p:cNvPr id="4" name="Text 2"/>
          <p:cNvSpPr/>
          <p:nvPr/>
        </p:nvSpPr>
        <p:spPr>
          <a:xfrm>
            <a:off x="658368" y="1554480"/>
            <a:ext cx="10872216" cy="292608"/>
          </a:xfrm>
          <a:prstGeom prst="rect">
            <a:avLst/>
          </a:prstGeom>
          <a:noFill/>
          <a:ln/>
        </p:spPr>
        <p:txBody>
          <a:bodyPr wrap="square" lIns="0" tIns="0" rIns="0" bIns="0" rtlCol="0" anchor="ctr">
            <a:normAutofit/>
          </a:bodyPr>
          <a:lstStyle/>
          <a:p>
            <a:pPr indent="0" marL="0">
              <a:buNone/>
            </a:pPr>
            <a:r>
              <a:rPr lang="en-US" sz="1400" b="1" spc="500" kern="0" dirty="0">
                <a:solidFill>
                  <a:srgbClr val="C9A84C"/>
                </a:solidFill>
                <a:latin typeface="DM Sans" pitchFamily="34" charset="0"/>
                <a:ea typeface="DM Sans" pitchFamily="34" charset="-122"/>
                <a:cs typeface="DM Sans" pitchFamily="34" charset="-120"/>
              </a:rPr>
              <a:t>A LIVE CAPABILITY POSITION READ</a:t>
            </a:r>
            <a:endParaRPr lang="en-US" sz="1400" dirty="0"/>
          </a:p>
        </p:txBody>
      </p:sp>
      <p:sp>
        <p:nvSpPr>
          <p:cNvPr id="5" name="Text 3"/>
          <p:cNvSpPr/>
          <p:nvPr/>
        </p:nvSpPr>
        <p:spPr>
          <a:xfrm>
            <a:off x="658368" y="1938528"/>
            <a:ext cx="8778240" cy="1847088"/>
          </a:xfrm>
          <a:prstGeom prst="rect">
            <a:avLst/>
          </a:prstGeom>
          <a:noFill/>
          <a:ln/>
        </p:spPr>
        <p:txBody>
          <a:bodyPr wrap="square" lIns="0" tIns="0" rIns="0" bIns="0" rtlCol="0" anchor="t">
            <a:normAutofit/>
          </a:bodyPr>
          <a:lstStyle/>
          <a:p>
            <a:pPr indent="0" marL="0">
              <a:lnSpc>
                <a:spcPct val="105000"/>
              </a:lnSpc>
              <a:buNone/>
            </a:pPr>
            <a:r>
              <a:rPr lang="en-US" sz="5800" dirty="0">
                <a:solidFill>
                  <a:srgbClr val="FFFFFF"/>
                </a:solidFill>
                <a:latin typeface="Cormorant Garamond" pitchFamily="34" charset="0"/>
                <a:ea typeface="Cormorant Garamond" pitchFamily="34" charset="-122"/>
                <a:cs typeface="Cormorant Garamond" pitchFamily="34" charset="-120"/>
              </a:rPr>
              <a:t>Should I Stay</a:t>
            </a:r>
            <a:endParaRPr lang="en-US" sz="5800" dirty="0"/>
          </a:p>
          <a:p>
            <a:pPr indent="0" marL="0">
              <a:lnSpc>
                <a:spcPct val="105000"/>
              </a:lnSpc>
              <a:buNone/>
            </a:pPr>
            <a:r>
              <a:rPr lang="en-US" sz="5800" dirty="0">
                <a:solidFill>
                  <a:srgbClr val="FFFFFF"/>
                </a:solidFill>
                <a:latin typeface="Cormorant Garamond" pitchFamily="34" charset="0"/>
                <a:ea typeface="Cormorant Garamond" pitchFamily="34" charset="-122"/>
                <a:cs typeface="Cormorant Garamond" pitchFamily="34" charset="-120"/>
              </a:rPr>
              <a:t>or Should I Move?</a:t>
            </a:r>
            <a:endParaRPr lang="en-US" sz="5800" dirty="0"/>
          </a:p>
        </p:txBody>
      </p:sp>
      <p:sp>
        <p:nvSpPr>
          <p:cNvPr id="6" name="Text 4"/>
          <p:cNvSpPr/>
          <p:nvPr/>
        </p:nvSpPr>
        <p:spPr>
          <a:xfrm>
            <a:off x="658368" y="3931920"/>
            <a:ext cx="10872216" cy="384048"/>
          </a:xfrm>
          <a:prstGeom prst="rect">
            <a:avLst/>
          </a:prstGeom>
          <a:noFill/>
          <a:ln/>
        </p:spPr>
        <p:txBody>
          <a:bodyPr wrap="square" lIns="0" tIns="0" rIns="0" bIns="0" rtlCol="0" anchor="ctr">
            <a:normAutofit/>
          </a:bodyPr>
          <a:lstStyle/>
          <a:p>
            <a:pPr indent="0" marL="0">
              <a:buNone/>
            </a:pPr>
            <a:r>
              <a:rPr lang="en-US" sz="1800" dirty="0">
                <a:solidFill>
                  <a:srgbClr val="A9B8D0"/>
                </a:solidFill>
                <a:latin typeface="DM Sans" pitchFamily="34" charset="0"/>
                <a:ea typeface="DM Sans" pitchFamily="34" charset="-122"/>
                <a:cs typeface="DM Sans" pitchFamily="34" charset="-120"/>
              </a:rPr>
              <a:t>Read what your current work is building before you decide.</a:t>
            </a:r>
            <a:endParaRPr lang="en-US" sz="1800" dirty="0"/>
          </a:p>
        </p:txBody>
      </p:sp>
      <p:sp>
        <p:nvSpPr>
          <p:cNvPr id="7" name="Text 5"/>
          <p:cNvSpPr/>
          <p:nvPr/>
        </p:nvSpPr>
        <p:spPr>
          <a:xfrm>
            <a:off x="658368" y="4590288"/>
            <a:ext cx="10872216" cy="29260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DM Sans" pitchFamily="34" charset="0"/>
                <a:ea typeface="DM Sans" pitchFamily="34" charset="-122"/>
                <a:cs typeface="DM Sans" pitchFamily="34" charset="-120"/>
              </a:rPr>
              <a:t>Temidayo Afonja</a:t>
            </a:r>
            <a:endParaRPr lang="en-US" sz="1500" dirty="0"/>
          </a:p>
        </p:txBody>
      </p:sp>
      <p:sp>
        <p:nvSpPr>
          <p:cNvPr id="8" name="Text 6"/>
          <p:cNvSpPr/>
          <p:nvPr/>
        </p:nvSpPr>
        <p:spPr>
          <a:xfrm>
            <a:off x="658368" y="4882896"/>
            <a:ext cx="10872216" cy="292608"/>
          </a:xfrm>
          <a:prstGeom prst="rect">
            <a:avLst/>
          </a:prstGeom>
          <a:noFill/>
          <a:ln/>
        </p:spPr>
        <p:txBody>
          <a:bodyPr wrap="square" lIns="0" tIns="0" rIns="0" bIns="0" rtlCol="0" anchor="ctr">
            <a:normAutofit/>
          </a:bodyPr>
          <a:lstStyle/>
          <a:p>
            <a:pPr indent="0" marL="0">
              <a:buNone/>
            </a:pPr>
            <a:r>
              <a:rPr lang="en-US" sz="1200" dirty="0">
                <a:solidFill>
                  <a:srgbClr val="A9B8D0"/>
                </a:solidFill>
                <a:latin typeface="DM Sans" pitchFamily="34" charset="0"/>
                <a:ea typeface="DM Sans" pitchFamily="34" charset="-122"/>
                <a:cs typeface="DM Sans" pitchFamily="34" charset="-120"/>
              </a:rPr>
              <a:t>Founder, The Density Group. Author, The Capability Audit.</a:t>
            </a:r>
            <a:endParaRPr lang="en-US" sz="1200" dirty="0"/>
          </a:p>
        </p:txBody>
      </p:sp>
      <p:sp>
        <p:nvSpPr>
          <p:cNvPr id="9" name="Text 7"/>
          <p:cNvSpPr/>
          <p:nvPr/>
        </p:nvSpPr>
        <p:spPr>
          <a:xfrm>
            <a:off x="658368" y="5303520"/>
            <a:ext cx="10872216" cy="274320"/>
          </a:xfrm>
          <a:prstGeom prst="rect">
            <a:avLst/>
          </a:prstGeom>
          <a:noFill/>
          <a:ln/>
        </p:spPr>
        <p:txBody>
          <a:bodyPr wrap="square" lIns="0" tIns="0" rIns="0" bIns="0" rtlCol="0" anchor="ctr">
            <a:normAutofit/>
          </a:bodyPr>
          <a:lstStyle/>
          <a:p>
            <a:pPr indent="0" marL="0">
              <a:buNone/>
            </a:pPr>
            <a:r>
              <a:rPr lang="en-US" sz="1000" spc="200" kern="0" dirty="0">
                <a:solidFill>
                  <a:srgbClr val="C9A84C"/>
                </a:solidFill>
                <a:latin typeface="DM Sans" pitchFamily="34" charset="0"/>
                <a:ea typeface="DM Sans" pitchFamily="34" charset="-122"/>
                <a:cs typeface="DM Sans" pitchFamily="34" charset="-120"/>
              </a:rPr>
              <a:t>CAPABILITY FORMATION INSTRUMENT VERSION 1.1  ·  WORKSHOP DECK V4.10</a:t>
            </a:r>
            <a:endParaRPr lang="en-US" sz="1000" dirty="0"/>
          </a:p>
        </p:txBody>
      </p:sp>
      <p:sp>
        <p:nvSpPr>
          <p:cNvPr id="10" name="Shape 8"/>
          <p:cNvSpPr/>
          <p:nvPr/>
        </p:nvSpPr>
        <p:spPr>
          <a:xfrm>
            <a:off x="9930384" y="1554480"/>
            <a:ext cx="466344" cy="466344"/>
          </a:xfrm>
          <a:prstGeom prst="rect">
            <a:avLst/>
          </a:prstGeom>
          <a:solidFill>
            <a:srgbClr val="0F2347"/>
          </a:solidFill>
          <a:ln w="12700">
            <a:solidFill>
              <a:srgbClr val="C9A84C"/>
            </a:solidFill>
            <a:prstDash val="solid"/>
          </a:ln>
        </p:spPr>
        <p:txBody>
          <a:bodyPr>
            <a:normAutofit/>
          </a:bodyPr>
          <a:p/>
        </p:txBody>
      </p:sp>
      <p:sp>
        <p:nvSpPr>
          <p:cNvPr id="11" name="Shape 9"/>
          <p:cNvSpPr/>
          <p:nvPr/>
        </p:nvSpPr>
        <p:spPr>
          <a:xfrm>
            <a:off x="10396728" y="1554480"/>
            <a:ext cx="466344" cy="466344"/>
          </a:xfrm>
          <a:prstGeom prst="rect">
            <a:avLst/>
          </a:prstGeom>
          <a:solidFill>
            <a:srgbClr val="C1440E"/>
          </a:solidFill>
          <a:ln w="12700">
            <a:solidFill>
              <a:srgbClr val="C9A84C"/>
            </a:solidFill>
            <a:prstDash val="solid"/>
          </a:ln>
        </p:spPr>
        <p:txBody>
          <a:bodyPr>
            <a:normAutofit/>
          </a:bodyPr>
          <a:p/>
        </p:txBody>
      </p:sp>
      <p:sp>
        <p:nvSpPr>
          <p:cNvPr id="12" name="Shape 10"/>
          <p:cNvSpPr/>
          <p:nvPr/>
        </p:nvSpPr>
        <p:spPr>
          <a:xfrm>
            <a:off x="9930384" y="2020824"/>
            <a:ext cx="466344" cy="466344"/>
          </a:xfrm>
          <a:prstGeom prst="rect">
            <a:avLst/>
          </a:prstGeom>
          <a:solidFill>
            <a:srgbClr val="0F2347"/>
          </a:solidFill>
          <a:ln w="12700">
            <a:solidFill>
              <a:srgbClr val="C9A84C"/>
            </a:solidFill>
            <a:prstDash val="solid"/>
          </a:ln>
        </p:spPr>
        <p:txBody>
          <a:bodyPr>
            <a:normAutofit/>
          </a:bodyPr>
          <a:p/>
        </p:txBody>
      </p:sp>
      <p:sp>
        <p:nvSpPr>
          <p:cNvPr id="13" name="Shape 11"/>
          <p:cNvSpPr/>
          <p:nvPr/>
        </p:nvSpPr>
        <p:spPr>
          <a:xfrm>
            <a:off x="10396728" y="2020824"/>
            <a:ext cx="466344" cy="466344"/>
          </a:xfrm>
          <a:prstGeom prst="rect">
            <a:avLst/>
          </a:prstGeom>
          <a:solidFill>
            <a:srgbClr val="0F2347"/>
          </a:solidFill>
          <a:ln w="12700">
            <a:solidFill>
              <a:srgbClr val="C9A84C"/>
            </a:solidFill>
            <a:prstDash val="solid"/>
          </a:ln>
        </p:spPr>
        <p:txBody>
          <a:bodyPr>
            <a:normAutofit/>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BOUNDARY</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Read this first. It is what you can hold me to.</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847088"/>
            <a:ext cx="10872216" cy="457200"/>
          </a:xfrm>
          <a:prstGeom prst="rect">
            <a:avLst/>
          </a:prstGeom>
          <a:noFill/>
          <a:ln/>
        </p:spPr>
        <p:txBody>
          <a:bodyPr wrap="square" lIns="0" tIns="0" rIns="0" bIns="0" rtlCol="0" anchor="t">
            <a:normAutofit/>
          </a:bodyPr>
          <a:lstStyle/>
          <a:p>
            <a:pPr indent="0" marL="0">
              <a:lnSpc>
                <a:spcPct val="120000"/>
              </a:lnSpc>
              <a:buNone/>
            </a:pPr>
            <a:r>
              <a:rPr lang="en-US" sz="2600" dirty="0">
                <a:solidFill>
                  <a:srgbClr val="0F2347"/>
                </a:solidFill>
                <a:latin typeface="Cormorant Garamond" pitchFamily="34" charset="0"/>
                <a:ea typeface="Cormorant Garamond" pitchFamily="34" charset="-122"/>
                <a:cs typeface="Cormorant Garamond" pitchFamily="34" charset="-120"/>
              </a:rPr>
              <a:t>This read will not tell you to stay or leave.</a:t>
            </a:r>
            <a:endParaRPr lang="en-US" sz="2600" dirty="0"/>
          </a:p>
        </p:txBody>
      </p:sp>
      <p:sp>
        <p:nvSpPr>
          <p:cNvPr id="9" name="Text 7"/>
          <p:cNvSpPr/>
          <p:nvPr/>
        </p:nvSpPr>
        <p:spPr>
          <a:xfrm>
            <a:off x="658368" y="2432304"/>
            <a:ext cx="10872216" cy="1005840"/>
          </a:xfrm>
          <a:prstGeom prst="rect">
            <a:avLst/>
          </a:prstGeom>
          <a:noFill/>
          <a:ln/>
        </p:spPr>
        <p:txBody>
          <a:bodyPr wrap="square" lIns="0" tIns="0" rIns="0" bIns="0" rtlCol="0" anchor="t">
            <a:normAutofit/>
          </a:bodyPr>
          <a:lstStyle/>
          <a:p>
            <a:pPr indent="0" marL="0">
              <a:lnSpc>
                <a:spcPct val="120000"/>
              </a:lnSpc>
              <a:buNone/>
            </a:pPr>
            <a:r>
              <a:rPr lang="en-US" sz="21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2100" dirty="0"/>
          </a:p>
        </p:txBody>
      </p:sp>
      <p:sp>
        <p:nvSpPr>
          <p:cNvPr id="10" name="Text 8"/>
          <p:cNvSpPr/>
          <p:nvPr/>
        </p:nvSpPr>
        <p:spPr>
          <a:xfrm>
            <a:off x="658368" y="3584448"/>
            <a:ext cx="10872216" cy="457200"/>
          </a:xfrm>
          <a:prstGeom prst="rect">
            <a:avLst/>
          </a:prstGeom>
          <a:noFill/>
          <a:ln/>
        </p:spPr>
        <p:txBody>
          <a:bodyPr wrap="square" lIns="0" tIns="0" rIns="0" bIns="0" rtlCol="0" anchor="t">
            <a:normAutofit/>
          </a:bodyPr>
          <a:lstStyle/>
          <a:p>
            <a:pPr indent="0" marL="0">
              <a:lnSpc>
                <a:spcPct val="120000"/>
              </a:lnSpc>
              <a:buNone/>
            </a:pPr>
            <a:r>
              <a:rPr lang="en-US" sz="2000" b="1" dirty="0">
                <a:solidFill>
                  <a:srgbClr val="0F2347"/>
                </a:solidFill>
                <a:latin typeface="DM Sans" pitchFamily="34" charset="0"/>
                <a:ea typeface="DM Sans" pitchFamily="34" charset="-122"/>
                <a:cs typeface="DM Sans" pitchFamily="34" charset="-120"/>
              </a:rPr>
              <a:t>What you score today is a position you occupy, and positions change.</a:t>
            </a:r>
            <a:endParaRPr lang="en-US" sz="2000" dirty="0"/>
          </a:p>
        </p:txBody>
      </p:sp>
      <p:sp>
        <p:nvSpPr>
          <p:cNvPr id="11" name="Shape 9"/>
          <p:cNvSpPr/>
          <p:nvPr/>
        </p:nvSpPr>
        <p:spPr>
          <a:xfrm>
            <a:off x="658368" y="4224528"/>
            <a:ext cx="5138928" cy="1060704"/>
          </a:xfrm>
          <a:prstGeom prst="rect">
            <a:avLst/>
          </a:prstGeom>
          <a:solidFill>
            <a:srgbClr val="FFFFFF"/>
          </a:solidFill>
          <a:ln w="12700">
            <a:solidFill>
              <a:srgbClr val="E8DFCC"/>
            </a:solidFill>
            <a:prstDash val="solid"/>
          </a:ln>
        </p:spPr>
        <p:txBody>
          <a:bodyPr>
            <a:normAutofit/>
          </a:bodyPr>
          <a:p/>
        </p:txBody>
      </p:sp>
      <p:sp>
        <p:nvSpPr>
          <p:cNvPr id="12" name="Text 10"/>
          <p:cNvSpPr/>
          <p:nvPr/>
        </p:nvSpPr>
        <p:spPr>
          <a:xfrm>
            <a:off x="877824" y="4389120"/>
            <a:ext cx="4700016"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You will leave with a provisional read of your current state and the category of move your evidence supports testing.</a:t>
            </a:r>
            <a:endParaRPr lang="en-US" sz="1600" dirty="0"/>
          </a:p>
        </p:txBody>
      </p:sp>
      <p:sp>
        <p:nvSpPr>
          <p:cNvPr id="13" name="Shape 11"/>
          <p:cNvSpPr/>
          <p:nvPr/>
        </p:nvSpPr>
        <p:spPr>
          <a:xfrm>
            <a:off x="6391656" y="4224528"/>
            <a:ext cx="5138928" cy="1060704"/>
          </a:xfrm>
          <a:prstGeom prst="rect">
            <a:avLst/>
          </a:prstGeom>
          <a:solidFill>
            <a:srgbClr val="FFFFFF"/>
          </a:solidFill>
          <a:ln w="12700">
            <a:solidFill>
              <a:srgbClr val="E8DFCC"/>
            </a:solidFill>
            <a:prstDash val="solid"/>
          </a:ln>
        </p:spPr>
        <p:txBody>
          <a:bodyPr>
            <a:normAutofit/>
          </a:bodyPr>
          <a:p/>
        </p:txBody>
      </p:sp>
      <p:sp>
        <p:nvSpPr>
          <p:cNvPr id="14" name="Text 12"/>
          <p:cNvSpPr/>
          <p:nvPr/>
        </p:nvSpPr>
        <p:spPr>
          <a:xfrm>
            <a:off x="6611112" y="4389120"/>
            <a:ext cx="4700016"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The specific move needs a read of context a group room does not have.</a:t>
            </a:r>
            <a:endParaRPr lang="en-US" sz="1600" dirty="0"/>
          </a:p>
        </p:txBody>
      </p:sp>
      <p:sp>
        <p:nvSpPr>
          <p:cNvPr id="15" name="Shape 13"/>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400" dirty="0">
                <a:solidFill>
                  <a:srgbClr val="0F2347"/>
                </a:solidFill>
                <a:latin typeface="DM Sans" pitchFamily="34" charset="0"/>
                <a:ea typeface="DM Sans" pitchFamily="34" charset="-122"/>
                <a:cs typeface="DM Sans" pitchFamily="34" charset="-120"/>
              </a:rPr>
              <a:t>This read informs a career decision. It does not replace financial, legal, medical, immigration, contractual or family judgment. Recording: teaching segments only. Your scoring, discussion and writing time are never recorded.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3</a:t>
            </a:r>
            <a:endParaRPr lang="en-US" sz="900" dirty="0"/>
          </a:p>
        </p:txBody>
      </p:sp>
      <p:sp>
        <p:nvSpPr>
          <p:cNvPr id="4" name="Text 2"/>
          <p:cNvSpPr/>
          <p:nvPr/>
        </p:nvSpPr>
        <p:spPr>
          <a:xfrm>
            <a:off x="658368" y="2148840"/>
            <a:ext cx="10872216" cy="310896"/>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WHERE THIS COMES FROM</a:t>
            </a:r>
            <a:endParaRPr lang="en-US" sz="1300" dirty="0"/>
          </a:p>
        </p:txBody>
      </p:sp>
      <p:sp>
        <p:nvSpPr>
          <p:cNvPr id="5" name="Text 3"/>
          <p:cNvSpPr/>
          <p:nvPr/>
        </p:nvSpPr>
        <p:spPr>
          <a:xfrm>
            <a:off x="658368" y="2578608"/>
            <a:ext cx="10872216" cy="859536"/>
          </a:xfrm>
          <a:prstGeom prst="rect">
            <a:avLst/>
          </a:prstGeom>
          <a:noFill/>
          <a:ln/>
        </p:spPr>
        <p:txBody>
          <a:bodyPr wrap="square" lIns="0" tIns="0" rIns="0" bIns="0" rtlCol="0" anchor="t">
            <a:normAutofit/>
          </a:bodyPr>
          <a:lstStyle/>
          <a:p>
            <a:pPr indent="0" marL="0">
              <a:buNone/>
            </a:pPr>
            <a:r>
              <a:rPr lang="en-US" sz="5000" dirty="0">
                <a:solidFill>
                  <a:srgbClr val="FFFFFF"/>
                </a:solidFill>
                <a:latin typeface="Cormorant Garamond" pitchFamily="34" charset="0"/>
                <a:ea typeface="Cormorant Garamond" pitchFamily="34" charset="-122"/>
                <a:cs typeface="Cormorant Garamond" pitchFamily="34" charset="-120"/>
              </a:rPr>
              <a:t>The room you are not in.</a:t>
            </a:r>
            <a:endParaRPr lang="en-US" sz="5000" dirty="0"/>
          </a:p>
        </p:txBody>
      </p:sp>
      <p:sp>
        <p:nvSpPr>
          <p:cNvPr id="6" name="Text 4"/>
          <p:cNvSpPr/>
          <p:nvPr/>
        </p:nvSpPr>
        <p:spPr>
          <a:xfrm>
            <a:off x="658368" y="3639312"/>
            <a:ext cx="8476488" cy="914400"/>
          </a:xfrm>
          <a:prstGeom prst="rect">
            <a:avLst/>
          </a:prstGeom>
          <a:noFill/>
          <a:ln/>
        </p:spPr>
        <p:txBody>
          <a:bodyPr wrap="square" lIns="0" tIns="0" rIns="0" bIns="0" rtlCol="0" anchor="t">
            <a:normAutofit/>
          </a:bodyPr>
          <a:lstStyle/>
          <a:p>
            <a:pPr indent="0" marL="0">
              <a:lnSpc>
                <a:spcPct val="125000"/>
              </a:lnSpc>
              <a:buNone/>
            </a:pPr>
            <a:r>
              <a:rPr lang="en-US" sz="1800" dirty="0">
                <a:solidFill>
                  <a:srgbClr val="A9B8D0"/>
                </a:solidFill>
                <a:latin typeface="DM Sans" pitchFamily="34" charset="0"/>
                <a:ea typeface="DM Sans" pitchFamily="34" charset="-122"/>
                <a:cs typeface="DM Sans" pitchFamily="34" charset="-120"/>
              </a:rPr>
              <a:t>I had spent eighteen years inside the rooms where capability was assessed. In March 2026, I became the person outside the room.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VANTAGE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Four questions. None of them appear on your review form.</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a:t>
            </a:r>
            <a:endParaRPr lang="en-US" sz="3000" dirty="0"/>
          </a:p>
        </p:txBody>
      </p:sp>
      <p:sp>
        <p:nvSpPr>
          <p:cNvPr id="9" name="Text 7"/>
          <p:cNvSpPr/>
          <p:nvPr/>
        </p:nvSpPr>
        <p:spPr>
          <a:xfrm>
            <a:off x="1344168" y="1920240"/>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How hard would this person be to replace?</a:t>
            </a:r>
            <a:endParaRPr lang="en-US" sz="2000" dirty="0"/>
          </a:p>
        </p:txBody>
      </p:sp>
      <p:sp>
        <p:nvSpPr>
          <p:cNvPr id="10" name="Text 8"/>
          <p:cNvSpPr/>
          <p:nvPr/>
        </p:nvSpPr>
        <p:spPr>
          <a:xfrm>
            <a:off x="6208776" y="1920240"/>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2</a:t>
            </a:r>
            <a:endParaRPr lang="en-US" sz="3000" dirty="0"/>
          </a:p>
        </p:txBody>
      </p:sp>
      <p:sp>
        <p:nvSpPr>
          <p:cNvPr id="11" name="Text 9"/>
          <p:cNvSpPr/>
          <p:nvPr/>
        </p:nvSpPr>
        <p:spPr>
          <a:xfrm>
            <a:off x="6894576" y="1920240"/>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Who outside this person’s manager can vouch for the work?</a:t>
            </a:r>
            <a:endParaRPr lang="en-US" sz="2000" dirty="0"/>
          </a:p>
        </p:txBody>
      </p:sp>
      <p:sp>
        <p:nvSpPr>
          <p:cNvPr id="12" name="Text 10"/>
          <p:cNvSpPr/>
          <p:nvPr/>
        </p:nvSpPr>
        <p:spPr>
          <a:xfrm>
            <a:off x="658368" y="3218688"/>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3</a:t>
            </a:r>
            <a:endParaRPr lang="en-US" sz="3000" dirty="0"/>
          </a:p>
        </p:txBody>
      </p:sp>
      <p:sp>
        <p:nvSpPr>
          <p:cNvPr id="13" name="Text 11"/>
          <p:cNvSpPr/>
          <p:nvPr/>
        </p:nvSpPr>
        <p:spPr>
          <a:xfrm>
            <a:off x="1344168" y="3218688"/>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Is this capability current, or was it current?</a:t>
            </a:r>
            <a:endParaRPr lang="en-US" sz="2000" dirty="0"/>
          </a:p>
        </p:txBody>
      </p:sp>
      <p:sp>
        <p:nvSpPr>
          <p:cNvPr id="14" name="Text 12"/>
          <p:cNvSpPr/>
          <p:nvPr/>
        </p:nvSpPr>
        <p:spPr>
          <a:xfrm>
            <a:off x="6208776" y="3218688"/>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4</a:t>
            </a:r>
            <a:endParaRPr lang="en-US" sz="3000" dirty="0"/>
          </a:p>
        </p:txBody>
      </p:sp>
      <p:sp>
        <p:nvSpPr>
          <p:cNvPr id="15" name="Text 13"/>
          <p:cNvSpPr/>
          <p:nvPr/>
        </p:nvSpPr>
        <p:spPr>
          <a:xfrm>
            <a:off x="6894576" y="3218688"/>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Does this person’s value travel, or does it only work here?</a:t>
            </a:r>
            <a:endParaRPr lang="en-US" sz="2000" dirty="0"/>
          </a:p>
        </p:txBody>
      </p:sp>
      <p:sp>
        <p:nvSpPr>
          <p:cNvPr id="16" name="Text 14"/>
          <p:cNvSpPr/>
          <p:nvPr/>
        </p:nvSpPr>
        <p:spPr>
          <a:xfrm>
            <a:off x="658368" y="4590288"/>
            <a:ext cx="10872216" cy="841248"/>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These are questions institutional rooms often weigh. Density and Optionality help you read the formation and portability questions underneath them.</a:t>
            </a:r>
            <a:endParaRPr lang="en-US" sz="2000" dirty="0"/>
          </a:p>
        </p:txBody>
      </p:sp>
      <p:sp>
        <p:nvSpPr>
          <p:cNvPr id="17" name="Shape 15"/>
          <p:cNvSpPr/>
          <p:nvPr/>
        </p:nvSpPr>
        <p:spPr>
          <a:xfrm>
            <a:off x="658368" y="5577840"/>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724144"/>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room reads your position whether or not you have.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WHAT YOU NEED TO READ FIRST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 fair question, and a reading that sits upstream of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WHAT YOU CAME IN ASKING</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WHAT DECIDES THE ANSWER</a:t>
            </a:r>
            <a:endParaRPr lang="en-US" sz="1100" dirty="0"/>
          </a:p>
        </p:txBody>
      </p:sp>
      <p:sp>
        <p:nvSpPr>
          <p:cNvPr id="10" name="Shape 8"/>
          <p:cNvSpPr/>
          <p:nvPr/>
        </p:nvSpPr>
        <p:spPr>
          <a:xfrm>
            <a:off x="658368" y="2304288"/>
            <a:ext cx="4901184" cy="1536192"/>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505456"/>
            <a:ext cx="4425696" cy="1188720"/>
          </a:xfrm>
          <a:prstGeom prst="rect">
            <a:avLst/>
          </a:prstGeom>
          <a:noFill/>
          <a:ln/>
        </p:spPr>
        <p:txBody>
          <a:bodyPr wrap="square" lIns="0" tIns="0" rIns="0" bIns="0" rtlCol="0" anchor="t">
            <a:normAutofit/>
          </a:bodyPr>
          <a:lstStyle/>
          <a:p>
            <a:pPr indent="0" marL="0">
              <a:lnSpc>
                <a:spcPct val="110000"/>
              </a:lnSpc>
              <a:buNone/>
            </a:pPr>
            <a:r>
              <a:rPr lang="en-US" sz="2400" dirty="0">
                <a:solidFill>
                  <a:srgbClr val="0F2347"/>
                </a:solidFill>
                <a:latin typeface="Cormorant Garamond" pitchFamily="34" charset="0"/>
                <a:ea typeface="Cormorant Garamond" pitchFamily="34" charset="-122"/>
                <a:cs typeface="Cormorant Garamond" pitchFamily="34" charset="-120"/>
              </a:rPr>
              <a:t>“Should I stay in this role, or should I go?”</a:t>
            </a:r>
            <a:endParaRPr lang="en-US" sz="2400" dirty="0"/>
          </a:p>
        </p:txBody>
      </p:sp>
      <p:sp>
        <p:nvSpPr>
          <p:cNvPr id="12" name="Shape 10"/>
          <p:cNvSpPr/>
          <p:nvPr/>
        </p:nvSpPr>
        <p:spPr>
          <a:xfrm>
            <a:off x="6236208" y="2304288"/>
            <a:ext cx="4901184" cy="1536192"/>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505456"/>
            <a:ext cx="4425696" cy="1188720"/>
          </a:xfrm>
          <a:prstGeom prst="rect">
            <a:avLst/>
          </a:prstGeom>
          <a:noFill/>
          <a:ln/>
        </p:spPr>
        <p:txBody>
          <a:bodyPr wrap="square" lIns="0" tIns="0" rIns="0" bIns="0" rtlCol="0" anchor="t">
            <a:normAutofit/>
          </a:bodyPr>
          <a:lstStyle/>
          <a:p>
            <a:pPr indent="0" marL="0">
              <a:lnSpc>
                <a:spcPct val="110000"/>
              </a:lnSpc>
              <a:buNone/>
            </a:pPr>
            <a:r>
              <a:rPr lang="en-US" sz="2400" dirty="0">
                <a:solidFill>
                  <a:srgbClr val="0F2347"/>
                </a:solidFill>
                <a:latin typeface="Cormorant Garamond" pitchFamily="34" charset="0"/>
                <a:ea typeface="Cormorant Garamond" pitchFamily="34" charset="-122"/>
                <a:cs typeface="Cormorant Garamond" pitchFamily="34" charset="-120"/>
              </a:rPr>
              <a:t>“Is this position still forming me, and does what it built travel?”</a:t>
            </a:r>
            <a:endParaRPr lang="en-US" sz="2400" dirty="0"/>
          </a:p>
        </p:txBody>
      </p:sp>
      <p:sp>
        <p:nvSpPr>
          <p:cNvPr id="14" name="Text 12"/>
          <p:cNvSpPr/>
          <p:nvPr/>
        </p:nvSpPr>
        <p:spPr>
          <a:xfrm>
            <a:off x="658368" y="4133088"/>
            <a:ext cx="10872216" cy="859536"/>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The first question is yours to answer and nobody can answer it for you today. The second one can be read more rigorously in this room, and it sits upstream of the first.</a:t>
            </a:r>
            <a:endParaRPr lang="en-US" sz="2000" dirty="0"/>
          </a:p>
        </p:txBody>
      </p:sp>
      <p:sp>
        <p:nvSpPr>
          <p:cNvPr id="15" name="Shape 13"/>
          <p:cNvSpPr/>
          <p:nvPr/>
        </p:nvSpPr>
        <p:spPr>
          <a:xfrm>
            <a:off x="658368" y="5358384"/>
            <a:ext cx="10872216" cy="10973"/>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5504688"/>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It also outlasts whatever is in the headlines. This reads your position against the category of disruption rather than the current episode.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ORIENTATION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How the two-hour session works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Four moves. You will score yourself twice, in full, both times.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01952"/>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1</a:t>
            </a:r>
            <a:endParaRPr lang="en-US" sz="2800" dirty="0"/>
          </a:p>
        </p:txBody>
      </p:sp>
      <p:sp>
        <p:nvSpPr>
          <p:cNvPr id="9" name="Text 7"/>
          <p:cNvSpPr/>
          <p:nvPr/>
        </p:nvSpPr>
        <p:spPr>
          <a:xfrm>
            <a:off x="1298448" y="1901952"/>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Initial read</a:t>
            </a:r>
            <a:endParaRPr lang="en-US" sz="2000" dirty="0"/>
          </a:p>
        </p:txBody>
      </p:sp>
      <p:sp>
        <p:nvSpPr>
          <p:cNvPr id="10" name="Text 8"/>
          <p:cNvSpPr/>
          <p:nvPr/>
        </p:nvSpPr>
        <p:spPr>
          <a:xfrm>
            <a:off x="4498848" y="1901952"/>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All twelve statements, as you read them today. No evidence required yet.</a:t>
            </a:r>
            <a:endParaRPr lang="en-US" sz="2000" dirty="0"/>
          </a:p>
        </p:txBody>
      </p:sp>
      <p:sp>
        <p:nvSpPr>
          <p:cNvPr id="11" name="Text 9"/>
          <p:cNvSpPr/>
          <p:nvPr/>
        </p:nvSpPr>
        <p:spPr>
          <a:xfrm>
            <a:off x="658368" y="2798064"/>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2</a:t>
            </a:r>
            <a:endParaRPr lang="en-US" sz="2800" dirty="0"/>
          </a:p>
        </p:txBody>
      </p:sp>
      <p:sp>
        <p:nvSpPr>
          <p:cNvPr id="12" name="Text 10"/>
          <p:cNvSpPr/>
          <p:nvPr/>
        </p:nvSpPr>
        <p:spPr>
          <a:xfrm>
            <a:off x="1298448" y="2798064"/>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Calibration</a:t>
            </a:r>
            <a:endParaRPr lang="en-US" sz="2000" dirty="0"/>
          </a:p>
        </p:txBody>
      </p:sp>
      <p:sp>
        <p:nvSpPr>
          <p:cNvPr id="13" name="Text 11"/>
          <p:cNvSpPr/>
          <p:nvPr/>
        </p:nvSpPr>
        <p:spPr>
          <a:xfrm>
            <a:off x="4498848" y="2798064"/>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evidence protocol, and the three ways capable people misread their own position.</a:t>
            </a:r>
            <a:endParaRPr lang="en-US" sz="2000" dirty="0"/>
          </a:p>
        </p:txBody>
      </p:sp>
      <p:sp>
        <p:nvSpPr>
          <p:cNvPr id="14" name="Text 12"/>
          <p:cNvSpPr/>
          <p:nvPr/>
        </p:nvSpPr>
        <p:spPr>
          <a:xfrm>
            <a:off x="658368" y="3694176"/>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3</a:t>
            </a:r>
            <a:endParaRPr lang="en-US" sz="2800" dirty="0"/>
          </a:p>
        </p:txBody>
      </p:sp>
      <p:sp>
        <p:nvSpPr>
          <p:cNvPr id="15" name="Text 13"/>
          <p:cNvSpPr/>
          <p:nvPr/>
        </p:nvSpPr>
        <p:spPr>
          <a:xfrm>
            <a:off x="1298448" y="3694176"/>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Evidence-backed read</a:t>
            </a:r>
            <a:endParaRPr lang="en-US" sz="2000" dirty="0"/>
          </a:p>
        </p:txBody>
      </p:sp>
      <p:sp>
        <p:nvSpPr>
          <p:cNvPr id="16" name="Text 14"/>
          <p:cNvSpPr/>
          <p:nvPr/>
        </p:nvSpPr>
        <p:spPr>
          <a:xfrm>
            <a:off x="4498848" y="3694176"/>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same twelve again, with evidence in both directions. You keep the first number.</a:t>
            </a:r>
            <a:endParaRPr lang="en-US" sz="2000" dirty="0"/>
          </a:p>
        </p:txBody>
      </p:sp>
      <p:sp>
        <p:nvSpPr>
          <p:cNvPr id="17" name="Text 15"/>
          <p:cNvSpPr/>
          <p:nvPr/>
        </p:nvSpPr>
        <p:spPr>
          <a:xfrm>
            <a:off x="658368" y="4590288"/>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4</a:t>
            </a:r>
            <a:endParaRPr lang="en-US" sz="2800" dirty="0"/>
          </a:p>
        </p:txBody>
      </p:sp>
      <p:sp>
        <p:nvSpPr>
          <p:cNvPr id="18" name="Text 16"/>
          <p:cNvSpPr/>
          <p:nvPr/>
        </p:nvSpPr>
        <p:spPr>
          <a:xfrm>
            <a:off x="1298448" y="4590288"/>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Decide</a:t>
            </a:r>
            <a:endParaRPr lang="en-US" sz="2000" dirty="0"/>
          </a:p>
        </p:txBody>
      </p:sp>
      <p:sp>
        <p:nvSpPr>
          <p:cNvPr id="19" name="Text 17"/>
          <p:cNvSpPr/>
          <p:nvPr/>
        </p:nvSpPr>
        <p:spPr>
          <a:xfrm>
            <a:off x="4498848" y="4590288"/>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Re-total, place again, and write your Next-Move Decision.</a:t>
            </a:r>
            <a:endParaRPr lang="en-US" sz="2000" dirty="0"/>
          </a:p>
        </p:txBody>
      </p:sp>
      <p:sp>
        <p:nvSpPr>
          <p:cNvPr id="20" name="Shape 18"/>
          <p:cNvSpPr/>
          <p:nvPr/>
        </p:nvSpPr>
        <p:spPr>
          <a:xfrm>
            <a:off x="658368" y="5504688"/>
            <a:ext cx="10872216" cy="10973"/>
          </a:xfrm>
          <a:prstGeom prst="rect">
            <a:avLst/>
          </a:prstGeom>
          <a:solidFill>
            <a:srgbClr val="E8DFCC"/>
          </a:solidFill>
          <a:ln w="12700">
            <a:solidFill>
              <a:srgbClr val="333333"/>
            </a:solidFill>
            <a:prstDash val="solid"/>
          </a:ln>
        </p:spPr>
        <p:txBody>
          <a:bodyPr>
            <a:normAutofit/>
          </a:bodyPr>
          <a:p/>
        </p:txBody>
      </p:sp>
      <p:sp>
        <p:nvSpPr>
          <p:cNvPr id="21" name="Text 19"/>
          <p:cNvSpPr/>
          <p:nvPr/>
        </p:nvSpPr>
        <p:spPr>
          <a:xfrm>
            <a:off x="658368" y="5650992"/>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Your first number is not a test you can fail. It is the reading you would have carried into a decision this week. The word for what happens in between is calibration.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7</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DEFINITION ONE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Density</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Learning velocity. Whether this environment is still forming you.</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Density is the extent to which the environment you are in is still forming deeper capability in you.</a:t>
            </a:r>
            <a:endParaRPr lang="en-US" sz="2400" dirty="0"/>
          </a:p>
        </p:txBody>
      </p:sp>
      <p:sp>
        <p:nvSpPr>
          <p:cNvPr id="9" name="Text 7"/>
          <p:cNvSpPr/>
          <p:nvPr/>
        </p:nvSpPr>
        <p:spPr>
          <a:xfrm>
            <a:off x="658368" y="2944368"/>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It is a property of the conditions you work under rather than a measure of your effort. A role can be exhausting and forming nothing.</a:t>
            </a:r>
            <a:endParaRPr lang="en-US" sz="2000" dirty="0"/>
          </a:p>
        </p:txBody>
      </p:sp>
      <p:sp>
        <p:nvSpPr>
          <p:cNvPr id="10" name="Shape 8"/>
          <p:cNvSpPr/>
          <p:nvPr/>
        </p:nvSpPr>
        <p:spPr>
          <a:xfrm>
            <a:off x="658368" y="3950208"/>
            <a:ext cx="10872216" cy="120700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914400" y="4133088"/>
            <a:ext cx="10360152" cy="402336"/>
          </a:xfrm>
          <a:prstGeom prst="rect">
            <a:avLst/>
          </a:prstGeom>
          <a:noFill/>
          <a:ln/>
        </p:spPr>
        <p:txBody>
          <a:bodyPr wrap="square" lIns="0" tIns="0" rIns="0" bIns="0" rtlCol="0" anchor="t">
            <a:normAutofit/>
          </a:bodyPr>
          <a:lstStyle/>
          <a:p>
            <a:pPr indent="0" marL="0">
              <a:buNone/>
            </a:pPr>
            <a:r>
              <a:rPr lang="en-US" sz="2200" b="1" dirty="0">
                <a:solidFill>
                  <a:srgbClr val="0F2347"/>
                </a:solidFill>
                <a:latin typeface="DM Sans" pitchFamily="34" charset="0"/>
                <a:ea typeface="DM Sans" pitchFamily="34" charset="-122"/>
                <a:cs typeface="DM Sans" pitchFamily="34" charset="-120"/>
              </a:rPr>
              <a:t>Density is not workload, busyness, pressure or intensity.</a:t>
            </a:r>
            <a:endParaRPr lang="en-US" sz="2200" dirty="0"/>
          </a:p>
        </p:txBody>
      </p:sp>
      <p:sp>
        <p:nvSpPr>
          <p:cNvPr id="12" name="Text 10"/>
          <p:cNvSpPr/>
          <p:nvPr/>
        </p:nvSpPr>
        <p:spPr>
          <a:xfrm>
            <a:off x="914400" y="4590288"/>
            <a:ext cx="10360152" cy="402336"/>
          </a:xfrm>
          <a:prstGeom prst="rect">
            <a:avLst/>
          </a:prstGeom>
          <a:noFill/>
          <a:ln/>
        </p:spPr>
        <p:txBody>
          <a:bodyPr wrap="square" lIns="0" tIns="0" rIns="0" bIns="0" rtlCol="0" anchor="t">
            <a:normAutofit/>
          </a:bodyPr>
          <a:lstStyle/>
          <a:p>
            <a:pPr indent="0" marL="0">
              <a:buNone/>
            </a:pPr>
            <a:r>
              <a:rPr lang="en-US" sz="2000" dirty="0">
                <a:solidFill>
                  <a:srgbClr val="0F2347"/>
                </a:solidFill>
                <a:latin typeface="DM Sans" pitchFamily="34" charset="0"/>
                <a:ea typeface="DM Sans" pitchFamily="34" charset="-122"/>
                <a:cs typeface="DM Sans" pitchFamily="34" charset="-120"/>
              </a:rPr>
              <a:t>A hard week is not evidence of formation.</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Six statements. You will score them in a few minutes.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DEFINITION TWO</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Optionality</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Market portability. Whether what you built is yours to carry.</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Optionality is the portability and legibility of what you have built, beyond the context that built it.</a:t>
            </a:r>
            <a:endParaRPr lang="en-US" sz="2400" dirty="0"/>
          </a:p>
        </p:txBody>
      </p:sp>
      <p:sp>
        <p:nvSpPr>
          <p:cNvPr id="9" name="Text 7"/>
          <p:cNvSpPr/>
          <p:nvPr/>
        </p:nvSpPr>
        <p:spPr>
          <a:xfrm>
            <a:off x="658368" y="2944368"/>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It has two halves that people collapse into one: whether the capability transfers, and whether anyone with power outside your manager has seen it.</a:t>
            </a:r>
            <a:endParaRPr lang="en-US" sz="2000" dirty="0"/>
          </a:p>
        </p:txBody>
      </p:sp>
      <p:sp>
        <p:nvSpPr>
          <p:cNvPr id="10" name="Shape 8"/>
          <p:cNvSpPr/>
          <p:nvPr/>
        </p:nvSpPr>
        <p:spPr>
          <a:xfrm>
            <a:off x="658368" y="3950208"/>
            <a:ext cx="10872216" cy="120700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914400" y="4133088"/>
            <a:ext cx="10360152" cy="402336"/>
          </a:xfrm>
          <a:prstGeom prst="rect">
            <a:avLst/>
          </a:prstGeom>
          <a:noFill/>
          <a:ln/>
        </p:spPr>
        <p:txBody>
          <a:bodyPr wrap="square" lIns="0" tIns="0" rIns="0" bIns="0" rtlCol="0" anchor="t">
            <a:normAutofit/>
          </a:bodyPr>
          <a:lstStyle/>
          <a:p>
            <a:pPr indent="0" marL="0">
              <a:buNone/>
            </a:pPr>
            <a:r>
              <a:rPr lang="en-US" sz="2200" b="1" dirty="0">
                <a:solidFill>
                  <a:srgbClr val="0F2347"/>
                </a:solidFill>
                <a:latin typeface="DM Sans" pitchFamily="34" charset="0"/>
                <a:ea typeface="DM Sans" pitchFamily="34" charset="-122"/>
                <a:cs typeface="DM Sans" pitchFamily="34" charset="-120"/>
              </a:rPr>
              <a:t>Optionality is not having offers in hand.</a:t>
            </a:r>
            <a:endParaRPr lang="en-US" sz="2200" dirty="0"/>
          </a:p>
        </p:txBody>
      </p:sp>
      <p:sp>
        <p:nvSpPr>
          <p:cNvPr id="12" name="Text 10"/>
          <p:cNvSpPr/>
          <p:nvPr/>
        </p:nvSpPr>
        <p:spPr>
          <a:xfrm>
            <a:off x="914400" y="4590288"/>
            <a:ext cx="10360152" cy="402336"/>
          </a:xfrm>
          <a:prstGeom prst="rect">
            <a:avLst/>
          </a:prstGeom>
          <a:noFill/>
          <a:ln/>
        </p:spPr>
        <p:txBody>
          <a:bodyPr wrap="square" lIns="0" tIns="0" rIns="0" bIns="0" rtlCol="0" anchor="t">
            <a:normAutofit/>
          </a:bodyPr>
          <a:lstStyle/>
          <a:p>
            <a:pPr indent="0" marL="0">
              <a:buNone/>
            </a:pPr>
            <a:r>
              <a:rPr lang="en-US" sz="2000" dirty="0">
                <a:solidFill>
                  <a:srgbClr val="0F2347"/>
                </a:solidFill>
                <a:latin typeface="DM Sans" pitchFamily="34" charset="0"/>
                <a:ea typeface="DM Sans" pitchFamily="34" charset="-122"/>
                <a:cs typeface="DM Sans" pitchFamily="34" charset="-120"/>
              </a:rPr>
              <a:t>It is whether you could rebuild elsewhere, and whether the right people can already see why.</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Six statements. Twelve in total, and you score all of them.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9</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APPLICATION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AI changes about this reading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Sixty seconds. An application of the two axes, not a new axis.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11680"/>
            <a:ext cx="10872216" cy="118872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Where AI makes routine output easier to reproduce, your position depends more heavily on judgment, learning velocity, and capability that travels across unfamiliar problems.</a:t>
            </a:r>
            <a:endParaRPr lang="en-US" sz="2400" dirty="0"/>
          </a:p>
        </p:txBody>
      </p:sp>
      <p:sp>
        <p:nvSpPr>
          <p:cNvPr id="9" name="Shape 7"/>
          <p:cNvSpPr/>
          <p:nvPr/>
        </p:nvSpPr>
        <p:spPr>
          <a:xfrm>
            <a:off x="658368" y="3529584"/>
            <a:ext cx="10872216" cy="914400"/>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914400" y="3712464"/>
            <a:ext cx="10360152" cy="621792"/>
          </a:xfrm>
          <a:prstGeom prst="rect">
            <a:avLst/>
          </a:prstGeom>
          <a:noFill/>
          <a:ln/>
        </p:spPr>
        <p:txBody>
          <a:bodyPr wrap="square" lIns="0" tIns="0" rIns="0" bIns="0" rtlCol="0" anchor="t">
            <a:normAutofit/>
          </a:bodyPr>
          <a:lstStyle/>
          <a:p>
            <a:pPr indent="0" marL="0">
              <a:lnSpc>
                <a:spcPct val="115000"/>
              </a:lnSpc>
              <a:buNone/>
            </a:pPr>
            <a:r>
              <a:rPr lang="en-US" sz="2100" b="1" dirty="0">
                <a:solidFill>
                  <a:srgbClr val="0F2347"/>
                </a:solidFill>
                <a:latin typeface="DM Sans" pitchFamily="34" charset="0"/>
                <a:ea typeface="DM Sans" pitchFamily="34" charset="-122"/>
                <a:cs typeface="DM Sans" pitchFamily="34" charset="-120"/>
              </a:rPr>
              <a:t>AI does not create Compounding. It raises the cost of mistaking familiar output for growing capability.</a:t>
            </a:r>
            <a:endParaRPr lang="en-US" sz="2100" dirty="0"/>
          </a:p>
        </p:txBody>
      </p:sp>
      <p:sp>
        <p:nvSpPr>
          <p:cNvPr id="11" name="Text 9"/>
          <p:cNvSpPr/>
          <p:nvPr/>
        </p:nvSpPr>
        <p:spPr>
          <a:xfrm>
            <a:off x="658368" y="4681728"/>
            <a:ext cx="10872216" cy="45720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That is a reason to read the two axes carefully. It is not a separate score.</a:t>
            </a:r>
            <a:endParaRPr lang="en-US" sz="2000" dirty="0"/>
          </a:p>
        </p:txBody>
      </p:sp>
      <p:sp>
        <p:nvSpPr>
          <p:cNvPr id="12" name="Shape 10"/>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Fuller treatment in the appendix and on workbook page 25.</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10</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Density. Live, silent. 1 strongly disagree to 5 strongly agree.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2</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3</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Type a number in each box. No evidence line yet, that comes later, and it is deliberate. Workbook page 4.</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Density, continued. Same window, same instruction.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4</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5</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6</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Type a number in each box. No evidence line yet, that comes later, and it is deliberate. Workbook page 4.</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Add the six. Hold the number. Do not share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2103120"/>
            <a:ext cx="5120640" cy="1371600"/>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932688" y="2304288"/>
            <a:ext cx="457200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DENSITY, INITIAL</a:t>
            </a:r>
            <a:endParaRPr lang="en-US" sz="1100" dirty="0"/>
          </a:p>
        </p:txBody>
      </p:sp>
      <p:sp>
        <p:nvSpPr>
          <p:cNvPr id="10" name="Text 8"/>
          <p:cNvSpPr/>
          <p:nvPr/>
        </p:nvSpPr>
        <p:spPr>
          <a:xfrm>
            <a:off x="932688" y="2615184"/>
            <a:ext cx="4572000" cy="640080"/>
          </a:xfrm>
          <a:prstGeom prst="rect">
            <a:avLst/>
          </a:prstGeom>
          <a:noFill/>
          <a:ln/>
        </p:spPr>
        <p:txBody>
          <a:bodyPr wrap="square" lIns="0" tIns="0" rIns="0" bIns="0" rtlCol="0" anchor="t">
            <a:normAutofit/>
          </a:bodyPr>
          <a:lstStyle/>
          <a:p>
            <a:pPr indent="0" marL="0">
              <a:buNone/>
            </a:pPr>
            <a:r>
              <a:rPr lang="en-US" sz="4000" dirty="0">
                <a:solidFill>
                  <a:srgbClr val="0F2347"/>
                </a:solidFill>
                <a:latin typeface="Cormorant Garamond" pitchFamily="34" charset="0"/>
                <a:ea typeface="Cormorant Garamond" pitchFamily="34" charset="-122"/>
                <a:cs typeface="Cormorant Garamond" pitchFamily="34" charset="-120"/>
              </a:rPr>
              <a:t>________  / 30</a:t>
            </a:r>
            <a:endParaRPr lang="en-US" sz="4000" dirty="0"/>
          </a:p>
        </p:txBody>
      </p:sp>
      <p:sp>
        <p:nvSpPr>
          <p:cNvPr id="11" name="Text 9"/>
          <p:cNvSpPr/>
          <p:nvPr/>
        </p:nvSpPr>
        <p:spPr>
          <a:xfrm>
            <a:off x="6236208" y="2231136"/>
            <a:ext cx="5294376" cy="12801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19 to 30 is high on this axis. 6 to 18 is low.</a:t>
            </a:r>
            <a:endParaRPr lang="en-US" sz="2000" dirty="0"/>
          </a:p>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Any score between 17 and 21 is a boundary, even a high one.</a:t>
            </a:r>
            <a:endParaRPr lang="en-US" sz="2000" dirty="0"/>
          </a:p>
        </p:txBody>
      </p:sp>
      <p:sp>
        <p:nvSpPr>
          <p:cNvPr id="12" name="Text 10"/>
          <p:cNvSpPr/>
          <p:nvPr/>
        </p:nvSpPr>
        <p:spPr>
          <a:xfrm>
            <a:off x="658368" y="3913632"/>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Write it where you can see it. You will produce a second number later, on a different standard, and the pair is the point of today.</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Workbook page 4. In Adobe Acrobat Reader the total calculates itself once all six boxes hold a valid score.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Optionality. Same scale, same window.</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7</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8</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9</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Type a number in each box. No evidence line yet, that comes later, and it is deliberate. Workbook page 5.</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Optionality, continued. Last block of the first pass.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10</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11</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12</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Type a number in each box. No evidence line yet, that comes later, and it is deliberate. Workbook page 5.</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Add the six. You now hold two numbers and a position.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2103120"/>
            <a:ext cx="5120640" cy="1371600"/>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932688" y="2304288"/>
            <a:ext cx="457200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OPTIONALITY, INITIAL</a:t>
            </a:r>
            <a:endParaRPr lang="en-US" sz="1100" dirty="0"/>
          </a:p>
        </p:txBody>
      </p:sp>
      <p:sp>
        <p:nvSpPr>
          <p:cNvPr id="10" name="Text 8"/>
          <p:cNvSpPr/>
          <p:nvPr/>
        </p:nvSpPr>
        <p:spPr>
          <a:xfrm>
            <a:off x="932688" y="2615184"/>
            <a:ext cx="4572000" cy="640080"/>
          </a:xfrm>
          <a:prstGeom prst="rect">
            <a:avLst/>
          </a:prstGeom>
          <a:noFill/>
          <a:ln/>
        </p:spPr>
        <p:txBody>
          <a:bodyPr wrap="square" lIns="0" tIns="0" rIns="0" bIns="0" rtlCol="0" anchor="t">
            <a:normAutofit/>
          </a:bodyPr>
          <a:lstStyle/>
          <a:p>
            <a:pPr indent="0" marL="0">
              <a:buNone/>
            </a:pPr>
            <a:r>
              <a:rPr lang="en-US" sz="4000" dirty="0">
                <a:solidFill>
                  <a:srgbClr val="0F2347"/>
                </a:solidFill>
                <a:latin typeface="Cormorant Garamond" pitchFamily="34" charset="0"/>
                <a:ea typeface="Cormorant Garamond" pitchFamily="34" charset="-122"/>
                <a:cs typeface="Cormorant Garamond" pitchFamily="34" charset="-120"/>
              </a:rPr>
              <a:t>________  / 30</a:t>
            </a:r>
            <a:endParaRPr lang="en-US" sz="4000" dirty="0"/>
          </a:p>
        </p:txBody>
      </p:sp>
      <p:sp>
        <p:nvSpPr>
          <p:cNvPr id="11" name="Text 9"/>
          <p:cNvSpPr/>
          <p:nvPr/>
        </p:nvSpPr>
        <p:spPr>
          <a:xfrm>
            <a:off x="6236208" y="2231136"/>
            <a:ext cx="5294376" cy="12801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Two numbers is all the matrix needs. Cross them and you have a state.</a:t>
            </a:r>
            <a:endParaRPr lang="en-US" sz="2000" dirty="0"/>
          </a:p>
        </p:txBody>
      </p:sp>
      <p:sp>
        <p:nvSpPr>
          <p:cNvPr id="12" name="Text 10"/>
          <p:cNvSpPr/>
          <p:nvPr/>
        </p:nvSpPr>
        <p:spPr>
          <a:xfrm>
            <a:off x="658368" y="3913632"/>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This is the reading you would have carried into a decision this week. Before we go further, we place it.</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Workbook page 5.</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MATRIX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four states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Density crossed with Optionality. Your current state reveals a form of exposure your job title cannot.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1463040" y="2212848"/>
            <a:ext cx="4631436" cy="1536192"/>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1664208" y="2395728"/>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0F2347"/>
                </a:solidFill>
                <a:latin typeface="DM Sans" pitchFamily="34" charset="0"/>
                <a:ea typeface="DM Sans" pitchFamily="34" charset="-122"/>
                <a:cs typeface="DM Sans" pitchFamily="34" charset="-120"/>
              </a:rPr>
              <a:t>DEPTH TRAP</a:t>
            </a:r>
            <a:endParaRPr lang="en-US" sz="2200" dirty="0"/>
          </a:p>
        </p:txBody>
      </p:sp>
      <p:sp>
        <p:nvSpPr>
          <p:cNvPr id="10" name="Text 8"/>
          <p:cNvSpPr/>
          <p:nvPr/>
        </p:nvSpPr>
        <p:spPr>
          <a:xfrm>
            <a:off x="1664208" y="2871216"/>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Deep expertise fused to one context.</a:t>
            </a:r>
            <a:endParaRPr lang="en-US" sz="1600" dirty="0"/>
          </a:p>
        </p:txBody>
      </p:sp>
      <p:sp>
        <p:nvSpPr>
          <p:cNvPr id="11" name="Shape 9"/>
          <p:cNvSpPr/>
          <p:nvPr/>
        </p:nvSpPr>
        <p:spPr>
          <a:xfrm>
            <a:off x="6094476" y="2212848"/>
            <a:ext cx="4631436" cy="1536192"/>
          </a:xfrm>
          <a:prstGeom prst="rect">
            <a:avLst/>
          </a:prstGeom>
          <a:solidFill>
            <a:srgbClr val="FFFFFF"/>
          </a:solidFill>
          <a:ln w="12700">
            <a:solidFill>
              <a:srgbClr val="E8DFCC"/>
            </a:solidFill>
            <a:prstDash val="solid"/>
          </a:ln>
        </p:spPr>
        <p:txBody>
          <a:bodyPr>
            <a:normAutofit/>
          </a:bodyPr>
          <a:p/>
        </p:txBody>
      </p:sp>
      <p:sp>
        <p:nvSpPr>
          <p:cNvPr id="12" name="Text 10"/>
          <p:cNvSpPr/>
          <p:nvPr/>
        </p:nvSpPr>
        <p:spPr>
          <a:xfrm>
            <a:off x="6295644" y="2395728"/>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C1440E"/>
                </a:solidFill>
                <a:latin typeface="DM Sans" pitchFamily="34" charset="0"/>
                <a:ea typeface="DM Sans" pitchFamily="34" charset="-122"/>
                <a:cs typeface="DM Sans" pitchFamily="34" charset="-120"/>
              </a:rPr>
              <a:t>COMPOUNDING</a:t>
            </a:r>
            <a:endParaRPr lang="en-US" sz="2200" dirty="0"/>
          </a:p>
        </p:txBody>
      </p:sp>
      <p:sp>
        <p:nvSpPr>
          <p:cNvPr id="13" name="Text 11"/>
          <p:cNvSpPr/>
          <p:nvPr/>
        </p:nvSpPr>
        <p:spPr>
          <a:xfrm>
            <a:off x="6295644" y="2871216"/>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Deep capability that travels.</a:t>
            </a:r>
            <a:endParaRPr lang="en-US" sz="1600" dirty="0"/>
          </a:p>
        </p:txBody>
      </p:sp>
      <p:sp>
        <p:nvSpPr>
          <p:cNvPr id="14" name="Shape 12"/>
          <p:cNvSpPr/>
          <p:nvPr/>
        </p:nvSpPr>
        <p:spPr>
          <a:xfrm>
            <a:off x="1463040" y="3749040"/>
            <a:ext cx="4631436" cy="1536192"/>
          </a:xfrm>
          <a:prstGeom prst="rect">
            <a:avLst/>
          </a:prstGeom>
          <a:solidFill>
            <a:srgbClr val="FFFFFF"/>
          </a:solidFill>
          <a:ln w="12700">
            <a:solidFill>
              <a:srgbClr val="E8DFCC"/>
            </a:solidFill>
            <a:prstDash val="solid"/>
          </a:ln>
        </p:spPr>
        <p:txBody>
          <a:bodyPr>
            <a:normAutofit/>
          </a:bodyPr>
          <a:p/>
        </p:txBody>
      </p:sp>
      <p:sp>
        <p:nvSpPr>
          <p:cNvPr id="15" name="Text 13"/>
          <p:cNvSpPr/>
          <p:nvPr/>
        </p:nvSpPr>
        <p:spPr>
          <a:xfrm>
            <a:off x="1664208" y="3931920"/>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0F2347"/>
                </a:solidFill>
                <a:latin typeface="DM Sans" pitchFamily="34" charset="0"/>
                <a:ea typeface="DM Sans" pitchFamily="34" charset="-122"/>
                <a:cs typeface="DM Sans" pitchFamily="34" charset="-120"/>
              </a:rPr>
              <a:t>STAGNANT</a:t>
            </a:r>
            <a:endParaRPr lang="en-US" sz="2200" dirty="0"/>
          </a:p>
        </p:txBody>
      </p:sp>
      <p:sp>
        <p:nvSpPr>
          <p:cNvPr id="16" name="Text 14"/>
          <p:cNvSpPr/>
          <p:nvPr/>
        </p:nvSpPr>
        <p:spPr>
          <a:xfrm>
            <a:off x="1664208" y="4407408"/>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The work stopped asking more of you.</a:t>
            </a:r>
            <a:endParaRPr lang="en-US" sz="1600" dirty="0"/>
          </a:p>
        </p:txBody>
      </p:sp>
      <p:sp>
        <p:nvSpPr>
          <p:cNvPr id="17" name="Shape 15"/>
          <p:cNvSpPr/>
          <p:nvPr/>
        </p:nvSpPr>
        <p:spPr>
          <a:xfrm>
            <a:off x="6094476" y="3749040"/>
            <a:ext cx="4631436" cy="1536192"/>
          </a:xfrm>
          <a:prstGeom prst="rect">
            <a:avLst/>
          </a:prstGeom>
          <a:solidFill>
            <a:srgbClr val="FFFFFF"/>
          </a:solidFill>
          <a:ln w="12700">
            <a:solidFill>
              <a:srgbClr val="E8DFCC"/>
            </a:solidFill>
            <a:prstDash val="solid"/>
          </a:ln>
        </p:spPr>
        <p:txBody>
          <a:bodyPr>
            <a:normAutofit/>
          </a:bodyPr>
          <a:p/>
        </p:txBody>
      </p:sp>
      <p:sp>
        <p:nvSpPr>
          <p:cNvPr id="18" name="Text 16"/>
          <p:cNvSpPr/>
          <p:nvPr/>
        </p:nvSpPr>
        <p:spPr>
          <a:xfrm>
            <a:off x="6295644" y="3931920"/>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0F2347"/>
                </a:solidFill>
                <a:latin typeface="DM Sans" pitchFamily="34" charset="0"/>
                <a:ea typeface="DM Sans" pitchFamily="34" charset="-122"/>
                <a:cs typeface="DM Sans" pitchFamily="34" charset="-120"/>
              </a:rPr>
              <a:t>FRAGILE</a:t>
            </a:r>
            <a:endParaRPr lang="en-US" sz="2200" dirty="0"/>
          </a:p>
        </p:txBody>
      </p:sp>
      <p:sp>
        <p:nvSpPr>
          <p:cNvPr id="19" name="Text 17"/>
          <p:cNvSpPr/>
          <p:nvPr/>
        </p:nvSpPr>
        <p:spPr>
          <a:xfrm>
            <a:off x="6295644" y="4407408"/>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Options on paper, not enough depth beneath.</a:t>
            </a:r>
            <a:endParaRPr lang="en-US" sz="1600" dirty="0"/>
          </a:p>
        </p:txBody>
      </p:sp>
      <p:sp>
        <p:nvSpPr>
          <p:cNvPr id="20" name="Text 18"/>
          <p:cNvSpPr/>
          <p:nvPr/>
        </p:nvSpPr>
        <p:spPr>
          <a:xfrm>
            <a:off x="1463040" y="1901952"/>
            <a:ext cx="9262872"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DENSITY:  HIGH AT TOP,  LOW AT BOTTOM</a:t>
            </a:r>
            <a:endParaRPr lang="en-US" sz="1100" dirty="0"/>
          </a:p>
        </p:txBody>
      </p:sp>
      <p:sp>
        <p:nvSpPr>
          <p:cNvPr id="21" name="Text 19"/>
          <p:cNvSpPr/>
          <p:nvPr/>
        </p:nvSpPr>
        <p:spPr>
          <a:xfrm>
            <a:off x="1463040" y="5340096"/>
            <a:ext cx="9262872"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OPTIONALITY:  LOW AT LEFT   to   HIGH AT RIGHT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17</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BEFORE YOU PLACE YOURSELF</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The most important sentence in the session.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This is not a performance rating, a potential rating, or a nine-box grid. It reads your conditions, not your worth to an employer.</a:t>
            </a:r>
            <a:endParaRPr lang="en-US" sz="2400" dirty="0"/>
          </a:p>
        </p:txBody>
      </p:sp>
      <p:sp>
        <p:nvSpPr>
          <p:cNvPr id="9" name="Text 7"/>
          <p:cNvSpPr/>
          <p:nvPr/>
        </p:nvSpPr>
        <p:spPr>
          <a:xfrm>
            <a:off x="658368" y="2980944"/>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Performance and formation differ</a:t>
            </a:r>
            <a:endParaRPr lang="en-US" sz="1900" dirty="0"/>
          </a:p>
        </p:txBody>
      </p:sp>
      <p:sp>
        <p:nvSpPr>
          <p:cNvPr id="10" name="Text 8"/>
          <p:cNvSpPr/>
          <p:nvPr/>
        </p:nvSpPr>
        <p:spPr>
          <a:xfrm>
            <a:off x="658368" y="3456432"/>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Strong reviews and flat formation are routine companions.</a:t>
            </a:r>
            <a:endParaRPr lang="en-US" sz="1500" dirty="0"/>
          </a:p>
        </p:txBody>
      </p:sp>
      <p:sp>
        <p:nvSpPr>
          <p:cNvPr id="11" name="Text 9"/>
          <p:cNvSpPr/>
          <p:nvPr/>
        </p:nvSpPr>
        <p:spPr>
          <a:xfrm>
            <a:off x="6236208" y="2980944"/>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State is not identity</a:t>
            </a:r>
            <a:endParaRPr lang="en-US" sz="1900" dirty="0"/>
          </a:p>
        </p:txBody>
      </p:sp>
      <p:sp>
        <p:nvSpPr>
          <p:cNvPr id="12" name="Text 10"/>
          <p:cNvSpPr/>
          <p:nvPr/>
        </p:nvSpPr>
        <p:spPr>
          <a:xfrm>
            <a:off x="6236208" y="3456432"/>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A current condition, not a personality type or a permanent address.</a:t>
            </a:r>
            <a:endParaRPr lang="en-US" sz="1500" dirty="0"/>
          </a:p>
        </p:txBody>
      </p:sp>
      <p:sp>
        <p:nvSpPr>
          <p:cNvPr id="13" name="Text 11"/>
          <p:cNvSpPr/>
          <p:nvPr/>
        </p:nvSpPr>
        <p:spPr>
          <a:xfrm>
            <a:off x="658368" y="4462272"/>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A low Optionality score is not a verdict</a:t>
            </a:r>
            <a:endParaRPr lang="en-US" sz="1900" dirty="0"/>
          </a:p>
        </p:txBody>
      </p:sp>
      <p:sp>
        <p:nvSpPr>
          <p:cNvPr id="14" name="Text 12"/>
          <p:cNvSpPr/>
          <p:nvPr/>
        </p:nvSpPr>
        <p:spPr>
          <a:xfrm>
            <a:off x="658368" y="4937760"/>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It may reflect context-bound capability, weak translation, limited exposure, or a combination.</a:t>
            </a:r>
            <a:endParaRPr lang="en-US" sz="1500" dirty="0"/>
          </a:p>
        </p:txBody>
      </p:sp>
      <p:sp>
        <p:nvSpPr>
          <p:cNvPr id="15" name="Text 13"/>
          <p:cNvSpPr/>
          <p:nvPr/>
        </p:nvSpPr>
        <p:spPr>
          <a:xfrm>
            <a:off x="6236208" y="4462272"/>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Your first score is not wrong</a:t>
            </a:r>
            <a:endParaRPr lang="en-US" sz="1900" dirty="0"/>
          </a:p>
        </p:txBody>
      </p:sp>
      <p:sp>
        <p:nvSpPr>
          <p:cNvPr id="16" name="Text 14"/>
          <p:cNvSpPr/>
          <p:nvPr/>
        </p:nvSpPr>
        <p:spPr>
          <a:xfrm>
            <a:off x="6236208" y="4937760"/>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It is uncalibrated. Those are different things.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FIRST PLACEMENT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First placement</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Your initial read, placed. Privately, and provisionally.</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2304288"/>
            <a:ext cx="2926080" cy="1325880"/>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859536" y="248716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DEPTH TRAP</a:t>
            </a:r>
            <a:endParaRPr lang="en-US" sz="1900" dirty="0"/>
          </a:p>
        </p:txBody>
      </p:sp>
      <p:sp>
        <p:nvSpPr>
          <p:cNvPr id="10" name="Shape 8"/>
          <p:cNvSpPr/>
          <p:nvPr/>
        </p:nvSpPr>
        <p:spPr>
          <a:xfrm>
            <a:off x="3584448" y="2304288"/>
            <a:ext cx="2926080" cy="1325880"/>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3785616" y="248716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C1440E"/>
                </a:solidFill>
                <a:latin typeface="DM Sans" pitchFamily="34" charset="0"/>
                <a:ea typeface="DM Sans" pitchFamily="34" charset="-122"/>
                <a:cs typeface="DM Sans" pitchFamily="34" charset="-120"/>
              </a:rPr>
              <a:t>COMPOUNDING</a:t>
            </a:r>
            <a:endParaRPr lang="en-US" sz="1900" dirty="0"/>
          </a:p>
        </p:txBody>
      </p:sp>
      <p:sp>
        <p:nvSpPr>
          <p:cNvPr id="12" name="Shape 10"/>
          <p:cNvSpPr/>
          <p:nvPr/>
        </p:nvSpPr>
        <p:spPr>
          <a:xfrm>
            <a:off x="658368" y="3630168"/>
            <a:ext cx="2926080" cy="1325880"/>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859536" y="381304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STAGNANT</a:t>
            </a:r>
            <a:endParaRPr lang="en-US" sz="1900" dirty="0"/>
          </a:p>
        </p:txBody>
      </p:sp>
      <p:sp>
        <p:nvSpPr>
          <p:cNvPr id="14" name="Shape 12"/>
          <p:cNvSpPr/>
          <p:nvPr/>
        </p:nvSpPr>
        <p:spPr>
          <a:xfrm>
            <a:off x="3584448" y="3630168"/>
            <a:ext cx="2926080" cy="1325880"/>
          </a:xfrm>
          <a:prstGeom prst="rect">
            <a:avLst/>
          </a:prstGeom>
          <a:solidFill>
            <a:srgbClr val="FFFFFF"/>
          </a:solidFill>
          <a:ln w="12700">
            <a:solidFill>
              <a:srgbClr val="E8DFCC"/>
            </a:solidFill>
            <a:prstDash val="solid"/>
          </a:ln>
        </p:spPr>
        <p:txBody>
          <a:bodyPr>
            <a:normAutofit/>
          </a:bodyPr>
          <a:p/>
        </p:txBody>
      </p:sp>
      <p:sp>
        <p:nvSpPr>
          <p:cNvPr id="15" name="Text 13"/>
          <p:cNvSpPr/>
          <p:nvPr/>
        </p:nvSpPr>
        <p:spPr>
          <a:xfrm>
            <a:off x="3785616" y="381304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FRAGILE</a:t>
            </a:r>
            <a:endParaRPr lang="en-US" sz="1900" dirty="0"/>
          </a:p>
        </p:txBody>
      </p:sp>
      <p:sp>
        <p:nvSpPr>
          <p:cNvPr id="16" name="Text 14"/>
          <p:cNvSpPr/>
          <p:nvPr/>
        </p:nvSpPr>
        <p:spPr>
          <a:xfrm>
            <a:off x="658368" y="1993392"/>
            <a:ext cx="585216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DENSITY:  HIGH AT TOP,  LOW AT BOTTOM</a:t>
            </a:r>
            <a:endParaRPr lang="en-US" sz="1100" dirty="0"/>
          </a:p>
        </p:txBody>
      </p:sp>
      <p:sp>
        <p:nvSpPr>
          <p:cNvPr id="17" name="Text 15"/>
          <p:cNvSpPr/>
          <p:nvPr/>
        </p:nvSpPr>
        <p:spPr>
          <a:xfrm>
            <a:off x="658368" y="5010912"/>
            <a:ext cx="585216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OPTIONALITY:  LOW AT LEFT   to   HIGH AT RIGHT</a:t>
            </a:r>
            <a:endParaRPr lang="en-US" sz="1100" dirty="0"/>
          </a:p>
        </p:txBody>
      </p:sp>
      <p:sp>
        <p:nvSpPr>
          <p:cNvPr id="18" name="Text 16"/>
          <p:cNvSpPr/>
          <p:nvPr/>
        </p:nvSpPr>
        <p:spPr>
          <a:xfrm>
            <a:off x="6967728" y="2103120"/>
            <a:ext cx="4562856"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Mark your square. Then write one number beside it: how confident are you in that placement, 1 to 5?</a:t>
            </a:r>
            <a:endParaRPr lang="en-US" sz="2000" dirty="0"/>
          </a:p>
        </p:txBody>
      </p:sp>
      <p:sp>
        <p:nvSpPr>
          <p:cNvPr id="19" name="Shape 17"/>
          <p:cNvSpPr/>
          <p:nvPr/>
        </p:nvSpPr>
        <p:spPr>
          <a:xfrm>
            <a:off x="6967728" y="3401568"/>
            <a:ext cx="4562856" cy="1554480"/>
          </a:xfrm>
          <a:prstGeom prst="rect">
            <a:avLst/>
          </a:prstGeom>
          <a:solidFill>
            <a:srgbClr val="FFFFFF"/>
          </a:solidFill>
          <a:ln w="12700">
            <a:solidFill>
              <a:srgbClr val="E8DFCC"/>
            </a:solidFill>
            <a:prstDash val="solid"/>
          </a:ln>
        </p:spPr>
        <p:txBody>
          <a:bodyPr>
            <a:normAutofit/>
          </a:bodyPr>
          <a:p/>
        </p:txBody>
      </p:sp>
      <p:sp>
        <p:nvSpPr>
          <p:cNvPr id="20" name="Text 18"/>
          <p:cNvSpPr/>
          <p:nvPr/>
        </p:nvSpPr>
        <p:spPr>
          <a:xfrm>
            <a:off x="7187184" y="3566160"/>
            <a:ext cx="4123944"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THE BOUNDARY RULE</a:t>
            </a:r>
            <a:endParaRPr lang="en-US" sz="1100" dirty="0"/>
          </a:p>
        </p:txBody>
      </p:sp>
      <p:sp>
        <p:nvSpPr>
          <p:cNvPr id="21" name="Text 19"/>
          <p:cNvSpPr/>
          <p:nvPr/>
        </p:nvSpPr>
        <p:spPr>
          <a:xfrm>
            <a:off x="7187184" y="3858768"/>
            <a:ext cx="4123944" cy="91440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If either score sits between 17 and 21, you are on a boundary. Read both neighbouring states.</a:t>
            </a:r>
            <a:endParaRPr lang="en-US" sz="1800" dirty="0"/>
          </a:p>
        </p:txBody>
      </p:sp>
      <p:sp>
        <p:nvSpPr>
          <p:cNvPr id="22" name="Shape 20"/>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23" name="Text 21"/>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Hold this lightly. You will place yourself again, on different numbers, in about forty minutes. Workbook page 6.</a:t>
            </a:r>
            <a:endParaRPr lang="en-US" sz="16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347"/>
        </a:solidFill>
      </p:bgPr>
    </p:bg>
    <p:spTree>
      <p:nvGrpSpPr>
        <p:cNvPr id="1" name=""/>
        <p:cNvGrpSpPr/>
        <p:nvPr/>
      </p:nvGrpSpPr>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19</a:t>
            </a:r>
            <a:endParaRPr lang="en-US" sz="900" dirty="0"/>
          </a:p>
        </p:txBody>
      </p:sp>
      <p:sp>
        <p:nvSpPr>
          <p:cNvPr id="4" name="Text 2"/>
          <p:cNvSpPr/>
          <p:nvPr/>
        </p:nvSpPr>
        <p:spPr>
          <a:xfrm>
            <a:off x="658368" y="2286000"/>
            <a:ext cx="10872216" cy="457200"/>
          </a:xfrm>
          <a:prstGeom prst="rect">
            <a:avLst/>
          </a:prstGeom>
          <a:noFill/>
          <a:ln/>
        </p:spPr>
        <p:txBody>
          <a:bodyPr wrap="square" lIns="0" tIns="0" rIns="0" bIns="0" rtlCol="0" anchor="ctr">
            <a:normAutofit/>
          </a:bodyPr>
          <a:lstStyle/>
          <a:p>
            <a:pPr indent="0" marL="0">
              <a:buNone/>
            </a:pPr>
            <a:r>
              <a:rPr lang="en-US" sz="1500" b="1" spc="300" kern="0" dirty="0">
                <a:solidFill>
                  <a:srgbClr val="C9A84C"/>
                </a:solidFill>
                <a:latin typeface="DM Sans" pitchFamily="34" charset="0"/>
                <a:ea typeface="DM Sans" pitchFamily="34" charset="-122"/>
                <a:cs typeface="DM Sans" pitchFamily="34" charset="-120"/>
              </a:rPr>
              <a:t>STAGED RELEASE  ·  MINUTE 31</a:t>
            </a:r>
            <a:endParaRPr lang="en-US" sz="1500" dirty="0"/>
          </a:p>
        </p:txBody>
      </p:sp>
      <p:sp>
        <p:nvSpPr>
          <p:cNvPr id="5" name="Text 3"/>
          <p:cNvSpPr/>
          <p:nvPr/>
        </p:nvSpPr>
        <p:spPr>
          <a:xfrm>
            <a:off x="658368" y="2743200"/>
            <a:ext cx="10872216" cy="1051560"/>
          </a:xfrm>
          <a:prstGeom prst="rect">
            <a:avLst/>
          </a:prstGeom>
          <a:noFill/>
          <a:ln/>
        </p:spPr>
        <p:txBody>
          <a:bodyPr wrap="square" lIns="0" tIns="0" rIns="0" bIns="0" rtlCol="0" anchor="t">
            <a:normAutofit/>
          </a:bodyPr>
          <a:lstStyle/>
          <a:p>
            <a:pPr indent="0" marL="0">
              <a:buNone/>
            </a:pPr>
            <a:r>
              <a:rPr lang="en-US" sz="6000" dirty="0">
                <a:solidFill>
                  <a:srgbClr val="FFFFFF"/>
                </a:solidFill>
                <a:latin typeface="Cormorant Garamond" pitchFamily="34" charset="0"/>
                <a:ea typeface="Cormorant Garamond" pitchFamily="34" charset="-122"/>
                <a:cs typeface="Cormorant Garamond" pitchFamily="34" charset="-120"/>
              </a:rPr>
              <a:t>Open Part B now.</a:t>
            </a:r>
            <a:endParaRPr lang="en-US" sz="6000" dirty="0"/>
          </a:p>
        </p:txBody>
      </p:sp>
      <p:sp>
        <p:nvSpPr>
          <p:cNvPr id="6" name="Text 4"/>
          <p:cNvSpPr/>
          <p:nvPr/>
        </p:nvSpPr>
        <p:spPr>
          <a:xfrm>
            <a:off x="658368" y="3968496"/>
            <a:ext cx="8778240" cy="731520"/>
          </a:xfrm>
          <a:prstGeom prst="rect">
            <a:avLst/>
          </a:prstGeom>
          <a:noFill/>
          <a:ln/>
        </p:spPr>
        <p:txBody>
          <a:bodyPr wrap="square" lIns="0" tIns="0" rIns="0" bIns="0" rtlCol="0" anchor="t">
            <a:normAutofit/>
          </a:bodyPr>
          <a:lstStyle/>
          <a:p>
            <a:pPr indent="0" marL="0">
              <a:lnSpc>
                <a:spcPct val="120000"/>
              </a:lnSpc>
              <a:buNone/>
            </a:pPr>
            <a:r>
              <a:rPr lang="en-US" sz="1800" dirty="0">
                <a:solidFill>
                  <a:srgbClr val="A9B8D0"/>
                </a:solidFill>
                <a:latin typeface="DM Sans" pitchFamily="34" charset="0"/>
                <a:ea typeface="DM Sans" pitchFamily="34" charset="-122"/>
                <a:cs typeface="DM Sans" pitchFamily="34" charset="-120"/>
              </a:rPr>
              <a:t>Keep Part A open — you will need your initial totals, state, and confidence.</a:t>
            </a:r>
            <a:endParaRPr lang="en-US" sz="2000" dirty="0"/>
          </a:p>
          <a:p>
            <a:pPr indent="0" marL="0">
              <a:lnSpc>
                <a:spcPct val="120000"/>
              </a:lnSpc>
              <a:buNone/>
            </a:pPr>
            <a:r>
              <a:rPr lang="en-US" sz="1800" dirty="0">
                <a:solidFill>
                  <a:srgbClr val="A9B8D0"/>
                </a:solidFill>
                <a:latin typeface="DM Sans" pitchFamily="34" charset="0"/>
                <a:ea typeface="DM Sans" pitchFamily="34" charset="-122"/>
                <a:cs typeface="DM Sans" pitchFamily="34" charset="-120"/>
              </a:rPr>
              <a:t>Open Part B only after every first placement in the room is complete.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20</a:t>
            </a:r>
            <a:endParaRPr lang="en-US" sz="900" dirty="0"/>
          </a:p>
        </p:txBody>
      </p:sp>
      <p:sp>
        <p:nvSpPr>
          <p:cNvPr id="4" name="Text 2"/>
          <p:cNvSpPr/>
          <p:nvPr/>
        </p:nvSpPr>
        <p:spPr>
          <a:xfrm>
            <a:off x="658368" y="1737360"/>
            <a:ext cx="10872216" cy="310896"/>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CALIBRATION</a:t>
            </a:r>
            <a:endParaRPr lang="en-US" sz="1300" dirty="0"/>
          </a:p>
        </p:txBody>
      </p:sp>
      <p:sp>
        <p:nvSpPr>
          <p:cNvPr id="5" name="Text 3"/>
          <p:cNvSpPr/>
          <p:nvPr/>
        </p:nvSpPr>
        <p:spPr>
          <a:xfrm>
            <a:off x="658368" y="2103120"/>
            <a:ext cx="10872216" cy="1005840"/>
          </a:xfrm>
          <a:prstGeom prst="rect">
            <a:avLst/>
          </a:prstGeom>
          <a:noFill/>
          <a:ln/>
        </p:spPr>
        <p:txBody>
          <a:bodyPr wrap="square" lIns="0" tIns="0" rIns="0" bIns="0" rtlCol="0" anchor="t">
            <a:normAutofit/>
          </a:bodyPr>
          <a:lstStyle/>
          <a:p>
            <a:pPr indent="0" marL="0">
              <a:buNone/>
            </a:pPr>
            <a:r>
              <a:rPr lang="en-US" sz="4600" dirty="0">
                <a:solidFill>
                  <a:srgbClr val="FFFFFF"/>
                </a:solidFill>
                <a:latin typeface="Cormorant Garamond" pitchFamily="34" charset="0"/>
                <a:ea typeface="Cormorant Garamond" pitchFamily="34" charset="-122"/>
                <a:cs typeface="Cormorant Garamond" pitchFamily="34" charset="-120"/>
              </a:rPr>
              <a:t>Now we correct the reading.</a:t>
            </a:r>
            <a:endParaRPr lang="en-US" sz="4600" dirty="0"/>
          </a:p>
        </p:txBody>
      </p:sp>
      <p:sp>
        <p:nvSpPr>
          <p:cNvPr id="6" name="Text 4"/>
          <p:cNvSpPr/>
          <p:nvPr/>
        </p:nvSpPr>
        <p:spPr>
          <a:xfrm>
            <a:off x="658368" y="3310128"/>
            <a:ext cx="8915400" cy="1280160"/>
          </a:xfrm>
          <a:prstGeom prst="rect">
            <a:avLst/>
          </a:prstGeom>
          <a:noFill/>
          <a:ln/>
        </p:spPr>
        <p:txBody>
          <a:bodyPr wrap="square" lIns="0" tIns="0" rIns="0" bIns="0" rtlCol="0" anchor="t">
            <a:normAutofit/>
          </a:bodyPr>
          <a:lstStyle/>
          <a:p>
            <a:pPr indent="0" marL="0">
              <a:lnSpc>
                <a:spcPct val="125000"/>
              </a:lnSpc>
              <a:buNone/>
            </a:pPr>
            <a:r>
              <a:rPr lang="en-US" sz="2000" dirty="0">
                <a:solidFill>
                  <a:srgbClr val="A9B8D0"/>
                </a:solidFill>
                <a:latin typeface="DM Sans" pitchFamily="34" charset="0"/>
                <a:ea typeface="DM Sans" pitchFamily="34" charset="-122"/>
                <a:cs typeface="DM Sans" pitchFamily="34" charset="-120"/>
              </a:rPr>
              <a:t>Three things stand between a self-score and a defensible one: an evidence standard, three characteristic misreadings, and the difference between being valued and being formed.</a:t>
            </a:r>
            <a:endParaRPr lang="en-US" sz="2000" dirty="0"/>
          </a:p>
        </p:txBody>
      </p:sp>
      <p:sp>
        <p:nvSpPr>
          <p:cNvPr id="7" name="Shape 5"/>
          <p:cNvSpPr/>
          <p:nvPr/>
        </p:nvSpPr>
        <p:spPr>
          <a:xfrm>
            <a:off x="9930384" y="3310128"/>
            <a:ext cx="466344" cy="466344"/>
          </a:xfrm>
          <a:prstGeom prst="rect">
            <a:avLst/>
          </a:prstGeom>
          <a:solidFill>
            <a:srgbClr val="0F2347"/>
          </a:solidFill>
          <a:ln w="12700">
            <a:solidFill>
              <a:srgbClr val="C9A84C"/>
            </a:solidFill>
            <a:prstDash val="solid"/>
          </a:ln>
        </p:spPr>
        <p:txBody>
          <a:bodyPr>
            <a:normAutofit/>
          </a:bodyPr>
          <a:p/>
        </p:txBody>
      </p:sp>
      <p:sp>
        <p:nvSpPr>
          <p:cNvPr id="8" name="Shape 6"/>
          <p:cNvSpPr/>
          <p:nvPr/>
        </p:nvSpPr>
        <p:spPr>
          <a:xfrm>
            <a:off x="10396728" y="3310128"/>
            <a:ext cx="466344" cy="466344"/>
          </a:xfrm>
          <a:prstGeom prst="rect">
            <a:avLst/>
          </a:prstGeom>
          <a:solidFill>
            <a:srgbClr val="C1440E"/>
          </a:solidFill>
          <a:ln w="12700">
            <a:solidFill>
              <a:srgbClr val="C9A84C"/>
            </a:solidFill>
            <a:prstDash val="solid"/>
          </a:ln>
        </p:spPr>
        <p:txBody>
          <a:bodyPr>
            <a:normAutofit/>
          </a:bodyPr>
          <a:p/>
        </p:txBody>
      </p:sp>
      <p:sp>
        <p:nvSpPr>
          <p:cNvPr id="9" name="Shape 7"/>
          <p:cNvSpPr/>
          <p:nvPr/>
        </p:nvSpPr>
        <p:spPr>
          <a:xfrm>
            <a:off x="9930384" y="3776472"/>
            <a:ext cx="466344" cy="466344"/>
          </a:xfrm>
          <a:prstGeom prst="rect">
            <a:avLst/>
          </a:prstGeom>
          <a:solidFill>
            <a:srgbClr val="0F2347"/>
          </a:solidFill>
          <a:ln w="12700">
            <a:solidFill>
              <a:srgbClr val="C9A84C"/>
            </a:solidFill>
            <a:prstDash val="solid"/>
          </a:ln>
        </p:spPr>
        <p:txBody>
          <a:bodyPr>
            <a:normAutofit/>
          </a:bodyPr>
          <a:p/>
        </p:txBody>
      </p:sp>
      <p:sp>
        <p:nvSpPr>
          <p:cNvPr id="10" name="Shape 8"/>
          <p:cNvSpPr/>
          <p:nvPr/>
        </p:nvSpPr>
        <p:spPr>
          <a:xfrm>
            <a:off x="10396728" y="3776472"/>
            <a:ext cx="466344" cy="466344"/>
          </a:xfrm>
          <a:prstGeom prst="rect">
            <a:avLst/>
          </a:prstGeom>
          <a:solidFill>
            <a:srgbClr val="0F2347"/>
          </a:solidFill>
          <a:ln w="12700">
            <a:solidFill>
              <a:srgbClr val="C9A84C"/>
            </a:solidFill>
            <a:prstDash val="solid"/>
          </a:ln>
        </p:spPr>
        <p:txBody>
          <a:bodyPr>
            <a:normAutofit/>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STANDARD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evidence protocol</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This is what your second reading has to survive.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822960"/>
          </a:xfrm>
          <a:prstGeom prst="rect">
            <a:avLst/>
          </a:prstGeom>
          <a:noFill/>
          <a:ln/>
        </p:spPr>
        <p:txBody>
          <a:bodyPr wrap="square" lIns="0" tIns="0" rIns="0" bIns="0" rtlCol="0" anchor="t">
            <a:normAutofit/>
          </a:bodyPr>
          <a:lstStyle/>
          <a:p>
            <a:pPr indent="0" marL="0">
              <a:lnSpc>
                <a:spcPct val="120000"/>
              </a:lnSpc>
              <a:buNone/>
            </a:pPr>
            <a:r>
              <a:rPr lang="en-US" sz="2300" dirty="0">
                <a:solidFill>
                  <a:srgbClr val="0F2347"/>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2300" dirty="0"/>
          </a:p>
        </p:txBody>
      </p:sp>
      <p:sp>
        <p:nvSpPr>
          <p:cNvPr id="9" name="Text 7"/>
          <p:cNvSpPr/>
          <p:nvPr/>
        </p:nvSpPr>
        <p:spPr>
          <a:xfrm>
            <a:off x="658368" y="2889504"/>
            <a:ext cx="2103120" cy="548640"/>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A 4 or 5</a:t>
            </a:r>
            <a:endParaRPr lang="en-US" sz="2000" dirty="0"/>
          </a:p>
        </p:txBody>
      </p:sp>
      <p:sp>
        <p:nvSpPr>
          <p:cNvPr id="10" name="Text 8"/>
          <p:cNvSpPr/>
          <p:nvPr/>
        </p:nvSpPr>
        <p:spPr>
          <a:xfrm>
            <a:off x="2926080" y="2889504"/>
            <a:ext cx="8604504" cy="640080"/>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2000" dirty="0"/>
          </a:p>
        </p:txBody>
      </p:sp>
      <p:sp>
        <p:nvSpPr>
          <p:cNvPr id="11" name="Text 9"/>
          <p:cNvSpPr/>
          <p:nvPr/>
        </p:nvSpPr>
        <p:spPr>
          <a:xfrm>
            <a:off x="658368" y="3602736"/>
            <a:ext cx="2103120" cy="548640"/>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A 3</a:t>
            </a:r>
            <a:endParaRPr lang="en-US" sz="2000" dirty="0"/>
          </a:p>
        </p:txBody>
      </p:sp>
      <p:sp>
        <p:nvSpPr>
          <p:cNvPr id="12" name="Text 10"/>
          <p:cNvSpPr/>
          <p:nvPr/>
        </p:nvSpPr>
        <p:spPr>
          <a:xfrm>
            <a:off x="2926080" y="3602736"/>
            <a:ext cx="8604504" cy="640080"/>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2000" dirty="0"/>
          </a:p>
        </p:txBody>
      </p:sp>
      <p:sp>
        <p:nvSpPr>
          <p:cNvPr id="13" name="Text 11"/>
          <p:cNvSpPr/>
          <p:nvPr/>
        </p:nvSpPr>
        <p:spPr>
          <a:xfrm>
            <a:off x="658368" y="4315968"/>
            <a:ext cx="2103120" cy="548640"/>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A 1 or 2</a:t>
            </a:r>
            <a:endParaRPr lang="en-US" sz="2000" dirty="0"/>
          </a:p>
        </p:txBody>
      </p:sp>
      <p:sp>
        <p:nvSpPr>
          <p:cNvPr id="14" name="Text 12"/>
          <p:cNvSpPr/>
          <p:nvPr/>
        </p:nvSpPr>
        <p:spPr>
          <a:xfrm>
            <a:off x="2926080" y="4315968"/>
            <a:ext cx="8604504" cy="640080"/>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2000" dirty="0"/>
          </a:p>
        </p:txBody>
      </p:sp>
      <p:sp>
        <p:nvSpPr>
          <p:cNvPr id="15" name="Shape 13"/>
          <p:cNvSpPr/>
          <p:nvPr/>
        </p:nvSpPr>
        <p:spPr>
          <a:xfrm>
            <a:off x="658368" y="5047488"/>
            <a:ext cx="10872216" cy="914400"/>
          </a:xfrm>
          <a:prstGeom prst="rect">
            <a:avLst/>
          </a:prstGeom>
          <a:solidFill>
            <a:srgbClr val="FFFFFF"/>
          </a:solidFill>
          <a:ln w="12700">
            <a:solidFill>
              <a:srgbClr val="E8DFCC"/>
            </a:solidFill>
            <a:prstDash val="solid"/>
          </a:ln>
        </p:spPr>
        <p:txBody>
          <a:bodyPr>
            <a:normAutofit/>
          </a:bodyPr>
          <a:p/>
        </p:txBody>
      </p:sp>
      <p:sp>
        <p:nvSpPr>
          <p:cNvPr id="16" name="Text 14"/>
          <p:cNvSpPr/>
          <p:nvPr/>
        </p:nvSpPr>
        <p:spPr>
          <a:xfrm>
            <a:off x="914400" y="5212080"/>
            <a:ext cx="10360152" cy="64008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CALIBRATION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Scoring the intended life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Misreading one. How the score goes wrong, and how to correct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GETS SCORED</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SHOULD BE SCORED</a:t>
            </a:r>
            <a:endParaRPr lang="en-US" sz="1100" dirty="0"/>
          </a:p>
        </p:txBody>
      </p:sp>
      <p:sp>
        <p:nvSpPr>
          <p:cNvPr id="10" name="Shape 8"/>
          <p:cNvSpPr/>
          <p:nvPr/>
        </p:nvSpPr>
        <p:spPr>
          <a:xfrm>
            <a:off x="658368" y="2286000"/>
            <a:ext cx="4901184" cy="239572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800" dirty="0"/>
          </a:p>
        </p:txBody>
      </p:sp>
      <p:sp>
        <p:nvSpPr>
          <p:cNvPr id="12" name="Shape 10"/>
          <p:cNvSpPr/>
          <p:nvPr/>
        </p:nvSpPr>
        <p:spPr>
          <a:xfrm>
            <a:off x="6236208" y="2286000"/>
            <a:ext cx="4901184" cy="2395728"/>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“The rotation starts in March. Across the last ninety days I solved problems I already knew how to solve. Statement 1 scores a 2, and the evidence line says so: no qualifying instance in the window. It changes when the rotation does.”</a:t>
            </a:r>
            <a:endParaRPr lang="en-US" sz="1800" dirty="0"/>
          </a:p>
        </p:txBody>
      </p:sp>
      <p:sp>
        <p:nvSpPr>
          <p:cNvPr id="14" name="Shape 12"/>
          <p:cNvSpPr/>
          <p:nvPr/>
        </p:nvSpPr>
        <p:spPr>
          <a:xfrm>
            <a:off x="658368" y="4974336"/>
            <a:ext cx="10872216" cy="10973"/>
          </a:xfrm>
          <a:prstGeom prst="rect">
            <a:avLst/>
          </a:prstGeom>
          <a:solidFill>
            <a:srgbClr val="E8DFCC"/>
          </a:solidFill>
          <a:ln w="12700">
            <a:solidFill>
              <a:srgbClr val="333333"/>
            </a:solidFill>
            <a:prstDash val="solid"/>
          </a:ln>
        </p:spPr>
        <p:txBody>
          <a:bodyPr>
            <a:normAutofit/>
          </a:bodyPr>
          <a:p/>
        </p:txBody>
      </p:sp>
      <p:sp>
        <p:nvSpPr>
          <p:cNvPr id="15" name="Text 13"/>
          <p:cNvSpPr/>
          <p:nvPr/>
        </p:nvSpPr>
        <p:spPr>
          <a:xfrm>
            <a:off x="658368" y="5120640"/>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An intention is not evidence. The ninety-day window exists to keep hope out of the number.</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CALIBRATION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Misreading two. How the score goes wrong, and how to correct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GETS SCORED</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SHOULD BE SCORED</a:t>
            </a:r>
            <a:endParaRPr lang="en-US" sz="1100" dirty="0"/>
          </a:p>
        </p:txBody>
      </p:sp>
      <p:sp>
        <p:nvSpPr>
          <p:cNvPr id="10" name="Shape 8"/>
          <p:cNvSpPr/>
          <p:nvPr/>
        </p:nvSpPr>
        <p:spPr>
          <a:xfrm>
            <a:off x="658368" y="2286000"/>
            <a:ext cx="4901184" cy="239572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“Three VPs ask for my read before anything ships, and I was named to the steering committee. Statement 3 gets a 5.”</a:t>
            </a:r>
            <a:endParaRPr lang="en-US" sz="1800" dirty="0"/>
          </a:p>
        </p:txBody>
      </p:sp>
      <p:sp>
        <p:nvSpPr>
          <p:cNvPr id="12" name="Shape 10"/>
          <p:cNvSpPr/>
          <p:nvPr/>
        </p:nvSpPr>
        <p:spPr>
          <a:xfrm>
            <a:off x="6236208" y="2286000"/>
            <a:ext cx="4901184" cy="2395728"/>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“Being asked for my opinion is not the same as having my work reviewed by someone who can tell good from adequate. Nobody has called my work merely adequate in two years. Statement 3 scores a 2, and what repeatedly happened instead was agreement.”</a:t>
            </a:r>
            <a:endParaRPr lang="en-US" sz="1800" dirty="0"/>
          </a:p>
        </p:txBody>
      </p:sp>
      <p:sp>
        <p:nvSpPr>
          <p:cNvPr id="14" name="Shape 12"/>
          <p:cNvSpPr/>
          <p:nvPr/>
        </p:nvSpPr>
        <p:spPr>
          <a:xfrm>
            <a:off x="658368" y="4974336"/>
            <a:ext cx="10872216" cy="10973"/>
          </a:xfrm>
          <a:prstGeom prst="rect">
            <a:avLst/>
          </a:prstGeom>
          <a:solidFill>
            <a:srgbClr val="E8DFCC"/>
          </a:solidFill>
          <a:ln w="12700">
            <a:solidFill>
              <a:srgbClr val="333333"/>
            </a:solidFill>
            <a:prstDash val="solid"/>
          </a:ln>
        </p:spPr>
        <p:txBody>
          <a:bodyPr>
            <a:normAutofit/>
          </a:bodyPr>
          <a:p/>
        </p:txBody>
      </p:sp>
      <p:sp>
        <p:nvSpPr>
          <p:cNvPr id="15" name="Text 13"/>
          <p:cNvSpPr/>
          <p:nvPr/>
        </p:nvSpPr>
        <p:spPr>
          <a:xfrm>
            <a:off x="658368" y="5120640"/>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Praise, dependence, seniority and internal reputation can all coexist with declining formation.</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APPLICATION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000" dirty="0">
                <a:solidFill>
                  <a:srgbClr val="0F2347"/>
                </a:solidFill>
                <a:latin typeface="Cormorant Garamond" pitchFamily="34" charset="0"/>
                <a:ea typeface="Cormorant Garamond" pitchFamily="34" charset="-122"/>
                <a:cs typeface="Cormorant Garamond" pitchFamily="34" charset="-120"/>
              </a:rPr>
              <a:t>Why promotion can stop forming a high performer</a:t>
            </a:r>
            <a:endParaRPr lang="en-US" sz="30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The same misreading, in the place it is hardest to see.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1168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A promotion can increase responsibility, visibility and dependence while reducing formation.</a:t>
            </a:r>
            <a:endParaRPr lang="en-US" sz="2400" dirty="0"/>
          </a:p>
        </p:txBody>
      </p:sp>
      <p:sp>
        <p:nvSpPr>
          <p:cNvPr id="9" name="Shape 7"/>
          <p:cNvSpPr/>
          <p:nvPr/>
        </p:nvSpPr>
        <p:spPr>
          <a:xfrm>
            <a:off x="658368" y="3054096"/>
            <a:ext cx="10872216" cy="1298448"/>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914400" y="3236976"/>
            <a:ext cx="10360152" cy="969264"/>
          </a:xfrm>
          <a:prstGeom prst="rect">
            <a:avLst/>
          </a:prstGeom>
          <a:noFill/>
          <a:ln/>
        </p:spPr>
        <p:txBody>
          <a:bodyPr wrap="square" lIns="0" tIns="0" rIns="0" bIns="0" rtlCol="0" anchor="t">
            <a:normAutofit/>
          </a:bodyPr>
          <a:lstStyle/>
          <a:p>
            <a:pPr indent="0" marL="0">
              <a:lnSpc>
                <a:spcPct val="118000"/>
              </a:lnSpc>
              <a:buNone/>
            </a:pPr>
            <a:r>
              <a:rPr lang="en-US" sz="2000" dirty="0">
                <a:solidFill>
                  <a:srgbClr val="0F2347"/>
                </a:solidFill>
                <a:latin typeface="DM Sans" pitchFamily="34" charset="0"/>
                <a:ea typeface="DM Sans" pitchFamily="34" charset="-122"/>
                <a:cs typeface="DM Sans" pitchFamily="34" charset="-120"/>
              </a:rPr>
              <a:t>A high performer can move into approvals, representation, meetings and familiar judgment. Performance expectations rise while the number of genuinely unfamiliar problems falls.</a:t>
            </a:r>
            <a:endParaRPr lang="en-US" sz="2000" dirty="0"/>
          </a:p>
        </p:txBody>
      </p:sp>
      <p:sp>
        <p:nvSpPr>
          <p:cNvPr id="11" name="Text 9"/>
          <p:cNvSpPr/>
          <p:nvPr/>
        </p:nvSpPr>
        <p:spPr>
          <a:xfrm>
            <a:off x="658368" y="4590288"/>
            <a:ext cx="10872216" cy="786384"/>
          </a:xfrm>
          <a:prstGeom prst="rect">
            <a:avLst/>
          </a:prstGeom>
          <a:noFill/>
          <a:ln/>
        </p:spPr>
        <p:txBody>
          <a:bodyPr wrap="square" lIns="0" tIns="0" rIns="0" bIns="0" rtlCol="0" anchor="t">
            <a:normAutofit/>
          </a:bodyPr>
          <a:lstStyle/>
          <a:p>
            <a:pPr indent="0" marL="0">
              <a:lnSpc>
                <a:spcPct val="120000"/>
              </a:lnSpc>
              <a:buNone/>
            </a:pPr>
            <a:r>
              <a:rPr lang="en-US" sz="2000" b="1" dirty="0">
                <a:solidFill>
                  <a:srgbClr val="0F2347"/>
                </a:solidFill>
                <a:latin typeface="DM Sans" pitchFamily="34" charset="0"/>
                <a:ea typeface="DM Sans" pitchFamily="34" charset="-122"/>
                <a:cs typeface="DM Sans" pitchFamily="34" charset="-120"/>
              </a:rPr>
              <a:t>This describes a possible change in Density. It does not assign a Career State without also reading Optionality.</a:t>
            </a:r>
            <a:endParaRPr lang="en-US" sz="2000" dirty="0"/>
          </a:p>
        </p:txBody>
      </p:sp>
      <p:sp>
        <p:nvSpPr>
          <p:cNvPr id="12" name="Shape 10"/>
          <p:cNvSpPr/>
          <p:nvPr/>
        </p:nvSpPr>
        <p:spPr>
          <a:xfrm>
            <a:off x="658368" y="5522976"/>
            <a:ext cx="10872216" cy="10973"/>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566928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Score the work, not the title. Take-home prompt on workbook page 25.</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CALIBRATION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Misreading three. How the score goes wrong, and how to correct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GETS SCORED</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SHOULD BE SCORED</a:t>
            </a:r>
            <a:endParaRPr lang="en-US" sz="1100" dirty="0"/>
          </a:p>
        </p:txBody>
      </p:sp>
      <p:sp>
        <p:nvSpPr>
          <p:cNvPr id="10" name="Shape 8"/>
          <p:cNvSpPr/>
          <p:nvPr/>
        </p:nvSpPr>
        <p:spPr>
          <a:xfrm>
            <a:off x="658368" y="2286000"/>
            <a:ext cx="4901184" cy="239572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“Statement 10 is a 2. Nobody outside can see me because I am not senior enough to be worth seeing.”</a:t>
            </a:r>
            <a:endParaRPr lang="en-US" sz="1800" dirty="0"/>
          </a:p>
        </p:txBody>
      </p:sp>
      <p:sp>
        <p:nvSpPr>
          <p:cNvPr id="12" name="Shape 10"/>
          <p:cNvSpPr/>
          <p:nvPr/>
        </p:nvSpPr>
        <p:spPr>
          <a:xfrm>
            <a:off x="6236208" y="2286000"/>
            <a:ext cx="4901184" cy="2395728"/>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“Statement 10 is a 2 because I have not published, spoken, or worked across a company boundary in three years. That is a fact about exposure. It tells me what to build.”</a:t>
            </a:r>
            <a:endParaRPr lang="en-US" sz="1800" dirty="0"/>
          </a:p>
        </p:txBody>
      </p:sp>
      <p:sp>
        <p:nvSpPr>
          <p:cNvPr id="14" name="Shape 12"/>
          <p:cNvSpPr/>
          <p:nvPr/>
        </p:nvSpPr>
        <p:spPr>
          <a:xfrm>
            <a:off x="658368" y="4974336"/>
            <a:ext cx="10872216" cy="10973"/>
          </a:xfrm>
          <a:prstGeom prst="rect">
            <a:avLst/>
          </a:prstGeom>
          <a:solidFill>
            <a:srgbClr val="E8DFCC"/>
          </a:solidFill>
          <a:ln w="12700">
            <a:solidFill>
              <a:srgbClr val="333333"/>
            </a:solidFill>
            <a:prstDash val="solid"/>
          </a:ln>
        </p:spPr>
        <p:txBody>
          <a:bodyPr>
            <a:normAutofit/>
          </a:bodyPr>
          <a:p/>
        </p:txBody>
      </p:sp>
      <p:sp>
        <p:nvSpPr>
          <p:cNvPr id="15" name="Text 13"/>
          <p:cNvSpPr/>
          <p:nvPr/>
        </p:nvSpPr>
        <p:spPr>
          <a:xfrm>
            <a:off x="658368" y="5120640"/>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your ability or worth.</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CORRECTION MAP</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whole map</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Five corrections. This is the argument for scoring again.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0292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ENTERING BELIEF</a:t>
            </a:r>
            <a:endParaRPr lang="en-US" sz="1100" dirty="0"/>
          </a:p>
        </p:txBody>
      </p:sp>
      <p:sp>
        <p:nvSpPr>
          <p:cNvPr id="9" name="Text 7"/>
          <p:cNvSpPr/>
          <p:nvPr/>
        </p:nvSpPr>
        <p:spPr>
          <a:xfrm>
            <a:off x="6236208" y="1920240"/>
            <a:ext cx="50292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EXITING BELIEF</a:t>
            </a:r>
            <a:endParaRPr lang="en-US" sz="1100" dirty="0"/>
          </a:p>
        </p:txBody>
      </p:sp>
      <p:sp>
        <p:nvSpPr>
          <p:cNvPr id="10" name="Text 8"/>
          <p:cNvSpPr/>
          <p:nvPr/>
        </p:nvSpPr>
        <p:spPr>
          <a:xfrm>
            <a:off x="658368" y="2267712"/>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“The work is demanding, so I must be growing.”</a:t>
            </a:r>
            <a:endParaRPr lang="en-US" sz="1700" dirty="0"/>
          </a:p>
        </p:txBody>
      </p:sp>
      <p:sp>
        <p:nvSpPr>
          <p:cNvPr id="11" name="Text 9"/>
          <p:cNvSpPr/>
          <p:nvPr/>
        </p:nvSpPr>
        <p:spPr>
          <a:xfrm>
            <a:off x="6236208" y="2267712"/>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“A demanding role can stop forming me and still feel full.”</a:t>
            </a:r>
            <a:endParaRPr lang="en-US" sz="1700" dirty="0"/>
          </a:p>
        </p:txBody>
      </p:sp>
      <p:sp>
        <p:nvSpPr>
          <p:cNvPr id="12" name="Shape 10"/>
          <p:cNvSpPr/>
          <p:nvPr/>
        </p:nvSpPr>
        <p:spPr>
          <a:xfrm>
            <a:off x="658368" y="2980944"/>
            <a:ext cx="10872216" cy="7315"/>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3054096"/>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 would have options if I decided to look.”</a:t>
            </a:r>
            <a:endParaRPr lang="en-US" sz="1700" dirty="0"/>
          </a:p>
        </p:txBody>
      </p:sp>
      <p:sp>
        <p:nvSpPr>
          <p:cNvPr id="14" name="Text 12"/>
          <p:cNvSpPr/>
          <p:nvPr/>
        </p:nvSpPr>
        <p:spPr>
          <a:xfrm>
            <a:off x="6236208" y="3054096"/>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“Options depend on whether people outside can already see what I am good at.”</a:t>
            </a:r>
            <a:endParaRPr lang="en-US" sz="1700" dirty="0"/>
          </a:p>
        </p:txBody>
      </p:sp>
      <p:sp>
        <p:nvSpPr>
          <p:cNvPr id="15" name="Shape 13"/>
          <p:cNvSpPr/>
          <p:nvPr/>
        </p:nvSpPr>
        <p:spPr>
          <a:xfrm>
            <a:off x="658368" y="3767328"/>
            <a:ext cx="10872216" cy="7315"/>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3840480"/>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“This is what my role gives me.”</a:t>
            </a:r>
            <a:endParaRPr lang="en-US" sz="1700" dirty="0"/>
          </a:p>
        </p:txBody>
      </p:sp>
      <p:sp>
        <p:nvSpPr>
          <p:cNvPr id="17" name="Text 15"/>
          <p:cNvSpPr/>
          <p:nvPr/>
        </p:nvSpPr>
        <p:spPr>
          <a:xfrm>
            <a:off x="6236208" y="3840480"/>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“I scored the ninety days I actually lived.”</a:t>
            </a:r>
            <a:endParaRPr lang="en-US" sz="1700" dirty="0"/>
          </a:p>
        </p:txBody>
      </p:sp>
      <p:sp>
        <p:nvSpPr>
          <p:cNvPr id="18" name="Shape 16"/>
          <p:cNvSpPr/>
          <p:nvPr/>
        </p:nvSpPr>
        <p:spPr>
          <a:xfrm>
            <a:off x="658368" y="4553712"/>
            <a:ext cx="10872216" cy="7315"/>
          </a:xfrm>
          <a:prstGeom prst="rect">
            <a:avLst/>
          </a:prstGeom>
          <a:solidFill>
            <a:srgbClr val="E8DFCC"/>
          </a:solidFill>
          <a:ln w="12700">
            <a:solidFill>
              <a:srgbClr val="333333"/>
            </a:solidFill>
            <a:prstDash val="solid"/>
          </a:ln>
        </p:spPr>
        <p:txBody>
          <a:bodyPr>
            <a:normAutofit/>
          </a:bodyPr>
          <a:p/>
        </p:txBody>
      </p:sp>
      <p:sp>
        <p:nvSpPr>
          <p:cNvPr id="19" name="Text 17"/>
          <p:cNvSpPr/>
          <p:nvPr/>
        </p:nvSpPr>
        <p:spPr>
          <a:xfrm>
            <a:off x="658368" y="4626864"/>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“They rely on me here.”</a:t>
            </a:r>
            <a:endParaRPr lang="en-US" sz="1700" dirty="0"/>
          </a:p>
        </p:txBody>
      </p:sp>
      <p:sp>
        <p:nvSpPr>
          <p:cNvPr id="20" name="Text 18"/>
          <p:cNvSpPr/>
          <p:nvPr/>
        </p:nvSpPr>
        <p:spPr>
          <a:xfrm>
            <a:off x="6236208" y="4626864"/>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“Being needed and being formed are separate conditions.”</a:t>
            </a:r>
            <a:endParaRPr lang="en-US" sz="1700" dirty="0"/>
          </a:p>
        </p:txBody>
      </p:sp>
      <p:sp>
        <p:nvSpPr>
          <p:cNvPr id="21" name="Shape 19"/>
          <p:cNvSpPr/>
          <p:nvPr/>
        </p:nvSpPr>
        <p:spPr>
          <a:xfrm>
            <a:off x="658368" y="5340096"/>
            <a:ext cx="10872216" cy="7315"/>
          </a:xfrm>
          <a:prstGeom prst="rect">
            <a:avLst/>
          </a:prstGeom>
          <a:solidFill>
            <a:srgbClr val="E8DFCC"/>
          </a:solidFill>
          <a:ln w="12700">
            <a:solidFill>
              <a:srgbClr val="333333"/>
            </a:solidFill>
            <a:prstDash val="solid"/>
          </a:ln>
        </p:spPr>
        <p:txBody>
          <a:bodyPr>
            <a:normAutofit/>
          </a:bodyPr>
          <a:p/>
        </p:txBody>
      </p:sp>
      <p:sp>
        <p:nvSpPr>
          <p:cNvPr id="22" name="Text 20"/>
          <p:cNvSpPr/>
          <p:nvPr/>
        </p:nvSpPr>
        <p:spPr>
          <a:xfrm>
            <a:off x="658368" y="5413248"/>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“A low score means I am not good enough.”</a:t>
            </a:r>
            <a:endParaRPr lang="en-US" sz="1700" dirty="0"/>
          </a:p>
        </p:txBody>
      </p:sp>
      <p:sp>
        <p:nvSpPr>
          <p:cNvPr id="23" name="Text 21"/>
          <p:cNvSpPr/>
          <p:nvPr/>
        </p:nvSpPr>
        <p:spPr>
          <a:xfrm>
            <a:off x="6236208" y="5413248"/>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“A low Optionality score may be about translation or exposure, not ability.”</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27</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EVIDENCE-BACKED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Score all twelve again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Evidence in both directions. Do not change your first number.</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1975104"/>
            <a:ext cx="10872216" cy="1517904"/>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914400" y="2139696"/>
            <a:ext cx="10360152"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THE PROTOCOL, IN SHORT</a:t>
            </a:r>
            <a:endParaRPr lang="en-US" sz="1100" dirty="0"/>
          </a:p>
        </p:txBody>
      </p:sp>
      <p:sp>
        <p:nvSpPr>
          <p:cNvPr id="10" name="Text 8"/>
          <p:cNvSpPr/>
          <p:nvPr/>
        </p:nvSpPr>
        <p:spPr>
          <a:xfrm>
            <a:off x="914400" y="2468880"/>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4 or 5</a:t>
            </a:r>
            <a:endParaRPr lang="en-US" sz="1800" dirty="0"/>
          </a:p>
        </p:txBody>
      </p:sp>
      <p:sp>
        <p:nvSpPr>
          <p:cNvPr id="11" name="Text 9"/>
          <p:cNvSpPr/>
          <p:nvPr/>
        </p:nvSpPr>
        <p:spPr>
          <a:xfrm>
            <a:off x="1965960" y="2468880"/>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one clear positive instance</a:t>
            </a:r>
            <a:endParaRPr lang="en-US" sz="1700" dirty="0"/>
          </a:p>
        </p:txBody>
      </p:sp>
      <p:sp>
        <p:nvSpPr>
          <p:cNvPr id="12" name="Text 10"/>
          <p:cNvSpPr/>
          <p:nvPr/>
        </p:nvSpPr>
        <p:spPr>
          <a:xfrm>
            <a:off x="6035040" y="2468880"/>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3</a:t>
            </a:r>
            <a:endParaRPr lang="en-US" sz="1800" dirty="0"/>
          </a:p>
        </p:txBody>
      </p:sp>
      <p:sp>
        <p:nvSpPr>
          <p:cNvPr id="13" name="Text 11"/>
          <p:cNvSpPr/>
          <p:nvPr/>
        </p:nvSpPr>
        <p:spPr>
          <a:xfrm>
            <a:off x="7086600" y="2468880"/>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the mixed or inconsistent pattern</a:t>
            </a:r>
            <a:endParaRPr lang="en-US" sz="1700" dirty="0"/>
          </a:p>
        </p:txBody>
      </p:sp>
      <p:sp>
        <p:nvSpPr>
          <p:cNvPr id="14" name="Text 12"/>
          <p:cNvSpPr/>
          <p:nvPr/>
        </p:nvSpPr>
        <p:spPr>
          <a:xfrm>
            <a:off x="914400" y="2962656"/>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1 or 2</a:t>
            </a:r>
            <a:endParaRPr lang="en-US" sz="1800" dirty="0"/>
          </a:p>
        </p:txBody>
      </p:sp>
      <p:sp>
        <p:nvSpPr>
          <p:cNvPr id="15" name="Text 13"/>
          <p:cNvSpPr/>
          <p:nvPr/>
        </p:nvSpPr>
        <p:spPr>
          <a:xfrm>
            <a:off x="1965960" y="2962656"/>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what happened instead, or no qualifying instance</a:t>
            </a:r>
            <a:endParaRPr lang="en-US" sz="1700" dirty="0"/>
          </a:p>
        </p:txBody>
      </p:sp>
      <p:sp>
        <p:nvSpPr>
          <p:cNvPr id="16" name="Text 14"/>
          <p:cNvSpPr/>
          <p:nvPr/>
        </p:nvSpPr>
        <p:spPr>
          <a:xfrm>
            <a:off x="6035040" y="2962656"/>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a:t>
            </a:r>
            <a:endParaRPr lang="en-US" sz="1800" dirty="0"/>
          </a:p>
        </p:txBody>
      </p:sp>
      <p:sp>
        <p:nvSpPr>
          <p:cNvPr id="17" name="Text 15"/>
          <p:cNvSpPr/>
          <p:nvPr/>
        </p:nvSpPr>
        <p:spPr>
          <a:xfrm>
            <a:off x="7086600" y="2962656"/>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most defensible number, marked once: 3?, 4?, 2?</a:t>
            </a:r>
            <a:endParaRPr lang="en-US" sz="1700" dirty="0"/>
          </a:p>
        </p:txBody>
      </p:sp>
      <p:sp>
        <p:nvSpPr>
          <p:cNvPr id="18" name="Text 16"/>
          <p:cNvSpPr/>
          <p:nvPr/>
        </p:nvSpPr>
        <p:spPr>
          <a:xfrm>
            <a:off x="658368" y="3712464"/>
            <a:ext cx="5294376" cy="548640"/>
          </a:xfrm>
          <a:prstGeom prst="rect">
            <a:avLst/>
          </a:prstGeom>
          <a:noFill/>
          <a:ln/>
        </p:spPr>
        <p:txBody>
          <a:bodyPr wrap="square" lIns="0" tIns="0" rIns="0" bIns="0" rtlCol="0" anchor="t">
            <a:normAutofit/>
          </a:bodyPr>
          <a:lstStyle/>
          <a:p>
            <a:pPr indent="0" marL="0">
              <a:buNone/>
            </a:pPr>
            <a:r>
              <a:rPr lang="en-US" sz="2600" dirty="0">
                <a:solidFill>
                  <a:srgbClr val="0F2347"/>
                </a:solidFill>
                <a:latin typeface="Cormorant Garamond" pitchFamily="34" charset="0"/>
                <a:ea typeface="Cormorant Garamond" pitchFamily="34" charset="-122"/>
                <a:cs typeface="Cormorant Garamond" pitchFamily="34" charset="-120"/>
              </a:rPr>
              <a:t>Density  1 · 2 · 3 · 4 · 5 · 6</a:t>
            </a:r>
            <a:endParaRPr lang="en-US" sz="2600" dirty="0"/>
          </a:p>
        </p:txBody>
      </p:sp>
      <p:sp>
        <p:nvSpPr>
          <p:cNvPr id="19" name="Text 17"/>
          <p:cNvSpPr/>
          <p:nvPr/>
        </p:nvSpPr>
        <p:spPr>
          <a:xfrm>
            <a:off x="6236208" y="3712464"/>
            <a:ext cx="5294376" cy="548640"/>
          </a:xfrm>
          <a:prstGeom prst="rect">
            <a:avLst/>
          </a:prstGeom>
          <a:noFill/>
          <a:ln/>
        </p:spPr>
        <p:txBody>
          <a:bodyPr wrap="square" lIns="0" tIns="0" rIns="0" bIns="0" rtlCol="0" anchor="t">
            <a:normAutofit/>
          </a:bodyPr>
          <a:lstStyle/>
          <a:p>
            <a:pPr indent="0" marL="0">
              <a:buNone/>
            </a:pPr>
            <a:r>
              <a:rPr lang="en-US" sz="2600" dirty="0">
                <a:solidFill>
                  <a:srgbClr val="0F2347"/>
                </a:solidFill>
                <a:latin typeface="Cormorant Garamond" pitchFamily="34" charset="0"/>
                <a:ea typeface="Cormorant Garamond" pitchFamily="34" charset="-122"/>
                <a:cs typeface="Cormorant Garamond" pitchFamily="34" charset="-120"/>
              </a:rPr>
              <a:t>Optionality  7 · 8 · 9 · 10 · 11 · 12</a:t>
            </a:r>
            <a:endParaRPr lang="en-US" sz="2600" dirty="0"/>
          </a:p>
        </p:txBody>
      </p:sp>
      <p:sp>
        <p:nvSpPr>
          <p:cNvPr id="20" name="Text 18"/>
          <p:cNvSpPr/>
          <p:nvPr/>
        </p:nvSpPr>
        <p:spPr>
          <a:xfrm>
            <a:off x="658368" y="4517136"/>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Workbook pages 12 to 15. Write the corrected number and the evidence line under it. Your first number stays where it is.</a:t>
            </a:r>
            <a:endParaRPr lang="en-US" sz="2000" dirty="0"/>
          </a:p>
        </p:txBody>
      </p:sp>
      <p:sp>
        <p:nvSpPr>
          <p:cNvPr id="21" name="Shape 19"/>
          <p:cNvSpPr/>
          <p:nvPr/>
        </p:nvSpPr>
        <p:spPr>
          <a:xfrm>
            <a:off x="658368" y="5468112"/>
            <a:ext cx="10872216" cy="10973"/>
          </a:xfrm>
          <a:prstGeom prst="rect">
            <a:avLst/>
          </a:prstGeom>
          <a:solidFill>
            <a:srgbClr val="E8DFCC"/>
          </a:solidFill>
          <a:ln w="12700">
            <a:solidFill>
              <a:srgbClr val="333333"/>
            </a:solidFill>
            <a:prstDash val="solid"/>
          </a:ln>
        </p:spPr>
        <p:txBody>
          <a:bodyPr>
            <a:normAutofit/>
          </a:bodyPr>
          <a:p/>
        </p:txBody>
      </p:sp>
      <p:sp>
        <p:nvSpPr>
          <p:cNvPr id="22" name="Text 20"/>
          <p:cNvSpPr/>
          <p:nvPr/>
        </p:nvSpPr>
        <p:spPr>
          <a:xfrm>
            <a:off x="658368" y="5614416"/>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You will compare your first and corrected readings and examine what, if anything, moved.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SECOND PLACEMENT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Re-total and place again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New numbers. A fresh placement, not a review of the first one.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1956816"/>
            <a:ext cx="5294376" cy="1060704"/>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896112" y="2121408"/>
            <a:ext cx="475488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DENSITY, CORRECTED</a:t>
            </a:r>
            <a:endParaRPr lang="en-US" sz="1100" dirty="0"/>
          </a:p>
        </p:txBody>
      </p:sp>
      <p:sp>
        <p:nvSpPr>
          <p:cNvPr id="10" name="Text 8"/>
          <p:cNvSpPr/>
          <p:nvPr/>
        </p:nvSpPr>
        <p:spPr>
          <a:xfrm>
            <a:off x="896112" y="2395728"/>
            <a:ext cx="4754880" cy="512064"/>
          </a:xfrm>
          <a:prstGeom prst="rect">
            <a:avLst/>
          </a:prstGeom>
          <a:noFill/>
          <a:ln/>
        </p:spPr>
        <p:txBody>
          <a:bodyPr wrap="square" lIns="0" tIns="0" rIns="0" bIns="0" rtlCol="0" anchor="t">
            <a:normAutofit/>
          </a:bodyPr>
          <a:lstStyle/>
          <a:p>
            <a:pPr indent="0" marL="0">
              <a:buNone/>
            </a:pPr>
            <a:r>
              <a:rPr lang="en-US" sz="3200" dirty="0">
                <a:solidFill>
                  <a:srgbClr val="0F2347"/>
                </a:solidFill>
                <a:latin typeface="Cormorant Garamond" pitchFamily="34" charset="0"/>
                <a:ea typeface="Cormorant Garamond" pitchFamily="34" charset="-122"/>
                <a:cs typeface="Cormorant Garamond" pitchFamily="34" charset="-120"/>
              </a:rPr>
              <a:t>________  / 30</a:t>
            </a:r>
            <a:endParaRPr lang="en-US" sz="3200" dirty="0"/>
          </a:p>
        </p:txBody>
      </p:sp>
      <p:sp>
        <p:nvSpPr>
          <p:cNvPr id="11" name="Shape 9"/>
          <p:cNvSpPr/>
          <p:nvPr/>
        </p:nvSpPr>
        <p:spPr>
          <a:xfrm>
            <a:off x="6236208" y="1956816"/>
            <a:ext cx="5294376" cy="1060704"/>
          </a:xfrm>
          <a:prstGeom prst="rect">
            <a:avLst/>
          </a:prstGeom>
          <a:solidFill>
            <a:srgbClr val="FFFFFF"/>
          </a:solidFill>
          <a:ln w="12700">
            <a:solidFill>
              <a:srgbClr val="E8DFCC"/>
            </a:solidFill>
            <a:prstDash val="solid"/>
          </a:ln>
        </p:spPr>
        <p:txBody>
          <a:bodyPr>
            <a:normAutofit/>
          </a:bodyPr>
          <a:p/>
        </p:txBody>
      </p:sp>
      <p:sp>
        <p:nvSpPr>
          <p:cNvPr id="12" name="Text 10"/>
          <p:cNvSpPr/>
          <p:nvPr/>
        </p:nvSpPr>
        <p:spPr>
          <a:xfrm>
            <a:off x="6473952" y="2121408"/>
            <a:ext cx="475488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OPTIONALITY, CORRECTED</a:t>
            </a:r>
            <a:endParaRPr lang="en-US" sz="1100" dirty="0"/>
          </a:p>
        </p:txBody>
      </p:sp>
      <p:sp>
        <p:nvSpPr>
          <p:cNvPr id="13" name="Text 11"/>
          <p:cNvSpPr/>
          <p:nvPr/>
        </p:nvSpPr>
        <p:spPr>
          <a:xfrm>
            <a:off x="6473952" y="2395728"/>
            <a:ext cx="4754880" cy="512064"/>
          </a:xfrm>
          <a:prstGeom prst="rect">
            <a:avLst/>
          </a:prstGeom>
          <a:noFill/>
          <a:ln/>
        </p:spPr>
        <p:txBody>
          <a:bodyPr wrap="square" lIns="0" tIns="0" rIns="0" bIns="0" rtlCol="0" anchor="t">
            <a:normAutofit/>
          </a:bodyPr>
          <a:lstStyle/>
          <a:p>
            <a:pPr indent="0" marL="0">
              <a:buNone/>
            </a:pPr>
            <a:r>
              <a:rPr lang="en-US" sz="3200" dirty="0">
                <a:solidFill>
                  <a:srgbClr val="0F2347"/>
                </a:solidFill>
                <a:latin typeface="Cormorant Garamond" pitchFamily="34" charset="0"/>
                <a:ea typeface="Cormorant Garamond" pitchFamily="34" charset="-122"/>
                <a:cs typeface="Cormorant Garamond" pitchFamily="34" charset="-120"/>
              </a:rPr>
              <a:t>________  / 30</a:t>
            </a:r>
            <a:endParaRPr lang="en-US" sz="3200" dirty="0"/>
          </a:p>
        </p:txBody>
      </p:sp>
      <p:sp>
        <p:nvSpPr>
          <p:cNvPr id="14" name="Text 12"/>
          <p:cNvSpPr/>
          <p:nvPr/>
        </p:nvSpPr>
        <p:spPr>
          <a:xfrm>
            <a:off x="658368" y="3145536"/>
            <a:ext cx="10872216" cy="438912"/>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Re-total both axes first. Then place, then record confidence and the date.</a:t>
            </a:r>
            <a:endParaRPr lang="en-US" sz="2000" dirty="0"/>
          </a:p>
        </p:txBody>
      </p:sp>
      <p:sp>
        <p:nvSpPr>
          <p:cNvPr id="15" name="Shape 13"/>
          <p:cNvSpPr/>
          <p:nvPr/>
        </p:nvSpPr>
        <p:spPr>
          <a:xfrm>
            <a:off x="3017520" y="4169664"/>
            <a:ext cx="3063240" cy="850392"/>
          </a:xfrm>
          <a:prstGeom prst="rect">
            <a:avLst/>
          </a:prstGeom>
          <a:solidFill>
            <a:srgbClr val="FFFFFF"/>
          </a:solidFill>
          <a:ln w="12700">
            <a:solidFill>
              <a:srgbClr val="E8DFCC"/>
            </a:solidFill>
            <a:prstDash val="solid"/>
          </a:ln>
        </p:spPr>
        <p:txBody>
          <a:bodyPr>
            <a:normAutofit/>
          </a:bodyPr>
          <a:p/>
        </p:txBody>
      </p:sp>
      <p:sp>
        <p:nvSpPr>
          <p:cNvPr id="16" name="Text 14"/>
          <p:cNvSpPr/>
          <p:nvPr/>
        </p:nvSpPr>
        <p:spPr>
          <a:xfrm>
            <a:off x="3218688" y="4352544"/>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DEPTH TRAP</a:t>
            </a:r>
            <a:endParaRPr lang="en-US" sz="1900" dirty="0"/>
          </a:p>
        </p:txBody>
      </p:sp>
      <p:sp>
        <p:nvSpPr>
          <p:cNvPr id="17" name="Shape 15"/>
          <p:cNvSpPr/>
          <p:nvPr/>
        </p:nvSpPr>
        <p:spPr>
          <a:xfrm>
            <a:off x="6080760" y="4169664"/>
            <a:ext cx="3063240" cy="850392"/>
          </a:xfrm>
          <a:prstGeom prst="rect">
            <a:avLst/>
          </a:prstGeom>
          <a:solidFill>
            <a:srgbClr val="FFFFFF"/>
          </a:solidFill>
          <a:ln w="12700">
            <a:solidFill>
              <a:srgbClr val="E8DFCC"/>
            </a:solidFill>
            <a:prstDash val="solid"/>
          </a:ln>
        </p:spPr>
        <p:txBody>
          <a:bodyPr>
            <a:normAutofit/>
          </a:bodyPr>
          <a:p/>
        </p:txBody>
      </p:sp>
      <p:sp>
        <p:nvSpPr>
          <p:cNvPr id="18" name="Text 16"/>
          <p:cNvSpPr/>
          <p:nvPr/>
        </p:nvSpPr>
        <p:spPr>
          <a:xfrm>
            <a:off x="6281928" y="4352544"/>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C1440E"/>
                </a:solidFill>
                <a:latin typeface="DM Sans" pitchFamily="34" charset="0"/>
                <a:ea typeface="DM Sans" pitchFamily="34" charset="-122"/>
                <a:cs typeface="DM Sans" pitchFamily="34" charset="-120"/>
              </a:rPr>
              <a:t>COMPOUNDING</a:t>
            </a:r>
            <a:endParaRPr lang="en-US" sz="1900" dirty="0"/>
          </a:p>
        </p:txBody>
      </p:sp>
      <p:sp>
        <p:nvSpPr>
          <p:cNvPr id="19" name="Shape 17"/>
          <p:cNvSpPr/>
          <p:nvPr/>
        </p:nvSpPr>
        <p:spPr>
          <a:xfrm>
            <a:off x="3017520" y="5020056"/>
            <a:ext cx="3063240" cy="850392"/>
          </a:xfrm>
          <a:prstGeom prst="rect">
            <a:avLst/>
          </a:prstGeom>
          <a:solidFill>
            <a:srgbClr val="FFFFFF"/>
          </a:solidFill>
          <a:ln w="12700">
            <a:solidFill>
              <a:srgbClr val="E8DFCC"/>
            </a:solidFill>
            <a:prstDash val="solid"/>
          </a:ln>
        </p:spPr>
        <p:txBody>
          <a:bodyPr>
            <a:normAutofit/>
          </a:bodyPr>
          <a:p/>
        </p:txBody>
      </p:sp>
      <p:sp>
        <p:nvSpPr>
          <p:cNvPr id="20" name="Text 18"/>
          <p:cNvSpPr/>
          <p:nvPr/>
        </p:nvSpPr>
        <p:spPr>
          <a:xfrm>
            <a:off x="3218688" y="5202936"/>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STAGNANT</a:t>
            </a:r>
            <a:endParaRPr lang="en-US" sz="1900" dirty="0"/>
          </a:p>
        </p:txBody>
      </p:sp>
      <p:sp>
        <p:nvSpPr>
          <p:cNvPr id="21" name="Shape 19"/>
          <p:cNvSpPr/>
          <p:nvPr/>
        </p:nvSpPr>
        <p:spPr>
          <a:xfrm>
            <a:off x="6080760" y="5020056"/>
            <a:ext cx="3063240" cy="850392"/>
          </a:xfrm>
          <a:prstGeom prst="rect">
            <a:avLst/>
          </a:prstGeom>
          <a:solidFill>
            <a:srgbClr val="FFFFFF"/>
          </a:solidFill>
          <a:ln w="12700">
            <a:solidFill>
              <a:srgbClr val="E8DFCC"/>
            </a:solidFill>
            <a:prstDash val="solid"/>
          </a:ln>
        </p:spPr>
        <p:txBody>
          <a:bodyPr>
            <a:normAutofit/>
          </a:bodyPr>
          <a:p/>
        </p:txBody>
      </p:sp>
      <p:sp>
        <p:nvSpPr>
          <p:cNvPr id="22" name="Text 20"/>
          <p:cNvSpPr/>
          <p:nvPr/>
        </p:nvSpPr>
        <p:spPr>
          <a:xfrm>
            <a:off x="6281928" y="5202936"/>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FRAGILE</a:t>
            </a:r>
            <a:endParaRPr lang="en-US" sz="1900" dirty="0"/>
          </a:p>
        </p:txBody>
      </p:sp>
      <p:sp>
        <p:nvSpPr>
          <p:cNvPr id="23" name="Text 21"/>
          <p:cNvSpPr/>
          <p:nvPr/>
        </p:nvSpPr>
        <p:spPr>
          <a:xfrm>
            <a:off x="3017520" y="3858768"/>
            <a:ext cx="612648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DENSITY:  HIGH AT TOP,  LOW AT BOTTOM</a:t>
            </a:r>
            <a:endParaRPr lang="en-US" sz="1100" dirty="0"/>
          </a:p>
        </p:txBody>
      </p:sp>
      <p:sp>
        <p:nvSpPr>
          <p:cNvPr id="24" name="Text 22"/>
          <p:cNvSpPr/>
          <p:nvPr/>
        </p:nvSpPr>
        <p:spPr>
          <a:xfrm>
            <a:off x="3017520" y="5925312"/>
            <a:ext cx="612648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OPTIONALITY:  LOW AT LEFT   to   HIGH AT RIGHT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29</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SECOND PLACEMENT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The neighbouring-score sensitivity check. An operational pilot convention, not a statistical confidence interval.</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66544"/>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1</a:t>
            </a:r>
            <a:endParaRPr lang="en-US" sz="2400" dirty="0"/>
          </a:p>
        </p:txBody>
      </p:sp>
      <p:sp>
        <p:nvSpPr>
          <p:cNvPr id="9" name="Text 7"/>
          <p:cNvSpPr/>
          <p:nvPr/>
        </p:nvSpPr>
        <p:spPr>
          <a:xfrm>
            <a:off x="1152144" y="2066544"/>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Total the axis using the numbers exactly as you wrote them.</a:t>
            </a:r>
            <a:endParaRPr lang="en-US" sz="2000" dirty="0"/>
          </a:p>
        </p:txBody>
      </p:sp>
      <p:sp>
        <p:nvSpPr>
          <p:cNvPr id="10" name="Text 8"/>
          <p:cNvSpPr/>
          <p:nvPr/>
        </p:nvSpPr>
        <p:spPr>
          <a:xfrm>
            <a:off x="658368" y="2724912"/>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2</a:t>
            </a:r>
            <a:endParaRPr lang="en-US" sz="2400" dirty="0"/>
          </a:p>
        </p:txBody>
      </p:sp>
      <p:sp>
        <p:nvSpPr>
          <p:cNvPr id="11" name="Text 9"/>
          <p:cNvSpPr/>
          <p:nvPr/>
        </p:nvSpPr>
        <p:spPr>
          <a:xfrm>
            <a:off x="1152144" y="2724912"/>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Total it again with every marked item one point lower.</a:t>
            </a:r>
            <a:endParaRPr lang="en-US" sz="2000" dirty="0"/>
          </a:p>
        </p:txBody>
      </p:sp>
      <p:sp>
        <p:nvSpPr>
          <p:cNvPr id="12" name="Text 10"/>
          <p:cNvSpPr/>
          <p:nvPr/>
        </p:nvSpPr>
        <p:spPr>
          <a:xfrm>
            <a:off x="658368" y="3383280"/>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3</a:t>
            </a:r>
            <a:endParaRPr lang="en-US" sz="2400" dirty="0"/>
          </a:p>
        </p:txBody>
      </p:sp>
      <p:sp>
        <p:nvSpPr>
          <p:cNvPr id="13" name="Text 11"/>
          <p:cNvSpPr/>
          <p:nvPr/>
        </p:nvSpPr>
        <p:spPr>
          <a:xfrm>
            <a:off x="1152144" y="3383280"/>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Total it again with every marked item one point higher.</a:t>
            </a:r>
            <a:endParaRPr lang="en-US" sz="2000" dirty="0"/>
          </a:p>
        </p:txBody>
      </p:sp>
      <p:sp>
        <p:nvSpPr>
          <p:cNvPr id="14" name="Text 12"/>
          <p:cNvSpPr/>
          <p:nvPr/>
        </p:nvSpPr>
        <p:spPr>
          <a:xfrm>
            <a:off x="658368" y="4041648"/>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4</a:t>
            </a:r>
            <a:endParaRPr lang="en-US" sz="2400" dirty="0"/>
          </a:p>
        </p:txBody>
      </p:sp>
      <p:sp>
        <p:nvSpPr>
          <p:cNvPr id="15" name="Text 13"/>
          <p:cNvSpPr/>
          <p:nvPr/>
        </p:nvSpPr>
        <p:spPr>
          <a:xfrm>
            <a:off x="1152144" y="4041648"/>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If all three stay on the same side of 19, and none lands between 17 and 21, place and mark it provisional.</a:t>
            </a:r>
            <a:endParaRPr lang="en-US" sz="2000" dirty="0"/>
          </a:p>
        </p:txBody>
      </p:sp>
      <p:sp>
        <p:nvSpPr>
          <p:cNvPr id="16" name="Text 14"/>
          <p:cNvSpPr/>
          <p:nvPr/>
        </p:nvSpPr>
        <p:spPr>
          <a:xfrm>
            <a:off x="658368" y="4700016"/>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5</a:t>
            </a:r>
            <a:endParaRPr lang="en-US" sz="2400" dirty="0"/>
          </a:p>
        </p:txBody>
      </p:sp>
      <p:sp>
        <p:nvSpPr>
          <p:cNvPr id="17" name="Text 15"/>
          <p:cNvSpPr/>
          <p:nvPr/>
        </p:nvSpPr>
        <p:spPr>
          <a:xfrm>
            <a:off x="1152144" y="4700016"/>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If they do not, do not pick one square. Read both neighbouring states.</a:t>
            </a:r>
            <a:endParaRPr lang="en-US" sz="2000" dirty="0"/>
          </a:p>
        </p:txBody>
      </p:sp>
      <p:sp>
        <p:nvSpPr>
          <p:cNvPr id="18" name="Shape 16"/>
          <p:cNvSpPr/>
          <p:nvPr/>
        </p:nvSpPr>
        <p:spPr>
          <a:xfrm>
            <a:off x="658368" y="5376672"/>
            <a:ext cx="10872216" cy="768096"/>
          </a:xfrm>
          <a:prstGeom prst="rect">
            <a:avLst/>
          </a:prstGeom>
          <a:solidFill>
            <a:srgbClr val="FFFFFF"/>
          </a:solidFill>
          <a:ln w="12700">
            <a:solidFill>
              <a:srgbClr val="E8DFCC"/>
            </a:solidFill>
            <a:prstDash val="solid"/>
          </a:ln>
        </p:spPr>
        <p:txBody>
          <a:bodyPr>
            <a:normAutofit/>
          </a:bodyPr>
          <a:p/>
        </p:txBody>
      </p:sp>
      <p:sp>
        <p:nvSpPr>
          <p:cNvPr id="19" name="Text 17"/>
          <p:cNvSpPr/>
          <p:nvPr/>
        </p:nvSpPr>
        <p:spPr>
          <a:xfrm>
            <a:off x="914400" y="5504688"/>
            <a:ext cx="10360152" cy="530352"/>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Keep every neighbouring score inside the 1 to 5 scale. A 1? is never tested at 0 and a 5? is never tested at 6. Three or more marked items on one axis: that axis is incomplete and you do not place on it today.</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30</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WHAT MOVED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moved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Both readings, side by side. Three anonymous counts.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11680"/>
            <a:ext cx="8778240" cy="731520"/>
          </a:xfrm>
          <a:prstGeom prst="rect">
            <a:avLst/>
          </a:prstGeom>
          <a:noFill/>
          <a:ln/>
        </p:spPr>
        <p:txBody>
          <a:bodyPr wrap="square" lIns="0" tIns="0" rIns="0" bIns="0" rtlCol="0" anchor="t">
            <a:normAutofit/>
          </a:bodyPr>
          <a:lstStyle/>
          <a:p>
            <a:pPr indent="0" marL="0">
              <a:lnSpc>
                <a:spcPct val="110000"/>
              </a:lnSpc>
              <a:buNone/>
            </a:pPr>
            <a:r>
              <a:rPr lang="en-US" sz="2100" dirty="0">
                <a:solidFill>
                  <a:srgbClr val="0F2347"/>
                </a:solidFill>
                <a:latin typeface="DM Sans" pitchFamily="34" charset="0"/>
                <a:ea typeface="DM Sans" pitchFamily="34" charset="-122"/>
                <a:cs typeface="DM Sans" pitchFamily="34" charset="-120"/>
              </a:rPr>
              <a:t>Did at least one of your two axis totals change by two or more points?</a:t>
            </a:r>
            <a:endParaRPr lang="en-US" sz="2100" dirty="0"/>
          </a:p>
        </p:txBody>
      </p:sp>
      <p:sp>
        <p:nvSpPr>
          <p:cNvPr id="9" name="Text 7"/>
          <p:cNvSpPr/>
          <p:nvPr/>
        </p:nvSpPr>
        <p:spPr>
          <a:xfrm>
            <a:off x="9601200" y="2011680"/>
            <a:ext cx="1929384" cy="731520"/>
          </a:xfrm>
          <a:prstGeom prst="rect">
            <a:avLst/>
          </a:prstGeom>
          <a:noFill/>
          <a:ln/>
        </p:spPr>
        <p:txBody>
          <a:bodyPr wrap="square" lIns="0" tIns="0" rIns="0" bIns="0" rtlCol="0" anchor="t">
            <a:normAutofit/>
          </a:bodyPr>
          <a:lstStyle/>
          <a:p>
            <a:pPr algn="r" indent="0" marL="0">
              <a:buNone/>
            </a:pPr>
            <a:r>
              <a:rPr lang="en-US" sz="2800" dirty="0">
                <a:solidFill>
                  <a:srgbClr val="C9A84C"/>
                </a:solidFill>
                <a:latin typeface="Cormorant Garamond" pitchFamily="34" charset="0"/>
                <a:ea typeface="Cormorant Garamond" pitchFamily="34" charset="-122"/>
                <a:cs typeface="Cormorant Garamond" pitchFamily="34" charset="-120"/>
              </a:rPr>
              <a:t>______</a:t>
            </a:r>
            <a:endParaRPr lang="en-US" sz="2800" dirty="0"/>
          </a:p>
        </p:txBody>
      </p:sp>
      <p:sp>
        <p:nvSpPr>
          <p:cNvPr id="10" name="Text 8"/>
          <p:cNvSpPr/>
          <p:nvPr/>
        </p:nvSpPr>
        <p:spPr>
          <a:xfrm>
            <a:off x="658368" y="2926080"/>
            <a:ext cx="8778240" cy="731520"/>
          </a:xfrm>
          <a:prstGeom prst="rect">
            <a:avLst/>
          </a:prstGeom>
          <a:noFill/>
          <a:ln/>
        </p:spPr>
        <p:txBody>
          <a:bodyPr wrap="square" lIns="0" tIns="0" rIns="0" bIns="0" rtlCol="0" anchor="t">
            <a:normAutofit/>
          </a:bodyPr>
          <a:lstStyle/>
          <a:p>
            <a:pPr indent="0" marL="0">
              <a:lnSpc>
                <a:spcPct val="110000"/>
              </a:lnSpc>
              <a:buNone/>
            </a:pPr>
            <a:r>
              <a:rPr lang="en-US" sz="2100" dirty="0">
                <a:solidFill>
                  <a:srgbClr val="0F2347"/>
                </a:solidFill>
                <a:latin typeface="DM Sans" pitchFamily="34" charset="0"/>
                <a:ea typeface="DM Sans" pitchFamily="34" charset="-122"/>
                <a:cs typeface="DM Sans" pitchFamily="34" charset="-120"/>
              </a:rPr>
              <a:t>Did your square change between the first and second placement?</a:t>
            </a:r>
            <a:endParaRPr lang="en-US" sz="2100" dirty="0"/>
          </a:p>
        </p:txBody>
      </p:sp>
      <p:sp>
        <p:nvSpPr>
          <p:cNvPr id="11" name="Text 9"/>
          <p:cNvSpPr/>
          <p:nvPr/>
        </p:nvSpPr>
        <p:spPr>
          <a:xfrm>
            <a:off x="9601200" y="2926080"/>
            <a:ext cx="1929384" cy="731520"/>
          </a:xfrm>
          <a:prstGeom prst="rect">
            <a:avLst/>
          </a:prstGeom>
          <a:noFill/>
          <a:ln/>
        </p:spPr>
        <p:txBody>
          <a:bodyPr wrap="square" lIns="0" tIns="0" rIns="0" bIns="0" rtlCol="0" anchor="t">
            <a:normAutofit/>
          </a:bodyPr>
          <a:lstStyle/>
          <a:p>
            <a:pPr algn="r" indent="0" marL="0">
              <a:buNone/>
            </a:pPr>
            <a:r>
              <a:rPr lang="en-US" sz="2800" dirty="0">
                <a:solidFill>
                  <a:srgbClr val="C9A84C"/>
                </a:solidFill>
                <a:latin typeface="Cormorant Garamond" pitchFamily="34" charset="0"/>
                <a:ea typeface="Cormorant Garamond" pitchFamily="34" charset="-122"/>
                <a:cs typeface="Cormorant Garamond" pitchFamily="34" charset="-120"/>
              </a:rPr>
              <a:t>______</a:t>
            </a:r>
            <a:endParaRPr lang="en-US" sz="2800" dirty="0"/>
          </a:p>
        </p:txBody>
      </p:sp>
      <p:sp>
        <p:nvSpPr>
          <p:cNvPr id="12" name="Text 10"/>
          <p:cNvSpPr/>
          <p:nvPr/>
        </p:nvSpPr>
        <p:spPr>
          <a:xfrm>
            <a:off x="658368" y="3840480"/>
            <a:ext cx="8778240" cy="731520"/>
          </a:xfrm>
          <a:prstGeom prst="rect">
            <a:avLst/>
          </a:prstGeom>
          <a:noFill/>
          <a:ln/>
        </p:spPr>
        <p:txBody>
          <a:bodyPr wrap="square" lIns="0" tIns="0" rIns="0" bIns="0" rtlCol="0" anchor="t">
            <a:normAutofit/>
          </a:bodyPr>
          <a:lstStyle/>
          <a:p>
            <a:pPr indent="0" marL="0">
              <a:lnSpc>
                <a:spcPct val="110000"/>
              </a:lnSpc>
              <a:buNone/>
            </a:pPr>
            <a:r>
              <a:rPr lang="en-US" sz="2100" dirty="0">
                <a:solidFill>
                  <a:srgbClr val="0F2347"/>
                </a:solidFill>
                <a:latin typeface="DM Sans" pitchFamily="34" charset="0"/>
                <a:ea typeface="DM Sans" pitchFamily="34" charset="-122"/>
                <a:cs typeface="DM Sans" pitchFamily="34" charset="-120"/>
              </a:rPr>
              <a:t>Did your confidence go down, stay the same, or go up?</a:t>
            </a:r>
            <a:endParaRPr lang="en-US" sz="2100" dirty="0"/>
          </a:p>
        </p:txBody>
      </p:sp>
      <p:sp>
        <p:nvSpPr>
          <p:cNvPr id="13" name="Text 11"/>
          <p:cNvSpPr/>
          <p:nvPr/>
        </p:nvSpPr>
        <p:spPr>
          <a:xfrm>
            <a:off x="9601200" y="3840480"/>
            <a:ext cx="1929384" cy="731520"/>
          </a:xfrm>
          <a:prstGeom prst="rect">
            <a:avLst/>
          </a:prstGeom>
          <a:noFill/>
          <a:ln/>
        </p:spPr>
        <p:txBody>
          <a:bodyPr wrap="square" lIns="0" tIns="0" rIns="0" bIns="0" rtlCol="0" anchor="t">
            <a:normAutofit/>
          </a:bodyPr>
          <a:lstStyle/>
          <a:p>
            <a:pPr algn="r" indent="0" marL="0">
              <a:buNone/>
            </a:pPr>
            <a:r>
              <a:rPr lang="en-US" sz="2800" dirty="0">
                <a:solidFill>
                  <a:srgbClr val="C9A84C"/>
                </a:solidFill>
                <a:latin typeface="Cormorant Garamond" pitchFamily="34" charset="0"/>
                <a:ea typeface="Cormorant Garamond" pitchFamily="34" charset="-122"/>
                <a:cs typeface="Cormorant Garamond" pitchFamily="34" charset="-120"/>
              </a:rPr>
              <a:t>______</a:t>
            </a:r>
            <a:endParaRPr lang="en-US" sz="2800" dirty="0"/>
          </a:p>
        </p:txBody>
      </p:sp>
      <p:sp>
        <p:nvSpPr>
          <p:cNvPr id="14" name="Text 12"/>
          <p:cNvSpPr/>
          <p:nvPr/>
        </p:nvSpPr>
        <p:spPr>
          <a:xfrm>
            <a:off x="658368" y="4590288"/>
            <a:ext cx="10872216" cy="1005840"/>
          </a:xfrm>
          <a:prstGeom prst="rect">
            <a:avLst/>
          </a:prstGeom>
          <a:noFill/>
          <a:ln/>
        </p:spPr>
        <p:txBody>
          <a:bodyPr wrap="square" lIns="0" tIns="0" rIns="0" bIns="0" rtlCol="0" anchor="t">
            <a:normAutofit/>
          </a:bodyPr>
          <a:lstStyle/>
          <a:p>
            <a:pPr indent="0" marL="0">
              <a:lnSpc>
                <a:spcPct val="120000"/>
              </a:lnSpc>
              <a:buNone/>
            </a:pPr>
            <a:r>
              <a:rPr lang="en-US" sz="1900" dirty="0">
                <a:solidFill>
                  <a:srgbClr val="0F2347"/>
                </a:solidFill>
                <a:latin typeface="DM Sans" pitchFamily="34" charset="0"/>
                <a:ea typeface="DM Sans" pitchFamily="34" charset="-122"/>
                <a:cs typeface="DM Sans" pitchFamily="34" charset="-120"/>
              </a:rPr>
              <a:t>Nothing about your working life changed while you were scoring. Only the reading did. You calibrated the first reading against a fixed window, a symmetrical evidence standard and named misreadings rather than intuition alone.</a:t>
            </a:r>
            <a:endParaRPr lang="en-US" sz="1900" dirty="0"/>
          </a:p>
        </p:txBody>
      </p:sp>
      <p:sp>
        <p:nvSpPr>
          <p:cNvPr id="15" name="Shape 13"/>
          <p:cNvSpPr/>
          <p:nvPr/>
        </p:nvSpPr>
        <p:spPr>
          <a:xfrm>
            <a:off x="658368" y="5705856"/>
            <a:ext cx="10872216" cy="10973"/>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585216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A confidence number that fell can be useful when the original certainty rested on an untested assumption.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WHAT JUST HAPPENED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just happened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And what it says about every self-assessment you have ever completed.</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56816"/>
            <a:ext cx="10872216" cy="1188720"/>
          </a:xfrm>
          <a:prstGeom prst="rect">
            <a:avLst/>
          </a:prstGeom>
          <a:noFill/>
          <a:ln/>
        </p:spPr>
        <p:txBody>
          <a:bodyPr wrap="square" lIns="0" tIns="0" rIns="0" bIns="0" rtlCol="0" anchor="t">
            <a:normAutofit/>
          </a:bodyPr>
          <a:lstStyle/>
          <a:p>
            <a:pPr indent="0" marL="0">
              <a:lnSpc>
                <a:spcPct val="120000"/>
              </a:lnSpc>
              <a:buNone/>
            </a:pPr>
            <a:r>
              <a:rPr lang="en-US" sz="2700" dirty="0">
                <a:solidFill>
                  <a:srgbClr val="0F2347"/>
                </a:solidFill>
                <a:latin typeface="Cormorant Garamond" pitchFamily="34" charset="0"/>
                <a:ea typeface="Cormorant Garamond" pitchFamily="34" charset="-122"/>
                <a:cs typeface="Cormorant Garamond" pitchFamily="34" charset="-120"/>
              </a:rPr>
              <a:t>Self-assessment has a structural limitation: the same person supplies both the evidence and the judgment.</a:t>
            </a:r>
            <a:endParaRPr lang="en-US" sz="2700" dirty="0"/>
          </a:p>
        </p:txBody>
      </p:sp>
      <p:sp>
        <p:nvSpPr>
          <p:cNvPr id="9" name="Text 7"/>
          <p:cNvSpPr/>
          <p:nvPr/>
        </p:nvSpPr>
        <p:spPr>
          <a:xfrm>
            <a:off x="658368" y="3383280"/>
            <a:ext cx="10872216" cy="658368"/>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That does not make self-assessment useless. It means the reading needs a disciplined correction process.</a:t>
            </a:r>
            <a:endParaRPr lang="en-US" sz="2000" dirty="0"/>
          </a:p>
        </p:txBody>
      </p:sp>
      <p:sp>
        <p:nvSpPr>
          <p:cNvPr id="10" name="Shape 8"/>
          <p:cNvSpPr/>
          <p:nvPr/>
        </p:nvSpPr>
        <p:spPr>
          <a:xfrm>
            <a:off x="658368" y="4261104"/>
            <a:ext cx="10872216" cy="138988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914400" y="4443984"/>
            <a:ext cx="10360152" cy="1060704"/>
          </a:xfrm>
          <a:prstGeom prst="rect">
            <a:avLst/>
          </a:prstGeom>
          <a:noFill/>
          <a:ln/>
        </p:spPr>
        <p:txBody>
          <a:bodyPr wrap="square" lIns="0" tIns="0" rIns="0" bIns="0" rtlCol="0" anchor="t">
            <a:normAutofit/>
          </a:bodyPr>
          <a:lstStyle/>
          <a:p>
            <a:pPr indent="0" marL="0">
              <a:lnSpc>
                <a:spcPct val="118000"/>
              </a:lnSpc>
              <a:buNone/>
            </a:pPr>
            <a:r>
              <a:rPr lang="en-US" sz="1900" dirty="0">
                <a:solidFill>
                  <a:srgbClr val="0F2347"/>
                </a:solidFill>
                <a:latin typeface="DM Sans" pitchFamily="34" charset="0"/>
                <a:ea typeface="DM Sans" pitchFamily="34" charset="-122"/>
                <a:cs typeface="DM Sans" pitchFamily="34" charset="-120"/>
              </a:rPr>
              <a:t>What corrected your number today was not new information about your job. It was a strict window, an evidence requirement applied in both directions, and three named failure patterns. That is what calibration is.</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32</a:t>
            </a:r>
            <a:endParaRPr lang="en-US" sz="900" dirty="0"/>
          </a:p>
        </p:txBody>
      </p:sp>
      <p:sp>
        <p:nvSpPr>
          <p:cNvPr id="4" name="Text 2"/>
          <p:cNvSpPr/>
          <p:nvPr/>
        </p:nvSpPr>
        <p:spPr>
          <a:xfrm>
            <a:off x="658368" y="1737360"/>
            <a:ext cx="10872216" cy="310896"/>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WHAT IT COSTS</a:t>
            </a:r>
            <a:endParaRPr lang="en-US" sz="1300" dirty="0"/>
          </a:p>
        </p:txBody>
      </p:sp>
      <p:sp>
        <p:nvSpPr>
          <p:cNvPr id="5" name="Text 3"/>
          <p:cNvSpPr/>
          <p:nvPr/>
        </p:nvSpPr>
        <p:spPr>
          <a:xfrm>
            <a:off x="658368" y="2103120"/>
            <a:ext cx="10872216" cy="1005840"/>
          </a:xfrm>
          <a:prstGeom prst="rect">
            <a:avLst/>
          </a:prstGeom>
          <a:noFill/>
          <a:ln/>
        </p:spPr>
        <p:txBody>
          <a:bodyPr wrap="square" lIns="0" tIns="0" rIns="0" bIns="0" rtlCol="0" anchor="t">
            <a:normAutofit/>
          </a:bodyPr>
          <a:lstStyle/>
          <a:p>
            <a:pPr indent="0" marL="0">
              <a:buNone/>
            </a:pPr>
            <a:r>
              <a:rPr lang="en-US" sz="4600" dirty="0">
                <a:solidFill>
                  <a:srgbClr val="FFFFFF"/>
                </a:solidFill>
                <a:latin typeface="Cormorant Garamond" pitchFamily="34" charset="0"/>
                <a:ea typeface="Cormorant Garamond" pitchFamily="34" charset="-122"/>
                <a:cs typeface="Cormorant Garamond" pitchFamily="34" charset="-120"/>
              </a:rPr>
              <a:t>What your state is costing you.</a:t>
            </a:r>
            <a:endParaRPr lang="en-US" sz="4600" dirty="0"/>
          </a:p>
        </p:txBody>
      </p:sp>
      <p:sp>
        <p:nvSpPr>
          <p:cNvPr id="6" name="Text 4"/>
          <p:cNvSpPr/>
          <p:nvPr/>
        </p:nvSpPr>
        <p:spPr>
          <a:xfrm>
            <a:off x="658368" y="3310128"/>
            <a:ext cx="8915400" cy="1005840"/>
          </a:xfrm>
          <a:prstGeom prst="rect">
            <a:avLst/>
          </a:prstGeom>
          <a:noFill/>
          <a:ln/>
        </p:spPr>
        <p:txBody>
          <a:bodyPr wrap="square" lIns="0" tIns="0" rIns="0" bIns="0" rtlCol="0" anchor="t">
            <a:normAutofit/>
          </a:bodyPr>
          <a:lstStyle/>
          <a:p>
            <a:pPr indent="0" marL="0">
              <a:lnSpc>
                <a:spcPct val="125000"/>
              </a:lnSpc>
              <a:buNone/>
            </a:pPr>
            <a:r>
              <a:rPr lang="en-US" sz="2000" dirty="0">
                <a:solidFill>
                  <a:srgbClr val="A9B8D0"/>
                </a:solidFill>
                <a:latin typeface="DM Sans" pitchFamily="34" charset="0"/>
                <a:ea typeface="DM Sans" pitchFamily="34" charset="-122"/>
                <a:cs typeface="DM Sans" pitchFamily="34" charset="-120"/>
              </a:rPr>
              <a:t>Not advice. Cost. Four readings per state: the immediate cost, the hidden cost, the cost of waiting, and the false reassurance that keeps you there.</a:t>
            </a:r>
            <a:endParaRPr lang="en-US" sz="2000" dirty="0"/>
          </a:p>
        </p:txBody>
      </p:sp>
      <p:sp>
        <p:nvSpPr>
          <p:cNvPr id="7" name="Text 5"/>
          <p:cNvSpPr/>
          <p:nvPr/>
        </p:nvSpPr>
        <p:spPr>
          <a:xfrm>
            <a:off x="658368" y="4443984"/>
            <a:ext cx="8915400" cy="548640"/>
          </a:xfrm>
          <a:prstGeom prst="rect">
            <a:avLst/>
          </a:prstGeom>
          <a:noFill/>
          <a:ln/>
        </p:spPr>
        <p:txBody>
          <a:bodyPr wrap="square" lIns="0" tIns="0" rIns="0" bIns="0" rtlCol="0" anchor="t">
            <a:normAutofit/>
          </a:bodyPr>
          <a:lstStyle/>
          <a:p>
            <a:pPr indent="0" marL="0">
              <a:buNone/>
            </a:pPr>
            <a:r>
              <a:rPr lang="en-US" sz="1800" dirty="0">
                <a:solidFill>
                  <a:srgbClr val="FFFFFF"/>
                </a:solidFill>
                <a:latin typeface="DM Sans" pitchFamily="34" charset="0"/>
                <a:ea typeface="DM Sans" pitchFamily="34" charset="-122"/>
                <a:cs typeface="DM Sans" pitchFamily="34" charset="-120"/>
              </a:rPr>
              <a:t>A concise reference is on workbook page 19. The fuller treatment is in Section 5 of your Field Kit.</a:t>
            </a:r>
            <a:endParaRPr lang="en-US" sz="1800" dirty="0"/>
          </a:p>
        </p:txBody>
      </p:sp>
      <p:sp>
        <p:nvSpPr>
          <p:cNvPr id="8" name="Shape 6"/>
          <p:cNvSpPr/>
          <p:nvPr/>
        </p:nvSpPr>
        <p:spPr>
          <a:xfrm>
            <a:off x="9930384" y="3310128"/>
            <a:ext cx="466344" cy="466344"/>
          </a:xfrm>
          <a:prstGeom prst="rect">
            <a:avLst/>
          </a:prstGeom>
          <a:solidFill>
            <a:srgbClr val="0F2347"/>
          </a:solidFill>
          <a:ln w="12700">
            <a:solidFill>
              <a:srgbClr val="C9A84C"/>
            </a:solidFill>
            <a:prstDash val="solid"/>
          </a:ln>
        </p:spPr>
        <p:txBody>
          <a:bodyPr>
            <a:normAutofit/>
          </a:bodyPr>
          <a:p/>
        </p:txBody>
      </p:sp>
      <p:sp>
        <p:nvSpPr>
          <p:cNvPr id="9" name="Shape 7"/>
          <p:cNvSpPr/>
          <p:nvPr/>
        </p:nvSpPr>
        <p:spPr>
          <a:xfrm>
            <a:off x="10396728" y="3310128"/>
            <a:ext cx="466344" cy="466344"/>
          </a:xfrm>
          <a:prstGeom prst="rect">
            <a:avLst/>
          </a:prstGeom>
          <a:solidFill>
            <a:srgbClr val="C1440E"/>
          </a:solidFill>
          <a:ln w="12700">
            <a:solidFill>
              <a:srgbClr val="C9A84C"/>
            </a:solidFill>
            <a:prstDash val="solid"/>
          </a:ln>
        </p:spPr>
        <p:txBody>
          <a:bodyPr>
            <a:normAutofit/>
          </a:bodyPr>
          <a:p/>
        </p:txBody>
      </p:sp>
      <p:sp>
        <p:nvSpPr>
          <p:cNvPr id="10" name="Shape 8"/>
          <p:cNvSpPr/>
          <p:nvPr/>
        </p:nvSpPr>
        <p:spPr>
          <a:xfrm>
            <a:off x="9930384" y="3776472"/>
            <a:ext cx="466344" cy="466344"/>
          </a:xfrm>
          <a:prstGeom prst="rect">
            <a:avLst/>
          </a:prstGeom>
          <a:solidFill>
            <a:srgbClr val="0F2347"/>
          </a:solidFill>
          <a:ln w="12700">
            <a:solidFill>
              <a:srgbClr val="C9A84C"/>
            </a:solidFill>
            <a:prstDash val="solid"/>
          </a:ln>
        </p:spPr>
        <p:txBody>
          <a:bodyPr>
            <a:normAutofit/>
          </a:bodyPr>
          <a:p/>
        </p:txBody>
      </p:sp>
      <p:sp>
        <p:nvSpPr>
          <p:cNvPr id="11" name="Shape 9"/>
          <p:cNvSpPr/>
          <p:nvPr/>
        </p:nvSpPr>
        <p:spPr>
          <a:xfrm>
            <a:off x="10396728" y="3776472"/>
            <a:ext cx="466344" cy="466344"/>
          </a:xfrm>
          <a:prstGeom prst="rect">
            <a:avLst/>
          </a:prstGeom>
          <a:solidFill>
            <a:srgbClr val="0F2347"/>
          </a:solidFill>
          <a:ln w="12700">
            <a:solidFill>
              <a:srgbClr val="C9A84C"/>
            </a:solidFill>
            <a:prstDash val="solid"/>
          </a:ln>
        </p:spPr>
        <p:txBody>
          <a:bodyPr>
            <a:normAutofit/>
          </a:body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STATE COSTS</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each state costs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All four, briefly. Your short reference is in the workbook.</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1920240"/>
            <a:ext cx="5294376" cy="1847088"/>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896112" y="2066544"/>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0F2347"/>
                </a:solidFill>
                <a:latin typeface="DM Sans" pitchFamily="34" charset="0"/>
                <a:ea typeface="DM Sans" pitchFamily="34" charset="-122"/>
                <a:cs typeface="DM Sans" pitchFamily="34" charset="-120"/>
              </a:rPr>
              <a:t>DEPTH TRAP</a:t>
            </a:r>
            <a:endParaRPr lang="en-US" sz="1800" dirty="0"/>
          </a:p>
        </p:txBody>
      </p:sp>
      <p:sp>
        <p:nvSpPr>
          <p:cNvPr id="10" name="Text 8"/>
          <p:cNvSpPr/>
          <p:nvPr/>
        </p:nvSpPr>
        <p:spPr>
          <a:xfrm>
            <a:off x="896112" y="2432304"/>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IMMEDIATE COST</a:t>
            </a:r>
            <a:endParaRPr lang="en-US" sz="900" dirty="0"/>
          </a:p>
        </p:txBody>
      </p:sp>
      <p:sp>
        <p:nvSpPr>
          <p:cNvPr id="11" name="Text 9"/>
          <p:cNvSpPr/>
          <p:nvPr/>
        </p:nvSpPr>
        <p:spPr>
          <a:xfrm>
            <a:off x="896112" y="2615184"/>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Value legible inside one building, close to illegible outside it.</a:t>
            </a:r>
            <a:endParaRPr lang="en-US" sz="1200" dirty="0"/>
          </a:p>
        </p:txBody>
      </p:sp>
      <p:sp>
        <p:nvSpPr>
          <p:cNvPr id="12" name="Text 10"/>
          <p:cNvSpPr/>
          <p:nvPr/>
        </p:nvSpPr>
        <p:spPr>
          <a:xfrm>
            <a:off x="896112" y="3218688"/>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FALSE REASSURANCE</a:t>
            </a:r>
            <a:endParaRPr lang="en-US" sz="900" dirty="0"/>
          </a:p>
        </p:txBody>
      </p:sp>
      <p:sp>
        <p:nvSpPr>
          <p:cNvPr id="13" name="Text 11"/>
          <p:cNvSpPr/>
          <p:nvPr/>
        </p:nvSpPr>
        <p:spPr>
          <a:xfrm>
            <a:off x="896112" y="3401568"/>
            <a:ext cx="4818888" cy="310896"/>
          </a:xfrm>
          <a:prstGeom prst="rect">
            <a:avLst/>
          </a:prstGeom>
          <a:noFill/>
          <a:ln/>
        </p:spPr>
        <p:txBody>
          <a:bodyPr wrap="square" lIns="0" tIns="0" rIns="0" bIns="0" rtlCol="0" anchor="t">
            <a:normAutofit/>
          </a:bodyPr>
          <a:lstStyle/>
          <a:p>
            <a:pPr indent="0" marL="0">
              <a:buNone/>
            </a:pPr>
            <a:r>
              <a:rPr lang="en-US" sz="1400" dirty="0">
                <a:solidFill>
                  <a:srgbClr val="0F2347"/>
                </a:solidFill>
                <a:latin typeface="DM Sans" pitchFamily="34" charset="0"/>
                <a:ea typeface="DM Sans" pitchFamily="34" charset="-122"/>
                <a:cs typeface="DM Sans" pitchFamily="34" charset="-120"/>
              </a:rPr>
              <a:t>“They could never replace me here.”</a:t>
            </a:r>
            <a:endParaRPr lang="en-US" sz="1400" dirty="0"/>
          </a:p>
        </p:txBody>
      </p:sp>
      <p:sp>
        <p:nvSpPr>
          <p:cNvPr id="14" name="Shape 12"/>
          <p:cNvSpPr/>
          <p:nvPr/>
        </p:nvSpPr>
        <p:spPr>
          <a:xfrm>
            <a:off x="6236208" y="1920240"/>
            <a:ext cx="5294376" cy="1847088"/>
          </a:xfrm>
          <a:prstGeom prst="rect">
            <a:avLst/>
          </a:prstGeom>
          <a:solidFill>
            <a:srgbClr val="FFFFFF"/>
          </a:solidFill>
          <a:ln w="12700">
            <a:solidFill>
              <a:srgbClr val="E8DFCC"/>
            </a:solidFill>
            <a:prstDash val="solid"/>
          </a:ln>
        </p:spPr>
        <p:txBody>
          <a:bodyPr>
            <a:normAutofit/>
          </a:bodyPr>
          <a:p/>
        </p:txBody>
      </p:sp>
      <p:sp>
        <p:nvSpPr>
          <p:cNvPr id="15" name="Text 13"/>
          <p:cNvSpPr/>
          <p:nvPr/>
        </p:nvSpPr>
        <p:spPr>
          <a:xfrm>
            <a:off x="6473952" y="2066544"/>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C1440E"/>
                </a:solidFill>
                <a:latin typeface="DM Sans" pitchFamily="34" charset="0"/>
                <a:ea typeface="DM Sans" pitchFamily="34" charset="-122"/>
                <a:cs typeface="DM Sans" pitchFamily="34" charset="-120"/>
              </a:rPr>
              <a:t>COMPOUNDING</a:t>
            </a:r>
            <a:endParaRPr lang="en-US" sz="1800" dirty="0"/>
          </a:p>
        </p:txBody>
      </p:sp>
      <p:sp>
        <p:nvSpPr>
          <p:cNvPr id="16" name="Text 14"/>
          <p:cNvSpPr/>
          <p:nvPr/>
        </p:nvSpPr>
        <p:spPr>
          <a:xfrm>
            <a:off x="6473952" y="2432304"/>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IMMEDIATE COST</a:t>
            </a:r>
            <a:endParaRPr lang="en-US" sz="900" dirty="0"/>
          </a:p>
        </p:txBody>
      </p:sp>
      <p:sp>
        <p:nvSpPr>
          <p:cNvPr id="17" name="Text 15"/>
          <p:cNvSpPr/>
          <p:nvPr/>
        </p:nvSpPr>
        <p:spPr>
          <a:xfrm>
            <a:off x="6473952" y="2615184"/>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Maintaining both axes requires continued renewal. A strong current position can make early slippage easy to miss.</a:t>
            </a:r>
            <a:endParaRPr lang="en-US" sz="1200" dirty="0"/>
          </a:p>
        </p:txBody>
      </p:sp>
      <p:sp>
        <p:nvSpPr>
          <p:cNvPr id="18" name="Text 16"/>
          <p:cNvSpPr/>
          <p:nvPr/>
        </p:nvSpPr>
        <p:spPr>
          <a:xfrm>
            <a:off x="6473952" y="3218688"/>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FALSE REASSURANCE</a:t>
            </a:r>
            <a:endParaRPr lang="en-US" sz="900" dirty="0"/>
          </a:p>
        </p:txBody>
      </p:sp>
      <p:sp>
        <p:nvSpPr>
          <p:cNvPr id="19" name="Text 17"/>
          <p:cNvSpPr/>
          <p:nvPr/>
        </p:nvSpPr>
        <p:spPr>
          <a:xfrm>
            <a:off x="6473952" y="3401568"/>
            <a:ext cx="4818888" cy="310896"/>
          </a:xfrm>
          <a:prstGeom prst="rect">
            <a:avLst/>
          </a:prstGeom>
          <a:noFill/>
          <a:ln/>
        </p:spPr>
        <p:txBody>
          <a:bodyPr wrap="square" lIns="0" tIns="0" rIns="0" bIns="0" rtlCol="0" anchor="t">
            <a:normAutofit/>
          </a:bodyPr>
          <a:lstStyle/>
          <a:p>
            <a:pPr indent="0" marL="0">
              <a:buNone/>
            </a:pPr>
            <a:r>
              <a:rPr lang="en-US" sz="1400" dirty="0">
                <a:solidFill>
                  <a:srgbClr val="0F2347"/>
                </a:solidFill>
                <a:latin typeface="DM Sans" pitchFamily="34" charset="0"/>
                <a:ea typeface="DM Sans" pitchFamily="34" charset="-122"/>
                <a:cs typeface="DM Sans" pitchFamily="34" charset="-120"/>
              </a:rPr>
              <a:t>“I am doing well, so this square has nothing to tell me.”</a:t>
            </a:r>
            <a:endParaRPr lang="en-US" sz="1400" dirty="0"/>
          </a:p>
        </p:txBody>
      </p:sp>
      <p:sp>
        <p:nvSpPr>
          <p:cNvPr id="20" name="Shape 18"/>
          <p:cNvSpPr/>
          <p:nvPr/>
        </p:nvSpPr>
        <p:spPr>
          <a:xfrm>
            <a:off x="658368" y="3913632"/>
            <a:ext cx="5294376" cy="1847088"/>
          </a:xfrm>
          <a:prstGeom prst="rect">
            <a:avLst/>
          </a:prstGeom>
          <a:solidFill>
            <a:srgbClr val="FFFFFF"/>
          </a:solidFill>
          <a:ln w="12700">
            <a:solidFill>
              <a:srgbClr val="E8DFCC"/>
            </a:solidFill>
            <a:prstDash val="solid"/>
          </a:ln>
        </p:spPr>
        <p:txBody>
          <a:bodyPr>
            <a:normAutofit/>
          </a:bodyPr>
          <a:p/>
        </p:txBody>
      </p:sp>
      <p:sp>
        <p:nvSpPr>
          <p:cNvPr id="21" name="Text 19"/>
          <p:cNvSpPr/>
          <p:nvPr/>
        </p:nvSpPr>
        <p:spPr>
          <a:xfrm>
            <a:off x="896112" y="4059936"/>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0F2347"/>
                </a:solidFill>
                <a:latin typeface="DM Sans" pitchFamily="34" charset="0"/>
                <a:ea typeface="DM Sans" pitchFamily="34" charset="-122"/>
                <a:cs typeface="DM Sans" pitchFamily="34" charset="-120"/>
              </a:rPr>
              <a:t>STAGNANT</a:t>
            </a:r>
            <a:endParaRPr lang="en-US" sz="1800" dirty="0"/>
          </a:p>
        </p:txBody>
      </p:sp>
      <p:sp>
        <p:nvSpPr>
          <p:cNvPr id="22" name="Text 20"/>
          <p:cNvSpPr/>
          <p:nvPr/>
        </p:nvSpPr>
        <p:spPr>
          <a:xfrm>
            <a:off x="896112" y="4425696"/>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IMMEDIATE COST</a:t>
            </a:r>
            <a:endParaRPr lang="en-US" sz="900" dirty="0"/>
          </a:p>
        </p:txBody>
      </p:sp>
      <p:sp>
        <p:nvSpPr>
          <p:cNvPr id="23" name="Text 21"/>
          <p:cNvSpPr/>
          <p:nvPr/>
        </p:nvSpPr>
        <p:spPr>
          <a:xfrm>
            <a:off x="896112" y="4608576"/>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The clock is running and nothing is accruing on either axis.</a:t>
            </a:r>
            <a:endParaRPr lang="en-US" sz="1200" dirty="0"/>
          </a:p>
        </p:txBody>
      </p:sp>
      <p:sp>
        <p:nvSpPr>
          <p:cNvPr id="24" name="Text 22"/>
          <p:cNvSpPr/>
          <p:nvPr/>
        </p:nvSpPr>
        <p:spPr>
          <a:xfrm>
            <a:off x="896112" y="5212080"/>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FALSE REASSURANCE</a:t>
            </a:r>
            <a:endParaRPr lang="en-US" sz="900" dirty="0"/>
          </a:p>
        </p:txBody>
      </p:sp>
      <p:sp>
        <p:nvSpPr>
          <p:cNvPr id="25" name="Text 23"/>
          <p:cNvSpPr/>
          <p:nvPr/>
        </p:nvSpPr>
        <p:spPr>
          <a:xfrm>
            <a:off x="896112" y="5394960"/>
            <a:ext cx="4818888" cy="310896"/>
          </a:xfrm>
          <a:prstGeom prst="rect">
            <a:avLst/>
          </a:prstGeom>
          <a:noFill/>
          <a:ln/>
        </p:spPr>
        <p:txBody>
          <a:bodyPr wrap="square" lIns="0" tIns="0" rIns="0" bIns="0" rtlCol="0" anchor="t">
            <a:normAutofit/>
          </a:bodyPr>
          <a:lstStyle/>
          <a:p>
            <a:pPr indent="0" marL="0">
              <a:buNone/>
            </a:pPr>
            <a:r>
              <a:rPr lang="en-US" sz="1400" dirty="0">
                <a:solidFill>
                  <a:srgbClr val="0F2347"/>
                </a:solidFill>
                <a:latin typeface="DM Sans" pitchFamily="34" charset="0"/>
                <a:ea typeface="DM Sans" pitchFamily="34" charset="-122"/>
                <a:cs typeface="DM Sans" pitchFamily="34" charset="-120"/>
              </a:rPr>
              <a:t>“I am well regarded here.”</a:t>
            </a:r>
            <a:endParaRPr lang="en-US" sz="1400" dirty="0"/>
          </a:p>
        </p:txBody>
      </p:sp>
      <p:sp>
        <p:nvSpPr>
          <p:cNvPr id="26" name="Shape 24"/>
          <p:cNvSpPr/>
          <p:nvPr/>
        </p:nvSpPr>
        <p:spPr>
          <a:xfrm>
            <a:off x="6236208" y="3913632"/>
            <a:ext cx="5294376" cy="1847088"/>
          </a:xfrm>
          <a:prstGeom prst="rect">
            <a:avLst/>
          </a:prstGeom>
          <a:solidFill>
            <a:srgbClr val="FFFFFF"/>
          </a:solidFill>
          <a:ln w="12700">
            <a:solidFill>
              <a:srgbClr val="E8DFCC"/>
            </a:solidFill>
            <a:prstDash val="solid"/>
          </a:ln>
        </p:spPr>
        <p:txBody>
          <a:bodyPr>
            <a:normAutofit/>
          </a:bodyPr>
          <a:p/>
        </p:txBody>
      </p:sp>
      <p:sp>
        <p:nvSpPr>
          <p:cNvPr id="27" name="Text 25"/>
          <p:cNvSpPr/>
          <p:nvPr/>
        </p:nvSpPr>
        <p:spPr>
          <a:xfrm>
            <a:off x="6473952" y="4059936"/>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0F2347"/>
                </a:solidFill>
                <a:latin typeface="DM Sans" pitchFamily="34" charset="0"/>
                <a:ea typeface="DM Sans" pitchFamily="34" charset="-122"/>
                <a:cs typeface="DM Sans" pitchFamily="34" charset="-120"/>
              </a:rPr>
              <a:t>FRAGILE</a:t>
            </a:r>
            <a:endParaRPr lang="en-US" sz="1800" dirty="0"/>
          </a:p>
        </p:txBody>
      </p:sp>
      <p:sp>
        <p:nvSpPr>
          <p:cNvPr id="28" name="Text 26"/>
          <p:cNvSpPr/>
          <p:nvPr/>
        </p:nvSpPr>
        <p:spPr>
          <a:xfrm>
            <a:off x="6473952" y="4425696"/>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IMMEDIATE COST</a:t>
            </a:r>
            <a:endParaRPr lang="en-US" sz="900" dirty="0"/>
          </a:p>
        </p:txBody>
      </p:sp>
      <p:sp>
        <p:nvSpPr>
          <p:cNvPr id="29" name="Text 27"/>
          <p:cNvSpPr/>
          <p:nvPr/>
        </p:nvSpPr>
        <p:spPr>
          <a:xfrm>
            <a:off x="6473952" y="4608576"/>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What travels today is no longer being renewed by the work you are doing now.</a:t>
            </a:r>
            <a:endParaRPr lang="en-US" sz="1200" dirty="0"/>
          </a:p>
        </p:txBody>
      </p:sp>
      <p:sp>
        <p:nvSpPr>
          <p:cNvPr id="30" name="Text 28"/>
          <p:cNvSpPr/>
          <p:nvPr/>
        </p:nvSpPr>
        <p:spPr>
          <a:xfrm>
            <a:off x="6473952" y="5212080"/>
            <a:ext cx="4818888" cy="182880"/>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FALSE REASSURANCE</a:t>
            </a:r>
            <a:endParaRPr lang="en-US" sz="900" dirty="0"/>
          </a:p>
        </p:txBody>
      </p:sp>
      <p:sp>
        <p:nvSpPr>
          <p:cNvPr id="31" name="Text 29"/>
          <p:cNvSpPr/>
          <p:nvPr/>
        </p:nvSpPr>
        <p:spPr>
          <a:xfrm>
            <a:off x="6473952" y="5394960"/>
            <a:ext cx="4818888" cy="310896"/>
          </a:xfrm>
          <a:prstGeom prst="rect">
            <a:avLst/>
          </a:prstGeom>
          <a:noFill/>
          <a:ln/>
        </p:spPr>
        <p:txBody>
          <a:bodyPr wrap="square" lIns="0" tIns="0" rIns="0" bIns="0" rtlCol="0" anchor="t">
            <a:normAutofit/>
          </a:bodyPr>
          <a:lstStyle/>
          <a:p>
            <a:pPr indent="0" marL="0">
              <a:buNone/>
            </a:pPr>
            <a:r>
              <a:rPr lang="en-US" sz="1400" dirty="0">
                <a:solidFill>
                  <a:srgbClr val="0F2347"/>
                </a:solidFill>
                <a:latin typeface="DM Sans" pitchFamily="34" charset="0"/>
                <a:ea typeface="DM Sans" pitchFamily="34" charset="-122"/>
                <a:cs typeface="DM Sans" pitchFamily="34" charset="-120"/>
              </a:rPr>
              <a:t>“I could leave tomorrow.”</a:t>
            </a:r>
            <a:endParaRPr lang="en-US" sz="1400" dirty="0"/>
          </a:p>
        </p:txBody>
      </p:sp>
      <p:sp>
        <p:nvSpPr>
          <p:cNvPr id="32" name="Shape 30"/>
          <p:cNvSpPr/>
          <p:nvPr/>
        </p:nvSpPr>
        <p:spPr>
          <a:xfrm>
            <a:off x="658368" y="5742432"/>
            <a:ext cx="10872216" cy="10973"/>
          </a:xfrm>
          <a:prstGeom prst="rect">
            <a:avLst/>
          </a:prstGeom>
          <a:solidFill>
            <a:srgbClr val="E8DFCC"/>
          </a:solidFill>
          <a:ln w="12700">
            <a:solidFill>
              <a:srgbClr val="333333"/>
            </a:solidFill>
            <a:prstDash val="solid"/>
          </a:ln>
        </p:spPr>
        <p:txBody>
          <a:bodyPr>
            <a:normAutofit/>
          </a:bodyPr>
          <a:p/>
        </p:txBody>
      </p:sp>
      <p:sp>
        <p:nvSpPr>
          <p:cNvPr id="33" name="Text 31"/>
          <p:cNvSpPr/>
          <p:nvPr/>
        </p:nvSpPr>
        <p:spPr>
          <a:xfrm>
            <a:off x="658368" y="5888736"/>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Your short reference is in the workbook. The fuller treatment is in your Field Kit.</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YOUR COST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Write your own cost</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One square. Four readings. Your words, not mine. Workbook page 20.</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29968"/>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immediate cost</a:t>
            </a:r>
            <a:endParaRPr lang="en-US" sz="2100" dirty="0"/>
          </a:p>
        </p:txBody>
      </p:sp>
      <p:sp>
        <p:nvSpPr>
          <p:cNvPr id="9" name="Shape 7"/>
          <p:cNvSpPr/>
          <p:nvPr/>
        </p:nvSpPr>
        <p:spPr>
          <a:xfrm>
            <a:off x="658368" y="2542032"/>
            <a:ext cx="10872216" cy="7315"/>
          </a:xfrm>
          <a:prstGeom prst="rect">
            <a:avLst/>
          </a:prstGeom>
          <a:solidFill>
            <a:srgbClr val="E8DFCC"/>
          </a:solidFill>
          <a:ln w="12700">
            <a:solidFill>
              <a:srgbClr val="333333"/>
            </a:solidFill>
            <a:prstDash val="solid"/>
          </a:ln>
        </p:spPr>
        <p:txBody>
          <a:bodyPr>
            <a:normAutofit/>
          </a:bodyPr>
          <a:p/>
        </p:txBody>
      </p:sp>
      <p:sp>
        <p:nvSpPr>
          <p:cNvPr id="10" name="Text 8"/>
          <p:cNvSpPr/>
          <p:nvPr/>
        </p:nvSpPr>
        <p:spPr>
          <a:xfrm>
            <a:off x="658368" y="2816352"/>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hidden cost</a:t>
            </a:r>
            <a:endParaRPr lang="en-US" sz="2100" dirty="0"/>
          </a:p>
        </p:txBody>
      </p:sp>
      <p:sp>
        <p:nvSpPr>
          <p:cNvPr id="11" name="Shape 9"/>
          <p:cNvSpPr/>
          <p:nvPr/>
        </p:nvSpPr>
        <p:spPr>
          <a:xfrm>
            <a:off x="658368" y="3328416"/>
            <a:ext cx="10872216" cy="7315"/>
          </a:xfrm>
          <a:prstGeom prst="rect">
            <a:avLst/>
          </a:prstGeom>
          <a:solidFill>
            <a:srgbClr val="E8DFCC"/>
          </a:solidFill>
          <a:ln w="12700">
            <a:solidFill>
              <a:srgbClr val="333333"/>
            </a:solidFill>
            <a:prstDash val="solid"/>
          </a:ln>
        </p:spPr>
        <p:txBody>
          <a:bodyPr>
            <a:normAutofit/>
          </a:bodyPr>
          <a:p/>
        </p:txBody>
      </p:sp>
      <p:sp>
        <p:nvSpPr>
          <p:cNvPr id="12" name="Text 10"/>
          <p:cNvSpPr/>
          <p:nvPr/>
        </p:nvSpPr>
        <p:spPr>
          <a:xfrm>
            <a:off x="658368" y="3602736"/>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cost of waiting</a:t>
            </a:r>
            <a:endParaRPr lang="en-US" sz="2100" dirty="0"/>
          </a:p>
        </p:txBody>
      </p:sp>
      <p:sp>
        <p:nvSpPr>
          <p:cNvPr id="13" name="Shape 11"/>
          <p:cNvSpPr/>
          <p:nvPr/>
        </p:nvSpPr>
        <p:spPr>
          <a:xfrm>
            <a:off x="658368" y="4114800"/>
            <a:ext cx="10872216" cy="7315"/>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4389120"/>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false reassurance that keeps me here</a:t>
            </a:r>
            <a:endParaRPr lang="en-US" sz="2100" dirty="0"/>
          </a:p>
        </p:txBody>
      </p:sp>
      <p:sp>
        <p:nvSpPr>
          <p:cNvPr id="15" name="Shape 13"/>
          <p:cNvSpPr/>
          <p:nvPr/>
        </p:nvSpPr>
        <p:spPr>
          <a:xfrm>
            <a:off x="658368" y="4901184"/>
            <a:ext cx="10872216" cy="7315"/>
          </a:xfrm>
          <a:prstGeom prst="rect">
            <a:avLst/>
          </a:prstGeom>
          <a:solidFill>
            <a:srgbClr val="E8DFCC"/>
          </a:solidFill>
          <a:ln w="12700">
            <a:solidFill>
              <a:srgbClr val="333333"/>
            </a:solidFill>
            <a:prstDash val="solid"/>
          </a:ln>
        </p:spPr>
        <p:txBody>
          <a:bodyPr>
            <a:normAutofit/>
          </a:bodyPr>
          <a:p/>
        </p:txBody>
      </p:sp>
      <p:sp>
        <p:nvSpPr>
          <p:cNvPr id="16" name="Shape 14"/>
          <p:cNvSpPr/>
          <p:nvPr/>
        </p:nvSpPr>
        <p:spPr>
          <a:xfrm>
            <a:off x="658368" y="5358384"/>
            <a:ext cx="10872216" cy="10973"/>
          </a:xfrm>
          <a:prstGeom prst="rect">
            <a:avLst/>
          </a:prstGeom>
          <a:solidFill>
            <a:srgbClr val="E8DFCC"/>
          </a:solidFill>
          <a:ln w="12700">
            <a:solidFill>
              <a:srgbClr val="333333"/>
            </a:solidFill>
            <a:prstDash val="solid"/>
          </a:ln>
        </p:spPr>
        <p:txBody>
          <a:bodyPr>
            <a:normAutofit/>
          </a:bodyPr>
          <a:p/>
        </p:txBody>
      </p:sp>
      <p:sp>
        <p:nvSpPr>
          <p:cNvPr id="17" name="Text 15"/>
          <p:cNvSpPr/>
          <p:nvPr/>
        </p:nvSpPr>
        <p:spPr>
          <a:xfrm>
            <a:off x="658368" y="5504688"/>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one more quarter in this state takes from me, in one line. Standing still becomes a condition you can evaluate deliberately.</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MOVE CATEGORIES</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Seven categories of move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Direction, not a plan. Your evidence helps you choose which category to test. Workbook page 21.</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93392"/>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Remain and deepen</a:t>
            </a:r>
            <a:endParaRPr lang="en-US" sz="2000" dirty="0"/>
          </a:p>
        </p:txBody>
      </p:sp>
      <p:sp>
        <p:nvSpPr>
          <p:cNvPr id="9" name="Text 7"/>
          <p:cNvSpPr/>
          <p:nvPr/>
        </p:nvSpPr>
        <p:spPr>
          <a:xfrm>
            <a:off x="658368" y="2359152"/>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The formation conditions are real and worth protecting.</a:t>
            </a:r>
            <a:endParaRPr lang="en-US" sz="1600" dirty="0"/>
          </a:p>
        </p:txBody>
      </p:sp>
      <p:sp>
        <p:nvSpPr>
          <p:cNvPr id="10" name="Text 8"/>
          <p:cNvSpPr/>
          <p:nvPr/>
        </p:nvSpPr>
        <p:spPr>
          <a:xfrm>
            <a:off x="658368" y="2926080"/>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Translate what is built</a:t>
            </a:r>
            <a:endParaRPr lang="en-US" sz="2000" dirty="0"/>
          </a:p>
        </p:txBody>
      </p:sp>
      <p:sp>
        <p:nvSpPr>
          <p:cNvPr id="11" name="Text 9"/>
          <p:cNvSpPr/>
          <p:nvPr/>
        </p:nvSpPr>
        <p:spPr>
          <a:xfrm>
            <a:off x="658368" y="3291840"/>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The capability exists. The language for it does not.</a:t>
            </a:r>
            <a:endParaRPr lang="en-US" sz="1600" dirty="0"/>
          </a:p>
        </p:txBody>
      </p:sp>
      <p:sp>
        <p:nvSpPr>
          <p:cNvPr id="12" name="Text 10"/>
          <p:cNvSpPr/>
          <p:nvPr/>
        </p:nvSpPr>
        <p:spPr>
          <a:xfrm>
            <a:off x="658368" y="3858768"/>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Widen exposure</a:t>
            </a:r>
            <a:endParaRPr lang="en-US" sz="2000" dirty="0"/>
          </a:p>
        </p:txBody>
      </p:sp>
      <p:sp>
        <p:nvSpPr>
          <p:cNvPr id="13" name="Text 11"/>
          <p:cNvSpPr/>
          <p:nvPr/>
        </p:nvSpPr>
        <p:spPr>
          <a:xfrm>
            <a:off x="658368" y="4224528"/>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The work is good and the wrong people have seen it.</a:t>
            </a:r>
            <a:endParaRPr lang="en-US" sz="1600" dirty="0"/>
          </a:p>
        </p:txBody>
      </p:sp>
      <p:sp>
        <p:nvSpPr>
          <p:cNvPr id="14" name="Text 12"/>
          <p:cNvSpPr/>
          <p:nvPr/>
        </p:nvSpPr>
        <p:spPr>
          <a:xfrm>
            <a:off x="658368" y="4791456"/>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Test portability</a:t>
            </a:r>
            <a:endParaRPr lang="en-US" sz="2000" dirty="0"/>
          </a:p>
        </p:txBody>
      </p:sp>
      <p:sp>
        <p:nvSpPr>
          <p:cNvPr id="15" name="Text 13"/>
          <p:cNvSpPr/>
          <p:nvPr/>
        </p:nvSpPr>
        <p:spPr>
          <a:xfrm>
            <a:off x="658368" y="5157216"/>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Find out what travels before you need it to.</a:t>
            </a:r>
            <a:endParaRPr lang="en-US" sz="1600" dirty="0"/>
          </a:p>
        </p:txBody>
      </p:sp>
      <p:sp>
        <p:nvSpPr>
          <p:cNvPr id="16" name="Text 14"/>
          <p:cNvSpPr/>
          <p:nvPr/>
        </p:nvSpPr>
        <p:spPr>
          <a:xfrm>
            <a:off x="6236208" y="1993392"/>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Repair formation conditions</a:t>
            </a:r>
            <a:endParaRPr lang="en-US" sz="2000" dirty="0"/>
          </a:p>
        </p:txBody>
      </p:sp>
      <p:sp>
        <p:nvSpPr>
          <p:cNvPr id="17" name="Text 15"/>
          <p:cNvSpPr/>
          <p:nvPr/>
        </p:nvSpPr>
        <p:spPr>
          <a:xfrm>
            <a:off x="6236208" y="2359152"/>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Change the work, not the employer, first.</a:t>
            </a:r>
            <a:endParaRPr lang="en-US" sz="1600" dirty="0"/>
          </a:p>
        </p:txBody>
      </p:sp>
      <p:sp>
        <p:nvSpPr>
          <p:cNvPr id="18" name="Text 16"/>
          <p:cNvSpPr/>
          <p:nvPr/>
        </p:nvSpPr>
        <p:spPr>
          <a:xfrm>
            <a:off x="6236208" y="2926080"/>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Prepare for exit</a:t>
            </a:r>
            <a:endParaRPr lang="en-US" sz="2000" dirty="0"/>
          </a:p>
        </p:txBody>
      </p:sp>
      <p:sp>
        <p:nvSpPr>
          <p:cNvPr id="19" name="Text 17"/>
          <p:cNvSpPr/>
          <p:nvPr/>
        </p:nvSpPr>
        <p:spPr>
          <a:xfrm>
            <a:off x="6236208" y="3291840"/>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Your evidence gives you reason to prepare in case the conditions do not repair.</a:t>
            </a:r>
            <a:endParaRPr lang="en-US" sz="1600" dirty="0"/>
          </a:p>
        </p:txBody>
      </p:sp>
      <p:sp>
        <p:nvSpPr>
          <p:cNvPr id="20" name="Text 18"/>
          <p:cNvSpPr/>
          <p:nvPr/>
        </p:nvSpPr>
        <p:spPr>
          <a:xfrm>
            <a:off x="6236208" y="3858768"/>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Seek an external perspective</a:t>
            </a:r>
            <a:endParaRPr lang="en-US" sz="2000" dirty="0"/>
          </a:p>
        </p:txBody>
      </p:sp>
      <p:sp>
        <p:nvSpPr>
          <p:cNvPr id="21" name="Text 19"/>
          <p:cNvSpPr/>
          <p:nvPr/>
        </p:nvSpPr>
        <p:spPr>
          <a:xfrm>
            <a:off x="6236208" y="4224528"/>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High stakes, incomplete evidence, or a boundary position.</a:t>
            </a:r>
            <a:endParaRPr lang="en-US" sz="1600" dirty="0"/>
          </a:p>
        </p:txBody>
      </p:sp>
      <p:sp>
        <p:nvSpPr>
          <p:cNvPr id="22" name="Shape 20"/>
          <p:cNvSpPr/>
          <p:nvPr/>
        </p:nvSpPr>
        <p:spPr>
          <a:xfrm>
            <a:off x="658368" y="5779008"/>
            <a:ext cx="10872216" cy="10973"/>
          </a:xfrm>
          <a:prstGeom prst="rect">
            <a:avLst/>
          </a:prstGeom>
          <a:solidFill>
            <a:srgbClr val="E8DFCC"/>
          </a:solidFill>
          <a:ln w="12700">
            <a:solidFill>
              <a:srgbClr val="333333"/>
            </a:solidFill>
            <a:prstDash val="solid"/>
          </a:ln>
        </p:spPr>
        <p:txBody>
          <a:bodyPr>
            <a:normAutofit/>
          </a:bodyPr>
          <a:p/>
        </p:txBody>
      </p:sp>
      <p:sp>
        <p:nvSpPr>
          <p:cNvPr id="23" name="Text 21"/>
          <p:cNvSpPr/>
          <p:nvPr/>
        </p:nvSpPr>
        <p:spPr>
          <a:xfrm>
            <a:off x="658368" y="5925312"/>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ARTIFACT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Next-Move Decision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Ten lines on workbook page 22. These five carry the weight.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29968"/>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06</a:t>
            </a:r>
            <a:endParaRPr lang="en-US" sz="2600" dirty="0"/>
          </a:p>
        </p:txBody>
      </p:sp>
      <p:sp>
        <p:nvSpPr>
          <p:cNvPr id="9" name="Text 7"/>
          <p:cNvSpPr/>
          <p:nvPr/>
        </p:nvSpPr>
        <p:spPr>
          <a:xfrm>
            <a:off x="1426464" y="2029968"/>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category of move my evidence supports testing is…</a:t>
            </a:r>
            <a:endParaRPr lang="en-US" sz="2200" dirty="0"/>
          </a:p>
        </p:txBody>
      </p:sp>
      <p:sp>
        <p:nvSpPr>
          <p:cNvPr id="10" name="Shape 8"/>
          <p:cNvSpPr/>
          <p:nvPr/>
        </p:nvSpPr>
        <p:spPr>
          <a:xfrm>
            <a:off x="1426464" y="2578608"/>
            <a:ext cx="10104120" cy="7315"/>
          </a:xfrm>
          <a:prstGeom prst="rect">
            <a:avLst/>
          </a:prstGeom>
          <a:solidFill>
            <a:srgbClr val="E8DFCC"/>
          </a:solidFill>
          <a:ln w="12700">
            <a:solidFill>
              <a:srgbClr val="333333"/>
            </a:solidFill>
            <a:prstDash val="solid"/>
          </a:ln>
        </p:spPr>
        <p:txBody>
          <a:bodyPr>
            <a:normAutofit/>
          </a:bodyPr>
          <a:p/>
        </p:txBody>
      </p:sp>
      <p:sp>
        <p:nvSpPr>
          <p:cNvPr id="11" name="Text 9"/>
          <p:cNvSpPr/>
          <p:nvPr/>
        </p:nvSpPr>
        <p:spPr>
          <a:xfrm>
            <a:off x="658368" y="2779776"/>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07</a:t>
            </a:r>
            <a:endParaRPr lang="en-US" sz="2600" dirty="0"/>
          </a:p>
        </p:txBody>
      </p:sp>
      <p:sp>
        <p:nvSpPr>
          <p:cNvPr id="12" name="Text 10"/>
          <p:cNvSpPr/>
          <p:nvPr/>
        </p:nvSpPr>
        <p:spPr>
          <a:xfrm>
            <a:off x="1426464" y="2779776"/>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first action I will take, and by when, is…</a:t>
            </a:r>
            <a:endParaRPr lang="en-US" sz="2200" dirty="0"/>
          </a:p>
        </p:txBody>
      </p:sp>
      <p:sp>
        <p:nvSpPr>
          <p:cNvPr id="13" name="Shape 11"/>
          <p:cNvSpPr/>
          <p:nvPr/>
        </p:nvSpPr>
        <p:spPr>
          <a:xfrm>
            <a:off x="1426464" y="3328416"/>
            <a:ext cx="10104120" cy="7315"/>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3529584"/>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08</a:t>
            </a:r>
            <a:endParaRPr lang="en-US" sz="2600" dirty="0"/>
          </a:p>
        </p:txBody>
      </p:sp>
      <p:sp>
        <p:nvSpPr>
          <p:cNvPr id="15" name="Text 13"/>
          <p:cNvSpPr/>
          <p:nvPr/>
        </p:nvSpPr>
        <p:spPr>
          <a:xfrm>
            <a:off x="1426464" y="3529584"/>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person I will say this to, and by when, is…</a:t>
            </a:r>
            <a:endParaRPr lang="en-US" sz="2200" dirty="0"/>
          </a:p>
        </p:txBody>
      </p:sp>
      <p:sp>
        <p:nvSpPr>
          <p:cNvPr id="16" name="Shape 14"/>
          <p:cNvSpPr/>
          <p:nvPr/>
        </p:nvSpPr>
        <p:spPr>
          <a:xfrm>
            <a:off x="1426464" y="4078224"/>
            <a:ext cx="10104120" cy="7315"/>
          </a:xfrm>
          <a:prstGeom prst="rect">
            <a:avLst/>
          </a:prstGeom>
          <a:solidFill>
            <a:srgbClr val="E8DFCC"/>
          </a:solidFill>
          <a:ln w="12700">
            <a:solidFill>
              <a:srgbClr val="333333"/>
            </a:solidFill>
            <a:prstDash val="solid"/>
          </a:ln>
        </p:spPr>
        <p:txBody>
          <a:bodyPr>
            <a:normAutofit/>
          </a:bodyPr>
          <a:p/>
        </p:txBody>
      </p:sp>
      <p:sp>
        <p:nvSpPr>
          <p:cNvPr id="17" name="Text 15"/>
          <p:cNvSpPr/>
          <p:nvPr/>
        </p:nvSpPr>
        <p:spPr>
          <a:xfrm>
            <a:off x="658368" y="4279392"/>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09</a:t>
            </a:r>
            <a:endParaRPr lang="en-US" sz="2600" dirty="0"/>
          </a:p>
        </p:txBody>
      </p:sp>
      <p:sp>
        <p:nvSpPr>
          <p:cNvPr id="18" name="Text 16"/>
          <p:cNvSpPr/>
          <p:nvPr/>
        </p:nvSpPr>
        <p:spPr>
          <a:xfrm>
            <a:off x="1426464" y="4279392"/>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evidence that would cause me to revise this decision is…</a:t>
            </a:r>
            <a:endParaRPr lang="en-US" sz="2200" dirty="0"/>
          </a:p>
        </p:txBody>
      </p:sp>
      <p:sp>
        <p:nvSpPr>
          <p:cNvPr id="19" name="Shape 17"/>
          <p:cNvSpPr/>
          <p:nvPr/>
        </p:nvSpPr>
        <p:spPr>
          <a:xfrm>
            <a:off x="1426464" y="4828032"/>
            <a:ext cx="10104120" cy="7315"/>
          </a:xfrm>
          <a:prstGeom prst="rect">
            <a:avLst/>
          </a:prstGeom>
          <a:solidFill>
            <a:srgbClr val="E8DFCC"/>
          </a:solidFill>
          <a:ln w="12700">
            <a:solidFill>
              <a:srgbClr val="333333"/>
            </a:solidFill>
            <a:prstDash val="solid"/>
          </a:ln>
        </p:spPr>
        <p:txBody>
          <a:bodyPr>
            <a:normAutofit/>
          </a:bodyPr>
          <a:p/>
        </p:txBody>
      </p:sp>
      <p:sp>
        <p:nvSpPr>
          <p:cNvPr id="20" name="Text 18"/>
          <p:cNvSpPr/>
          <p:nvPr/>
        </p:nvSpPr>
        <p:spPr>
          <a:xfrm>
            <a:off x="658368" y="5029200"/>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10</a:t>
            </a:r>
            <a:endParaRPr lang="en-US" sz="2600" dirty="0"/>
          </a:p>
        </p:txBody>
      </p:sp>
      <p:sp>
        <p:nvSpPr>
          <p:cNvPr id="21" name="Text 19"/>
          <p:cNvSpPr/>
          <p:nvPr/>
        </p:nvSpPr>
        <p:spPr>
          <a:xfrm>
            <a:off x="1426464" y="5029200"/>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date I will rescore is…</a:t>
            </a:r>
            <a:endParaRPr lang="en-US" sz="2200" dirty="0"/>
          </a:p>
        </p:txBody>
      </p:sp>
      <p:sp>
        <p:nvSpPr>
          <p:cNvPr id="22" name="Shape 20"/>
          <p:cNvSpPr/>
          <p:nvPr/>
        </p:nvSpPr>
        <p:spPr>
          <a:xfrm>
            <a:off x="1426464" y="5577840"/>
            <a:ext cx="10104120" cy="7315"/>
          </a:xfrm>
          <a:prstGeom prst="rect">
            <a:avLst/>
          </a:prstGeom>
          <a:solidFill>
            <a:srgbClr val="E8DFCC"/>
          </a:solidFill>
          <a:ln w="12700">
            <a:solidFill>
              <a:srgbClr val="333333"/>
            </a:solidFill>
            <a:prstDash val="solid"/>
          </a:ln>
        </p:spPr>
        <p:txBody>
          <a:bodyPr>
            <a:normAutofit/>
          </a:bodyPr>
          <a:p/>
        </p:txBody>
      </p:sp>
      <p:sp>
        <p:nvSpPr>
          <p:cNvPr id="23" name="Shape 21"/>
          <p:cNvSpPr/>
          <p:nvPr/>
        </p:nvSpPr>
        <p:spPr>
          <a:xfrm>
            <a:off x="658368" y="5760720"/>
            <a:ext cx="10872216" cy="10973"/>
          </a:xfrm>
          <a:prstGeom prst="rect">
            <a:avLst/>
          </a:prstGeom>
          <a:solidFill>
            <a:srgbClr val="E8DFCC"/>
          </a:solidFill>
          <a:ln w="12700">
            <a:solidFill>
              <a:srgbClr val="333333"/>
            </a:solidFill>
            <a:prstDash val="solid"/>
          </a:ln>
        </p:spPr>
        <p:txBody>
          <a:bodyPr>
            <a:normAutofit/>
          </a:bodyPr>
          <a:p/>
        </p:txBody>
      </p:sp>
      <p:sp>
        <p:nvSpPr>
          <p:cNvPr id="24" name="Text 22"/>
          <p:cNvSpPr/>
          <p:nvPr/>
        </p:nvSpPr>
        <p:spPr>
          <a:xfrm>
            <a:off x="658368" y="590702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Lines 01 to 05 are in the workbook on page 22.</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37</a:t>
            </a:r>
            <a:endParaRPr lang="en-US" sz="900" dirty="0"/>
          </a:p>
        </p:txBody>
      </p:sp>
      <p:sp>
        <p:nvSpPr>
          <p:cNvPr id="4" name="Text 2"/>
          <p:cNvSpPr/>
          <p:nvPr/>
        </p:nvSpPr>
        <p:spPr>
          <a:xfrm>
            <a:off x="658368" y="2286000"/>
            <a:ext cx="10872216" cy="457200"/>
          </a:xfrm>
          <a:prstGeom prst="rect">
            <a:avLst/>
          </a:prstGeom>
          <a:noFill/>
          <a:ln/>
        </p:spPr>
        <p:txBody>
          <a:bodyPr wrap="square" lIns="0" tIns="0" rIns="0" bIns="0" rtlCol="0" anchor="ctr">
            <a:normAutofit/>
          </a:bodyPr>
          <a:lstStyle/>
          <a:p>
            <a:pPr indent="0" marL="0">
              <a:buNone/>
            </a:pPr>
            <a:r>
              <a:rPr lang="en-US" sz="1500" b="1" spc="300" kern="0" dirty="0">
                <a:solidFill>
                  <a:srgbClr val="C9A84C"/>
                </a:solidFill>
                <a:latin typeface="DM Sans" pitchFamily="34" charset="0"/>
                <a:ea typeface="DM Sans" pitchFamily="34" charset="-122"/>
                <a:cs typeface="DM Sans" pitchFamily="34" charset="-120"/>
              </a:rPr>
              <a:t>EIGHT MINUTES, SILENT</a:t>
            </a:r>
            <a:endParaRPr lang="en-US" sz="1500" dirty="0"/>
          </a:p>
        </p:txBody>
      </p:sp>
      <p:sp>
        <p:nvSpPr>
          <p:cNvPr id="5" name="Text 3"/>
          <p:cNvSpPr/>
          <p:nvPr/>
        </p:nvSpPr>
        <p:spPr>
          <a:xfrm>
            <a:off x="658368" y="2743200"/>
            <a:ext cx="10872216" cy="1051560"/>
          </a:xfrm>
          <a:prstGeom prst="rect">
            <a:avLst/>
          </a:prstGeom>
          <a:noFill/>
          <a:ln/>
        </p:spPr>
        <p:txBody>
          <a:bodyPr wrap="square" lIns="0" tIns="0" rIns="0" bIns="0" rtlCol="0" anchor="t">
            <a:normAutofit/>
          </a:bodyPr>
          <a:lstStyle/>
          <a:p>
            <a:pPr indent="0" marL="0">
              <a:buNone/>
            </a:pPr>
            <a:r>
              <a:rPr lang="en-US" sz="6000" dirty="0">
                <a:solidFill>
                  <a:srgbClr val="FFFFFF"/>
                </a:solidFill>
                <a:latin typeface="Cormorant Garamond" pitchFamily="34" charset="0"/>
                <a:ea typeface="Cormorant Garamond" pitchFamily="34" charset="-122"/>
                <a:cs typeface="Cormorant Garamond" pitchFamily="34" charset="-120"/>
              </a:rPr>
              <a:t>Working session</a:t>
            </a:r>
            <a:endParaRPr lang="en-US" sz="6000" dirty="0"/>
          </a:p>
        </p:txBody>
      </p:sp>
      <p:sp>
        <p:nvSpPr>
          <p:cNvPr id="6" name="Text 4"/>
          <p:cNvSpPr/>
          <p:nvPr/>
        </p:nvSpPr>
        <p:spPr>
          <a:xfrm>
            <a:off x="658368" y="3968496"/>
            <a:ext cx="8778240" cy="73152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A9B8D0"/>
                </a:solidFill>
                <a:latin typeface="DM Sans" pitchFamily="34" charset="0"/>
                <a:ea typeface="DM Sans" pitchFamily="34" charset="-122"/>
                <a:cs typeface="DM Sans" pitchFamily="34" charset="-120"/>
              </a:rPr>
              <a:t>Nobody talks, including me. Step away from the screen if that helps. You get a two-minute warning.</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VOLUNTARY READS</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Two or three of you, out loud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Lines 6, 7 and 8 only. No scores, no employer names, no third-party names.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103120"/>
            <a:ext cx="10872216" cy="640080"/>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category of move my evidence supports testing is…</a:t>
            </a:r>
            <a:endParaRPr lang="en-US" sz="2200" dirty="0"/>
          </a:p>
        </p:txBody>
      </p:sp>
      <p:sp>
        <p:nvSpPr>
          <p:cNvPr id="9" name="Shape 7"/>
          <p:cNvSpPr/>
          <p:nvPr/>
        </p:nvSpPr>
        <p:spPr>
          <a:xfrm>
            <a:off x="658368" y="2706624"/>
            <a:ext cx="10872216" cy="7315"/>
          </a:xfrm>
          <a:prstGeom prst="rect">
            <a:avLst/>
          </a:prstGeom>
          <a:solidFill>
            <a:srgbClr val="E8DFCC"/>
          </a:solidFill>
          <a:ln w="12700">
            <a:solidFill>
              <a:srgbClr val="333333"/>
            </a:solidFill>
            <a:prstDash val="solid"/>
          </a:ln>
        </p:spPr>
        <p:txBody>
          <a:bodyPr>
            <a:normAutofit/>
          </a:bodyPr>
          <a:p/>
        </p:txBody>
      </p:sp>
      <p:sp>
        <p:nvSpPr>
          <p:cNvPr id="10" name="Text 8"/>
          <p:cNvSpPr/>
          <p:nvPr/>
        </p:nvSpPr>
        <p:spPr>
          <a:xfrm>
            <a:off x="658368" y="3017520"/>
            <a:ext cx="10872216" cy="640080"/>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first action I will take, and by when, is…</a:t>
            </a:r>
            <a:endParaRPr lang="en-US" sz="2200" dirty="0"/>
          </a:p>
        </p:txBody>
      </p:sp>
      <p:sp>
        <p:nvSpPr>
          <p:cNvPr id="11" name="Shape 9"/>
          <p:cNvSpPr/>
          <p:nvPr/>
        </p:nvSpPr>
        <p:spPr>
          <a:xfrm>
            <a:off x="658368" y="3621024"/>
            <a:ext cx="10872216" cy="7315"/>
          </a:xfrm>
          <a:prstGeom prst="rect">
            <a:avLst/>
          </a:prstGeom>
          <a:solidFill>
            <a:srgbClr val="E8DFCC"/>
          </a:solidFill>
          <a:ln w="12700">
            <a:solidFill>
              <a:srgbClr val="333333"/>
            </a:solidFill>
            <a:prstDash val="solid"/>
          </a:ln>
        </p:spPr>
        <p:txBody>
          <a:bodyPr>
            <a:normAutofit/>
          </a:bodyPr>
          <a:p/>
        </p:txBody>
      </p:sp>
      <p:sp>
        <p:nvSpPr>
          <p:cNvPr id="12" name="Text 10"/>
          <p:cNvSpPr/>
          <p:nvPr/>
        </p:nvSpPr>
        <p:spPr>
          <a:xfrm>
            <a:off x="658368" y="3931920"/>
            <a:ext cx="10872216" cy="640080"/>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person I will say this to, and by when, is…</a:t>
            </a:r>
            <a:endParaRPr lang="en-US" sz="2200" dirty="0"/>
          </a:p>
        </p:txBody>
      </p:sp>
      <p:sp>
        <p:nvSpPr>
          <p:cNvPr id="13" name="Shape 11"/>
          <p:cNvSpPr/>
          <p:nvPr/>
        </p:nvSpPr>
        <p:spPr>
          <a:xfrm>
            <a:off x="658368" y="4535424"/>
            <a:ext cx="10872216" cy="7315"/>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4718304"/>
            <a:ext cx="10872216" cy="438912"/>
          </a:xfrm>
          <a:prstGeom prst="rect">
            <a:avLst/>
          </a:prstGeom>
          <a:noFill/>
          <a:ln/>
        </p:spPr>
        <p:txBody>
          <a:bodyPr wrap="square" lIns="0" tIns="0" rIns="0" bIns="0" rtlCol="0" anchor="t">
            <a:normAutofit/>
          </a:bodyPr>
          <a:lstStyle/>
          <a:p>
            <a:pPr indent="0" marL="0">
              <a:lnSpc>
                <a:spcPct val="120000"/>
              </a:lnSpc>
              <a:buNone/>
            </a:pPr>
            <a:r>
              <a:rPr lang="en-US" sz="2000" b="1" dirty="0">
                <a:solidFill>
                  <a:srgbClr val="0F2347"/>
                </a:solidFill>
                <a:latin typeface="DM Sans" pitchFamily="34" charset="0"/>
                <a:ea typeface="DM Sans" pitchFamily="34" charset="-122"/>
                <a:cs typeface="DM Sans" pitchFamily="34" charset="-120"/>
              </a:rPr>
              <a:t>You are reading a decision, not asking for approval of it.</a:t>
            </a:r>
            <a:endParaRPr lang="en-US" sz="2000" dirty="0"/>
          </a:p>
        </p:txBody>
      </p:sp>
      <p:sp>
        <p:nvSpPr>
          <p:cNvPr id="15" name="Text 13"/>
          <p:cNvSpPr/>
          <p:nvPr/>
        </p:nvSpPr>
        <p:spPr>
          <a:xfrm>
            <a:off x="658368" y="5193792"/>
            <a:ext cx="10872216" cy="438912"/>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I will say what I notice about the reasoning. I will not tell you whether to do it.</a:t>
            </a:r>
            <a:endParaRPr lang="en-US" sz="2000" dirty="0"/>
          </a:p>
        </p:txBody>
      </p:sp>
      <p:sp>
        <p:nvSpPr>
          <p:cNvPr id="16" name="Shape 14"/>
          <p:cNvSpPr/>
          <p:nvPr/>
        </p:nvSpPr>
        <p:spPr>
          <a:xfrm>
            <a:off x="658368" y="5724144"/>
            <a:ext cx="10872216" cy="10973"/>
          </a:xfrm>
          <a:prstGeom prst="rect">
            <a:avLst/>
          </a:prstGeom>
          <a:solidFill>
            <a:srgbClr val="E8DFCC"/>
          </a:solidFill>
          <a:ln w="12700">
            <a:solidFill>
              <a:srgbClr val="333333"/>
            </a:solidFill>
            <a:prstDash val="solid"/>
          </a:ln>
        </p:spPr>
        <p:txBody>
          <a:bodyPr>
            <a:normAutofit/>
          </a:bodyPr>
          <a:p/>
        </p:txBody>
      </p:sp>
      <p:sp>
        <p:nvSpPr>
          <p:cNvPr id="17" name="Text 15"/>
          <p:cNvSpPr/>
          <p:nvPr/>
        </p:nvSpPr>
        <p:spPr>
          <a:xfrm>
            <a:off x="658368" y="5870448"/>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Hearing others can help you test whether yours is specific enough.</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39</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CLOSE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Where you go from here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Three things. Everything here is already yours.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38528"/>
            <a:ext cx="10872216" cy="347472"/>
          </a:xfrm>
          <a:prstGeom prst="rect">
            <a:avLst/>
          </a:prstGeom>
          <a:noFill/>
          <a:ln/>
        </p:spPr>
        <p:txBody>
          <a:bodyPr wrap="square" lIns="0" tIns="0" rIns="0" bIns="0" rtlCol="0" anchor="t">
            <a:normAutofit/>
          </a:bodyPr>
          <a:lstStyle/>
          <a:p>
            <a:pPr indent="0" marL="0">
              <a:buNone/>
            </a:pPr>
            <a:r>
              <a:rPr lang="en-US" sz="2100" b="1" dirty="0">
                <a:solidFill>
                  <a:srgbClr val="0F2347"/>
                </a:solidFill>
                <a:latin typeface="DM Sans" pitchFamily="34" charset="0"/>
                <a:ea typeface="DM Sans" pitchFamily="34" charset="-122"/>
                <a:cs typeface="DM Sans" pitchFamily="34" charset="-120"/>
              </a:rPr>
              <a:t>Your Field Kit</a:t>
            </a:r>
            <a:endParaRPr lang="en-US" sz="2100" dirty="0"/>
          </a:p>
        </p:txBody>
      </p:sp>
      <p:sp>
        <p:nvSpPr>
          <p:cNvPr id="9" name="Text 7"/>
          <p:cNvSpPr/>
          <p:nvPr/>
        </p:nvSpPr>
        <p:spPr>
          <a:xfrm>
            <a:off x="658368" y="23408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Yours now, unlocked today. Section 5 works out what your state costs in your own numbers. Section 7 is your rescore.</a:t>
            </a:r>
            <a:endParaRPr lang="en-US" sz="1600" dirty="0"/>
          </a:p>
        </p:txBody>
      </p:sp>
      <p:sp>
        <p:nvSpPr>
          <p:cNvPr id="10" name="Text 8"/>
          <p:cNvSpPr/>
          <p:nvPr/>
        </p:nvSpPr>
        <p:spPr>
          <a:xfrm>
            <a:off x="658368" y="2962656"/>
            <a:ext cx="10872216" cy="219456"/>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INCLUDED · UNLOCKED TODAY</a:t>
            </a:r>
            <a:endParaRPr lang="en-US" sz="900" dirty="0"/>
          </a:p>
        </p:txBody>
      </p:sp>
      <p:sp>
        <p:nvSpPr>
          <p:cNvPr id="11" name="Text 9"/>
          <p:cNvSpPr/>
          <p:nvPr/>
        </p:nvSpPr>
        <p:spPr>
          <a:xfrm>
            <a:off x="658368" y="3236976"/>
            <a:ext cx="10872216" cy="347472"/>
          </a:xfrm>
          <a:prstGeom prst="rect">
            <a:avLst/>
          </a:prstGeom>
          <a:noFill/>
          <a:ln/>
        </p:spPr>
        <p:txBody>
          <a:bodyPr wrap="square" lIns="0" tIns="0" rIns="0" bIns="0" rtlCol="0" anchor="t">
            <a:normAutofit/>
          </a:bodyPr>
          <a:lstStyle/>
          <a:p>
            <a:pPr indent="0" marL="0">
              <a:buNone/>
            </a:pPr>
            <a:r>
              <a:rPr lang="en-US" sz="2100" b="1" dirty="0">
                <a:solidFill>
                  <a:srgbClr val="0F2347"/>
                </a:solidFill>
                <a:latin typeface="DM Sans" pitchFamily="34" charset="0"/>
                <a:ea typeface="DM Sans" pitchFamily="34" charset="-122"/>
                <a:cs typeface="DM Sans" pitchFamily="34" charset="-120"/>
              </a:rPr>
              <a:t>The thirty-day evidence process</a:t>
            </a:r>
            <a:endParaRPr lang="en-US" sz="2100" dirty="0"/>
          </a:p>
        </p:txBody>
      </p:sp>
      <p:sp>
        <p:nvSpPr>
          <p:cNvPr id="12" name="Text 10"/>
          <p:cNvSpPr/>
          <p:nvPr/>
        </p:nvSpPr>
        <p:spPr>
          <a:xfrm>
            <a:off x="658368" y="3639312"/>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One line a week, workbook page 23. You will get one short set of questions on day thirty.</a:t>
            </a:r>
            <a:endParaRPr lang="en-US" sz="1600" dirty="0"/>
          </a:p>
        </p:txBody>
      </p:sp>
      <p:sp>
        <p:nvSpPr>
          <p:cNvPr id="13" name="Text 11"/>
          <p:cNvSpPr/>
          <p:nvPr/>
        </p:nvSpPr>
        <p:spPr>
          <a:xfrm>
            <a:off x="658368" y="4261104"/>
            <a:ext cx="10872216" cy="219456"/>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WORKBOOK PAGE 23</a:t>
            </a:r>
            <a:endParaRPr lang="en-US" sz="900" dirty="0"/>
          </a:p>
        </p:txBody>
      </p:sp>
      <p:sp>
        <p:nvSpPr>
          <p:cNvPr id="14" name="Text 12"/>
          <p:cNvSpPr/>
          <p:nvPr/>
        </p:nvSpPr>
        <p:spPr>
          <a:xfrm>
            <a:off x="658368" y="4535424"/>
            <a:ext cx="10872216" cy="347472"/>
          </a:xfrm>
          <a:prstGeom prst="rect">
            <a:avLst/>
          </a:prstGeom>
          <a:noFill/>
          <a:ln/>
        </p:spPr>
        <p:txBody>
          <a:bodyPr wrap="square" lIns="0" tIns="0" rIns="0" bIns="0" rtlCol="0" anchor="t">
            <a:normAutofit/>
          </a:bodyPr>
          <a:lstStyle/>
          <a:p>
            <a:pPr indent="0" marL="0">
              <a:buNone/>
            </a:pPr>
            <a:r>
              <a:rPr lang="en-US" sz="2100" b="1" dirty="0">
                <a:solidFill>
                  <a:srgbClr val="0F2347"/>
                </a:solidFill>
                <a:latin typeface="DM Sans" pitchFamily="34" charset="0"/>
                <a:ea typeface="DM Sans" pitchFamily="34" charset="-122"/>
                <a:cs typeface="DM Sans" pitchFamily="34" charset="-120"/>
              </a:rPr>
              <a:t>The ninety-day rescore</a:t>
            </a:r>
            <a:endParaRPr lang="en-US" sz="2100" dirty="0"/>
          </a:p>
        </p:txBody>
      </p:sp>
      <p:sp>
        <p:nvSpPr>
          <p:cNvPr id="15" name="Text 13"/>
          <p:cNvSpPr/>
          <p:nvPr/>
        </p:nvSpPr>
        <p:spPr>
          <a:xfrm>
            <a:off x="658368" y="493776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Section 7 of your Field Kit, the Quarterly Loop. It runs the same evidence process you were taught today. Put the date in line 10 before you leave.</a:t>
            </a:r>
            <a:endParaRPr lang="en-US" sz="1600" dirty="0"/>
          </a:p>
        </p:txBody>
      </p:sp>
      <p:sp>
        <p:nvSpPr>
          <p:cNvPr id="16" name="Text 14"/>
          <p:cNvSpPr/>
          <p:nvPr/>
        </p:nvSpPr>
        <p:spPr>
          <a:xfrm>
            <a:off x="658368" y="5559552"/>
            <a:ext cx="10872216" cy="219456"/>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YOUR FIELD KIT · SECTION 7</a:t>
            </a:r>
            <a:endParaRPr lang="en-US" sz="900" dirty="0"/>
          </a:p>
        </p:txBody>
      </p:sp>
      <p:sp>
        <p:nvSpPr>
          <p:cNvPr id="17" name="Shape 15"/>
          <p:cNvSpPr/>
          <p:nvPr/>
        </p:nvSpPr>
        <p:spPr>
          <a:xfrm>
            <a:off x="658368" y="5779008"/>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925312"/>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Nothing here is withheld. Today’s read is complete on its own.</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40</a:t>
            </a:r>
            <a:endParaRPr lang="en-US" sz="900" dirty="0"/>
          </a:p>
        </p:txBody>
      </p:sp>
      <p:sp>
        <p:nvSpPr>
          <p:cNvPr id="4" name="Text 2"/>
          <p:cNvSpPr/>
          <p:nvPr/>
        </p:nvSpPr>
        <p:spPr>
          <a:xfrm>
            <a:off x="658368" y="1965960"/>
            <a:ext cx="10872216" cy="365760"/>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BEFORE YOU GO</a:t>
            </a:r>
            <a:endParaRPr lang="en-US" sz="1300" dirty="0"/>
          </a:p>
        </p:txBody>
      </p:sp>
      <p:sp>
        <p:nvSpPr>
          <p:cNvPr id="5" name="Text 3"/>
          <p:cNvSpPr/>
          <p:nvPr/>
        </p:nvSpPr>
        <p:spPr>
          <a:xfrm>
            <a:off x="658368" y="2377440"/>
            <a:ext cx="9692640" cy="1463040"/>
          </a:xfrm>
          <a:prstGeom prst="rect">
            <a:avLst/>
          </a:prstGeom>
          <a:noFill/>
          <a:ln/>
        </p:spPr>
        <p:txBody>
          <a:bodyPr wrap="square" lIns="0" tIns="0" rIns="0" bIns="0" rtlCol="0" anchor="t">
            <a:normAutofit/>
          </a:bodyPr>
          <a:lstStyle/>
          <a:p>
            <a:pPr indent="0" marL="0">
              <a:lnSpc>
                <a:spcPct val="115000"/>
              </a:lnSpc>
              <a:buNone/>
            </a:pPr>
            <a:r>
              <a:rPr lang="en-US" sz="4400" dirty="0">
                <a:solidFill>
                  <a:srgbClr val="FFFFFF"/>
                </a:solidFill>
                <a:latin typeface="Cormorant Garamond" pitchFamily="34" charset="0"/>
                <a:ea typeface="Cormorant Garamond" pitchFamily="34" charset="-122"/>
                <a:cs typeface="Cormorant Garamond" pitchFamily="34" charset="-120"/>
              </a:rPr>
              <a:t>You have read your position.</a:t>
            </a:r>
            <a:endParaRPr lang="en-US" sz="4400" dirty="0"/>
          </a:p>
          <a:p>
            <a:pPr indent="0" marL="0">
              <a:lnSpc>
                <a:spcPct val="115000"/>
              </a:lnSpc>
              <a:buNone/>
            </a:pPr>
            <a:r>
              <a:rPr lang="en-US" sz="4400" dirty="0">
                <a:solidFill>
                  <a:srgbClr val="FFFFFF"/>
                </a:solidFill>
                <a:latin typeface="Cormorant Garamond" pitchFamily="34" charset="0"/>
                <a:ea typeface="Cormorant Garamond" pitchFamily="34" charset="-122"/>
                <a:cs typeface="Cormorant Garamond" pitchFamily="34" charset="-120"/>
              </a:rPr>
              <a:t>The move is the next conversation.</a:t>
            </a:r>
            <a:endParaRPr lang="en-US" sz="4400" dirty="0"/>
          </a:p>
        </p:txBody>
      </p:sp>
      <p:sp>
        <p:nvSpPr>
          <p:cNvPr id="6" name="Text 4"/>
          <p:cNvSpPr/>
          <p:nvPr/>
        </p:nvSpPr>
        <p:spPr>
          <a:xfrm>
            <a:off x="658368" y="4297680"/>
            <a:ext cx="8476488" cy="91440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A9B8D0"/>
                </a:solidFill>
                <a:latin typeface="DM Sans" pitchFamily="34" charset="0"/>
                <a:ea typeface="DM Sans" pitchFamily="34" charset="-122"/>
                <a:cs typeface="DM Sans" pitchFamily="34" charset="-120"/>
              </a:rPr>
              <a:t>Put a rescore date ninety days out before you close the workbook. When your reading changes, notice what changed. Share it only if you choose.</a:t>
            </a:r>
            <a:endParaRPr lang="en-US" sz="2000" dirty="0"/>
          </a:p>
        </p:txBody>
      </p:sp>
      <p:sp>
        <p:nvSpPr>
          <p:cNvPr id="7" name="Shape 5"/>
          <p:cNvSpPr/>
          <p:nvPr/>
        </p:nvSpPr>
        <p:spPr>
          <a:xfrm>
            <a:off x="9930384" y="4297680"/>
            <a:ext cx="466344" cy="466344"/>
          </a:xfrm>
          <a:prstGeom prst="rect">
            <a:avLst/>
          </a:prstGeom>
          <a:solidFill>
            <a:srgbClr val="0F2347"/>
          </a:solidFill>
          <a:ln w="12700">
            <a:solidFill>
              <a:srgbClr val="C9A84C"/>
            </a:solidFill>
            <a:prstDash val="solid"/>
          </a:ln>
        </p:spPr>
        <p:txBody>
          <a:bodyPr>
            <a:normAutofit/>
          </a:bodyPr>
          <a:p/>
        </p:txBody>
      </p:sp>
      <p:sp>
        <p:nvSpPr>
          <p:cNvPr id="8" name="Shape 6"/>
          <p:cNvSpPr/>
          <p:nvPr/>
        </p:nvSpPr>
        <p:spPr>
          <a:xfrm>
            <a:off x="10396728" y="4297680"/>
            <a:ext cx="466344" cy="466344"/>
          </a:xfrm>
          <a:prstGeom prst="rect">
            <a:avLst/>
          </a:prstGeom>
          <a:solidFill>
            <a:srgbClr val="C1440E"/>
          </a:solidFill>
          <a:ln w="12700">
            <a:solidFill>
              <a:srgbClr val="C9A84C"/>
            </a:solidFill>
            <a:prstDash val="solid"/>
          </a:ln>
        </p:spPr>
        <p:txBody>
          <a:bodyPr>
            <a:normAutofit/>
          </a:bodyPr>
          <a:p/>
        </p:txBody>
      </p:sp>
      <p:sp>
        <p:nvSpPr>
          <p:cNvPr id="9" name="Shape 7"/>
          <p:cNvSpPr/>
          <p:nvPr/>
        </p:nvSpPr>
        <p:spPr>
          <a:xfrm>
            <a:off x="9930384" y="4764024"/>
            <a:ext cx="466344" cy="466344"/>
          </a:xfrm>
          <a:prstGeom prst="rect">
            <a:avLst/>
          </a:prstGeom>
          <a:solidFill>
            <a:srgbClr val="0F2347"/>
          </a:solidFill>
          <a:ln w="12700">
            <a:solidFill>
              <a:srgbClr val="C9A84C"/>
            </a:solidFill>
            <a:prstDash val="solid"/>
          </a:ln>
        </p:spPr>
        <p:txBody>
          <a:bodyPr>
            <a:normAutofit/>
          </a:bodyPr>
          <a:p/>
        </p:txBody>
      </p:sp>
      <p:sp>
        <p:nvSpPr>
          <p:cNvPr id="10" name="Shape 8"/>
          <p:cNvSpPr/>
          <p:nvPr/>
        </p:nvSpPr>
        <p:spPr>
          <a:xfrm>
            <a:off x="10396728" y="4764024"/>
            <a:ext cx="466344" cy="466344"/>
          </a:xfrm>
          <a:prstGeom prst="rect">
            <a:avLst/>
          </a:prstGeom>
          <a:solidFill>
            <a:srgbClr val="0F2347"/>
          </a:solidFill>
          <a:ln w="12700">
            <a:solidFill>
              <a:srgbClr val="C9A84C"/>
            </a:solidFill>
            <a:prstDash val="solid"/>
          </a:ln>
        </p:spPr>
        <p:txBody>
          <a:bodyPr>
            <a:normAutofit/>
          </a:body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APPENDIX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Position Exposure Signals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Questions to investigate, not predictions.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883664"/>
            <a:ext cx="5294376"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YOUR CURRENT ROLE</a:t>
            </a:r>
            <a:endParaRPr lang="en-US" sz="1100" dirty="0"/>
          </a:p>
        </p:txBody>
      </p:sp>
      <p:sp>
        <p:nvSpPr>
          <p:cNvPr id="9" name="Text 7"/>
          <p:cNvSpPr/>
          <p:nvPr/>
        </p:nvSpPr>
        <p:spPr>
          <a:xfrm>
            <a:off x="6236208" y="1883664"/>
            <a:ext cx="5294376"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A ROLE OR ORGANISATION YOU ARE CONSIDERING</a:t>
            </a:r>
            <a:endParaRPr lang="en-US" sz="1100" dirty="0"/>
          </a:p>
        </p:txBody>
      </p:sp>
      <p:sp>
        <p:nvSpPr>
          <p:cNvPr id="10" name="Text 8"/>
          <p:cNvSpPr/>
          <p:nvPr/>
        </p:nvSpPr>
        <p:spPr>
          <a:xfrm>
            <a:off x="658368" y="2194560"/>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the mandate being absorbed, narrowed, duplicated or repeatedly redefined?</a:t>
            </a:r>
            <a:endParaRPr lang="en-US" sz="1700" dirty="0"/>
          </a:p>
        </p:txBody>
      </p:sp>
      <p:sp>
        <p:nvSpPr>
          <p:cNvPr id="11" name="Text 9"/>
          <p:cNvSpPr/>
          <p:nvPr/>
        </p:nvSpPr>
        <p:spPr>
          <a:xfrm>
            <a:off x="658368" y="2871216"/>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Does the position depend on one sponsor?</a:t>
            </a:r>
            <a:endParaRPr lang="en-US" sz="1700" dirty="0"/>
          </a:p>
        </p:txBody>
      </p:sp>
      <p:sp>
        <p:nvSpPr>
          <p:cNvPr id="12" name="Text 10"/>
          <p:cNvSpPr/>
          <p:nvPr/>
        </p:nvSpPr>
        <p:spPr>
          <a:xfrm>
            <a:off x="658368" y="3547872"/>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most of the value legible only inside one context?</a:t>
            </a:r>
            <a:endParaRPr lang="en-US" sz="1700" dirty="0"/>
          </a:p>
        </p:txBody>
      </p:sp>
      <p:sp>
        <p:nvSpPr>
          <p:cNvPr id="13" name="Text 11"/>
          <p:cNvSpPr/>
          <p:nvPr/>
        </p:nvSpPr>
        <p:spPr>
          <a:xfrm>
            <a:off x="658368" y="4224528"/>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the work becoming less formative while expectations remain high?</a:t>
            </a:r>
            <a:endParaRPr lang="en-US" sz="1700" dirty="0"/>
          </a:p>
        </p:txBody>
      </p:sp>
      <p:sp>
        <p:nvSpPr>
          <p:cNvPr id="14" name="Text 12"/>
          <p:cNvSpPr/>
          <p:nvPr/>
        </p:nvSpPr>
        <p:spPr>
          <a:xfrm>
            <a:off x="658368" y="4901184"/>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the organisation redesigning the work without a clear future role for the capability?</a:t>
            </a:r>
            <a:endParaRPr lang="en-US" sz="1700" dirty="0"/>
          </a:p>
        </p:txBody>
      </p:sp>
      <p:sp>
        <p:nvSpPr>
          <p:cNvPr id="15" name="Text 13"/>
          <p:cNvSpPr/>
          <p:nvPr/>
        </p:nvSpPr>
        <p:spPr>
          <a:xfrm>
            <a:off x="6236208" y="2194560"/>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Why is the role open?</a:t>
            </a:r>
            <a:endParaRPr lang="en-US" sz="1700" dirty="0"/>
          </a:p>
        </p:txBody>
      </p:sp>
      <p:sp>
        <p:nvSpPr>
          <p:cNvPr id="16" name="Text 14"/>
          <p:cNvSpPr/>
          <p:nvPr/>
        </p:nvSpPr>
        <p:spPr>
          <a:xfrm>
            <a:off x="6236208" y="2871216"/>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What work has been added, removed or consolidated in the past year?</a:t>
            </a:r>
            <a:endParaRPr lang="en-US" sz="1700" dirty="0"/>
          </a:p>
        </p:txBody>
      </p:sp>
      <p:sp>
        <p:nvSpPr>
          <p:cNvPr id="17" name="Text 15"/>
          <p:cNvSpPr/>
          <p:nvPr/>
        </p:nvSpPr>
        <p:spPr>
          <a:xfrm>
            <a:off x="6236208" y="3547872"/>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Who can distinguish excellent work from adequate work?</a:t>
            </a:r>
            <a:endParaRPr lang="en-US" sz="1700" dirty="0"/>
          </a:p>
        </p:txBody>
      </p:sp>
      <p:sp>
        <p:nvSpPr>
          <p:cNvPr id="18" name="Text 16"/>
          <p:cNvSpPr/>
          <p:nvPr/>
        </p:nvSpPr>
        <p:spPr>
          <a:xfrm>
            <a:off x="6236208" y="4224528"/>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Where have people in this role moved next?</a:t>
            </a:r>
            <a:endParaRPr lang="en-US" sz="1700" dirty="0"/>
          </a:p>
        </p:txBody>
      </p:sp>
      <p:sp>
        <p:nvSpPr>
          <p:cNvPr id="19" name="Text 17"/>
          <p:cNvSpPr/>
          <p:nvPr/>
        </p:nvSpPr>
        <p:spPr>
          <a:xfrm>
            <a:off x="6236208" y="4901184"/>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How is AI changing the actual work?</a:t>
            </a:r>
            <a:endParaRPr lang="en-US" sz="1700" dirty="0"/>
          </a:p>
        </p:txBody>
      </p:sp>
      <p:sp>
        <p:nvSpPr>
          <p:cNvPr id="20" name="Shape 18"/>
          <p:cNvSpPr/>
          <p:nvPr/>
        </p:nvSpPr>
        <p:spPr>
          <a:xfrm>
            <a:off x="658368" y="5632704"/>
            <a:ext cx="10872216" cy="10973"/>
          </a:xfrm>
          <a:prstGeom prst="rect">
            <a:avLst/>
          </a:prstGeom>
          <a:solidFill>
            <a:srgbClr val="E8DFCC"/>
          </a:solidFill>
          <a:ln w="12700">
            <a:solidFill>
              <a:srgbClr val="333333"/>
            </a:solidFill>
            <a:prstDash val="solid"/>
          </a:ln>
        </p:spPr>
        <p:txBody>
          <a:bodyPr>
            <a:normAutofit/>
          </a:bodyPr>
          <a:p/>
        </p:txBody>
      </p:sp>
      <p:sp>
        <p:nvSpPr>
          <p:cNvPr id="21" name="Text 19"/>
          <p:cNvSpPr/>
          <p:nvPr/>
        </p:nvSpPr>
        <p:spPr>
          <a:xfrm>
            <a:off x="658368" y="5724144"/>
            <a:ext cx="10872216" cy="420624"/>
          </a:xfrm>
          <a:prstGeom prst="rect">
            <a:avLst/>
          </a:prstGeom>
          <a:noFill/>
          <a:ln/>
        </p:spPr>
        <p:txBody>
          <a:bodyPr wrap="square" lIns="0" tIns="0" rIns="0" bIns="0" rtlCol="0" anchor="t">
            <a:normAutofit/>
          </a:bodyPr>
          <a:lstStyle/>
          <a:p>
            <a:pPr indent="0" marL="0">
              <a:buNone/>
            </a:pPr>
            <a:r>
              <a:rPr lang="en-US" sz="1500" b="1" dirty="0">
                <a:solidFill>
                  <a:srgbClr val="0F2347"/>
                </a:solidFill>
                <a:latin typeface="DM Sans" pitchFamily="34" charset="0"/>
                <a:ea typeface="DM Sans" pitchFamily="34" charset="-122"/>
                <a:cs typeface="DM Sans" pitchFamily="34" charset="-120"/>
              </a:rPr>
              <a:t>These signals do not predict a layoff. They identify questions that should be answered before you treat a position as secure.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APPENDIX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AI and Compounding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An application of the two axes. Not a technology session.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10872216" cy="109728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0F2347"/>
                </a:solidFill>
                <a:latin typeface="Cormorant Garamond" pitchFamily="34" charset="0"/>
                <a:ea typeface="Cormorant Garamond" pitchFamily="34" charset="-122"/>
                <a:cs typeface="Cormorant Garamond" pitchFamily="34" charset="-120"/>
              </a:rPr>
              <a:t>Where AI makes routine output easier to reproduce, your position depends more heavily on judgment, learning velocity, and capability that travels across unfamiliar problems.</a:t>
            </a:r>
            <a:endParaRPr lang="en-US" sz="2200" dirty="0"/>
          </a:p>
        </p:txBody>
      </p:sp>
      <p:sp>
        <p:nvSpPr>
          <p:cNvPr id="9" name="Shape 7"/>
          <p:cNvSpPr/>
          <p:nvPr/>
        </p:nvSpPr>
        <p:spPr>
          <a:xfrm>
            <a:off x="658368" y="3310128"/>
            <a:ext cx="10872216" cy="914400"/>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914400" y="3493008"/>
            <a:ext cx="10360152" cy="603504"/>
          </a:xfrm>
          <a:prstGeom prst="rect">
            <a:avLst/>
          </a:prstGeom>
          <a:noFill/>
          <a:ln/>
        </p:spPr>
        <p:txBody>
          <a:bodyPr wrap="square" lIns="0" tIns="0" rIns="0" bIns="0" rtlCol="0" anchor="t">
            <a:normAutofit/>
          </a:bodyPr>
          <a:lstStyle/>
          <a:p>
            <a:pPr indent="0" marL="0">
              <a:lnSpc>
                <a:spcPct val="115000"/>
              </a:lnSpc>
              <a:buNone/>
            </a:pPr>
            <a:r>
              <a:rPr lang="en-US" sz="2100" b="1" dirty="0">
                <a:solidFill>
                  <a:srgbClr val="0F2347"/>
                </a:solidFill>
                <a:latin typeface="DM Sans" pitchFamily="34" charset="0"/>
                <a:ea typeface="DM Sans" pitchFamily="34" charset="-122"/>
                <a:cs typeface="DM Sans" pitchFamily="34" charset="-120"/>
              </a:rPr>
              <a:t>AI does not create Compounding. It raises the cost of mistaking familiar output for growing capability.</a:t>
            </a:r>
            <a:endParaRPr lang="en-US" sz="2100" dirty="0"/>
          </a:p>
        </p:txBody>
      </p:sp>
      <p:sp>
        <p:nvSpPr>
          <p:cNvPr id="11" name="Text 9"/>
          <p:cNvSpPr/>
          <p:nvPr/>
        </p:nvSpPr>
        <p:spPr>
          <a:xfrm>
            <a:off x="658368" y="4443984"/>
            <a:ext cx="10872216" cy="822960"/>
          </a:xfrm>
          <a:prstGeom prst="rect">
            <a:avLst/>
          </a:prstGeom>
          <a:noFill/>
          <a:ln/>
        </p:spPr>
        <p:txBody>
          <a:bodyPr wrap="square" lIns="0" tIns="0" rIns="0" bIns="0" rtlCol="0" anchor="t">
            <a:normAutofit/>
          </a:bodyPr>
          <a:lstStyle/>
          <a:p>
            <a:pPr indent="0" marL="0">
              <a:lnSpc>
                <a:spcPct val="120000"/>
              </a:lnSpc>
              <a:buNone/>
            </a:pPr>
            <a:r>
              <a:rPr lang="en-US" sz="1900" dirty="0">
                <a:solidFill>
                  <a:srgbClr val="0F2347"/>
                </a:solidFill>
                <a:latin typeface="DM Sans" pitchFamily="34" charset="0"/>
                <a:ea typeface="DM Sans" pitchFamily="34" charset="-122"/>
                <a:cs typeface="DM Sans" pitchFamily="34" charset="-120"/>
              </a:rPr>
              <a:t>Read it through the statements you already scored: statement 1 for unfamiliar problems, statement 5 for the edge of competence, statement 11 for what transfers.</a:t>
            </a:r>
            <a:endParaRPr lang="en-US" sz="1900" dirty="0"/>
          </a:p>
        </p:txBody>
      </p:sp>
      <p:sp>
        <p:nvSpPr>
          <p:cNvPr id="12" name="Shape 10"/>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Take-home prompt on workbook page 25: which part of your output is becoming easier to reproduce, and which part of your work is deepening judgment another context would value?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APPENDIX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An application of the second move category. Not part of the timed core.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10872216" cy="859536"/>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Legibility is not bragging. It is evidence translated into language another context can understand.</a:t>
            </a:r>
            <a:endParaRPr lang="en-US" sz="2400" dirty="0"/>
          </a:p>
        </p:txBody>
      </p:sp>
      <p:sp>
        <p:nvSpPr>
          <p:cNvPr id="9" name="Shape 7"/>
          <p:cNvSpPr/>
          <p:nvPr/>
        </p:nvSpPr>
        <p:spPr>
          <a:xfrm>
            <a:off x="658368" y="3017520"/>
            <a:ext cx="3438144" cy="1463040"/>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877824" y="3200400"/>
            <a:ext cx="2999232" cy="31089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The problem</a:t>
            </a:r>
            <a:endParaRPr lang="en-US" sz="1900" dirty="0"/>
          </a:p>
        </p:txBody>
      </p:sp>
      <p:sp>
        <p:nvSpPr>
          <p:cNvPr id="11" name="Text 9"/>
          <p:cNvSpPr/>
          <p:nvPr/>
        </p:nvSpPr>
        <p:spPr>
          <a:xfrm>
            <a:off x="877824" y="3566160"/>
            <a:ext cx="2999232"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was actually hard, stated without your job title.</a:t>
            </a:r>
            <a:endParaRPr lang="en-US" sz="1600" dirty="0"/>
          </a:p>
        </p:txBody>
      </p:sp>
      <p:sp>
        <p:nvSpPr>
          <p:cNvPr id="12" name="Shape 10"/>
          <p:cNvSpPr/>
          <p:nvPr/>
        </p:nvSpPr>
        <p:spPr>
          <a:xfrm>
            <a:off x="4315968" y="3017520"/>
            <a:ext cx="3438144" cy="1463040"/>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4535424" y="3200400"/>
            <a:ext cx="2999232" cy="31089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The outcome</a:t>
            </a:r>
            <a:endParaRPr lang="en-US" sz="1900" dirty="0"/>
          </a:p>
        </p:txBody>
      </p:sp>
      <p:sp>
        <p:nvSpPr>
          <p:cNvPr id="14" name="Text 12"/>
          <p:cNvSpPr/>
          <p:nvPr/>
        </p:nvSpPr>
        <p:spPr>
          <a:xfrm>
            <a:off x="4535424" y="3566160"/>
            <a:ext cx="2999232"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changed, in terms someone outside can weigh.</a:t>
            </a:r>
            <a:endParaRPr lang="en-US" sz="1600" dirty="0"/>
          </a:p>
        </p:txBody>
      </p:sp>
      <p:sp>
        <p:nvSpPr>
          <p:cNvPr id="15" name="Shape 13"/>
          <p:cNvSpPr/>
          <p:nvPr/>
        </p:nvSpPr>
        <p:spPr>
          <a:xfrm>
            <a:off x="7973568" y="3017520"/>
            <a:ext cx="3438144" cy="1463040"/>
          </a:xfrm>
          <a:prstGeom prst="rect">
            <a:avLst/>
          </a:prstGeom>
          <a:solidFill>
            <a:srgbClr val="FFFFFF"/>
          </a:solidFill>
          <a:ln w="12700">
            <a:solidFill>
              <a:srgbClr val="E8DFCC"/>
            </a:solidFill>
            <a:prstDash val="solid"/>
          </a:ln>
        </p:spPr>
        <p:txBody>
          <a:bodyPr>
            <a:normAutofit/>
          </a:bodyPr>
          <a:p/>
        </p:txBody>
      </p:sp>
      <p:sp>
        <p:nvSpPr>
          <p:cNvPr id="16" name="Text 14"/>
          <p:cNvSpPr/>
          <p:nvPr/>
        </p:nvSpPr>
        <p:spPr>
          <a:xfrm>
            <a:off x="8193024" y="3200400"/>
            <a:ext cx="2999232" cy="31089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The capability</a:t>
            </a:r>
            <a:endParaRPr lang="en-US" sz="1900" dirty="0"/>
          </a:p>
        </p:txBody>
      </p:sp>
      <p:sp>
        <p:nvSpPr>
          <p:cNvPr id="17" name="Text 15"/>
          <p:cNvSpPr/>
          <p:nvPr/>
        </p:nvSpPr>
        <p:spPr>
          <a:xfrm>
            <a:off x="8193024" y="3566160"/>
            <a:ext cx="2999232"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the work formed in you that would travel.</a:t>
            </a:r>
            <a:endParaRPr lang="en-US" sz="1600" dirty="0"/>
          </a:p>
        </p:txBody>
      </p:sp>
      <p:sp>
        <p:nvSpPr>
          <p:cNvPr id="18" name="Text 16"/>
          <p:cNvSpPr/>
          <p:nvPr/>
        </p:nvSpPr>
        <p:spPr>
          <a:xfrm>
            <a:off x="658368" y="4718304"/>
            <a:ext cx="10872216" cy="548640"/>
          </a:xfrm>
          <a:prstGeom prst="rect">
            <a:avLst/>
          </a:prstGeom>
          <a:noFill/>
          <a:ln/>
        </p:spPr>
        <p:txBody>
          <a:bodyPr wrap="square" lIns="0" tIns="0" rIns="0" bIns="0" rtlCol="0" anchor="t">
            <a:normAutofit/>
          </a:bodyPr>
          <a:lstStyle/>
          <a:p>
            <a:pPr indent="0" marL="0">
              <a:lnSpc>
                <a:spcPct val="120000"/>
              </a:lnSpc>
              <a:buNone/>
            </a:pPr>
            <a:r>
              <a:rPr lang="en-US" sz="2100" b="1" dirty="0">
                <a:solidFill>
                  <a:srgbClr val="0F2347"/>
                </a:solidFill>
                <a:latin typeface="DM Sans" pitchFamily="34" charset="0"/>
                <a:ea typeface="DM Sans" pitchFamily="34" charset="-122"/>
                <a:cs typeface="DM Sans" pitchFamily="34" charset="-120"/>
              </a:rPr>
              <a:t>You do not need louder confidence. You need claims that can survive evidence.</a:t>
            </a:r>
            <a:endParaRPr lang="en-US" sz="2100" dirty="0"/>
          </a:p>
        </p:txBody>
      </p:sp>
      <p:sp>
        <p:nvSpPr>
          <p:cNvPr id="19" name="Shape 17"/>
          <p:cNvSpPr/>
          <p:nvPr/>
        </p:nvSpPr>
        <p:spPr>
          <a:xfrm>
            <a:off x="658368" y="5468112"/>
            <a:ext cx="10872216" cy="10973"/>
          </a:xfrm>
          <a:prstGeom prst="rect">
            <a:avLst/>
          </a:prstGeom>
          <a:solidFill>
            <a:srgbClr val="E8DFCC"/>
          </a:solidFill>
          <a:ln w="12700">
            <a:solidFill>
              <a:srgbClr val="333333"/>
            </a:solidFill>
            <a:prstDash val="solid"/>
          </a:ln>
        </p:spPr>
        <p:txBody>
          <a:bodyPr>
            <a:normAutofit/>
          </a:bodyPr>
          <a:p/>
        </p:txBody>
      </p:sp>
      <p:sp>
        <p:nvSpPr>
          <p:cNvPr id="20" name="Text 18"/>
          <p:cNvSpPr/>
          <p:nvPr/>
        </p:nvSpPr>
        <p:spPr>
          <a:xfrm>
            <a:off x="658368" y="5614416"/>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Take-home prompt on workbook page 25.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I Stay or Should I Move? A Live Capability Position Read</dc:title>
  <dc:subject>Capability Formation Instrument Version 1.1 · Workshop Deck v4.7</dc:subject>
  <dc:creator>Temidayo Afonja</dc:creator>
  <cp:lastModifiedBy>Temidayo Afonja</cp:lastModifiedBy>
  <cp:revision>1</cp:revision>
  <dcterms:created xsi:type="dcterms:W3CDTF">2026-08-01T20:02:22Z</dcterms:created>
  <dcterms:modified xsi:type="dcterms:W3CDTF">2026-08-01T20:02:22Z</dcterms:modified>
</cp:coreProperties>
</file>