
<file path=[Content_Types].xml><?xml version="1.0" encoding="utf-8"?>
<Types xmlns="http://schemas.openxmlformats.org/package/2006/content-types">
  <Default Extension="rels" ContentType="application/vnd.openxmlformats-package.relationships+xml"/>
  <Default Extension="fntdata" ContentType="application/x-fontdata"/>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extended-properties" Target="docProps/app.xml"/><Relationship Id="rId2" Type="http://schemas.openxmlformats.org/package/2006/relationships/metadata/core-properties" Target="docProps/core.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0" embedTrueType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98" r:id="rId4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Lst>
  <p:notesMasterIdLst>
    <p:notesMasterId r:id="rId44"/>
  </p:notesMasterIdLst>
  <p:sldSz cx="12192000" cy="6858000"/>
  <p:notesSz cx="6858000" cy="12192000"/>
  <p:embeddedFontLst>
    <p:embeddedFont>
      <p:font typeface="DM Sans"/>
      <p:regular r:id="rId50"/>
      <p:bold r:id="rId51"/>
    </p:embeddedFont>
    <p:embeddedFont>
      <p:font typeface="Cormorant Garamond"/>
      <p:regular r:id="rId5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20.xml"/><Relationship Id="rId21" Type="http://schemas.openxmlformats.org/officeDocument/2006/relationships/slide" Target="slides/slide21.xml"/><Relationship Id="rId22" Type="http://schemas.openxmlformats.org/officeDocument/2006/relationships/slide" Target="slides/slide22.xml"/><Relationship Id="rId23" Type="http://schemas.openxmlformats.org/officeDocument/2006/relationships/slide" Target="slides/slide23.xml"/><Relationship Id="rId24" Type="http://schemas.openxmlformats.org/officeDocument/2006/relationships/slide" Target="slides/slide24.xml"/><Relationship Id="rId25" Type="http://schemas.openxmlformats.org/officeDocument/2006/relationships/slide" Target="slides/slide25.xml"/><Relationship Id="rId26" Type="http://schemas.openxmlformats.org/officeDocument/2006/relationships/slide" Target="slides/slide26.xml"/><Relationship Id="rId27" Type="http://schemas.openxmlformats.org/officeDocument/2006/relationships/slide" Target="slides/slide27.xml"/><Relationship Id="rId28" Type="http://schemas.openxmlformats.org/officeDocument/2006/relationships/slide" Target="slides/slide28.xml"/><Relationship Id="rId29" Type="http://schemas.openxmlformats.org/officeDocument/2006/relationships/slide" Target="slides/slide29.xml"/><Relationship Id="rId30" Type="http://schemas.openxmlformats.org/officeDocument/2006/relationships/slide" Target="slides/slide30.xml"/><Relationship Id="rId31" Type="http://schemas.openxmlformats.org/officeDocument/2006/relationships/slide" Target="slides/slide31.xml"/><Relationship Id="rId32" Type="http://schemas.openxmlformats.org/officeDocument/2006/relationships/slide" Target="slides/slide32.xml"/><Relationship Id="rId33" Type="http://schemas.openxmlformats.org/officeDocument/2006/relationships/slide" Target="slides/slide33.xml"/><Relationship Id="rId34" Type="http://schemas.openxmlformats.org/officeDocument/2006/relationships/slide" Target="slides/slide34.xml"/><Relationship Id="rId35" Type="http://schemas.openxmlformats.org/officeDocument/2006/relationships/slide" Target="slides/slide35.xml"/><Relationship Id="rId36" Type="http://schemas.openxmlformats.org/officeDocument/2006/relationships/slide" Target="slides/slide36.xml"/><Relationship Id="rId37" Type="http://schemas.openxmlformats.org/officeDocument/2006/relationships/slide" Target="slides/slide37.xml"/><Relationship Id="rId38" Type="http://schemas.openxmlformats.org/officeDocument/2006/relationships/slide" Target="slides/slide38.xml"/><Relationship Id="rId39" Type="http://schemas.openxmlformats.org/officeDocument/2006/relationships/slide" Target="slides/slide39.xml"/><Relationship Id="rId40" Type="http://schemas.openxmlformats.org/officeDocument/2006/relationships/slide" Target="slides/slide40.xml"/><Relationship Id="rId41" Type="http://schemas.openxmlformats.org/officeDocument/2006/relationships/slide" Target="slides/slide41.xml"/><Relationship Id="rId42" Type="http://schemas.openxmlformats.org/officeDocument/2006/relationships/slide" Target="slides/slide42.xml"/><Relationship Id="rId43" Type="http://schemas.openxmlformats.org/officeDocument/2006/relationships/slide" Target="slides/slide43.xml"/><Relationship Id="rId44" Type="http://schemas.openxmlformats.org/officeDocument/2006/relationships/notesMaster" Target="notesMasters/notesMaster1.xml"/><Relationship Id="rId45" Type="http://schemas.openxmlformats.org/officeDocument/2006/relationships/presProps" Target="presProps.xml"/><Relationship Id="rId46" Type="http://schemas.openxmlformats.org/officeDocument/2006/relationships/viewProps" Target="viewProps.xml"/><Relationship Id="rId47" Type="http://schemas.openxmlformats.org/officeDocument/2006/relationships/theme" Target="theme/theme1.xml"/><Relationship Id="rId48" Type="http://schemas.openxmlformats.org/officeDocument/2006/relationships/tableStyles" Target="tableStyles.xml"/><Relationship Id="rId49" Type="http://schemas.openxmlformats.org/officeDocument/2006/relationships/slide" Target="slides/slide19.xml"/><Relationship Id="rId50" Type="http://schemas.openxmlformats.org/officeDocument/2006/relationships/font" Target="fonts/font1.fntdata"/><Relationship Id="rId51" Type="http://schemas.openxmlformats.org/officeDocument/2006/relationships/font" Target="fonts/font2.fntdata"/><Relationship Id="rId52" Type="http://schemas.openxmlformats.org/officeDocument/2006/relationships/font" Target="fonts/font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HOLDING SLIDE. 0:00. Segment 0–8.
Hold while people arrive. Do not open with the framework. Open with the room you were in.
The eighteen years and the programme figures belong in the spoken introduction only, framed as where the vantage comes from. They are never proof that a Capability Formation score moves.
PRE-SESSION INSTRUMENT VERSION CHECK: confirm before the room opens that the deck, the workbook and the Field Kit all read Capability Formation Instrument Version 1.1. If any asset reads a different version, stop and reconcile before delivery. Data from different versions does not merge. (The opening-story script carries its own document version number; that is not an instrument version and does not need to match.)
Ask the room as people join: who has already taken the Diagnostic? Those people rescore against the evidence protocol rather than recalling their previous number.
RECORDING BOUNDARY: if recording, capture teaching segments only. Live scoring, participant discussion, voluntary reads and working time are never recorded. State this out loud before you start.
Learner action: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 to 8. BOUNDARY.
Say the top line verbatim. People who came for permission to resign need to hear now that they will not get it here. People afraid of being told to leave need the same sentence.
Say the promise sentence exactly as written: this read helps you determine what your current environment is building in you, what remains portable, and what category of move your evidence supports testing. Do not paraphrase it into "what kind of move the evidence supports" or "the move your position requires".
State the recording boundary out loud even if you are not recording. It buys candour for the rest of the session.
Safety language to keep available all session: state is not identity, exposure is not ability, current conditions are not a permanent verdict.
Learner action: none. Workbook page 2 carries the same wording.
[v4.11 — moved from slide face] What you score today is a position you occupy, and positions change. You will leave with a provisional read of your current state and the category of move your evidence supports testing. The specific move needs a read of context a group room does not have. Recording: teaching segments only; scoring, discussion and writing time are never recorded.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0:00 to 3:00, inside the 0–8 segment. THE OPENING STORY. Spoken, never read from the screen. Company unnamed.</a:t>
            </a:r>
            <a:endParaRPr lang="en-US" dirty="0"/>
          </a:p>
          <a:p>
            <a:r>
              <a:t>Deliver only the cleared wording. Four optional beats remain unconfirmed — the exact public title, what was tested about portability, what was made deliberately visible outside, and any specific hindsight after the role ended. Omit any beat that is not yet cleared and let the story run shorter; never improvise around it or blend it into a cleared passage. The Story Evidence Table holds the line-by-line basis and status.</a:t>
            </a:r>
          </a:p>
          <a:p>
            <a:r>
              <a:t>THE GOVERNING FRAME. The four facts were real; the reading of what they protected was incomplete. Deliver them as things she believed, at the time, were evidence of security — not as things that objectively made the position secure. The correction is about the reading, not the facts.</a:t>
            </a:r>
          </a:p>
          <a:p>
            <a:r>
              <a:t>TONE: reflective in substance, restrained in delivery. Findings, not feelings. Short sentences. Not aggrieved, not therapeutic, not vindicating. If it sounds like processing rather than teaching, it has drifted.</a:t>
            </a:r>
          </a:p>
          <a:p>
            <a:r>
              <a:t>THE BEATS:</a:t>
            </a:r>
          </a:p>
          <a:p>
            <a:r>
              <a:t>Eighteen years on the institutional side: development reviews, promotion slates, restructuring lists.</a:t>
            </a:r>
          </a:p>
          <a:p>
            <a:r>
              <a:t>The remit: first person appointed into the remit and its sole holder. True of both the original global remit and the employee experience and belonging remit that followed. Describe the remit in general terms; do not name the title.</a:t>
            </a:r>
          </a:p>
          <a:p>
            <a:r>
              <a:t>The four reasons she believed the position was secure, said plainly and in order, without building them into a case: she was the first and sole holder of the remit; executives trusted her judgment and asked for her read; her results and reviews were strong; the work was tied to commitments the organisation had made internally and publicly. Say them as what she believed made it secure, not as proof that it was.</a:t>
            </a:r>
          </a:p>
          <a:p>
            <a:r>
              <a:t>The event, flat and once: “In March 2026, a reorganisation absorbed the function I led.” Do not pause for effect.</a:t>
            </a:r>
          </a:p>
          <a:p>
            <a:r>
              <a:t>The correction, said exactly: “Every one of those facts was still true when the role ended. None could prevent a structural decision.” and “My performance had shaped my standing. It had not insulated the role from a change in structure.” Do not say “not one of them was protective” and do not say security had never come from performance.</a:t>
            </a:r>
          </a:p>
          <a:p>
            <a:r>
              <a:t>The turn: eighteen years of knowing how institutions read people did not produce a clear reading of her own position; you cannot see the outside of a building you are standing inside.</a:t>
            </a:r>
          </a:p>
          <a:p>
            <a:r>
              <a:t>CLOSE, VERBATIM: “The room reads your position whether or not you have.”</a:t>
            </a:r>
          </a:p>
          <a:p>
            <a:r>
              <a:t>DO NOT: name the company; name individuals; allege motive; describe internal deliberations she did not attend; claim knowledge of alternatives considered, why the timing occurred, whether performance affected the decision, or whether the commitments were sincere; mention severance, negotiation or anyone else affected; diagnose which of the four states she was in; use grievance language.</a:t>
            </a:r>
          </a:p>
          <a:p>
            <a:r>
              <a:t>IF ASKED WHICH COMPANY: “I keep the company out of it. The point is not who did it.”</a:t>
            </a:r>
          </a:p>
          <a:p>
            <a:r>
              <a:t>This carries the authority load of the session, because retention, turnover and effectiveness figures are barred from serving as evidence that a Capability Formation score moves.</a:t>
            </a:r>
          </a:p>
          <a:p>
            <a:r>
              <a:t>If the room goes quiet after the close, let it.</a:t>
            </a:r>
          </a:p>
          <a:p>
            <a:r>
              <a:t>Learner action: none.</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 to 8. THE VANTAGE.
Section 4 of the Field Kit, compressed. It establishes authority without a single statistic.
Say the four questions slowly. Let the room notice that the performance rating is not among them.
DO NOT say these four questions are Density and Optionality. They are not. A person can be hard to replace because of undocumented process, company-specific knowledge, weak succession, bottleneck ownership or plain institutional dependency, and none of that means the environment is still forming deeper capability. Replaceability is not Density. Say the closing line as written.
Transition line into the next slide is on the slide: the room reads your position whether or not you have.
Learner action: none.
[v4.11 — moved from slide face] Full framing: these are questions institutional rooms often weigh; Density and Optionality read the formation and portability questions underneath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 to 8. THE REFRAME. This is the category-creation moment.
Do not disparage the stay-or-move question and do not tell the room they arrived with the wrong question. It is the right question. Honour it, then show the reading that sits under it.
Say it as: you are not wrong to be asking whether to stay. You are asking it without a reading of the position you would be staying in or leaving.
Likely resistance: someone wants a yes or no today. Name that openly and point back at the boundary slide by name.
Learner action: none.
[v4.11 — moved from slide face] It also outlasts whatever is in the headlines: this reads your position against the category of disruption rather than the current episode.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 to 8. ORIENTATION.
Telling them the sequence lowers resistance to being corrected later.
Say the number twelve out loud, twice. The full instrument is administered live on both passes. There is no proxy subset in this session.
Likely misconception: the first score is the answer. Say plainly that the first score is raw material and the second one is the reading.
Learner action: none. Workbook page 2.
[v4.11 — moved from slide face] Framing for the first number: it is the reading you would have carried into a decision this week.
[v4.11 — moved from slide face] Your first number is not a test you can fail. The word for what happens in between is calibration.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to 14. DEFINE, THEN CORRECT THE DEFINITION, THEN SCORE.
The definitional correction runs before the first score. If people score first and are corrected second, they defend the first number.
Name the misconception out loud the first time you say the word.
Learner action: none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to 14. DEFINE, CORRECT, THEN SCORE.
The misconception here is quieter than the Density one. People hear Optionality as recruiter interest. Correct it before scoring.
Useful line: an offer is an outcome of Optionality, not a measure of it.
Learner action: none yet.
[v4.11 — moved from slide face] Optionality is whether you could rebuild elsewhere, and whether the right people can already see why.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 to 14. BRIEF LIVE APPLICATION. Sixty to ninety seconds, taken from the definition block, not added to the session length.
Say both sentences and stop. Do not open a discussion about tools here; if one starts, park it for the appendix or Q&amp;A.
DO NOT: recommend AI tools, teach prompting, name vendors, or use future-proofing language. This is an application of Density and Optionality, and it stays inside that frame.
The appendix slide carries the fuller treatment. Workbook page 25 carries the take-home prompt.
Learner action: none.
[v4.11 — moved from slide face] That is a reason to read the two axes carefully; it is not a separate 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to 24. PASS ONE, BLOCK ONE OF FOUR. Roughly two and a half minutes.
DO NOT ASK FOR EVIDENCE. This is the uncalibrated baseline and the evidence protocol has not been taught yet. Asking for evidence here collapses the entire two-pass design.
DO NOT SIGNAL that the numbers are about to change. No "we'll see how accurate that was", no knowing smile. The baseline is contaminated the moment the room expects to be corrected.
If asked whether they should justify a score: "Not yet. Score it as you read it. We will come back to evidence, and you will keep this number."
Learner action: score statements 1 to 3 on workbook page 4. Scores stay private.
Resist filling the silence.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to 24. PASS ONE, BLOCK TWO OF FOUR. Roughly two and a half minutes.
Statement 6 asks them to compare against six months ago. Some will want to argue with the window. Hold it: the window is what keeps hope out of the number.
Still no evidence lines.
Learner action: score statements 4 to 6 on workbook page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to 24. Canonical axis score out of thirty. No fifteen-point subtotal exists in this build.
Do not collect these numbers. Private scoring produces more honest numbers.
If someone is on a laptop in Acrobat Reader, the total fills itself. If they are in a browser or on a phone, the fields still type but the total may not calculate; tell them to add the six by hand and keep going. Do not spend live time on viewer support.
Learner action: total six scores, write it down. Workbook page 4.
[v4.11 — moved from slide face] You will produce a second number later, on a different standard.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to 24. PASS ONE, BLOCK THREE OF FOUR. Roughly two and a half minutes.
Still no evidence lines.
Learner action: score statements 7 to 9 on workbook page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to 24. PASS ONE, BLOCK FOUR OF FOUR. Roughly two and a half minutes.
Do not characterise which statements commonly move. You have no pilot data and a stated expectation contaminates the result.
Learner action: score statements 10 to 12 on workbook page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 to 24.
That closing line matters. The first placement is not a warm-up; it is a record of the position they walked in with.
Learner action: total six scores. Workbook page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to 31.
The subtitle is the load-bearing sentence and it is deliberately not a claim about causation. Say it as written: your current state reveals a form of exposure your job title cannot. Do not say that your state determines your exposure.
Do not celebrate Compounding. The Field Kit case for that state is a person who thought it had nothing to tell them and was being passed over.
Learner action: none. Recognition should be quiet here.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to 31. PSYCHOLOGICAL SAFETY AND THE NINE-BOX. NEVER CUT UNDER TIME PRESSURE.
Every experienced participant has been rated on performance against potential in a talent review. A two-by-two with four named quadrants gets pattern-matched to that grid silently unless you kill the association out loud. Say the top line verbatim.
The fourth panel is load-bearing in Version 1.1. The two-pass design creates a risk the old design did not: participants concluding their first read was naive. Say it out loud. "Uncalibrated is not the same as wrong."
Expand each panel from the workbook wording on page 7; the slide carries the headline only.
ON THE OPTIONALITY PANEL, say it as written: a low Optionality score may reflect context-bound capability, weak translation, limited exposure, or a combination. It is not a verdict on ability or worth. Do NOT say it measures who has seen the work. Visibility alone does not create portability, and reducing the axis to visibility misreads half of it.
Someone in this room is about to discover that a successful role has stopped forming them. This slide is what keeps that discovery useful instead of shaming.
Learner action: none. Workbook page 7.
[v4.11 — moved from slide face] Fuller wording of the four distinctions is on workbook page 6 (safety page). State is not identity; people move between squares. A low Optionality score is not a verdict on ability or worth. Your first score is uncalibrated, not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 to 31. FIRST PLACEMENT. Ninety seconds.
ROOM-LEVEL COUNT, ANONYMOUS: run the four-square count through the anonymous method chosen and tested before the room opened. Never a show of hands, never a one-word response. The session promises private scoring, and a public reveal breaks that promise first for the person whose square nobody else is in.
Capture anonymized totals only. Do not record who is in which square.
Do NOT interpret the distribution and do NOT say one square is usually heavier.
Make sure they write the confidence number. It is easy to skip, and it is one of the things the second placement is compared against.
Say "provisional" out loud. Say "you will do this again" out loud. It is what stops the first placement being heard as the verdict.
Spoken line, not on the slide: small changes matter more near a boundary by construction, because a one-point move can cross the band.
Learner action: tick a square, write a confidence number. Workbook page 6.
Record the initial four-square count silently. Do not display, chart, or read out the initial state distribution until after the corrected placement.
[v4.11 — moved from slide face] Confidence is one number beside the square; it is compared against the second placement.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to 46. CALIBRATION SEGMENT OPENS.
Frame this as a competence problem rather than an honesty problem. Nobody in the room is lying. The instrument is simply hard to point at yourself.
Say what is coming: the evidence protocol, three misreadings, then they score all twelve again.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to 46. THE PROTOCOL. Read aloud BEFORE the second pass, never before the first.
This is where the old asymmetric rule died. Do NOT say "a 3 or higher without an instance drops to a 2" and do NOT say "a 1 or 2 needs no defence". Both are withdrawn under Instrument Version 1.1. They manufactured downward movement and contradicted the fact that capable people underrate themselves.
SAY THE LOW-SCORE SENTENCE OUT LOUD: "A low score needs evidence too. If you are going to write a 2, I want to know what happened instead. Otherwise you are not being rigorous, you are being modest, and modesty is not a reading."
SAY THE MARKER SENTENCE OUT LOUD: "You are not scoring a three because you do not know. A three means mixed. A question mark means unsupported. Those are different findings."
Participants need permission for the question mark BEFORE they start, or they round down to look rigorous, which reproduces the exact artefact the old rule created.
One question mark only, and it stays inside the 1 to 5 scale. The workbook will not accept 0?, 6?, or two question marks.
Say the consequences: one or two marked items on an axis makes the placement provisional and triggers the neighbouring-score sensitivity check. Three or more and that axis is incomplete today.
Learner action: none yet. Protocol only. Workbook page 9.</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to 46. MISREADING ONE.
Read the wrong version in the voice of someone being reasonable, because they are. These examples are deliberately different from the ones in the Field Kit, so owners are not shown material they already bought.
Note the corrected version carries an evidence line for the LOW score too. Under Instrument Version 1.1 a 2 has to be defended like anything else. Model that out loud.
Ask: how many of you scored a plan rather than a fact? Do not predict the number of hands.
Learner action: mark any statement they now want to rescore.
[v4.11 — moved from slide face] Full corrected read (narrate): the evidence line says no qualifying instance in the window; it changes when the rotation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to 46. MISREADING TWO.
Give this misreading time. Do not rush past it and do not soften it.
Safety line if needed: being needed by an environment is a real achievement. It is simply a different fact from being strengthened by it.
The promotion application follows immediately and belongs to this misreading. Keep the two together and take the time for both out of this block, not out of the rescore.
Learner action: mark statements to rescore.
[v4.11 — moved from slide face] Full example (narrate): named to the steering committee; nobody has called the work merely adequate in two years.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to 46. APPLICATION OF MISREADING TWO. Ninety seconds, taken from this block.
DO NOT claim that promotion produces Stagnation. What this describes is a possible fall in Density. Stagnant is a state on two axes, and nothing here reads Optionality at all. Someone whose Density falls after promotion while their Optionality stays high is not Stagnant, and only their own two totals can say where they are.
Title the moment as written: why promotion can stop forming a high performer. Say the guard sentence on the slide out loud.
If a recently promoted participant reacts, hold the frame: this is a question to score, not a diagnosis. Statement 1 and statement 5 are where it shows up.
This is an application of Density, not a new concept and not a career-course module.
Learner action: none live. Workbook page 25 after the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to 46. MISREADING THREE.
This one prevents damage. A capable person reading a low number as a verdict is the failure mode of the whole instrument.
This is also where the symmetric protocol earns its keep: both versions score a 2, but only one of them has evidence under it. The number did not change. The reading did.
Learner action: mark statements to rescore.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 to 46. THE ACCUMULATED ARGUMENT.
The whole map lands here in one piece rather than being dripped in before the first score. The first score is taken cold, on the protocol alone. That is what makes the second score a correction rather than a suggestion.
Read the entering belief, pause, ask who recognises it, then reveal. Never read both columns of a pair in sequence.
Hold the finished slide for fifteen seconds without speaking before you move to the rescore. The map does the persuading.
Learner action: none. Read it. Workbook page 10.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46 to 62. PASS TWO. SIXTEEN MINUTES. THE EVIDENTIARY CENTRE. NEVER CUT.
This is the segment to protect if you are running late. Compress the state-cost segment and the voluntary reads first, never this.
Abbreviated protocol only. Do not re-teach it.
EMPHASISE: do not erase the first number. The pair is the data.
Say the neutral formulation verbatim. Do not tell them their numbers are about to move, do not say most people change, do not predict quadrant changes.
Anyone who arrived having already taken the Diagnostic rescores against the protocol rather than recalling their previous number.
Some participants will find several items where the instance is not immediately available. That is where the time goes, and it is the right place for it to go. Do not state a number.
Learner action: rescore all twelve with evidence lines on workbook pages 12 to 15, keep both numbers, mark what cannot be supported.
[v4.11 — moved from slide face] After scoring, you compare your first and corrected readings and examine what, if anything, moved.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 to 69. SECOND PLACEMENT. NEVER CUT.
Say the word "re-total" out loud. Participants otherwise carry the first number forward without noticing.
If any axis carries a question mark, the next slide runs before they place. Do not let a marked axis be placed without the neighbouring-score sensitivity check.
ROOM-LEVEL COUNT, ANONYMOUS: corrected confidence distribution and the four-square count again, through the anonymous method, as totals only.
DO NOT ask what moved until the placement is complete. That is the sequence rule and breaking it invalidates the movement counts.
Learner action: re-total, place again, record corrected confidence and date. Workbook page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 to 69. THE UNCERTAINTY PROCEDURE. NEVER CUT.
NAME IT: the neighbouring-score sensitivity check. Use that name every time, in the room and in the workbook.
SAY THE BOUNDARY OUT LOUD: this is an operational convention for the pilot. It is not a statistical confidence interval and it does not carry a margin of error. It asks one question: would a plausible neighbouring value change where you place yourself?
Uncertainty-marked scores stay bounded by 1 and 5. A 1? is never tested at 0. A 5? is never tested at 6.
When plausible neighbouring values change the placement, or when any of the three totals touches the 17 to 21 boundary band, no single state is assigned. Read both neighbouring states and mark the placement provisional.
Walk it on the board with one made-up example. Forty seconds, and it prevents five minutes of confusion.
WORKED EXAMPLE: 4, 4, 4, 3, 4 and a 3-marked. Total 22. Lower the marked item: 21. Raise it: 23. The range touches 21, which is inside 17 to 21, so that person reads both neighbouring states rather than picking one.
INCOMPLETE AXIS: expect it, and say it as a finding. "Three or more items you could not support means we do not have ninety days of evidence on that axis. That is a result about the window, not about you. Usually leave, a transition, or a role you had only just started."
ROOM-LEVEL COUNT, ANONYMOUS, and this is the priority measure of the pilot: number of participants with one or more marked items; number with an incomplete axis; number for whom the check changed the placement or held it open. Collect all three through the anonymous method, as totals only. Never by hands.
Learner action: run the check, then place. Workbook page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69 to 75. THE MOVEMENT MOMENT.
ROOM-LEVEL COUNT, ANONYMOUS: three counts, through the anonymous method only. Asking who is Stagnant, whose square changed or whose confidence fell by a show of hands contradicts the privacy promise made at the start, and the people least likely to raise a hand are the ones the question is about. Totals only.
Say the calibration claim as written. They supplied the evidence, the interpretation and the corrected score. The room supplied a fixed window, a symmetrical evidence standard, named misreadings and a structured correction process. Do not say they calibrated against something other than themselves.
State no expectation before you count. Do not say most people's numbers move and do not say some change quadrant. After enough deliveries these become stated figures on this slide; until then they are questions, not claims.
IF NOBODY MOVES: do not improvise an explanation. Say plainly that this room scored strictly on the first pass, ask who found an instance harder to name than expected, and move on. A room that does not move is a finding, not a failure.
ON CONFIDENCE: say the line as written. A confidence number that fell can be useful when the original certainty rested on an untested assumption. Do not say a fall is automatically a good outcome. A fall caused by confusion about the protocol is not transformation, it is a delivery problem, and you want to know which one you produced. If several people report the drop came from not understanding the instruction, note it on the capture sheet as a delivery defect.
Learner action: complete workbook page 17 immediately after placement.
[v4.11 — moved from slide face] You calibrated the first reading against a fixed window, a symmetrical evidence standard and named misreadings rather than intuition alone. A confidence number that fell can be useful when the original certainty rested on an untested assumption.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69 to 75.
This is the honest version of the argument for everything downstream, and it is true, so it lands as candour rather than as a pitch.
If someone challenges the instrument here: agree with the part that is true, a self-report is not an objective fact, and this slide says so. Then point at the mechanism. The claim is not that the score is accurate, reliable or validated. The claim is that the second reading is more evidence-disciplined and more defensible than the first.
Do not claim established accuracy, reliability or validity for the instrument. It is a pilot instrument at Version 1.1.
Do not mention any product here. The close handles that.
Learner action: none.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to 82. SEGMENT OPENING.
Name the cost precisely and give it away. What to do about it is the participant's to weigh.
The four state-cost readings are compressed to one overview slide. Teach all four briefly, then spend the remaining live time on the one or two squares that were heaviest in the room count.
Say the reference exactly: a concise reference is on workbook page 19, and the fuller treatment is in Section 5 of the Field Kit. The state cases are not in the workbook. Do not tell the room the full treatment is in the workbook.
Tell the room they only need to read their own square carefully. The other three are context.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to 82. COMPRESSED STATE COSTS.
Teach all four from this slide in about three minutes total, then go deep on the one or two squares that were heaviest in the room count. Do not walk all four in equal depth.
Say the reference as written: your short reference is in the workbook, the fuller treatment is in your Field Kit. Do not say the four readings are in the workbook in full. Workbook page 19 carries the short reference only, and the state cases are not in the workbook at all.
If Depth Trap is heavy in the anonymous count, spend the extra time there and say explicitly that translation is a category, not an instruction to exit. Some participants may interpret Depth Trap as an instruction to leave.
Compounding: deliver flatly.
Fragile: what travels today may no longer be renewed by the work being done now.
Stagnant: handle with the most care, and return to the safety slide.
The Field Kit cases stay in the Field Kit. Do not read them from the screen and do not say they are printed in the workbook.
[v4.11 — moved from slide face] Fuller state-cost reference (workbook page 19). Immediate cost, hidden cost, cost of waiting and false reassurance stay in the workbook and Field Kit. False-reassurance lines: Depth Trap ‘They could never replace me here.’ Compounding ‘I am doing well, so this square has nothing to tell me.’ Stagnant ‘I am well regarded here.’ Fragile ‘I could leave tomorrow.’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 to 82. WORKBOOK PAGE 20.
Two to three minutes of quiet writing. Do not narrate over it.
Spoken line rather than a slide: a person moves between states, and the same role can change state around a person who did not move at all. Optionality can lag a change in Density. Small changes matter more near a boundary by construction.
CUT POINT: if you are more than four minutes behind at this slide, reduce this to ninety seconds and say "finish workbook page 20 after the session". Do NOT send unfinished state interpretation into the thirty-day evidence log on page 23. That log is for action and outcome evidence, not for unfinished state work. Never take the time from the rescore or the Next-Move Decision.
Learner action: complete workbook page 20.</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 to 86. Move categories and Next-Move Decision setup.
Do not prescribe by quadrant. If someone asks which one their square means, hand the question back: which of these does your evidence support?
SEVENTH CATEGORY: it is "Seek an external perspective", not "Seek a calibrated read". Calibration names the specific method they just went through and it is not a synonym for feedback. A trusted colleague can supply outside evidence, perspective, challenge or testimony; they are not thereby delivering calibration. If a participant blurs the two, correct it once, lightly.
Illustrative move categories may include, offered only if asked and only as possibilities, never as findings: Depth Trap toward translate or widen exposure; Fragile toward repair formation; Stagnant toward repair formation; Compounding toward translate or remain and deepen. These are not established pairings and no pilot data supports them.
Almost every category needs another person, which is why line 8 of the Next-Move Decision asks who.
Learner action: none yet.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 to 86. THE PRIMARY ARTIFACT. Setup only; the writing happens in the next block.
TEN lines, on workbook page 22. This slide shows five of them at legible size. Read lines 01 to 05 aloud from the workbook rather than putting ten small lines on the screen.
Line 06 wording is fixed and appears identically on the slide, in the workbook and in the voluntary reads: "The category of move my evidence supports testing is". Never "the move my position requires".
Line 08 is the highest-leverage line on the page, because almost every move category needs another person and a plan naming nobody stays in the notebook.
Line 07 is provisional by design. Line 09 is what makes it responsible.
This page maps onto the Field Kit Self-Read Skeleton, so anyone who owns the Kit can carry today's page straight into it.
DO NOT COLLECT WORKBOOK RESPONSES. Capture only anonymized room-level counts and voluntarily shared, permissioned language. Do not collect individual move categories, individual first actions, the names of people participants intend to contact, employer names or any third-party name.
Learner action: complete all ten lines on workbook page 22.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86 to 94. SILENT WORK. EIGHT MINUTES. PROTECTED UNDER ALL TIME PRESSURE.
Never reduce this below eight minutes. If the room is running long, the time comes from the state-cost segment and the voluntary reads, never from here and never from the rescore.
Do not fill the silence, do not play music, do not narrate the countdown beyond the two-minute warning.
Stay visible and available for quiet questions.
If someone finishes early, ask them privately to write a second sentence under line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94 to 100. NAMED CUT POINT.
Take two reads instead of three if you are behind. In a room over twenty, make this written rather than spoken and note on the capture sheet that the qualitative measure is degraded at that size.
The line is read exactly as written: the category of move my evidence supports testing is. If a participant says "requires", let it pass in their read and use the correct wording yourself.
When you respond, comment on the fit between evidence and category. Do not endorse or discourage the action itself. The boundary slide is what you are honouring.
PERMISSION SCRIPT, SAY IT BEFORE ANYONE READS: "If you read, keep it to lines six, seven and eight. No scores, no employer names, and no names of other people. If you want to name a relationship, name it generically, such as my skip-level or a former colleague. I would like to keep a note of the words some of you use, because it helps me improve the session. I will only write down a phrase if you tell me I can, and I will not attach your name to it."
Ask for permission per person, out loud, after they read. If they do not answer, treat that as no.
Do not record scores, states, employer names or third-party names in any circumstance.
[v4.11 — moved from slide face] Facilitator line: I will say what I notice about the reasoning. I will not tell you whether to do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to 105. THE CLOSE.
Do not send everybody to the same place.
The Field Kit unlocks at the end of this session, not at purchase. Say that it is already theirs. It is not an offer.
The free Diagnostic is an uncalibrated public entry signal and it is for someone they would send it to. It is NOT the rescore tool. Say that plainly: you have been calibrated, and Section 7 of the Field Kit is what holds that standard.
The book is NOT mentioned here. It moves to the follow-up email, so the last live moment stays on the participant's own decision rather than on a purchase.
THE INDIVIDUAL WRITTEN POSITION READ IS DELIBERATELY ABSENT FROM THIS CLOSE. The offer is built and priced, but it is held off the public close until after pilot two. Do not gesture at it, do not mention it as coming, do not describe it as the next step for anyone, and do not take names for it here. There is no boundary route to it. If a participant asks unprompted, answer honestly and take it offline.
Learner action: none.
[v4.11 — moved from slide face] Nothing here is withheld; today’s read is complete on its 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to 105. CLOSE.
End on the rescore date. A dated commitment is what converts diagnostic clarity into a decision you can measure.
Do not add an offer here. The previous slide did that work.
FINAL FACILITATOR TASKS, within twenty-four hours: write up the anonymized room-level counts while the room is fresh, including the three sensitivity-check counts; send the Field Kit and the Complete Session Record immediately; send the teaching-only replay within twenty-four hours if recording was used. Record no workbook responses, no employer names and no third-party names.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NOT IN THE CORE SCORING SEQUENCE.
Use in Q&amp;A, in the replay, or point people at workbook page 26. Do not run it inside the scoring sequence and do not let it displace the calibration work.
TITLE DISCIPLINE: this is "Position Exposure Signals". It is not layoff warning signs and it is never framed as a promise to predict. Say the standing boundary out loud whenever the slide is used: these signals do not predict a layoff, they identify questions that should be answered before you treat a position as secure.
If someone asks whether they are about to be made redundant, do not answer it. Hand back the questions and, where the stakes are high, name the seventh move category: seek an external perspective.
Nothing here is a claim about any employer, including any of mine.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FULLER TREATMENT OF THE BRIEF LIVE APPLICATION.
Use in Q&amp;A or in the replay. The live session carries the two sentences only.
DO NOT: name or recommend AI tools, teach prompting, recommend vendors, or use future-proofing language. Any of those turns a capability reading into a technology talk and the product is not that.
If pressed for tool advice, decline plainly and return to the axes: the question this instrument answers is what the work is forming in you and whether it travels.
Workbook page 25 carries the take-home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APPENDIX. MOVED OUT OF THE TIMED CORE IN v4.8. Use in the Q&amp;A time or the replay.
This is not a confidence module and not a mindset module. Do not build one. It is the operational content of "Translate what is built".
Say both sentences as written. Legibility is not bragging, it is evidence translated into language another context can understand. You do not need louder confidence, you need claims that can survive evidence.
Teach the three-part translation and stop: the problem, the outcome, the capability the work formed. Then say the discipline: remove adjectives about yourself.
A job interview is one application of this and may be named as one. Do not reposition the session as interview coaching or a job-search course, and do not take interview questions here; point at the workbook page and the appendix.
Learner action: none live. Workbook page 25 after the session, and the material stays on that page whether or not this slide is ever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24 to 33. STAGED RELEASE OF PART B. Allow two minutes for release, opening and navigation; do not treat it as instant.</a:t>
            </a:r>
          </a:p>
          <a:p/>
          <a:p>
            <a:r>
              <a:t>Release Part B only after every first placement and confidence number in the room is complete. The first reading is only worth something if it was made before calibration was taught.</a:t>
            </a:r>
          </a:p>
          <a:p/>
          <a:p>
            <a:r>
              <a:t>Tell the room to keep Part A open: they will need their initial Density and Optionality totals, their initial state, and their initial confidence to compare against later.</a:t>
            </a:r>
          </a:p>
          <a:p/>
          <a:p>
            <a:r>
              <a:t>The two-hour calendar block is the binding constraint. The internal bands are a design hypothesis until two rehearsals confirm them.</a:t>
            </a:r>
          </a:p>
          <a:p/>
          <a:p>
            <a:r>
              <a:t>Learner action: open the second file (Part B).</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6.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A9B8D0"/>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A9B8D0"/>
                </a:solidFill>
                <a:latin typeface="DM Sans" pitchFamily="34" charset="0"/>
                <a:ea typeface="DM Sans" pitchFamily="34" charset="-122"/>
                <a:cs typeface="DM Sans" pitchFamily="34" charset="-120"/>
              </a:rPr>
              <a:t>1</a:t>
            </a:r>
            <a:endParaRPr lang="en-US" sz="900" dirty="0"/>
          </a:p>
        </p:txBody>
      </p:sp>
      <p:sp>
        <p:nvSpPr>
          <p:cNvPr id="4" name="Text 2"/>
          <p:cNvSpPr/>
          <p:nvPr/>
        </p:nvSpPr>
        <p:spPr>
          <a:xfrm>
            <a:off x="658368" y="1554480"/>
            <a:ext cx="10872216" cy="292608"/>
          </a:xfrm>
          <a:prstGeom prst="rect">
            <a:avLst/>
          </a:prstGeom>
          <a:noFill/>
          <a:ln/>
        </p:spPr>
        <p:txBody>
          <a:bodyPr wrap="square" lIns="0" tIns="0" rIns="0" bIns="0" rtlCol="0" anchor="ctr">
            <a:normAutofit/>
          </a:bodyPr>
          <a:lstStyle/>
          <a:p>
            <a:pPr indent="0" marL="0">
              <a:buNone/>
            </a:pPr>
            <a:r>
              <a:rPr lang="en-US" sz="1400" b="1" spc="500" kern="0" dirty="0">
                <a:solidFill>
                  <a:srgbClr val="C9A84C"/>
                </a:solidFill>
                <a:latin typeface="DM Sans" pitchFamily="34" charset="0"/>
                <a:ea typeface="DM Sans" pitchFamily="34" charset="-122"/>
                <a:cs typeface="DM Sans" pitchFamily="34" charset="-120"/>
              </a:rPr>
              <a:t>A LIVE CAPABILITY POSITION READ</a:t>
            </a:r>
            <a:endParaRPr lang="en-US" sz="1400" dirty="0"/>
          </a:p>
        </p:txBody>
      </p:sp>
      <p:sp>
        <p:nvSpPr>
          <p:cNvPr id="5" name="Text 3"/>
          <p:cNvSpPr/>
          <p:nvPr/>
        </p:nvSpPr>
        <p:spPr>
          <a:xfrm>
            <a:off x="658368" y="1938528"/>
            <a:ext cx="8778240" cy="1847088"/>
          </a:xfrm>
          <a:prstGeom prst="rect">
            <a:avLst/>
          </a:prstGeom>
          <a:noFill/>
          <a:ln/>
        </p:spPr>
        <p:txBody>
          <a:bodyPr wrap="square" lIns="0" tIns="0" rIns="0" bIns="0" rtlCol="0" anchor="t">
            <a:normAutofit/>
          </a:bodyPr>
          <a:lstStyle/>
          <a:p>
            <a:pPr indent="0" marL="0">
              <a:lnSpc>
                <a:spcPct val="105000"/>
              </a:lnSpc>
              <a:buNone/>
            </a:pPr>
            <a:r>
              <a:rPr lang="en-US" sz="5800" dirty="0">
                <a:solidFill>
                  <a:srgbClr val="FFFFFF"/>
                </a:solidFill>
                <a:latin typeface="Cormorant Garamond" pitchFamily="34" charset="0"/>
                <a:ea typeface="Cormorant Garamond" pitchFamily="34" charset="-122"/>
                <a:cs typeface="Cormorant Garamond" pitchFamily="34" charset="-120"/>
              </a:rPr>
              <a:t>Should I Stay</a:t>
            </a:r>
            <a:endParaRPr lang="en-US" sz="5800" dirty="0"/>
          </a:p>
          <a:p>
            <a:pPr indent="0" marL="0">
              <a:lnSpc>
                <a:spcPct val="105000"/>
              </a:lnSpc>
              <a:buNone/>
            </a:pPr>
            <a:r>
              <a:rPr lang="en-US" sz="5800" dirty="0">
                <a:solidFill>
                  <a:srgbClr val="FFFFFF"/>
                </a:solidFill>
                <a:latin typeface="Cormorant Garamond" pitchFamily="34" charset="0"/>
                <a:ea typeface="Cormorant Garamond" pitchFamily="34" charset="-122"/>
                <a:cs typeface="Cormorant Garamond" pitchFamily="34" charset="-120"/>
              </a:rPr>
              <a:t>or Should I Move?</a:t>
            </a:r>
            <a:endParaRPr lang="en-US" sz="5800" dirty="0"/>
          </a:p>
        </p:txBody>
      </p:sp>
      <p:sp>
        <p:nvSpPr>
          <p:cNvPr id="6" name="Text 4"/>
          <p:cNvSpPr/>
          <p:nvPr/>
        </p:nvSpPr>
        <p:spPr>
          <a:xfrm>
            <a:off x="658368" y="3931920"/>
            <a:ext cx="10872216" cy="384048"/>
          </a:xfrm>
          <a:prstGeom prst="rect">
            <a:avLst/>
          </a:prstGeom>
          <a:noFill/>
          <a:ln/>
        </p:spPr>
        <p:txBody>
          <a:bodyPr wrap="square" lIns="0" tIns="0" rIns="0" bIns="0" rtlCol="0" anchor="ctr">
            <a:normAutofit/>
          </a:bodyPr>
          <a:lstStyle/>
          <a:p>
            <a:pPr indent="0" marL="0">
              <a:buNone/>
            </a:pPr>
            <a:r>
              <a:rPr lang="en-US" sz="1800" dirty="0">
                <a:solidFill>
                  <a:srgbClr val="A9B8D0"/>
                </a:solidFill>
                <a:latin typeface="DM Sans" pitchFamily="34" charset="0"/>
                <a:ea typeface="DM Sans" pitchFamily="34" charset="-122"/>
                <a:cs typeface="DM Sans" pitchFamily="34" charset="-120"/>
              </a:rPr>
              <a:t>Read what your current work is building before you decide.</a:t>
            </a:r>
            <a:endParaRPr lang="en-US" sz="1800" dirty="0"/>
          </a:p>
        </p:txBody>
      </p:sp>
      <p:sp>
        <p:nvSpPr>
          <p:cNvPr id="7" name="Text 5"/>
          <p:cNvSpPr/>
          <p:nvPr/>
        </p:nvSpPr>
        <p:spPr>
          <a:xfrm>
            <a:off x="658368" y="4590288"/>
            <a:ext cx="10872216" cy="292608"/>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DM Sans" pitchFamily="34" charset="0"/>
                <a:ea typeface="DM Sans" pitchFamily="34" charset="-122"/>
                <a:cs typeface="DM Sans" pitchFamily="34" charset="-120"/>
              </a:rPr>
              <a:t>Temidayo Afonja</a:t>
            </a:r>
            <a:endParaRPr lang="en-US" sz="1500" dirty="0"/>
          </a:p>
        </p:txBody>
      </p:sp>
      <p:sp>
        <p:nvSpPr>
          <p:cNvPr id="8" name="Text 6"/>
          <p:cNvSpPr/>
          <p:nvPr/>
        </p:nvSpPr>
        <p:spPr>
          <a:xfrm>
            <a:off x="658368" y="4882896"/>
            <a:ext cx="10872216" cy="292608"/>
          </a:xfrm>
          <a:prstGeom prst="rect">
            <a:avLst/>
          </a:prstGeom>
          <a:noFill/>
          <a:ln/>
        </p:spPr>
        <p:txBody>
          <a:bodyPr wrap="square" lIns="0" tIns="0" rIns="0" bIns="0" rtlCol="0" anchor="ctr">
            <a:normAutofit/>
          </a:bodyPr>
          <a:lstStyle/>
          <a:p>
            <a:pPr indent="0" marL="0">
              <a:buNone/>
            </a:pPr>
            <a:r>
              <a:rPr lang="en-US" sz="1200" dirty="0">
                <a:solidFill>
                  <a:srgbClr val="A9B8D0"/>
                </a:solidFill>
                <a:latin typeface="DM Sans" pitchFamily="34" charset="0"/>
                <a:ea typeface="DM Sans" pitchFamily="34" charset="-122"/>
                <a:cs typeface="DM Sans" pitchFamily="34" charset="-120"/>
              </a:rPr>
              <a:t>Founder, The Density Group. Author, The Capability Audit.</a:t>
            </a:r>
            <a:endParaRPr lang="en-US" sz="1200" dirty="0"/>
          </a:p>
        </p:txBody>
      </p:sp>
      <p:sp>
        <p:nvSpPr>
          <p:cNvPr id="9" name="Text 7"/>
          <p:cNvSpPr/>
          <p:nvPr/>
        </p:nvSpPr>
        <p:spPr>
          <a:xfrm>
            <a:off x="658368" y="5303520"/>
            <a:ext cx="10872216" cy="274320"/>
          </a:xfrm>
          <a:prstGeom prst="rect">
            <a:avLst/>
          </a:prstGeom>
          <a:noFill/>
          <a:ln/>
        </p:spPr>
        <p:txBody>
          <a:bodyPr wrap="square" lIns="0" tIns="0" rIns="0" bIns="0" rtlCol="0" anchor="ctr">
            <a:normAutofit/>
          </a:bodyPr>
          <a:lstStyle/>
          <a:p>
            <a:pPr indent="0" marL="0">
              <a:buNone/>
            </a:pPr>
            <a:r>
              <a:rPr lang="en-US" sz="1000" spc="200" kern="0" dirty="0">
                <a:solidFill>
                  <a:srgbClr val="C9A84C"/>
                </a:solidFill>
                <a:latin typeface="DM Sans" pitchFamily="34" charset="0"/>
                <a:ea typeface="DM Sans" pitchFamily="34" charset="-122"/>
                <a:cs typeface="DM Sans" pitchFamily="34" charset="-120"/>
              </a:rPr>
              <a:t>CAPABILITY FORMATION INSTRUMENT VERSION 1.1  ·  WORKSHOP DECK V4.11</a:t>
            </a:r>
            <a:endParaRPr lang="en-US" sz="1000" dirty="0"/>
          </a:p>
        </p:txBody>
      </p:sp>
      <p:sp>
        <p:nvSpPr>
          <p:cNvPr id="10" name="Shape 8"/>
          <p:cNvSpPr/>
          <p:nvPr/>
        </p:nvSpPr>
        <p:spPr>
          <a:xfrm>
            <a:off x="9930384" y="1554480"/>
            <a:ext cx="466344" cy="466344"/>
          </a:xfrm>
          <a:prstGeom prst="rect">
            <a:avLst/>
          </a:prstGeom>
          <a:solidFill>
            <a:srgbClr val="0F2347"/>
          </a:solidFill>
          <a:ln w="12700">
            <a:solidFill>
              <a:srgbClr val="C9A84C"/>
            </a:solidFill>
            <a:prstDash val="solid"/>
          </a:ln>
        </p:spPr>
        <p:txBody>
          <a:bodyPr>
            <a:normAutofit/>
          </a:bodyPr>
          <a:p/>
        </p:txBody>
      </p:sp>
      <p:sp>
        <p:nvSpPr>
          <p:cNvPr id="11" name="Shape 9"/>
          <p:cNvSpPr/>
          <p:nvPr/>
        </p:nvSpPr>
        <p:spPr>
          <a:xfrm>
            <a:off x="10396728" y="1554480"/>
            <a:ext cx="466344" cy="466344"/>
          </a:xfrm>
          <a:prstGeom prst="rect">
            <a:avLst/>
          </a:prstGeom>
          <a:solidFill>
            <a:srgbClr val="C1440E"/>
          </a:solidFill>
          <a:ln w="12700">
            <a:solidFill>
              <a:srgbClr val="C9A84C"/>
            </a:solidFill>
            <a:prstDash val="solid"/>
          </a:ln>
        </p:spPr>
        <p:txBody>
          <a:bodyPr>
            <a:normAutofit/>
          </a:bodyPr>
          <a:p/>
        </p:txBody>
      </p:sp>
      <p:sp>
        <p:nvSpPr>
          <p:cNvPr id="12" name="Shape 10"/>
          <p:cNvSpPr/>
          <p:nvPr/>
        </p:nvSpPr>
        <p:spPr>
          <a:xfrm>
            <a:off x="9930384" y="2020824"/>
            <a:ext cx="466344" cy="466344"/>
          </a:xfrm>
          <a:prstGeom prst="rect">
            <a:avLst/>
          </a:prstGeom>
          <a:solidFill>
            <a:srgbClr val="0F2347"/>
          </a:solidFill>
          <a:ln w="12700">
            <a:solidFill>
              <a:srgbClr val="C9A84C"/>
            </a:solidFill>
            <a:prstDash val="solid"/>
          </a:ln>
        </p:spPr>
        <p:txBody>
          <a:bodyPr>
            <a:normAutofit/>
          </a:bodyPr>
          <a:p/>
        </p:txBody>
      </p:sp>
      <p:sp>
        <p:nvSpPr>
          <p:cNvPr id="13" name="Shape 11"/>
          <p:cNvSpPr/>
          <p:nvPr/>
        </p:nvSpPr>
        <p:spPr>
          <a:xfrm>
            <a:off x="10396728" y="2020824"/>
            <a:ext cx="466344" cy="466344"/>
          </a:xfrm>
          <a:prstGeom prst="rect">
            <a:avLst/>
          </a:prstGeom>
          <a:solidFill>
            <a:srgbClr val="0F2347"/>
          </a:solidFill>
          <a:ln w="12700">
            <a:solidFill>
              <a:srgbClr val="C9A84C"/>
            </a:solidFill>
            <a:prstDash val="solid"/>
          </a:ln>
        </p:spPr>
        <p:txBody>
          <a:bodyPr>
            <a:normAutofit/>
          </a:bodyPr>
          <a:p/>
        </p:txBody>
      </p:sp>
      <p:sp>
        <p:nvSpPr>
          <p:cNvPr id="14" name="Mark2x2"/>
          <p:cNvSpPr/>
          <p:nvPr/>
        </p:nvSpPr>
        <p:spPr>
          <a:xfrm>
            <a:off x="11384280" y="310896"/>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ark2x2"/>
          <p:cNvSpPr/>
          <p:nvPr/>
        </p:nvSpPr>
        <p:spPr>
          <a:xfrm>
            <a:off x="11603736" y="310896"/>
            <a:ext cx="173736" cy="173736"/>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Mark2x2"/>
          <p:cNvSpPr/>
          <p:nvPr/>
        </p:nvSpPr>
        <p:spPr>
          <a:xfrm>
            <a:off x="11384280" y="530352"/>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Mark2x2"/>
          <p:cNvSpPr/>
          <p:nvPr/>
        </p:nvSpPr>
        <p:spPr>
          <a:xfrm>
            <a:off x="11603736" y="530352"/>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BOUNDARY</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What this read will not do</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Read this first. It is what you can hold me to.</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847088"/>
            <a:ext cx="10872216" cy="457200"/>
          </a:xfrm>
          <a:prstGeom prst="rect">
            <a:avLst/>
          </a:prstGeom>
          <a:noFill/>
          <a:ln/>
        </p:spPr>
        <p:txBody>
          <a:bodyPr wrap="square" lIns="0" tIns="0" rIns="0" bIns="0" rtlCol="0" anchor="t">
            <a:normAutofit/>
          </a:bodyPr>
          <a:lstStyle/>
          <a:p>
            <a:pPr indent="0" marL="0">
              <a:lnSpc>
                <a:spcPct val="120000"/>
              </a:lnSpc>
              <a:buNone/>
            </a:pPr>
            <a:r>
              <a:rPr lang="en-US" sz="2600" dirty="0">
                <a:solidFill>
                  <a:srgbClr val="0F2347"/>
                </a:solidFill>
                <a:latin typeface="Cormorant Garamond" pitchFamily="34" charset="0"/>
                <a:ea typeface="Cormorant Garamond" pitchFamily="34" charset="-122"/>
                <a:cs typeface="Cormorant Garamond" pitchFamily="34" charset="-120"/>
              </a:rPr>
              <a:t>This read will not tell you to stay or leave.</a:t>
            </a:r>
            <a:endParaRPr lang="en-US" sz="2600" dirty="0"/>
          </a:p>
        </p:txBody>
      </p:sp>
      <p:sp>
        <p:nvSpPr>
          <p:cNvPr id="9" name="Text 7"/>
          <p:cNvSpPr/>
          <p:nvPr/>
        </p:nvSpPr>
        <p:spPr>
          <a:xfrm>
            <a:off x="658368" y="2432304"/>
            <a:ext cx="10872216" cy="1005840"/>
          </a:xfrm>
          <a:prstGeom prst="rect">
            <a:avLst/>
          </a:prstGeom>
          <a:noFill/>
          <a:ln/>
        </p:spPr>
        <p:txBody>
          <a:bodyPr wrap="square" lIns="0" tIns="0" rIns="0" bIns="0" rtlCol="0" anchor="t">
            <a:normAutofit/>
          </a:bodyPr>
          <a:lstStyle/>
          <a:p>
            <a:pPr indent="0" marL="0">
              <a:lnSpc>
                <a:spcPct val="120000"/>
              </a:lnSpc>
              <a:buNone/>
            </a:pPr>
            <a:r>
              <a:rPr lang="en-US" sz="2100" dirty="0">
                <a:solidFill>
                  <a:srgbClr val="0F2347"/>
                </a:solidFill>
                <a:latin typeface="DM Sans" pitchFamily="34" charset="0"/>
                <a:ea typeface="DM Sans" pitchFamily="34" charset="-122"/>
                <a:cs typeface="DM Sans" pitchFamily="34" charset="-120"/>
              </a:rPr>
              <a:t>It helps you determine what your current environment is building in you, what remains portable, and what category of move your evidence supports testing.</a:t>
            </a:r>
            <a:endParaRPr lang="en-US" sz="2100" dirty="0"/>
          </a:p>
        </p:txBody>
      </p:sp>
      <p:sp>
        <p:nvSpPr>
          <p:cNvPr id="10" name="Text 8"/>
          <p:cNvSpPr/>
          <p:nvPr/>
        </p:nvSpPr>
        <p:spPr>
          <a:xfrm>
            <a:off x="658368" y="3584448"/>
            <a:ext cx="10872216" cy="457200"/>
          </a:xfrm>
          <a:prstGeom prst="rect">
            <a:avLst/>
          </a:prstGeom>
          <a:noFill/>
          <a:ln/>
        </p:spPr>
        <p:txBody>
          <a:bodyPr wrap="square" lIns="0" tIns="0" rIns="0" bIns="0" rtlCol="0" anchor="t">
            <a:normAutofit/>
          </a:bodyPr>
          <a:lstStyle/>
          <a:p>
            <a:pPr indent="0" marL="0">
              <a:lnSpc>
                <a:spcPct val="120000"/>
              </a:lnSpc>
              <a:buNone/>
            </a:pPr>
            <a:endParaRPr lang="en-US" sz="2000" dirty="0"/>
          </a:p>
        </p:txBody>
      </p:sp>
      <p:sp>
        <p:nvSpPr>
          <p:cNvPr id="11" name="Shape 9"/>
          <p:cNvSpPr/>
          <p:nvPr/>
        </p:nvSpPr>
        <p:spPr>
          <a:xfrm>
            <a:off x="658368" y="4224528"/>
            <a:ext cx="5138928" cy="1060704"/>
          </a:xfrm>
          <a:prstGeom prst="rect">
            <a:avLst/>
          </a:prstGeom>
          <a:solidFill>
            <a:srgbClr val="FFFFFF"/>
          </a:solidFill>
          <a:ln w="12700">
            <a:solidFill>
              <a:srgbClr val="E8DFCC"/>
            </a:solidFill>
            <a:prstDash val="solid"/>
          </a:ln>
        </p:spPr>
        <p:txBody>
          <a:bodyPr>
            <a:normAutofit/>
          </a:bodyPr>
          <a:p/>
        </p:txBody>
      </p:sp>
      <p:sp>
        <p:nvSpPr>
          <p:cNvPr id="12" name="Text 10"/>
          <p:cNvSpPr/>
          <p:nvPr/>
        </p:nvSpPr>
        <p:spPr>
          <a:xfrm>
            <a:off x="877824" y="4389120"/>
            <a:ext cx="4700016" cy="786384"/>
          </a:xfrm>
          <a:prstGeom prst="rect">
            <a:avLst/>
          </a:prstGeom>
          <a:noFill/>
          <a:ln/>
        </p:spPr>
        <p:txBody>
          <a:bodyPr wrap="square" lIns="0" tIns="0" rIns="0" bIns="0" rtlCol="0" anchor="t">
            <a:normAutofit/>
          </a:bodyPr>
          <a:lstStyle/>
          <a:p>
            <a:pPr indent="0" marL="0">
              <a:lnSpc>
                <a:spcPct val="115000"/>
              </a:lnSpc>
              <a:buNone/>
            </a:pPr>
            <a:endParaRPr lang="en-US" sz="1600" dirty="0"/>
          </a:p>
        </p:txBody>
      </p:sp>
      <p:sp>
        <p:nvSpPr>
          <p:cNvPr id="13" name="Shape 11"/>
          <p:cNvSpPr/>
          <p:nvPr/>
        </p:nvSpPr>
        <p:spPr>
          <a:xfrm>
            <a:off x="6391656" y="4224528"/>
            <a:ext cx="5138928" cy="1060704"/>
          </a:xfrm>
          <a:prstGeom prst="rect">
            <a:avLst/>
          </a:prstGeom>
          <a:solidFill>
            <a:srgbClr val="FFFFFF"/>
          </a:solidFill>
          <a:ln w="12700">
            <a:solidFill>
              <a:srgbClr val="E8DFCC"/>
            </a:solidFill>
            <a:prstDash val="solid"/>
          </a:ln>
        </p:spPr>
        <p:txBody>
          <a:bodyPr>
            <a:normAutofit/>
          </a:bodyPr>
          <a:p/>
        </p:txBody>
      </p:sp>
      <p:sp>
        <p:nvSpPr>
          <p:cNvPr id="14" name="Text 12"/>
          <p:cNvSpPr/>
          <p:nvPr/>
        </p:nvSpPr>
        <p:spPr>
          <a:xfrm>
            <a:off x="6611112" y="4389120"/>
            <a:ext cx="4700016" cy="786384"/>
          </a:xfrm>
          <a:prstGeom prst="rect">
            <a:avLst/>
          </a:prstGeom>
          <a:noFill/>
          <a:ln/>
        </p:spPr>
        <p:txBody>
          <a:bodyPr wrap="square" lIns="0" tIns="0" rIns="0" bIns="0" rtlCol="0" anchor="t">
            <a:normAutofit/>
          </a:bodyPr>
          <a:lstStyle/>
          <a:p>
            <a:pPr indent="0" marL="0">
              <a:lnSpc>
                <a:spcPct val="115000"/>
              </a:lnSpc>
              <a:buNone/>
            </a:pPr>
            <a:endParaRPr lang="en-US" sz="1600" dirty="0"/>
          </a:p>
        </p:txBody>
      </p:sp>
      <p:sp>
        <p:nvSpPr>
          <p:cNvPr id="15" name="Shape 13"/>
          <p:cNvSpPr/>
          <p:nvPr/>
        </p:nvSpPr>
        <p:spPr>
          <a:xfrm>
            <a:off x="658368" y="5394960"/>
            <a:ext cx="10872216" cy="10973"/>
          </a:xfrm>
          <a:prstGeom prst="rect">
            <a:avLst/>
          </a:prstGeom>
          <a:solidFill>
            <a:srgbClr val="E8DFCC"/>
          </a:solidFill>
          <a:ln w="12700">
            <a:solidFill>
              <a:srgbClr val="333333"/>
            </a:solidFill>
            <a:prstDash val="solid"/>
          </a:ln>
        </p:spPr>
        <p:txBody>
          <a:bodyPr>
            <a:normAutofit/>
          </a:bodyPr>
          <a:p/>
        </p:txBody>
      </p:sp>
      <p:sp>
        <p:nvSpPr>
          <p:cNvPr id="16" name="Text 14"/>
          <p:cNvSpPr/>
          <p:nvPr/>
        </p:nvSpPr>
        <p:spPr>
          <a:xfrm>
            <a:off x="658368" y="5541264"/>
            <a:ext cx="10872216" cy="566928"/>
          </a:xfrm>
          <a:prstGeom prst="rect">
            <a:avLst/>
          </a:prstGeom>
          <a:noFill/>
          <a:ln/>
        </p:spPr>
        <p:txBody>
          <a:bodyPr wrap="square" lIns="0" tIns="0" rIns="0" bIns="0" rtlCol="0" anchor="t">
            <a:normAutofit/>
          </a:bodyPr>
          <a:lstStyle/>
          <a:p>
            <a:pPr indent="0" marL="0">
              <a:lnSpc>
                <a:spcPct val="115000"/>
              </a:lnSpc>
              <a:buNone/>
            </a:pPr>
            <a:r>
              <a:rPr lang="en-US" sz="1400" dirty="0">
                <a:solidFill>
                  <a:srgbClr val="0F2347"/>
                </a:solidFill>
                <a:latin typeface="DM Sans" pitchFamily="34" charset="0"/>
                <a:ea typeface="DM Sans" pitchFamily="34" charset="-122"/>
                <a:cs typeface="DM Sans" pitchFamily="34" charset="-120"/>
              </a:rPr>
              <a:t>This read informs a career decision. It does not replace financial, legal, medical, immigration, contractual or family judgment.</a:t>
            </a:r>
            <a:endParaRPr lang="en-US" sz="14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A9B8D0"/>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A9B8D0"/>
                </a:solidFill>
                <a:latin typeface="DM Sans" pitchFamily="34" charset="0"/>
                <a:ea typeface="DM Sans" pitchFamily="34" charset="-122"/>
                <a:cs typeface="DM Sans" pitchFamily="34" charset="-120"/>
              </a:rPr>
              <a:t>3</a:t>
            </a:r>
            <a:endParaRPr lang="en-US" sz="900" dirty="0"/>
          </a:p>
        </p:txBody>
      </p:sp>
      <p:sp>
        <p:nvSpPr>
          <p:cNvPr id="4" name="Text 2"/>
          <p:cNvSpPr/>
          <p:nvPr/>
        </p:nvSpPr>
        <p:spPr>
          <a:xfrm>
            <a:off x="658368" y="2148840"/>
            <a:ext cx="10872216" cy="310896"/>
          </a:xfrm>
          <a:prstGeom prst="rect">
            <a:avLst/>
          </a:prstGeom>
          <a:noFill/>
          <a:ln/>
        </p:spPr>
        <p:txBody>
          <a:bodyPr wrap="square" lIns="0" tIns="0" rIns="0" bIns="0" rtlCol="0" anchor="ctr">
            <a:normAutofit/>
          </a:bodyPr>
          <a:lstStyle/>
          <a:p>
            <a:pPr indent="0" marL="0">
              <a:buNone/>
            </a:pPr>
            <a:r>
              <a:rPr lang="en-US" sz="1300" b="1" spc="300" kern="0" dirty="0">
                <a:solidFill>
                  <a:srgbClr val="C9A84C"/>
                </a:solidFill>
                <a:latin typeface="DM Sans" pitchFamily="34" charset="0"/>
                <a:ea typeface="DM Sans" pitchFamily="34" charset="-122"/>
                <a:cs typeface="DM Sans" pitchFamily="34" charset="-120"/>
              </a:rPr>
              <a:t>WHERE THIS COMES FROM</a:t>
            </a:r>
            <a:endParaRPr lang="en-US" sz="1300" dirty="0"/>
          </a:p>
        </p:txBody>
      </p:sp>
      <p:sp>
        <p:nvSpPr>
          <p:cNvPr id="5" name="Text 3"/>
          <p:cNvSpPr/>
          <p:nvPr/>
        </p:nvSpPr>
        <p:spPr>
          <a:xfrm>
            <a:off x="658368" y="2578608"/>
            <a:ext cx="10872216" cy="859536"/>
          </a:xfrm>
          <a:prstGeom prst="rect">
            <a:avLst/>
          </a:prstGeom>
          <a:noFill/>
          <a:ln/>
        </p:spPr>
        <p:txBody>
          <a:bodyPr wrap="square" lIns="0" tIns="0" rIns="0" bIns="0" rtlCol="0" anchor="t">
            <a:normAutofit/>
          </a:bodyPr>
          <a:lstStyle/>
          <a:p>
            <a:pPr indent="0" marL="0">
              <a:buNone/>
            </a:pPr>
            <a:r>
              <a:rPr lang="en-US" sz="5000" dirty="0">
                <a:solidFill>
                  <a:srgbClr val="FFFFFF"/>
                </a:solidFill>
                <a:latin typeface="Cormorant Garamond" pitchFamily="34" charset="0"/>
                <a:ea typeface="Cormorant Garamond" pitchFamily="34" charset="-122"/>
                <a:cs typeface="Cormorant Garamond" pitchFamily="34" charset="-120"/>
              </a:rPr>
              <a:t>The room you are not in.</a:t>
            </a:r>
            <a:endParaRPr lang="en-US" sz="5000" dirty="0"/>
          </a:p>
        </p:txBody>
      </p:sp>
      <p:sp>
        <p:nvSpPr>
          <p:cNvPr id="6" name="Text 4"/>
          <p:cNvSpPr/>
          <p:nvPr/>
        </p:nvSpPr>
        <p:spPr>
          <a:xfrm>
            <a:off x="658368" y="3639312"/>
            <a:ext cx="8476488" cy="914400"/>
          </a:xfrm>
          <a:prstGeom prst="rect">
            <a:avLst/>
          </a:prstGeom>
          <a:noFill/>
          <a:ln/>
        </p:spPr>
        <p:txBody>
          <a:bodyPr wrap="square" lIns="0" tIns="0" rIns="0" bIns="0" rtlCol="0" anchor="t">
            <a:normAutofit/>
          </a:bodyPr>
          <a:lstStyle/>
          <a:p>
            <a:pPr indent="0" marL="0">
              <a:lnSpc>
                <a:spcPct val="125000"/>
              </a:lnSpc>
              <a:buNone/>
            </a:pPr>
            <a:r>
              <a:rPr lang="en-US" sz="1800" dirty="0">
                <a:solidFill>
                  <a:srgbClr val="A9B8D0"/>
                </a:solidFill>
                <a:latin typeface="DM Sans" pitchFamily="34" charset="0"/>
                <a:ea typeface="DM Sans" pitchFamily="34" charset="-122"/>
                <a:cs typeface="DM Sans" pitchFamily="34" charset="-120"/>
              </a:rPr>
              <a:t>I had spent eighteen years inside the rooms where capability was assessed. In March 2026, I became the person outside the room.</a:t>
            </a:r>
            <a:endParaRPr lang="en-US" sz="1800" dirty="0"/>
          </a:p>
        </p:txBody>
      </p:sp>
      <p:sp>
        <p:nvSpPr>
          <p:cNvPr id="7" name="Mark2x2"/>
          <p:cNvSpPr/>
          <p:nvPr/>
        </p:nvSpPr>
        <p:spPr>
          <a:xfrm>
            <a:off x="11384280" y="310896"/>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ark2x2"/>
          <p:cNvSpPr/>
          <p:nvPr/>
        </p:nvSpPr>
        <p:spPr>
          <a:xfrm>
            <a:off x="11603736" y="310896"/>
            <a:ext cx="173736" cy="173736"/>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ark2x2"/>
          <p:cNvSpPr/>
          <p:nvPr/>
        </p:nvSpPr>
        <p:spPr>
          <a:xfrm>
            <a:off x="11384280" y="530352"/>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ark2x2"/>
          <p:cNvSpPr/>
          <p:nvPr/>
        </p:nvSpPr>
        <p:spPr>
          <a:xfrm>
            <a:off x="11603736" y="530352"/>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4</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THE VANTAGE</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What gets weighed when the doors close</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Four questions. None of them appear on your review form.</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548640" cy="109728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1</a:t>
            </a:r>
            <a:endParaRPr lang="en-US" sz="3000" dirty="0"/>
          </a:p>
        </p:txBody>
      </p:sp>
      <p:sp>
        <p:nvSpPr>
          <p:cNvPr id="9" name="Text 7"/>
          <p:cNvSpPr/>
          <p:nvPr/>
        </p:nvSpPr>
        <p:spPr>
          <a:xfrm>
            <a:off x="1344168" y="1920240"/>
            <a:ext cx="4416552" cy="109728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How hard would this person be to replace?</a:t>
            </a:r>
            <a:endParaRPr lang="en-US" sz="2000" dirty="0"/>
          </a:p>
        </p:txBody>
      </p:sp>
      <p:sp>
        <p:nvSpPr>
          <p:cNvPr id="10" name="Text 8"/>
          <p:cNvSpPr/>
          <p:nvPr/>
        </p:nvSpPr>
        <p:spPr>
          <a:xfrm>
            <a:off x="6208776" y="1920240"/>
            <a:ext cx="548640" cy="109728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2</a:t>
            </a:r>
            <a:endParaRPr lang="en-US" sz="3000" dirty="0"/>
          </a:p>
        </p:txBody>
      </p:sp>
      <p:sp>
        <p:nvSpPr>
          <p:cNvPr id="11" name="Text 9"/>
          <p:cNvSpPr/>
          <p:nvPr/>
        </p:nvSpPr>
        <p:spPr>
          <a:xfrm>
            <a:off x="6894576" y="1920240"/>
            <a:ext cx="4416552" cy="109728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Who outside this person’s manager can vouch for the work?</a:t>
            </a:r>
            <a:endParaRPr lang="en-US" sz="2000" dirty="0"/>
          </a:p>
        </p:txBody>
      </p:sp>
      <p:sp>
        <p:nvSpPr>
          <p:cNvPr id="12" name="Text 10"/>
          <p:cNvSpPr/>
          <p:nvPr/>
        </p:nvSpPr>
        <p:spPr>
          <a:xfrm>
            <a:off x="658368" y="3218688"/>
            <a:ext cx="548640" cy="109728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3</a:t>
            </a:r>
            <a:endParaRPr lang="en-US" sz="3000" dirty="0"/>
          </a:p>
        </p:txBody>
      </p:sp>
      <p:sp>
        <p:nvSpPr>
          <p:cNvPr id="13" name="Text 11"/>
          <p:cNvSpPr/>
          <p:nvPr/>
        </p:nvSpPr>
        <p:spPr>
          <a:xfrm>
            <a:off x="1344168" y="3218688"/>
            <a:ext cx="4416552" cy="109728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Is this capability current, or was it current?</a:t>
            </a:r>
            <a:endParaRPr lang="en-US" sz="2000" dirty="0"/>
          </a:p>
        </p:txBody>
      </p:sp>
      <p:sp>
        <p:nvSpPr>
          <p:cNvPr id="14" name="Text 12"/>
          <p:cNvSpPr/>
          <p:nvPr/>
        </p:nvSpPr>
        <p:spPr>
          <a:xfrm>
            <a:off x="6208776" y="3218688"/>
            <a:ext cx="548640" cy="109728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4</a:t>
            </a:r>
            <a:endParaRPr lang="en-US" sz="3000" dirty="0"/>
          </a:p>
        </p:txBody>
      </p:sp>
      <p:sp>
        <p:nvSpPr>
          <p:cNvPr id="15" name="Text 13"/>
          <p:cNvSpPr/>
          <p:nvPr/>
        </p:nvSpPr>
        <p:spPr>
          <a:xfrm>
            <a:off x="6894576" y="3218688"/>
            <a:ext cx="4416552" cy="109728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Does this person’s value travel, or does it only work here?</a:t>
            </a:r>
            <a:endParaRPr lang="en-US" sz="2000" dirty="0"/>
          </a:p>
        </p:txBody>
      </p:sp>
      <p:sp>
        <p:nvSpPr>
          <p:cNvPr id="16" name="Text 14"/>
          <p:cNvSpPr/>
          <p:nvPr/>
        </p:nvSpPr>
        <p:spPr>
          <a:xfrm>
            <a:off x="658368" y="4590288"/>
            <a:ext cx="10872216" cy="841248"/>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Density and Optionality read the formation and portability questions underneath them.</a:t>
            </a:r>
            <a:endParaRPr lang="en-US" sz="2000" dirty="0"/>
          </a:p>
        </p:txBody>
      </p:sp>
      <p:sp>
        <p:nvSpPr>
          <p:cNvPr id="17" name="Shape 15"/>
          <p:cNvSpPr/>
          <p:nvPr/>
        </p:nvSpPr>
        <p:spPr>
          <a:xfrm>
            <a:off x="658368" y="5577840"/>
            <a:ext cx="10872216" cy="10973"/>
          </a:xfrm>
          <a:prstGeom prst="rect">
            <a:avLst/>
          </a:prstGeom>
          <a:solidFill>
            <a:srgbClr val="E8DFCC"/>
          </a:solidFill>
          <a:ln w="12700">
            <a:solidFill>
              <a:srgbClr val="333333"/>
            </a:solidFill>
            <a:prstDash val="solid"/>
          </a:ln>
        </p:spPr>
        <p:txBody>
          <a:bodyPr>
            <a:normAutofit/>
          </a:bodyPr>
          <a:p/>
        </p:txBody>
      </p:sp>
      <p:sp>
        <p:nvSpPr>
          <p:cNvPr id="18" name="Text 16"/>
          <p:cNvSpPr/>
          <p:nvPr/>
        </p:nvSpPr>
        <p:spPr>
          <a:xfrm>
            <a:off x="658368" y="5724144"/>
            <a:ext cx="10872216" cy="566928"/>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The room reads your position whether or not you have.</a:t>
            </a:r>
            <a:endParaRPr lang="en-US" sz="2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5</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THE REFRAME</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The question underneath the question</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A fair question, and a reading that sits upstream of it.</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512064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WHAT YOU CAME IN ASKING</a:t>
            </a:r>
            <a:endParaRPr lang="en-US" sz="1100" dirty="0"/>
          </a:p>
        </p:txBody>
      </p:sp>
      <p:sp>
        <p:nvSpPr>
          <p:cNvPr id="9" name="Text 7"/>
          <p:cNvSpPr/>
          <p:nvPr/>
        </p:nvSpPr>
        <p:spPr>
          <a:xfrm>
            <a:off x="6236208" y="1920240"/>
            <a:ext cx="512064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WHAT YOU NEED TO READ FIRST</a:t>
            </a:r>
            <a:endParaRPr lang="en-US" sz="1100" dirty="0"/>
          </a:p>
        </p:txBody>
      </p:sp>
      <p:sp>
        <p:nvSpPr>
          <p:cNvPr id="10" name="Shape 8"/>
          <p:cNvSpPr/>
          <p:nvPr/>
        </p:nvSpPr>
        <p:spPr>
          <a:xfrm>
            <a:off x="658368" y="2304288"/>
            <a:ext cx="4901184" cy="1536192"/>
          </a:xfrm>
          <a:prstGeom prst="rect">
            <a:avLst/>
          </a:prstGeom>
          <a:solidFill>
            <a:srgbClr val="FFFFFF"/>
          </a:solidFill>
          <a:ln w="12700">
            <a:solidFill>
              <a:srgbClr val="E8DFCC"/>
            </a:solidFill>
            <a:prstDash val="solid"/>
          </a:ln>
        </p:spPr>
        <p:txBody>
          <a:bodyPr>
            <a:normAutofit/>
          </a:bodyPr>
          <a:p/>
        </p:txBody>
      </p:sp>
      <p:sp>
        <p:nvSpPr>
          <p:cNvPr id="11" name="Text 9"/>
          <p:cNvSpPr/>
          <p:nvPr/>
        </p:nvSpPr>
        <p:spPr>
          <a:xfrm>
            <a:off x="896112" y="2505456"/>
            <a:ext cx="4425696" cy="1188720"/>
          </a:xfrm>
          <a:prstGeom prst="rect">
            <a:avLst/>
          </a:prstGeom>
          <a:noFill/>
          <a:ln/>
        </p:spPr>
        <p:txBody>
          <a:bodyPr wrap="square" lIns="0" tIns="0" rIns="0" bIns="0" rtlCol="0" anchor="t">
            <a:normAutofit/>
          </a:bodyPr>
          <a:lstStyle/>
          <a:p>
            <a:pPr indent="0" marL="0">
              <a:lnSpc>
                <a:spcPct val="110000"/>
              </a:lnSpc>
              <a:buNone/>
            </a:pPr>
            <a:r>
              <a:rPr lang="en-US" sz="2400" dirty="0">
                <a:solidFill>
                  <a:srgbClr val="0F2347"/>
                </a:solidFill>
                <a:latin typeface="Cormorant Garamond" pitchFamily="34" charset="0"/>
                <a:ea typeface="Cormorant Garamond" pitchFamily="34" charset="-122"/>
                <a:cs typeface="Cormorant Garamond" pitchFamily="34" charset="-120"/>
              </a:rPr>
              <a:t>“Should I stay in this role, or should I go?”</a:t>
            </a:r>
            <a:endParaRPr lang="en-US" sz="2400" dirty="0"/>
          </a:p>
        </p:txBody>
      </p:sp>
      <p:sp>
        <p:nvSpPr>
          <p:cNvPr id="12" name="Shape 10"/>
          <p:cNvSpPr/>
          <p:nvPr/>
        </p:nvSpPr>
        <p:spPr>
          <a:xfrm>
            <a:off x="6236208" y="2304288"/>
            <a:ext cx="4901184" cy="1536192"/>
          </a:xfrm>
          <a:prstGeom prst="rect">
            <a:avLst/>
          </a:prstGeom>
          <a:solidFill>
            <a:srgbClr val="FFFFFF"/>
          </a:solidFill>
          <a:ln w="12700">
            <a:solidFill>
              <a:srgbClr val="E8DFCC"/>
            </a:solidFill>
            <a:prstDash val="solid"/>
          </a:ln>
        </p:spPr>
        <p:txBody>
          <a:bodyPr>
            <a:normAutofit/>
          </a:bodyPr>
          <a:p/>
        </p:txBody>
      </p:sp>
      <p:sp>
        <p:nvSpPr>
          <p:cNvPr id="13" name="Text 11"/>
          <p:cNvSpPr/>
          <p:nvPr/>
        </p:nvSpPr>
        <p:spPr>
          <a:xfrm>
            <a:off x="6473952" y="2505456"/>
            <a:ext cx="4425696" cy="1188720"/>
          </a:xfrm>
          <a:prstGeom prst="rect">
            <a:avLst/>
          </a:prstGeom>
          <a:noFill/>
          <a:ln/>
        </p:spPr>
        <p:txBody>
          <a:bodyPr wrap="square" lIns="0" tIns="0" rIns="0" bIns="0" rtlCol="0" anchor="t">
            <a:normAutofit/>
          </a:bodyPr>
          <a:lstStyle/>
          <a:p>
            <a:pPr indent="0" marL="0">
              <a:lnSpc>
                <a:spcPct val="110000"/>
              </a:lnSpc>
              <a:buNone/>
            </a:pPr>
            <a:r>
              <a:rPr lang="en-US" sz="2400" dirty="0">
                <a:solidFill>
                  <a:srgbClr val="0F2347"/>
                </a:solidFill>
                <a:latin typeface="Cormorant Garamond" pitchFamily="34" charset="0"/>
                <a:ea typeface="Cormorant Garamond" pitchFamily="34" charset="-122"/>
                <a:cs typeface="Cormorant Garamond" pitchFamily="34" charset="-120"/>
              </a:rPr>
              <a:t>“Is this position still forming me, and does what it built travel?”</a:t>
            </a:r>
            <a:endParaRPr lang="en-US" sz="2400" dirty="0"/>
          </a:p>
        </p:txBody>
      </p:sp>
      <p:sp>
        <p:nvSpPr>
          <p:cNvPr id="14" name="Text 12"/>
          <p:cNvSpPr/>
          <p:nvPr/>
        </p:nvSpPr>
        <p:spPr>
          <a:xfrm>
            <a:off x="658368" y="4133088"/>
            <a:ext cx="10872216" cy="859536"/>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The first question is yours alone. The second sits upstream of it, and this room can read it more rigorously.</a:t>
            </a:r>
            <a:endParaRPr lang="en-US" sz="2000" dirty="0"/>
          </a:p>
        </p:txBody>
      </p:sp>
      <p:sp>
        <p:nvSpPr>
          <p:cNvPr id="15" name="Shape 13"/>
          <p:cNvSpPr/>
          <p:nvPr/>
        </p:nvSpPr>
        <p:spPr>
          <a:xfrm>
            <a:off x="658368" y="5358384"/>
            <a:ext cx="10872216" cy="10973"/>
          </a:xfrm>
          <a:prstGeom prst="rect">
            <a:avLst/>
          </a:prstGeom>
          <a:solidFill>
            <a:srgbClr val="E8DFCC"/>
          </a:solidFill>
          <a:ln w="12700">
            <a:solidFill>
              <a:srgbClr val="333333"/>
            </a:solidFill>
            <a:prstDash val="solid"/>
          </a:ln>
        </p:spPr>
        <p:txBody>
          <a:bodyPr>
            <a:normAutofit/>
          </a:bodyPr>
          <a:p/>
        </p:txBody>
      </p:sp>
      <p:sp>
        <p:nvSpPr>
          <p:cNvPr id="16" name="Text 14"/>
          <p:cNvSpPr/>
          <p:nvPr/>
        </p:nvSpPr>
        <p:spPr>
          <a:xfrm>
            <a:off x="658368" y="5504688"/>
            <a:ext cx="10872216" cy="566928"/>
          </a:xfrm>
          <a:prstGeom prst="rect">
            <a:avLst/>
          </a:prstGeom>
          <a:noFill/>
          <a:ln/>
        </p:spPr>
        <p:txBody>
          <a:bodyPr wrap="square" lIns="0" tIns="0" rIns="0" bIns="0" rtlCol="0" anchor="t">
            <a:normAutofit/>
          </a:bodyPr>
          <a:lstStyle/>
          <a:p>
            <a:pPr indent="0" marL="0">
              <a:lnSpc>
                <a:spcPct val="115000"/>
              </a:lnSpc>
              <a:buNone/>
            </a:pPr>
            <a:endParaRPr lang="en-US" sz="16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6</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ORIENTATION</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How the two-hour session works</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Four moves. You will score yourself twice, in full, both times.</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01952"/>
            <a:ext cx="548640" cy="731520"/>
          </a:xfrm>
          <a:prstGeom prst="rect">
            <a:avLst/>
          </a:prstGeom>
          <a:noFill/>
          <a:ln/>
        </p:spPr>
        <p:txBody>
          <a:bodyPr wrap="square" lIns="0" tIns="0" rIns="0" bIns="0" rtlCol="0" anchor="t">
            <a:normAutofit/>
          </a:bodyPr>
          <a:lstStyle/>
          <a:p>
            <a:pPr indent="0" marL="0">
              <a:buNone/>
            </a:pPr>
            <a:r>
              <a:rPr lang="en-US" sz="2800" dirty="0">
                <a:solidFill>
                  <a:srgbClr val="C9A84C"/>
                </a:solidFill>
                <a:latin typeface="Cormorant Garamond" pitchFamily="34" charset="0"/>
                <a:ea typeface="Cormorant Garamond" pitchFamily="34" charset="-122"/>
                <a:cs typeface="Cormorant Garamond" pitchFamily="34" charset="-120"/>
              </a:rPr>
              <a:t>1</a:t>
            </a:r>
            <a:endParaRPr lang="en-US" sz="2800" dirty="0"/>
          </a:p>
        </p:txBody>
      </p:sp>
      <p:sp>
        <p:nvSpPr>
          <p:cNvPr id="9" name="Text 7"/>
          <p:cNvSpPr/>
          <p:nvPr/>
        </p:nvSpPr>
        <p:spPr>
          <a:xfrm>
            <a:off x="1298448" y="1901952"/>
            <a:ext cx="3108960" cy="402336"/>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Initial read</a:t>
            </a:r>
            <a:endParaRPr lang="en-US" sz="2000" dirty="0"/>
          </a:p>
        </p:txBody>
      </p:sp>
      <p:sp>
        <p:nvSpPr>
          <p:cNvPr id="10" name="Text 8"/>
          <p:cNvSpPr/>
          <p:nvPr/>
        </p:nvSpPr>
        <p:spPr>
          <a:xfrm>
            <a:off x="4498848" y="1901952"/>
            <a:ext cx="7031736" cy="73152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All twelve statements. No evidence yet.</a:t>
            </a:r>
            <a:endParaRPr lang="en-US" sz="2000" dirty="0"/>
          </a:p>
        </p:txBody>
      </p:sp>
      <p:sp>
        <p:nvSpPr>
          <p:cNvPr id="11" name="Text 9"/>
          <p:cNvSpPr/>
          <p:nvPr/>
        </p:nvSpPr>
        <p:spPr>
          <a:xfrm>
            <a:off x="658368" y="2798064"/>
            <a:ext cx="548640" cy="731520"/>
          </a:xfrm>
          <a:prstGeom prst="rect">
            <a:avLst/>
          </a:prstGeom>
          <a:noFill/>
          <a:ln/>
        </p:spPr>
        <p:txBody>
          <a:bodyPr wrap="square" lIns="0" tIns="0" rIns="0" bIns="0" rtlCol="0" anchor="t">
            <a:normAutofit/>
          </a:bodyPr>
          <a:lstStyle/>
          <a:p>
            <a:pPr indent="0" marL="0">
              <a:buNone/>
            </a:pPr>
            <a:r>
              <a:rPr lang="en-US" sz="2800" dirty="0">
                <a:solidFill>
                  <a:srgbClr val="C9A84C"/>
                </a:solidFill>
                <a:latin typeface="Cormorant Garamond" pitchFamily="34" charset="0"/>
                <a:ea typeface="Cormorant Garamond" pitchFamily="34" charset="-122"/>
                <a:cs typeface="Cormorant Garamond" pitchFamily="34" charset="-120"/>
              </a:rPr>
              <a:t>2</a:t>
            </a:r>
            <a:endParaRPr lang="en-US" sz="2800" dirty="0"/>
          </a:p>
        </p:txBody>
      </p:sp>
      <p:sp>
        <p:nvSpPr>
          <p:cNvPr id="12" name="Text 10"/>
          <p:cNvSpPr/>
          <p:nvPr/>
        </p:nvSpPr>
        <p:spPr>
          <a:xfrm>
            <a:off x="1298448" y="2798064"/>
            <a:ext cx="3108960" cy="402336"/>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Calibration</a:t>
            </a:r>
            <a:endParaRPr lang="en-US" sz="2000" dirty="0"/>
          </a:p>
        </p:txBody>
      </p:sp>
      <p:sp>
        <p:nvSpPr>
          <p:cNvPr id="13" name="Text 11"/>
          <p:cNvSpPr/>
          <p:nvPr/>
        </p:nvSpPr>
        <p:spPr>
          <a:xfrm>
            <a:off x="4498848" y="2798064"/>
            <a:ext cx="7031736" cy="73152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The evidence protocol and three common misreadings.</a:t>
            </a:r>
            <a:endParaRPr lang="en-US" sz="2000" dirty="0"/>
          </a:p>
        </p:txBody>
      </p:sp>
      <p:sp>
        <p:nvSpPr>
          <p:cNvPr id="14" name="Text 12"/>
          <p:cNvSpPr/>
          <p:nvPr/>
        </p:nvSpPr>
        <p:spPr>
          <a:xfrm>
            <a:off x="658368" y="3694176"/>
            <a:ext cx="548640" cy="731520"/>
          </a:xfrm>
          <a:prstGeom prst="rect">
            <a:avLst/>
          </a:prstGeom>
          <a:noFill/>
          <a:ln/>
        </p:spPr>
        <p:txBody>
          <a:bodyPr wrap="square" lIns="0" tIns="0" rIns="0" bIns="0" rtlCol="0" anchor="t">
            <a:normAutofit/>
          </a:bodyPr>
          <a:lstStyle/>
          <a:p>
            <a:pPr indent="0" marL="0">
              <a:buNone/>
            </a:pPr>
            <a:r>
              <a:rPr lang="en-US" sz="2800" dirty="0">
                <a:solidFill>
                  <a:srgbClr val="C9A84C"/>
                </a:solidFill>
                <a:latin typeface="Cormorant Garamond" pitchFamily="34" charset="0"/>
                <a:ea typeface="Cormorant Garamond" pitchFamily="34" charset="-122"/>
                <a:cs typeface="Cormorant Garamond" pitchFamily="34" charset="-120"/>
              </a:rPr>
              <a:t>3</a:t>
            </a:r>
            <a:endParaRPr lang="en-US" sz="2800" dirty="0"/>
          </a:p>
        </p:txBody>
      </p:sp>
      <p:sp>
        <p:nvSpPr>
          <p:cNvPr id="15" name="Text 13"/>
          <p:cNvSpPr/>
          <p:nvPr/>
        </p:nvSpPr>
        <p:spPr>
          <a:xfrm>
            <a:off x="1298448" y="3694176"/>
            <a:ext cx="3108960" cy="402336"/>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Evidence-backed read</a:t>
            </a:r>
            <a:endParaRPr lang="en-US" sz="2000" dirty="0"/>
          </a:p>
        </p:txBody>
      </p:sp>
      <p:sp>
        <p:nvSpPr>
          <p:cNvPr id="16" name="Text 14"/>
          <p:cNvSpPr/>
          <p:nvPr/>
        </p:nvSpPr>
        <p:spPr>
          <a:xfrm>
            <a:off x="4498848" y="3694176"/>
            <a:ext cx="7031736" cy="73152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The same twelve, with evidence. You keep the first number.</a:t>
            </a:r>
            <a:endParaRPr lang="en-US" sz="2000" dirty="0"/>
          </a:p>
        </p:txBody>
      </p:sp>
      <p:sp>
        <p:nvSpPr>
          <p:cNvPr id="17" name="Text 15"/>
          <p:cNvSpPr/>
          <p:nvPr/>
        </p:nvSpPr>
        <p:spPr>
          <a:xfrm>
            <a:off x="658368" y="4590288"/>
            <a:ext cx="548640" cy="731520"/>
          </a:xfrm>
          <a:prstGeom prst="rect">
            <a:avLst/>
          </a:prstGeom>
          <a:noFill/>
          <a:ln/>
        </p:spPr>
        <p:txBody>
          <a:bodyPr wrap="square" lIns="0" tIns="0" rIns="0" bIns="0" rtlCol="0" anchor="t">
            <a:normAutofit/>
          </a:bodyPr>
          <a:lstStyle/>
          <a:p>
            <a:pPr indent="0" marL="0">
              <a:buNone/>
            </a:pPr>
            <a:r>
              <a:rPr lang="en-US" sz="2800" dirty="0">
                <a:solidFill>
                  <a:srgbClr val="C9A84C"/>
                </a:solidFill>
                <a:latin typeface="Cormorant Garamond" pitchFamily="34" charset="0"/>
                <a:ea typeface="Cormorant Garamond" pitchFamily="34" charset="-122"/>
                <a:cs typeface="Cormorant Garamond" pitchFamily="34" charset="-120"/>
              </a:rPr>
              <a:t>4</a:t>
            </a:r>
            <a:endParaRPr lang="en-US" sz="2800" dirty="0"/>
          </a:p>
        </p:txBody>
      </p:sp>
      <p:sp>
        <p:nvSpPr>
          <p:cNvPr id="18" name="Text 16"/>
          <p:cNvSpPr/>
          <p:nvPr/>
        </p:nvSpPr>
        <p:spPr>
          <a:xfrm>
            <a:off x="1298448" y="4590288"/>
            <a:ext cx="3108960" cy="402336"/>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Decide</a:t>
            </a:r>
            <a:endParaRPr lang="en-US" sz="2000" dirty="0"/>
          </a:p>
        </p:txBody>
      </p:sp>
      <p:sp>
        <p:nvSpPr>
          <p:cNvPr id="19" name="Text 17"/>
          <p:cNvSpPr/>
          <p:nvPr/>
        </p:nvSpPr>
        <p:spPr>
          <a:xfrm>
            <a:off x="4498848" y="4590288"/>
            <a:ext cx="7031736" cy="73152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Re-total, place again, and write your Next-Move Decision.</a:t>
            </a:r>
            <a:endParaRPr lang="en-US" sz="2000" dirty="0"/>
          </a:p>
        </p:txBody>
      </p:sp>
      <p:sp>
        <p:nvSpPr>
          <p:cNvPr id="20" name="Shape 18"/>
          <p:cNvSpPr/>
          <p:nvPr/>
        </p:nvSpPr>
        <p:spPr>
          <a:xfrm>
            <a:off x="658368" y="5504688"/>
            <a:ext cx="10872216" cy="10973"/>
          </a:xfrm>
          <a:prstGeom prst="rect">
            <a:avLst/>
          </a:prstGeom>
          <a:solidFill>
            <a:srgbClr val="E8DFCC"/>
          </a:solidFill>
          <a:ln w="12700">
            <a:solidFill>
              <a:srgbClr val="333333"/>
            </a:solidFill>
            <a:prstDash val="solid"/>
          </a:ln>
        </p:spPr>
        <p:txBody>
          <a:bodyPr>
            <a:normAutofit/>
          </a:bodyPr>
          <a:p/>
        </p:txBody>
      </p:sp>
      <p:sp>
        <p:nvSpPr>
          <p:cNvPr id="21" name="Text 19"/>
          <p:cNvSpPr/>
          <p:nvPr/>
        </p:nvSpPr>
        <p:spPr>
          <a:xfrm>
            <a:off x="658368" y="5650992"/>
            <a:ext cx="10872216" cy="566928"/>
          </a:xfrm>
          <a:prstGeom prst="rect">
            <a:avLst/>
          </a:prstGeom>
          <a:noFill/>
          <a:ln/>
        </p:spPr>
        <p:txBody>
          <a:bodyPr wrap="square" lIns="0" tIns="0" rIns="0" bIns="0" rtlCol="0" anchor="t">
            <a:normAutofit/>
          </a:bodyPr>
          <a:lstStyle/>
          <a:p>
            <a:pPr indent="0" marL="0">
              <a:lnSpc>
                <a:spcPct val="115000"/>
              </a:lnSpc>
              <a:buNone/>
            </a:pPr>
            <a:endParaRPr lang="en-US" sz="16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7</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DEFINITION ONE</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Density</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Learning velocity. Whether this environment is still forming you.</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10872216" cy="914400"/>
          </a:xfrm>
          <a:prstGeom prst="rect">
            <a:avLst/>
          </a:prstGeom>
          <a:noFill/>
          <a:ln/>
        </p:spPr>
        <p:txBody>
          <a:bodyPr wrap="square" lIns="0" tIns="0" rIns="0" bIns="0" rtlCol="0" anchor="t">
            <a:normAutofit/>
          </a:bodyPr>
          <a:lstStyle/>
          <a:p>
            <a:pPr indent="0" marL="0">
              <a:lnSpc>
                <a:spcPct val="120000"/>
              </a:lnSpc>
              <a:buNone/>
            </a:pPr>
            <a:r>
              <a:rPr lang="en-US" sz="2400" dirty="0">
                <a:solidFill>
                  <a:srgbClr val="0F2347"/>
                </a:solidFill>
                <a:latin typeface="Cormorant Garamond" pitchFamily="34" charset="0"/>
                <a:ea typeface="Cormorant Garamond" pitchFamily="34" charset="-122"/>
                <a:cs typeface="Cormorant Garamond" pitchFamily="34" charset="-120"/>
              </a:rPr>
              <a:t>Density is whether the environment is still forming deeper capability in you.</a:t>
            </a:r>
            <a:endParaRPr lang="en-US" sz="2400" dirty="0"/>
          </a:p>
        </p:txBody>
      </p:sp>
      <p:sp>
        <p:nvSpPr>
          <p:cNvPr id="9" name="Text 7"/>
          <p:cNvSpPr/>
          <p:nvPr/>
        </p:nvSpPr>
        <p:spPr>
          <a:xfrm>
            <a:off x="658368" y="2944368"/>
            <a:ext cx="10872216" cy="82296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A property of your conditions, not your effort. A role can be exhausting and form nothing.</a:t>
            </a:r>
            <a:endParaRPr lang="en-US" sz="2000" dirty="0"/>
          </a:p>
        </p:txBody>
      </p:sp>
      <p:sp>
        <p:nvSpPr>
          <p:cNvPr id="10" name="Shape 8"/>
          <p:cNvSpPr/>
          <p:nvPr/>
        </p:nvSpPr>
        <p:spPr>
          <a:xfrm>
            <a:off x="658368" y="3950208"/>
            <a:ext cx="10872216" cy="1207008"/>
          </a:xfrm>
          <a:prstGeom prst="rect">
            <a:avLst/>
          </a:prstGeom>
          <a:solidFill>
            <a:srgbClr val="FFFFFF"/>
          </a:solidFill>
          <a:ln w="12700">
            <a:solidFill>
              <a:srgbClr val="E8DFCC"/>
            </a:solidFill>
            <a:prstDash val="solid"/>
          </a:ln>
        </p:spPr>
        <p:txBody>
          <a:bodyPr>
            <a:normAutofit/>
          </a:bodyPr>
          <a:p/>
        </p:txBody>
      </p:sp>
      <p:sp>
        <p:nvSpPr>
          <p:cNvPr id="11" name="Text 9"/>
          <p:cNvSpPr/>
          <p:nvPr/>
        </p:nvSpPr>
        <p:spPr>
          <a:xfrm>
            <a:off x="914400" y="4133088"/>
            <a:ext cx="10360152" cy="402336"/>
          </a:xfrm>
          <a:prstGeom prst="rect">
            <a:avLst/>
          </a:prstGeom>
          <a:noFill/>
          <a:ln/>
        </p:spPr>
        <p:txBody>
          <a:bodyPr wrap="square" lIns="0" tIns="0" rIns="0" bIns="0" rtlCol="0" anchor="t">
            <a:normAutofit/>
          </a:bodyPr>
          <a:lstStyle/>
          <a:p>
            <a:pPr indent="0" marL="0">
              <a:buNone/>
            </a:pPr>
            <a:r>
              <a:rPr lang="en-US" sz="2200" b="1" dirty="0">
                <a:solidFill>
                  <a:srgbClr val="0F2347"/>
                </a:solidFill>
                <a:latin typeface="DM Sans" pitchFamily="34" charset="0"/>
                <a:ea typeface="DM Sans" pitchFamily="34" charset="-122"/>
                <a:cs typeface="DM Sans" pitchFamily="34" charset="-120"/>
              </a:rPr>
              <a:t>Density is not workload, busyness, pressure or intensity.</a:t>
            </a:r>
            <a:endParaRPr lang="en-US" sz="2200" dirty="0"/>
          </a:p>
        </p:txBody>
      </p:sp>
      <p:sp>
        <p:nvSpPr>
          <p:cNvPr id="12" name="Text 10"/>
          <p:cNvSpPr/>
          <p:nvPr/>
        </p:nvSpPr>
        <p:spPr>
          <a:xfrm>
            <a:off x="914400" y="4590288"/>
            <a:ext cx="10360152" cy="402336"/>
          </a:xfrm>
          <a:prstGeom prst="rect">
            <a:avLst/>
          </a:prstGeom>
          <a:noFill/>
          <a:ln/>
        </p:spPr>
        <p:txBody>
          <a:bodyPr wrap="square" lIns="0" tIns="0" rIns="0" bIns="0" rtlCol="0" anchor="t">
            <a:normAutofit/>
          </a:bodyPr>
          <a:lstStyle/>
          <a:p>
            <a:pPr indent="0" marL="0">
              <a:buNone/>
            </a:pPr>
            <a:r>
              <a:rPr lang="en-US" sz="2000" dirty="0">
                <a:solidFill>
                  <a:srgbClr val="0F2347"/>
                </a:solidFill>
                <a:latin typeface="DM Sans" pitchFamily="34" charset="0"/>
                <a:ea typeface="DM Sans" pitchFamily="34" charset="-122"/>
                <a:cs typeface="DM Sans" pitchFamily="34" charset="-120"/>
              </a:rPr>
              <a:t>A hard week is not evidence of formation.</a:t>
            </a:r>
            <a:endParaRPr lang="en-US" sz="2000" dirty="0"/>
          </a:p>
        </p:txBody>
      </p:sp>
      <p:sp>
        <p:nvSpPr>
          <p:cNvPr id="13" name="Shape 11"/>
          <p:cNvSpPr/>
          <p:nvPr/>
        </p:nvSpPr>
        <p:spPr>
          <a:xfrm>
            <a:off x="658368" y="5394960"/>
            <a:ext cx="10872216" cy="10973"/>
          </a:xfrm>
          <a:prstGeom prst="rect">
            <a:avLst/>
          </a:prstGeom>
          <a:solidFill>
            <a:srgbClr val="E8DFCC"/>
          </a:solidFill>
          <a:ln w="12700">
            <a:solidFill>
              <a:srgbClr val="333333"/>
            </a:solidFill>
            <a:prstDash val="solid"/>
          </a:ln>
        </p:spPr>
        <p:txBody>
          <a:bodyPr>
            <a:normAutofit/>
          </a:bodyPr>
          <a:p/>
        </p:txBody>
      </p:sp>
      <p:sp>
        <p:nvSpPr>
          <p:cNvPr id="14" name="Text 12"/>
          <p:cNvSpPr/>
          <p:nvPr/>
        </p:nvSpPr>
        <p:spPr>
          <a:xfrm>
            <a:off x="658368" y="5541264"/>
            <a:ext cx="10872216" cy="566928"/>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0F2347"/>
                </a:solidFill>
                <a:latin typeface="DM Sans" pitchFamily="34" charset="0"/>
                <a:ea typeface="DM Sans" pitchFamily="34" charset="-122"/>
                <a:cs typeface="DM Sans" pitchFamily="34" charset="-120"/>
              </a:rPr>
              <a:t>Six statements, in a few minutes.</a:t>
            </a:r>
            <a:endParaRPr lang="en-US" sz="1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8</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DEFINITION TWO</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Optionality</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Market portability. Whether what you built is yours to carry.</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10872216" cy="914400"/>
          </a:xfrm>
          <a:prstGeom prst="rect">
            <a:avLst/>
          </a:prstGeom>
          <a:noFill/>
          <a:ln/>
        </p:spPr>
        <p:txBody>
          <a:bodyPr wrap="square" lIns="0" tIns="0" rIns="0" bIns="0" rtlCol="0" anchor="t">
            <a:normAutofit/>
          </a:bodyPr>
          <a:lstStyle/>
          <a:p>
            <a:pPr indent="0" marL="0">
              <a:lnSpc>
                <a:spcPct val="120000"/>
              </a:lnSpc>
              <a:buNone/>
            </a:pPr>
            <a:r>
              <a:rPr lang="en-US" sz="2400" dirty="0">
                <a:solidFill>
                  <a:srgbClr val="0F2347"/>
                </a:solidFill>
                <a:latin typeface="Cormorant Garamond" pitchFamily="34" charset="0"/>
                <a:ea typeface="Cormorant Garamond" pitchFamily="34" charset="-122"/>
                <a:cs typeface="Cormorant Garamond" pitchFamily="34" charset="-120"/>
              </a:rPr>
              <a:t>Optionality is the portability and legibility of what you have built.</a:t>
            </a:r>
            <a:endParaRPr lang="en-US" sz="2400" dirty="0"/>
          </a:p>
        </p:txBody>
      </p:sp>
      <p:sp>
        <p:nvSpPr>
          <p:cNvPr id="9" name="Text 7"/>
          <p:cNvSpPr/>
          <p:nvPr/>
        </p:nvSpPr>
        <p:spPr>
          <a:xfrm>
            <a:off x="658368" y="2944368"/>
            <a:ext cx="10872216" cy="82296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Two halves people collapse into one: whether the capability transfers, and whether anyone with power outside your manager has seen it.</a:t>
            </a:r>
            <a:endParaRPr lang="en-US" sz="2000" dirty="0"/>
          </a:p>
        </p:txBody>
      </p:sp>
      <p:sp>
        <p:nvSpPr>
          <p:cNvPr id="10" name="Shape 8"/>
          <p:cNvSpPr/>
          <p:nvPr/>
        </p:nvSpPr>
        <p:spPr>
          <a:xfrm>
            <a:off x="658368" y="3950208"/>
            <a:ext cx="10872216" cy="1207008"/>
          </a:xfrm>
          <a:prstGeom prst="rect">
            <a:avLst/>
          </a:prstGeom>
          <a:solidFill>
            <a:srgbClr val="FFFFFF"/>
          </a:solidFill>
          <a:ln w="12700">
            <a:solidFill>
              <a:srgbClr val="E8DFCC"/>
            </a:solidFill>
            <a:prstDash val="solid"/>
          </a:ln>
        </p:spPr>
        <p:txBody>
          <a:bodyPr>
            <a:normAutofit/>
          </a:bodyPr>
          <a:p/>
        </p:txBody>
      </p:sp>
      <p:sp>
        <p:nvSpPr>
          <p:cNvPr id="11" name="Text 9"/>
          <p:cNvSpPr/>
          <p:nvPr/>
        </p:nvSpPr>
        <p:spPr>
          <a:xfrm>
            <a:off x="914400" y="4133088"/>
            <a:ext cx="10360152" cy="402336"/>
          </a:xfrm>
          <a:prstGeom prst="rect">
            <a:avLst/>
          </a:prstGeom>
          <a:noFill/>
          <a:ln/>
        </p:spPr>
        <p:txBody>
          <a:bodyPr wrap="square" lIns="0" tIns="0" rIns="0" bIns="0" rtlCol="0" anchor="t">
            <a:normAutofit/>
          </a:bodyPr>
          <a:lstStyle/>
          <a:p>
            <a:pPr indent="0" marL="0">
              <a:buNone/>
            </a:pPr>
            <a:r>
              <a:rPr lang="en-US" sz="2200" b="1" dirty="0">
                <a:solidFill>
                  <a:srgbClr val="0F2347"/>
                </a:solidFill>
                <a:latin typeface="DM Sans" pitchFamily="34" charset="0"/>
                <a:ea typeface="DM Sans" pitchFamily="34" charset="-122"/>
                <a:cs typeface="DM Sans" pitchFamily="34" charset="-120"/>
              </a:rPr>
              <a:t>Optionality is not having offers in hand.</a:t>
            </a:r>
            <a:endParaRPr lang="en-US" sz="2200" dirty="0"/>
          </a:p>
        </p:txBody>
      </p:sp>
      <p:sp>
        <p:nvSpPr>
          <p:cNvPr id="12" name="Text 10"/>
          <p:cNvSpPr/>
          <p:nvPr/>
        </p:nvSpPr>
        <p:spPr>
          <a:xfrm>
            <a:off x="914400" y="4590288"/>
            <a:ext cx="10360152" cy="402336"/>
          </a:xfrm>
          <a:prstGeom prst="rect">
            <a:avLst/>
          </a:prstGeom>
          <a:noFill/>
          <a:ln/>
        </p:spPr>
        <p:txBody>
          <a:bodyPr wrap="square" lIns="0" tIns="0" rIns="0" bIns="0" rtlCol="0" anchor="t">
            <a:normAutofit/>
          </a:bodyPr>
          <a:lstStyle/>
          <a:p>
            <a:pPr indent="0" marL="0">
              <a:buNone/>
            </a:pPr>
            <a:endParaRPr lang="en-US" sz="2000" dirty="0"/>
          </a:p>
        </p:txBody>
      </p:sp>
      <p:sp>
        <p:nvSpPr>
          <p:cNvPr id="13" name="Shape 11"/>
          <p:cNvSpPr/>
          <p:nvPr/>
        </p:nvSpPr>
        <p:spPr>
          <a:xfrm>
            <a:off x="658368" y="5394960"/>
            <a:ext cx="10872216" cy="10973"/>
          </a:xfrm>
          <a:prstGeom prst="rect">
            <a:avLst/>
          </a:prstGeom>
          <a:solidFill>
            <a:srgbClr val="E8DFCC"/>
          </a:solidFill>
          <a:ln w="12700">
            <a:solidFill>
              <a:srgbClr val="333333"/>
            </a:solidFill>
            <a:prstDash val="solid"/>
          </a:ln>
        </p:spPr>
        <p:txBody>
          <a:bodyPr>
            <a:normAutofit/>
          </a:bodyPr>
          <a:p/>
        </p:txBody>
      </p:sp>
      <p:sp>
        <p:nvSpPr>
          <p:cNvPr id="14" name="Text 12"/>
          <p:cNvSpPr/>
          <p:nvPr/>
        </p:nvSpPr>
        <p:spPr>
          <a:xfrm>
            <a:off x="658368" y="5541264"/>
            <a:ext cx="10872216" cy="566928"/>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0F2347"/>
                </a:solidFill>
                <a:latin typeface="DM Sans" pitchFamily="34" charset="0"/>
                <a:ea typeface="DM Sans" pitchFamily="34" charset="-122"/>
                <a:cs typeface="DM Sans" pitchFamily="34" charset="-120"/>
              </a:rPr>
              <a:t>Six statements. Twelve in total.</a:t>
            </a:r>
            <a:endParaRPr lang="en-US" sz="1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9</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APPLICATION</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What AI changes about this reading</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Sixty seconds. An application of the two axes, not a new axis.</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2011680"/>
            <a:ext cx="10872216" cy="1188720"/>
          </a:xfrm>
          <a:prstGeom prst="rect">
            <a:avLst/>
          </a:prstGeom>
          <a:noFill/>
          <a:ln/>
        </p:spPr>
        <p:txBody>
          <a:bodyPr wrap="square" lIns="0" tIns="0" rIns="0" bIns="0" rtlCol="0" anchor="t">
            <a:normAutofit/>
          </a:bodyPr>
          <a:lstStyle/>
          <a:p>
            <a:pPr indent="0" marL="0">
              <a:lnSpc>
                <a:spcPct val="120000"/>
              </a:lnSpc>
              <a:buNone/>
            </a:pPr>
            <a:r>
              <a:rPr lang="en-US" sz="2400" dirty="0">
                <a:solidFill>
                  <a:srgbClr val="0F2347"/>
                </a:solidFill>
                <a:latin typeface="Cormorant Garamond" pitchFamily="34" charset="0"/>
                <a:ea typeface="Cormorant Garamond" pitchFamily="34" charset="-122"/>
                <a:cs typeface="Cormorant Garamond" pitchFamily="34" charset="-120"/>
              </a:rPr>
              <a:t>Where AI makes routine output easier to reproduce, your position depends more heavily on judgment, learning velocity, and capability that travels across unfamiliar problems.</a:t>
            </a:r>
            <a:endParaRPr lang="en-US" sz="2400" dirty="0"/>
          </a:p>
        </p:txBody>
      </p:sp>
      <p:sp>
        <p:nvSpPr>
          <p:cNvPr id="9" name="Shape 7"/>
          <p:cNvSpPr/>
          <p:nvPr/>
        </p:nvSpPr>
        <p:spPr>
          <a:xfrm>
            <a:off x="658368" y="3529584"/>
            <a:ext cx="10872216" cy="914400"/>
          </a:xfrm>
          <a:prstGeom prst="rect">
            <a:avLst/>
          </a:prstGeom>
          <a:solidFill>
            <a:srgbClr val="FFFFFF"/>
          </a:solidFill>
          <a:ln w="12700">
            <a:solidFill>
              <a:srgbClr val="E8DFCC"/>
            </a:solidFill>
            <a:prstDash val="solid"/>
          </a:ln>
        </p:spPr>
        <p:txBody>
          <a:bodyPr>
            <a:normAutofit/>
          </a:bodyPr>
          <a:p/>
        </p:txBody>
      </p:sp>
      <p:sp>
        <p:nvSpPr>
          <p:cNvPr id="10" name="Text 8"/>
          <p:cNvSpPr/>
          <p:nvPr/>
        </p:nvSpPr>
        <p:spPr>
          <a:xfrm>
            <a:off x="914400" y="3712464"/>
            <a:ext cx="10360152" cy="621792"/>
          </a:xfrm>
          <a:prstGeom prst="rect">
            <a:avLst/>
          </a:prstGeom>
          <a:noFill/>
          <a:ln/>
        </p:spPr>
        <p:txBody>
          <a:bodyPr wrap="square" lIns="0" tIns="0" rIns="0" bIns="0" rtlCol="0" anchor="t">
            <a:normAutofit/>
          </a:bodyPr>
          <a:lstStyle/>
          <a:p>
            <a:pPr indent="0" marL="0">
              <a:lnSpc>
                <a:spcPct val="115000"/>
              </a:lnSpc>
              <a:buNone/>
            </a:pPr>
            <a:r>
              <a:rPr lang="en-US" sz="2100" b="1" dirty="0">
                <a:solidFill>
                  <a:srgbClr val="0F2347"/>
                </a:solidFill>
                <a:latin typeface="DM Sans" pitchFamily="34" charset="0"/>
                <a:ea typeface="DM Sans" pitchFamily="34" charset="-122"/>
                <a:cs typeface="DM Sans" pitchFamily="34" charset="-120"/>
              </a:rPr>
              <a:t>AI does not create Compounding. It raises the cost of mistaking familiar output for growing capability.</a:t>
            </a:r>
            <a:endParaRPr lang="en-US" sz="2100" dirty="0"/>
          </a:p>
        </p:txBody>
      </p:sp>
      <p:sp>
        <p:nvSpPr>
          <p:cNvPr id="11" name="Text 9"/>
          <p:cNvSpPr/>
          <p:nvPr/>
        </p:nvSpPr>
        <p:spPr>
          <a:xfrm>
            <a:off x="658368" y="4681728"/>
            <a:ext cx="10872216" cy="457200"/>
          </a:xfrm>
          <a:prstGeom prst="rect">
            <a:avLst/>
          </a:prstGeom>
          <a:noFill/>
          <a:ln/>
        </p:spPr>
        <p:txBody>
          <a:bodyPr wrap="square" lIns="0" tIns="0" rIns="0" bIns="0" rtlCol="0" anchor="t">
            <a:normAutofit/>
          </a:bodyPr>
          <a:lstStyle/>
          <a:p>
            <a:pPr indent="0" marL="0">
              <a:lnSpc>
                <a:spcPct val="120000"/>
              </a:lnSpc>
              <a:buNone/>
            </a:pPr>
            <a:endParaRPr lang="en-US" sz="2000" dirty="0"/>
          </a:p>
        </p:txBody>
      </p:sp>
      <p:sp>
        <p:nvSpPr>
          <p:cNvPr id="12" name="Shape 10"/>
          <p:cNvSpPr/>
          <p:nvPr/>
        </p:nvSpPr>
        <p:spPr>
          <a:xfrm>
            <a:off x="658368" y="5394960"/>
            <a:ext cx="10872216" cy="10973"/>
          </a:xfrm>
          <a:prstGeom prst="rect">
            <a:avLst/>
          </a:prstGeom>
          <a:solidFill>
            <a:srgbClr val="E8DFCC"/>
          </a:solidFill>
          <a:ln w="12700">
            <a:solidFill>
              <a:srgbClr val="333333"/>
            </a:solidFill>
            <a:prstDash val="solid"/>
          </a:ln>
        </p:spPr>
        <p:txBody>
          <a:bodyPr>
            <a:normAutofit/>
          </a:bodyPr>
          <a:p/>
        </p:txBody>
      </p:sp>
      <p:sp>
        <p:nvSpPr>
          <p:cNvPr id="13" name="Text 11"/>
          <p:cNvSpPr/>
          <p:nvPr/>
        </p:nvSpPr>
        <p:spPr>
          <a:xfrm>
            <a:off x="658368" y="5541264"/>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Fuller treatment in the appendix and on workbook page 25.</a:t>
            </a:r>
            <a:endParaRPr lang="en-US" sz="16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E9EDF3"/>
        </a:solidFill>
        <a:effectLst/>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10</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INITIAL READ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Your initial read: statements 1 to 3</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Density. Live, silent. 1 strongly disagree to 5 strongly agree.</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75104"/>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1</a:t>
            </a:r>
            <a:endParaRPr lang="en-US" sz="3000" dirty="0"/>
          </a:p>
        </p:txBody>
      </p:sp>
      <p:sp>
        <p:nvSpPr>
          <p:cNvPr id="9" name="Text 7"/>
          <p:cNvSpPr/>
          <p:nvPr/>
        </p:nvSpPr>
        <p:spPr>
          <a:xfrm>
            <a:off x="1371600" y="1975104"/>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In the last ninety days I have been handed a problem I did not already know how to solve.</a:t>
            </a:r>
            <a:endParaRPr lang="en-US" sz="2000" dirty="0"/>
          </a:p>
        </p:txBody>
      </p:sp>
      <p:sp>
        <p:nvSpPr>
          <p:cNvPr id="10" name="Text 8"/>
          <p:cNvSpPr/>
          <p:nvPr/>
        </p:nvSpPr>
        <p:spPr>
          <a:xfrm>
            <a:off x="9098280" y="1975104"/>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1" name="Text 9"/>
          <p:cNvSpPr/>
          <p:nvPr/>
        </p:nvSpPr>
        <p:spPr>
          <a:xfrm>
            <a:off x="658368" y="3145536"/>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2</a:t>
            </a:r>
            <a:endParaRPr lang="en-US" sz="3000" dirty="0"/>
          </a:p>
        </p:txBody>
      </p:sp>
      <p:sp>
        <p:nvSpPr>
          <p:cNvPr id="12" name="Text 10"/>
          <p:cNvSpPr/>
          <p:nvPr/>
        </p:nvSpPr>
        <p:spPr>
          <a:xfrm>
            <a:off x="1371600" y="3145536"/>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I work close enough to people who are better than me that I can watch how they think.</a:t>
            </a:r>
            <a:endParaRPr lang="en-US" sz="2000" dirty="0"/>
          </a:p>
        </p:txBody>
      </p:sp>
      <p:sp>
        <p:nvSpPr>
          <p:cNvPr id="13" name="Text 11"/>
          <p:cNvSpPr/>
          <p:nvPr/>
        </p:nvSpPr>
        <p:spPr>
          <a:xfrm>
            <a:off x="9098280" y="3145536"/>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4" name="Text 12"/>
          <p:cNvSpPr/>
          <p:nvPr/>
        </p:nvSpPr>
        <p:spPr>
          <a:xfrm>
            <a:off x="658368" y="4315968"/>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3</a:t>
            </a:r>
            <a:endParaRPr lang="en-US" sz="3000" dirty="0"/>
          </a:p>
        </p:txBody>
      </p:sp>
      <p:sp>
        <p:nvSpPr>
          <p:cNvPr id="15" name="Text 13"/>
          <p:cNvSpPr/>
          <p:nvPr/>
        </p:nvSpPr>
        <p:spPr>
          <a:xfrm>
            <a:off x="1371600" y="4315968"/>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My work is reviewed by someone who can tell the difference between good and adequate, and who says so directly.</a:t>
            </a:r>
            <a:endParaRPr lang="en-US" sz="2000" dirty="0"/>
          </a:p>
        </p:txBody>
      </p:sp>
      <p:sp>
        <p:nvSpPr>
          <p:cNvPr id="16" name="Text 14"/>
          <p:cNvSpPr/>
          <p:nvPr/>
        </p:nvSpPr>
        <p:spPr>
          <a:xfrm>
            <a:off x="9098280" y="4315968"/>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7" name="Shape 15"/>
          <p:cNvSpPr/>
          <p:nvPr/>
        </p:nvSpPr>
        <p:spPr>
          <a:xfrm>
            <a:off x="658368" y="5431536"/>
            <a:ext cx="10872216" cy="10973"/>
          </a:xfrm>
          <a:prstGeom prst="rect">
            <a:avLst/>
          </a:prstGeom>
          <a:solidFill>
            <a:srgbClr val="E8DFCC"/>
          </a:solidFill>
          <a:ln w="12700">
            <a:solidFill>
              <a:srgbClr val="333333"/>
            </a:solidFill>
            <a:prstDash val="solid"/>
          </a:ln>
        </p:spPr>
        <p:txBody>
          <a:bodyPr>
            <a:normAutofit/>
          </a:bodyPr>
          <a:p/>
        </p:txBody>
      </p:sp>
      <p:sp>
        <p:nvSpPr>
          <p:cNvPr id="18" name="Text 16"/>
          <p:cNvSpPr/>
          <p:nvPr/>
        </p:nvSpPr>
        <p:spPr>
          <a:xfrm>
            <a:off x="658368" y="5577840"/>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No evidence line yet — that is deliberate. Workbook page 4.</a:t>
            </a:r>
            <a:endParaRPr lang="en-US" sz="16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E9EDF3"/>
        </a:solidFill>
        <a:effectLst/>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11</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INITIAL READ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Your initial read: statements 4 to 6</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Density, continued. Same window, same instruction.</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75104"/>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4</a:t>
            </a:r>
            <a:endParaRPr lang="en-US" sz="3000" dirty="0"/>
          </a:p>
        </p:txBody>
      </p:sp>
      <p:sp>
        <p:nvSpPr>
          <p:cNvPr id="9" name="Text 7"/>
          <p:cNvSpPr/>
          <p:nvPr/>
        </p:nvSpPr>
        <p:spPr>
          <a:xfrm>
            <a:off x="1371600" y="1975104"/>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The feedback I receive changes what I do next, not just how I feel.</a:t>
            </a:r>
            <a:endParaRPr lang="en-US" sz="2000" dirty="0"/>
          </a:p>
        </p:txBody>
      </p:sp>
      <p:sp>
        <p:nvSpPr>
          <p:cNvPr id="10" name="Text 8"/>
          <p:cNvSpPr/>
          <p:nvPr/>
        </p:nvSpPr>
        <p:spPr>
          <a:xfrm>
            <a:off x="9098280" y="1975104"/>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1" name="Text 9"/>
          <p:cNvSpPr/>
          <p:nvPr/>
        </p:nvSpPr>
        <p:spPr>
          <a:xfrm>
            <a:off x="658368" y="3145536"/>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5</a:t>
            </a:r>
            <a:endParaRPr lang="en-US" sz="3000" dirty="0"/>
          </a:p>
        </p:txBody>
      </p:sp>
      <p:sp>
        <p:nvSpPr>
          <p:cNvPr id="12" name="Text 10"/>
          <p:cNvSpPr/>
          <p:nvPr/>
        </p:nvSpPr>
        <p:spPr>
          <a:xfrm>
            <a:off x="1371600" y="3145536"/>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I regularly operate at the edge of my competence rather than the comfortable center of it.</a:t>
            </a:r>
            <a:endParaRPr lang="en-US" sz="2000" dirty="0"/>
          </a:p>
        </p:txBody>
      </p:sp>
      <p:sp>
        <p:nvSpPr>
          <p:cNvPr id="13" name="Text 11"/>
          <p:cNvSpPr/>
          <p:nvPr/>
        </p:nvSpPr>
        <p:spPr>
          <a:xfrm>
            <a:off x="9098280" y="3145536"/>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4" name="Text 12"/>
          <p:cNvSpPr/>
          <p:nvPr/>
        </p:nvSpPr>
        <p:spPr>
          <a:xfrm>
            <a:off x="658368" y="4315968"/>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6</a:t>
            </a:r>
            <a:endParaRPr lang="en-US" sz="3000" dirty="0"/>
          </a:p>
        </p:txBody>
      </p:sp>
      <p:sp>
        <p:nvSpPr>
          <p:cNvPr id="15" name="Text 13"/>
          <p:cNvSpPr/>
          <p:nvPr/>
        </p:nvSpPr>
        <p:spPr>
          <a:xfrm>
            <a:off x="1371600" y="4315968"/>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Looking back six months, the work I do now would have been genuinely hard for me then.</a:t>
            </a:r>
            <a:endParaRPr lang="en-US" sz="2000" dirty="0"/>
          </a:p>
        </p:txBody>
      </p:sp>
      <p:sp>
        <p:nvSpPr>
          <p:cNvPr id="16" name="Text 14"/>
          <p:cNvSpPr/>
          <p:nvPr/>
        </p:nvSpPr>
        <p:spPr>
          <a:xfrm>
            <a:off x="9098280" y="4315968"/>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7" name="Shape 15"/>
          <p:cNvSpPr/>
          <p:nvPr/>
        </p:nvSpPr>
        <p:spPr>
          <a:xfrm>
            <a:off x="658368" y="5431536"/>
            <a:ext cx="10872216" cy="10973"/>
          </a:xfrm>
          <a:prstGeom prst="rect">
            <a:avLst/>
          </a:prstGeom>
          <a:solidFill>
            <a:srgbClr val="E8DFCC"/>
          </a:solidFill>
          <a:ln w="12700">
            <a:solidFill>
              <a:srgbClr val="333333"/>
            </a:solidFill>
            <a:prstDash val="solid"/>
          </a:ln>
        </p:spPr>
        <p:txBody>
          <a:bodyPr>
            <a:normAutofit/>
          </a:bodyPr>
          <a:p/>
        </p:txBody>
      </p:sp>
      <p:sp>
        <p:nvSpPr>
          <p:cNvPr id="18" name="Text 16"/>
          <p:cNvSpPr/>
          <p:nvPr/>
        </p:nvSpPr>
        <p:spPr>
          <a:xfrm>
            <a:off x="658368" y="5577840"/>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No evidence line yet — that is deliberate. Workbook page 4.</a:t>
            </a:r>
            <a:endParaRPr lang="en-US" sz="16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E9EDF3"/>
        </a:solidFill>
        <a:effectLst/>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12</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INITIAL READ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Your initial Density reading</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Add the six. Hold the number. Do not share it.</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Shape 6"/>
          <p:cNvSpPr/>
          <p:nvPr/>
        </p:nvSpPr>
        <p:spPr>
          <a:xfrm>
            <a:off x="658368" y="2103120"/>
            <a:ext cx="5120640" cy="1371600"/>
          </a:xfrm>
          <a:prstGeom prst="rect">
            <a:avLst/>
          </a:prstGeom>
          <a:solidFill>
            <a:srgbClr val="FFFFFF"/>
          </a:solidFill>
          <a:ln w="12700">
            <a:solidFill>
              <a:srgbClr val="E8DFCC"/>
            </a:solidFill>
            <a:prstDash val="solid"/>
          </a:ln>
        </p:spPr>
        <p:txBody>
          <a:bodyPr>
            <a:normAutofit/>
          </a:bodyPr>
          <a:p/>
        </p:txBody>
      </p:sp>
      <p:sp>
        <p:nvSpPr>
          <p:cNvPr id="9" name="Text 7"/>
          <p:cNvSpPr/>
          <p:nvPr/>
        </p:nvSpPr>
        <p:spPr>
          <a:xfrm>
            <a:off x="932688" y="2304288"/>
            <a:ext cx="457200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DENSITY, INITIAL</a:t>
            </a:r>
            <a:endParaRPr lang="en-US" sz="1100" dirty="0"/>
          </a:p>
        </p:txBody>
      </p:sp>
      <p:sp>
        <p:nvSpPr>
          <p:cNvPr id="10" name="Text 8"/>
          <p:cNvSpPr/>
          <p:nvPr/>
        </p:nvSpPr>
        <p:spPr>
          <a:xfrm>
            <a:off x="932688" y="2615184"/>
            <a:ext cx="4572000" cy="640080"/>
          </a:xfrm>
          <a:prstGeom prst="rect">
            <a:avLst/>
          </a:prstGeom>
          <a:noFill/>
          <a:ln/>
        </p:spPr>
        <p:txBody>
          <a:bodyPr wrap="square" lIns="0" tIns="0" rIns="0" bIns="0" rtlCol="0" anchor="t">
            <a:normAutofit/>
          </a:bodyPr>
          <a:lstStyle/>
          <a:p>
            <a:pPr indent="0" marL="0">
              <a:buNone/>
            </a:pPr>
            <a:r>
              <a:rPr lang="en-US" sz="4000" dirty="0">
                <a:solidFill>
                  <a:srgbClr val="0F2347"/>
                </a:solidFill>
                <a:latin typeface="Cormorant Garamond" pitchFamily="34" charset="0"/>
                <a:ea typeface="Cormorant Garamond" pitchFamily="34" charset="-122"/>
                <a:cs typeface="Cormorant Garamond" pitchFamily="34" charset="-120"/>
              </a:rPr>
              <a:t>________  / 30</a:t>
            </a:r>
            <a:endParaRPr lang="en-US" sz="4000" dirty="0"/>
          </a:p>
        </p:txBody>
      </p:sp>
      <p:sp>
        <p:nvSpPr>
          <p:cNvPr id="11" name="Text 9"/>
          <p:cNvSpPr/>
          <p:nvPr/>
        </p:nvSpPr>
        <p:spPr>
          <a:xfrm>
            <a:off x="6236208" y="2231136"/>
            <a:ext cx="5294376" cy="128016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19 to 30 is high on this axis. 6 to 18 is low.</a:t>
            </a:r>
            <a:endParaRPr lang="en-US" sz="2000" dirty="0"/>
          </a:p>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Any score between 17 and 21 is a boundary, even a high one.</a:t>
            </a:r>
            <a:endParaRPr lang="en-US" sz="2000" dirty="0"/>
          </a:p>
        </p:txBody>
      </p:sp>
      <p:sp>
        <p:nvSpPr>
          <p:cNvPr id="12" name="Text 10"/>
          <p:cNvSpPr/>
          <p:nvPr/>
        </p:nvSpPr>
        <p:spPr>
          <a:xfrm>
            <a:off x="658368" y="3913632"/>
            <a:ext cx="10872216" cy="82296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Write it where you can see it. The pair of numbers is the point of today.</a:t>
            </a:r>
            <a:endParaRPr lang="en-US" sz="2000" dirty="0"/>
          </a:p>
        </p:txBody>
      </p:sp>
      <p:sp>
        <p:nvSpPr>
          <p:cNvPr id="13" name="Shape 11"/>
          <p:cNvSpPr/>
          <p:nvPr/>
        </p:nvSpPr>
        <p:spPr>
          <a:xfrm>
            <a:off x="658368" y="5394960"/>
            <a:ext cx="10872216" cy="10973"/>
          </a:xfrm>
          <a:prstGeom prst="rect">
            <a:avLst/>
          </a:prstGeom>
          <a:solidFill>
            <a:srgbClr val="E8DFCC"/>
          </a:solidFill>
          <a:ln w="12700">
            <a:solidFill>
              <a:srgbClr val="333333"/>
            </a:solidFill>
            <a:prstDash val="solid"/>
          </a:ln>
        </p:spPr>
        <p:txBody>
          <a:bodyPr>
            <a:normAutofit/>
          </a:bodyPr>
          <a:p/>
        </p:txBody>
      </p:sp>
      <p:sp>
        <p:nvSpPr>
          <p:cNvPr id="14" name="Text 12"/>
          <p:cNvSpPr/>
          <p:nvPr/>
        </p:nvSpPr>
        <p:spPr>
          <a:xfrm>
            <a:off x="658368" y="5541264"/>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Workbook page 4. In Adobe Acrobat Reader the total calculates itself once all six boxes hold a valid score.</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E9EDF3"/>
        </a:solidFill>
        <a:effectLst/>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13</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INITIAL READ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Your initial read: statements 7 to 9</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Optionality. Same scale, same window.</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75104"/>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7</a:t>
            </a:r>
            <a:endParaRPr lang="en-US" sz="3000" dirty="0"/>
          </a:p>
        </p:txBody>
      </p:sp>
      <p:sp>
        <p:nvSpPr>
          <p:cNvPr id="9" name="Text 7"/>
          <p:cNvSpPr/>
          <p:nvPr/>
        </p:nvSpPr>
        <p:spPr>
          <a:xfrm>
            <a:off x="1371600" y="1975104"/>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The capability I am building would be valued by an employer in a different industry.</a:t>
            </a:r>
            <a:endParaRPr lang="en-US" sz="2000" dirty="0"/>
          </a:p>
        </p:txBody>
      </p:sp>
      <p:sp>
        <p:nvSpPr>
          <p:cNvPr id="10" name="Text 8"/>
          <p:cNvSpPr/>
          <p:nvPr/>
        </p:nvSpPr>
        <p:spPr>
          <a:xfrm>
            <a:off x="9098280" y="1975104"/>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1" name="Text 9"/>
          <p:cNvSpPr/>
          <p:nvPr/>
        </p:nvSpPr>
        <p:spPr>
          <a:xfrm>
            <a:off x="658368" y="3145536"/>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8</a:t>
            </a:r>
            <a:endParaRPr lang="en-US" sz="3000" dirty="0"/>
          </a:p>
        </p:txBody>
      </p:sp>
      <p:sp>
        <p:nvSpPr>
          <p:cNvPr id="12" name="Text 10"/>
          <p:cNvSpPr/>
          <p:nvPr/>
        </p:nvSpPr>
        <p:spPr>
          <a:xfrm>
            <a:off x="1371600" y="3145536"/>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I can describe what I do in terms of outcomes, not just my company’s internal language.</a:t>
            </a:r>
            <a:endParaRPr lang="en-US" sz="2000" dirty="0"/>
          </a:p>
        </p:txBody>
      </p:sp>
      <p:sp>
        <p:nvSpPr>
          <p:cNvPr id="13" name="Text 11"/>
          <p:cNvSpPr/>
          <p:nvPr/>
        </p:nvSpPr>
        <p:spPr>
          <a:xfrm>
            <a:off x="9098280" y="3145536"/>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4" name="Text 12"/>
          <p:cNvSpPr/>
          <p:nvPr/>
        </p:nvSpPr>
        <p:spPr>
          <a:xfrm>
            <a:off x="658368" y="4315968"/>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9</a:t>
            </a:r>
            <a:endParaRPr lang="en-US" sz="3000" dirty="0"/>
          </a:p>
        </p:txBody>
      </p:sp>
      <p:sp>
        <p:nvSpPr>
          <p:cNvPr id="15" name="Text 13"/>
          <p:cNvSpPr/>
          <p:nvPr/>
        </p:nvSpPr>
        <p:spPr>
          <a:xfrm>
            <a:off x="1371600" y="4315968"/>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If my role disappeared tomorrow, the capability I built would still be mine to carry.</a:t>
            </a:r>
            <a:endParaRPr lang="en-US" sz="2000" dirty="0"/>
          </a:p>
        </p:txBody>
      </p:sp>
      <p:sp>
        <p:nvSpPr>
          <p:cNvPr id="16" name="Text 14"/>
          <p:cNvSpPr/>
          <p:nvPr/>
        </p:nvSpPr>
        <p:spPr>
          <a:xfrm>
            <a:off x="9098280" y="4315968"/>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7" name="Shape 15"/>
          <p:cNvSpPr/>
          <p:nvPr/>
        </p:nvSpPr>
        <p:spPr>
          <a:xfrm>
            <a:off x="658368" y="5431536"/>
            <a:ext cx="10872216" cy="10973"/>
          </a:xfrm>
          <a:prstGeom prst="rect">
            <a:avLst/>
          </a:prstGeom>
          <a:solidFill>
            <a:srgbClr val="E8DFCC"/>
          </a:solidFill>
          <a:ln w="12700">
            <a:solidFill>
              <a:srgbClr val="333333"/>
            </a:solidFill>
            <a:prstDash val="solid"/>
          </a:ln>
        </p:spPr>
        <p:txBody>
          <a:bodyPr>
            <a:normAutofit/>
          </a:bodyPr>
          <a:p/>
        </p:txBody>
      </p:sp>
      <p:sp>
        <p:nvSpPr>
          <p:cNvPr id="18" name="Text 16"/>
          <p:cNvSpPr/>
          <p:nvPr/>
        </p:nvSpPr>
        <p:spPr>
          <a:xfrm>
            <a:off x="658368" y="5577840"/>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No evidence line yet — that is deliberate. Workbook page 5.</a:t>
            </a:r>
            <a:endParaRPr lang="en-US" sz="16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E9EDF3"/>
        </a:solidFill>
        <a:effectLst/>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14</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INITIAL READ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Your initial read: statements 10 to 12</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Optionality, continued. Last block of the first pass.</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75104"/>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10</a:t>
            </a:r>
            <a:endParaRPr lang="en-US" sz="3000" dirty="0"/>
          </a:p>
        </p:txBody>
      </p:sp>
      <p:sp>
        <p:nvSpPr>
          <p:cNvPr id="9" name="Text 7"/>
          <p:cNvSpPr/>
          <p:nvPr/>
        </p:nvSpPr>
        <p:spPr>
          <a:xfrm>
            <a:off x="1371600" y="1975104"/>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People with the power to hire or advance me, inside or outside my company, can already see what I am good at.</a:t>
            </a:r>
            <a:endParaRPr lang="en-US" sz="2000" dirty="0"/>
          </a:p>
        </p:txBody>
      </p:sp>
      <p:sp>
        <p:nvSpPr>
          <p:cNvPr id="10" name="Text 8"/>
          <p:cNvSpPr/>
          <p:nvPr/>
        </p:nvSpPr>
        <p:spPr>
          <a:xfrm>
            <a:off x="9098280" y="1975104"/>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1" name="Text 9"/>
          <p:cNvSpPr/>
          <p:nvPr/>
        </p:nvSpPr>
        <p:spPr>
          <a:xfrm>
            <a:off x="658368" y="3145536"/>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11</a:t>
            </a:r>
            <a:endParaRPr lang="en-US" sz="3000" dirty="0"/>
          </a:p>
        </p:txBody>
      </p:sp>
      <p:sp>
        <p:nvSpPr>
          <p:cNvPr id="12" name="Text 10"/>
          <p:cNvSpPr/>
          <p:nvPr/>
        </p:nvSpPr>
        <p:spPr>
          <a:xfrm>
            <a:off x="1371600" y="3145536"/>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What I am learning is a transferable capability rather than a company-specific procedure.</a:t>
            </a:r>
            <a:endParaRPr lang="en-US" sz="2000" dirty="0"/>
          </a:p>
        </p:txBody>
      </p:sp>
      <p:sp>
        <p:nvSpPr>
          <p:cNvPr id="13" name="Text 11"/>
          <p:cNvSpPr/>
          <p:nvPr/>
        </p:nvSpPr>
        <p:spPr>
          <a:xfrm>
            <a:off x="9098280" y="3145536"/>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4" name="Text 12"/>
          <p:cNvSpPr/>
          <p:nvPr/>
        </p:nvSpPr>
        <p:spPr>
          <a:xfrm>
            <a:off x="658368" y="4315968"/>
            <a:ext cx="640080" cy="822960"/>
          </a:xfrm>
          <a:prstGeom prst="rect">
            <a:avLst/>
          </a:prstGeom>
          <a:noFill/>
          <a:ln/>
        </p:spPr>
        <p:txBody>
          <a:bodyPr wrap="square" lIns="0" tIns="0" rIns="0" bIns="0" rtlCol="0" anchor="t">
            <a:normAutofit/>
          </a:bodyPr>
          <a:lstStyle/>
          <a:p>
            <a:pPr indent="0" marL="0">
              <a:buNone/>
            </a:pPr>
            <a:r>
              <a:rPr lang="en-US" sz="3000" dirty="0">
                <a:solidFill>
                  <a:srgbClr val="C9A84C"/>
                </a:solidFill>
                <a:latin typeface="Cormorant Garamond" pitchFamily="34" charset="0"/>
                <a:ea typeface="Cormorant Garamond" pitchFamily="34" charset="-122"/>
                <a:cs typeface="Cormorant Garamond" pitchFamily="34" charset="-120"/>
              </a:rPr>
              <a:t>12</a:t>
            </a:r>
            <a:endParaRPr lang="en-US" sz="3000" dirty="0"/>
          </a:p>
        </p:txBody>
      </p:sp>
      <p:sp>
        <p:nvSpPr>
          <p:cNvPr id="15" name="Text 13"/>
          <p:cNvSpPr/>
          <p:nvPr/>
        </p:nvSpPr>
        <p:spPr>
          <a:xfrm>
            <a:off x="1371600" y="4315968"/>
            <a:ext cx="7589520" cy="82296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I could rebuild a strong position somewhere else within a year.</a:t>
            </a:r>
            <a:endParaRPr lang="en-US" sz="2000" dirty="0"/>
          </a:p>
        </p:txBody>
      </p:sp>
      <p:sp>
        <p:nvSpPr>
          <p:cNvPr id="16" name="Text 14"/>
          <p:cNvSpPr/>
          <p:nvPr/>
        </p:nvSpPr>
        <p:spPr>
          <a:xfrm>
            <a:off x="9098280" y="4315968"/>
            <a:ext cx="2432304" cy="402336"/>
          </a:xfrm>
          <a:prstGeom prst="rect">
            <a:avLst/>
          </a:prstGeom>
          <a:noFill/>
          <a:ln/>
        </p:spPr>
        <p:txBody>
          <a:bodyPr wrap="square" lIns="0" tIns="0" rIns="0" bIns="0" rtlCol="0" anchor="t">
            <a:normAutofit/>
          </a:bodyPr>
          <a:lstStyle/>
          <a:p>
            <a:pPr algn="r" indent="0" marL="0">
              <a:buNone/>
            </a:pPr>
            <a:r>
              <a:rPr lang="en-US" sz="2000" spc="100" kern="0" dirty="0">
                <a:solidFill>
                  <a:srgbClr val="0F2347"/>
                </a:solidFill>
                <a:latin typeface="DM Sans" pitchFamily="34" charset="0"/>
                <a:ea typeface="DM Sans" pitchFamily="34" charset="-122"/>
                <a:cs typeface="DM Sans" pitchFamily="34" charset="-120"/>
              </a:rPr>
              <a:t>1   2   3   4   5</a:t>
            </a:r>
            <a:endParaRPr lang="en-US" sz="2000" dirty="0"/>
          </a:p>
        </p:txBody>
      </p:sp>
      <p:sp>
        <p:nvSpPr>
          <p:cNvPr id="17" name="Shape 15"/>
          <p:cNvSpPr/>
          <p:nvPr/>
        </p:nvSpPr>
        <p:spPr>
          <a:xfrm>
            <a:off x="658368" y="5431536"/>
            <a:ext cx="10872216" cy="10973"/>
          </a:xfrm>
          <a:prstGeom prst="rect">
            <a:avLst/>
          </a:prstGeom>
          <a:solidFill>
            <a:srgbClr val="E8DFCC"/>
          </a:solidFill>
          <a:ln w="12700">
            <a:solidFill>
              <a:srgbClr val="333333"/>
            </a:solidFill>
            <a:prstDash val="solid"/>
          </a:ln>
        </p:spPr>
        <p:txBody>
          <a:bodyPr>
            <a:normAutofit/>
          </a:bodyPr>
          <a:p/>
        </p:txBody>
      </p:sp>
      <p:sp>
        <p:nvSpPr>
          <p:cNvPr id="18" name="Text 16"/>
          <p:cNvSpPr/>
          <p:nvPr/>
        </p:nvSpPr>
        <p:spPr>
          <a:xfrm>
            <a:off x="658368" y="5577840"/>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No evidence line yet — that is deliberate. Workbook page 5.</a:t>
            </a:r>
            <a:endParaRPr lang="en-US" sz="16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E9EDF3"/>
        </a:solidFill>
        <a:effectLst/>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15</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INITIAL READ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Your initial Optionality reading</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Add the six. You now hold two numbers and a position.</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Shape 6"/>
          <p:cNvSpPr/>
          <p:nvPr/>
        </p:nvSpPr>
        <p:spPr>
          <a:xfrm>
            <a:off x="658368" y="2103120"/>
            <a:ext cx="5120640" cy="1371600"/>
          </a:xfrm>
          <a:prstGeom prst="rect">
            <a:avLst/>
          </a:prstGeom>
          <a:solidFill>
            <a:srgbClr val="FFFFFF"/>
          </a:solidFill>
          <a:ln w="12700">
            <a:solidFill>
              <a:srgbClr val="E8DFCC"/>
            </a:solidFill>
            <a:prstDash val="solid"/>
          </a:ln>
        </p:spPr>
        <p:txBody>
          <a:bodyPr>
            <a:normAutofit/>
          </a:bodyPr>
          <a:p/>
        </p:txBody>
      </p:sp>
      <p:sp>
        <p:nvSpPr>
          <p:cNvPr id="9" name="Text 7"/>
          <p:cNvSpPr/>
          <p:nvPr/>
        </p:nvSpPr>
        <p:spPr>
          <a:xfrm>
            <a:off x="932688" y="2304288"/>
            <a:ext cx="457200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OPTIONALITY, INITIAL</a:t>
            </a:r>
            <a:endParaRPr lang="en-US" sz="1100" dirty="0"/>
          </a:p>
        </p:txBody>
      </p:sp>
      <p:sp>
        <p:nvSpPr>
          <p:cNvPr id="10" name="Text 8"/>
          <p:cNvSpPr/>
          <p:nvPr/>
        </p:nvSpPr>
        <p:spPr>
          <a:xfrm>
            <a:off x="932688" y="2615184"/>
            <a:ext cx="4572000" cy="640080"/>
          </a:xfrm>
          <a:prstGeom prst="rect">
            <a:avLst/>
          </a:prstGeom>
          <a:noFill/>
          <a:ln/>
        </p:spPr>
        <p:txBody>
          <a:bodyPr wrap="square" lIns="0" tIns="0" rIns="0" bIns="0" rtlCol="0" anchor="t">
            <a:normAutofit/>
          </a:bodyPr>
          <a:lstStyle/>
          <a:p>
            <a:pPr indent="0" marL="0">
              <a:buNone/>
            </a:pPr>
            <a:r>
              <a:rPr lang="en-US" sz="4000" dirty="0">
                <a:solidFill>
                  <a:srgbClr val="0F2347"/>
                </a:solidFill>
                <a:latin typeface="Cormorant Garamond" pitchFamily="34" charset="0"/>
                <a:ea typeface="Cormorant Garamond" pitchFamily="34" charset="-122"/>
                <a:cs typeface="Cormorant Garamond" pitchFamily="34" charset="-120"/>
              </a:rPr>
              <a:t>________  / 30</a:t>
            </a:r>
            <a:endParaRPr lang="en-US" sz="4000" dirty="0"/>
          </a:p>
        </p:txBody>
      </p:sp>
      <p:sp>
        <p:nvSpPr>
          <p:cNvPr id="11" name="Text 9"/>
          <p:cNvSpPr/>
          <p:nvPr/>
        </p:nvSpPr>
        <p:spPr>
          <a:xfrm>
            <a:off x="6236208" y="2231136"/>
            <a:ext cx="5294376" cy="128016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Two numbers is all the matrix needs. Cross them and you have a state.</a:t>
            </a:r>
            <a:endParaRPr lang="en-US" sz="2000" dirty="0"/>
          </a:p>
        </p:txBody>
      </p:sp>
      <p:sp>
        <p:nvSpPr>
          <p:cNvPr id="12" name="Text 10"/>
          <p:cNvSpPr/>
          <p:nvPr/>
        </p:nvSpPr>
        <p:spPr>
          <a:xfrm>
            <a:off x="658368" y="3913632"/>
            <a:ext cx="10872216" cy="82296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This is the reading you would have carried into a decision this week. Before we go further, we place it.</a:t>
            </a:r>
            <a:endParaRPr lang="en-US" sz="2000" dirty="0"/>
          </a:p>
        </p:txBody>
      </p:sp>
      <p:sp>
        <p:nvSpPr>
          <p:cNvPr id="13" name="Shape 11"/>
          <p:cNvSpPr/>
          <p:nvPr/>
        </p:nvSpPr>
        <p:spPr>
          <a:xfrm>
            <a:off x="658368" y="5394960"/>
            <a:ext cx="10872216" cy="10973"/>
          </a:xfrm>
          <a:prstGeom prst="rect">
            <a:avLst/>
          </a:prstGeom>
          <a:solidFill>
            <a:srgbClr val="E8DFCC"/>
          </a:solidFill>
          <a:ln w="12700">
            <a:solidFill>
              <a:srgbClr val="333333"/>
            </a:solidFill>
            <a:prstDash val="solid"/>
          </a:ln>
        </p:spPr>
        <p:txBody>
          <a:bodyPr>
            <a:normAutofit/>
          </a:bodyPr>
          <a:p/>
        </p:txBody>
      </p:sp>
      <p:sp>
        <p:nvSpPr>
          <p:cNvPr id="14" name="Text 12"/>
          <p:cNvSpPr/>
          <p:nvPr/>
        </p:nvSpPr>
        <p:spPr>
          <a:xfrm>
            <a:off x="658368" y="5541264"/>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Workbook page 5.</a:t>
            </a:r>
            <a:endParaRPr lang="en-US" sz="16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16</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THE MATRIX</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The four states</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Density crossed with Optionality. Your current state reveals a form of exposure your job title cannot.</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Shape 6"/>
          <p:cNvSpPr/>
          <p:nvPr/>
        </p:nvSpPr>
        <p:spPr>
          <a:xfrm>
            <a:off x="1463040" y="2212848"/>
            <a:ext cx="4631436" cy="1536192"/>
          </a:xfrm>
          <a:prstGeom prst="rect">
            <a:avLst/>
          </a:prstGeom>
          <a:solidFill>
            <a:srgbClr val="FFFFFF"/>
          </a:solidFill>
          <a:ln w="12700">
            <a:solidFill>
              <a:srgbClr val="E8DFCC"/>
            </a:solidFill>
            <a:prstDash val="solid"/>
          </a:ln>
        </p:spPr>
        <p:txBody>
          <a:bodyPr>
            <a:normAutofit/>
          </a:bodyPr>
          <a:p/>
        </p:txBody>
      </p:sp>
      <p:sp>
        <p:nvSpPr>
          <p:cNvPr id="9" name="Text 7"/>
          <p:cNvSpPr/>
          <p:nvPr/>
        </p:nvSpPr>
        <p:spPr>
          <a:xfrm>
            <a:off x="1664208" y="2395728"/>
            <a:ext cx="4229100" cy="402336"/>
          </a:xfrm>
          <a:prstGeom prst="rect">
            <a:avLst/>
          </a:prstGeom>
          <a:noFill/>
          <a:ln/>
        </p:spPr>
        <p:txBody>
          <a:bodyPr wrap="square" lIns="0" tIns="0" rIns="0" bIns="0" rtlCol="0" anchor="t">
            <a:normAutofit/>
          </a:bodyPr>
          <a:lstStyle/>
          <a:p>
            <a:pPr indent="0" marL="0">
              <a:buNone/>
            </a:pPr>
            <a:r>
              <a:rPr lang="en-US" sz="2200" b="1" spc="140" kern="0" dirty="0">
                <a:solidFill>
                  <a:srgbClr val="0F2347"/>
                </a:solidFill>
                <a:latin typeface="DM Sans" pitchFamily="34" charset="0"/>
                <a:ea typeface="DM Sans" pitchFamily="34" charset="-122"/>
                <a:cs typeface="DM Sans" pitchFamily="34" charset="-120"/>
              </a:rPr>
              <a:t>DEPTH TRAP</a:t>
            </a:r>
            <a:endParaRPr lang="en-US" sz="2200" dirty="0"/>
          </a:p>
        </p:txBody>
      </p:sp>
      <p:sp>
        <p:nvSpPr>
          <p:cNvPr id="10" name="Text 8"/>
          <p:cNvSpPr/>
          <p:nvPr/>
        </p:nvSpPr>
        <p:spPr>
          <a:xfrm>
            <a:off x="1664208" y="2871216"/>
            <a:ext cx="4229100" cy="713232"/>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Deep expertise fused to one context.</a:t>
            </a:r>
            <a:endParaRPr lang="en-US" sz="1600" dirty="0"/>
          </a:p>
        </p:txBody>
      </p:sp>
      <p:sp>
        <p:nvSpPr>
          <p:cNvPr id="11" name="Shape 9"/>
          <p:cNvSpPr/>
          <p:nvPr/>
        </p:nvSpPr>
        <p:spPr>
          <a:xfrm>
            <a:off x="6094476" y="2212848"/>
            <a:ext cx="4631436" cy="1536192"/>
          </a:xfrm>
          <a:prstGeom prst="rect">
            <a:avLst/>
          </a:prstGeom>
          <a:solidFill>
            <a:srgbClr val="FFFFFF"/>
          </a:solidFill>
          <a:ln w="12700">
            <a:solidFill>
              <a:srgbClr val="E8DFCC"/>
            </a:solidFill>
            <a:prstDash val="solid"/>
          </a:ln>
        </p:spPr>
        <p:txBody>
          <a:bodyPr>
            <a:normAutofit/>
          </a:bodyPr>
          <a:p/>
        </p:txBody>
      </p:sp>
      <p:sp>
        <p:nvSpPr>
          <p:cNvPr id="12" name="Text 10"/>
          <p:cNvSpPr/>
          <p:nvPr/>
        </p:nvSpPr>
        <p:spPr>
          <a:xfrm>
            <a:off x="6295644" y="2395728"/>
            <a:ext cx="4229100" cy="402336"/>
          </a:xfrm>
          <a:prstGeom prst="rect">
            <a:avLst/>
          </a:prstGeom>
          <a:noFill/>
          <a:ln/>
        </p:spPr>
        <p:txBody>
          <a:bodyPr wrap="square" lIns="0" tIns="0" rIns="0" bIns="0" rtlCol="0" anchor="t">
            <a:normAutofit/>
          </a:bodyPr>
          <a:lstStyle/>
          <a:p>
            <a:pPr indent="0" marL="0">
              <a:buNone/>
            </a:pPr>
            <a:r>
              <a:rPr lang="en-US" sz="2200" b="1" spc="140" kern="0" dirty="0">
                <a:solidFill>
                  <a:srgbClr val="C1440E"/>
                </a:solidFill>
                <a:latin typeface="DM Sans" pitchFamily="34" charset="0"/>
                <a:ea typeface="DM Sans" pitchFamily="34" charset="-122"/>
                <a:cs typeface="DM Sans" pitchFamily="34" charset="-120"/>
              </a:rPr>
              <a:t>COMPOUNDING</a:t>
            </a:r>
            <a:endParaRPr lang="en-US" sz="2200" dirty="0"/>
          </a:p>
        </p:txBody>
      </p:sp>
      <p:sp>
        <p:nvSpPr>
          <p:cNvPr id="13" name="Text 11"/>
          <p:cNvSpPr/>
          <p:nvPr/>
        </p:nvSpPr>
        <p:spPr>
          <a:xfrm>
            <a:off x="6295644" y="2871216"/>
            <a:ext cx="4229100" cy="713232"/>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Deep capability that travels.</a:t>
            </a:r>
            <a:endParaRPr lang="en-US" sz="1600" dirty="0"/>
          </a:p>
        </p:txBody>
      </p:sp>
      <p:sp>
        <p:nvSpPr>
          <p:cNvPr id="14" name="Shape 12"/>
          <p:cNvSpPr/>
          <p:nvPr/>
        </p:nvSpPr>
        <p:spPr>
          <a:xfrm>
            <a:off x="1463040" y="3749040"/>
            <a:ext cx="4631436" cy="1536192"/>
          </a:xfrm>
          <a:prstGeom prst="rect">
            <a:avLst/>
          </a:prstGeom>
          <a:solidFill>
            <a:srgbClr val="FFFFFF"/>
          </a:solidFill>
          <a:ln w="12700">
            <a:solidFill>
              <a:srgbClr val="E8DFCC"/>
            </a:solidFill>
            <a:prstDash val="solid"/>
          </a:ln>
        </p:spPr>
        <p:txBody>
          <a:bodyPr>
            <a:normAutofit/>
          </a:bodyPr>
          <a:p/>
        </p:txBody>
      </p:sp>
      <p:sp>
        <p:nvSpPr>
          <p:cNvPr id="15" name="Text 13"/>
          <p:cNvSpPr/>
          <p:nvPr/>
        </p:nvSpPr>
        <p:spPr>
          <a:xfrm>
            <a:off x="1664208" y="3931920"/>
            <a:ext cx="4229100" cy="402336"/>
          </a:xfrm>
          <a:prstGeom prst="rect">
            <a:avLst/>
          </a:prstGeom>
          <a:noFill/>
          <a:ln/>
        </p:spPr>
        <p:txBody>
          <a:bodyPr wrap="square" lIns="0" tIns="0" rIns="0" bIns="0" rtlCol="0" anchor="t">
            <a:normAutofit/>
          </a:bodyPr>
          <a:lstStyle/>
          <a:p>
            <a:pPr indent="0" marL="0">
              <a:buNone/>
            </a:pPr>
            <a:r>
              <a:rPr lang="en-US" sz="2200" b="1" spc="140" kern="0" dirty="0">
                <a:solidFill>
                  <a:srgbClr val="0F2347"/>
                </a:solidFill>
                <a:latin typeface="DM Sans" pitchFamily="34" charset="0"/>
                <a:ea typeface="DM Sans" pitchFamily="34" charset="-122"/>
                <a:cs typeface="DM Sans" pitchFamily="34" charset="-120"/>
              </a:rPr>
              <a:t>STAGNANT</a:t>
            </a:r>
            <a:endParaRPr lang="en-US" sz="2200" dirty="0"/>
          </a:p>
        </p:txBody>
      </p:sp>
      <p:sp>
        <p:nvSpPr>
          <p:cNvPr id="16" name="Text 14"/>
          <p:cNvSpPr/>
          <p:nvPr/>
        </p:nvSpPr>
        <p:spPr>
          <a:xfrm>
            <a:off x="1664208" y="4407408"/>
            <a:ext cx="4229100" cy="713232"/>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The work stopped asking more of you.</a:t>
            </a:r>
            <a:endParaRPr lang="en-US" sz="1600" dirty="0"/>
          </a:p>
        </p:txBody>
      </p:sp>
      <p:sp>
        <p:nvSpPr>
          <p:cNvPr id="17" name="Shape 15"/>
          <p:cNvSpPr/>
          <p:nvPr/>
        </p:nvSpPr>
        <p:spPr>
          <a:xfrm>
            <a:off x="6094476" y="3749040"/>
            <a:ext cx="4631436" cy="1536192"/>
          </a:xfrm>
          <a:prstGeom prst="rect">
            <a:avLst/>
          </a:prstGeom>
          <a:solidFill>
            <a:srgbClr val="FFFFFF"/>
          </a:solidFill>
          <a:ln w="12700">
            <a:solidFill>
              <a:srgbClr val="E8DFCC"/>
            </a:solidFill>
            <a:prstDash val="solid"/>
          </a:ln>
        </p:spPr>
        <p:txBody>
          <a:bodyPr>
            <a:normAutofit/>
          </a:bodyPr>
          <a:p/>
        </p:txBody>
      </p:sp>
      <p:sp>
        <p:nvSpPr>
          <p:cNvPr id="18" name="Text 16"/>
          <p:cNvSpPr/>
          <p:nvPr/>
        </p:nvSpPr>
        <p:spPr>
          <a:xfrm>
            <a:off x="6295644" y="3931920"/>
            <a:ext cx="4229100" cy="402336"/>
          </a:xfrm>
          <a:prstGeom prst="rect">
            <a:avLst/>
          </a:prstGeom>
          <a:noFill/>
          <a:ln/>
        </p:spPr>
        <p:txBody>
          <a:bodyPr wrap="square" lIns="0" tIns="0" rIns="0" bIns="0" rtlCol="0" anchor="t">
            <a:normAutofit/>
          </a:bodyPr>
          <a:lstStyle/>
          <a:p>
            <a:pPr indent="0" marL="0">
              <a:buNone/>
            </a:pPr>
            <a:r>
              <a:rPr lang="en-US" sz="2200" b="1" spc="140" kern="0" dirty="0">
                <a:solidFill>
                  <a:srgbClr val="0F2347"/>
                </a:solidFill>
                <a:latin typeface="DM Sans" pitchFamily="34" charset="0"/>
                <a:ea typeface="DM Sans" pitchFamily="34" charset="-122"/>
                <a:cs typeface="DM Sans" pitchFamily="34" charset="-120"/>
              </a:rPr>
              <a:t>FRAGILE</a:t>
            </a:r>
            <a:endParaRPr lang="en-US" sz="2200" dirty="0"/>
          </a:p>
        </p:txBody>
      </p:sp>
      <p:sp>
        <p:nvSpPr>
          <p:cNvPr id="19" name="Text 17"/>
          <p:cNvSpPr/>
          <p:nvPr/>
        </p:nvSpPr>
        <p:spPr>
          <a:xfrm>
            <a:off x="6295644" y="4407408"/>
            <a:ext cx="4229100" cy="713232"/>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Options on paper, not enough depth beneath.</a:t>
            </a:r>
            <a:endParaRPr lang="en-US" sz="1600" dirty="0"/>
          </a:p>
        </p:txBody>
      </p:sp>
      <p:sp>
        <p:nvSpPr>
          <p:cNvPr id="20" name="Text 18"/>
          <p:cNvSpPr/>
          <p:nvPr/>
        </p:nvSpPr>
        <p:spPr>
          <a:xfrm>
            <a:off x="1463040" y="1901952"/>
            <a:ext cx="9262872" cy="256032"/>
          </a:xfrm>
          <a:prstGeom prst="rect">
            <a:avLst/>
          </a:prstGeom>
          <a:noFill/>
          <a:ln/>
        </p:spPr>
        <p:txBody>
          <a:bodyPr wrap="square" lIns="0" tIns="0" rIns="0" bIns="0" rtlCol="0" anchor="ctr">
            <a:normAutofit/>
          </a:bodyPr>
          <a:lstStyle/>
          <a:p>
            <a:pPr indent="0" marL="0">
              <a:buNone/>
            </a:pPr>
            <a:r>
              <a:rPr lang="en-US" sz="1100" b="1" spc="160" kern="0" dirty="0">
                <a:solidFill>
                  <a:srgbClr val="0F2347"/>
                </a:solidFill>
                <a:latin typeface="DM Sans" pitchFamily="34" charset="0"/>
                <a:ea typeface="DM Sans" pitchFamily="34" charset="-122"/>
                <a:cs typeface="DM Sans" pitchFamily="34" charset="-120"/>
              </a:rPr>
              <a:t>DENSITY:  HIGH AT TOP,  LOW AT BOTTOM</a:t>
            </a:r>
            <a:endParaRPr lang="en-US" sz="1100" dirty="0"/>
          </a:p>
        </p:txBody>
      </p:sp>
      <p:sp>
        <p:nvSpPr>
          <p:cNvPr id="21" name="Text 19"/>
          <p:cNvSpPr/>
          <p:nvPr/>
        </p:nvSpPr>
        <p:spPr>
          <a:xfrm>
            <a:off x="1463040" y="5340096"/>
            <a:ext cx="9262872" cy="256032"/>
          </a:xfrm>
          <a:prstGeom prst="rect">
            <a:avLst/>
          </a:prstGeom>
          <a:noFill/>
          <a:ln/>
        </p:spPr>
        <p:txBody>
          <a:bodyPr wrap="square" lIns="0" tIns="0" rIns="0" bIns="0" rtlCol="0" anchor="ctr">
            <a:normAutofit/>
          </a:bodyPr>
          <a:lstStyle/>
          <a:p>
            <a:pPr indent="0" marL="0">
              <a:buNone/>
            </a:pPr>
            <a:r>
              <a:rPr lang="en-US" sz="1100" b="1" spc="160" kern="0" dirty="0">
                <a:solidFill>
                  <a:srgbClr val="0F2347"/>
                </a:solidFill>
                <a:latin typeface="DM Sans" pitchFamily="34" charset="0"/>
                <a:ea typeface="DM Sans" pitchFamily="34" charset="-122"/>
                <a:cs typeface="DM Sans" pitchFamily="34" charset="-120"/>
              </a:rPr>
              <a:t>OPTIONALITY:  LOW AT LEFT   to   HIGH AT RIGHT</a:t>
            </a:r>
            <a:endParaRPr lang="en-US" sz="11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17</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BEFORE YOU PLACE YOURSELF</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Read this before you place yourself</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The most important sentence in the session.</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10872216" cy="914400"/>
          </a:xfrm>
          <a:prstGeom prst="rect">
            <a:avLst/>
          </a:prstGeom>
          <a:noFill/>
          <a:ln/>
        </p:spPr>
        <p:txBody>
          <a:bodyPr wrap="square" lIns="0" tIns="0" rIns="0" bIns="0" rtlCol="0" anchor="t">
            <a:normAutofit/>
          </a:bodyPr>
          <a:lstStyle/>
          <a:p>
            <a:pPr indent="0" marL="0">
              <a:lnSpc>
                <a:spcPct val="120000"/>
              </a:lnSpc>
              <a:buNone/>
            </a:pPr>
            <a:r>
              <a:rPr lang="en-US" sz="2400" dirty="0">
                <a:solidFill>
                  <a:srgbClr val="0F2347"/>
                </a:solidFill>
                <a:latin typeface="Cormorant Garamond" pitchFamily="34" charset="0"/>
                <a:ea typeface="Cormorant Garamond" pitchFamily="34" charset="-122"/>
                <a:cs typeface="Cormorant Garamond" pitchFamily="34" charset="-120"/>
              </a:rPr>
              <a:t>Not a performance rating, a potential rating, or a nine-box grid. It reads your conditions, not your worth.</a:t>
            </a:r>
            <a:endParaRPr lang="en-US" sz="2400" dirty="0"/>
          </a:p>
        </p:txBody>
      </p:sp>
      <p:sp>
        <p:nvSpPr>
          <p:cNvPr id="9" name="Text 7"/>
          <p:cNvSpPr/>
          <p:nvPr/>
        </p:nvSpPr>
        <p:spPr>
          <a:xfrm>
            <a:off x="658368" y="2980944"/>
            <a:ext cx="5294376" cy="402336"/>
          </a:xfrm>
          <a:prstGeom prst="rect">
            <a:avLst/>
          </a:prstGeom>
          <a:noFill/>
          <a:ln/>
        </p:spPr>
        <p:txBody>
          <a:bodyPr wrap="square" lIns="0" tIns="0" rIns="0" bIns="0" rtlCol="0" anchor="t">
            <a:normAutofit/>
          </a:bodyPr>
          <a:lstStyle/>
          <a:p>
            <a:pPr indent="0" marL="0">
              <a:buNone/>
            </a:pPr>
            <a:r>
              <a:rPr lang="en-US" sz="1900" b="1" dirty="0">
                <a:solidFill>
                  <a:srgbClr val="0F2347"/>
                </a:solidFill>
                <a:latin typeface="DM Sans" pitchFamily="34" charset="0"/>
                <a:ea typeface="DM Sans" pitchFamily="34" charset="-122"/>
                <a:cs typeface="DM Sans" pitchFamily="34" charset="-120"/>
              </a:rPr>
              <a:t>Performance and formation differ</a:t>
            </a:r>
            <a:endParaRPr lang="en-US" sz="1900" dirty="0"/>
          </a:p>
        </p:txBody>
      </p:sp>
      <p:sp>
        <p:nvSpPr>
          <p:cNvPr id="10" name="Text 8"/>
          <p:cNvSpPr/>
          <p:nvPr/>
        </p:nvSpPr>
        <p:spPr>
          <a:xfrm>
            <a:off x="658368" y="3456432"/>
            <a:ext cx="5294376" cy="859536"/>
          </a:xfrm>
          <a:prstGeom prst="rect">
            <a:avLst/>
          </a:prstGeom>
          <a:noFill/>
          <a:ln/>
        </p:spPr>
        <p:txBody>
          <a:bodyPr wrap="square" lIns="0" tIns="0" rIns="0" bIns="0" rtlCol="0" anchor="t">
            <a:normAutofit/>
          </a:bodyPr>
          <a:lstStyle/>
          <a:p>
            <a:pPr indent="0" marL="0">
              <a:lnSpc>
                <a:spcPct val="112000"/>
              </a:lnSpc>
              <a:buNone/>
            </a:pPr>
            <a:r>
              <a:rPr lang="en-US" sz="1500" dirty="0">
                <a:solidFill>
                  <a:srgbClr val="0F2347"/>
                </a:solidFill>
                <a:latin typeface="DM Sans" pitchFamily="34" charset="0"/>
                <a:ea typeface="DM Sans" pitchFamily="34" charset="-122"/>
                <a:cs typeface="DM Sans" pitchFamily="34" charset="-120"/>
              </a:rPr>
              <a:t>Strong reviews and flat formation are routine companions.</a:t>
            </a:r>
            <a:endParaRPr lang="en-US" sz="1500" dirty="0"/>
          </a:p>
        </p:txBody>
      </p:sp>
      <p:sp>
        <p:nvSpPr>
          <p:cNvPr id="11" name="Text 9"/>
          <p:cNvSpPr/>
          <p:nvPr/>
        </p:nvSpPr>
        <p:spPr>
          <a:xfrm>
            <a:off x="6236208" y="2980944"/>
            <a:ext cx="5294376" cy="402336"/>
          </a:xfrm>
          <a:prstGeom prst="rect">
            <a:avLst/>
          </a:prstGeom>
          <a:noFill/>
          <a:ln/>
        </p:spPr>
        <p:txBody>
          <a:bodyPr wrap="square" lIns="0" tIns="0" rIns="0" bIns="0" rtlCol="0" anchor="t">
            <a:normAutofit/>
          </a:bodyPr>
          <a:lstStyle/>
          <a:p>
            <a:pPr indent="0" marL="0">
              <a:buNone/>
            </a:pPr>
            <a:r>
              <a:rPr lang="en-US" sz="1900" b="1" dirty="0">
                <a:solidFill>
                  <a:srgbClr val="0F2347"/>
                </a:solidFill>
                <a:latin typeface="DM Sans" pitchFamily="34" charset="0"/>
                <a:ea typeface="DM Sans" pitchFamily="34" charset="-122"/>
                <a:cs typeface="DM Sans" pitchFamily="34" charset="-120"/>
              </a:rPr>
              <a:t>State is not identity</a:t>
            </a:r>
            <a:endParaRPr lang="en-US" sz="1900" dirty="0"/>
          </a:p>
        </p:txBody>
      </p:sp>
      <p:sp>
        <p:nvSpPr>
          <p:cNvPr id="12" name="Text 10"/>
          <p:cNvSpPr/>
          <p:nvPr/>
        </p:nvSpPr>
        <p:spPr>
          <a:xfrm>
            <a:off x="6236208" y="3456432"/>
            <a:ext cx="5294376" cy="859536"/>
          </a:xfrm>
          <a:prstGeom prst="rect">
            <a:avLst/>
          </a:prstGeom>
          <a:noFill/>
          <a:ln/>
        </p:spPr>
        <p:txBody>
          <a:bodyPr wrap="square" lIns="0" tIns="0" rIns="0" bIns="0" rtlCol="0" anchor="t">
            <a:normAutofit/>
          </a:bodyPr>
          <a:lstStyle/>
          <a:p>
            <a:pPr indent="0" marL="0">
              <a:lnSpc>
                <a:spcPct val="112000"/>
              </a:lnSpc>
              <a:buNone/>
            </a:pPr>
            <a:r>
              <a:rPr lang="en-US" sz="1500" dirty="0">
                <a:solidFill>
                  <a:srgbClr val="0F2347"/>
                </a:solidFill>
                <a:latin typeface="DM Sans" pitchFamily="34" charset="0"/>
                <a:ea typeface="DM Sans" pitchFamily="34" charset="-122"/>
                <a:cs typeface="DM Sans" pitchFamily="34" charset="-120"/>
              </a:rPr>
              <a:t>A current condition, not a permanent address.</a:t>
            </a:r>
            <a:endParaRPr lang="en-US" sz="1500" dirty="0"/>
          </a:p>
        </p:txBody>
      </p:sp>
      <p:sp>
        <p:nvSpPr>
          <p:cNvPr id="13" name="Text 11"/>
          <p:cNvSpPr/>
          <p:nvPr/>
        </p:nvSpPr>
        <p:spPr>
          <a:xfrm>
            <a:off x="658368" y="4462272"/>
            <a:ext cx="5294376" cy="402336"/>
          </a:xfrm>
          <a:prstGeom prst="rect">
            <a:avLst/>
          </a:prstGeom>
          <a:noFill/>
          <a:ln/>
        </p:spPr>
        <p:txBody>
          <a:bodyPr wrap="square" lIns="0" tIns="0" rIns="0" bIns="0" rtlCol="0" anchor="t">
            <a:normAutofit/>
          </a:bodyPr>
          <a:lstStyle/>
          <a:p>
            <a:pPr indent="0" marL="0">
              <a:buNone/>
            </a:pPr>
            <a:r>
              <a:rPr lang="en-US" sz="1900" b="1" dirty="0">
                <a:solidFill>
                  <a:srgbClr val="0F2347"/>
                </a:solidFill>
                <a:latin typeface="DM Sans" pitchFamily="34" charset="0"/>
                <a:ea typeface="DM Sans" pitchFamily="34" charset="-122"/>
                <a:cs typeface="DM Sans" pitchFamily="34" charset="-120"/>
              </a:rPr>
              <a:t>A low Optionality score is not a verdict</a:t>
            </a:r>
            <a:endParaRPr lang="en-US" sz="1900" dirty="0"/>
          </a:p>
        </p:txBody>
      </p:sp>
      <p:sp>
        <p:nvSpPr>
          <p:cNvPr id="14" name="Text 12"/>
          <p:cNvSpPr/>
          <p:nvPr/>
        </p:nvSpPr>
        <p:spPr>
          <a:xfrm>
            <a:off x="658368" y="4937760"/>
            <a:ext cx="5294376" cy="859536"/>
          </a:xfrm>
          <a:prstGeom prst="rect">
            <a:avLst/>
          </a:prstGeom>
          <a:noFill/>
          <a:ln/>
        </p:spPr>
        <p:txBody>
          <a:bodyPr wrap="square" lIns="0" tIns="0" rIns="0" bIns="0" rtlCol="0" anchor="t">
            <a:normAutofit/>
          </a:bodyPr>
          <a:lstStyle/>
          <a:p>
            <a:pPr indent="0" marL="0">
              <a:lnSpc>
                <a:spcPct val="112000"/>
              </a:lnSpc>
              <a:buNone/>
            </a:pPr>
            <a:r>
              <a:rPr lang="en-US" sz="1500" dirty="0">
                <a:solidFill>
                  <a:srgbClr val="0F2347"/>
                </a:solidFill>
                <a:latin typeface="DM Sans" pitchFamily="34" charset="0"/>
                <a:ea typeface="DM Sans" pitchFamily="34" charset="-122"/>
                <a:cs typeface="DM Sans" pitchFamily="34" charset="-120"/>
              </a:rPr>
              <a:t>Context-bound capability, weak translation, or limited exposure.</a:t>
            </a:r>
            <a:endParaRPr lang="en-US" sz="1500" dirty="0"/>
          </a:p>
        </p:txBody>
      </p:sp>
      <p:sp>
        <p:nvSpPr>
          <p:cNvPr id="15" name="Text 13"/>
          <p:cNvSpPr/>
          <p:nvPr/>
        </p:nvSpPr>
        <p:spPr>
          <a:xfrm>
            <a:off x="6236208" y="4462272"/>
            <a:ext cx="5294376" cy="402336"/>
          </a:xfrm>
          <a:prstGeom prst="rect">
            <a:avLst/>
          </a:prstGeom>
          <a:noFill/>
          <a:ln/>
        </p:spPr>
        <p:txBody>
          <a:bodyPr wrap="square" lIns="0" tIns="0" rIns="0" bIns="0" rtlCol="0" anchor="t">
            <a:normAutofit/>
          </a:bodyPr>
          <a:lstStyle/>
          <a:p>
            <a:pPr indent="0" marL="0">
              <a:buNone/>
            </a:pPr>
            <a:r>
              <a:rPr lang="en-US" sz="1900" b="1" dirty="0">
                <a:solidFill>
                  <a:srgbClr val="0F2347"/>
                </a:solidFill>
                <a:latin typeface="DM Sans" pitchFamily="34" charset="0"/>
                <a:ea typeface="DM Sans" pitchFamily="34" charset="-122"/>
                <a:cs typeface="DM Sans" pitchFamily="34" charset="-120"/>
              </a:rPr>
              <a:t>Your first score is not wrong</a:t>
            </a:r>
            <a:endParaRPr lang="en-US" sz="1900" dirty="0"/>
          </a:p>
        </p:txBody>
      </p:sp>
      <p:sp>
        <p:nvSpPr>
          <p:cNvPr id="16" name="Text 14"/>
          <p:cNvSpPr/>
          <p:nvPr/>
        </p:nvSpPr>
        <p:spPr>
          <a:xfrm>
            <a:off x="6236208" y="4937760"/>
            <a:ext cx="5294376" cy="859536"/>
          </a:xfrm>
          <a:prstGeom prst="rect">
            <a:avLst/>
          </a:prstGeom>
          <a:noFill/>
          <a:ln/>
        </p:spPr>
        <p:txBody>
          <a:bodyPr wrap="square" lIns="0" tIns="0" rIns="0" bIns="0" rtlCol="0" anchor="t">
            <a:normAutofit/>
          </a:bodyPr>
          <a:lstStyle/>
          <a:p>
            <a:pPr indent="0" marL="0">
              <a:lnSpc>
                <a:spcPct val="112000"/>
              </a:lnSpc>
              <a:buNone/>
            </a:pPr>
            <a:r>
              <a:rPr lang="en-US" sz="1500" dirty="0">
                <a:solidFill>
                  <a:srgbClr val="0F2347"/>
                </a:solidFill>
                <a:latin typeface="DM Sans" pitchFamily="34" charset="0"/>
                <a:ea typeface="DM Sans" pitchFamily="34" charset="-122"/>
                <a:cs typeface="DM Sans" pitchFamily="34" charset="-120"/>
              </a:rPr>
              <a:t>Uncalibrated is not wrong.</a:t>
            </a:r>
            <a:endParaRPr lang="en-US" sz="15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E9EDF3"/>
        </a:solidFill>
        <a:effectLst/>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18</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FIRST PLACEMENT</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First placement</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Your initial read, placed. Privately, and provisionally.</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Shape 6"/>
          <p:cNvSpPr/>
          <p:nvPr/>
        </p:nvSpPr>
        <p:spPr>
          <a:xfrm>
            <a:off x="658368" y="2304288"/>
            <a:ext cx="2926080" cy="1325880"/>
          </a:xfrm>
          <a:prstGeom prst="rect">
            <a:avLst/>
          </a:prstGeom>
          <a:solidFill>
            <a:srgbClr val="FFFFFF"/>
          </a:solidFill>
          <a:ln w="12700">
            <a:solidFill>
              <a:srgbClr val="E8DFCC"/>
            </a:solidFill>
            <a:prstDash val="solid"/>
          </a:ln>
        </p:spPr>
        <p:txBody>
          <a:bodyPr>
            <a:normAutofit/>
          </a:bodyPr>
          <a:p/>
        </p:txBody>
      </p:sp>
      <p:sp>
        <p:nvSpPr>
          <p:cNvPr id="9" name="Text 7"/>
          <p:cNvSpPr/>
          <p:nvPr/>
        </p:nvSpPr>
        <p:spPr>
          <a:xfrm>
            <a:off x="859536" y="2487168"/>
            <a:ext cx="2523744" cy="402336"/>
          </a:xfrm>
          <a:prstGeom prst="rect">
            <a:avLst/>
          </a:prstGeom>
          <a:noFill/>
          <a:ln/>
        </p:spPr>
        <p:txBody>
          <a:bodyPr wrap="square" lIns="0" tIns="0" rIns="0" bIns="0" rtlCol="0" anchor="t">
            <a:normAutofit/>
          </a:bodyPr>
          <a:lstStyle/>
          <a:p>
            <a:pPr indent="0" marL="0">
              <a:buNone/>
            </a:pPr>
            <a:r>
              <a:rPr lang="en-US" sz="1900" b="1" spc="140" kern="0" dirty="0">
                <a:solidFill>
                  <a:srgbClr val="0F2347"/>
                </a:solidFill>
                <a:latin typeface="DM Sans" pitchFamily="34" charset="0"/>
                <a:ea typeface="DM Sans" pitchFamily="34" charset="-122"/>
                <a:cs typeface="DM Sans" pitchFamily="34" charset="-120"/>
              </a:rPr>
              <a:t>DEPTH TRAP</a:t>
            </a:r>
            <a:endParaRPr lang="en-US" sz="1900" dirty="0"/>
          </a:p>
        </p:txBody>
      </p:sp>
      <p:sp>
        <p:nvSpPr>
          <p:cNvPr id="10" name="Shape 8"/>
          <p:cNvSpPr/>
          <p:nvPr/>
        </p:nvSpPr>
        <p:spPr>
          <a:xfrm>
            <a:off x="3584448" y="2304288"/>
            <a:ext cx="2926080" cy="1325880"/>
          </a:xfrm>
          <a:prstGeom prst="rect">
            <a:avLst/>
          </a:prstGeom>
          <a:solidFill>
            <a:srgbClr val="FFFFFF"/>
          </a:solidFill>
          <a:ln w="12700">
            <a:solidFill>
              <a:srgbClr val="E8DFCC"/>
            </a:solidFill>
            <a:prstDash val="solid"/>
          </a:ln>
        </p:spPr>
        <p:txBody>
          <a:bodyPr>
            <a:normAutofit/>
          </a:bodyPr>
          <a:p/>
        </p:txBody>
      </p:sp>
      <p:sp>
        <p:nvSpPr>
          <p:cNvPr id="11" name="Text 9"/>
          <p:cNvSpPr/>
          <p:nvPr/>
        </p:nvSpPr>
        <p:spPr>
          <a:xfrm>
            <a:off x="3785616" y="2487168"/>
            <a:ext cx="2523744" cy="402336"/>
          </a:xfrm>
          <a:prstGeom prst="rect">
            <a:avLst/>
          </a:prstGeom>
          <a:noFill/>
          <a:ln/>
        </p:spPr>
        <p:txBody>
          <a:bodyPr wrap="square" lIns="0" tIns="0" rIns="0" bIns="0" rtlCol="0" anchor="t">
            <a:normAutofit/>
          </a:bodyPr>
          <a:lstStyle/>
          <a:p>
            <a:pPr indent="0" marL="0">
              <a:buNone/>
            </a:pPr>
            <a:r>
              <a:rPr lang="en-US" sz="1900" b="1" spc="140" kern="0" dirty="0">
                <a:solidFill>
                  <a:srgbClr val="C1440E"/>
                </a:solidFill>
                <a:latin typeface="DM Sans" pitchFamily="34" charset="0"/>
                <a:ea typeface="DM Sans" pitchFamily="34" charset="-122"/>
                <a:cs typeface="DM Sans" pitchFamily="34" charset="-120"/>
              </a:rPr>
              <a:t>COMPOUNDING</a:t>
            </a:r>
            <a:endParaRPr lang="en-US" sz="1900" dirty="0"/>
          </a:p>
        </p:txBody>
      </p:sp>
      <p:sp>
        <p:nvSpPr>
          <p:cNvPr id="12" name="Shape 10"/>
          <p:cNvSpPr/>
          <p:nvPr/>
        </p:nvSpPr>
        <p:spPr>
          <a:xfrm>
            <a:off x="658368" y="3630168"/>
            <a:ext cx="2926080" cy="1325880"/>
          </a:xfrm>
          <a:prstGeom prst="rect">
            <a:avLst/>
          </a:prstGeom>
          <a:solidFill>
            <a:srgbClr val="FFFFFF"/>
          </a:solidFill>
          <a:ln w="12700">
            <a:solidFill>
              <a:srgbClr val="E8DFCC"/>
            </a:solidFill>
            <a:prstDash val="solid"/>
          </a:ln>
        </p:spPr>
        <p:txBody>
          <a:bodyPr>
            <a:normAutofit/>
          </a:bodyPr>
          <a:p/>
        </p:txBody>
      </p:sp>
      <p:sp>
        <p:nvSpPr>
          <p:cNvPr id="13" name="Text 11"/>
          <p:cNvSpPr/>
          <p:nvPr/>
        </p:nvSpPr>
        <p:spPr>
          <a:xfrm>
            <a:off x="859536" y="3813048"/>
            <a:ext cx="2523744" cy="402336"/>
          </a:xfrm>
          <a:prstGeom prst="rect">
            <a:avLst/>
          </a:prstGeom>
          <a:noFill/>
          <a:ln/>
        </p:spPr>
        <p:txBody>
          <a:bodyPr wrap="square" lIns="0" tIns="0" rIns="0" bIns="0" rtlCol="0" anchor="t">
            <a:normAutofit/>
          </a:bodyPr>
          <a:lstStyle/>
          <a:p>
            <a:pPr indent="0" marL="0">
              <a:buNone/>
            </a:pPr>
            <a:r>
              <a:rPr lang="en-US" sz="1900" b="1" spc="140" kern="0" dirty="0">
                <a:solidFill>
                  <a:srgbClr val="0F2347"/>
                </a:solidFill>
                <a:latin typeface="DM Sans" pitchFamily="34" charset="0"/>
                <a:ea typeface="DM Sans" pitchFamily="34" charset="-122"/>
                <a:cs typeface="DM Sans" pitchFamily="34" charset="-120"/>
              </a:rPr>
              <a:t>STAGNANT</a:t>
            </a:r>
            <a:endParaRPr lang="en-US" sz="1900" dirty="0"/>
          </a:p>
        </p:txBody>
      </p:sp>
      <p:sp>
        <p:nvSpPr>
          <p:cNvPr id="14" name="Shape 12"/>
          <p:cNvSpPr/>
          <p:nvPr/>
        </p:nvSpPr>
        <p:spPr>
          <a:xfrm>
            <a:off x="3584448" y="3630168"/>
            <a:ext cx="2926080" cy="1325880"/>
          </a:xfrm>
          <a:prstGeom prst="rect">
            <a:avLst/>
          </a:prstGeom>
          <a:solidFill>
            <a:srgbClr val="FFFFFF"/>
          </a:solidFill>
          <a:ln w="12700">
            <a:solidFill>
              <a:srgbClr val="E8DFCC"/>
            </a:solidFill>
            <a:prstDash val="solid"/>
          </a:ln>
        </p:spPr>
        <p:txBody>
          <a:bodyPr>
            <a:normAutofit/>
          </a:bodyPr>
          <a:p/>
        </p:txBody>
      </p:sp>
      <p:sp>
        <p:nvSpPr>
          <p:cNvPr id="15" name="Text 13"/>
          <p:cNvSpPr/>
          <p:nvPr/>
        </p:nvSpPr>
        <p:spPr>
          <a:xfrm>
            <a:off x="3785616" y="3813048"/>
            <a:ext cx="2523744" cy="402336"/>
          </a:xfrm>
          <a:prstGeom prst="rect">
            <a:avLst/>
          </a:prstGeom>
          <a:noFill/>
          <a:ln/>
        </p:spPr>
        <p:txBody>
          <a:bodyPr wrap="square" lIns="0" tIns="0" rIns="0" bIns="0" rtlCol="0" anchor="t">
            <a:normAutofit/>
          </a:bodyPr>
          <a:lstStyle/>
          <a:p>
            <a:pPr indent="0" marL="0">
              <a:buNone/>
            </a:pPr>
            <a:r>
              <a:rPr lang="en-US" sz="1900" b="1" spc="140" kern="0" dirty="0">
                <a:solidFill>
                  <a:srgbClr val="0F2347"/>
                </a:solidFill>
                <a:latin typeface="DM Sans" pitchFamily="34" charset="0"/>
                <a:ea typeface="DM Sans" pitchFamily="34" charset="-122"/>
                <a:cs typeface="DM Sans" pitchFamily="34" charset="-120"/>
              </a:rPr>
              <a:t>FRAGILE</a:t>
            </a:r>
            <a:endParaRPr lang="en-US" sz="1900" dirty="0"/>
          </a:p>
        </p:txBody>
      </p:sp>
      <p:sp>
        <p:nvSpPr>
          <p:cNvPr id="16" name="Text 14"/>
          <p:cNvSpPr/>
          <p:nvPr/>
        </p:nvSpPr>
        <p:spPr>
          <a:xfrm>
            <a:off x="658368" y="1993392"/>
            <a:ext cx="5852160" cy="256032"/>
          </a:xfrm>
          <a:prstGeom prst="rect">
            <a:avLst/>
          </a:prstGeom>
          <a:noFill/>
          <a:ln/>
        </p:spPr>
        <p:txBody>
          <a:bodyPr wrap="square" lIns="0" tIns="0" rIns="0" bIns="0" rtlCol="0" anchor="ctr">
            <a:normAutofit/>
          </a:bodyPr>
          <a:lstStyle/>
          <a:p>
            <a:pPr indent="0" marL="0">
              <a:buNone/>
            </a:pPr>
            <a:r>
              <a:rPr lang="en-US" sz="1100" b="1" spc="160" kern="0" dirty="0">
                <a:solidFill>
                  <a:srgbClr val="0F2347"/>
                </a:solidFill>
                <a:latin typeface="DM Sans" pitchFamily="34" charset="0"/>
                <a:ea typeface="DM Sans" pitchFamily="34" charset="-122"/>
                <a:cs typeface="DM Sans" pitchFamily="34" charset="-120"/>
              </a:rPr>
              <a:t>DENSITY:  HIGH AT TOP,  LOW AT BOTTOM</a:t>
            </a:r>
            <a:endParaRPr lang="en-US" sz="1100" dirty="0"/>
          </a:p>
        </p:txBody>
      </p:sp>
      <p:sp>
        <p:nvSpPr>
          <p:cNvPr id="17" name="Text 15"/>
          <p:cNvSpPr/>
          <p:nvPr/>
        </p:nvSpPr>
        <p:spPr>
          <a:xfrm>
            <a:off x="658368" y="5010912"/>
            <a:ext cx="5852160" cy="256032"/>
          </a:xfrm>
          <a:prstGeom prst="rect">
            <a:avLst/>
          </a:prstGeom>
          <a:noFill/>
          <a:ln/>
        </p:spPr>
        <p:txBody>
          <a:bodyPr wrap="square" lIns="0" tIns="0" rIns="0" bIns="0" rtlCol="0" anchor="ctr">
            <a:normAutofit/>
          </a:bodyPr>
          <a:lstStyle/>
          <a:p>
            <a:pPr indent="0" marL="0">
              <a:buNone/>
            </a:pPr>
            <a:r>
              <a:rPr lang="en-US" sz="1100" b="1" spc="160" kern="0" dirty="0">
                <a:solidFill>
                  <a:srgbClr val="0F2347"/>
                </a:solidFill>
                <a:latin typeface="DM Sans" pitchFamily="34" charset="0"/>
                <a:ea typeface="DM Sans" pitchFamily="34" charset="-122"/>
                <a:cs typeface="DM Sans" pitchFamily="34" charset="-120"/>
              </a:rPr>
              <a:t>OPTIONALITY:  LOW AT LEFT   to   HIGH AT RIGHT</a:t>
            </a:r>
            <a:endParaRPr lang="en-US" sz="1100" dirty="0"/>
          </a:p>
        </p:txBody>
      </p:sp>
      <p:sp>
        <p:nvSpPr>
          <p:cNvPr id="18" name="Text 16"/>
          <p:cNvSpPr/>
          <p:nvPr/>
        </p:nvSpPr>
        <p:spPr>
          <a:xfrm>
            <a:off x="6967728" y="2103120"/>
            <a:ext cx="4562856" cy="1097280"/>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Mark your square, then rate your confidence 1 to 5.</a:t>
            </a:r>
            <a:endParaRPr lang="en-US" sz="2000" dirty="0"/>
          </a:p>
        </p:txBody>
      </p:sp>
      <p:sp>
        <p:nvSpPr>
          <p:cNvPr id="19" name="Shape 17"/>
          <p:cNvSpPr/>
          <p:nvPr/>
        </p:nvSpPr>
        <p:spPr>
          <a:xfrm>
            <a:off x="6967728" y="3401568"/>
            <a:ext cx="4562856" cy="1554480"/>
          </a:xfrm>
          <a:prstGeom prst="rect">
            <a:avLst/>
          </a:prstGeom>
          <a:solidFill>
            <a:srgbClr val="FFFFFF"/>
          </a:solidFill>
          <a:ln w="12700">
            <a:solidFill>
              <a:srgbClr val="E8DFCC"/>
            </a:solidFill>
            <a:prstDash val="solid"/>
          </a:ln>
        </p:spPr>
        <p:txBody>
          <a:bodyPr>
            <a:normAutofit/>
          </a:bodyPr>
          <a:p/>
        </p:txBody>
      </p:sp>
      <p:sp>
        <p:nvSpPr>
          <p:cNvPr id="20" name="Text 18"/>
          <p:cNvSpPr/>
          <p:nvPr/>
        </p:nvSpPr>
        <p:spPr>
          <a:xfrm>
            <a:off x="7187184" y="3566160"/>
            <a:ext cx="4123944" cy="256032"/>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THE BOUNDARY RULE</a:t>
            </a:r>
            <a:endParaRPr lang="en-US" sz="1100" dirty="0"/>
          </a:p>
        </p:txBody>
      </p:sp>
      <p:sp>
        <p:nvSpPr>
          <p:cNvPr id="21" name="Text 19"/>
          <p:cNvSpPr/>
          <p:nvPr/>
        </p:nvSpPr>
        <p:spPr>
          <a:xfrm>
            <a:off x="7187184" y="3858768"/>
            <a:ext cx="4123944" cy="91440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0F2347"/>
                </a:solidFill>
                <a:latin typeface="DM Sans" pitchFamily="34" charset="0"/>
                <a:ea typeface="DM Sans" pitchFamily="34" charset="-122"/>
                <a:cs typeface="DM Sans" pitchFamily="34" charset="-120"/>
              </a:rPr>
              <a:t>If either score sits between 17 and 21, you are on a boundary. Read both neighbouring states.</a:t>
            </a:r>
            <a:endParaRPr lang="en-US" sz="1800" dirty="0"/>
          </a:p>
        </p:txBody>
      </p:sp>
      <p:sp>
        <p:nvSpPr>
          <p:cNvPr id="22" name="Shape 20"/>
          <p:cNvSpPr/>
          <p:nvPr/>
        </p:nvSpPr>
        <p:spPr>
          <a:xfrm>
            <a:off x="658368" y="5394960"/>
            <a:ext cx="10872216" cy="10973"/>
          </a:xfrm>
          <a:prstGeom prst="rect">
            <a:avLst/>
          </a:prstGeom>
          <a:solidFill>
            <a:srgbClr val="E8DFCC"/>
          </a:solidFill>
          <a:ln w="12700">
            <a:solidFill>
              <a:srgbClr val="333333"/>
            </a:solidFill>
            <a:prstDash val="solid"/>
          </a:ln>
        </p:spPr>
        <p:txBody>
          <a:bodyPr>
            <a:normAutofit/>
          </a:bodyPr>
          <a:p/>
        </p:txBody>
      </p:sp>
      <p:sp>
        <p:nvSpPr>
          <p:cNvPr id="23" name="Text 21"/>
          <p:cNvSpPr/>
          <p:nvPr/>
        </p:nvSpPr>
        <p:spPr>
          <a:xfrm>
            <a:off x="658368" y="5541264"/>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Hold this lightly. You place again in about forty minutes. Workbook page 6.</a:t>
            </a:r>
            <a:endParaRPr lang="en-US" sz="1600" dirty="0"/>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F2347"/>
        </a:solidFill>
      </p:bgPr>
    </p:bg>
    <p:spTree>
      <p:nvGrpSpPr>
        <p:cNvPr id="1" name=""/>
        <p:cNvGrpSpPr/>
        <p:nvPr/>
      </p:nvGrpSpPr>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A9B8D0"/>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A9B8D0"/>
                </a:solidFill>
                <a:latin typeface="DM Sans" pitchFamily="34" charset="0"/>
                <a:ea typeface="DM Sans" pitchFamily="34" charset="-122"/>
                <a:cs typeface="DM Sans" pitchFamily="34" charset="-120"/>
              </a:rPr>
              <a:t>19</a:t>
            </a:r>
            <a:endParaRPr lang="en-US" sz="900" dirty="0"/>
          </a:p>
        </p:txBody>
      </p:sp>
      <p:sp>
        <p:nvSpPr>
          <p:cNvPr id="4" name="Text 2"/>
          <p:cNvSpPr/>
          <p:nvPr/>
        </p:nvSpPr>
        <p:spPr>
          <a:xfrm>
            <a:off x="658368" y="2286000"/>
            <a:ext cx="10872216" cy="457200"/>
          </a:xfrm>
          <a:prstGeom prst="rect">
            <a:avLst/>
          </a:prstGeom>
          <a:noFill/>
          <a:ln/>
        </p:spPr>
        <p:txBody>
          <a:bodyPr wrap="square" lIns="0" tIns="0" rIns="0" bIns="0" rtlCol="0" anchor="ctr">
            <a:normAutofit/>
          </a:bodyPr>
          <a:lstStyle/>
          <a:p>
            <a:pPr indent="0" marL="0">
              <a:buNone/>
            </a:pPr>
            <a:r>
              <a:rPr lang="en-US" sz="1500" b="1" spc="300" kern="0" dirty="0">
                <a:solidFill>
                  <a:srgbClr val="C9A84C"/>
                </a:solidFill>
                <a:latin typeface="DM Sans" pitchFamily="34" charset="0"/>
                <a:ea typeface="DM Sans" pitchFamily="34" charset="-122"/>
                <a:cs typeface="DM Sans" pitchFamily="34" charset="-120"/>
              </a:rPr>
              <a:t>STAGED RELEASE  ·  MINUTE 31</a:t>
            </a:r>
            <a:endParaRPr lang="en-US" sz="1500" dirty="0"/>
          </a:p>
        </p:txBody>
      </p:sp>
      <p:sp>
        <p:nvSpPr>
          <p:cNvPr id="5" name="Text 3"/>
          <p:cNvSpPr/>
          <p:nvPr/>
        </p:nvSpPr>
        <p:spPr>
          <a:xfrm>
            <a:off x="658368" y="2743200"/>
            <a:ext cx="10872216" cy="1051560"/>
          </a:xfrm>
          <a:prstGeom prst="rect">
            <a:avLst/>
          </a:prstGeom>
          <a:noFill/>
          <a:ln/>
        </p:spPr>
        <p:txBody>
          <a:bodyPr wrap="square" lIns="0" tIns="0" rIns="0" bIns="0" rtlCol="0" anchor="t">
            <a:normAutofit/>
          </a:bodyPr>
          <a:lstStyle/>
          <a:p>
            <a:pPr indent="0" marL="0">
              <a:buNone/>
            </a:pPr>
            <a:r>
              <a:rPr lang="en-US" sz="6000" dirty="0">
                <a:solidFill>
                  <a:srgbClr val="FFFFFF"/>
                </a:solidFill>
                <a:latin typeface="Cormorant Garamond" pitchFamily="34" charset="0"/>
                <a:ea typeface="Cormorant Garamond" pitchFamily="34" charset="-122"/>
                <a:cs typeface="Cormorant Garamond" pitchFamily="34" charset="-120"/>
              </a:rPr>
              <a:t>Open Part B now.</a:t>
            </a:r>
            <a:endParaRPr lang="en-US" sz="6000" dirty="0"/>
          </a:p>
        </p:txBody>
      </p:sp>
      <p:sp>
        <p:nvSpPr>
          <p:cNvPr id="6" name="Text 4"/>
          <p:cNvSpPr/>
          <p:nvPr/>
        </p:nvSpPr>
        <p:spPr>
          <a:xfrm>
            <a:off x="658368" y="3968496"/>
            <a:ext cx="8778240" cy="731520"/>
          </a:xfrm>
          <a:prstGeom prst="rect">
            <a:avLst/>
          </a:prstGeom>
          <a:noFill/>
          <a:ln/>
        </p:spPr>
        <p:txBody>
          <a:bodyPr wrap="square" lIns="0" tIns="0" rIns="0" bIns="0" rtlCol="0" anchor="t">
            <a:normAutofit/>
          </a:bodyPr>
          <a:lstStyle/>
          <a:p>
            <a:pPr indent="0" marL="0">
              <a:lnSpc>
                <a:spcPct val="120000"/>
              </a:lnSpc>
              <a:buNone/>
            </a:pPr>
            <a:r>
              <a:rPr lang="en-US" sz="1800" dirty="0">
                <a:solidFill>
                  <a:srgbClr val="A9B8D0"/>
                </a:solidFill>
                <a:latin typeface="DM Sans" pitchFamily="34" charset="0"/>
                <a:ea typeface="DM Sans" pitchFamily="34" charset="-122"/>
                <a:cs typeface="DM Sans" pitchFamily="34" charset="-120"/>
              </a:rPr>
              <a:t>Keep Part A open — you will need your initial totals, state, and confidence.</a:t>
            </a:r>
            <a:endParaRPr lang="en-US" sz="2000" dirty="0"/>
          </a:p>
          <a:p>
            <a:pPr indent="0" marL="0">
              <a:lnSpc>
                <a:spcPct val="120000"/>
              </a:lnSpc>
              <a:buNone/>
            </a:pPr>
            <a:r>
              <a:rPr lang="en-US" sz="1800" dirty="0">
                <a:solidFill>
                  <a:srgbClr val="A9B8D0"/>
                </a:solidFill>
                <a:latin typeface="DM Sans" pitchFamily="34" charset="0"/>
                <a:ea typeface="DM Sans" pitchFamily="34" charset="-122"/>
                <a:cs typeface="DM Sans" pitchFamily="34" charset="-120"/>
              </a:rPr>
              <a:t>Open Part B only after every first placement in the room is complete.</a:t>
            </a:r>
            <a:endParaRPr lang="en-US" sz="2000" dirty="0"/>
          </a:p>
        </p:txBody>
      </p:sp>
      <p:sp>
        <p:nvSpPr>
          <p:cNvPr id="7" name="Mark2x2"/>
          <p:cNvSpPr/>
          <p:nvPr/>
        </p:nvSpPr>
        <p:spPr>
          <a:xfrm>
            <a:off x="11384280" y="310896"/>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ark2x2"/>
          <p:cNvSpPr/>
          <p:nvPr/>
        </p:nvSpPr>
        <p:spPr>
          <a:xfrm>
            <a:off x="11603736" y="310896"/>
            <a:ext cx="173736" cy="173736"/>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ark2x2"/>
          <p:cNvSpPr/>
          <p:nvPr/>
        </p:nvSpPr>
        <p:spPr>
          <a:xfrm>
            <a:off x="11384280" y="530352"/>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ark2x2"/>
          <p:cNvSpPr/>
          <p:nvPr/>
        </p:nvSpPr>
        <p:spPr>
          <a:xfrm>
            <a:off x="11603736" y="530352"/>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19">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A9B8D0"/>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A9B8D0"/>
                </a:solidFill>
                <a:latin typeface="DM Sans" pitchFamily="34" charset="0"/>
                <a:ea typeface="DM Sans" pitchFamily="34" charset="-122"/>
                <a:cs typeface="DM Sans" pitchFamily="34" charset="-120"/>
              </a:rPr>
              <a:t>20</a:t>
            </a:r>
            <a:endParaRPr lang="en-US" sz="900" dirty="0"/>
          </a:p>
        </p:txBody>
      </p:sp>
      <p:sp>
        <p:nvSpPr>
          <p:cNvPr id="4" name="Text 2"/>
          <p:cNvSpPr/>
          <p:nvPr/>
        </p:nvSpPr>
        <p:spPr>
          <a:xfrm>
            <a:off x="658368" y="1737360"/>
            <a:ext cx="10872216" cy="310896"/>
          </a:xfrm>
          <a:prstGeom prst="rect">
            <a:avLst/>
          </a:prstGeom>
          <a:noFill/>
          <a:ln/>
        </p:spPr>
        <p:txBody>
          <a:bodyPr wrap="square" lIns="0" tIns="0" rIns="0" bIns="0" rtlCol="0" anchor="ctr">
            <a:normAutofit/>
          </a:bodyPr>
          <a:lstStyle/>
          <a:p>
            <a:pPr indent="0" marL="0">
              <a:buNone/>
            </a:pPr>
            <a:r>
              <a:rPr lang="en-US" sz="1300" b="1" spc="300" kern="0" dirty="0">
                <a:solidFill>
                  <a:srgbClr val="C9A84C"/>
                </a:solidFill>
                <a:latin typeface="DM Sans" pitchFamily="34" charset="0"/>
                <a:ea typeface="DM Sans" pitchFamily="34" charset="-122"/>
                <a:cs typeface="DM Sans" pitchFamily="34" charset="-120"/>
              </a:rPr>
              <a:t>CALIBRATION</a:t>
            </a:r>
            <a:endParaRPr lang="en-US" sz="1300" dirty="0"/>
          </a:p>
        </p:txBody>
      </p:sp>
      <p:sp>
        <p:nvSpPr>
          <p:cNvPr id="5" name="Text 3"/>
          <p:cNvSpPr/>
          <p:nvPr/>
        </p:nvSpPr>
        <p:spPr>
          <a:xfrm>
            <a:off x="658368" y="2103120"/>
            <a:ext cx="10872216" cy="1005840"/>
          </a:xfrm>
          <a:prstGeom prst="rect">
            <a:avLst/>
          </a:prstGeom>
          <a:noFill/>
          <a:ln/>
        </p:spPr>
        <p:txBody>
          <a:bodyPr wrap="square" lIns="0" tIns="0" rIns="0" bIns="0" rtlCol="0" anchor="t">
            <a:normAutofit/>
          </a:bodyPr>
          <a:lstStyle/>
          <a:p>
            <a:pPr indent="0" marL="0">
              <a:buNone/>
            </a:pPr>
            <a:r>
              <a:rPr lang="en-US" sz="4600" dirty="0">
                <a:solidFill>
                  <a:srgbClr val="FFFFFF"/>
                </a:solidFill>
                <a:latin typeface="Cormorant Garamond" pitchFamily="34" charset="0"/>
                <a:ea typeface="Cormorant Garamond" pitchFamily="34" charset="-122"/>
                <a:cs typeface="Cormorant Garamond" pitchFamily="34" charset="-120"/>
              </a:rPr>
              <a:t>Now we correct the reading.</a:t>
            </a:r>
            <a:endParaRPr lang="en-US" sz="4600" dirty="0"/>
          </a:p>
        </p:txBody>
      </p:sp>
      <p:sp>
        <p:nvSpPr>
          <p:cNvPr id="6" name="Text 4"/>
          <p:cNvSpPr/>
          <p:nvPr/>
        </p:nvSpPr>
        <p:spPr>
          <a:xfrm>
            <a:off x="658368" y="3310128"/>
            <a:ext cx="8915400" cy="1280160"/>
          </a:xfrm>
          <a:prstGeom prst="rect">
            <a:avLst/>
          </a:prstGeom>
          <a:noFill/>
          <a:ln/>
        </p:spPr>
        <p:txBody>
          <a:bodyPr wrap="square" lIns="0" tIns="0" rIns="0" bIns="0" rtlCol="0" anchor="t">
            <a:normAutofit/>
          </a:bodyPr>
          <a:lstStyle/>
          <a:p>
            <a:pPr indent="0" marL="0">
              <a:lnSpc>
                <a:spcPct val="125000"/>
              </a:lnSpc>
              <a:buNone/>
            </a:pPr>
            <a:r>
              <a:rPr lang="en-US" sz="2000" dirty="0">
                <a:solidFill>
                  <a:srgbClr val="A9B8D0"/>
                </a:solidFill>
                <a:latin typeface="DM Sans" pitchFamily="34" charset="0"/>
                <a:ea typeface="DM Sans" pitchFamily="34" charset="-122"/>
                <a:cs typeface="DM Sans" pitchFamily="34" charset="-120"/>
              </a:rPr>
              <a:t>Three things stand between a self-score and a defensible one: an evidence standard, three characteristic misreadings, and the difference between being valued and being formed.</a:t>
            </a:r>
            <a:endParaRPr lang="en-US" sz="2000" dirty="0"/>
          </a:p>
        </p:txBody>
      </p:sp>
      <p:sp>
        <p:nvSpPr>
          <p:cNvPr id="7" name="Shape 5"/>
          <p:cNvSpPr/>
          <p:nvPr/>
        </p:nvSpPr>
        <p:spPr>
          <a:xfrm>
            <a:off x="9930384" y="3310128"/>
            <a:ext cx="466344" cy="466344"/>
          </a:xfrm>
          <a:prstGeom prst="rect">
            <a:avLst/>
          </a:prstGeom>
          <a:solidFill>
            <a:srgbClr val="0F2347"/>
          </a:solidFill>
          <a:ln w="12700">
            <a:solidFill>
              <a:srgbClr val="C9A84C"/>
            </a:solidFill>
            <a:prstDash val="solid"/>
          </a:ln>
        </p:spPr>
        <p:txBody>
          <a:bodyPr>
            <a:normAutofit/>
          </a:bodyPr>
          <a:p/>
        </p:txBody>
      </p:sp>
      <p:sp>
        <p:nvSpPr>
          <p:cNvPr id="8" name="Shape 6"/>
          <p:cNvSpPr/>
          <p:nvPr/>
        </p:nvSpPr>
        <p:spPr>
          <a:xfrm>
            <a:off x="10396728" y="3310128"/>
            <a:ext cx="466344" cy="466344"/>
          </a:xfrm>
          <a:prstGeom prst="rect">
            <a:avLst/>
          </a:prstGeom>
          <a:solidFill>
            <a:srgbClr val="C1440E"/>
          </a:solidFill>
          <a:ln w="12700">
            <a:solidFill>
              <a:srgbClr val="C9A84C"/>
            </a:solidFill>
            <a:prstDash val="solid"/>
          </a:ln>
        </p:spPr>
        <p:txBody>
          <a:bodyPr>
            <a:normAutofit/>
          </a:bodyPr>
          <a:p/>
        </p:txBody>
      </p:sp>
      <p:sp>
        <p:nvSpPr>
          <p:cNvPr id="9" name="Shape 7"/>
          <p:cNvSpPr/>
          <p:nvPr/>
        </p:nvSpPr>
        <p:spPr>
          <a:xfrm>
            <a:off x="9930384" y="3776472"/>
            <a:ext cx="466344" cy="466344"/>
          </a:xfrm>
          <a:prstGeom prst="rect">
            <a:avLst/>
          </a:prstGeom>
          <a:solidFill>
            <a:srgbClr val="0F2347"/>
          </a:solidFill>
          <a:ln w="12700">
            <a:solidFill>
              <a:srgbClr val="C9A84C"/>
            </a:solidFill>
            <a:prstDash val="solid"/>
          </a:ln>
        </p:spPr>
        <p:txBody>
          <a:bodyPr>
            <a:normAutofit/>
          </a:bodyPr>
          <a:p/>
        </p:txBody>
      </p:sp>
      <p:sp>
        <p:nvSpPr>
          <p:cNvPr id="10" name="Shape 8"/>
          <p:cNvSpPr/>
          <p:nvPr/>
        </p:nvSpPr>
        <p:spPr>
          <a:xfrm>
            <a:off x="10396728" y="3776472"/>
            <a:ext cx="466344" cy="466344"/>
          </a:xfrm>
          <a:prstGeom prst="rect">
            <a:avLst/>
          </a:prstGeom>
          <a:solidFill>
            <a:srgbClr val="0F2347"/>
          </a:solidFill>
          <a:ln w="12700">
            <a:solidFill>
              <a:srgbClr val="C9A84C"/>
            </a:solidFill>
            <a:prstDash val="solid"/>
          </a:ln>
        </p:spPr>
        <p:txBody>
          <a:bodyPr>
            <a:normAutofit/>
          </a:bodyPr>
          <a:p/>
        </p:txBody>
      </p:sp>
      <p:sp>
        <p:nvSpPr>
          <p:cNvPr id="11" name="Mark2x2"/>
          <p:cNvSpPr/>
          <p:nvPr/>
        </p:nvSpPr>
        <p:spPr>
          <a:xfrm>
            <a:off x="11384280" y="310896"/>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ark2x2"/>
          <p:cNvSpPr/>
          <p:nvPr/>
        </p:nvSpPr>
        <p:spPr>
          <a:xfrm>
            <a:off x="11603736" y="310896"/>
            <a:ext cx="173736" cy="173736"/>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Mark2x2"/>
          <p:cNvSpPr/>
          <p:nvPr/>
        </p:nvSpPr>
        <p:spPr>
          <a:xfrm>
            <a:off x="11384280" y="530352"/>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ark2x2"/>
          <p:cNvSpPr/>
          <p:nvPr/>
        </p:nvSpPr>
        <p:spPr>
          <a:xfrm>
            <a:off x="11603736" y="530352"/>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21</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THE STANDARD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The evidence protocol</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This is what your second reading has to survive.</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10872216" cy="822960"/>
          </a:xfrm>
          <a:prstGeom prst="rect">
            <a:avLst/>
          </a:prstGeom>
          <a:noFill/>
          <a:ln/>
        </p:spPr>
        <p:txBody>
          <a:bodyPr wrap="square" lIns="0" tIns="0" rIns="0" bIns="0" rtlCol="0" anchor="t">
            <a:normAutofit/>
          </a:bodyPr>
          <a:lstStyle/>
          <a:p>
            <a:pPr indent="0" marL="0">
              <a:lnSpc>
                <a:spcPct val="120000"/>
              </a:lnSpc>
              <a:buNone/>
            </a:pPr>
            <a:r>
              <a:rPr lang="en-US" sz="2300" dirty="0">
                <a:solidFill>
                  <a:srgbClr val="0F2347"/>
                </a:solidFill>
                <a:latin typeface="Cormorant Garamond" pitchFamily="34" charset="0"/>
                <a:ea typeface="Cormorant Garamond" pitchFamily="34" charset="-122"/>
                <a:cs typeface="Cormorant Garamond" pitchFamily="34" charset="-120"/>
              </a:rPr>
              <a:t>Every corrected score requires an evidence line from the last ninety days. Every score, in both directions.</a:t>
            </a:r>
            <a:endParaRPr lang="en-US" sz="2300" dirty="0"/>
          </a:p>
        </p:txBody>
      </p:sp>
      <p:sp>
        <p:nvSpPr>
          <p:cNvPr id="9" name="Text 7"/>
          <p:cNvSpPr/>
          <p:nvPr/>
        </p:nvSpPr>
        <p:spPr>
          <a:xfrm>
            <a:off x="658368" y="2889504"/>
            <a:ext cx="2103120" cy="548640"/>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A 4 or 5</a:t>
            </a:r>
            <a:endParaRPr lang="en-US" sz="2000" dirty="0"/>
          </a:p>
        </p:txBody>
      </p:sp>
      <p:sp>
        <p:nvSpPr>
          <p:cNvPr id="10" name="Text 8"/>
          <p:cNvSpPr/>
          <p:nvPr/>
        </p:nvSpPr>
        <p:spPr>
          <a:xfrm>
            <a:off x="2926080" y="2889504"/>
            <a:ext cx="8604504" cy="640080"/>
          </a:xfrm>
          <a:prstGeom prst="rect">
            <a:avLst/>
          </a:prstGeom>
          <a:noFill/>
          <a:ln/>
        </p:spPr>
        <p:txBody>
          <a:bodyPr wrap="square" lIns="0" tIns="0" rIns="0" bIns="0" rtlCol="0" anchor="t">
            <a:normAutofit/>
          </a:bodyPr>
          <a:lstStyle/>
          <a:p>
            <a:pPr indent="0" marL="0">
              <a:lnSpc>
                <a:spcPct val="110000"/>
              </a:lnSpc>
              <a:buNone/>
            </a:pPr>
            <a:r>
              <a:rPr lang="en-US" sz="2000" dirty="0">
                <a:solidFill>
                  <a:srgbClr val="0F2347"/>
                </a:solidFill>
                <a:latin typeface="DM Sans" pitchFamily="34" charset="0"/>
                <a:ea typeface="DM Sans" pitchFamily="34" charset="-122"/>
                <a:cs typeface="DM Sans" pitchFamily="34" charset="-120"/>
              </a:rPr>
              <a:t>At least one clear positive instance from within the window.</a:t>
            </a:r>
            <a:endParaRPr lang="en-US" sz="2000" dirty="0"/>
          </a:p>
        </p:txBody>
      </p:sp>
      <p:sp>
        <p:nvSpPr>
          <p:cNvPr id="11" name="Text 9"/>
          <p:cNvSpPr/>
          <p:nvPr/>
        </p:nvSpPr>
        <p:spPr>
          <a:xfrm>
            <a:off x="658368" y="3602736"/>
            <a:ext cx="2103120" cy="548640"/>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A 3</a:t>
            </a:r>
            <a:endParaRPr lang="en-US" sz="2000" dirty="0"/>
          </a:p>
        </p:txBody>
      </p:sp>
      <p:sp>
        <p:nvSpPr>
          <p:cNvPr id="12" name="Text 10"/>
          <p:cNvSpPr/>
          <p:nvPr/>
        </p:nvSpPr>
        <p:spPr>
          <a:xfrm>
            <a:off x="2926080" y="3602736"/>
            <a:ext cx="8604504" cy="640080"/>
          </a:xfrm>
          <a:prstGeom prst="rect">
            <a:avLst/>
          </a:prstGeom>
          <a:noFill/>
          <a:ln/>
        </p:spPr>
        <p:txBody>
          <a:bodyPr wrap="square" lIns="0" tIns="0" rIns="0" bIns="0" rtlCol="0" anchor="t">
            <a:normAutofit/>
          </a:bodyPr>
          <a:lstStyle/>
          <a:p>
            <a:pPr indent="0" marL="0">
              <a:lnSpc>
                <a:spcPct val="110000"/>
              </a:lnSpc>
              <a:buNone/>
            </a:pPr>
            <a:r>
              <a:rPr lang="en-US" sz="2000" dirty="0">
                <a:solidFill>
                  <a:srgbClr val="0F2347"/>
                </a:solidFill>
                <a:latin typeface="DM Sans" pitchFamily="34" charset="0"/>
                <a:ea typeface="DM Sans" pitchFamily="34" charset="-122"/>
                <a:cs typeface="DM Sans" pitchFamily="34" charset="-120"/>
              </a:rPr>
              <a:t>The mixed or inconsistent pattern. A 3 is a reading, not an absence of one.</a:t>
            </a:r>
            <a:endParaRPr lang="en-US" sz="2000" dirty="0"/>
          </a:p>
        </p:txBody>
      </p:sp>
      <p:sp>
        <p:nvSpPr>
          <p:cNvPr id="13" name="Text 11"/>
          <p:cNvSpPr/>
          <p:nvPr/>
        </p:nvSpPr>
        <p:spPr>
          <a:xfrm>
            <a:off x="658368" y="4315968"/>
            <a:ext cx="2103120" cy="548640"/>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A 1 or 2</a:t>
            </a:r>
            <a:endParaRPr lang="en-US" sz="2000" dirty="0"/>
          </a:p>
        </p:txBody>
      </p:sp>
      <p:sp>
        <p:nvSpPr>
          <p:cNvPr id="14" name="Text 12"/>
          <p:cNvSpPr/>
          <p:nvPr/>
        </p:nvSpPr>
        <p:spPr>
          <a:xfrm>
            <a:off x="2926080" y="4315968"/>
            <a:ext cx="8604504" cy="640080"/>
          </a:xfrm>
          <a:prstGeom prst="rect">
            <a:avLst/>
          </a:prstGeom>
          <a:noFill/>
          <a:ln/>
        </p:spPr>
        <p:txBody>
          <a:bodyPr wrap="square" lIns="0" tIns="0" rIns="0" bIns="0" rtlCol="0" anchor="t">
            <a:normAutofit/>
          </a:bodyPr>
          <a:lstStyle/>
          <a:p>
            <a:pPr indent="0" marL="0">
              <a:lnSpc>
                <a:spcPct val="110000"/>
              </a:lnSpc>
              <a:buNone/>
            </a:pPr>
            <a:r>
              <a:rPr lang="en-US" sz="2000" dirty="0">
                <a:solidFill>
                  <a:srgbClr val="0F2347"/>
                </a:solidFill>
                <a:latin typeface="DM Sans" pitchFamily="34" charset="0"/>
                <a:ea typeface="DM Sans" pitchFamily="34" charset="-122"/>
                <a:cs typeface="DM Sans" pitchFamily="34" charset="-120"/>
              </a:rPr>
              <a:t>What repeatedly happened instead, a counterexample, or no qualifying instance in the window.</a:t>
            </a:r>
            <a:endParaRPr lang="en-US" sz="2000" dirty="0"/>
          </a:p>
        </p:txBody>
      </p:sp>
      <p:sp>
        <p:nvSpPr>
          <p:cNvPr id="15" name="Shape 13"/>
          <p:cNvSpPr/>
          <p:nvPr/>
        </p:nvSpPr>
        <p:spPr>
          <a:xfrm>
            <a:off x="658368" y="5047488"/>
            <a:ext cx="10872216" cy="914400"/>
          </a:xfrm>
          <a:prstGeom prst="rect">
            <a:avLst/>
          </a:prstGeom>
          <a:solidFill>
            <a:srgbClr val="FFFFFF"/>
          </a:solidFill>
          <a:ln w="12700">
            <a:solidFill>
              <a:srgbClr val="E8DFCC"/>
            </a:solidFill>
            <a:prstDash val="solid"/>
          </a:ln>
        </p:spPr>
        <p:txBody>
          <a:bodyPr>
            <a:normAutofit/>
          </a:bodyPr>
          <a:p/>
        </p:txBody>
      </p:sp>
      <p:sp>
        <p:nvSpPr>
          <p:cNvPr id="16" name="Text 14"/>
          <p:cNvSpPr/>
          <p:nvPr/>
        </p:nvSpPr>
        <p:spPr>
          <a:xfrm>
            <a:off x="914400" y="5212080"/>
            <a:ext cx="10360152" cy="640080"/>
          </a:xfrm>
          <a:prstGeom prst="rect">
            <a:avLst/>
          </a:prstGeom>
          <a:noFill/>
          <a:ln/>
        </p:spPr>
        <p:txBody>
          <a:bodyPr wrap="square" lIns="0" tIns="0" rIns="0" bIns="0" rtlCol="0" anchor="t">
            <a:normAutofit/>
          </a:bodyPr>
          <a:lstStyle/>
          <a:p>
            <a:pPr indent="0" marL="0">
              <a:lnSpc>
                <a:spcPct val="115000"/>
              </a:lnSpc>
              <a:buNone/>
            </a:pPr>
            <a:r>
              <a:rPr lang="en-US" sz="1800" dirty="0">
                <a:solidFill>
                  <a:srgbClr val="0F2347"/>
                </a:solidFill>
                <a:latin typeface="DM Sans" pitchFamily="34" charset="0"/>
                <a:ea typeface="DM Sans" pitchFamily="34" charset="-122"/>
                <a:cs typeface="DM Sans" pitchFamily="34" charset="-120"/>
              </a:rPr>
              <a:t>Cannot support it either way? Write your most defensible number and add one question mark: 3?, 4?, 2?. A 3 means mixed. A question mark means unsupported.</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22</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CALIBRATION</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Scoring the intended life</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Misreading one.</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512064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HOW IT GETS SCORED</a:t>
            </a:r>
            <a:endParaRPr lang="en-US" sz="1100" dirty="0"/>
          </a:p>
        </p:txBody>
      </p:sp>
      <p:sp>
        <p:nvSpPr>
          <p:cNvPr id="9" name="Text 7"/>
          <p:cNvSpPr/>
          <p:nvPr/>
        </p:nvSpPr>
        <p:spPr>
          <a:xfrm>
            <a:off x="6236208" y="1920240"/>
            <a:ext cx="512064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HOW IT SHOULD BE SCORED</a:t>
            </a:r>
            <a:endParaRPr lang="en-US" sz="1100" dirty="0"/>
          </a:p>
        </p:txBody>
      </p:sp>
      <p:sp>
        <p:nvSpPr>
          <p:cNvPr id="10" name="Shape 8"/>
          <p:cNvSpPr/>
          <p:nvPr/>
        </p:nvSpPr>
        <p:spPr>
          <a:xfrm>
            <a:off x="658368" y="2286000"/>
            <a:ext cx="4901184" cy="2395728"/>
          </a:xfrm>
          <a:prstGeom prst="rect">
            <a:avLst/>
          </a:prstGeom>
          <a:solidFill>
            <a:srgbClr val="FFFFFF"/>
          </a:solidFill>
          <a:ln w="12700">
            <a:solidFill>
              <a:srgbClr val="E8DFCC"/>
            </a:solidFill>
            <a:prstDash val="solid"/>
          </a:ln>
        </p:spPr>
        <p:txBody>
          <a:bodyPr>
            <a:normAutofit/>
          </a:bodyPr>
          <a:p/>
        </p:txBody>
      </p:sp>
      <p:sp>
        <p:nvSpPr>
          <p:cNvPr id="11" name="Text 9"/>
          <p:cNvSpPr/>
          <p:nvPr/>
        </p:nvSpPr>
        <p:spPr>
          <a:xfrm>
            <a:off x="896112" y="2468880"/>
            <a:ext cx="4425696" cy="2048256"/>
          </a:xfrm>
          <a:prstGeom prst="rect">
            <a:avLst/>
          </a:prstGeom>
          <a:noFill/>
          <a:ln/>
        </p:spPr>
        <p:txBody>
          <a:bodyPr wrap="square" lIns="0" tIns="0" rIns="0" bIns="0" rtlCol="0" anchor="t">
            <a:normAutofit/>
          </a:bodyPr>
          <a:lstStyle/>
          <a:p>
            <a:pPr indent="0" marL="0">
              <a:lnSpc>
                <a:spcPct val="118000"/>
              </a:lnSpc>
              <a:buNone/>
            </a:pPr>
            <a:r>
              <a:rPr lang="en-US" sz="1800" dirty="0">
                <a:solidFill>
                  <a:srgbClr val="0F2347"/>
                </a:solidFill>
                <a:latin typeface="DM Sans" pitchFamily="34" charset="0"/>
                <a:ea typeface="DM Sans" pitchFamily="34" charset="-122"/>
                <a:cs typeface="DM Sans" pitchFamily="34" charset="-120"/>
              </a:rPr>
              <a:t>“My rotation into the new function was approved last month. Statement 1 gets a 4.”</a:t>
            </a:r>
            <a:endParaRPr lang="en-US" sz="1800" dirty="0"/>
          </a:p>
        </p:txBody>
      </p:sp>
      <p:sp>
        <p:nvSpPr>
          <p:cNvPr id="12" name="Shape 10"/>
          <p:cNvSpPr/>
          <p:nvPr/>
        </p:nvSpPr>
        <p:spPr>
          <a:xfrm>
            <a:off x="6236208" y="2286000"/>
            <a:ext cx="4901184" cy="2395728"/>
          </a:xfrm>
          <a:prstGeom prst="rect">
            <a:avLst/>
          </a:prstGeom>
          <a:solidFill>
            <a:srgbClr val="FFFFFF"/>
          </a:solidFill>
          <a:ln w="12700">
            <a:solidFill>
              <a:srgbClr val="E8DFCC"/>
            </a:solidFill>
            <a:prstDash val="solid"/>
          </a:ln>
        </p:spPr>
        <p:txBody>
          <a:bodyPr>
            <a:normAutofit/>
          </a:bodyPr>
          <a:p/>
        </p:txBody>
      </p:sp>
      <p:sp>
        <p:nvSpPr>
          <p:cNvPr id="13" name="Text 11"/>
          <p:cNvSpPr/>
          <p:nvPr/>
        </p:nvSpPr>
        <p:spPr>
          <a:xfrm>
            <a:off x="6473952" y="2468880"/>
            <a:ext cx="4425696" cy="2048256"/>
          </a:xfrm>
          <a:prstGeom prst="rect">
            <a:avLst/>
          </a:prstGeom>
          <a:noFill/>
          <a:ln/>
        </p:spPr>
        <p:txBody>
          <a:bodyPr wrap="square" lIns="0" tIns="0" rIns="0" bIns="0" rtlCol="0" anchor="t">
            <a:normAutofit/>
          </a:bodyPr>
          <a:lstStyle/>
          <a:p>
            <a:pPr indent="0" marL="0">
              <a:lnSpc>
                <a:spcPct val="118000"/>
              </a:lnSpc>
              <a:buNone/>
            </a:pPr>
            <a:r>
              <a:rPr lang="en-US" sz="1800" dirty="0">
                <a:solidFill>
                  <a:srgbClr val="0F2347"/>
                </a:solidFill>
                <a:latin typeface="DM Sans" pitchFamily="34" charset="0"/>
                <a:ea typeface="DM Sans" pitchFamily="34" charset="-122"/>
                <a:cs typeface="DM Sans" pitchFamily="34" charset="-120"/>
              </a:rPr>
              <a:t>The rotation starts in March. In the last ninety days I solved problems I already knew. Statement 1 scores a 2: no qualifying instance in the window.</a:t>
            </a:r>
            <a:endParaRPr lang="en-US" sz="1800" dirty="0"/>
          </a:p>
        </p:txBody>
      </p:sp>
      <p:sp>
        <p:nvSpPr>
          <p:cNvPr id="14" name="Shape 12"/>
          <p:cNvSpPr/>
          <p:nvPr/>
        </p:nvSpPr>
        <p:spPr>
          <a:xfrm>
            <a:off x="658368" y="4974336"/>
            <a:ext cx="10872216" cy="10973"/>
          </a:xfrm>
          <a:prstGeom prst="rect">
            <a:avLst/>
          </a:prstGeom>
          <a:solidFill>
            <a:srgbClr val="E8DFCC"/>
          </a:solidFill>
          <a:ln w="12700">
            <a:solidFill>
              <a:srgbClr val="333333"/>
            </a:solidFill>
            <a:prstDash val="solid"/>
          </a:ln>
        </p:spPr>
        <p:txBody>
          <a:bodyPr>
            <a:normAutofit/>
          </a:bodyPr>
          <a:p/>
        </p:txBody>
      </p:sp>
      <p:sp>
        <p:nvSpPr>
          <p:cNvPr id="15" name="Text 13"/>
          <p:cNvSpPr/>
          <p:nvPr/>
        </p:nvSpPr>
        <p:spPr>
          <a:xfrm>
            <a:off x="658368" y="5120640"/>
            <a:ext cx="10872216" cy="566928"/>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An intention is not evidence. The ninety-day window exists to keep hope out of the number.</a:t>
            </a:r>
            <a:endParaRPr lang="en-US" sz="20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23</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CALIBRATION</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Confusing being valued with being formed</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Misreading two.</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512064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HOW IT GETS SCORED</a:t>
            </a:r>
            <a:endParaRPr lang="en-US" sz="1100" dirty="0"/>
          </a:p>
        </p:txBody>
      </p:sp>
      <p:sp>
        <p:nvSpPr>
          <p:cNvPr id="9" name="Text 7"/>
          <p:cNvSpPr/>
          <p:nvPr/>
        </p:nvSpPr>
        <p:spPr>
          <a:xfrm>
            <a:off x="6236208" y="1920240"/>
            <a:ext cx="512064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HOW IT SHOULD BE SCORED</a:t>
            </a:r>
            <a:endParaRPr lang="en-US" sz="1100" dirty="0"/>
          </a:p>
        </p:txBody>
      </p:sp>
      <p:sp>
        <p:nvSpPr>
          <p:cNvPr id="10" name="Shape 8"/>
          <p:cNvSpPr/>
          <p:nvPr/>
        </p:nvSpPr>
        <p:spPr>
          <a:xfrm>
            <a:off x="658368" y="2286000"/>
            <a:ext cx="4901184" cy="2395728"/>
          </a:xfrm>
          <a:prstGeom prst="rect">
            <a:avLst/>
          </a:prstGeom>
          <a:solidFill>
            <a:srgbClr val="FFFFFF"/>
          </a:solidFill>
          <a:ln w="12700">
            <a:solidFill>
              <a:srgbClr val="E8DFCC"/>
            </a:solidFill>
            <a:prstDash val="solid"/>
          </a:ln>
        </p:spPr>
        <p:txBody>
          <a:bodyPr>
            <a:normAutofit/>
          </a:bodyPr>
          <a:p/>
        </p:txBody>
      </p:sp>
      <p:sp>
        <p:nvSpPr>
          <p:cNvPr id="11" name="Text 9"/>
          <p:cNvSpPr/>
          <p:nvPr/>
        </p:nvSpPr>
        <p:spPr>
          <a:xfrm>
            <a:off x="896112" y="2468880"/>
            <a:ext cx="4425696" cy="2048256"/>
          </a:xfrm>
          <a:prstGeom prst="rect">
            <a:avLst/>
          </a:prstGeom>
          <a:noFill/>
          <a:ln/>
        </p:spPr>
        <p:txBody>
          <a:bodyPr wrap="square" lIns="0" tIns="0" rIns="0" bIns="0" rtlCol="0" anchor="t">
            <a:normAutofit/>
          </a:bodyPr>
          <a:lstStyle/>
          <a:p>
            <a:pPr indent="0" marL="0">
              <a:lnSpc>
                <a:spcPct val="118000"/>
              </a:lnSpc>
              <a:buNone/>
            </a:pPr>
            <a:r>
              <a:rPr lang="en-US" sz="1800" dirty="0">
                <a:solidFill>
                  <a:srgbClr val="0F2347"/>
                </a:solidFill>
                <a:latin typeface="DM Sans" pitchFamily="34" charset="0"/>
                <a:ea typeface="DM Sans" pitchFamily="34" charset="-122"/>
                <a:cs typeface="DM Sans" pitchFamily="34" charset="-120"/>
              </a:rPr>
              <a:t>“Three VPs ask for my read before anything ships. Statement 3 gets a 5.”</a:t>
            </a:r>
            <a:endParaRPr lang="en-US" sz="1800" dirty="0"/>
          </a:p>
        </p:txBody>
      </p:sp>
      <p:sp>
        <p:nvSpPr>
          <p:cNvPr id="12" name="Shape 10"/>
          <p:cNvSpPr/>
          <p:nvPr/>
        </p:nvSpPr>
        <p:spPr>
          <a:xfrm>
            <a:off x="6236208" y="2286000"/>
            <a:ext cx="4901184" cy="2395728"/>
          </a:xfrm>
          <a:prstGeom prst="rect">
            <a:avLst/>
          </a:prstGeom>
          <a:solidFill>
            <a:srgbClr val="FFFFFF"/>
          </a:solidFill>
          <a:ln w="12700">
            <a:solidFill>
              <a:srgbClr val="E8DFCC"/>
            </a:solidFill>
            <a:prstDash val="solid"/>
          </a:ln>
        </p:spPr>
        <p:txBody>
          <a:bodyPr>
            <a:normAutofit/>
          </a:bodyPr>
          <a:p/>
        </p:txBody>
      </p:sp>
      <p:sp>
        <p:nvSpPr>
          <p:cNvPr id="13" name="Text 11"/>
          <p:cNvSpPr/>
          <p:nvPr/>
        </p:nvSpPr>
        <p:spPr>
          <a:xfrm>
            <a:off x="6473952" y="2468880"/>
            <a:ext cx="4425696" cy="2048256"/>
          </a:xfrm>
          <a:prstGeom prst="rect">
            <a:avLst/>
          </a:prstGeom>
          <a:noFill/>
          <a:ln/>
        </p:spPr>
        <p:txBody>
          <a:bodyPr wrap="square" lIns="0" tIns="0" rIns="0" bIns="0" rtlCol="0" anchor="t">
            <a:normAutofit/>
          </a:bodyPr>
          <a:lstStyle/>
          <a:p>
            <a:pPr indent="0" marL="0">
              <a:lnSpc>
                <a:spcPct val="118000"/>
              </a:lnSpc>
              <a:buNone/>
            </a:pPr>
            <a:r>
              <a:rPr lang="en-US" sz="1800" dirty="0">
                <a:solidFill>
                  <a:srgbClr val="0F2347"/>
                </a:solidFill>
                <a:latin typeface="DM Sans" pitchFamily="34" charset="0"/>
                <a:ea typeface="DM Sans" pitchFamily="34" charset="-122"/>
                <a:cs typeface="DM Sans" pitchFamily="34" charset="-120"/>
              </a:rPr>
              <a:t>Being asked for my opinion is not review by someone who can tell good from adequate. Statement 3 scores a 2 — what happened instead was agreement.</a:t>
            </a:r>
            <a:endParaRPr lang="en-US" sz="1800" dirty="0"/>
          </a:p>
        </p:txBody>
      </p:sp>
      <p:sp>
        <p:nvSpPr>
          <p:cNvPr id="14" name="Shape 12"/>
          <p:cNvSpPr/>
          <p:nvPr/>
        </p:nvSpPr>
        <p:spPr>
          <a:xfrm>
            <a:off x="658368" y="4974336"/>
            <a:ext cx="10872216" cy="10973"/>
          </a:xfrm>
          <a:prstGeom prst="rect">
            <a:avLst/>
          </a:prstGeom>
          <a:solidFill>
            <a:srgbClr val="E8DFCC"/>
          </a:solidFill>
          <a:ln w="12700">
            <a:solidFill>
              <a:srgbClr val="333333"/>
            </a:solidFill>
            <a:prstDash val="solid"/>
          </a:ln>
        </p:spPr>
        <p:txBody>
          <a:bodyPr>
            <a:normAutofit/>
          </a:bodyPr>
          <a:p/>
        </p:txBody>
      </p:sp>
      <p:sp>
        <p:nvSpPr>
          <p:cNvPr id="15" name="Text 13"/>
          <p:cNvSpPr/>
          <p:nvPr/>
        </p:nvSpPr>
        <p:spPr>
          <a:xfrm>
            <a:off x="658368" y="5120640"/>
            <a:ext cx="10872216" cy="566928"/>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Praise, dependence, seniority and internal reputation can all coexist with declining formation.</a:t>
            </a:r>
            <a:endParaRPr lang="en-US" sz="20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24</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APPLICATION</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000" dirty="0">
                <a:solidFill>
                  <a:srgbClr val="0F2347"/>
                </a:solidFill>
                <a:latin typeface="Cormorant Garamond" pitchFamily="34" charset="0"/>
                <a:ea typeface="Cormorant Garamond" pitchFamily="34" charset="-122"/>
                <a:cs typeface="Cormorant Garamond" pitchFamily="34" charset="-120"/>
              </a:rPr>
              <a:t>Why promotion can stop forming a high performer</a:t>
            </a:r>
            <a:endParaRPr lang="en-US" sz="30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The same misreading, in the place it is hardest to see.</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2011680"/>
            <a:ext cx="10872216" cy="914400"/>
          </a:xfrm>
          <a:prstGeom prst="rect">
            <a:avLst/>
          </a:prstGeom>
          <a:noFill/>
          <a:ln/>
        </p:spPr>
        <p:txBody>
          <a:bodyPr wrap="square" lIns="0" tIns="0" rIns="0" bIns="0" rtlCol="0" anchor="t">
            <a:normAutofit/>
          </a:bodyPr>
          <a:lstStyle/>
          <a:p>
            <a:pPr indent="0" marL="0">
              <a:lnSpc>
                <a:spcPct val="120000"/>
              </a:lnSpc>
              <a:buNone/>
            </a:pPr>
            <a:r>
              <a:rPr lang="en-US" sz="2400" dirty="0">
                <a:solidFill>
                  <a:srgbClr val="0F2347"/>
                </a:solidFill>
                <a:latin typeface="Cormorant Garamond" pitchFamily="34" charset="0"/>
                <a:ea typeface="Cormorant Garamond" pitchFamily="34" charset="-122"/>
                <a:cs typeface="Cormorant Garamond" pitchFamily="34" charset="-120"/>
              </a:rPr>
              <a:t>A promotion can increase responsibility, visibility and dependence while reducing formation.</a:t>
            </a:r>
            <a:endParaRPr lang="en-US" sz="2400" dirty="0"/>
          </a:p>
        </p:txBody>
      </p:sp>
      <p:sp>
        <p:nvSpPr>
          <p:cNvPr id="9" name="Shape 7"/>
          <p:cNvSpPr/>
          <p:nvPr/>
        </p:nvSpPr>
        <p:spPr>
          <a:xfrm>
            <a:off x="658368" y="3054096"/>
            <a:ext cx="10872216" cy="1298448"/>
          </a:xfrm>
          <a:prstGeom prst="rect">
            <a:avLst/>
          </a:prstGeom>
          <a:solidFill>
            <a:srgbClr val="FFFFFF"/>
          </a:solidFill>
          <a:ln w="12700">
            <a:solidFill>
              <a:srgbClr val="E8DFCC"/>
            </a:solidFill>
            <a:prstDash val="solid"/>
          </a:ln>
        </p:spPr>
        <p:txBody>
          <a:bodyPr>
            <a:normAutofit/>
          </a:bodyPr>
          <a:p/>
        </p:txBody>
      </p:sp>
      <p:sp>
        <p:nvSpPr>
          <p:cNvPr id="10" name="Text 8"/>
          <p:cNvSpPr/>
          <p:nvPr/>
        </p:nvSpPr>
        <p:spPr>
          <a:xfrm>
            <a:off x="914400" y="3236976"/>
            <a:ext cx="10360152" cy="969264"/>
          </a:xfrm>
          <a:prstGeom prst="rect">
            <a:avLst/>
          </a:prstGeom>
          <a:noFill/>
          <a:ln/>
        </p:spPr>
        <p:txBody>
          <a:bodyPr wrap="square" lIns="0" tIns="0" rIns="0" bIns="0" rtlCol="0" anchor="t">
            <a:normAutofit/>
          </a:bodyPr>
          <a:lstStyle/>
          <a:p>
            <a:pPr indent="0" marL="0">
              <a:lnSpc>
                <a:spcPct val="118000"/>
              </a:lnSpc>
              <a:buNone/>
            </a:pPr>
            <a:r>
              <a:rPr lang="en-US" sz="2000" dirty="0">
                <a:solidFill>
                  <a:srgbClr val="0F2347"/>
                </a:solidFill>
                <a:latin typeface="DM Sans" pitchFamily="34" charset="0"/>
                <a:ea typeface="DM Sans" pitchFamily="34" charset="-122"/>
                <a:cs typeface="DM Sans" pitchFamily="34" charset="-120"/>
              </a:rPr>
              <a:t>A high performer moves into approvals, representation and familiar judgment. Expectations rise while unfamiliar problems fall.</a:t>
            </a:r>
            <a:endParaRPr lang="en-US" sz="2000" dirty="0"/>
          </a:p>
        </p:txBody>
      </p:sp>
      <p:sp>
        <p:nvSpPr>
          <p:cNvPr id="11" name="Text 9"/>
          <p:cNvSpPr/>
          <p:nvPr/>
        </p:nvSpPr>
        <p:spPr>
          <a:xfrm>
            <a:off x="658368" y="4590288"/>
            <a:ext cx="10872216" cy="786384"/>
          </a:xfrm>
          <a:prstGeom prst="rect">
            <a:avLst/>
          </a:prstGeom>
          <a:noFill/>
          <a:ln/>
        </p:spPr>
        <p:txBody>
          <a:bodyPr wrap="square" lIns="0" tIns="0" rIns="0" bIns="0" rtlCol="0" anchor="t">
            <a:normAutofit/>
          </a:bodyPr>
          <a:lstStyle/>
          <a:p>
            <a:pPr indent="0" marL="0">
              <a:lnSpc>
                <a:spcPct val="120000"/>
              </a:lnSpc>
              <a:buNone/>
            </a:pPr>
            <a:r>
              <a:rPr lang="en-US" sz="2000" b="1" dirty="0">
                <a:solidFill>
                  <a:srgbClr val="0F2347"/>
                </a:solidFill>
                <a:latin typeface="DM Sans" pitchFamily="34" charset="0"/>
                <a:ea typeface="DM Sans" pitchFamily="34" charset="-122"/>
                <a:cs typeface="DM Sans" pitchFamily="34" charset="-120"/>
              </a:rPr>
              <a:t>This describes a possible change in Density. It does not assign a Career State without also reading Optionality.</a:t>
            </a:r>
            <a:endParaRPr lang="en-US" sz="2000" dirty="0"/>
          </a:p>
        </p:txBody>
      </p:sp>
      <p:sp>
        <p:nvSpPr>
          <p:cNvPr id="12" name="Shape 10"/>
          <p:cNvSpPr/>
          <p:nvPr/>
        </p:nvSpPr>
        <p:spPr>
          <a:xfrm>
            <a:off x="658368" y="5522976"/>
            <a:ext cx="10872216" cy="10973"/>
          </a:xfrm>
          <a:prstGeom prst="rect">
            <a:avLst/>
          </a:prstGeom>
          <a:solidFill>
            <a:srgbClr val="E8DFCC"/>
          </a:solidFill>
          <a:ln w="12700">
            <a:solidFill>
              <a:srgbClr val="333333"/>
            </a:solidFill>
            <a:prstDash val="solid"/>
          </a:ln>
        </p:spPr>
        <p:txBody>
          <a:bodyPr>
            <a:normAutofit/>
          </a:bodyPr>
          <a:p/>
        </p:txBody>
      </p:sp>
      <p:sp>
        <p:nvSpPr>
          <p:cNvPr id="13" name="Text 11"/>
          <p:cNvSpPr/>
          <p:nvPr/>
        </p:nvSpPr>
        <p:spPr>
          <a:xfrm>
            <a:off x="658368" y="5669280"/>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Score the work, not the title. Take-home prompt on workbook page 25.</a:t>
            </a:r>
            <a:endParaRPr lang="en-US" sz="16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25</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CALIBRATION</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Reading low Optionality as a verdict on ability</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Misreading three.</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512064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HOW IT GETS SCORED</a:t>
            </a:r>
            <a:endParaRPr lang="en-US" sz="1100" dirty="0"/>
          </a:p>
        </p:txBody>
      </p:sp>
      <p:sp>
        <p:nvSpPr>
          <p:cNvPr id="9" name="Text 7"/>
          <p:cNvSpPr/>
          <p:nvPr/>
        </p:nvSpPr>
        <p:spPr>
          <a:xfrm>
            <a:off x="6236208" y="1920240"/>
            <a:ext cx="5120640" cy="274320"/>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HOW IT SHOULD BE SCORED</a:t>
            </a:r>
            <a:endParaRPr lang="en-US" sz="1100" dirty="0"/>
          </a:p>
        </p:txBody>
      </p:sp>
      <p:sp>
        <p:nvSpPr>
          <p:cNvPr id="10" name="Shape 8"/>
          <p:cNvSpPr/>
          <p:nvPr/>
        </p:nvSpPr>
        <p:spPr>
          <a:xfrm>
            <a:off x="658368" y="2286000"/>
            <a:ext cx="4901184" cy="2395728"/>
          </a:xfrm>
          <a:prstGeom prst="rect">
            <a:avLst/>
          </a:prstGeom>
          <a:solidFill>
            <a:srgbClr val="FFFFFF"/>
          </a:solidFill>
          <a:ln w="12700">
            <a:solidFill>
              <a:srgbClr val="E8DFCC"/>
            </a:solidFill>
            <a:prstDash val="solid"/>
          </a:ln>
        </p:spPr>
        <p:txBody>
          <a:bodyPr>
            <a:normAutofit/>
          </a:bodyPr>
          <a:p/>
        </p:txBody>
      </p:sp>
      <p:sp>
        <p:nvSpPr>
          <p:cNvPr id="11" name="Text 9"/>
          <p:cNvSpPr/>
          <p:nvPr/>
        </p:nvSpPr>
        <p:spPr>
          <a:xfrm>
            <a:off x="896112" y="2468880"/>
            <a:ext cx="4425696" cy="2048256"/>
          </a:xfrm>
          <a:prstGeom prst="rect">
            <a:avLst/>
          </a:prstGeom>
          <a:noFill/>
          <a:ln/>
        </p:spPr>
        <p:txBody>
          <a:bodyPr wrap="square" lIns="0" tIns="0" rIns="0" bIns="0" rtlCol="0" anchor="t">
            <a:normAutofit/>
          </a:bodyPr>
          <a:lstStyle/>
          <a:p>
            <a:pPr indent="0" marL="0">
              <a:lnSpc>
                <a:spcPct val="118000"/>
              </a:lnSpc>
              <a:buNone/>
            </a:pPr>
            <a:r>
              <a:rPr lang="en-US" sz="1800" dirty="0">
                <a:solidFill>
                  <a:srgbClr val="0F2347"/>
                </a:solidFill>
                <a:latin typeface="DM Sans" pitchFamily="34" charset="0"/>
                <a:ea typeface="DM Sans" pitchFamily="34" charset="-122"/>
                <a:cs typeface="DM Sans" pitchFamily="34" charset="-120"/>
              </a:rPr>
              <a:t>“Statement 10 is a 2. Nobody outside can see me because I am not senior enough.”</a:t>
            </a:r>
            <a:endParaRPr lang="en-US" sz="1800" dirty="0"/>
          </a:p>
        </p:txBody>
      </p:sp>
      <p:sp>
        <p:nvSpPr>
          <p:cNvPr id="12" name="Shape 10"/>
          <p:cNvSpPr/>
          <p:nvPr/>
        </p:nvSpPr>
        <p:spPr>
          <a:xfrm>
            <a:off x="6236208" y="2286000"/>
            <a:ext cx="4901184" cy="2395728"/>
          </a:xfrm>
          <a:prstGeom prst="rect">
            <a:avLst/>
          </a:prstGeom>
          <a:solidFill>
            <a:srgbClr val="FFFFFF"/>
          </a:solidFill>
          <a:ln w="12700">
            <a:solidFill>
              <a:srgbClr val="E8DFCC"/>
            </a:solidFill>
            <a:prstDash val="solid"/>
          </a:ln>
        </p:spPr>
        <p:txBody>
          <a:bodyPr>
            <a:normAutofit/>
          </a:bodyPr>
          <a:p/>
        </p:txBody>
      </p:sp>
      <p:sp>
        <p:nvSpPr>
          <p:cNvPr id="13" name="Text 11"/>
          <p:cNvSpPr/>
          <p:nvPr/>
        </p:nvSpPr>
        <p:spPr>
          <a:xfrm>
            <a:off x="6473952" y="2468880"/>
            <a:ext cx="4425696" cy="2048256"/>
          </a:xfrm>
          <a:prstGeom prst="rect">
            <a:avLst/>
          </a:prstGeom>
          <a:noFill/>
          <a:ln/>
        </p:spPr>
        <p:txBody>
          <a:bodyPr wrap="square" lIns="0" tIns="0" rIns="0" bIns="0" rtlCol="0" anchor="t">
            <a:normAutofit/>
          </a:bodyPr>
          <a:lstStyle/>
          <a:p>
            <a:pPr indent="0" marL="0">
              <a:lnSpc>
                <a:spcPct val="118000"/>
              </a:lnSpc>
              <a:buNone/>
            </a:pPr>
            <a:r>
              <a:rPr lang="en-US" sz="1800" dirty="0">
                <a:solidFill>
                  <a:srgbClr val="0F2347"/>
                </a:solidFill>
                <a:latin typeface="DM Sans" pitchFamily="34" charset="0"/>
                <a:ea typeface="DM Sans" pitchFamily="34" charset="-122"/>
                <a:cs typeface="DM Sans" pitchFamily="34" charset="-120"/>
              </a:rPr>
              <a:t>“Statement 10 is a 2: I have not published, spoken, or crossed a company boundary in three years. That is exposure — it tells me what to build.”</a:t>
            </a:r>
            <a:endParaRPr lang="en-US" sz="1800" dirty="0"/>
          </a:p>
        </p:txBody>
      </p:sp>
      <p:sp>
        <p:nvSpPr>
          <p:cNvPr id="14" name="Shape 12"/>
          <p:cNvSpPr/>
          <p:nvPr/>
        </p:nvSpPr>
        <p:spPr>
          <a:xfrm>
            <a:off x="658368" y="4974336"/>
            <a:ext cx="10872216" cy="10973"/>
          </a:xfrm>
          <a:prstGeom prst="rect">
            <a:avLst/>
          </a:prstGeom>
          <a:solidFill>
            <a:srgbClr val="E8DFCC"/>
          </a:solidFill>
          <a:ln w="12700">
            <a:solidFill>
              <a:srgbClr val="333333"/>
            </a:solidFill>
            <a:prstDash val="solid"/>
          </a:ln>
        </p:spPr>
        <p:txBody>
          <a:bodyPr>
            <a:normAutofit/>
          </a:bodyPr>
          <a:p/>
        </p:txBody>
      </p:sp>
      <p:sp>
        <p:nvSpPr>
          <p:cNvPr id="15" name="Text 13"/>
          <p:cNvSpPr/>
          <p:nvPr/>
        </p:nvSpPr>
        <p:spPr>
          <a:xfrm>
            <a:off x="658368" y="5120640"/>
            <a:ext cx="10872216" cy="566928"/>
          </a:xfrm>
          <a:prstGeom prst="rect">
            <a:avLst/>
          </a:prstGeom>
          <a:noFill/>
          <a:ln/>
        </p:spPr>
        <p:txBody>
          <a:bodyPr wrap="square" lIns="0" tIns="0" rIns="0" bIns="0" rtlCol="0" anchor="t">
            <a:normAutofit/>
          </a:bodyPr>
          <a:lstStyle/>
          <a:p>
            <a:pPr indent="0" marL="0">
              <a:lnSpc>
                <a:spcPct val="115000"/>
              </a:lnSpc>
              <a:buNone/>
            </a:pPr>
            <a:r>
              <a:rPr lang="en-US" sz="2000" dirty="0">
                <a:solidFill>
                  <a:srgbClr val="0F2347"/>
                </a:solidFill>
                <a:latin typeface="DM Sans" pitchFamily="34" charset="0"/>
                <a:ea typeface="DM Sans" pitchFamily="34" charset="-122"/>
                <a:cs typeface="DM Sans" pitchFamily="34" charset="-120"/>
              </a:rPr>
              <a:t>A low Optionality score may reflect context-bound capability, weak translation, limited exposure, or a combination. It is not a verdict on your ability or worth.</a:t>
            </a:r>
            <a:endParaRPr lang="en-US" sz="20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26</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CORRECTION MAP</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The whole map</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Five corrections. This is the argument for scoring again.</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20240"/>
            <a:ext cx="5029200" cy="256032"/>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ENTERING BELIEF</a:t>
            </a:r>
            <a:endParaRPr lang="en-US" sz="1100" dirty="0"/>
          </a:p>
        </p:txBody>
      </p:sp>
      <p:sp>
        <p:nvSpPr>
          <p:cNvPr id="9" name="Text 7"/>
          <p:cNvSpPr/>
          <p:nvPr/>
        </p:nvSpPr>
        <p:spPr>
          <a:xfrm>
            <a:off x="6236208" y="1920240"/>
            <a:ext cx="5029200" cy="256032"/>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EXITING BELIEF</a:t>
            </a:r>
            <a:endParaRPr lang="en-US" sz="1100" dirty="0"/>
          </a:p>
        </p:txBody>
      </p:sp>
      <p:sp>
        <p:nvSpPr>
          <p:cNvPr id="10" name="Text 8"/>
          <p:cNvSpPr/>
          <p:nvPr/>
        </p:nvSpPr>
        <p:spPr>
          <a:xfrm>
            <a:off x="658368" y="2267712"/>
            <a:ext cx="5029200" cy="713232"/>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“The work is demanding, so I must be growing.”</a:t>
            </a:r>
            <a:endParaRPr lang="en-US" sz="1700" dirty="0"/>
          </a:p>
        </p:txBody>
      </p:sp>
      <p:sp>
        <p:nvSpPr>
          <p:cNvPr id="11" name="Text 9"/>
          <p:cNvSpPr/>
          <p:nvPr/>
        </p:nvSpPr>
        <p:spPr>
          <a:xfrm>
            <a:off x="6236208" y="2267712"/>
            <a:ext cx="5029200" cy="713232"/>
          </a:xfrm>
          <a:prstGeom prst="rect">
            <a:avLst/>
          </a:prstGeom>
          <a:noFill/>
          <a:ln/>
        </p:spPr>
        <p:txBody>
          <a:bodyPr wrap="square" lIns="0" tIns="0" rIns="0" bIns="0" rtlCol="0" anchor="t">
            <a:normAutofit/>
          </a:bodyPr>
          <a:lstStyle/>
          <a:p>
            <a:pPr indent="0" marL="0">
              <a:lnSpc>
                <a:spcPct val="110000"/>
              </a:lnSpc>
              <a:buNone/>
            </a:pPr>
            <a:r>
              <a:rPr lang="en-US" sz="1700" b="1" dirty="0">
                <a:solidFill>
                  <a:srgbClr val="0F2347"/>
                </a:solidFill>
                <a:latin typeface="DM Sans" pitchFamily="34" charset="0"/>
                <a:ea typeface="DM Sans" pitchFamily="34" charset="-122"/>
                <a:cs typeface="DM Sans" pitchFamily="34" charset="-120"/>
              </a:rPr>
              <a:t>“A demanding role can stop forming me and still feel full.”</a:t>
            </a:r>
            <a:endParaRPr lang="en-US" sz="1700" dirty="0"/>
          </a:p>
        </p:txBody>
      </p:sp>
      <p:sp>
        <p:nvSpPr>
          <p:cNvPr id="12" name="Shape 10"/>
          <p:cNvSpPr/>
          <p:nvPr/>
        </p:nvSpPr>
        <p:spPr>
          <a:xfrm>
            <a:off x="658368" y="2980944"/>
            <a:ext cx="10872216" cy="7315"/>
          </a:xfrm>
          <a:prstGeom prst="rect">
            <a:avLst/>
          </a:prstGeom>
          <a:solidFill>
            <a:srgbClr val="E8DFCC"/>
          </a:solidFill>
          <a:ln w="12700">
            <a:solidFill>
              <a:srgbClr val="333333"/>
            </a:solidFill>
            <a:prstDash val="solid"/>
          </a:ln>
        </p:spPr>
        <p:txBody>
          <a:bodyPr>
            <a:normAutofit/>
          </a:bodyPr>
          <a:p/>
        </p:txBody>
      </p:sp>
      <p:sp>
        <p:nvSpPr>
          <p:cNvPr id="13" name="Text 11"/>
          <p:cNvSpPr/>
          <p:nvPr/>
        </p:nvSpPr>
        <p:spPr>
          <a:xfrm>
            <a:off x="658368" y="3054096"/>
            <a:ext cx="5029200" cy="713232"/>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“I would have options if I decided to look.”</a:t>
            </a:r>
            <a:endParaRPr lang="en-US" sz="1700" dirty="0"/>
          </a:p>
        </p:txBody>
      </p:sp>
      <p:sp>
        <p:nvSpPr>
          <p:cNvPr id="14" name="Text 12"/>
          <p:cNvSpPr/>
          <p:nvPr/>
        </p:nvSpPr>
        <p:spPr>
          <a:xfrm>
            <a:off x="6236208" y="3054096"/>
            <a:ext cx="5029200" cy="713232"/>
          </a:xfrm>
          <a:prstGeom prst="rect">
            <a:avLst/>
          </a:prstGeom>
          <a:noFill/>
          <a:ln/>
        </p:spPr>
        <p:txBody>
          <a:bodyPr wrap="square" lIns="0" tIns="0" rIns="0" bIns="0" rtlCol="0" anchor="t">
            <a:normAutofit/>
          </a:bodyPr>
          <a:lstStyle/>
          <a:p>
            <a:pPr indent="0" marL="0">
              <a:lnSpc>
                <a:spcPct val="110000"/>
              </a:lnSpc>
              <a:buNone/>
            </a:pPr>
            <a:r>
              <a:rPr lang="en-US" sz="1700" b="1" dirty="0">
                <a:solidFill>
                  <a:srgbClr val="0F2347"/>
                </a:solidFill>
                <a:latin typeface="DM Sans" pitchFamily="34" charset="0"/>
                <a:ea typeface="DM Sans" pitchFamily="34" charset="-122"/>
                <a:cs typeface="DM Sans" pitchFamily="34" charset="-120"/>
              </a:rPr>
              <a:t>“Options depend on whether people outside can already see what I am good at.”</a:t>
            </a:r>
            <a:endParaRPr lang="en-US" sz="1700" dirty="0"/>
          </a:p>
        </p:txBody>
      </p:sp>
      <p:sp>
        <p:nvSpPr>
          <p:cNvPr id="15" name="Shape 13"/>
          <p:cNvSpPr/>
          <p:nvPr/>
        </p:nvSpPr>
        <p:spPr>
          <a:xfrm>
            <a:off x="658368" y="3767328"/>
            <a:ext cx="10872216" cy="7315"/>
          </a:xfrm>
          <a:prstGeom prst="rect">
            <a:avLst/>
          </a:prstGeom>
          <a:solidFill>
            <a:srgbClr val="E8DFCC"/>
          </a:solidFill>
          <a:ln w="12700">
            <a:solidFill>
              <a:srgbClr val="333333"/>
            </a:solidFill>
            <a:prstDash val="solid"/>
          </a:ln>
        </p:spPr>
        <p:txBody>
          <a:bodyPr>
            <a:normAutofit/>
          </a:bodyPr>
          <a:p/>
        </p:txBody>
      </p:sp>
      <p:sp>
        <p:nvSpPr>
          <p:cNvPr id="16" name="Text 14"/>
          <p:cNvSpPr/>
          <p:nvPr/>
        </p:nvSpPr>
        <p:spPr>
          <a:xfrm>
            <a:off x="658368" y="3840480"/>
            <a:ext cx="5029200" cy="713232"/>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“This is what my role gives me.”</a:t>
            </a:r>
            <a:endParaRPr lang="en-US" sz="1700" dirty="0"/>
          </a:p>
        </p:txBody>
      </p:sp>
      <p:sp>
        <p:nvSpPr>
          <p:cNvPr id="17" name="Text 15"/>
          <p:cNvSpPr/>
          <p:nvPr/>
        </p:nvSpPr>
        <p:spPr>
          <a:xfrm>
            <a:off x="6236208" y="3840480"/>
            <a:ext cx="5029200" cy="713232"/>
          </a:xfrm>
          <a:prstGeom prst="rect">
            <a:avLst/>
          </a:prstGeom>
          <a:noFill/>
          <a:ln/>
        </p:spPr>
        <p:txBody>
          <a:bodyPr wrap="square" lIns="0" tIns="0" rIns="0" bIns="0" rtlCol="0" anchor="t">
            <a:normAutofit/>
          </a:bodyPr>
          <a:lstStyle/>
          <a:p>
            <a:pPr indent="0" marL="0">
              <a:lnSpc>
                <a:spcPct val="110000"/>
              </a:lnSpc>
              <a:buNone/>
            </a:pPr>
            <a:r>
              <a:rPr lang="en-US" sz="1700" b="1" dirty="0">
                <a:solidFill>
                  <a:srgbClr val="0F2347"/>
                </a:solidFill>
                <a:latin typeface="DM Sans" pitchFamily="34" charset="0"/>
                <a:ea typeface="DM Sans" pitchFamily="34" charset="-122"/>
                <a:cs typeface="DM Sans" pitchFamily="34" charset="-120"/>
              </a:rPr>
              <a:t>“I scored the ninety days I actually lived.”</a:t>
            </a:r>
            <a:endParaRPr lang="en-US" sz="1700" dirty="0"/>
          </a:p>
        </p:txBody>
      </p:sp>
      <p:sp>
        <p:nvSpPr>
          <p:cNvPr id="18" name="Shape 16"/>
          <p:cNvSpPr/>
          <p:nvPr/>
        </p:nvSpPr>
        <p:spPr>
          <a:xfrm>
            <a:off x="658368" y="4553712"/>
            <a:ext cx="10872216" cy="7315"/>
          </a:xfrm>
          <a:prstGeom prst="rect">
            <a:avLst/>
          </a:prstGeom>
          <a:solidFill>
            <a:srgbClr val="E8DFCC"/>
          </a:solidFill>
          <a:ln w="12700">
            <a:solidFill>
              <a:srgbClr val="333333"/>
            </a:solidFill>
            <a:prstDash val="solid"/>
          </a:ln>
        </p:spPr>
        <p:txBody>
          <a:bodyPr>
            <a:normAutofit/>
          </a:bodyPr>
          <a:p/>
        </p:txBody>
      </p:sp>
      <p:sp>
        <p:nvSpPr>
          <p:cNvPr id="19" name="Text 17"/>
          <p:cNvSpPr/>
          <p:nvPr/>
        </p:nvSpPr>
        <p:spPr>
          <a:xfrm>
            <a:off x="658368" y="4626864"/>
            <a:ext cx="5029200" cy="713232"/>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“They rely on me here.”</a:t>
            </a:r>
            <a:endParaRPr lang="en-US" sz="1700" dirty="0"/>
          </a:p>
        </p:txBody>
      </p:sp>
      <p:sp>
        <p:nvSpPr>
          <p:cNvPr id="20" name="Text 18"/>
          <p:cNvSpPr/>
          <p:nvPr/>
        </p:nvSpPr>
        <p:spPr>
          <a:xfrm>
            <a:off x="6236208" y="4626864"/>
            <a:ext cx="5029200" cy="713232"/>
          </a:xfrm>
          <a:prstGeom prst="rect">
            <a:avLst/>
          </a:prstGeom>
          <a:noFill/>
          <a:ln/>
        </p:spPr>
        <p:txBody>
          <a:bodyPr wrap="square" lIns="0" tIns="0" rIns="0" bIns="0" rtlCol="0" anchor="t">
            <a:normAutofit/>
          </a:bodyPr>
          <a:lstStyle/>
          <a:p>
            <a:pPr indent="0" marL="0">
              <a:lnSpc>
                <a:spcPct val="110000"/>
              </a:lnSpc>
              <a:buNone/>
            </a:pPr>
            <a:r>
              <a:rPr lang="en-US" sz="1700" b="1" dirty="0">
                <a:solidFill>
                  <a:srgbClr val="0F2347"/>
                </a:solidFill>
                <a:latin typeface="DM Sans" pitchFamily="34" charset="0"/>
                <a:ea typeface="DM Sans" pitchFamily="34" charset="-122"/>
                <a:cs typeface="DM Sans" pitchFamily="34" charset="-120"/>
              </a:rPr>
              <a:t>“Being needed and being formed are separate conditions.”</a:t>
            </a:r>
            <a:endParaRPr lang="en-US" sz="1700" dirty="0"/>
          </a:p>
        </p:txBody>
      </p:sp>
      <p:sp>
        <p:nvSpPr>
          <p:cNvPr id="21" name="Shape 19"/>
          <p:cNvSpPr/>
          <p:nvPr/>
        </p:nvSpPr>
        <p:spPr>
          <a:xfrm>
            <a:off x="658368" y="5340096"/>
            <a:ext cx="10872216" cy="7315"/>
          </a:xfrm>
          <a:prstGeom prst="rect">
            <a:avLst/>
          </a:prstGeom>
          <a:solidFill>
            <a:srgbClr val="E8DFCC"/>
          </a:solidFill>
          <a:ln w="12700">
            <a:solidFill>
              <a:srgbClr val="333333"/>
            </a:solidFill>
            <a:prstDash val="solid"/>
          </a:ln>
        </p:spPr>
        <p:txBody>
          <a:bodyPr>
            <a:normAutofit/>
          </a:bodyPr>
          <a:p/>
        </p:txBody>
      </p:sp>
      <p:sp>
        <p:nvSpPr>
          <p:cNvPr id="22" name="Text 20"/>
          <p:cNvSpPr/>
          <p:nvPr/>
        </p:nvSpPr>
        <p:spPr>
          <a:xfrm>
            <a:off x="658368" y="5413248"/>
            <a:ext cx="5029200" cy="713232"/>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“A low score means I am not good enough.”</a:t>
            </a:r>
            <a:endParaRPr lang="en-US" sz="1700" dirty="0"/>
          </a:p>
        </p:txBody>
      </p:sp>
      <p:sp>
        <p:nvSpPr>
          <p:cNvPr id="23" name="Text 21"/>
          <p:cNvSpPr/>
          <p:nvPr/>
        </p:nvSpPr>
        <p:spPr>
          <a:xfrm>
            <a:off x="6236208" y="5413248"/>
            <a:ext cx="5029200" cy="713232"/>
          </a:xfrm>
          <a:prstGeom prst="rect">
            <a:avLst/>
          </a:prstGeom>
          <a:noFill/>
          <a:ln/>
        </p:spPr>
        <p:txBody>
          <a:bodyPr wrap="square" lIns="0" tIns="0" rIns="0" bIns="0" rtlCol="0" anchor="t">
            <a:normAutofit/>
          </a:bodyPr>
          <a:lstStyle/>
          <a:p>
            <a:pPr indent="0" marL="0">
              <a:lnSpc>
                <a:spcPct val="110000"/>
              </a:lnSpc>
              <a:buNone/>
            </a:pPr>
            <a:r>
              <a:rPr lang="en-US" sz="1700" b="1" dirty="0">
                <a:solidFill>
                  <a:srgbClr val="0F2347"/>
                </a:solidFill>
                <a:latin typeface="DM Sans" pitchFamily="34" charset="0"/>
                <a:ea typeface="DM Sans" pitchFamily="34" charset="-122"/>
                <a:cs typeface="DM Sans" pitchFamily="34" charset="-120"/>
              </a:rPr>
              <a:t>“A low Optionality score may be about translation or exposure, not ability.”</a:t>
            </a:r>
            <a:endParaRPr lang="en-US" sz="17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bg>
      <p:bgPr>
        <a:solidFill>
          <a:srgbClr val="E9EDF3"/>
        </a:solidFill>
        <a:effectLst/>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27</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EVIDENCE-BACKED READ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Score all twelve again</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Evidence in both directions. Do not change your first number.</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Shape 6"/>
          <p:cNvSpPr/>
          <p:nvPr/>
        </p:nvSpPr>
        <p:spPr>
          <a:xfrm>
            <a:off x="658368" y="1975104"/>
            <a:ext cx="10872216" cy="1517904"/>
          </a:xfrm>
          <a:prstGeom prst="rect">
            <a:avLst/>
          </a:prstGeom>
          <a:solidFill>
            <a:srgbClr val="FFFFFF"/>
          </a:solidFill>
          <a:ln w="12700">
            <a:solidFill>
              <a:srgbClr val="E8DFCC"/>
            </a:solidFill>
            <a:prstDash val="solid"/>
          </a:ln>
        </p:spPr>
        <p:txBody>
          <a:bodyPr>
            <a:normAutofit/>
          </a:bodyPr>
          <a:p/>
        </p:txBody>
      </p:sp>
      <p:sp>
        <p:nvSpPr>
          <p:cNvPr id="9" name="Text 7"/>
          <p:cNvSpPr/>
          <p:nvPr/>
        </p:nvSpPr>
        <p:spPr>
          <a:xfrm>
            <a:off x="914400" y="2139696"/>
            <a:ext cx="10360152" cy="256032"/>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THE PROTOCOL, IN SHORT</a:t>
            </a:r>
            <a:endParaRPr lang="en-US" sz="1100" dirty="0"/>
          </a:p>
        </p:txBody>
      </p:sp>
      <p:sp>
        <p:nvSpPr>
          <p:cNvPr id="10" name="Text 8"/>
          <p:cNvSpPr/>
          <p:nvPr/>
        </p:nvSpPr>
        <p:spPr>
          <a:xfrm>
            <a:off x="914400" y="2468880"/>
            <a:ext cx="1005840" cy="365760"/>
          </a:xfrm>
          <a:prstGeom prst="rect">
            <a:avLst/>
          </a:prstGeom>
          <a:noFill/>
          <a:ln/>
        </p:spPr>
        <p:txBody>
          <a:bodyPr wrap="square" lIns="0" tIns="0" rIns="0" bIns="0" rtlCol="0" anchor="t">
            <a:normAutofit/>
          </a:bodyPr>
          <a:lstStyle/>
          <a:p>
            <a:pPr indent="0" marL="0">
              <a:buNone/>
            </a:pPr>
            <a:r>
              <a:rPr lang="en-US" sz="1800" b="1" dirty="0">
                <a:solidFill>
                  <a:srgbClr val="0F2347"/>
                </a:solidFill>
                <a:latin typeface="DM Sans" pitchFamily="34" charset="0"/>
                <a:ea typeface="DM Sans" pitchFamily="34" charset="-122"/>
                <a:cs typeface="DM Sans" pitchFamily="34" charset="-120"/>
              </a:rPr>
              <a:t>4 or 5</a:t>
            </a:r>
            <a:endParaRPr lang="en-US" sz="1800" dirty="0"/>
          </a:p>
        </p:txBody>
      </p:sp>
      <p:sp>
        <p:nvSpPr>
          <p:cNvPr id="11" name="Text 9"/>
          <p:cNvSpPr/>
          <p:nvPr/>
        </p:nvSpPr>
        <p:spPr>
          <a:xfrm>
            <a:off x="1965960" y="2468880"/>
            <a:ext cx="4023360" cy="45720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one clear positive instance</a:t>
            </a:r>
            <a:endParaRPr lang="en-US" sz="1700" dirty="0"/>
          </a:p>
        </p:txBody>
      </p:sp>
      <p:sp>
        <p:nvSpPr>
          <p:cNvPr id="12" name="Text 10"/>
          <p:cNvSpPr/>
          <p:nvPr/>
        </p:nvSpPr>
        <p:spPr>
          <a:xfrm>
            <a:off x="6035040" y="2468880"/>
            <a:ext cx="1005840" cy="365760"/>
          </a:xfrm>
          <a:prstGeom prst="rect">
            <a:avLst/>
          </a:prstGeom>
          <a:noFill/>
          <a:ln/>
        </p:spPr>
        <p:txBody>
          <a:bodyPr wrap="square" lIns="0" tIns="0" rIns="0" bIns="0" rtlCol="0" anchor="t">
            <a:normAutofit/>
          </a:bodyPr>
          <a:lstStyle/>
          <a:p>
            <a:pPr indent="0" marL="0">
              <a:buNone/>
            </a:pPr>
            <a:r>
              <a:rPr lang="en-US" sz="1800" b="1" dirty="0">
                <a:solidFill>
                  <a:srgbClr val="0F2347"/>
                </a:solidFill>
                <a:latin typeface="DM Sans" pitchFamily="34" charset="0"/>
                <a:ea typeface="DM Sans" pitchFamily="34" charset="-122"/>
                <a:cs typeface="DM Sans" pitchFamily="34" charset="-120"/>
              </a:rPr>
              <a:t>3</a:t>
            </a:r>
            <a:endParaRPr lang="en-US" sz="1800" dirty="0"/>
          </a:p>
        </p:txBody>
      </p:sp>
      <p:sp>
        <p:nvSpPr>
          <p:cNvPr id="13" name="Text 11"/>
          <p:cNvSpPr/>
          <p:nvPr/>
        </p:nvSpPr>
        <p:spPr>
          <a:xfrm>
            <a:off x="7086600" y="2468880"/>
            <a:ext cx="4023360" cy="45720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the mixed or inconsistent pattern</a:t>
            </a:r>
            <a:endParaRPr lang="en-US" sz="1700" dirty="0"/>
          </a:p>
        </p:txBody>
      </p:sp>
      <p:sp>
        <p:nvSpPr>
          <p:cNvPr id="14" name="Text 12"/>
          <p:cNvSpPr/>
          <p:nvPr/>
        </p:nvSpPr>
        <p:spPr>
          <a:xfrm>
            <a:off x="914400" y="2962656"/>
            <a:ext cx="1005840" cy="365760"/>
          </a:xfrm>
          <a:prstGeom prst="rect">
            <a:avLst/>
          </a:prstGeom>
          <a:noFill/>
          <a:ln/>
        </p:spPr>
        <p:txBody>
          <a:bodyPr wrap="square" lIns="0" tIns="0" rIns="0" bIns="0" rtlCol="0" anchor="t">
            <a:normAutofit/>
          </a:bodyPr>
          <a:lstStyle/>
          <a:p>
            <a:pPr indent="0" marL="0">
              <a:buNone/>
            </a:pPr>
            <a:r>
              <a:rPr lang="en-US" sz="1800" b="1" dirty="0">
                <a:solidFill>
                  <a:srgbClr val="0F2347"/>
                </a:solidFill>
                <a:latin typeface="DM Sans" pitchFamily="34" charset="0"/>
                <a:ea typeface="DM Sans" pitchFamily="34" charset="-122"/>
                <a:cs typeface="DM Sans" pitchFamily="34" charset="-120"/>
              </a:rPr>
              <a:t>1 or 2</a:t>
            </a:r>
            <a:endParaRPr lang="en-US" sz="1800" dirty="0"/>
          </a:p>
        </p:txBody>
      </p:sp>
      <p:sp>
        <p:nvSpPr>
          <p:cNvPr id="15" name="Text 13"/>
          <p:cNvSpPr/>
          <p:nvPr/>
        </p:nvSpPr>
        <p:spPr>
          <a:xfrm>
            <a:off x="1965960" y="2962656"/>
            <a:ext cx="4023360" cy="45720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what happened instead, or no qualifying instance</a:t>
            </a:r>
            <a:endParaRPr lang="en-US" sz="1700" dirty="0"/>
          </a:p>
        </p:txBody>
      </p:sp>
      <p:sp>
        <p:nvSpPr>
          <p:cNvPr id="16" name="Text 14"/>
          <p:cNvSpPr/>
          <p:nvPr/>
        </p:nvSpPr>
        <p:spPr>
          <a:xfrm>
            <a:off x="6035040" y="2962656"/>
            <a:ext cx="1005840" cy="365760"/>
          </a:xfrm>
          <a:prstGeom prst="rect">
            <a:avLst/>
          </a:prstGeom>
          <a:noFill/>
          <a:ln/>
        </p:spPr>
        <p:txBody>
          <a:bodyPr wrap="square" lIns="0" tIns="0" rIns="0" bIns="0" rtlCol="0" anchor="t">
            <a:normAutofit/>
          </a:bodyPr>
          <a:lstStyle/>
          <a:p>
            <a:pPr indent="0" marL="0">
              <a:buNone/>
            </a:pPr>
            <a:r>
              <a:rPr lang="en-US" sz="1800" b="1" dirty="0">
                <a:solidFill>
                  <a:srgbClr val="0F2347"/>
                </a:solidFill>
                <a:latin typeface="DM Sans" pitchFamily="34" charset="0"/>
                <a:ea typeface="DM Sans" pitchFamily="34" charset="-122"/>
                <a:cs typeface="DM Sans" pitchFamily="34" charset="-120"/>
              </a:rPr>
              <a:t>?</a:t>
            </a:r>
            <a:endParaRPr lang="en-US" sz="1800" dirty="0"/>
          </a:p>
        </p:txBody>
      </p:sp>
      <p:sp>
        <p:nvSpPr>
          <p:cNvPr id="17" name="Text 15"/>
          <p:cNvSpPr/>
          <p:nvPr/>
        </p:nvSpPr>
        <p:spPr>
          <a:xfrm>
            <a:off x="7086600" y="2962656"/>
            <a:ext cx="4023360" cy="457200"/>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most defensible number, marked once: 3?, 4?, 2?</a:t>
            </a:r>
            <a:endParaRPr lang="en-US" sz="1700" dirty="0"/>
          </a:p>
        </p:txBody>
      </p:sp>
      <p:sp>
        <p:nvSpPr>
          <p:cNvPr id="18" name="Text 16"/>
          <p:cNvSpPr/>
          <p:nvPr/>
        </p:nvSpPr>
        <p:spPr>
          <a:xfrm>
            <a:off x="658368" y="3712464"/>
            <a:ext cx="5294376" cy="548640"/>
          </a:xfrm>
          <a:prstGeom prst="rect">
            <a:avLst/>
          </a:prstGeom>
          <a:noFill/>
          <a:ln/>
        </p:spPr>
        <p:txBody>
          <a:bodyPr wrap="square" lIns="0" tIns="0" rIns="0" bIns="0" rtlCol="0" anchor="t">
            <a:normAutofit/>
          </a:bodyPr>
          <a:lstStyle/>
          <a:p>
            <a:pPr indent="0" marL="0">
              <a:buNone/>
            </a:pPr>
            <a:r>
              <a:rPr lang="en-US" sz="2600" dirty="0">
                <a:solidFill>
                  <a:srgbClr val="0F2347"/>
                </a:solidFill>
                <a:latin typeface="Cormorant Garamond" pitchFamily="34" charset="0"/>
                <a:ea typeface="Cormorant Garamond" pitchFamily="34" charset="-122"/>
                <a:cs typeface="Cormorant Garamond" pitchFamily="34" charset="-120"/>
              </a:rPr>
              <a:t>Density  1 · 2 · 3 · 4 · 5 · 6</a:t>
            </a:r>
            <a:endParaRPr lang="en-US" sz="2600" dirty="0"/>
          </a:p>
        </p:txBody>
      </p:sp>
      <p:sp>
        <p:nvSpPr>
          <p:cNvPr id="19" name="Text 17"/>
          <p:cNvSpPr/>
          <p:nvPr/>
        </p:nvSpPr>
        <p:spPr>
          <a:xfrm>
            <a:off x="6236208" y="3712464"/>
            <a:ext cx="5294376" cy="548640"/>
          </a:xfrm>
          <a:prstGeom prst="rect">
            <a:avLst/>
          </a:prstGeom>
          <a:noFill/>
          <a:ln/>
        </p:spPr>
        <p:txBody>
          <a:bodyPr wrap="square" lIns="0" tIns="0" rIns="0" bIns="0" rtlCol="0" anchor="t">
            <a:normAutofit/>
          </a:bodyPr>
          <a:lstStyle/>
          <a:p>
            <a:pPr indent="0" marL="0">
              <a:buNone/>
            </a:pPr>
            <a:r>
              <a:rPr lang="en-US" sz="2600" dirty="0">
                <a:solidFill>
                  <a:srgbClr val="0F2347"/>
                </a:solidFill>
                <a:latin typeface="Cormorant Garamond" pitchFamily="34" charset="0"/>
                <a:ea typeface="Cormorant Garamond" pitchFamily="34" charset="-122"/>
                <a:cs typeface="Cormorant Garamond" pitchFamily="34" charset="-120"/>
              </a:rPr>
              <a:t>Optionality  7 · 8 · 9 · 10 · 11 · 12</a:t>
            </a:r>
            <a:endParaRPr lang="en-US" sz="2600" dirty="0"/>
          </a:p>
        </p:txBody>
      </p:sp>
      <p:sp>
        <p:nvSpPr>
          <p:cNvPr id="20" name="Text 18"/>
          <p:cNvSpPr/>
          <p:nvPr/>
        </p:nvSpPr>
        <p:spPr>
          <a:xfrm>
            <a:off x="658368" y="4517136"/>
            <a:ext cx="10872216" cy="82296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Workbook pages 12 to 15. Write the corrected number and the evidence line under it. Your first number stays where it is.</a:t>
            </a:r>
            <a:endParaRPr lang="en-US" sz="2000" dirty="0"/>
          </a:p>
        </p:txBody>
      </p:sp>
      <p:sp>
        <p:nvSpPr>
          <p:cNvPr id="21" name="Shape 19"/>
          <p:cNvSpPr/>
          <p:nvPr/>
        </p:nvSpPr>
        <p:spPr>
          <a:xfrm>
            <a:off x="658368" y="5468112"/>
            <a:ext cx="10872216" cy="10973"/>
          </a:xfrm>
          <a:prstGeom prst="rect">
            <a:avLst/>
          </a:prstGeom>
          <a:solidFill>
            <a:srgbClr val="E8DFCC"/>
          </a:solidFill>
          <a:ln w="12700">
            <a:solidFill>
              <a:srgbClr val="333333"/>
            </a:solidFill>
            <a:prstDash val="solid"/>
          </a:ln>
        </p:spPr>
        <p:txBody>
          <a:bodyPr>
            <a:normAutofit/>
          </a:bodyPr>
          <a:p/>
        </p:txBody>
      </p:sp>
      <p:sp>
        <p:nvSpPr>
          <p:cNvPr id="22" name="Text 20"/>
          <p:cNvSpPr/>
          <p:nvPr/>
        </p:nvSpPr>
        <p:spPr>
          <a:xfrm>
            <a:off x="658368" y="5614416"/>
            <a:ext cx="10872216" cy="566928"/>
          </a:xfrm>
          <a:prstGeom prst="rect">
            <a:avLst/>
          </a:prstGeom>
          <a:noFill/>
          <a:ln/>
        </p:spPr>
        <p:txBody>
          <a:bodyPr wrap="square" lIns="0" tIns="0" rIns="0" bIns="0" rtlCol="0" anchor="t">
            <a:normAutofit/>
          </a:bodyPr>
          <a:lstStyle/>
          <a:p>
            <a:pPr indent="0" marL="0">
              <a:lnSpc>
                <a:spcPct val="115000"/>
              </a:lnSpc>
              <a:buNone/>
            </a:pPr>
            <a:endParaRPr lang="en-US" sz="16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bg>
      <p:bgPr>
        <a:solidFill>
          <a:srgbClr val="E9EDF3"/>
        </a:solidFill>
        <a:effectLst/>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28</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SECOND PLACEMENT</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Re-total and place again</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New numbers. A fresh placement, not a review of the first one.</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Shape 6"/>
          <p:cNvSpPr/>
          <p:nvPr/>
        </p:nvSpPr>
        <p:spPr>
          <a:xfrm>
            <a:off x="658368" y="1956816"/>
            <a:ext cx="5294376" cy="1060704"/>
          </a:xfrm>
          <a:prstGeom prst="rect">
            <a:avLst/>
          </a:prstGeom>
          <a:solidFill>
            <a:srgbClr val="FFFFFF"/>
          </a:solidFill>
          <a:ln w="12700">
            <a:solidFill>
              <a:srgbClr val="E8DFCC"/>
            </a:solidFill>
            <a:prstDash val="solid"/>
          </a:ln>
        </p:spPr>
        <p:txBody>
          <a:bodyPr>
            <a:normAutofit/>
          </a:bodyPr>
          <a:p/>
        </p:txBody>
      </p:sp>
      <p:sp>
        <p:nvSpPr>
          <p:cNvPr id="9" name="Text 7"/>
          <p:cNvSpPr/>
          <p:nvPr/>
        </p:nvSpPr>
        <p:spPr>
          <a:xfrm>
            <a:off x="896112" y="2121408"/>
            <a:ext cx="4754880" cy="256032"/>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DENSITY, CORRECTED</a:t>
            </a:r>
            <a:endParaRPr lang="en-US" sz="1100" dirty="0"/>
          </a:p>
        </p:txBody>
      </p:sp>
      <p:sp>
        <p:nvSpPr>
          <p:cNvPr id="10" name="Text 8"/>
          <p:cNvSpPr/>
          <p:nvPr/>
        </p:nvSpPr>
        <p:spPr>
          <a:xfrm>
            <a:off x="896112" y="2395728"/>
            <a:ext cx="4754880" cy="512064"/>
          </a:xfrm>
          <a:prstGeom prst="rect">
            <a:avLst/>
          </a:prstGeom>
          <a:noFill/>
          <a:ln/>
        </p:spPr>
        <p:txBody>
          <a:bodyPr wrap="square" lIns="0" tIns="0" rIns="0" bIns="0" rtlCol="0" anchor="t">
            <a:normAutofit/>
          </a:bodyPr>
          <a:lstStyle/>
          <a:p>
            <a:pPr indent="0" marL="0">
              <a:buNone/>
            </a:pPr>
            <a:r>
              <a:rPr lang="en-US" sz="3200" dirty="0">
                <a:solidFill>
                  <a:srgbClr val="0F2347"/>
                </a:solidFill>
                <a:latin typeface="Cormorant Garamond" pitchFamily="34" charset="0"/>
                <a:ea typeface="Cormorant Garamond" pitchFamily="34" charset="-122"/>
                <a:cs typeface="Cormorant Garamond" pitchFamily="34" charset="-120"/>
              </a:rPr>
              <a:t>________  / 30</a:t>
            </a:r>
            <a:endParaRPr lang="en-US" sz="3200" dirty="0"/>
          </a:p>
        </p:txBody>
      </p:sp>
      <p:sp>
        <p:nvSpPr>
          <p:cNvPr id="11" name="Shape 9"/>
          <p:cNvSpPr/>
          <p:nvPr/>
        </p:nvSpPr>
        <p:spPr>
          <a:xfrm>
            <a:off x="6236208" y="1956816"/>
            <a:ext cx="5294376" cy="1060704"/>
          </a:xfrm>
          <a:prstGeom prst="rect">
            <a:avLst/>
          </a:prstGeom>
          <a:solidFill>
            <a:srgbClr val="FFFFFF"/>
          </a:solidFill>
          <a:ln w="12700">
            <a:solidFill>
              <a:srgbClr val="E8DFCC"/>
            </a:solidFill>
            <a:prstDash val="solid"/>
          </a:ln>
        </p:spPr>
        <p:txBody>
          <a:bodyPr>
            <a:normAutofit/>
          </a:bodyPr>
          <a:p/>
        </p:txBody>
      </p:sp>
      <p:sp>
        <p:nvSpPr>
          <p:cNvPr id="12" name="Text 10"/>
          <p:cNvSpPr/>
          <p:nvPr/>
        </p:nvSpPr>
        <p:spPr>
          <a:xfrm>
            <a:off x="6473952" y="2121408"/>
            <a:ext cx="4754880" cy="256032"/>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OPTIONALITY, CORRECTED</a:t>
            </a:r>
            <a:endParaRPr lang="en-US" sz="1100" dirty="0"/>
          </a:p>
        </p:txBody>
      </p:sp>
      <p:sp>
        <p:nvSpPr>
          <p:cNvPr id="13" name="Text 11"/>
          <p:cNvSpPr/>
          <p:nvPr/>
        </p:nvSpPr>
        <p:spPr>
          <a:xfrm>
            <a:off x="6473952" y="2395728"/>
            <a:ext cx="4754880" cy="512064"/>
          </a:xfrm>
          <a:prstGeom prst="rect">
            <a:avLst/>
          </a:prstGeom>
          <a:noFill/>
          <a:ln/>
        </p:spPr>
        <p:txBody>
          <a:bodyPr wrap="square" lIns="0" tIns="0" rIns="0" bIns="0" rtlCol="0" anchor="t">
            <a:normAutofit/>
          </a:bodyPr>
          <a:lstStyle/>
          <a:p>
            <a:pPr indent="0" marL="0">
              <a:buNone/>
            </a:pPr>
            <a:r>
              <a:rPr lang="en-US" sz="3200" dirty="0">
                <a:solidFill>
                  <a:srgbClr val="0F2347"/>
                </a:solidFill>
                <a:latin typeface="Cormorant Garamond" pitchFamily="34" charset="0"/>
                <a:ea typeface="Cormorant Garamond" pitchFamily="34" charset="-122"/>
                <a:cs typeface="Cormorant Garamond" pitchFamily="34" charset="-120"/>
              </a:rPr>
              <a:t>________  / 30</a:t>
            </a:r>
            <a:endParaRPr lang="en-US" sz="3200" dirty="0"/>
          </a:p>
        </p:txBody>
      </p:sp>
      <p:sp>
        <p:nvSpPr>
          <p:cNvPr id="14" name="Text 12"/>
          <p:cNvSpPr/>
          <p:nvPr/>
        </p:nvSpPr>
        <p:spPr>
          <a:xfrm>
            <a:off x="658368" y="3145536"/>
            <a:ext cx="10872216" cy="438912"/>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Re-total both axes first. Then place, then record confidence and the date.</a:t>
            </a:r>
            <a:endParaRPr lang="en-US" sz="2000" dirty="0"/>
          </a:p>
        </p:txBody>
      </p:sp>
      <p:sp>
        <p:nvSpPr>
          <p:cNvPr id="15" name="Shape 13"/>
          <p:cNvSpPr/>
          <p:nvPr/>
        </p:nvSpPr>
        <p:spPr>
          <a:xfrm>
            <a:off x="3017520" y="4169664"/>
            <a:ext cx="3063240" cy="850392"/>
          </a:xfrm>
          <a:prstGeom prst="rect">
            <a:avLst/>
          </a:prstGeom>
          <a:solidFill>
            <a:srgbClr val="FFFFFF"/>
          </a:solidFill>
          <a:ln w="12700">
            <a:solidFill>
              <a:srgbClr val="E8DFCC"/>
            </a:solidFill>
            <a:prstDash val="solid"/>
          </a:ln>
        </p:spPr>
        <p:txBody>
          <a:bodyPr>
            <a:normAutofit/>
          </a:bodyPr>
          <a:p/>
        </p:txBody>
      </p:sp>
      <p:sp>
        <p:nvSpPr>
          <p:cNvPr id="16" name="Text 14"/>
          <p:cNvSpPr/>
          <p:nvPr/>
        </p:nvSpPr>
        <p:spPr>
          <a:xfrm>
            <a:off x="3218688" y="4352544"/>
            <a:ext cx="2660904" cy="402336"/>
          </a:xfrm>
          <a:prstGeom prst="rect">
            <a:avLst/>
          </a:prstGeom>
          <a:noFill/>
          <a:ln/>
        </p:spPr>
        <p:txBody>
          <a:bodyPr wrap="square" lIns="0" tIns="0" rIns="0" bIns="0" rtlCol="0" anchor="t">
            <a:normAutofit/>
          </a:bodyPr>
          <a:lstStyle/>
          <a:p>
            <a:pPr indent="0" marL="0">
              <a:buNone/>
            </a:pPr>
            <a:r>
              <a:rPr lang="en-US" sz="1900" b="1" spc="140" kern="0" dirty="0">
                <a:solidFill>
                  <a:srgbClr val="0F2347"/>
                </a:solidFill>
                <a:latin typeface="DM Sans" pitchFamily="34" charset="0"/>
                <a:ea typeface="DM Sans" pitchFamily="34" charset="-122"/>
                <a:cs typeface="DM Sans" pitchFamily="34" charset="-120"/>
              </a:rPr>
              <a:t>DEPTH TRAP</a:t>
            </a:r>
            <a:endParaRPr lang="en-US" sz="1900" dirty="0"/>
          </a:p>
        </p:txBody>
      </p:sp>
      <p:sp>
        <p:nvSpPr>
          <p:cNvPr id="17" name="Shape 15"/>
          <p:cNvSpPr/>
          <p:nvPr/>
        </p:nvSpPr>
        <p:spPr>
          <a:xfrm>
            <a:off x="6080760" y="4169664"/>
            <a:ext cx="3063240" cy="850392"/>
          </a:xfrm>
          <a:prstGeom prst="rect">
            <a:avLst/>
          </a:prstGeom>
          <a:solidFill>
            <a:srgbClr val="FFFFFF"/>
          </a:solidFill>
          <a:ln w="12700">
            <a:solidFill>
              <a:srgbClr val="E8DFCC"/>
            </a:solidFill>
            <a:prstDash val="solid"/>
          </a:ln>
        </p:spPr>
        <p:txBody>
          <a:bodyPr>
            <a:normAutofit/>
          </a:bodyPr>
          <a:p/>
        </p:txBody>
      </p:sp>
      <p:sp>
        <p:nvSpPr>
          <p:cNvPr id="18" name="Text 16"/>
          <p:cNvSpPr/>
          <p:nvPr/>
        </p:nvSpPr>
        <p:spPr>
          <a:xfrm>
            <a:off x="6281928" y="4352544"/>
            <a:ext cx="2660904" cy="402336"/>
          </a:xfrm>
          <a:prstGeom prst="rect">
            <a:avLst/>
          </a:prstGeom>
          <a:noFill/>
          <a:ln/>
        </p:spPr>
        <p:txBody>
          <a:bodyPr wrap="square" lIns="0" tIns="0" rIns="0" bIns="0" rtlCol="0" anchor="t">
            <a:normAutofit/>
          </a:bodyPr>
          <a:lstStyle/>
          <a:p>
            <a:pPr indent="0" marL="0">
              <a:buNone/>
            </a:pPr>
            <a:r>
              <a:rPr lang="en-US" sz="1900" b="1" spc="140" kern="0" dirty="0">
                <a:solidFill>
                  <a:srgbClr val="C1440E"/>
                </a:solidFill>
                <a:latin typeface="DM Sans" pitchFamily="34" charset="0"/>
                <a:ea typeface="DM Sans" pitchFamily="34" charset="-122"/>
                <a:cs typeface="DM Sans" pitchFamily="34" charset="-120"/>
              </a:rPr>
              <a:t>COMPOUNDING</a:t>
            </a:r>
            <a:endParaRPr lang="en-US" sz="1900" dirty="0"/>
          </a:p>
        </p:txBody>
      </p:sp>
      <p:sp>
        <p:nvSpPr>
          <p:cNvPr id="19" name="Shape 17"/>
          <p:cNvSpPr/>
          <p:nvPr/>
        </p:nvSpPr>
        <p:spPr>
          <a:xfrm>
            <a:off x="3017520" y="5020056"/>
            <a:ext cx="3063240" cy="850392"/>
          </a:xfrm>
          <a:prstGeom prst="rect">
            <a:avLst/>
          </a:prstGeom>
          <a:solidFill>
            <a:srgbClr val="FFFFFF"/>
          </a:solidFill>
          <a:ln w="12700">
            <a:solidFill>
              <a:srgbClr val="E8DFCC"/>
            </a:solidFill>
            <a:prstDash val="solid"/>
          </a:ln>
        </p:spPr>
        <p:txBody>
          <a:bodyPr>
            <a:normAutofit/>
          </a:bodyPr>
          <a:p/>
        </p:txBody>
      </p:sp>
      <p:sp>
        <p:nvSpPr>
          <p:cNvPr id="20" name="Text 18"/>
          <p:cNvSpPr/>
          <p:nvPr/>
        </p:nvSpPr>
        <p:spPr>
          <a:xfrm>
            <a:off x="3218688" y="5202936"/>
            <a:ext cx="2660904" cy="402336"/>
          </a:xfrm>
          <a:prstGeom prst="rect">
            <a:avLst/>
          </a:prstGeom>
          <a:noFill/>
          <a:ln/>
        </p:spPr>
        <p:txBody>
          <a:bodyPr wrap="square" lIns="0" tIns="0" rIns="0" bIns="0" rtlCol="0" anchor="t">
            <a:normAutofit/>
          </a:bodyPr>
          <a:lstStyle/>
          <a:p>
            <a:pPr indent="0" marL="0">
              <a:buNone/>
            </a:pPr>
            <a:r>
              <a:rPr lang="en-US" sz="1900" b="1" spc="140" kern="0" dirty="0">
                <a:solidFill>
                  <a:srgbClr val="0F2347"/>
                </a:solidFill>
                <a:latin typeface="DM Sans" pitchFamily="34" charset="0"/>
                <a:ea typeface="DM Sans" pitchFamily="34" charset="-122"/>
                <a:cs typeface="DM Sans" pitchFamily="34" charset="-120"/>
              </a:rPr>
              <a:t>STAGNANT</a:t>
            </a:r>
            <a:endParaRPr lang="en-US" sz="1900" dirty="0"/>
          </a:p>
        </p:txBody>
      </p:sp>
      <p:sp>
        <p:nvSpPr>
          <p:cNvPr id="21" name="Shape 19"/>
          <p:cNvSpPr/>
          <p:nvPr/>
        </p:nvSpPr>
        <p:spPr>
          <a:xfrm>
            <a:off x="6080760" y="5020056"/>
            <a:ext cx="3063240" cy="850392"/>
          </a:xfrm>
          <a:prstGeom prst="rect">
            <a:avLst/>
          </a:prstGeom>
          <a:solidFill>
            <a:srgbClr val="FFFFFF"/>
          </a:solidFill>
          <a:ln w="12700">
            <a:solidFill>
              <a:srgbClr val="E8DFCC"/>
            </a:solidFill>
            <a:prstDash val="solid"/>
          </a:ln>
        </p:spPr>
        <p:txBody>
          <a:bodyPr>
            <a:normAutofit/>
          </a:bodyPr>
          <a:p/>
        </p:txBody>
      </p:sp>
      <p:sp>
        <p:nvSpPr>
          <p:cNvPr id="22" name="Text 20"/>
          <p:cNvSpPr/>
          <p:nvPr/>
        </p:nvSpPr>
        <p:spPr>
          <a:xfrm>
            <a:off x="6281928" y="5202936"/>
            <a:ext cx="2660904" cy="402336"/>
          </a:xfrm>
          <a:prstGeom prst="rect">
            <a:avLst/>
          </a:prstGeom>
          <a:noFill/>
          <a:ln/>
        </p:spPr>
        <p:txBody>
          <a:bodyPr wrap="square" lIns="0" tIns="0" rIns="0" bIns="0" rtlCol="0" anchor="t">
            <a:normAutofit/>
          </a:bodyPr>
          <a:lstStyle/>
          <a:p>
            <a:pPr indent="0" marL="0">
              <a:buNone/>
            </a:pPr>
            <a:r>
              <a:rPr lang="en-US" sz="1900" b="1" spc="140" kern="0" dirty="0">
                <a:solidFill>
                  <a:srgbClr val="0F2347"/>
                </a:solidFill>
                <a:latin typeface="DM Sans" pitchFamily="34" charset="0"/>
                <a:ea typeface="DM Sans" pitchFamily="34" charset="-122"/>
                <a:cs typeface="DM Sans" pitchFamily="34" charset="-120"/>
              </a:rPr>
              <a:t>FRAGILE</a:t>
            </a:r>
            <a:endParaRPr lang="en-US" sz="1900" dirty="0"/>
          </a:p>
        </p:txBody>
      </p:sp>
      <p:sp>
        <p:nvSpPr>
          <p:cNvPr id="23" name="Text 21"/>
          <p:cNvSpPr/>
          <p:nvPr/>
        </p:nvSpPr>
        <p:spPr>
          <a:xfrm>
            <a:off x="3017520" y="3858768"/>
            <a:ext cx="6126480" cy="256032"/>
          </a:xfrm>
          <a:prstGeom prst="rect">
            <a:avLst/>
          </a:prstGeom>
          <a:noFill/>
          <a:ln/>
        </p:spPr>
        <p:txBody>
          <a:bodyPr wrap="square" lIns="0" tIns="0" rIns="0" bIns="0" rtlCol="0" anchor="ctr">
            <a:normAutofit/>
          </a:bodyPr>
          <a:lstStyle/>
          <a:p>
            <a:pPr indent="0" marL="0">
              <a:buNone/>
            </a:pPr>
            <a:r>
              <a:rPr lang="en-US" sz="1100" b="1" spc="160" kern="0" dirty="0">
                <a:solidFill>
                  <a:srgbClr val="0F2347"/>
                </a:solidFill>
                <a:latin typeface="DM Sans" pitchFamily="34" charset="0"/>
                <a:ea typeface="DM Sans" pitchFamily="34" charset="-122"/>
                <a:cs typeface="DM Sans" pitchFamily="34" charset="-120"/>
              </a:rPr>
              <a:t>DENSITY:  HIGH AT TOP,  LOW AT BOTTOM</a:t>
            </a:r>
            <a:endParaRPr lang="en-US" sz="1100" dirty="0"/>
          </a:p>
        </p:txBody>
      </p:sp>
      <p:sp>
        <p:nvSpPr>
          <p:cNvPr id="24" name="Text 22"/>
          <p:cNvSpPr/>
          <p:nvPr/>
        </p:nvSpPr>
        <p:spPr>
          <a:xfrm>
            <a:off x="3017520" y="5925312"/>
            <a:ext cx="6126480" cy="256032"/>
          </a:xfrm>
          <a:prstGeom prst="rect">
            <a:avLst/>
          </a:prstGeom>
          <a:noFill/>
          <a:ln/>
        </p:spPr>
        <p:txBody>
          <a:bodyPr wrap="square" lIns="0" tIns="0" rIns="0" bIns="0" rtlCol="0" anchor="ctr">
            <a:normAutofit/>
          </a:bodyPr>
          <a:lstStyle/>
          <a:p>
            <a:pPr indent="0" marL="0">
              <a:buNone/>
            </a:pPr>
            <a:r>
              <a:rPr lang="en-US" sz="1100" b="1" spc="160" kern="0" dirty="0">
                <a:solidFill>
                  <a:srgbClr val="0F2347"/>
                </a:solidFill>
                <a:latin typeface="DM Sans" pitchFamily="34" charset="0"/>
                <a:ea typeface="DM Sans" pitchFamily="34" charset="-122"/>
                <a:cs typeface="DM Sans" pitchFamily="34" charset="-120"/>
              </a:rPr>
              <a:t>OPTIONALITY:  LOW AT LEFT   to   HIGH AT RIGHT</a:t>
            </a:r>
            <a:endParaRPr lang="en-US" sz="11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29</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SECOND PLACEMENT</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When the evidence remains uncertain</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The neighbouring-score sensitivity check. An operational pilot convention, not a statistical confidence interval.</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2066544"/>
            <a:ext cx="402336" cy="457200"/>
          </a:xfrm>
          <a:prstGeom prst="rect">
            <a:avLst/>
          </a:prstGeom>
          <a:noFill/>
          <a:ln/>
        </p:spPr>
        <p:txBody>
          <a:bodyPr wrap="square" lIns="0" tIns="0" rIns="0" bIns="0" rtlCol="0" anchor="t">
            <a:normAutofit/>
          </a:bodyPr>
          <a:lstStyle/>
          <a:p>
            <a:pPr indent="0" marL="0">
              <a:buNone/>
            </a:pPr>
            <a:r>
              <a:rPr lang="en-US" sz="2400" dirty="0">
                <a:solidFill>
                  <a:srgbClr val="C9A84C"/>
                </a:solidFill>
                <a:latin typeface="Cormorant Garamond" pitchFamily="34" charset="0"/>
                <a:ea typeface="Cormorant Garamond" pitchFamily="34" charset="-122"/>
                <a:cs typeface="Cormorant Garamond" pitchFamily="34" charset="-120"/>
              </a:rPr>
              <a:t>1</a:t>
            </a:r>
            <a:endParaRPr lang="en-US" sz="2400" dirty="0"/>
          </a:p>
        </p:txBody>
      </p:sp>
      <p:sp>
        <p:nvSpPr>
          <p:cNvPr id="9" name="Text 7"/>
          <p:cNvSpPr/>
          <p:nvPr/>
        </p:nvSpPr>
        <p:spPr>
          <a:xfrm>
            <a:off x="1152144" y="2066544"/>
            <a:ext cx="10378440" cy="566928"/>
          </a:xfrm>
          <a:prstGeom prst="rect">
            <a:avLst/>
          </a:prstGeom>
          <a:noFill/>
          <a:ln/>
        </p:spPr>
        <p:txBody>
          <a:bodyPr wrap="square" lIns="0" tIns="0" rIns="0" bIns="0" rtlCol="0" anchor="t">
            <a:normAutofit/>
          </a:bodyPr>
          <a:lstStyle/>
          <a:p>
            <a:pPr indent="0" marL="0">
              <a:lnSpc>
                <a:spcPct val="110000"/>
              </a:lnSpc>
              <a:buNone/>
            </a:pPr>
            <a:r>
              <a:rPr lang="en-US" sz="2000" dirty="0">
                <a:solidFill>
                  <a:srgbClr val="0F2347"/>
                </a:solidFill>
                <a:latin typeface="DM Sans" pitchFamily="34" charset="0"/>
                <a:ea typeface="DM Sans" pitchFamily="34" charset="-122"/>
                <a:cs typeface="DM Sans" pitchFamily="34" charset="-120"/>
              </a:rPr>
              <a:t>Total the axis using the numbers exactly as you wrote them.</a:t>
            </a:r>
            <a:endParaRPr lang="en-US" sz="2000" dirty="0"/>
          </a:p>
        </p:txBody>
      </p:sp>
      <p:sp>
        <p:nvSpPr>
          <p:cNvPr id="10" name="Text 8"/>
          <p:cNvSpPr/>
          <p:nvPr/>
        </p:nvSpPr>
        <p:spPr>
          <a:xfrm>
            <a:off x="658368" y="2724912"/>
            <a:ext cx="402336" cy="457200"/>
          </a:xfrm>
          <a:prstGeom prst="rect">
            <a:avLst/>
          </a:prstGeom>
          <a:noFill/>
          <a:ln/>
        </p:spPr>
        <p:txBody>
          <a:bodyPr wrap="square" lIns="0" tIns="0" rIns="0" bIns="0" rtlCol="0" anchor="t">
            <a:normAutofit/>
          </a:bodyPr>
          <a:lstStyle/>
          <a:p>
            <a:pPr indent="0" marL="0">
              <a:buNone/>
            </a:pPr>
            <a:r>
              <a:rPr lang="en-US" sz="2400" dirty="0">
                <a:solidFill>
                  <a:srgbClr val="C9A84C"/>
                </a:solidFill>
                <a:latin typeface="Cormorant Garamond" pitchFamily="34" charset="0"/>
                <a:ea typeface="Cormorant Garamond" pitchFamily="34" charset="-122"/>
                <a:cs typeface="Cormorant Garamond" pitchFamily="34" charset="-120"/>
              </a:rPr>
              <a:t>2</a:t>
            </a:r>
            <a:endParaRPr lang="en-US" sz="2400" dirty="0"/>
          </a:p>
        </p:txBody>
      </p:sp>
      <p:sp>
        <p:nvSpPr>
          <p:cNvPr id="11" name="Text 9"/>
          <p:cNvSpPr/>
          <p:nvPr/>
        </p:nvSpPr>
        <p:spPr>
          <a:xfrm>
            <a:off x="1152144" y="2724912"/>
            <a:ext cx="10378440" cy="566928"/>
          </a:xfrm>
          <a:prstGeom prst="rect">
            <a:avLst/>
          </a:prstGeom>
          <a:noFill/>
          <a:ln/>
        </p:spPr>
        <p:txBody>
          <a:bodyPr wrap="square" lIns="0" tIns="0" rIns="0" bIns="0" rtlCol="0" anchor="t">
            <a:normAutofit/>
          </a:bodyPr>
          <a:lstStyle/>
          <a:p>
            <a:pPr indent="0" marL="0">
              <a:lnSpc>
                <a:spcPct val="110000"/>
              </a:lnSpc>
              <a:buNone/>
            </a:pPr>
            <a:r>
              <a:rPr lang="en-US" sz="2000" dirty="0">
                <a:solidFill>
                  <a:srgbClr val="0F2347"/>
                </a:solidFill>
                <a:latin typeface="DM Sans" pitchFamily="34" charset="0"/>
                <a:ea typeface="DM Sans" pitchFamily="34" charset="-122"/>
                <a:cs typeface="DM Sans" pitchFamily="34" charset="-120"/>
              </a:rPr>
              <a:t>Total it again with every marked item one point lower.</a:t>
            </a:r>
            <a:endParaRPr lang="en-US" sz="2000" dirty="0"/>
          </a:p>
        </p:txBody>
      </p:sp>
      <p:sp>
        <p:nvSpPr>
          <p:cNvPr id="12" name="Text 10"/>
          <p:cNvSpPr/>
          <p:nvPr/>
        </p:nvSpPr>
        <p:spPr>
          <a:xfrm>
            <a:off x="658368" y="3383280"/>
            <a:ext cx="402336" cy="457200"/>
          </a:xfrm>
          <a:prstGeom prst="rect">
            <a:avLst/>
          </a:prstGeom>
          <a:noFill/>
          <a:ln/>
        </p:spPr>
        <p:txBody>
          <a:bodyPr wrap="square" lIns="0" tIns="0" rIns="0" bIns="0" rtlCol="0" anchor="t">
            <a:normAutofit/>
          </a:bodyPr>
          <a:lstStyle/>
          <a:p>
            <a:pPr indent="0" marL="0">
              <a:buNone/>
            </a:pPr>
            <a:r>
              <a:rPr lang="en-US" sz="2400" dirty="0">
                <a:solidFill>
                  <a:srgbClr val="C9A84C"/>
                </a:solidFill>
                <a:latin typeface="Cormorant Garamond" pitchFamily="34" charset="0"/>
                <a:ea typeface="Cormorant Garamond" pitchFamily="34" charset="-122"/>
                <a:cs typeface="Cormorant Garamond" pitchFamily="34" charset="-120"/>
              </a:rPr>
              <a:t>3</a:t>
            </a:r>
            <a:endParaRPr lang="en-US" sz="2400" dirty="0"/>
          </a:p>
        </p:txBody>
      </p:sp>
      <p:sp>
        <p:nvSpPr>
          <p:cNvPr id="13" name="Text 11"/>
          <p:cNvSpPr/>
          <p:nvPr/>
        </p:nvSpPr>
        <p:spPr>
          <a:xfrm>
            <a:off x="1152144" y="3383280"/>
            <a:ext cx="10378440" cy="566928"/>
          </a:xfrm>
          <a:prstGeom prst="rect">
            <a:avLst/>
          </a:prstGeom>
          <a:noFill/>
          <a:ln/>
        </p:spPr>
        <p:txBody>
          <a:bodyPr wrap="square" lIns="0" tIns="0" rIns="0" bIns="0" rtlCol="0" anchor="t">
            <a:normAutofit/>
          </a:bodyPr>
          <a:lstStyle/>
          <a:p>
            <a:pPr indent="0" marL="0">
              <a:lnSpc>
                <a:spcPct val="110000"/>
              </a:lnSpc>
              <a:buNone/>
            </a:pPr>
            <a:r>
              <a:rPr lang="en-US" sz="2000" dirty="0">
                <a:solidFill>
                  <a:srgbClr val="0F2347"/>
                </a:solidFill>
                <a:latin typeface="DM Sans" pitchFamily="34" charset="0"/>
                <a:ea typeface="DM Sans" pitchFamily="34" charset="-122"/>
                <a:cs typeface="DM Sans" pitchFamily="34" charset="-120"/>
              </a:rPr>
              <a:t>Total it again with every marked item one point higher.</a:t>
            </a:r>
            <a:endParaRPr lang="en-US" sz="2000" dirty="0"/>
          </a:p>
        </p:txBody>
      </p:sp>
      <p:sp>
        <p:nvSpPr>
          <p:cNvPr id="14" name="Text 12"/>
          <p:cNvSpPr/>
          <p:nvPr/>
        </p:nvSpPr>
        <p:spPr>
          <a:xfrm>
            <a:off x="658368" y="4041648"/>
            <a:ext cx="402336" cy="457200"/>
          </a:xfrm>
          <a:prstGeom prst="rect">
            <a:avLst/>
          </a:prstGeom>
          <a:noFill/>
          <a:ln/>
        </p:spPr>
        <p:txBody>
          <a:bodyPr wrap="square" lIns="0" tIns="0" rIns="0" bIns="0" rtlCol="0" anchor="t">
            <a:normAutofit/>
          </a:bodyPr>
          <a:lstStyle/>
          <a:p>
            <a:pPr indent="0" marL="0">
              <a:buNone/>
            </a:pPr>
            <a:r>
              <a:rPr lang="en-US" sz="2400" dirty="0">
                <a:solidFill>
                  <a:srgbClr val="C9A84C"/>
                </a:solidFill>
                <a:latin typeface="Cormorant Garamond" pitchFamily="34" charset="0"/>
                <a:ea typeface="Cormorant Garamond" pitchFamily="34" charset="-122"/>
                <a:cs typeface="Cormorant Garamond" pitchFamily="34" charset="-120"/>
              </a:rPr>
              <a:t>4</a:t>
            </a:r>
            <a:endParaRPr lang="en-US" sz="2400" dirty="0"/>
          </a:p>
        </p:txBody>
      </p:sp>
      <p:sp>
        <p:nvSpPr>
          <p:cNvPr id="15" name="Text 13"/>
          <p:cNvSpPr/>
          <p:nvPr/>
        </p:nvSpPr>
        <p:spPr>
          <a:xfrm>
            <a:off x="1152144" y="4041648"/>
            <a:ext cx="10378440" cy="566928"/>
          </a:xfrm>
          <a:prstGeom prst="rect">
            <a:avLst/>
          </a:prstGeom>
          <a:noFill/>
          <a:ln/>
        </p:spPr>
        <p:txBody>
          <a:bodyPr wrap="square" lIns="0" tIns="0" rIns="0" bIns="0" rtlCol="0" anchor="t">
            <a:normAutofit/>
          </a:bodyPr>
          <a:lstStyle/>
          <a:p>
            <a:pPr indent="0" marL="0">
              <a:lnSpc>
                <a:spcPct val="110000"/>
              </a:lnSpc>
              <a:buNone/>
            </a:pPr>
            <a:r>
              <a:rPr lang="en-US" sz="2000" dirty="0">
                <a:solidFill>
                  <a:srgbClr val="0F2347"/>
                </a:solidFill>
                <a:latin typeface="DM Sans" pitchFamily="34" charset="0"/>
                <a:ea typeface="DM Sans" pitchFamily="34" charset="-122"/>
                <a:cs typeface="DM Sans" pitchFamily="34" charset="-120"/>
              </a:rPr>
              <a:t>If all three stay on the same side of 19, and none lands between 17 and 21, place and mark it provisional.</a:t>
            </a:r>
            <a:endParaRPr lang="en-US" sz="2000" dirty="0"/>
          </a:p>
        </p:txBody>
      </p:sp>
      <p:sp>
        <p:nvSpPr>
          <p:cNvPr id="16" name="Text 14"/>
          <p:cNvSpPr/>
          <p:nvPr/>
        </p:nvSpPr>
        <p:spPr>
          <a:xfrm>
            <a:off x="658368" y="4700016"/>
            <a:ext cx="402336" cy="457200"/>
          </a:xfrm>
          <a:prstGeom prst="rect">
            <a:avLst/>
          </a:prstGeom>
          <a:noFill/>
          <a:ln/>
        </p:spPr>
        <p:txBody>
          <a:bodyPr wrap="square" lIns="0" tIns="0" rIns="0" bIns="0" rtlCol="0" anchor="t">
            <a:normAutofit/>
          </a:bodyPr>
          <a:lstStyle/>
          <a:p>
            <a:pPr indent="0" marL="0">
              <a:buNone/>
            </a:pPr>
            <a:r>
              <a:rPr lang="en-US" sz="2400" dirty="0">
                <a:solidFill>
                  <a:srgbClr val="C9A84C"/>
                </a:solidFill>
                <a:latin typeface="Cormorant Garamond" pitchFamily="34" charset="0"/>
                <a:ea typeface="Cormorant Garamond" pitchFamily="34" charset="-122"/>
                <a:cs typeface="Cormorant Garamond" pitchFamily="34" charset="-120"/>
              </a:rPr>
              <a:t>5</a:t>
            </a:r>
            <a:endParaRPr lang="en-US" sz="2400" dirty="0"/>
          </a:p>
        </p:txBody>
      </p:sp>
      <p:sp>
        <p:nvSpPr>
          <p:cNvPr id="17" name="Text 15"/>
          <p:cNvSpPr/>
          <p:nvPr/>
        </p:nvSpPr>
        <p:spPr>
          <a:xfrm>
            <a:off x="1152144" y="4700016"/>
            <a:ext cx="10378440" cy="566928"/>
          </a:xfrm>
          <a:prstGeom prst="rect">
            <a:avLst/>
          </a:prstGeom>
          <a:noFill/>
          <a:ln/>
        </p:spPr>
        <p:txBody>
          <a:bodyPr wrap="square" lIns="0" tIns="0" rIns="0" bIns="0" rtlCol="0" anchor="t">
            <a:normAutofit/>
          </a:bodyPr>
          <a:lstStyle/>
          <a:p>
            <a:pPr indent="0" marL="0">
              <a:lnSpc>
                <a:spcPct val="110000"/>
              </a:lnSpc>
              <a:buNone/>
            </a:pPr>
            <a:r>
              <a:rPr lang="en-US" sz="2000" dirty="0">
                <a:solidFill>
                  <a:srgbClr val="0F2347"/>
                </a:solidFill>
                <a:latin typeface="DM Sans" pitchFamily="34" charset="0"/>
                <a:ea typeface="DM Sans" pitchFamily="34" charset="-122"/>
                <a:cs typeface="DM Sans" pitchFamily="34" charset="-120"/>
              </a:rPr>
              <a:t>If they do not, do not pick one square. Read both neighbouring states.</a:t>
            </a:r>
            <a:endParaRPr lang="en-US" sz="2000" dirty="0"/>
          </a:p>
        </p:txBody>
      </p:sp>
      <p:sp>
        <p:nvSpPr>
          <p:cNvPr id="18" name="Shape 16"/>
          <p:cNvSpPr/>
          <p:nvPr/>
        </p:nvSpPr>
        <p:spPr>
          <a:xfrm>
            <a:off x="658368" y="5376672"/>
            <a:ext cx="10872216" cy="768096"/>
          </a:xfrm>
          <a:prstGeom prst="rect">
            <a:avLst/>
          </a:prstGeom>
          <a:solidFill>
            <a:srgbClr val="FFFFFF"/>
          </a:solidFill>
          <a:ln w="12700">
            <a:solidFill>
              <a:srgbClr val="E8DFCC"/>
            </a:solidFill>
            <a:prstDash val="solid"/>
          </a:ln>
        </p:spPr>
        <p:txBody>
          <a:bodyPr>
            <a:normAutofit/>
          </a:bodyPr>
          <a:p/>
        </p:txBody>
      </p:sp>
      <p:sp>
        <p:nvSpPr>
          <p:cNvPr id="19" name="Text 17"/>
          <p:cNvSpPr/>
          <p:nvPr/>
        </p:nvSpPr>
        <p:spPr>
          <a:xfrm>
            <a:off x="914400" y="5504688"/>
            <a:ext cx="10360152" cy="530352"/>
          </a:xfrm>
          <a:prstGeom prst="rect">
            <a:avLst/>
          </a:prstGeom>
          <a:noFill/>
          <a:ln/>
        </p:spPr>
        <p:txBody>
          <a:bodyPr wrap="square" lIns="0" tIns="0" rIns="0" bIns="0" rtlCol="0" anchor="t">
            <a:normAutofit/>
          </a:bodyPr>
          <a:lstStyle/>
          <a:p>
            <a:pPr indent="0" marL="0">
              <a:lnSpc>
                <a:spcPct val="115000"/>
              </a:lnSpc>
              <a:buNone/>
            </a:pPr>
            <a:r>
              <a:rPr lang="en-US" sz="1500" dirty="0">
                <a:solidFill>
                  <a:srgbClr val="0F2347"/>
                </a:solidFill>
                <a:latin typeface="DM Sans" pitchFamily="34" charset="0"/>
                <a:ea typeface="DM Sans" pitchFamily="34" charset="-122"/>
                <a:cs typeface="DM Sans" pitchFamily="34" charset="-120"/>
              </a:rPr>
              <a:t>Keep every neighbouring score inside the 1 to 5 scale. A 1? is never tested at 0 and a 5? is never tested at 6. Three or more marked items on one axis: that axis is incomplete and you do not place on it today.</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29">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30</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WHAT MOVED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What moved</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Both readings, side by side. Three anonymous counts.</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2011680"/>
            <a:ext cx="8778240" cy="731520"/>
          </a:xfrm>
          <a:prstGeom prst="rect">
            <a:avLst/>
          </a:prstGeom>
          <a:noFill/>
          <a:ln/>
        </p:spPr>
        <p:txBody>
          <a:bodyPr wrap="square" lIns="0" tIns="0" rIns="0" bIns="0" rtlCol="0" anchor="t">
            <a:normAutofit/>
          </a:bodyPr>
          <a:lstStyle/>
          <a:p>
            <a:pPr indent="0" marL="0">
              <a:lnSpc>
                <a:spcPct val="110000"/>
              </a:lnSpc>
              <a:buNone/>
            </a:pPr>
            <a:r>
              <a:rPr lang="en-US" sz="2100" dirty="0">
                <a:solidFill>
                  <a:srgbClr val="0F2347"/>
                </a:solidFill>
                <a:latin typeface="DM Sans" pitchFamily="34" charset="0"/>
                <a:ea typeface="DM Sans" pitchFamily="34" charset="-122"/>
                <a:cs typeface="DM Sans" pitchFamily="34" charset="-120"/>
              </a:rPr>
              <a:t>Did at least one of your two axis totals change by two or more points?</a:t>
            </a:r>
            <a:endParaRPr lang="en-US" sz="2100" dirty="0"/>
          </a:p>
        </p:txBody>
      </p:sp>
      <p:sp>
        <p:nvSpPr>
          <p:cNvPr id="9" name="Text 7"/>
          <p:cNvSpPr/>
          <p:nvPr/>
        </p:nvSpPr>
        <p:spPr>
          <a:xfrm>
            <a:off x="9601200" y="2011680"/>
            <a:ext cx="1929384" cy="731520"/>
          </a:xfrm>
          <a:prstGeom prst="rect">
            <a:avLst/>
          </a:prstGeom>
          <a:noFill/>
          <a:ln/>
        </p:spPr>
        <p:txBody>
          <a:bodyPr wrap="square" lIns="0" tIns="0" rIns="0" bIns="0" rtlCol="0" anchor="t">
            <a:normAutofit/>
          </a:bodyPr>
          <a:lstStyle/>
          <a:p>
            <a:pPr algn="r" indent="0" marL="0">
              <a:buNone/>
            </a:pPr>
            <a:r>
              <a:rPr lang="en-US" sz="2800" dirty="0">
                <a:solidFill>
                  <a:srgbClr val="C9A84C"/>
                </a:solidFill>
                <a:latin typeface="Cormorant Garamond" pitchFamily="34" charset="0"/>
                <a:ea typeface="Cormorant Garamond" pitchFamily="34" charset="-122"/>
                <a:cs typeface="Cormorant Garamond" pitchFamily="34" charset="-120"/>
              </a:rPr>
              <a:t>______</a:t>
            </a:r>
            <a:endParaRPr lang="en-US" sz="2800" dirty="0"/>
          </a:p>
        </p:txBody>
      </p:sp>
      <p:sp>
        <p:nvSpPr>
          <p:cNvPr id="10" name="Text 8"/>
          <p:cNvSpPr/>
          <p:nvPr/>
        </p:nvSpPr>
        <p:spPr>
          <a:xfrm>
            <a:off x="658368" y="2926080"/>
            <a:ext cx="8778240" cy="731520"/>
          </a:xfrm>
          <a:prstGeom prst="rect">
            <a:avLst/>
          </a:prstGeom>
          <a:noFill/>
          <a:ln/>
        </p:spPr>
        <p:txBody>
          <a:bodyPr wrap="square" lIns="0" tIns="0" rIns="0" bIns="0" rtlCol="0" anchor="t">
            <a:normAutofit/>
          </a:bodyPr>
          <a:lstStyle/>
          <a:p>
            <a:pPr indent="0" marL="0">
              <a:lnSpc>
                <a:spcPct val="110000"/>
              </a:lnSpc>
              <a:buNone/>
            </a:pPr>
            <a:r>
              <a:rPr lang="en-US" sz="2100" dirty="0">
                <a:solidFill>
                  <a:srgbClr val="0F2347"/>
                </a:solidFill>
                <a:latin typeface="DM Sans" pitchFamily="34" charset="0"/>
                <a:ea typeface="DM Sans" pitchFamily="34" charset="-122"/>
                <a:cs typeface="DM Sans" pitchFamily="34" charset="-120"/>
              </a:rPr>
              <a:t>Did your square change between the first and second placement?</a:t>
            </a:r>
            <a:endParaRPr lang="en-US" sz="2100" dirty="0"/>
          </a:p>
        </p:txBody>
      </p:sp>
      <p:sp>
        <p:nvSpPr>
          <p:cNvPr id="11" name="Text 9"/>
          <p:cNvSpPr/>
          <p:nvPr/>
        </p:nvSpPr>
        <p:spPr>
          <a:xfrm>
            <a:off x="9601200" y="2926080"/>
            <a:ext cx="1929384" cy="731520"/>
          </a:xfrm>
          <a:prstGeom prst="rect">
            <a:avLst/>
          </a:prstGeom>
          <a:noFill/>
          <a:ln/>
        </p:spPr>
        <p:txBody>
          <a:bodyPr wrap="square" lIns="0" tIns="0" rIns="0" bIns="0" rtlCol="0" anchor="t">
            <a:normAutofit/>
          </a:bodyPr>
          <a:lstStyle/>
          <a:p>
            <a:pPr algn="r" indent="0" marL="0">
              <a:buNone/>
            </a:pPr>
            <a:r>
              <a:rPr lang="en-US" sz="2800" dirty="0">
                <a:solidFill>
                  <a:srgbClr val="C9A84C"/>
                </a:solidFill>
                <a:latin typeface="Cormorant Garamond" pitchFamily="34" charset="0"/>
                <a:ea typeface="Cormorant Garamond" pitchFamily="34" charset="-122"/>
                <a:cs typeface="Cormorant Garamond" pitchFamily="34" charset="-120"/>
              </a:rPr>
              <a:t>______</a:t>
            </a:r>
            <a:endParaRPr lang="en-US" sz="2800" dirty="0"/>
          </a:p>
        </p:txBody>
      </p:sp>
      <p:sp>
        <p:nvSpPr>
          <p:cNvPr id="12" name="Text 10"/>
          <p:cNvSpPr/>
          <p:nvPr/>
        </p:nvSpPr>
        <p:spPr>
          <a:xfrm>
            <a:off x="658368" y="3840480"/>
            <a:ext cx="8778240" cy="731520"/>
          </a:xfrm>
          <a:prstGeom prst="rect">
            <a:avLst/>
          </a:prstGeom>
          <a:noFill/>
          <a:ln/>
        </p:spPr>
        <p:txBody>
          <a:bodyPr wrap="square" lIns="0" tIns="0" rIns="0" bIns="0" rtlCol="0" anchor="t">
            <a:normAutofit/>
          </a:bodyPr>
          <a:lstStyle/>
          <a:p>
            <a:pPr indent="0" marL="0">
              <a:lnSpc>
                <a:spcPct val="110000"/>
              </a:lnSpc>
              <a:buNone/>
            </a:pPr>
            <a:r>
              <a:rPr lang="en-US" sz="2100" dirty="0">
                <a:solidFill>
                  <a:srgbClr val="0F2347"/>
                </a:solidFill>
                <a:latin typeface="DM Sans" pitchFamily="34" charset="0"/>
                <a:ea typeface="DM Sans" pitchFamily="34" charset="-122"/>
                <a:cs typeface="DM Sans" pitchFamily="34" charset="-120"/>
              </a:rPr>
              <a:t>Did your confidence go down, stay the same, or go up?</a:t>
            </a:r>
            <a:endParaRPr lang="en-US" sz="2100" dirty="0"/>
          </a:p>
        </p:txBody>
      </p:sp>
      <p:sp>
        <p:nvSpPr>
          <p:cNvPr id="13" name="Text 11"/>
          <p:cNvSpPr/>
          <p:nvPr/>
        </p:nvSpPr>
        <p:spPr>
          <a:xfrm>
            <a:off x="9601200" y="3840480"/>
            <a:ext cx="1929384" cy="731520"/>
          </a:xfrm>
          <a:prstGeom prst="rect">
            <a:avLst/>
          </a:prstGeom>
          <a:noFill/>
          <a:ln/>
        </p:spPr>
        <p:txBody>
          <a:bodyPr wrap="square" lIns="0" tIns="0" rIns="0" bIns="0" rtlCol="0" anchor="t">
            <a:normAutofit/>
          </a:bodyPr>
          <a:lstStyle/>
          <a:p>
            <a:pPr algn="r" indent="0" marL="0">
              <a:buNone/>
            </a:pPr>
            <a:r>
              <a:rPr lang="en-US" sz="2800" dirty="0">
                <a:solidFill>
                  <a:srgbClr val="C9A84C"/>
                </a:solidFill>
                <a:latin typeface="Cormorant Garamond" pitchFamily="34" charset="0"/>
                <a:ea typeface="Cormorant Garamond" pitchFamily="34" charset="-122"/>
                <a:cs typeface="Cormorant Garamond" pitchFamily="34" charset="-120"/>
              </a:rPr>
              <a:t>______</a:t>
            </a:r>
            <a:endParaRPr lang="en-US" sz="2800" dirty="0"/>
          </a:p>
        </p:txBody>
      </p:sp>
      <p:sp>
        <p:nvSpPr>
          <p:cNvPr id="14" name="Text 12"/>
          <p:cNvSpPr/>
          <p:nvPr/>
        </p:nvSpPr>
        <p:spPr>
          <a:xfrm>
            <a:off x="658368" y="4590288"/>
            <a:ext cx="10872216" cy="1005840"/>
          </a:xfrm>
          <a:prstGeom prst="rect">
            <a:avLst/>
          </a:prstGeom>
          <a:noFill/>
          <a:ln/>
        </p:spPr>
        <p:txBody>
          <a:bodyPr wrap="square" lIns="0" tIns="0" rIns="0" bIns="0" rtlCol="0" anchor="t">
            <a:normAutofit/>
          </a:bodyPr>
          <a:lstStyle/>
          <a:p>
            <a:pPr indent="0" marL="0">
              <a:lnSpc>
                <a:spcPct val="120000"/>
              </a:lnSpc>
              <a:buNone/>
            </a:pPr>
            <a:r>
              <a:rPr lang="en-US" sz="1900" dirty="0">
                <a:solidFill>
                  <a:srgbClr val="0F2347"/>
                </a:solidFill>
                <a:latin typeface="DM Sans" pitchFamily="34" charset="0"/>
                <a:ea typeface="DM Sans" pitchFamily="34" charset="-122"/>
                <a:cs typeface="DM Sans" pitchFamily="34" charset="-120"/>
              </a:rPr>
              <a:t>Nothing about your working life changed while you were scoring. Only the reading did.</a:t>
            </a:r>
            <a:endParaRPr lang="en-US" sz="1900" dirty="0"/>
          </a:p>
        </p:txBody>
      </p:sp>
      <p:sp>
        <p:nvSpPr>
          <p:cNvPr id="15" name="Shape 13"/>
          <p:cNvSpPr/>
          <p:nvPr/>
        </p:nvSpPr>
        <p:spPr>
          <a:xfrm>
            <a:off x="658368" y="5705856"/>
            <a:ext cx="10872216" cy="10973"/>
          </a:xfrm>
          <a:prstGeom prst="rect">
            <a:avLst/>
          </a:prstGeom>
          <a:solidFill>
            <a:srgbClr val="E8DFCC"/>
          </a:solidFill>
          <a:ln w="12700">
            <a:solidFill>
              <a:srgbClr val="333333"/>
            </a:solidFill>
            <a:prstDash val="solid"/>
          </a:ln>
        </p:spPr>
        <p:txBody>
          <a:bodyPr>
            <a:normAutofit/>
          </a:bodyPr>
          <a:p/>
        </p:txBody>
      </p:sp>
      <p:sp>
        <p:nvSpPr>
          <p:cNvPr id="16" name="Text 14"/>
          <p:cNvSpPr/>
          <p:nvPr/>
        </p:nvSpPr>
        <p:spPr>
          <a:xfrm>
            <a:off x="658368" y="5852160"/>
            <a:ext cx="10872216" cy="566928"/>
          </a:xfrm>
          <a:prstGeom prst="rect">
            <a:avLst/>
          </a:prstGeom>
          <a:noFill/>
          <a:ln/>
        </p:spPr>
        <p:txBody>
          <a:bodyPr wrap="square" lIns="0" tIns="0" rIns="0" bIns="0" rtlCol="0" anchor="t">
            <a:normAutofit/>
          </a:bodyPr>
          <a:lstStyle/>
          <a:p>
            <a:pPr indent="0" marL="0">
              <a:lnSpc>
                <a:spcPct val="115000"/>
              </a:lnSpc>
              <a:buNone/>
            </a:pPr>
            <a:endParaRPr lang="en-US" sz="16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31</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WHAT JUST HAPPENED</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What just happened</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And what it says about every self-assessment you have ever completed.</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56816"/>
            <a:ext cx="10872216" cy="1188720"/>
          </a:xfrm>
          <a:prstGeom prst="rect">
            <a:avLst/>
          </a:prstGeom>
          <a:noFill/>
          <a:ln/>
        </p:spPr>
        <p:txBody>
          <a:bodyPr wrap="square" lIns="0" tIns="0" rIns="0" bIns="0" rtlCol="0" anchor="t">
            <a:normAutofit/>
          </a:bodyPr>
          <a:lstStyle/>
          <a:p>
            <a:pPr indent="0" marL="0">
              <a:lnSpc>
                <a:spcPct val="120000"/>
              </a:lnSpc>
              <a:buNone/>
            </a:pPr>
            <a:r>
              <a:rPr lang="en-US" sz="2700" dirty="0">
                <a:solidFill>
                  <a:srgbClr val="0F2347"/>
                </a:solidFill>
                <a:latin typeface="Cormorant Garamond" pitchFamily="34" charset="0"/>
                <a:ea typeface="Cormorant Garamond" pitchFamily="34" charset="-122"/>
                <a:cs typeface="Cormorant Garamond" pitchFamily="34" charset="-120"/>
              </a:rPr>
              <a:t>Self-assessment has a structural limitation: the same person supplies both the evidence and the judgment.</a:t>
            </a:r>
            <a:endParaRPr lang="en-US" sz="2700" dirty="0"/>
          </a:p>
        </p:txBody>
      </p:sp>
      <p:sp>
        <p:nvSpPr>
          <p:cNvPr id="9" name="Text 7"/>
          <p:cNvSpPr/>
          <p:nvPr/>
        </p:nvSpPr>
        <p:spPr>
          <a:xfrm>
            <a:off x="658368" y="3383280"/>
            <a:ext cx="10872216" cy="658368"/>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0F2347"/>
                </a:solidFill>
                <a:latin typeface="DM Sans" pitchFamily="34" charset="0"/>
                <a:ea typeface="DM Sans" pitchFamily="34" charset="-122"/>
                <a:cs typeface="DM Sans" pitchFamily="34" charset="-120"/>
              </a:rPr>
              <a:t>It is not useless; it needs a disciplined correction process.</a:t>
            </a:r>
            <a:endParaRPr lang="en-US" sz="2000" dirty="0"/>
          </a:p>
        </p:txBody>
      </p:sp>
      <p:sp>
        <p:nvSpPr>
          <p:cNvPr id="10" name="Shape 8"/>
          <p:cNvSpPr/>
          <p:nvPr/>
        </p:nvSpPr>
        <p:spPr>
          <a:xfrm>
            <a:off x="658368" y="4261104"/>
            <a:ext cx="10872216" cy="1389888"/>
          </a:xfrm>
          <a:prstGeom prst="rect">
            <a:avLst/>
          </a:prstGeom>
          <a:solidFill>
            <a:srgbClr val="FFFFFF"/>
          </a:solidFill>
          <a:ln w="12700">
            <a:solidFill>
              <a:srgbClr val="E8DFCC"/>
            </a:solidFill>
            <a:prstDash val="solid"/>
          </a:ln>
        </p:spPr>
        <p:txBody>
          <a:bodyPr>
            <a:normAutofit/>
          </a:bodyPr>
          <a:p/>
        </p:txBody>
      </p:sp>
      <p:sp>
        <p:nvSpPr>
          <p:cNvPr id="11" name="Text 9"/>
          <p:cNvSpPr/>
          <p:nvPr/>
        </p:nvSpPr>
        <p:spPr>
          <a:xfrm>
            <a:off x="914400" y="4443984"/>
            <a:ext cx="10360152" cy="1060704"/>
          </a:xfrm>
          <a:prstGeom prst="rect">
            <a:avLst/>
          </a:prstGeom>
          <a:noFill/>
          <a:ln/>
        </p:spPr>
        <p:txBody>
          <a:bodyPr wrap="square" lIns="0" tIns="0" rIns="0" bIns="0" rtlCol="0" anchor="t">
            <a:normAutofit/>
          </a:bodyPr>
          <a:lstStyle/>
          <a:p>
            <a:pPr indent="0" marL="0">
              <a:lnSpc>
                <a:spcPct val="118000"/>
              </a:lnSpc>
              <a:buNone/>
            </a:pPr>
            <a:r>
              <a:rPr lang="en-US" sz="1900" dirty="0">
                <a:solidFill>
                  <a:srgbClr val="0F2347"/>
                </a:solidFill>
                <a:latin typeface="DM Sans" pitchFamily="34" charset="0"/>
                <a:ea typeface="DM Sans" pitchFamily="34" charset="-122"/>
                <a:cs typeface="DM Sans" pitchFamily="34" charset="-120"/>
              </a:rPr>
              <a:t>What corrected your number was not new information. It was a strict window, symmetrical evidence, and three named failure patterns. That is calibration.</a:t>
            </a:r>
            <a:endParaRPr lang="en-US" sz="19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1">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A9B8D0"/>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A9B8D0"/>
                </a:solidFill>
                <a:latin typeface="DM Sans" pitchFamily="34" charset="0"/>
                <a:ea typeface="DM Sans" pitchFamily="34" charset="-122"/>
                <a:cs typeface="DM Sans" pitchFamily="34" charset="-120"/>
              </a:rPr>
              <a:t>32</a:t>
            </a:r>
            <a:endParaRPr lang="en-US" sz="900" dirty="0"/>
          </a:p>
        </p:txBody>
      </p:sp>
      <p:sp>
        <p:nvSpPr>
          <p:cNvPr id="4" name="Text 2"/>
          <p:cNvSpPr/>
          <p:nvPr/>
        </p:nvSpPr>
        <p:spPr>
          <a:xfrm>
            <a:off x="658368" y="1737360"/>
            <a:ext cx="10872216" cy="310896"/>
          </a:xfrm>
          <a:prstGeom prst="rect">
            <a:avLst/>
          </a:prstGeom>
          <a:noFill/>
          <a:ln/>
        </p:spPr>
        <p:txBody>
          <a:bodyPr wrap="square" lIns="0" tIns="0" rIns="0" bIns="0" rtlCol="0" anchor="ctr">
            <a:normAutofit/>
          </a:bodyPr>
          <a:lstStyle/>
          <a:p>
            <a:pPr indent="0" marL="0">
              <a:buNone/>
            </a:pPr>
            <a:r>
              <a:rPr lang="en-US" sz="1300" b="1" spc="300" kern="0" dirty="0">
                <a:solidFill>
                  <a:srgbClr val="C9A84C"/>
                </a:solidFill>
                <a:latin typeface="DM Sans" pitchFamily="34" charset="0"/>
                <a:ea typeface="DM Sans" pitchFamily="34" charset="-122"/>
                <a:cs typeface="DM Sans" pitchFamily="34" charset="-120"/>
              </a:rPr>
              <a:t>WHAT IT COSTS</a:t>
            </a:r>
            <a:endParaRPr lang="en-US" sz="1300" dirty="0"/>
          </a:p>
        </p:txBody>
      </p:sp>
      <p:sp>
        <p:nvSpPr>
          <p:cNvPr id="5" name="Text 3"/>
          <p:cNvSpPr/>
          <p:nvPr/>
        </p:nvSpPr>
        <p:spPr>
          <a:xfrm>
            <a:off x="658368" y="2103120"/>
            <a:ext cx="10872216" cy="1005840"/>
          </a:xfrm>
          <a:prstGeom prst="rect">
            <a:avLst/>
          </a:prstGeom>
          <a:noFill/>
          <a:ln/>
        </p:spPr>
        <p:txBody>
          <a:bodyPr wrap="square" lIns="0" tIns="0" rIns="0" bIns="0" rtlCol="0" anchor="t">
            <a:normAutofit/>
          </a:bodyPr>
          <a:lstStyle/>
          <a:p>
            <a:pPr indent="0" marL="0">
              <a:buNone/>
            </a:pPr>
            <a:r>
              <a:rPr lang="en-US" sz="4600" dirty="0">
                <a:solidFill>
                  <a:srgbClr val="FFFFFF"/>
                </a:solidFill>
                <a:latin typeface="Cormorant Garamond" pitchFamily="34" charset="0"/>
                <a:ea typeface="Cormorant Garamond" pitchFamily="34" charset="-122"/>
                <a:cs typeface="Cormorant Garamond" pitchFamily="34" charset="-120"/>
              </a:rPr>
              <a:t>What your state is costing you.</a:t>
            </a:r>
            <a:endParaRPr lang="en-US" sz="4600" dirty="0"/>
          </a:p>
        </p:txBody>
      </p:sp>
      <p:sp>
        <p:nvSpPr>
          <p:cNvPr id="6" name="Text 4"/>
          <p:cNvSpPr/>
          <p:nvPr/>
        </p:nvSpPr>
        <p:spPr>
          <a:xfrm>
            <a:off x="658368" y="3310128"/>
            <a:ext cx="8915400" cy="1005840"/>
          </a:xfrm>
          <a:prstGeom prst="rect">
            <a:avLst/>
          </a:prstGeom>
          <a:noFill/>
          <a:ln/>
        </p:spPr>
        <p:txBody>
          <a:bodyPr wrap="square" lIns="0" tIns="0" rIns="0" bIns="0" rtlCol="0" anchor="t">
            <a:normAutofit/>
          </a:bodyPr>
          <a:lstStyle/>
          <a:p>
            <a:pPr indent="0" marL="0">
              <a:lnSpc>
                <a:spcPct val="125000"/>
              </a:lnSpc>
              <a:buNone/>
            </a:pPr>
            <a:r>
              <a:rPr lang="en-US" sz="2000" dirty="0">
                <a:solidFill>
                  <a:srgbClr val="A9B8D0"/>
                </a:solidFill>
                <a:latin typeface="DM Sans" pitchFamily="34" charset="0"/>
                <a:ea typeface="DM Sans" pitchFamily="34" charset="-122"/>
                <a:cs typeface="DM Sans" pitchFamily="34" charset="-120"/>
              </a:rPr>
              <a:t>Not advice. Cost. Four readings per state: the immediate cost, the hidden cost, the cost of waiting, and the false reassurance that keeps you there.</a:t>
            </a:r>
            <a:endParaRPr lang="en-US" sz="2000" dirty="0"/>
          </a:p>
        </p:txBody>
      </p:sp>
      <p:sp>
        <p:nvSpPr>
          <p:cNvPr id="7" name="Text 5"/>
          <p:cNvSpPr/>
          <p:nvPr/>
        </p:nvSpPr>
        <p:spPr>
          <a:xfrm>
            <a:off x="658368" y="4443984"/>
            <a:ext cx="8915400" cy="548640"/>
          </a:xfrm>
          <a:prstGeom prst="rect">
            <a:avLst/>
          </a:prstGeom>
          <a:noFill/>
          <a:ln/>
        </p:spPr>
        <p:txBody>
          <a:bodyPr wrap="square" lIns="0" tIns="0" rIns="0" bIns="0" rtlCol="0" anchor="t">
            <a:normAutofit/>
          </a:bodyPr>
          <a:lstStyle/>
          <a:p>
            <a:pPr indent="0" marL="0">
              <a:buNone/>
            </a:pPr>
            <a:r>
              <a:rPr lang="en-US" sz="1800" dirty="0">
                <a:solidFill>
                  <a:srgbClr val="FFFFFF"/>
                </a:solidFill>
                <a:latin typeface="DM Sans" pitchFamily="34" charset="0"/>
                <a:ea typeface="DM Sans" pitchFamily="34" charset="-122"/>
                <a:cs typeface="DM Sans" pitchFamily="34" charset="-120"/>
              </a:rPr>
              <a:t>A concise reference is on workbook page 19. The fuller treatment is in Section 5 of your Field Kit.</a:t>
            </a:r>
            <a:endParaRPr lang="en-US" sz="1800" dirty="0"/>
          </a:p>
        </p:txBody>
      </p:sp>
      <p:sp>
        <p:nvSpPr>
          <p:cNvPr id="8" name="Shape 6"/>
          <p:cNvSpPr/>
          <p:nvPr/>
        </p:nvSpPr>
        <p:spPr>
          <a:xfrm>
            <a:off x="9930384" y="3310128"/>
            <a:ext cx="466344" cy="466344"/>
          </a:xfrm>
          <a:prstGeom prst="rect">
            <a:avLst/>
          </a:prstGeom>
          <a:solidFill>
            <a:srgbClr val="0F2347"/>
          </a:solidFill>
          <a:ln w="12700">
            <a:solidFill>
              <a:srgbClr val="C9A84C"/>
            </a:solidFill>
            <a:prstDash val="solid"/>
          </a:ln>
        </p:spPr>
        <p:txBody>
          <a:bodyPr>
            <a:normAutofit/>
          </a:bodyPr>
          <a:p/>
        </p:txBody>
      </p:sp>
      <p:sp>
        <p:nvSpPr>
          <p:cNvPr id="9" name="Shape 7"/>
          <p:cNvSpPr/>
          <p:nvPr/>
        </p:nvSpPr>
        <p:spPr>
          <a:xfrm>
            <a:off x="10396728" y="3310128"/>
            <a:ext cx="466344" cy="466344"/>
          </a:xfrm>
          <a:prstGeom prst="rect">
            <a:avLst/>
          </a:prstGeom>
          <a:solidFill>
            <a:srgbClr val="C1440E"/>
          </a:solidFill>
          <a:ln w="12700">
            <a:solidFill>
              <a:srgbClr val="C9A84C"/>
            </a:solidFill>
            <a:prstDash val="solid"/>
          </a:ln>
        </p:spPr>
        <p:txBody>
          <a:bodyPr>
            <a:normAutofit/>
          </a:bodyPr>
          <a:p/>
        </p:txBody>
      </p:sp>
      <p:sp>
        <p:nvSpPr>
          <p:cNvPr id="10" name="Shape 8"/>
          <p:cNvSpPr/>
          <p:nvPr/>
        </p:nvSpPr>
        <p:spPr>
          <a:xfrm>
            <a:off x="9930384" y="3776472"/>
            <a:ext cx="466344" cy="466344"/>
          </a:xfrm>
          <a:prstGeom prst="rect">
            <a:avLst/>
          </a:prstGeom>
          <a:solidFill>
            <a:srgbClr val="0F2347"/>
          </a:solidFill>
          <a:ln w="12700">
            <a:solidFill>
              <a:srgbClr val="C9A84C"/>
            </a:solidFill>
            <a:prstDash val="solid"/>
          </a:ln>
        </p:spPr>
        <p:txBody>
          <a:bodyPr>
            <a:normAutofit/>
          </a:bodyPr>
          <a:p/>
        </p:txBody>
      </p:sp>
      <p:sp>
        <p:nvSpPr>
          <p:cNvPr id="11" name="Shape 9"/>
          <p:cNvSpPr/>
          <p:nvPr/>
        </p:nvSpPr>
        <p:spPr>
          <a:xfrm>
            <a:off x="10396728" y="3776472"/>
            <a:ext cx="466344" cy="466344"/>
          </a:xfrm>
          <a:prstGeom prst="rect">
            <a:avLst/>
          </a:prstGeom>
          <a:solidFill>
            <a:srgbClr val="0F2347"/>
          </a:solidFill>
          <a:ln w="12700">
            <a:solidFill>
              <a:srgbClr val="C9A84C"/>
            </a:solidFill>
            <a:prstDash val="solid"/>
          </a:ln>
        </p:spPr>
        <p:txBody>
          <a:bodyPr>
            <a:normAutofit/>
          </a:bodyPr>
          <a:p/>
        </p:txBody>
      </p:sp>
      <p:sp>
        <p:nvSpPr>
          <p:cNvPr id="12" name="Mark2x2"/>
          <p:cNvSpPr/>
          <p:nvPr/>
        </p:nvSpPr>
        <p:spPr>
          <a:xfrm>
            <a:off x="11384280" y="310896"/>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Mark2x2"/>
          <p:cNvSpPr/>
          <p:nvPr/>
        </p:nvSpPr>
        <p:spPr>
          <a:xfrm>
            <a:off x="11603736" y="310896"/>
            <a:ext cx="173736" cy="173736"/>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ark2x2"/>
          <p:cNvSpPr/>
          <p:nvPr/>
        </p:nvSpPr>
        <p:spPr>
          <a:xfrm>
            <a:off x="11384280" y="530352"/>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ark2x2"/>
          <p:cNvSpPr/>
          <p:nvPr/>
        </p:nvSpPr>
        <p:spPr>
          <a:xfrm>
            <a:off x="11603736" y="530352"/>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33</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STATE COSTS</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What each state costs</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All four, briefly. Your short reference is in the workbook.</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Shape 6"/>
          <p:cNvSpPr/>
          <p:nvPr/>
        </p:nvSpPr>
        <p:spPr>
          <a:xfrm>
            <a:off x="658368" y="1920240"/>
            <a:ext cx="5294376" cy="1847088"/>
          </a:xfrm>
          <a:prstGeom prst="rect">
            <a:avLst/>
          </a:prstGeom>
          <a:solidFill>
            <a:srgbClr val="FFFFFF"/>
          </a:solidFill>
          <a:ln w="12700">
            <a:solidFill>
              <a:srgbClr val="E8DFCC"/>
            </a:solidFill>
            <a:prstDash val="solid"/>
          </a:ln>
        </p:spPr>
        <p:txBody>
          <a:bodyPr>
            <a:normAutofit/>
          </a:bodyPr>
          <a:p/>
        </p:txBody>
      </p:sp>
      <p:sp>
        <p:nvSpPr>
          <p:cNvPr id="9" name="Text 7"/>
          <p:cNvSpPr/>
          <p:nvPr/>
        </p:nvSpPr>
        <p:spPr>
          <a:xfrm>
            <a:off x="896112" y="2066544"/>
            <a:ext cx="4818888" cy="310896"/>
          </a:xfrm>
          <a:prstGeom prst="rect">
            <a:avLst/>
          </a:prstGeom>
          <a:noFill/>
          <a:ln/>
        </p:spPr>
        <p:txBody>
          <a:bodyPr wrap="square" lIns="0" tIns="0" rIns="0" bIns="0" rtlCol="0" anchor="t">
            <a:normAutofit/>
          </a:bodyPr>
          <a:lstStyle/>
          <a:p>
            <a:pPr indent="0" marL="0">
              <a:buNone/>
            </a:pPr>
            <a:r>
              <a:rPr lang="en-US" sz="1800" b="1" spc="140" kern="0" dirty="0">
                <a:solidFill>
                  <a:srgbClr val="0F2347"/>
                </a:solidFill>
                <a:latin typeface="DM Sans" pitchFamily="34" charset="0"/>
                <a:ea typeface="DM Sans" pitchFamily="34" charset="-122"/>
                <a:cs typeface="DM Sans" pitchFamily="34" charset="-120"/>
              </a:rPr>
              <a:t>DEPTH TRAP</a:t>
            </a:r>
            <a:endParaRPr lang="en-US" sz="1800" dirty="0"/>
          </a:p>
        </p:txBody>
      </p:sp>
      <p:sp>
        <p:nvSpPr>
          <p:cNvPr id="10" name="Text 8"/>
          <p:cNvSpPr/>
          <p:nvPr/>
        </p:nvSpPr>
        <p:spPr>
          <a:xfrm>
            <a:off x="896112" y="2432304"/>
            <a:ext cx="4818888" cy="182880"/>
          </a:xfrm>
          <a:prstGeom prst="rect">
            <a:avLst/>
          </a:prstGeom>
          <a:noFill/>
          <a:ln/>
        </p:spPr>
        <p:txBody>
          <a:bodyPr wrap="square" lIns="0" tIns="0" rIns="0" bIns="0" rtlCol="0" anchor="ctr">
            <a:normAutofit/>
          </a:bodyPr>
          <a:lstStyle/>
          <a:p>
            <a:pPr indent="0" marL="0">
              <a:buNone/>
            </a:pPr>
            <a:endParaRPr lang="en-US" sz="900" dirty="0"/>
          </a:p>
        </p:txBody>
      </p:sp>
      <p:sp>
        <p:nvSpPr>
          <p:cNvPr id="11" name="Text 9"/>
          <p:cNvSpPr/>
          <p:nvPr/>
        </p:nvSpPr>
        <p:spPr>
          <a:xfrm>
            <a:off x="896112" y="2615184"/>
            <a:ext cx="4818888" cy="566928"/>
          </a:xfrm>
          <a:prstGeom prst="rect">
            <a:avLst/>
          </a:prstGeom>
          <a:noFill/>
          <a:ln/>
        </p:spPr>
        <p:txBody>
          <a:bodyPr wrap="square" lIns="0" tIns="0" rIns="0" bIns="0" rtlCol="0" anchor="t">
            <a:normAutofit/>
          </a:bodyPr>
          <a:lstStyle/>
          <a:p>
            <a:pPr indent="0" marL="0">
              <a:lnSpc>
                <a:spcPct val="110000"/>
              </a:lnSpc>
              <a:buNone/>
            </a:pPr>
            <a:r>
              <a:rPr lang="en-US" sz="1200" dirty="0">
                <a:solidFill>
                  <a:srgbClr val="0F2347"/>
                </a:solidFill>
                <a:latin typeface="DM Sans" pitchFamily="34" charset="0"/>
                <a:ea typeface="DM Sans" pitchFamily="34" charset="-122"/>
                <a:cs typeface="DM Sans" pitchFamily="34" charset="-120"/>
              </a:rPr>
              <a:t>Value is deep but context-bound.</a:t>
            </a:r>
            <a:endParaRPr lang="en-US" sz="1200" dirty="0"/>
          </a:p>
        </p:txBody>
      </p:sp>
      <p:sp>
        <p:nvSpPr>
          <p:cNvPr id="12" name="Text 10"/>
          <p:cNvSpPr/>
          <p:nvPr/>
        </p:nvSpPr>
        <p:spPr>
          <a:xfrm>
            <a:off x="896112" y="3218688"/>
            <a:ext cx="4818888" cy="182880"/>
          </a:xfrm>
          <a:prstGeom prst="rect">
            <a:avLst/>
          </a:prstGeom>
          <a:noFill/>
          <a:ln/>
        </p:spPr>
        <p:txBody>
          <a:bodyPr wrap="square" lIns="0" tIns="0" rIns="0" bIns="0" rtlCol="0" anchor="ctr">
            <a:normAutofit/>
          </a:bodyPr>
          <a:lstStyle/>
          <a:p>
            <a:pPr indent="0" marL="0">
              <a:buNone/>
            </a:pPr>
            <a:endParaRPr lang="en-US" sz="900" dirty="0"/>
          </a:p>
        </p:txBody>
      </p:sp>
      <p:sp>
        <p:nvSpPr>
          <p:cNvPr id="13" name="Text 11"/>
          <p:cNvSpPr/>
          <p:nvPr/>
        </p:nvSpPr>
        <p:spPr>
          <a:xfrm>
            <a:off x="896112" y="3401568"/>
            <a:ext cx="4818888" cy="310896"/>
          </a:xfrm>
          <a:prstGeom prst="rect">
            <a:avLst/>
          </a:prstGeom>
          <a:noFill/>
          <a:ln/>
        </p:spPr>
        <p:txBody>
          <a:bodyPr wrap="square" lIns="0" tIns="0" rIns="0" bIns="0" rtlCol="0" anchor="t">
            <a:normAutofit/>
          </a:bodyPr>
          <a:lstStyle/>
          <a:p>
            <a:pPr indent="0" marL="0">
              <a:buNone/>
            </a:pPr>
            <a:endParaRPr lang="en-US" sz="1400" dirty="0"/>
          </a:p>
        </p:txBody>
      </p:sp>
      <p:sp>
        <p:nvSpPr>
          <p:cNvPr id="14" name="Shape 12"/>
          <p:cNvSpPr/>
          <p:nvPr/>
        </p:nvSpPr>
        <p:spPr>
          <a:xfrm>
            <a:off x="6236208" y="1920240"/>
            <a:ext cx="5294376" cy="1847088"/>
          </a:xfrm>
          <a:prstGeom prst="rect">
            <a:avLst/>
          </a:prstGeom>
          <a:solidFill>
            <a:srgbClr val="FFFFFF"/>
          </a:solidFill>
          <a:ln w="12700">
            <a:solidFill>
              <a:srgbClr val="E8DFCC"/>
            </a:solidFill>
            <a:prstDash val="solid"/>
          </a:ln>
        </p:spPr>
        <p:txBody>
          <a:bodyPr>
            <a:normAutofit/>
          </a:bodyPr>
          <a:p/>
        </p:txBody>
      </p:sp>
      <p:sp>
        <p:nvSpPr>
          <p:cNvPr id="15" name="Text 13"/>
          <p:cNvSpPr/>
          <p:nvPr/>
        </p:nvSpPr>
        <p:spPr>
          <a:xfrm>
            <a:off x="6473952" y="2066544"/>
            <a:ext cx="4818888" cy="310896"/>
          </a:xfrm>
          <a:prstGeom prst="rect">
            <a:avLst/>
          </a:prstGeom>
          <a:noFill/>
          <a:ln/>
        </p:spPr>
        <p:txBody>
          <a:bodyPr wrap="square" lIns="0" tIns="0" rIns="0" bIns="0" rtlCol="0" anchor="t">
            <a:normAutofit/>
          </a:bodyPr>
          <a:lstStyle/>
          <a:p>
            <a:pPr indent="0" marL="0">
              <a:buNone/>
            </a:pPr>
            <a:r>
              <a:rPr lang="en-US" sz="1800" b="1" spc="140" kern="0" dirty="0">
                <a:solidFill>
                  <a:srgbClr val="C1440E"/>
                </a:solidFill>
                <a:latin typeface="DM Sans" pitchFamily="34" charset="0"/>
                <a:ea typeface="DM Sans" pitchFamily="34" charset="-122"/>
                <a:cs typeface="DM Sans" pitchFamily="34" charset="-120"/>
              </a:rPr>
              <a:t>COMPOUNDING</a:t>
            </a:r>
            <a:endParaRPr lang="en-US" sz="1800" dirty="0"/>
          </a:p>
        </p:txBody>
      </p:sp>
      <p:sp>
        <p:nvSpPr>
          <p:cNvPr id="16" name="Text 14"/>
          <p:cNvSpPr/>
          <p:nvPr/>
        </p:nvSpPr>
        <p:spPr>
          <a:xfrm>
            <a:off x="6473952" y="2432304"/>
            <a:ext cx="4818888" cy="182880"/>
          </a:xfrm>
          <a:prstGeom prst="rect">
            <a:avLst/>
          </a:prstGeom>
          <a:noFill/>
          <a:ln/>
        </p:spPr>
        <p:txBody>
          <a:bodyPr wrap="square" lIns="0" tIns="0" rIns="0" bIns="0" rtlCol="0" anchor="ctr">
            <a:normAutofit/>
          </a:bodyPr>
          <a:lstStyle/>
          <a:p>
            <a:pPr indent="0" marL="0">
              <a:buNone/>
            </a:pPr>
            <a:endParaRPr lang="en-US" sz="900" dirty="0"/>
          </a:p>
        </p:txBody>
      </p:sp>
      <p:sp>
        <p:nvSpPr>
          <p:cNvPr id="17" name="Text 15"/>
          <p:cNvSpPr/>
          <p:nvPr/>
        </p:nvSpPr>
        <p:spPr>
          <a:xfrm>
            <a:off x="6473952" y="2615184"/>
            <a:ext cx="4818888" cy="566928"/>
          </a:xfrm>
          <a:prstGeom prst="rect">
            <a:avLst/>
          </a:prstGeom>
          <a:noFill/>
          <a:ln/>
        </p:spPr>
        <p:txBody>
          <a:bodyPr wrap="square" lIns="0" tIns="0" rIns="0" bIns="0" rtlCol="0" anchor="t">
            <a:normAutofit/>
          </a:bodyPr>
          <a:lstStyle/>
          <a:p>
            <a:pPr indent="0" marL="0">
              <a:lnSpc>
                <a:spcPct val="110000"/>
              </a:lnSpc>
              <a:buNone/>
            </a:pPr>
            <a:r>
              <a:rPr lang="en-US" sz="1200" dirty="0">
                <a:solidFill>
                  <a:srgbClr val="0F2347"/>
                </a:solidFill>
                <a:latin typeface="DM Sans" pitchFamily="34" charset="0"/>
                <a:ea typeface="DM Sans" pitchFamily="34" charset="-122"/>
                <a:cs typeface="DM Sans" pitchFamily="34" charset="-120"/>
              </a:rPr>
              <a:t>A strong current position still requires renewal.</a:t>
            </a:r>
            <a:endParaRPr lang="en-US" sz="1200" dirty="0"/>
          </a:p>
        </p:txBody>
      </p:sp>
      <p:sp>
        <p:nvSpPr>
          <p:cNvPr id="18" name="Text 16"/>
          <p:cNvSpPr/>
          <p:nvPr/>
        </p:nvSpPr>
        <p:spPr>
          <a:xfrm>
            <a:off x="6473952" y="3218688"/>
            <a:ext cx="4818888" cy="182880"/>
          </a:xfrm>
          <a:prstGeom prst="rect">
            <a:avLst/>
          </a:prstGeom>
          <a:noFill/>
          <a:ln/>
        </p:spPr>
        <p:txBody>
          <a:bodyPr wrap="square" lIns="0" tIns="0" rIns="0" bIns="0" rtlCol="0" anchor="ctr">
            <a:normAutofit/>
          </a:bodyPr>
          <a:lstStyle/>
          <a:p>
            <a:pPr indent="0" marL="0">
              <a:buNone/>
            </a:pPr>
            <a:endParaRPr lang="en-US" sz="900" dirty="0"/>
          </a:p>
        </p:txBody>
      </p:sp>
      <p:sp>
        <p:nvSpPr>
          <p:cNvPr id="19" name="Text 17"/>
          <p:cNvSpPr/>
          <p:nvPr/>
        </p:nvSpPr>
        <p:spPr>
          <a:xfrm>
            <a:off x="6473952" y="3401568"/>
            <a:ext cx="4818888" cy="310896"/>
          </a:xfrm>
          <a:prstGeom prst="rect">
            <a:avLst/>
          </a:prstGeom>
          <a:noFill/>
          <a:ln/>
        </p:spPr>
        <p:txBody>
          <a:bodyPr wrap="square" lIns="0" tIns="0" rIns="0" bIns="0" rtlCol="0" anchor="t">
            <a:normAutofit/>
          </a:bodyPr>
          <a:lstStyle/>
          <a:p>
            <a:pPr indent="0" marL="0">
              <a:buNone/>
            </a:pPr>
            <a:endParaRPr lang="en-US" sz="1400" dirty="0"/>
          </a:p>
        </p:txBody>
      </p:sp>
      <p:sp>
        <p:nvSpPr>
          <p:cNvPr id="20" name="Shape 18"/>
          <p:cNvSpPr/>
          <p:nvPr/>
        </p:nvSpPr>
        <p:spPr>
          <a:xfrm>
            <a:off x="658368" y="3913632"/>
            <a:ext cx="5294376" cy="1847088"/>
          </a:xfrm>
          <a:prstGeom prst="rect">
            <a:avLst/>
          </a:prstGeom>
          <a:solidFill>
            <a:srgbClr val="FFFFFF"/>
          </a:solidFill>
          <a:ln w="12700">
            <a:solidFill>
              <a:srgbClr val="E8DFCC"/>
            </a:solidFill>
            <a:prstDash val="solid"/>
          </a:ln>
        </p:spPr>
        <p:txBody>
          <a:bodyPr>
            <a:normAutofit/>
          </a:bodyPr>
          <a:p/>
        </p:txBody>
      </p:sp>
      <p:sp>
        <p:nvSpPr>
          <p:cNvPr id="21" name="Text 19"/>
          <p:cNvSpPr/>
          <p:nvPr/>
        </p:nvSpPr>
        <p:spPr>
          <a:xfrm>
            <a:off x="896112" y="4059936"/>
            <a:ext cx="4818888" cy="310896"/>
          </a:xfrm>
          <a:prstGeom prst="rect">
            <a:avLst/>
          </a:prstGeom>
          <a:noFill/>
          <a:ln/>
        </p:spPr>
        <p:txBody>
          <a:bodyPr wrap="square" lIns="0" tIns="0" rIns="0" bIns="0" rtlCol="0" anchor="t">
            <a:normAutofit/>
          </a:bodyPr>
          <a:lstStyle/>
          <a:p>
            <a:pPr indent="0" marL="0">
              <a:buNone/>
            </a:pPr>
            <a:r>
              <a:rPr lang="en-US" sz="1800" b="1" spc="140" kern="0" dirty="0">
                <a:solidFill>
                  <a:srgbClr val="0F2347"/>
                </a:solidFill>
                <a:latin typeface="DM Sans" pitchFamily="34" charset="0"/>
                <a:ea typeface="DM Sans" pitchFamily="34" charset="-122"/>
                <a:cs typeface="DM Sans" pitchFamily="34" charset="-120"/>
              </a:rPr>
              <a:t>STAGNANT</a:t>
            </a:r>
            <a:endParaRPr lang="en-US" sz="1800" dirty="0"/>
          </a:p>
        </p:txBody>
      </p:sp>
      <p:sp>
        <p:nvSpPr>
          <p:cNvPr id="22" name="Text 20"/>
          <p:cNvSpPr/>
          <p:nvPr/>
        </p:nvSpPr>
        <p:spPr>
          <a:xfrm>
            <a:off x="896112" y="4425696"/>
            <a:ext cx="4818888" cy="182880"/>
          </a:xfrm>
          <a:prstGeom prst="rect">
            <a:avLst/>
          </a:prstGeom>
          <a:noFill/>
          <a:ln/>
        </p:spPr>
        <p:txBody>
          <a:bodyPr wrap="square" lIns="0" tIns="0" rIns="0" bIns="0" rtlCol="0" anchor="ctr">
            <a:normAutofit/>
          </a:bodyPr>
          <a:lstStyle/>
          <a:p>
            <a:pPr indent="0" marL="0">
              <a:buNone/>
            </a:pPr>
            <a:endParaRPr lang="en-US" sz="900" dirty="0"/>
          </a:p>
        </p:txBody>
      </p:sp>
      <p:sp>
        <p:nvSpPr>
          <p:cNvPr id="23" name="Text 21"/>
          <p:cNvSpPr/>
          <p:nvPr/>
        </p:nvSpPr>
        <p:spPr>
          <a:xfrm>
            <a:off x="896112" y="4608576"/>
            <a:ext cx="4818888" cy="566928"/>
          </a:xfrm>
          <a:prstGeom prst="rect">
            <a:avLst/>
          </a:prstGeom>
          <a:noFill/>
          <a:ln/>
        </p:spPr>
        <p:txBody>
          <a:bodyPr wrap="square" lIns="0" tIns="0" rIns="0" bIns="0" rtlCol="0" anchor="t">
            <a:normAutofit/>
          </a:bodyPr>
          <a:lstStyle/>
          <a:p>
            <a:pPr indent="0" marL="0">
              <a:lnSpc>
                <a:spcPct val="110000"/>
              </a:lnSpc>
              <a:buNone/>
            </a:pPr>
            <a:r>
              <a:rPr lang="en-US" sz="1200" dirty="0">
                <a:solidFill>
                  <a:srgbClr val="0F2347"/>
                </a:solidFill>
                <a:latin typeface="DM Sans" pitchFamily="34" charset="0"/>
                <a:ea typeface="DM Sans" pitchFamily="34" charset="-122"/>
                <a:cs typeface="DM Sans" pitchFamily="34" charset="-120"/>
              </a:rPr>
              <a:t>Neither axis is accruing.</a:t>
            </a:r>
            <a:endParaRPr lang="en-US" sz="1200" dirty="0"/>
          </a:p>
        </p:txBody>
      </p:sp>
      <p:sp>
        <p:nvSpPr>
          <p:cNvPr id="24" name="Text 22"/>
          <p:cNvSpPr/>
          <p:nvPr/>
        </p:nvSpPr>
        <p:spPr>
          <a:xfrm>
            <a:off x="896112" y="5212080"/>
            <a:ext cx="4818888" cy="182880"/>
          </a:xfrm>
          <a:prstGeom prst="rect">
            <a:avLst/>
          </a:prstGeom>
          <a:noFill/>
          <a:ln/>
        </p:spPr>
        <p:txBody>
          <a:bodyPr wrap="square" lIns="0" tIns="0" rIns="0" bIns="0" rtlCol="0" anchor="ctr">
            <a:normAutofit/>
          </a:bodyPr>
          <a:lstStyle/>
          <a:p>
            <a:pPr indent="0" marL="0">
              <a:buNone/>
            </a:pPr>
            <a:endParaRPr lang="en-US" sz="900" dirty="0"/>
          </a:p>
        </p:txBody>
      </p:sp>
      <p:sp>
        <p:nvSpPr>
          <p:cNvPr id="25" name="Text 23"/>
          <p:cNvSpPr/>
          <p:nvPr/>
        </p:nvSpPr>
        <p:spPr>
          <a:xfrm>
            <a:off x="896112" y="5394960"/>
            <a:ext cx="4818888" cy="310896"/>
          </a:xfrm>
          <a:prstGeom prst="rect">
            <a:avLst/>
          </a:prstGeom>
          <a:noFill/>
          <a:ln/>
        </p:spPr>
        <p:txBody>
          <a:bodyPr wrap="square" lIns="0" tIns="0" rIns="0" bIns="0" rtlCol="0" anchor="t">
            <a:normAutofit/>
          </a:bodyPr>
          <a:lstStyle/>
          <a:p>
            <a:pPr indent="0" marL="0">
              <a:buNone/>
            </a:pPr>
            <a:endParaRPr lang="en-US" sz="1400" dirty="0"/>
          </a:p>
        </p:txBody>
      </p:sp>
      <p:sp>
        <p:nvSpPr>
          <p:cNvPr id="26" name="Shape 24"/>
          <p:cNvSpPr/>
          <p:nvPr/>
        </p:nvSpPr>
        <p:spPr>
          <a:xfrm>
            <a:off x="6236208" y="3913632"/>
            <a:ext cx="5294376" cy="1847088"/>
          </a:xfrm>
          <a:prstGeom prst="rect">
            <a:avLst/>
          </a:prstGeom>
          <a:solidFill>
            <a:srgbClr val="FFFFFF"/>
          </a:solidFill>
          <a:ln w="12700">
            <a:solidFill>
              <a:srgbClr val="E8DFCC"/>
            </a:solidFill>
            <a:prstDash val="solid"/>
          </a:ln>
        </p:spPr>
        <p:txBody>
          <a:bodyPr>
            <a:normAutofit/>
          </a:bodyPr>
          <a:p/>
        </p:txBody>
      </p:sp>
      <p:sp>
        <p:nvSpPr>
          <p:cNvPr id="27" name="Text 25"/>
          <p:cNvSpPr/>
          <p:nvPr/>
        </p:nvSpPr>
        <p:spPr>
          <a:xfrm>
            <a:off x="6473952" y="4059936"/>
            <a:ext cx="4818888" cy="310896"/>
          </a:xfrm>
          <a:prstGeom prst="rect">
            <a:avLst/>
          </a:prstGeom>
          <a:noFill/>
          <a:ln/>
        </p:spPr>
        <p:txBody>
          <a:bodyPr wrap="square" lIns="0" tIns="0" rIns="0" bIns="0" rtlCol="0" anchor="t">
            <a:normAutofit/>
          </a:bodyPr>
          <a:lstStyle/>
          <a:p>
            <a:pPr indent="0" marL="0">
              <a:buNone/>
            </a:pPr>
            <a:r>
              <a:rPr lang="en-US" sz="1800" b="1" spc="140" kern="0" dirty="0">
                <a:solidFill>
                  <a:srgbClr val="0F2347"/>
                </a:solidFill>
                <a:latin typeface="DM Sans" pitchFamily="34" charset="0"/>
                <a:ea typeface="DM Sans" pitchFamily="34" charset="-122"/>
                <a:cs typeface="DM Sans" pitchFamily="34" charset="-120"/>
              </a:rPr>
              <a:t>FRAGILE</a:t>
            </a:r>
            <a:endParaRPr lang="en-US" sz="1800" dirty="0"/>
          </a:p>
        </p:txBody>
      </p:sp>
      <p:sp>
        <p:nvSpPr>
          <p:cNvPr id="28" name="Text 26"/>
          <p:cNvSpPr/>
          <p:nvPr/>
        </p:nvSpPr>
        <p:spPr>
          <a:xfrm>
            <a:off x="6473952" y="4425696"/>
            <a:ext cx="4818888" cy="182880"/>
          </a:xfrm>
          <a:prstGeom prst="rect">
            <a:avLst/>
          </a:prstGeom>
          <a:noFill/>
          <a:ln/>
        </p:spPr>
        <p:txBody>
          <a:bodyPr wrap="square" lIns="0" tIns="0" rIns="0" bIns="0" rtlCol="0" anchor="ctr">
            <a:normAutofit/>
          </a:bodyPr>
          <a:lstStyle/>
          <a:p>
            <a:pPr indent="0" marL="0">
              <a:buNone/>
            </a:pPr>
            <a:endParaRPr lang="en-US" sz="900" dirty="0"/>
          </a:p>
        </p:txBody>
      </p:sp>
      <p:sp>
        <p:nvSpPr>
          <p:cNvPr id="29" name="Text 27"/>
          <p:cNvSpPr/>
          <p:nvPr/>
        </p:nvSpPr>
        <p:spPr>
          <a:xfrm>
            <a:off x="6473952" y="4608576"/>
            <a:ext cx="4818888" cy="566928"/>
          </a:xfrm>
          <a:prstGeom prst="rect">
            <a:avLst/>
          </a:prstGeom>
          <a:noFill/>
          <a:ln/>
        </p:spPr>
        <p:txBody>
          <a:bodyPr wrap="square" lIns="0" tIns="0" rIns="0" bIns="0" rtlCol="0" anchor="t">
            <a:normAutofit/>
          </a:bodyPr>
          <a:lstStyle/>
          <a:p>
            <a:pPr indent="0" marL="0">
              <a:lnSpc>
                <a:spcPct val="110000"/>
              </a:lnSpc>
              <a:buNone/>
            </a:pPr>
            <a:r>
              <a:rPr lang="en-US" sz="1200" dirty="0">
                <a:solidFill>
                  <a:srgbClr val="0F2347"/>
                </a:solidFill>
                <a:latin typeface="DM Sans" pitchFamily="34" charset="0"/>
                <a:ea typeface="DM Sans" pitchFamily="34" charset="-122"/>
                <a:cs typeface="DM Sans" pitchFamily="34" charset="-120"/>
              </a:rPr>
              <a:t>What travels today is no longer being renewed.</a:t>
            </a:r>
            <a:endParaRPr lang="en-US" sz="1200" dirty="0"/>
          </a:p>
        </p:txBody>
      </p:sp>
      <p:sp>
        <p:nvSpPr>
          <p:cNvPr id="30" name="Text 28"/>
          <p:cNvSpPr/>
          <p:nvPr/>
        </p:nvSpPr>
        <p:spPr>
          <a:xfrm>
            <a:off x="6473952" y="5212080"/>
            <a:ext cx="4818888" cy="182880"/>
          </a:xfrm>
          <a:prstGeom prst="rect">
            <a:avLst/>
          </a:prstGeom>
          <a:noFill/>
          <a:ln/>
        </p:spPr>
        <p:txBody>
          <a:bodyPr wrap="square" lIns="0" tIns="0" rIns="0" bIns="0" rtlCol="0" anchor="ctr">
            <a:normAutofit/>
          </a:bodyPr>
          <a:lstStyle/>
          <a:p>
            <a:pPr indent="0" marL="0">
              <a:buNone/>
            </a:pPr>
            <a:endParaRPr lang="en-US" sz="900" dirty="0"/>
          </a:p>
        </p:txBody>
      </p:sp>
      <p:sp>
        <p:nvSpPr>
          <p:cNvPr id="31" name="Text 29"/>
          <p:cNvSpPr/>
          <p:nvPr/>
        </p:nvSpPr>
        <p:spPr>
          <a:xfrm>
            <a:off x="6473952" y="5394960"/>
            <a:ext cx="4818888" cy="310896"/>
          </a:xfrm>
          <a:prstGeom prst="rect">
            <a:avLst/>
          </a:prstGeom>
          <a:noFill/>
          <a:ln/>
        </p:spPr>
        <p:txBody>
          <a:bodyPr wrap="square" lIns="0" tIns="0" rIns="0" bIns="0" rtlCol="0" anchor="t">
            <a:normAutofit/>
          </a:bodyPr>
          <a:lstStyle/>
          <a:p>
            <a:pPr indent="0" marL="0">
              <a:buNone/>
            </a:pPr>
            <a:endParaRPr lang="en-US" sz="1400" dirty="0"/>
          </a:p>
        </p:txBody>
      </p:sp>
      <p:sp>
        <p:nvSpPr>
          <p:cNvPr id="32" name="Shape 30"/>
          <p:cNvSpPr/>
          <p:nvPr/>
        </p:nvSpPr>
        <p:spPr>
          <a:xfrm>
            <a:off x="658368" y="5742432"/>
            <a:ext cx="10872216" cy="10973"/>
          </a:xfrm>
          <a:prstGeom prst="rect">
            <a:avLst/>
          </a:prstGeom>
          <a:solidFill>
            <a:srgbClr val="E8DFCC"/>
          </a:solidFill>
          <a:ln w="12700">
            <a:solidFill>
              <a:srgbClr val="333333"/>
            </a:solidFill>
            <a:prstDash val="solid"/>
          </a:ln>
        </p:spPr>
        <p:txBody>
          <a:bodyPr>
            <a:normAutofit/>
          </a:bodyPr>
          <a:p/>
        </p:txBody>
      </p:sp>
      <p:sp>
        <p:nvSpPr>
          <p:cNvPr id="33" name="Text 31"/>
          <p:cNvSpPr/>
          <p:nvPr/>
        </p:nvSpPr>
        <p:spPr>
          <a:xfrm>
            <a:off x="658368" y="5888736"/>
            <a:ext cx="10872216" cy="566928"/>
          </a:xfrm>
          <a:prstGeom prst="rect">
            <a:avLst/>
          </a:prstGeom>
          <a:noFill/>
          <a:ln/>
        </p:spPr>
        <p:txBody>
          <a:bodyPr wrap="square" lIns="0" tIns="0" rIns="0" bIns="0" rtlCol="0" anchor="t">
            <a:normAutofit/>
          </a:bodyPr>
          <a:lstStyle/>
          <a:p>
            <a:pPr indent="0" marL="0">
              <a:lnSpc>
                <a:spcPct val="115000"/>
              </a:lnSpc>
              <a:buNone/>
            </a:pPr>
            <a:r>
              <a:rPr lang="en-US" sz="1500" dirty="0">
                <a:solidFill>
                  <a:srgbClr val="0F2347"/>
                </a:solidFill>
                <a:latin typeface="DM Sans" pitchFamily="34" charset="0"/>
                <a:ea typeface="DM Sans" pitchFamily="34" charset="-122"/>
                <a:cs typeface="DM Sans" pitchFamily="34" charset="-120"/>
              </a:rPr>
              <a:t>Your short reference is in the workbook. The fuller treatment is in your Field Kit.</a:t>
            </a:r>
            <a:endParaRPr lang="en-US" sz="15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3">
    <p:bg>
      <p:bgPr>
        <a:solidFill>
          <a:srgbClr val="F5E8E1"/>
        </a:solidFill>
        <a:effectLst/>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34</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YOUR COST</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Write your own cost</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One square. Four readings. Your words, not mine. Workbook page 20.</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2029968"/>
            <a:ext cx="10872216" cy="457200"/>
          </a:xfrm>
          <a:prstGeom prst="rect">
            <a:avLst/>
          </a:prstGeom>
          <a:noFill/>
          <a:ln/>
        </p:spPr>
        <p:txBody>
          <a:bodyPr wrap="square" lIns="0" tIns="0" rIns="0" bIns="0" rtlCol="0" anchor="t">
            <a:normAutofit/>
          </a:bodyPr>
          <a:lstStyle/>
          <a:p>
            <a:pPr indent="0" marL="0">
              <a:buNone/>
            </a:pPr>
            <a:r>
              <a:rPr lang="en-US" sz="2100" dirty="0">
                <a:solidFill>
                  <a:srgbClr val="0F2347"/>
                </a:solidFill>
                <a:latin typeface="DM Sans" pitchFamily="34" charset="0"/>
                <a:ea typeface="DM Sans" pitchFamily="34" charset="-122"/>
                <a:cs typeface="DM Sans" pitchFamily="34" charset="-120"/>
              </a:rPr>
              <a:t>The immediate cost</a:t>
            </a:r>
            <a:endParaRPr lang="en-US" sz="2100" dirty="0"/>
          </a:p>
        </p:txBody>
      </p:sp>
      <p:sp>
        <p:nvSpPr>
          <p:cNvPr id="9" name="Shape 7"/>
          <p:cNvSpPr/>
          <p:nvPr/>
        </p:nvSpPr>
        <p:spPr>
          <a:xfrm>
            <a:off x="658368" y="2542032"/>
            <a:ext cx="10872216" cy="7315"/>
          </a:xfrm>
          <a:prstGeom prst="rect">
            <a:avLst/>
          </a:prstGeom>
          <a:solidFill>
            <a:srgbClr val="E8DFCC"/>
          </a:solidFill>
          <a:ln w="12700">
            <a:solidFill>
              <a:srgbClr val="333333"/>
            </a:solidFill>
            <a:prstDash val="solid"/>
          </a:ln>
        </p:spPr>
        <p:txBody>
          <a:bodyPr>
            <a:normAutofit/>
          </a:bodyPr>
          <a:p/>
        </p:txBody>
      </p:sp>
      <p:sp>
        <p:nvSpPr>
          <p:cNvPr id="10" name="Text 8"/>
          <p:cNvSpPr/>
          <p:nvPr/>
        </p:nvSpPr>
        <p:spPr>
          <a:xfrm>
            <a:off x="658368" y="2816352"/>
            <a:ext cx="10872216" cy="457200"/>
          </a:xfrm>
          <a:prstGeom prst="rect">
            <a:avLst/>
          </a:prstGeom>
          <a:noFill/>
          <a:ln/>
        </p:spPr>
        <p:txBody>
          <a:bodyPr wrap="square" lIns="0" tIns="0" rIns="0" bIns="0" rtlCol="0" anchor="t">
            <a:normAutofit/>
          </a:bodyPr>
          <a:lstStyle/>
          <a:p>
            <a:pPr indent="0" marL="0">
              <a:buNone/>
            </a:pPr>
            <a:r>
              <a:rPr lang="en-US" sz="2100" dirty="0">
                <a:solidFill>
                  <a:srgbClr val="0F2347"/>
                </a:solidFill>
                <a:latin typeface="DM Sans" pitchFamily="34" charset="0"/>
                <a:ea typeface="DM Sans" pitchFamily="34" charset="-122"/>
                <a:cs typeface="DM Sans" pitchFamily="34" charset="-120"/>
              </a:rPr>
              <a:t>The hidden cost</a:t>
            </a:r>
            <a:endParaRPr lang="en-US" sz="2100" dirty="0"/>
          </a:p>
        </p:txBody>
      </p:sp>
      <p:sp>
        <p:nvSpPr>
          <p:cNvPr id="11" name="Shape 9"/>
          <p:cNvSpPr/>
          <p:nvPr/>
        </p:nvSpPr>
        <p:spPr>
          <a:xfrm>
            <a:off x="658368" y="3328416"/>
            <a:ext cx="10872216" cy="7315"/>
          </a:xfrm>
          <a:prstGeom prst="rect">
            <a:avLst/>
          </a:prstGeom>
          <a:solidFill>
            <a:srgbClr val="E8DFCC"/>
          </a:solidFill>
          <a:ln w="12700">
            <a:solidFill>
              <a:srgbClr val="333333"/>
            </a:solidFill>
            <a:prstDash val="solid"/>
          </a:ln>
        </p:spPr>
        <p:txBody>
          <a:bodyPr>
            <a:normAutofit/>
          </a:bodyPr>
          <a:p/>
        </p:txBody>
      </p:sp>
      <p:sp>
        <p:nvSpPr>
          <p:cNvPr id="12" name="Text 10"/>
          <p:cNvSpPr/>
          <p:nvPr/>
        </p:nvSpPr>
        <p:spPr>
          <a:xfrm>
            <a:off x="658368" y="3602736"/>
            <a:ext cx="10872216" cy="457200"/>
          </a:xfrm>
          <a:prstGeom prst="rect">
            <a:avLst/>
          </a:prstGeom>
          <a:noFill/>
          <a:ln/>
        </p:spPr>
        <p:txBody>
          <a:bodyPr wrap="square" lIns="0" tIns="0" rIns="0" bIns="0" rtlCol="0" anchor="t">
            <a:normAutofit/>
          </a:bodyPr>
          <a:lstStyle/>
          <a:p>
            <a:pPr indent="0" marL="0">
              <a:buNone/>
            </a:pPr>
            <a:r>
              <a:rPr lang="en-US" sz="2100" dirty="0">
                <a:solidFill>
                  <a:srgbClr val="0F2347"/>
                </a:solidFill>
                <a:latin typeface="DM Sans" pitchFamily="34" charset="0"/>
                <a:ea typeface="DM Sans" pitchFamily="34" charset="-122"/>
                <a:cs typeface="DM Sans" pitchFamily="34" charset="-120"/>
              </a:rPr>
              <a:t>The cost of waiting</a:t>
            </a:r>
            <a:endParaRPr lang="en-US" sz="2100" dirty="0"/>
          </a:p>
        </p:txBody>
      </p:sp>
      <p:sp>
        <p:nvSpPr>
          <p:cNvPr id="13" name="Shape 11"/>
          <p:cNvSpPr/>
          <p:nvPr/>
        </p:nvSpPr>
        <p:spPr>
          <a:xfrm>
            <a:off x="658368" y="4114800"/>
            <a:ext cx="10872216" cy="7315"/>
          </a:xfrm>
          <a:prstGeom prst="rect">
            <a:avLst/>
          </a:prstGeom>
          <a:solidFill>
            <a:srgbClr val="E8DFCC"/>
          </a:solidFill>
          <a:ln w="12700">
            <a:solidFill>
              <a:srgbClr val="333333"/>
            </a:solidFill>
            <a:prstDash val="solid"/>
          </a:ln>
        </p:spPr>
        <p:txBody>
          <a:bodyPr>
            <a:normAutofit/>
          </a:bodyPr>
          <a:p/>
        </p:txBody>
      </p:sp>
      <p:sp>
        <p:nvSpPr>
          <p:cNvPr id="14" name="Text 12"/>
          <p:cNvSpPr/>
          <p:nvPr/>
        </p:nvSpPr>
        <p:spPr>
          <a:xfrm>
            <a:off x="658368" y="4389120"/>
            <a:ext cx="10872216" cy="457200"/>
          </a:xfrm>
          <a:prstGeom prst="rect">
            <a:avLst/>
          </a:prstGeom>
          <a:noFill/>
          <a:ln/>
        </p:spPr>
        <p:txBody>
          <a:bodyPr wrap="square" lIns="0" tIns="0" rIns="0" bIns="0" rtlCol="0" anchor="t">
            <a:normAutofit/>
          </a:bodyPr>
          <a:lstStyle/>
          <a:p>
            <a:pPr indent="0" marL="0">
              <a:buNone/>
            </a:pPr>
            <a:r>
              <a:rPr lang="en-US" sz="2100" dirty="0">
                <a:solidFill>
                  <a:srgbClr val="0F2347"/>
                </a:solidFill>
                <a:latin typeface="DM Sans" pitchFamily="34" charset="0"/>
                <a:ea typeface="DM Sans" pitchFamily="34" charset="-122"/>
                <a:cs typeface="DM Sans" pitchFamily="34" charset="-120"/>
              </a:rPr>
              <a:t>The false reassurance that keeps me here</a:t>
            </a:r>
            <a:endParaRPr lang="en-US" sz="2100" dirty="0"/>
          </a:p>
        </p:txBody>
      </p:sp>
      <p:sp>
        <p:nvSpPr>
          <p:cNvPr id="15" name="Shape 13"/>
          <p:cNvSpPr/>
          <p:nvPr/>
        </p:nvSpPr>
        <p:spPr>
          <a:xfrm>
            <a:off x="658368" y="4901184"/>
            <a:ext cx="10872216" cy="7315"/>
          </a:xfrm>
          <a:prstGeom prst="rect">
            <a:avLst/>
          </a:prstGeom>
          <a:solidFill>
            <a:srgbClr val="E8DFCC"/>
          </a:solidFill>
          <a:ln w="12700">
            <a:solidFill>
              <a:srgbClr val="333333"/>
            </a:solidFill>
            <a:prstDash val="solid"/>
          </a:ln>
        </p:spPr>
        <p:txBody>
          <a:bodyPr>
            <a:normAutofit/>
          </a:bodyPr>
          <a:p/>
        </p:txBody>
      </p:sp>
      <p:sp>
        <p:nvSpPr>
          <p:cNvPr id="16" name="Shape 14"/>
          <p:cNvSpPr/>
          <p:nvPr/>
        </p:nvSpPr>
        <p:spPr>
          <a:xfrm>
            <a:off x="658368" y="5358384"/>
            <a:ext cx="10872216" cy="10973"/>
          </a:xfrm>
          <a:prstGeom prst="rect">
            <a:avLst/>
          </a:prstGeom>
          <a:solidFill>
            <a:srgbClr val="E8DFCC"/>
          </a:solidFill>
          <a:ln w="12700">
            <a:solidFill>
              <a:srgbClr val="333333"/>
            </a:solidFill>
            <a:prstDash val="solid"/>
          </a:ln>
        </p:spPr>
        <p:txBody>
          <a:bodyPr>
            <a:normAutofit/>
          </a:bodyPr>
          <a:p/>
        </p:txBody>
      </p:sp>
      <p:sp>
        <p:nvSpPr>
          <p:cNvPr id="17" name="Text 15"/>
          <p:cNvSpPr/>
          <p:nvPr/>
        </p:nvSpPr>
        <p:spPr>
          <a:xfrm>
            <a:off x="658368" y="5504688"/>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What one more quarter in this state takes from me, in one line. Standing still becomes a condition you can evaluate deliberately.</a:t>
            </a:r>
            <a:endParaRPr lang="en-US" sz="16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4">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35</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MOVE CATEGORIES</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Seven categories of move</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Direction, not a plan. Your evidence helps you choose which category to test. Workbook page 21.</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93392"/>
            <a:ext cx="5294376" cy="329184"/>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Remain and deepen</a:t>
            </a:r>
            <a:endParaRPr lang="en-US" sz="2000" dirty="0"/>
          </a:p>
        </p:txBody>
      </p:sp>
      <p:sp>
        <p:nvSpPr>
          <p:cNvPr id="9" name="Text 7"/>
          <p:cNvSpPr/>
          <p:nvPr/>
        </p:nvSpPr>
        <p:spPr>
          <a:xfrm>
            <a:off x="658368" y="2359152"/>
            <a:ext cx="5294376" cy="475488"/>
          </a:xfrm>
          <a:prstGeom prst="rect">
            <a:avLst/>
          </a:prstGeom>
          <a:noFill/>
          <a:ln/>
        </p:spPr>
        <p:txBody>
          <a:bodyPr wrap="square" lIns="0" tIns="0" rIns="0" bIns="0" rtlCol="0" anchor="t">
            <a:normAutofit/>
          </a:bodyPr>
          <a:lstStyle/>
          <a:p>
            <a:pPr indent="0" marL="0">
              <a:lnSpc>
                <a:spcPct val="110000"/>
              </a:lnSpc>
              <a:buNone/>
            </a:pPr>
            <a:r>
              <a:rPr lang="en-US" sz="1600" dirty="0">
                <a:solidFill>
                  <a:srgbClr val="0F2347"/>
                </a:solidFill>
                <a:latin typeface="DM Sans" pitchFamily="34" charset="0"/>
                <a:ea typeface="DM Sans" pitchFamily="34" charset="-122"/>
                <a:cs typeface="DM Sans" pitchFamily="34" charset="-120"/>
              </a:rPr>
              <a:t>The formation conditions are real and worth protecting.</a:t>
            </a:r>
            <a:endParaRPr lang="en-US" sz="1600" dirty="0"/>
          </a:p>
        </p:txBody>
      </p:sp>
      <p:sp>
        <p:nvSpPr>
          <p:cNvPr id="10" name="Text 8"/>
          <p:cNvSpPr/>
          <p:nvPr/>
        </p:nvSpPr>
        <p:spPr>
          <a:xfrm>
            <a:off x="658368" y="2926080"/>
            <a:ext cx="5294376" cy="329184"/>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Translate what is built</a:t>
            </a:r>
            <a:endParaRPr lang="en-US" sz="2000" dirty="0"/>
          </a:p>
        </p:txBody>
      </p:sp>
      <p:sp>
        <p:nvSpPr>
          <p:cNvPr id="11" name="Text 9"/>
          <p:cNvSpPr/>
          <p:nvPr/>
        </p:nvSpPr>
        <p:spPr>
          <a:xfrm>
            <a:off x="658368" y="3291840"/>
            <a:ext cx="5294376" cy="475488"/>
          </a:xfrm>
          <a:prstGeom prst="rect">
            <a:avLst/>
          </a:prstGeom>
          <a:noFill/>
          <a:ln/>
        </p:spPr>
        <p:txBody>
          <a:bodyPr wrap="square" lIns="0" tIns="0" rIns="0" bIns="0" rtlCol="0" anchor="t">
            <a:normAutofit/>
          </a:bodyPr>
          <a:lstStyle/>
          <a:p>
            <a:pPr indent="0" marL="0">
              <a:lnSpc>
                <a:spcPct val="110000"/>
              </a:lnSpc>
              <a:buNone/>
            </a:pPr>
            <a:r>
              <a:rPr lang="en-US" sz="1600" dirty="0">
                <a:solidFill>
                  <a:srgbClr val="0F2347"/>
                </a:solidFill>
                <a:latin typeface="DM Sans" pitchFamily="34" charset="0"/>
                <a:ea typeface="DM Sans" pitchFamily="34" charset="-122"/>
                <a:cs typeface="DM Sans" pitchFamily="34" charset="-120"/>
              </a:rPr>
              <a:t>The capability exists. The language for it does not.</a:t>
            </a:r>
            <a:endParaRPr lang="en-US" sz="1600" dirty="0"/>
          </a:p>
        </p:txBody>
      </p:sp>
      <p:sp>
        <p:nvSpPr>
          <p:cNvPr id="12" name="Text 10"/>
          <p:cNvSpPr/>
          <p:nvPr/>
        </p:nvSpPr>
        <p:spPr>
          <a:xfrm>
            <a:off x="658368" y="3858768"/>
            <a:ext cx="5294376" cy="329184"/>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Widen exposure</a:t>
            </a:r>
            <a:endParaRPr lang="en-US" sz="2000" dirty="0"/>
          </a:p>
        </p:txBody>
      </p:sp>
      <p:sp>
        <p:nvSpPr>
          <p:cNvPr id="13" name="Text 11"/>
          <p:cNvSpPr/>
          <p:nvPr/>
        </p:nvSpPr>
        <p:spPr>
          <a:xfrm>
            <a:off x="658368" y="4224528"/>
            <a:ext cx="5294376" cy="475488"/>
          </a:xfrm>
          <a:prstGeom prst="rect">
            <a:avLst/>
          </a:prstGeom>
          <a:noFill/>
          <a:ln/>
        </p:spPr>
        <p:txBody>
          <a:bodyPr wrap="square" lIns="0" tIns="0" rIns="0" bIns="0" rtlCol="0" anchor="t">
            <a:normAutofit/>
          </a:bodyPr>
          <a:lstStyle/>
          <a:p>
            <a:pPr indent="0" marL="0">
              <a:lnSpc>
                <a:spcPct val="110000"/>
              </a:lnSpc>
              <a:buNone/>
            </a:pPr>
            <a:r>
              <a:rPr lang="en-US" sz="1600" dirty="0">
                <a:solidFill>
                  <a:srgbClr val="0F2347"/>
                </a:solidFill>
                <a:latin typeface="DM Sans" pitchFamily="34" charset="0"/>
                <a:ea typeface="DM Sans" pitchFamily="34" charset="-122"/>
                <a:cs typeface="DM Sans" pitchFamily="34" charset="-120"/>
              </a:rPr>
              <a:t>The work is good and the wrong people have seen it.</a:t>
            </a:r>
            <a:endParaRPr lang="en-US" sz="1600" dirty="0"/>
          </a:p>
        </p:txBody>
      </p:sp>
      <p:sp>
        <p:nvSpPr>
          <p:cNvPr id="14" name="Text 12"/>
          <p:cNvSpPr/>
          <p:nvPr/>
        </p:nvSpPr>
        <p:spPr>
          <a:xfrm>
            <a:off x="658368" y="4791456"/>
            <a:ext cx="5294376" cy="329184"/>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Test portability</a:t>
            </a:r>
            <a:endParaRPr lang="en-US" sz="2000" dirty="0"/>
          </a:p>
        </p:txBody>
      </p:sp>
      <p:sp>
        <p:nvSpPr>
          <p:cNvPr id="15" name="Text 13"/>
          <p:cNvSpPr/>
          <p:nvPr/>
        </p:nvSpPr>
        <p:spPr>
          <a:xfrm>
            <a:off x="658368" y="5157216"/>
            <a:ext cx="5294376" cy="475488"/>
          </a:xfrm>
          <a:prstGeom prst="rect">
            <a:avLst/>
          </a:prstGeom>
          <a:noFill/>
          <a:ln/>
        </p:spPr>
        <p:txBody>
          <a:bodyPr wrap="square" lIns="0" tIns="0" rIns="0" bIns="0" rtlCol="0" anchor="t">
            <a:normAutofit/>
          </a:bodyPr>
          <a:lstStyle/>
          <a:p>
            <a:pPr indent="0" marL="0">
              <a:lnSpc>
                <a:spcPct val="110000"/>
              </a:lnSpc>
              <a:buNone/>
            </a:pPr>
            <a:r>
              <a:rPr lang="en-US" sz="1600" dirty="0">
                <a:solidFill>
                  <a:srgbClr val="0F2347"/>
                </a:solidFill>
                <a:latin typeface="DM Sans" pitchFamily="34" charset="0"/>
                <a:ea typeface="DM Sans" pitchFamily="34" charset="-122"/>
                <a:cs typeface="DM Sans" pitchFamily="34" charset="-120"/>
              </a:rPr>
              <a:t>Find out what travels before you need it to.</a:t>
            </a:r>
            <a:endParaRPr lang="en-US" sz="1600" dirty="0"/>
          </a:p>
        </p:txBody>
      </p:sp>
      <p:sp>
        <p:nvSpPr>
          <p:cNvPr id="16" name="Text 14"/>
          <p:cNvSpPr/>
          <p:nvPr/>
        </p:nvSpPr>
        <p:spPr>
          <a:xfrm>
            <a:off x="6236208" y="1993392"/>
            <a:ext cx="5294376" cy="329184"/>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Repair formation conditions</a:t>
            </a:r>
            <a:endParaRPr lang="en-US" sz="2000" dirty="0"/>
          </a:p>
        </p:txBody>
      </p:sp>
      <p:sp>
        <p:nvSpPr>
          <p:cNvPr id="17" name="Text 15"/>
          <p:cNvSpPr/>
          <p:nvPr/>
        </p:nvSpPr>
        <p:spPr>
          <a:xfrm>
            <a:off x="6236208" y="2359152"/>
            <a:ext cx="5294376" cy="475488"/>
          </a:xfrm>
          <a:prstGeom prst="rect">
            <a:avLst/>
          </a:prstGeom>
          <a:noFill/>
          <a:ln/>
        </p:spPr>
        <p:txBody>
          <a:bodyPr wrap="square" lIns="0" tIns="0" rIns="0" bIns="0" rtlCol="0" anchor="t">
            <a:normAutofit/>
          </a:bodyPr>
          <a:lstStyle/>
          <a:p>
            <a:pPr indent="0" marL="0">
              <a:lnSpc>
                <a:spcPct val="110000"/>
              </a:lnSpc>
              <a:buNone/>
            </a:pPr>
            <a:r>
              <a:rPr lang="en-US" sz="1600" dirty="0">
                <a:solidFill>
                  <a:srgbClr val="0F2347"/>
                </a:solidFill>
                <a:latin typeface="DM Sans" pitchFamily="34" charset="0"/>
                <a:ea typeface="DM Sans" pitchFamily="34" charset="-122"/>
                <a:cs typeface="DM Sans" pitchFamily="34" charset="-120"/>
              </a:rPr>
              <a:t>Change the work, not the employer, first.</a:t>
            </a:r>
            <a:endParaRPr lang="en-US" sz="1600" dirty="0"/>
          </a:p>
        </p:txBody>
      </p:sp>
      <p:sp>
        <p:nvSpPr>
          <p:cNvPr id="18" name="Text 16"/>
          <p:cNvSpPr/>
          <p:nvPr/>
        </p:nvSpPr>
        <p:spPr>
          <a:xfrm>
            <a:off x="6236208" y="2926080"/>
            <a:ext cx="5294376" cy="329184"/>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Prepare for exit</a:t>
            </a:r>
            <a:endParaRPr lang="en-US" sz="2000" dirty="0"/>
          </a:p>
        </p:txBody>
      </p:sp>
      <p:sp>
        <p:nvSpPr>
          <p:cNvPr id="19" name="Text 17"/>
          <p:cNvSpPr/>
          <p:nvPr/>
        </p:nvSpPr>
        <p:spPr>
          <a:xfrm>
            <a:off x="6236208" y="3291840"/>
            <a:ext cx="5294376" cy="475488"/>
          </a:xfrm>
          <a:prstGeom prst="rect">
            <a:avLst/>
          </a:prstGeom>
          <a:noFill/>
          <a:ln/>
        </p:spPr>
        <p:txBody>
          <a:bodyPr wrap="square" lIns="0" tIns="0" rIns="0" bIns="0" rtlCol="0" anchor="t">
            <a:normAutofit/>
          </a:bodyPr>
          <a:lstStyle/>
          <a:p>
            <a:pPr indent="0" marL="0">
              <a:lnSpc>
                <a:spcPct val="110000"/>
              </a:lnSpc>
              <a:buNone/>
            </a:pPr>
            <a:r>
              <a:rPr lang="en-US" sz="1600" dirty="0">
                <a:solidFill>
                  <a:srgbClr val="0F2347"/>
                </a:solidFill>
                <a:latin typeface="DM Sans" pitchFamily="34" charset="0"/>
                <a:ea typeface="DM Sans" pitchFamily="34" charset="-122"/>
                <a:cs typeface="DM Sans" pitchFamily="34" charset="-120"/>
              </a:rPr>
              <a:t>Your evidence gives you reason to prepare in case the conditions do not repair.</a:t>
            </a:r>
            <a:endParaRPr lang="en-US" sz="1600" dirty="0"/>
          </a:p>
        </p:txBody>
      </p:sp>
      <p:sp>
        <p:nvSpPr>
          <p:cNvPr id="20" name="Text 18"/>
          <p:cNvSpPr/>
          <p:nvPr/>
        </p:nvSpPr>
        <p:spPr>
          <a:xfrm>
            <a:off x="6236208" y="3858768"/>
            <a:ext cx="5294376" cy="329184"/>
          </a:xfrm>
          <a:prstGeom prst="rect">
            <a:avLst/>
          </a:prstGeom>
          <a:noFill/>
          <a:ln/>
        </p:spPr>
        <p:txBody>
          <a:bodyPr wrap="square" lIns="0" tIns="0" rIns="0" bIns="0" rtlCol="0" anchor="t">
            <a:normAutofit/>
          </a:bodyPr>
          <a:lstStyle/>
          <a:p>
            <a:pPr indent="0" marL="0">
              <a:buNone/>
            </a:pPr>
            <a:r>
              <a:rPr lang="en-US" sz="2000" b="1" dirty="0">
                <a:solidFill>
                  <a:srgbClr val="0F2347"/>
                </a:solidFill>
                <a:latin typeface="DM Sans" pitchFamily="34" charset="0"/>
                <a:ea typeface="DM Sans" pitchFamily="34" charset="-122"/>
                <a:cs typeface="DM Sans" pitchFamily="34" charset="-120"/>
              </a:rPr>
              <a:t>Seek an external perspective</a:t>
            </a:r>
            <a:endParaRPr lang="en-US" sz="2000" dirty="0"/>
          </a:p>
        </p:txBody>
      </p:sp>
      <p:sp>
        <p:nvSpPr>
          <p:cNvPr id="21" name="Text 19"/>
          <p:cNvSpPr/>
          <p:nvPr/>
        </p:nvSpPr>
        <p:spPr>
          <a:xfrm>
            <a:off x="6236208" y="4224528"/>
            <a:ext cx="5294376" cy="475488"/>
          </a:xfrm>
          <a:prstGeom prst="rect">
            <a:avLst/>
          </a:prstGeom>
          <a:noFill/>
          <a:ln/>
        </p:spPr>
        <p:txBody>
          <a:bodyPr wrap="square" lIns="0" tIns="0" rIns="0" bIns="0" rtlCol="0" anchor="t">
            <a:normAutofit/>
          </a:bodyPr>
          <a:lstStyle/>
          <a:p>
            <a:pPr indent="0" marL="0">
              <a:lnSpc>
                <a:spcPct val="110000"/>
              </a:lnSpc>
              <a:buNone/>
            </a:pPr>
            <a:r>
              <a:rPr lang="en-US" sz="1600" dirty="0">
                <a:solidFill>
                  <a:srgbClr val="0F2347"/>
                </a:solidFill>
                <a:latin typeface="DM Sans" pitchFamily="34" charset="0"/>
                <a:ea typeface="DM Sans" pitchFamily="34" charset="-122"/>
                <a:cs typeface="DM Sans" pitchFamily="34" charset="-120"/>
              </a:rPr>
              <a:t>High stakes, incomplete evidence, or a boundary position.</a:t>
            </a:r>
            <a:endParaRPr lang="en-US" sz="1600" dirty="0"/>
          </a:p>
        </p:txBody>
      </p:sp>
      <p:sp>
        <p:nvSpPr>
          <p:cNvPr id="22" name="Shape 20"/>
          <p:cNvSpPr/>
          <p:nvPr/>
        </p:nvSpPr>
        <p:spPr>
          <a:xfrm>
            <a:off x="658368" y="5779008"/>
            <a:ext cx="10872216" cy="10973"/>
          </a:xfrm>
          <a:prstGeom prst="rect">
            <a:avLst/>
          </a:prstGeom>
          <a:solidFill>
            <a:srgbClr val="E8DFCC"/>
          </a:solidFill>
          <a:ln w="12700">
            <a:solidFill>
              <a:srgbClr val="333333"/>
            </a:solidFill>
            <a:prstDash val="solid"/>
          </a:ln>
        </p:spPr>
        <p:txBody>
          <a:bodyPr>
            <a:normAutofit/>
          </a:bodyPr>
          <a:p/>
        </p:txBody>
      </p:sp>
      <p:sp>
        <p:nvSpPr>
          <p:cNvPr id="23" name="Text 21"/>
          <p:cNvSpPr/>
          <p:nvPr/>
        </p:nvSpPr>
        <p:spPr>
          <a:xfrm>
            <a:off x="658368" y="5925312"/>
            <a:ext cx="10872216" cy="566928"/>
          </a:xfrm>
          <a:prstGeom prst="rect">
            <a:avLst/>
          </a:prstGeom>
          <a:noFill/>
          <a:ln/>
        </p:spPr>
        <p:txBody>
          <a:bodyPr wrap="square" lIns="0" tIns="0" rIns="0" bIns="0" rtlCol="0" anchor="t">
            <a:normAutofit/>
          </a:bodyPr>
          <a:lstStyle/>
          <a:p>
            <a:pPr indent="0" marL="0">
              <a:lnSpc>
                <a:spcPct val="115000"/>
              </a:lnSpc>
              <a:buNone/>
            </a:pPr>
            <a:r>
              <a:rPr lang="en-US" sz="1500" dirty="0">
                <a:solidFill>
                  <a:srgbClr val="0F2347"/>
                </a:solidFill>
                <a:latin typeface="DM Sans" pitchFamily="34" charset="0"/>
                <a:ea typeface="DM Sans" pitchFamily="34" charset="-122"/>
                <a:cs typeface="DM Sans" pitchFamily="34" charset="-120"/>
              </a:rPr>
              <a:t>No square prescribes a category. Your evidence and constraints still apply.</a:t>
            </a:r>
            <a:endParaRPr lang="en-US" sz="15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5">
    <p:bg>
      <p:bgPr>
        <a:solidFill>
          <a:srgbClr val="F5E8E1"/>
        </a:solidFill>
        <a:effectLst/>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36</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THE ARTIFACT</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The Next-Move Decision</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Ten lines on workbook page 22. These five carry the weight.</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2029968"/>
            <a:ext cx="640080" cy="457200"/>
          </a:xfrm>
          <a:prstGeom prst="rect">
            <a:avLst/>
          </a:prstGeom>
          <a:noFill/>
          <a:ln/>
        </p:spPr>
        <p:txBody>
          <a:bodyPr wrap="square" lIns="0" tIns="0" rIns="0" bIns="0" rtlCol="0" anchor="t">
            <a:normAutofit/>
          </a:bodyPr>
          <a:lstStyle/>
          <a:p>
            <a:pPr indent="0" marL="0">
              <a:buNone/>
            </a:pPr>
            <a:r>
              <a:rPr lang="en-US" sz="2600" dirty="0">
                <a:solidFill>
                  <a:srgbClr val="C9A84C"/>
                </a:solidFill>
                <a:latin typeface="Cormorant Garamond" pitchFamily="34" charset="0"/>
                <a:ea typeface="Cormorant Garamond" pitchFamily="34" charset="-122"/>
                <a:cs typeface="Cormorant Garamond" pitchFamily="34" charset="-120"/>
              </a:rPr>
              <a:t>06</a:t>
            </a:r>
            <a:endParaRPr lang="en-US" sz="2600" dirty="0"/>
          </a:p>
        </p:txBody>
      </p:sp>
      <p:sp>
        <p:nvSpPr>
          <p:cNvPr id="9" name="Text 7"/>
          <p:cNvSpPr/>
          <p:nvPr/>
        </p:nvSpPr>
        <p:spPr>
          <a:xfrm>
            <a:off x="1426464" y="2029968"/>
            <a:ext cx="10104120" cy="566928"/>
          </a:xfrm>
          <a:prstGeom prst="rect">
            <a:avLst/>
          </a:prstGeom>
          <a:noFill/>
          <a:ln/>
        </p:spPr>
        <p:txBody>
          <a:bodyPr wrap="square" lIns="0" tIns="0" rIns="0" bIns="0" rtlCol="0" anchor="t">
            <a:normAutofit/>
          </a:bodyPr>
          <a:lstStyle/>
          <a:p>
            <a:pPr indent="0" marL="0">
              <a:buNone/>
            </a:pPr>
            <a:r>
              <a:rPr lang="en-US" sz="2200" dirty="0">
                <a:solidFill>
                  <a:srgbClr val="0F2347"/>
                </a:solidFill>
                <a:latin typeface="DM Sans" pitchFamily="34" charset="0"/>
                <a:ea typeface="DM Sans" pitchFamily="34" charset="-122"/>
                <a:cs typeface="DM Sans" pitchFamily="34" charset="-120"/>
              </a:rPr>
              <a:t>The category of move my evidence supports testing is…</a:t>
            </a:r>
            <a:endParaRPr lang="en-US" sz="2200" dirty="0"/>
          </a:p>
        </p:txBody>
      </p:sp>
      <p:sp>
        <p:nvSpPr>
          <p:cNvPr id="10" name="Shape 8"/>
          <p:cNvSpPr/>
          <p:nvPr/>
        </p:nvSpPr>
        <p:spPr>
          <a:xfrm>
            <a:off x="1426464" y="2578608"/>
            <a:ext cx="10104120" cy="7315"/>
          </a:xfrm>
          <a:prstGeom prst="rect">
            <a:avLst/>
          </a:prstGeom>
          <a:solidFill>
            <a:srgbClr val="E8DFCC"/>
          </a:solidFill>
          <a:ln w="12700">
            <a:solidFill>
              <a:srgbClr val="333333"/>
            </a:solidFill>
            <a:prstDash val="solid"/>
          </a:ln>
        </p:spPr>
        <p:txBody>
          <a:bodyPr>
            <a:normAutofit/>
          </a:bodyPr>
          <a:p/>
        </p:txBody>
      </p:sp>
      <p:sp>
        <p:nvSpPr>
          <p:cNvPr id="11" name="Text 9"/>
          <p:cNvSpPr/>
          <p:nvPr/>
        </p:nvSpPr>
        <p:spPr>
          <a:xfrm>
            <a:off x="658368" y="2779776"/>
            <a:ext cx="640080" cy="457200"/>
          </a:xfrm>
          <a:prstGeom prst="rect">
            <a:avLst/>
          </a:prstGeom>
          <a:noFill/>
          <a:ln/>
        </p:spPr>
        <p:txBody>
          <a:bodyPr wrap="square" lIns="0" tIns="0" rIns="0" bIns="0" rtlCol="0" anchor="t">
            <a:normAutofit/>
          </a:bodyPr>
          <a:lstStyle/>
          <a:p>
            <a:pPr indent="0" marL="0">
              <a:buNone/>
            </a:pPr>
            <a:r>
              <a:rPr lang="en-US" sz="2600" dirty="0">
                <a:solidFill>
                  <a:srgbClr val="C9A84C"/>
                </a:solidFill>
                <a:latin typeface="Cormorant Garamond" pitchFamily="34" charset="0"/>
                <a:ea typeface="Cormorant Garamond" pitchFamily="34" charset="-122"/>
                <a:cs typeface="Cormorant Garamond" pitchFamily="34" charset="-120"/>
              </a:rPr>
              <a:t>07</a:t>
            </a:r>
            <a:endParaRPr lang="en-US" sz="2600" dirty="0"/>
          </a:p>
        </p:txBody>
      </p:sp>
      <p:sp>
        <p:nvSpPr>
          <p:cNvPr id="12" name="Text 10"/>
          <p:cNvSpPr/>
          <p:nvPr/>
        </p:nvSpPr>
        <p:spPr>
          <a:xfrm>
            <a:off x="1426464" y="2779776"/>
            <a:ext cx="10104120" cy="566928"/>
          </a:xfrm>
          <a:prstGeom prst="rect">
            <a:avLst/>
          </a:prstGeom>
          <a:noFill/>
          <a:ln/>
        </p:spPr>
        <p:txBody>
          <a:bodyPr wrap="square" lIns="0" tIns="0" rIns="0" bIns="0" rtlCol="0" anchor="t">
            <a:normAutofit/>
          </a:bodyPr>
          <a:lstStyle/>
          <a:p>
            <a:pPr indent="0" marL="0">
              <a:buNone/>
            </a:pPr>
            <a:r>
              <a:rPr lang="en-US" sz="2200" dirty="0">
                <a:solidFill>
                  <a:srgbClr val="0F2347"/>
                </a:solidFill>
                <a:latin typeface="DM Sans" pitchFamily="34" charset="0"/>
                <a:ea typeface="DM Sans" pitchFamily="34" charset="-122"/>
                <a:cs typeface="DM Sans" pitchFamily="34" charset="-120"/>
              </a:rPr>
              <a:t>The first action I will take, and by when, is…</a:t>
            </a:r>
            <a:endParaRPr lang="en-US" sz="2200" dirty="0"/>
          </a:p>
        </p:txBody>
      </p:sp>
      <p:sp>
        <p:nvSpPr>
          <p:cNvPr id="13" name="Shape 11"/>
          <p:cNvSpPr/>
          <p:nvPr/>
        </p:nvSpPr>
        <p:spPr>
          <a:xfrm>
            <a:off x="1426464" y="3328416"/>
            <a:ext cx="10104120" cy="7315"/>
          </a:xfrm>
          <a:prstGeom prst="rect">
            <a:avLst/>
          </a:prstGeom>
          <a:solidFill>
            <a:srgbClr val="E8DFCC"/>
          </a:solidFill>
          <a:ln w="12700">
            <a:solidFill>
              <a:srgbClr val="333333"/>
            </a:solidFill>
            <a:prstDash val="solid"/>
          </a:ln>
        </p:spPr>
        <p:txBody>
          <a:bodyPr>
            <a:normAutofit/>
          </a:bodyPr>
          <a:p/>
        </p:txBody>
      </p:sp>
      <p:sp>
        <p:nvSpPr>
          <p:cNvPr id="14" name="Text 12"/>
          <p:cNvSpPr/>
          <p:nvPr/>
        </p:nvSpPr>
        <p:spPr>
          <a:xfrm>
            <a:off x="658368" y="3529584"/>
            <a:ext cx="640080" cy="457200"/>
          </a:xfrm>
          <a:prstGeom prst="rect">
            <a:avLst/>
          </a:prstGeom>
          <a:noFill/>
          <a:ln/>
        </p:spPr>
        <p:txBody>
          <a:bodyPr wrap="square" lIns="0" tIns="0" rIns="0" bIns="0" rtlCol="0" anchor="t">
            <a:normAutofit/>
          </a:bodyPr>
          <a:lstStyle/>
          <a:p>
            <a:pPr indent="0" marL="0">
              <a:buNone/>
            </a:pPr>
            <a:r>
              <a:rPr lang="en-US" sz="2600" dirty="0">
                <a:solidFill>
                  <a:srgbClr val="C9A84C"/>
                </a:solidFill>
                <a:latin typeface="Cormorant Garamond" pitchFamily="34" charset="0"/>
                <a:ea typeface="Cormorant Garamond" pitchFamily="34" charset="-122"/>
                <a:cs typeface="Cormorant Garamond" pitchFamily="34" charset="-120"/>
              </a:rPr>
              <a:t>08</a:t>
            </a:r>
            <a:endParaRPr lang="en-US" sz="2600" dirty="0"/>
          </a:p>
        </p:txBody>
      </p:sp>
      <p:sp>
        <p:nvSpPr>
          <p:cNvPr id="15" name="Text 13"/>
          <p:cNvSpPr/>
          <p:nvPr/>
        </p:nvSpPr>
        <p:spPr>
          <a:xfrm>
            <a:off x="1426464" y="3529584"/>
            <a:ext cx="10104120" cy="566928"/>
          </a:xfrm>
          <a:prstGeom prst="rect">
            <a:avLst/>
          </a:prstGeom>
          <a:noFill/>
          <a:ln/>
        </p:spPr>
        <p:txBody>
          <a:bodyPr wrap="square" lIns="0" tIns="0" rIns="0" bIns="0" rtlCol="0" anchor="t">
            <a:normAutofit/>
          </a:bodyPr>
          <a:lstStyle/>
          <a:p>
            <a:pPr indent="0" marL="0">
              <a:buNone/>
            </a:pPr>
            <a:r>
              <a:rPr lang="en-US" sz="2200" dirty="0">
                <a:solidFill>
                  <a:srgbClr val="0F2347"/>
                </a:solidFill>
                <a:latin typeface="DM Sans" pitchFamily="34" charset="0"/>
                <a:ea typeface="DM Sans" pitchFamily="34" charset="-122"/>
                <a:cs typeface="DM Sans" pitchFamily="34" charset="-120"/>
              </a:rPr>
              <a:t>The person I will say this to, and by when, is…</a:t>
            </a:r>
            <a:endParaRPr lang="en-US" sz="2200" dirty="0"/>
          </a:p>
        </p:txBody>
      </p:sp>
      <p:sp>
        <p:nvSpPr>
          <p:cNvPr id="16" name="Shape 14"/>
          <p:cNvSpPr/>
          <p:nvPr/>
        </p:nvSpPr>
        <p:spPr>
          <a:xfrm>
            <a:off x="1426464" y="4078224"/>
            <a:ext cx="10104120" cy="7315"/>
          </a:xfrm>
          <a:prstGeom prst="rect">
            <a:avLst/>
          </a:prstGeom>
          <a:solidFill>
            <a:srgbClr val="E8DFCC"/>
          </a:solidFill>
          <a:ln w="12700">
            <a:solidFill>
              <a:srgbClr val="333333"/>
            </a:solidFill>
            <a:prstDash val="solid"/>
          </a:ln>
        </p:spPr>
        <p:txBody>
          <a:bodyPr>
            <a:normAutofit/>
          </a:bodyPr>
          <a:p/>
        </p:txBody>
      </p:sp>
      <p:sp>
        <p:nvSpPr>
          <p:cNvPr id="17" name="Text 15"/>
          <p:cNvSpPr/>
          <p:nvPr/>
        </p:nvSpPr>
        <p:spPr>
          <a:xfrm>
            <a:off x="658368" y="4279392"/>
            <a:ext cx="640080" cy="457200"/>
          </a:xfrm>
          <a:prstGeom prst="rect">
            <a:avLst/>
          </a:prstGeom>
          <a:noFill/>
          <a:ln/>
        </p:spPr>
        <p:txBody>
          <a:bodyPr wrap="square" lIns="0" tIns="0" rIns="0" bIns="0" rtlCol="0" anchor="t">
            <a:normAutofit/>
          </a:bodyPr>
          <a:lstStyle/>
          <a:p>
            <a:pPr indent="0" marL="0">
              <a:buNone/>
            </a:pPr>
            <a:r>
              <a:rPr lang="en-US" sz="2600" dirty="0">
                <a:solidFill>
                  <a:srgbClr val="C9A84C"/>
                </a:solidFill>
                <a:latin typeface="Cormorant Garamond" pitchFamily="34" charset="0"/>
                <a:ea typeface="Cormorant Garamond" pitchFamily="34" charset="-122"/>
                <a:cs typeface="Cormorant Garamond" pitchFamily="34" charset="-120"/>
              </a:rPr>
              <a:t>09</a:t>
            </a:r>
            <a:endParaRPr lang="en-US" sz="2600" dirty="0"/>
          </a:p>
        </p:txBody>
      </p:sp>
      <p:sp>
        <p:nvSpPr>
          <p:cNvPr id="18" name="Text 16"/>
          <p:cNvSpPr/>
          <p:nvPr/>
        </p:nvSpPr>
        <p:spPr>
          <a:xfrm>
            <a:off x="1426464" y="4279392"/>
            <a:ext cx="10104120" cy="566928"/>
          </a:xfrm>
          <a:prstGeom prst="rect">
            <a:avLst/>
          </a:prstGeom>
          <a:noFill/>
          <a:ln/>
        </p:spPr>
        <p:txBody>
          <a:bodyPr wrap="square" lIns="0" tIns="0" rIns="0" bIns="0" rtlCol="0" anchor="t">
            <a:normAutofit/>
          </a:bodyPr>
          <a:lstStyle/>
          <a:p>
            <a:pPr indent="0" marL="0">
              <a:buNone/>
            </a:pPr>
            <a:r>
              <a:rPr lang="en-US" sz="2200" dirty="0">
                <a:solidFill>
                  <a:srgbClr val="0F2347"/>
                </a:solidFill>
                <a:latin typeface="DM Sans" pitchFamily="34" charset="0"/>
                <a:ea typeface="DM Sans" pitchFamily="34" charset="-122"/>
                <a:cs typeface="DM Sans" pitchFamily="34" charset="-120"/>
              </a:rPr>
              <a:t>The evidence that would cause me to revise this decision is…</a:t>
            </a:r>
            <a:endParaRPr lang="en-US" sz="2200" dirty="0"/>
          </a:p>
        </p:txBody>
      </p:sp>
      <p:sp>
        <p:nvSpPr>
          <p:cNvPr id="19" name="Shape 17"/>
          <p:cNvSpPr/>
          <p:nvPr/>
        </p:nvSpPr>
        <p:spPr>
          <a:xfrm>
            <a:off x="1426464" y="4828032"/>
            <a:ext cx="10104120" cy="7315"/>
          </a:xfrm>
          <a:prstGeom prst="rect">
            <a:avLst/>
          </a:prstGeom>
          <a:solidFill>
            <a:srgbClr val="E8DFCC"/>
          </a:solidFill>
          <a:ln w="12700">
            <a:solidFill>
              <a:srgbClr val="333333"/>
            </a:solidFill>
            <a:prstDash val="solid"/>
          </a:ln>
        </p:spPr>
        <p:txBody>
          <a:bodyPr>
            <a:normAutofit/>
          </a:bodyPr>
          <a:p/>
        </p:txBody>
      </p:sp>
      <p:sp>
        <p:nvSpPr>
          <p:cNvPr id="20" name="Text 18"/>
          <p:cNvSpPr/>
          <p:nvPr/>
        </p:nvSpPr>
        <p:spPr>
          <a:xfrm>
            <a:off x="658368" y="5029200"/>
            <a:ext cx="640080" cy="457200"/>
          </a:xfrm>
          <a:prstGeom prst="rect">
            <a:avLst/>
          </a:prstGeom>
          <a:noFill/>
          <a:ln/>
        </p:spPr>
        <p:txBody>
          <a:bodyPr wrap="square" lIns="0" tIns="0" rIns="0" bIns="0" rtlCol="0" anchor="t">
            <a:normAutofit/>
          </a:bodyPr>
          <a:lstStyle/>
          <a:p>
            <a:pPr indent="0" marL="0">
              <a:buNone/>
            </a:pPr>
            <a:r>
              <a:rPr lang="en-US" sz="2600" dirty="0">
                <a:solidFill>
                  <a:srgbClr val="C9A84C"/>
                </a:solidFill>
                <a:latin typeface="Cormorant Garamond" pitchFamily="34" charset="0"/>
                <a:ea typeface="Cormorant Garamond" pitchFamily="34" charset="-122"/>
                <a:cs typeface="Cormorant Garamond" pitchFamily="34" charset="-120"/>
              </a:rPr>
              <a:t>10</a:t>
            </a:r>
            <a:endParaRPr lang="en-US" sz="2600" dirty="0"/>
          </a:p>
        </p:txBody>
      </p:sp>
      <p:sp>
        <p:nvSpPr>
          <p:cNvPr id="21" name="Text 19"/>
          <p:cNvSpPr/>
          <p:nvPr/>
        </p:nvSpPr>
        <p:spPr>
          <a:xfrm>
            <a:off x="1426464" y="5029200"/>
            <a:ext cx="10104120" cy="566928"/>
          </a:xfrm>
          <a:prstGeom prst="rect">
            <a:avLst/>
          </a:prstGeom>
          <a:noFill/>
          <a:ln/>
        </p:spPr>
        <p:txBody>
          <a:bodyPr wrap="square" lIns="0" tIns="0" rIns="0" bIns="0" rtlCol="0" anchor="t">
            <a:normAutofit/>
          </a:bodyPr>
          <a:lstStyle/>
          <a:p>
            <a:pPr indent="0" marL="0">
              <a:buNone/>
            </a:pPr>
            <a:r>
              <a:rPr lang="en-US" sz="2200" dirty="0">
                <a:solidFill>
                  <a:srgbClr val="0F2347"/>
                </a:solidFill>
                <a:latin typeface="DM Sans" pitchFamily="34" charset="0"/>
                <a:ea typeface="DM Sans" pitchFamily="34" charset="-122"/>
                <a:cs typeface="DM Sans" pitchFamily="34" charset="-120"/>
              </a:rPr>
              <a:t>The date I will rescore is…</a:t>
            </a:r>
            <a:endParaRPr lang="en-US" sz="2200" dirty="0"/>
          </a:p>
        </p:txBody>
      </p:sp>
      <p:sp>
        <p:nvSpPr>
          <p:cNvPr id="22" name="Shape 20"/>
          <p:cNvSpPr/>
          <p:nvPr/>
        </p:nvSpPr>
        <p:spPr>
          <a:xfrm>
            <a:off x="1426464" y="5577840"/>
            <a:ext cx="10104120" cy="7315"/>
          </a:xfrm>
          <a:prstGeom prst="rect">
            <a:avLst/>
          </a:prstGeom>
          <a:solidFill>
            <a:srgbClr val="E8DFCC"/>
          </a:solidFill>
          <a:ln w="12700">
            <a:solidFill>
              <a:srgbClr val="333333"/>
            </a:solidFill>
            <a:prstDash val="solid"/>
          </a:ln>
        </p:spPr>
        <p:txBody>
          <a:bodyPr>
            <a:normAutofit/>
          </a:bodyPr>
          <a:p/>
        </p:txBody>
      </p:sp>
      <p:sp>
        <p:nvSpPr>
          <p:cNvPr id="23" name="Shape 21"/>
          <p:cNvSpPr/>
          <p:nvPr/>
        </p:nvSpPr>
        <p:spPr>
          <a:xfrm>
            <a:off x="658368" y="5760720"/>
            <a:ext cx="10872216" cy="10973"/>
          </a:xfrm>
          <a:prstGeom prst="rect">
            <a:avLst/>
          </a:prstGeom>
          <a:solidFill>
            <a:srgbClr val="E8DFCC"/>
          </a:solidFill>
          <a:ln w="12700">
            <a:solidFill>
              <a:srgbClr val="333333"/>
            </a:solidFill>
            <a:prstDash val="solid"/>
          </a:ln>
        </p:spPr>
        <p:txBody>
          <a:bodyPr>
            <a:normAutofit/>
          </a:bodyPr>
          <a:p/>
        </p:txBody>
      </p:sp>
      <p:sp>
        <p:nvSpPr>
          <p:cNvPr id="24" name="Text 22"/>
          <p:cNvSpPr/>
          <p:nvPr/>
        </p:nvSpPr>
        <p:spPr>
          <a:xfrm>
            <a:off x="658368" y="5907024"/>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Lines 01 to 05 are in the workbook on page 22.</a:t>
            </a:r>
            <a:endParaRPr lang="en-US" sz="16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6">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A9B8D0"/>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A9B8D0"/>
                </a:solidFill>
                <a:latin typeface="DM Sans" pitchFamily="34" charset="0"/>
                <a:ea typeface="DM Sans" pitchFamily="34" charset="-122"/>
                <a:cs typeface="DM Sans" pitchFamily="34" charset="-120"/>
              </a:rPr>
              <a:t>37</a:t>
            </a:r>
            <a:endParaRPr lang="en-US" sz="900" dirty="0"/>
          </a:p>
        </p:txBody>
      </p:sp>
      <p:sp>
        <p:nvSpPr>
          <p:cNvPr id="4" name="Text 2"/>
          <p:cNvSpPr/>
          <p:nvPr/>
        </p:nvSpPr>
        <p:spPr>
          <a:xfrm>
            <a:off x="658368" y="2286000"/>
            <a:ext cx="10872216" cy="457200"/>
          </a:xfrm>
          <a:prstGeom prst="rect">
            <a:avLst/>
          </a:prstGeom>
          <a:noFill/>
          <a:ln/>
        </p:spPr>
        <p:txBody>
          <a:bodyPr wrap="square" lIns="0" tIns="0" rIns="0" bIns="0" rtlCol="0" anchor="ctr">
            <a:normAutofit/>
          </a:bodyPr>
          <a:lstStyle/>
          <a:p>
            <a:pPr indent="0" marL="0">
              <a:buNone/>
            </a:pPr>
            <a:r>
              <a:rPr lang="en-US" sz="1500" b="1" spc="300" kern="0" dirty="0">
                <a:solidFill>
                  <a:srgbClr val="C9A84C"/>
                </a:solidFill>
                <a:latin typeface="DM Sans" pitchFamily="34" charset="0"/>
                <a:ea typeface="DM Sans" pitchFamily="34" charset="-122"/>
                <a:cs typeface="DM Sans" pitchFamily="34" charset="-120"/>
              </a:rPr>
              <a:t>EIGHT MINUTES, SILENT</a:t>
            </a:r>
            <a:endParaRPr lang="en-US" sz="1500" dirty="0"/>
          </a:p>
        </p:txBody>
      </p:sp>
      <p:sp>
        <p:nvSpPr>
          <p:cNvPr id="5" name="Text 3"/>
          <p:cNvSpPr/>
          <p:nvPr/>
        </p:nvSpPr>
        <p:spPr>
          <a:xfrm>
            <a:off x="658368" y="2743200"/>
            <a:ext cx="10872216" cy="1051560"/>
          </a:xfrm>
          <a:prstGeom prst="rect">
            <a:avLst/>
          </a:prstGeom>
          <a:noFill/>
          <a:ln/>
        </p:spPr>
        <p:txBody>
          <a:bodyPr wrap="square" lIns="0" tIns="0" rIns="0" bIns="0" rtlCol="0" anchor="t">
            <a:normAutofit/>
          </a:bodyPr>
          <a:lstStyle/>
          <a:p>
            <a:pPr indent="0" marL="0">
              <a:buNone/>
            </a:pPr>
            <a:r>
              <a:rPr lang="en-US" sz="6000" dirty="0">
                <a:solidFill>
                  <a:srgbClr val="FFFFFF"/>
                </a:solidFill>
                <a:latin typeface="Cormorant Garamond" pitchFamily="34" charset="0"/>
                <a:ea typeface="Cormorant Garamond" pitchFamily="34" charset="-122"/>
                <a:cs typeface="Cormorant Garamond" pitchFamily="34" charset="-120"/>
              </a:rPr>
              <a:t>Working session</a:t>
            </a:r>
            <a:endParaRPr lang="en-US" sz="6000" dirty="0"/>
          </a:p>
        </p:txBody>
      </p:sp>
      <p:sp>
        <p:nvSpPr>
          <p:cNvPr id="6" name="Text 4"/>
          <p:cNvSpPr/>
          <p:nvPr/>
        </p:nvSpPr>
        <p:spPr>
          <a:xfrm>
            <a:off x="658368" y="3968496"/>
            <a:ext cx="8778240" cy="73152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A9B8D0"/>
                </a:solidFill>
                <a:latin typeface="DM Sans" pitchFamily="34" charset="0"/>
                <a:ea typeface="DM Sans" pitchFamily="34" charset="-122"/>
                <a:cs typeface="DM Sans" pitchFamily="34" charset="-120"/>
              </a:rPr>
              <a:t>Nobody talks, including me. Step away from the screen if that helps. You get a two-minute warning.</a:t>
            </a:r>
            <a:endParaRPr lang="en-US" sz="2000" dirty="0"/>
          </a:p>
        </p:txBody>
      </p:sp>
      <p:sp>
        <p:nvSpPr>
          <p:cNvPr id="7" name="Mark2x2"/>
          <p:cNvSpPr/>
          <p:nvPr/>
        </p:nvSpPr>
        <p:spPr>
          <a:xfrm>
            <a:off x="11384280" y="310896"/>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Mark2x2"/>
          <p:cNvSpPr/>
          <p:nvPr/>
        </p:nvSpPr>
        <p:spPr>
          <a:xfrm>
            <a:off x="11603736" y="310896"/>
            <a:ext cx="173736" cy="173736"/>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ark2x2"/>
          <p:cNvSpPr/>
          <p:nvPr/>
        </p:nvSpPr>
        <p:spPr>
          <a:xfrm>
            <a:off x="11384280" y="530352"/>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Mark2x2"/>
          <p:cNvSpPr/>
          <p:nvPr/>
        </p:nvSpPr>
        <p:spPr>
          <a:xfrm>
            <a:off x="11603736" y="530352"/>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7">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38</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VOLUNTARY READS</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Two or three of you, out loud</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Lines 6, 7 and 8 only. No scores, no employer names, no third-party names.</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2103120"/>
            <a:ext cx="10872216" cy="640080"/>
          </a:xfrm>
          <a:prstGeom prst="rect">
            <a:avLst/>
          </a:prstGeom>
          <a:noFill/>
          <a:ln/>
        </p:spPr>
        <p:txBody>
          <a:bodyPr wrap="square" lIns="0" tIns="0" rIns="0" bIns="0" rtlCol="0" anchor="t">
            <a:normAutofit/>
          </a:bodyPr>
          <a:lstStyle/>
          <a:p>
            <a:pPr indent="0" marL="0">
              <a:buNone/>
            </a:pPr>
            <a:r>
              <a:rPr lang="en-US" sz="2200" dirty="0">
                <a:solidFill>
                  <a:srgbClr val="0F2347"/>
                </a:solidFill>
                <a:latin typeface="DM Sans" pitchFamily="34" charset="0"/>
                <a:ea typeface="DM Sans" pitchFamily="34" charset="-122"/>
                <a:cs typeface="DM Sans" pitchFamily="34" charset="-120"/>
              </a:rPr>
              <a:t>The category of move my evidence supports testing is…</a:t>
            </a:r>
            <a:endParaRPr lang="en-US" sz="2200" dirty="0"/>
          </a:p>
        </p:txBody>
      </p:sp>
      <p:sp>
        <p:nvSpPr>
          <p:cNvPr id="9" name="Shape 7"/>
          <p:cNvSpPr/>
          <p:nvPr/>
        </p:nvSpPr>
        <p:spPr>
          <a:xfrm>
            <a:off x="658368" y="2706624"/>
            <a:ext cx="10872216" cy="7315"/>
          </a:xfrm>
          <a:prstGeom prst="rect">
            <a:avLst/>
          </a:prstGeom>
          <a:solidFill>
            <a:srgbClr val="E8DFCC"/>
          </a:solidFill>
          <a:ln w="12700">
            <a:solidFill>
              <a:srgbClr val="333333"/>
            </a:solidFill>
            <a:prstDash val="solid"/>
          </a:ln>
        </p:spPr>
        <p:txBody>
          <a:bodyPr>
            <a:normAutofit/>
          </a:bodyPr>
          <a:p/>
        </p:txBody>
      </p:sp>
      <p:sp>
        <p:nvSpPr>
          <p:cNvPr id="10" name="Text 8"/>
          <p:cNvSpPr/>
          <p:nvPr/>
        </p:nvSpPr>
        <p:spPr>
          <a:xfrm>
            <a:off x="658368" y="3017520"/>
            <a:ext cx="10872216" cy="640080"/>
          </a:xfrm>
          <a:prstGeom prst="rect">
            <a:avLst/>
          </a:prstGeom>
          <a:noFill/>
          <a:ln/>
        </p:spPr>
        <p:txBody>
          <a:bodyPr wrap="square" lIns="0" tIns="0" rIns="0" bIns="0" rtlCol="0" anchor="t">
            <a:normAutofit/>
          </a:bodyPr>
          <a:lstStyle/>
          <a:p>
            <a:pPr indent="0" marL="0">
              <a:buNone/>
            </a:pPr>
            <a:r>
              <a:rPr lang="en-US" sz="2200" dirty="0">
                <a:solidFill>
                  <a:srgbClr val="0F2347"/>
                </a:solidFill>
                <a:latin typeface="DM Sans" pitchFamily="34" charset="0"/>
                <a:ea typeface="DM Sans" pitchFamily="34" charset="-122"/>
                <a:cs typeface="DM Sans" pitchFamily="34" charset="-120"/>
              </a:rPr>
              <a:t>The first action I will take, and by when, is…</a:t>
            </a:r>
            <a:endParaRPr lang="en-US" sz="2200" dirty="0"/>
          </a:p>
        </p:txBody>
      </p:sp>
      <p:sp>
        <p:nvSpPr>
          <p:cNvPr id="11" name="Shape 9"/>
          <p:cNvSpPr/>
          <p:nvPr/>
        </p:nvSpPr>
        <p:spPr>
          <a:xfrm>
            <a:off x="658368" y="3621024"/>
            <a:ext cx="10872216" cy="7315"/>
          </a:xfrm>
          <a:prstGeom prst="rect">
            <a:avLst/>
          </a:prstGeom>
          <a:solidFill>
            <a:srgbClr val="E8DFCC"/>
          </a:solidFill>
          <a:ln w="12700">
            <a:solidFill>
              <a:srgbClr val="333333"/>
            </a:solidFill>
            <a:prstDash val="solid"/>
          </a:ln>
        </p:spPr>
        <p:txBody>
          <a:bodyPr>
            <a:normAutofit/>
          </a:bodyPr>
          <a:p/>
        </p:txBody>
      </p:sp>
      <p:sp>
        <p:nvSpPr>
          <p:cNvPr id="12" name="Text 10"/>
          <p:cNvSpPr/>
          <p:nvPr/>
        </p:nvSpPr>
        <p:spPr>
          <a:xfrm>
            <a:off x="658368" y="3931920"/>
            <a:ext cx="10872216" cy="640080"/>
          </a:xfrm>
          <a:prstGeom prst="rect">
            <a:avLst/>
          </a:prstGeom>
          <a:noFill/>
          <a:ln/>
        </p:spPr>
        <p:txBody>
          <a:bodyPr wrap="square" lIns="0" tIns="0" rIns="0" bIns="0" rtlCol="0" anchor="t">
            <a:normAutofit/>
          </a:bodyPr>
          <a:lstStyle/>
          <a:p>
            <a:pPr indent="0" marL="0">
              <a:buNone/>
            </a:pPr>
            <a:r>
              <a:rPr lang="en-US" sz="2200" dirty="0">
                <a:solidFill>
                  <a:srgbClr val="0F2347"/>
                </a:solidFill>
                <a:latin typeface="DM Sans" pitchFamily="34" charset="0"/>
                <a:ea typeface="DM Sans" pitchFamily="34" charset="-122"/>
                <a:cs typeface="DM Sans" pitchFamily="34" charset="-120"/>
              </a:rPr>
              <a:t>The person I will say this to, and by when, is…</a:t>
            </a:r>
            <a:endParaRPr lang="en-US" sz="2200" dirty="0"/>
          </a:p>
        </p:txBody>
      </p:sp>
      <p:sp>
        <p:nvSpPr>
          <p:cNvPr id="13" name="Shape 11"/>
          <p:cNvSpPr/>
          <p:nvPr/>
        </p:nvSpPr>
        <p:spPr>
          <a:xfrm>
            <a:off x="658368" y="4535424"/>
            <a:ext cx="10872216" cy="7315"/>
          </a:xfrm>
          <a:prstGeom prst="rect">
            <a:avLst/>
          </a:prstGeom>
          <a:solidFill>
            <a:srgbClr val="E8DFCC"/>
          </a:solidFill>
          <a:ln w="12700">
            <a:solidFill>
              <a:srgbClr val="333333"/>
            </a:solidFill>
            <a:prstDash val="solid"/>
          </a:ln>
        </p:spPr>
        <p:txBody>
          <a:bodyPr>
            <a:normAutofit/>
          </a:bodyPr>
          <a:p/>
        </p:txBody>
      </p:sp>
      <p:sp>
        <p:nvSpPr>
          <p:cNvPr id="14" name="Text 12"/>
          <p:cNvSpPr/>
          <p:nvPr/>
        </p:nvSpPr>
        <p:spPr>
          <a:xfrm>
            <a:off x="658368" y="4718304"/>
            <a:ext cx="10872216" cy="438912"/>
          </a:xfrm>
          <a:prstGeom prst="rect">
            <a:avLst/>
          </a:prstGeom>
          <a:noFill/>
          <a:ln/>
        </p:spPr>
        <p:txBody>
          <a:bodyPr wrap="square" lIns="0" tIns="0" rIns="0" bIns="0" rtlCol="0" anchor="t">
            <a:normAutofit/>
          </a:bodyPr>
          <a:lstStyle/>
          <a:p>
            <a:pPr indent="0" marL="0">
              <a:lnSpc>
                <a:spcPct val="120000"/>
              </a:lnSpc>
              <a:buNone/>
            </a:pPr>
            <a:r>
              <a:rPr lang="en-US" sz="2000" b="1" dirty="0">
                <a:solidFill>
                  <a:srgbClr val="0F2347"/>
                </a:solidFill>
                <a:latin typeface="DM Sans" pitchFamily="34" charset="0"/>
                <a:ea typeface="DM Sans" pitchFamily="34" charset="-122"/>
                <a:cs typeface="DM Sans" pitchFamily="34" charset="-120"/>
              </a:rPr>
              <a:t>You are reading a decision, not asking for approval of it.</a:t>
            </a:r>
            <a:endParaRPr lang="en-US" sz="2000" dirty="0"/>
          </a:p>
        </p:txBody>
      </p:sp>
      <p:sp>
        <p:nvSpPr>
          <p:cNvPr id="15" name="Text 13"/>
          <p:cNvSpPr/>
          <p:nvPr/>
        </p:nvSpPr>
        <p:spPr>
          <a:xfrm>
            <a:off x="658368" y="5193792"/>
            <a:ext cx="10872216" cy="438912"/>
          </a:xfrm>
          <a:prstGeom prst="rect">
            <a:avLst/>
          </a:prstGeom>
          <a:noFill/>
          <a:ln/>
        </p:spPr>
        <p:txBody>
          <a:bodyPr wrap="square" lIns="0" tIns="0" rIns="0" bIns="0" rtlCol="0" anchor="t">
            <a:normAutofit/>
          </a:bodyPr>
          <a:lstStyle/>
          <a:p>
            <a:pPr indent="0" marL="0">
              <a:lnSpc>
                <a:spcPct val="120000"/>
              </a:lnSpc>
              <a:buNone/>
            </a:pPr>
            <a:endParaRPr lang="en-US" sz="2000" dirty="0"/>
          </a:p>
        </p:txBody>
      </p:sp>
      <p:sp>
        <p:nvSpPr>
          <p:cNvPr id="16" name="Shape 14"/>
          <p:cNvSpPr/>
          <p:nvPr/>
        </p:nvSpPr>
        <p:spPr>
          <a:xfrm>
            <a:off x="658368" y="5724144"/>
            <a:ext cx="10872216" cy="10973"/>
          </a:xfrm>
          <a:prstGeom prst="rect">
            <a:avLst/>
          </a:prstGeom>
          <a:solidFill>
            <a:srgbClr val="E8DFCC"/>
          </a:solidFill>
          <a:ln w="12700">
            <a:solidFill>
              <a:srgbClr val="333333"/>
            </a:solidFill>
            <a:prstDash val="solid"/>
          </a:ln>
        </p:spPr>
        <p:txBody>
          <a:bodyPr>
            <a:normAutofit/>
          </a:bodyPr>
          <a:p/>
        </p:txBody>
      </p:sp>
      <p:sp>
        <p:nvSpPr>
          <p:cNvPr id="17" name="Text 15"/>
          <p:cNvSpPr/>
          <p:nvPr/>
        </p:nvSpPr>
        <p:spPr>
          <a:xfrm>
            <a:off x="658368" y="5870448"/>
            <a:ext cx="10872216" cy="566928"/>
          </a:xfrm>
          <a:prstGeom prst="rect">
            <a:avLst/>
          </a:prstGeom>
          <a:noFill/>
          <a:ln/>
        </p:spPr>
        <p:txBody>
          <a:bodyPr wrap="square" lIns="0" tIns="0" rIns="0" bIns="0" rtlCol="0" anchor="t">
            <a:normAutofit/>
          </a:bodyPr>
          <a:lstStyle/>
          <a:p>
            <a:pPr indent="0" marL="0">
              <a:lnSpc>
                <a:spcPct val="115000"/>
              </a:lnSpc>
              <a:buNone/>
            </a:pPr>
            <a:r>
              <a:rPr lang="en-US" sz="1500" dirty="0">
                <a:solidFill>
                  <a:srgbClr val="0F2347"/>
                </a:solidFill>
                <a:latin typeface="DM Sans" pitchFamily="34" charset="0"/>
                <a:ea typeface="DM Sans" pitchFamily="34" charset="-122"/>
                <a:cs typeface="DM Sans" pitchFamily="34" charset="-120"/>
              </a:rPr>
              <a:t>Hearing others can help you test whether yours is specific enough.</a:t>
            </a:r>
            <a:endParaRPr lang="en-US" sz="15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8">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39</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CLOSE</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Where you go from here</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Three things. Everything here is already yours.</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38528"/>
            <a:ext cx="10872216" cy="347472"/>
          </a:xfrm>
          <a:prstGeom prst="rect">
            <a:avLst/>
          </a:prstGeom>
          <a:noFill/>
          <a:ln/>
        </p:spPr>
        <p:txBody>
          <a:bodyPr wrap="square" lIns="0" tIns="0" rIns="0" bIns="0" rtlCol="0" anchor="t">
            <a:normAutofit/>
          </a:bodyPr>
          <a:lstStyle/>
          <a:p>
            <a:pPr indent="0" marL="0">
              <a:buNone/>
            </a:pPr>
            <a:r>
              <a:rPr lang="en-US" sz="2100" b="1" dirty="0">
                <a:solidFill>
                  <a:srgbClr val="0F2347"/>
                </a:solidFill>
                <a:latin typeface="DM Sans" pitchFamily="34" charset="0"/>
                <a:ea typeface="DM Sans" pitchFamily="34" charset="-122"/>
                <a:cs typeface="DM Sans" pitchFamily="34" charset="-120"/>
              </a:rPr>
              <a:t>Your Field Kit</a:t>
            </a:r>
            <a:endParaRPr lang="en-US" sz="2100" dirty="0"/>
          </a:p>
        </p:txBody>
      </p:sp>
      <p:sp>
        <p:nvSpPr>
          <p:cNvPr id="9" name="Text 7"/>
          <p:cNvSpPr/>
          <p:nvPr/>
        </p:nvSpPr>
        <p:spPr>
          <a:xfrm>
            <a:off x="658368" y="2340864"/>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Yours now, unlocked today. Section 5 costs your state; Section 7 is your rescore.</a:t>
            </a:r>
            <a:endParaRPr lang="en-US" sz="1600" dirty="0"/>
          </a:p>
        </p:txBody>
      </p:sp>
      <p:sp>
        <p:nvSpPr>
          <p:cNvPr id="10" name="Text 8"/>
          <p:cNvSpPr/>
          <p:nvPr/>
        </p:nvSpPr>
        <p:spPr>
          <a:xfrm>
            <a:off x="658368" y="2962656"/>
            <a:ext cx="10872216" cy="219456"/>
          </a:xfrm>
          <a:prstGeom prst="rect">
            <a:avLst/>
          </a:prstGeom>
          <a:noFill/>
          <a:ln/>
        </p:spPr>
        <p:txBody>
          <a:bodyPr wrap="square" lIns="0" tIns="0" rIns="0" bIns="0" rtlCol="0" anchor="ctr">
            <a:normAutofit/>
          </a:bodyPr>
          <a:lstStyle/>
          <a:p>
            <a:pPr indent="0" marL="0">
              <a:buNone/>
            </a:pPr>
            <a:r>
              <a:rPr lang="en-US" sz="900" b="1" spc="160" kern="0" dirty="0">
                <a:solidFill>
                  <a:srgbClr val="C9A84C"/>
                </a:solidFill>
                <a:latin typeface="DM Sans" pitchFamily="34" charset="0"/>
                <a:ea typeface="DM Sans" pitchFamily="34" charset="-122"/>
                <a:cs typeface="DM Sans" pitchFamily="34" charset="-120"/>
              </a:rPr>
              <a:t>INCLUDED · UNLOCKED TODAY</a:t>
            </a:r>
            <a:endParaRPr lang="en-US" sz="900" dirty="0"/>
          </a:p>
        </p:txBody>
      </p:sp>
      <p:sp>
        <p:nvSpPr>
          <p:cNvPr id="11" name="Text 9"/>
          <p:cNvSpPr/>
          <p:nvPr/>
        </p:nvSpPr>
        <p:spPr>
          <a:xfrm>
            <a:off x="658368" y="3236976"/>
            <a:ext cx="10872216" cy="347472"/>
          </a:xfrm>
          <a:prstGeom prst="rect">
            <a:avLst/>
          </a:prstGeom>
          <a:noFill/>
          <a:ln/>
        </p:spPr>
        <p:txBody>
          <a:bodyPr wrap="square" lIns="0" tIns="0" rIns="0" bIns="0" rtlCol="0" anchor="t">
            <a:normAutofit/>
          </a:bodyPr>
          <a:lstStyle/>
          <a:p>
            <a:pPr indent="0" marL="0">
              <a:buNone/>
            </a:pPr>
            <a:r>
              <a:rPr lang="en-US" sz="2100" b="1" dirty="0">
                <a:solidFill>
                  <a:srgbClr val="0F2347"/>
                </a:solidFill>
                <a:latin typeface="DM Sans" pitchFamily="34" charset="0"/>
                <a:ea typeface="DM Sans" pitchFamily="34" charset="-122"/>
                <a:cs typeface="DM Sans" pitchFamily="34" charset="-120"/>
              </a:rPr>
              <a:t>The thirty-day evidence process</a:t>
            </a:r>
            <a:endParaRPr lang="en-US" sz="2100" dirty="0"/>
          </a:p>
        </p:txBody>
      </p:sp>
      <p:sp>
        <p:nvSpPr>
          <p:cNvPr id="12" name="Text 10"/>
          <p:cNvSpPr/>
          <p:nvPr/>
        </p:nvSpPr>
        <p:spPr>
          <a:xfrm>
            <a:off x="658368" y="3639312"/>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One line a week (page 23). One short set of questions on day thirty.</a:t>
            </a:r>
            <a:endParaRPr lang="en-US" sz="1600" dirty="0"/>
          </a:p>
        </p:txBody>
      </p:sp>
      <p:sp>
        <p:nvSpPr>
          <p:cNvPr id="13" name="Text 11"/>
          <p:cNvSpPr/>
          <p:nvPr/>
        </p:nvSpPr>
        <p:spPr>
          <a:xfrm>
            <a:off x="658368" y="4261104"/>
            <a:ext cx="10872216" cy="219456"/>
          </a:xfrm>
          <a:prstGeom prst="rect">
            <a:avLst/>
          </a:prstGeom>
          <a:noFill/>
          <a:ln/>
        </p:spPr>
        <p:txBody>
          <a:bodyPr wrap="square" lIns="0" tIns="0" rIns="0" bIns="0" rtlCol="0" anchor="ctr">
            <a:normAutofit/>
          </a:bodyPr>
          <a:lstStyle/>
          <a:p>
            <a:pPr indent="0" marL="0">
              <a:buNone/>
            </a:pPr>
            <a:r>
              <a:rPr lang="en-US" sz="900" b="1" spc="160" kern="0" dirty="0">
                <a:solidFill>
                  <a:srgbClr val="C9A84C"/>
                </a:solidFill>
                <a:latin typeface="DM Sans" pitchFamily="34" charset="0"/>
                <a:ea typeface="DM Sans" pitchFamily="34" charset="-122"/>
                <a:cs typeface="DM Sans" pitchFamily="34" charset="-120"/>
              </a:rPr>
              <a:t>WORKBOOK PAGE 23</a:t>
            </a:r>
            <a:endParaRPr lang="en-US" sz="900" dirty="0"/>
          </a:p>
        </p:txBody>
      </p:sp>
      <p:sp>
        <p:nvSpPr>
          <p:cNvPr id="14" name="Text 12"/>
          <p:cNvSpPr/>
          <p:nvPr/>
        </p:nvSpPr>
        <p:spPr>
          <a:xfrm>
            <a:off x="658368" y="4535424"/>
            <a:ext cx="10872216" cy="347472"/>
          </a:xfrm>
          <a:prstGeom prst="rect">
            <a:avLst/>
          </a:prstGeom>
          <a:noFill/>
          <a:ln/>
        </p:spPr>
        <p:txBody>
          <a:bodyPr wrap="square" lIns="0" tIns="0" rIns="0" bIns="0" rtlCol="0" anchor="t">
            <a:normAutofit/>
          </a:bodyPr>
          <a:lstStyle/>
          <a:p>
            <a:pPr indent="0" marL="0">
              <a:buNone/>
            </a:pPr>
            <a:r>
              <a:rPr lang="en-US" sz="2100" b="1" dirty="0">
                <a:solidFill>
                  <a:srgbClr val="0F2347"/>
                </a:solidFill>
                <a:latin typeface="DM Sans" pitchFamily="34" charset="0"/>
                <a:ea typeface="DM Sans" pitchFamily="34" charset="-122"/>
                <a:cs typeface="DM Sans" pitchFamily="34" charset="-120"/>
              </a:rPr>
              <a:t>The ninety-day rescore</a:t>
            </a:r>
            <a:endParaRPr lang="en-US" sz="2100" dirty="0"/>
          </a:p>
        </p:txBody>
      </p:sp>
      <p:sp>
        <p:nvSpPr>
          <p:cNvPr id="15" name="Text 13"/>
          <p:cNvSpPr/>
          <p:nvPr/>
        </p:nvSpPr>
        <p:spPr>
          <a:xfrm>
            <a:off x="658368" y="4937760"/>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Section 7, the Quarterly Loop — the same evidence process. Put the date in line 10 before you leave.</a:t>
            </a:r>
            <a:endParaRPr lang="en-US" sz="1600" dirty="0"/>
          </a:p>
        </p:txBody>
      </p:sp>
      <p:sp>
        <p:nvSpPr>
          <p:cNvPr id="16" name="Text 14"/>
          <p:cNvSpPr/>
          <p:nvPr/>
        </p:nvSpPr>
        <p:spPr>
          <a:xfrm>
            <a:off x="658368" y="5559552"/>
            <a:ext cx="10872216" cy="219456"/>
          </a:xfrm>
          <a:prstGeom prst="rect">
            <a:avLst/>
          </a:prstGeom>
          <a:noFill/>
          <a:ln/>
        </p:spPr>
        <p:txBody>
          <a:bodyPr wrap="square" lIns="0" tIns="0" rIns="0" bIns="0" rtlCol="0" anchor="ctr">
            <a:normAutofit/>
          </a:bodyPr>
          <a:lstStyle/>
          <a:p>
            <a:pPr indent="0" marL="0">
              <a:buNone/>
            </a:pPr>
            <a:r>
              <a:rPr lang="en-US" sz="900" b="1" spc="160" kern="0" dirty="0">
                <a:solidFill>
                  <a:srgbClr val="C9A84C"/>
                </a:solidFill>
                <a:latin typeface="DM Sans" pitchFamily="34" charset="0"/>
                <a:ea typeface="DM Sans" pitchFamily="34" charset="-122"/>
                <a:cs typeface="DM Sans" pitchFamily="34" charset="-120"/>
              </a:rPr>
              <a:t>YOUR FIELD KIT · SECTION 7</a:t>
            </a:r>
            <a:endParaRPr lang="en-US" sz="900" dirty="0"/>
          </a:p>
        </p:txBody>
      </p:sp>
      <p:sp>
        <p:nvSpPr>
          <p:cNvPr id="17" name="Shape 15"/>
          <p:cNvSpPr/>
          <p:nvPr/>
        </p:nvSpPr>
        <p:spPr>
          <a:xfrm>
            <a:off x="658368" y="5779008"/>
            <a:ext cx="10872216" cy="10973"/>
          </a:xfrm>
          <a:prstGeom prst="rect">
            <a:avLst/>
          </a:prstGeom>
          <a:solidFill>
            <a:srgbClr val="E8DFCC"/>
          </a:solidFill>
          <a:ln w="12700">
            <a:solidFill>
              <a:srgbClr val="333333"/>
            </a:solidFill>
            <a:prstDash val="solid"/>
          </a:ln>
        </p:spPr>
        <p:txBody>
          <a:bodyPr>
            <a:normAutofit/>
          </a:bodyPr>
          <a:p/>
        </p:txBody>
      </p:sp>
      <p:sp>
        <p:nvSpPr>
          <p:cNvPr id="18" name="Text 16"/>
          <p:cNvSpPr/>
          <p:nvPr/>
        </p:nvSpPr>
        <p:spPr>
          <a:xfrm>
            <a:off x="658368" y="5925312"/>
            <a:ext cx="10872216" cy="566928"/>
          </a:xfrm>
          <a:prstGeom prst="rect">
            <a:avLst/>
          </a:prstGeom>
          <a:noFill/>
          <a:ln/>
        </p:spPr>
        <p:txBody>
          <a:bodyPr wrap="square" lIns="0" tIns="0" rIns="0" bIns="0" rtlCol="0" anchor="t">
            <a:normAutofit/>
          </a:bodyPr>
          <a:lstStyle/>
          <a:p>
            <a:pPr indent="0" marL="0">
              <a:lnSpc>
                <a:spcPct val="115000"/>
              </a:lnSpc>
              <a:buNone/>
            </a:pPr>
            <a:endParaRPr lang="en-US" sz="15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39">
    <p:bg>
      <p:bgPr>
        <a:solidFill>
          <a:srgbClr val="0F2347"/>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A9B8D0"/>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A9B8D0"/>
                </a:solidFill>
                <a:latin typeface="DM Sans" pitchFamily="34" charset="0"/>
                <a:ea typeface="DM Sans" pitchFamily="34" charset="-122"/>
                <a:cs typeface="DM Sans" pitchFamily="34" charset="-120"/>
              </a:rPr>
              <a:t>40</a:t>
            </a:r>
            <a:endParaRPr lang="en-US" sz="900" dirty="0"/>
          </a:p>
        </p:txBody>
      </p:sp>
      <p:sp>
        <p:nvSpPr>
          <p:cNvPr id="4" name="Text 2"/>
          <p:cNvSpPr/>
          <p:nvPr/>
        </p:nvSpPr>
        <p:spPr>
          <a:xfrm>
            <a:off x="658368" y="1965960"/>
            <a:ext cx="10872216" cy="365760"/>
          </a:xfrm>
          <a:prstGeom prst="rect">
            <a:avLst/>
          </a:prstGeom>
          <a:noFill/>
          <a:ln/>
        </p:spPr>
        <p:txBody>
          <a:bodyPr wrap="square" lIns="0" tIns="0" rIns="0" bIns="0" rtlCol="0" anchor="ctr">
            <a:normAutofit/>
          </a:bodyPr>
          <a:lstStyle/>
          <a:p>
            <a:pPr indent="0" marL="0">
              <a:buNone/>
            </a:pPr>
            <a:r>
              <a:rPr lang="en-US" sz="1300" b="1" spc="300" kern="0" dirty="0">
                <a:solidFill>
                  <a:srgbClr val="C9A84C"/>
                </a:solidFill>
                <a:latin typeface="DM Sans" pitchFamily="34" charset="0"/>
                <a:ea typeface="DM Sans" pitchFamily="34" charset="-122"/>
                <a:cs typeface="DM Sans" pitchFamily="34" charset="-120"/>
              </a:rPr>
              <a:t>BEFORE YOU GO</a:t>
            </a:r>
            <a:endParaRPr lang="en-US" sz="1300" dirty="0"/>
          </a:p>
        </p:txBody>
      </p:sp>
      <p:sp>
        <p:nvSpPr>
          <p:cNvPr id="5" name="Text 3"/>
          <p:cNvSpPr/>
          <p:nvPr/>
        </p:nvSpPr>
        <p:spPr>
          <a:xfrm>
            <a:off x="658368" y="2377440"/>
            <a:ext cx="9692640" cy="1463040"/>
          </a:xfrm>
          <a:prstGeom prst="rect">
            <a:avLst/>
          </a:prstGeom>
          <a:noFill/>
          <a:ln/>
        </p:spPr>
        <p:txBody>
          <a:bodyPr wrap="square" lIns="0" tIns="0" rIns="0" bIns="0" rtlCol="0" anchor="t">
            <a:normAutofit/>
          </a:bodyPr>
          <a:lstStyle/>
          <a:p>
            <a:pPr indent="0" marL="0">
              <a:lnSpc>
                <a:spcPct val="115000"/>
              </a:lnSpc>
              <a:buNone/>
            </a:pPr>
            <a:r>
              <a:rPr lang="en-US" sz="4400" dirty="0">
                <a:solidFill>
                  <a:srgbClr val="FFFFFF"/>
                </a:solidFill>
                <a:latin typeface="Cormorant Garamond" pitchFamily="34" charset="0"/>
                <a:ea typeface="Cormorant Garamond" pitchFamily="34" charset="-122"/>
                <a:cs typeface="Cormorant Garamond" pitchFamily="34" charset="-120"/>
              </a:rPr>
              <a:t>You have read your position.</a:t>
            </a:r>
            <a:endParaRPr lang="en-US" sz="4400" dirty="0"/>
          </a:p>
          <a:p>
            <a:pPr indent="0" marL="0">
              <a:lnSpc>
                <a:spcPct val="115000"/>
              </a:lnSpc>
              <a:buNone/>
            </a:pPr>
            <a:r>
              <a:rPr lang="en-US" sz="4400" dirty="0">
                <a:solidFill>
                  <a:srgbClr val="FFFFFF"/>
                </a:solidFill>
                <a:latin typeface="Cormorant Garamond" pitchFamily="34" charset="0"/>
                <a:ea typeface="Cormorant Garamond" pitchFamily="34" charset="-122"/>
                <a:cs typeface="Cormorant Garamond" pitchFamily="34" charset="-120"/>
              </a:rPr>
              <a:t>The move is the next conversation.</a:t>
            </a:r>
            <a:endParaRPr lang="en-US" sz="4400" dirty="0"/>
          </a:p>
        </p:txBody>
      </p:sp>
      <p:sp>
        <p:nvSpPr>
          <p:cNvPr id="6" name="Text 4"/>
          <p:cNvSpPr/>
          <p:nvPr/>
        </p:nvSpPr>
        <p:spPr>
          <a:xfrm>
            <a:off x="658368" y="4297680"/>
            <a:ext cx="8476488" cy="914400"/>
          </a:xfrm>
          <a:prstGeom prst="rect">
            <a:avLst/>
          </a:prstGeom>
          <a:noFill/>
          <a:ln/>
        </p:spPr>
        <p:txBody>
          <a:bodyPr wrap="square" lIns="0" tIns="0" rIns="0" bIns="0" rtlCol="0" anchor="t">
            <a:normAutofit/>
          </a:bodyPr>
          <a:lstStyle/>
          <a:p>
            <a:pPr indent="0" marL="0">
              <a:lnSpc>
                <a:spcPct val="120000"/>
              </a:lnSpc>
              <a:buNone/>
            </a:pPr>
            <a:r>
              <a:rPr lang="en-US" sz="2000" dirty="0">
                <a:solidFill>
                  <a:srgbClr val="A9B8D0"/>
                </a:solidFill>
                <a:latin typeface="DM Sans" pitchFamily="34" charset="0"/>
                <a:ea typeface="DM Sans" pitchFamily="34" charset="-122"/>
                <a:cs typeface="DM Sans" pitchFamily="34" charset="-120"/>
              </a:rPr>
              <a:t>Put a rescore date ninety days out before you close the workbook. When your reading changes, notice what changed. Share it only if you choose.</a:t>
            </a:r>
            <a:endParaRPr lang="en-US" sz="2000" dirty="0"/>
          </a:p>
        </p:txBody>
      </p:sp>
      <p:sp>
        <p:nvSpPr>
          <p:cNvPr id="7" name="Shape 5"/>
          <p:cNvSpPr/>
          <p:nvPr/>
        </p:nvSpPr>
        <p:spPr>
          <a:xfrm>
            <a:off x="9930384" y="4297680"/>
            <a:ext cx="466344" cy="466344"/>
          </a:xfrm>
          <a:prstGeom prst="rect">
            <a:avLst/>
          </a:prstGeom>
          <a:solidFill>
            <a:srgbClr val="0F2347"/>
          </a:solidFill>
          <a:ln w="12700">
            <a:solidFill>
              <a:srgbClr val="C9A84C"/>
            </a:solidFill>
            <a:prstDash val="solid"/>
          </a:ln>
        </p:spPr>
        <p:txBody>
          <a:bodyPr>
            <a:normAutofit/>
          </a:bodyPr>
          <a:p/>
        </p:txBody>
      </p:sp>
      <p:sp>
        <p:nvSpPr>
          <p:cNvPr id="8" name="Shape 6"/>
          <p:cNvSpPr/>
          <p:nvPr/>
        </p:nvSpPr>
        <p:spPr>
          <a:xfrm>
            <a:off x="10396728" y="4297680"/>
            <a:ext cx="466344" cy="466344"/>
          </a:xfrm>
          <a:prstGeom prst="rect">
            <a:avLst/>
          </a:prstGeom>
          <a:solidFill>
            <a:srgbClr val="C1440E"/>
          </a:solidFill>
          <a:ln w="12700">
            <a:solidFill>
              <a:srgbClr val="C9A84C"/>
            </a:solidFill>
            <a:prstDash val="solid"/>
          </a:ln>
        </p:spPr>
        <p:txBody>
          <a:bodyPr>
            <a:normAutofit/>
          </a:bodyPr>
          <a:p/>
        </p:txBody>
      </p:sp>
      <p:sp>
        <p:nvSpPr>
          <p:cNvPr id="9" name="Shape 7"/>
          <p:cNvSpPr/>
          <p:nvPr/>
        </p:nvSpPr>
        <p:spPr>
          <a:xfrm>
            <a:off x="9930384" y="4764024"/>
            <a:ext cx="466344" cy="466344"/>
          </a:xfrm>
          <a:prstGeom prst="rect">
            <a:avLst/>
          </a:prstGeom>
          <a:solidFill>
            <a:srgbClr val="0F2347"/>
          </a:solidFill>
          <a:ln w="12700">
            <a:solidFill>
              <a:srgbClr val="C9A84C"/>
            </a:solidFill>
            <a:prstDash val="solid"/>
          </a:ln>
        </p:spPr>
        <p:txBody>
          <a:bodyPr>
            <a:normAutofit/>
          </a:bodyPr>
          <a:p/>
        </p:txBody>
      </p:sp>
      <p:sp>
        <p:nvSpPr>
          <p:cNvPr id="10" name="Shape 8"/>
          <p:cNvSpPr/>
          <p:nvPr/>
        </p:nvSpPr>
        <p:spPr>
          <a:xfrm>
            <a:off x="10396728" y="4764024"/>
            <a:ext cx="466344" cy="466344"/>
          </a:xfrm>
          <a:prstGeom prst="rect">
            <a:avLst/>
          </a:prstGeom>
          <a:solidFill>
            <a:srgbClr val="0F2347"/>
          </a:solidFill>
          <a:ln w="12700">
            <a:solidFill>
              <a:srgbClr val="C9A84C"/>
            </a:solidFill>
            <a:prstDash val="solid"/>
          </a:ln>
        </p:spPr>
        <p:txBody>
          <a:bodyPr>
            <a:normAutofit/>
          </a:bodyPr>
          <a:p/>
        </p:txBody>
      </p:sp>
      <p:sp>
        <p:nvSpPr>
          <p:cNvPr id="11" name="Mark2x2"/>
          <p:cNvSpPr/>
          <p:nvPr/>
        </p:nvSpPr>
        <p:spPr>
          <a:xfrm>
            <a:off x="11384280" y="310896"/>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ark2x2"/>
          <p:cNvSpPr/>
          <p:nvPr/>
        </p:nvSpPr>
        <p:spPr>
          <a:xfrm>
            <a:off x="11603736" y="310896"/>
            <a:ext cx="173736" cy="173736"/>
          </a:xfrm>
          <a:prstGeom prst="rect">
            <a:avLst/>
          </a:prstGeom>
          <a:solidFill>
            <a:srgbClr val="C1440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Mark2x2"/>
          <p:cNvSpPr/>
          <p:nvPr/>
        </p:nvSpPr>
        <p:spPr>
          <a:xfrm>
            <a:off x="11384280" y="530352"/>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Mark2x2"/>
          <p:cNvSpPr/>
          <p:nvPr/>
        </p:nvSpPr>
        <p:spPr>
          <a:xfrm>
            <a:off x="11603736" y="530352"/>
            <a:ext cx="173736" cy="173736"/>
          </a:xfrm>
          <a:prstGeom prst="rect">
            <a:avLst/>
          </a:prstGeom>
          <a:noFill/>
          <a:ln w="16510">
            <a:solidFill>
              <a:srgbClr val="F5F0E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0">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41</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APPENDIX</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Position Exposure Signals</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Questions to investigate, not predictions.</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883664"/>
            <a:ext cx="5294376" cy="256032"/>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YOUR CURRENT ROLE</a:t>
            </a:r>
            <a:endParaRPr lang="en-US" sz="1100" dirty="0"/>
          </a:p>
        </p:txBody>
      </p:sp>
      <p:sp>
        <p:nvSpPr>
          <p:cNvPr id="9" name="Text 7"/>
          <p:cNvSpPr/>
          <p:nvPr/>
        </p:nvSpPr>
        <p:spPr>
          <a:xfrm>
            <a:off x="6236208" y="1883664"/>
            <a:ext cx="5294376" cy="256032"/>
          </a:xfrm>
          <a:prstGeom prst="rect">
            <a:avLst/>
          </a:prstGeom>
          <a:noFill/>
          <a:ln/>
        </p:spPr>
        <p:txBody>
          <a:bodyPr wrap="square" lIns="0" tIns="0" rIns="0" bIns="0" rtlCol="0" anchor="ctr">
            <a:normAutofit/>
          </a:bodyPr>
          <a:lstStyle/>
          <a:p>
            <a:pPr indent="0" marL="0">
              <a:buNone/>
            </a:pPr>
            <a:r>
              <a:rPr lang="en-US" sz="1100" b="1" spc="200" kern="0" dirty="0">
                <a:solidFill>
                  <a:srgbClr val="C9A84C"/>
                </a:solidFill>
                <a:latin typeface="DM Sans" pitchFamily="34" charset="0"/>
                <a:ea typeface="DM Sans" pitchFamily="34" charset="-122"/>
                <a:cs typeface="DM Sans" pitchFamily="34" charset="-120"/>
              </a:rPr>
              <a:t>A ROLE OR ORGANISATION YOU ARE CONSIDERING</a:t>
            </a:r>
            <a:endParaRPr lang="en-US" sz="1100" dirty="0"/>
          </a:p>
        </p:txBody>
      </p:sp>
      <p:sp>
        <p:nvSpPr>
          <p:cNvPr id="10" name="Text 8"/>
          <p:cNvSpPr/>
          <p:nvPr/>
        </p:nvSpPr>
        <p:spPr>
          <a:xfrm>
            <a:off x="658368" y="2194560"/>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Is the mandate being absorbed, narrowed, duplicated or repeatedly redefined?</a:t>
            </a:r>
            <a:endParaRPr lang="en-US" sz="1700" dirty="0"/>
          </a:p>
        </p:txBody>
      </p:sp>
      <p:sp>
        <p:nvSpPr>
          <p:cNvPr id="11" name="Text 9"/>
          <p:cNvSpPr/>
          <p:nvPr/>
        </p:nvSpPr>
        <p:spPr>
          <a:xfrm>
            <a:off x="658368" y="2871216"/>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Does the position depend on one sponsor?</a:t>
            </a:r>
            <a:endParaRPr lang="en-US" sz="1700" dirty="0"/>
          </a:p>
        </p:txBody>
      </p:sp>
      <p:sp>
        <p:nvSpPr>
          <p:cNvPr id="12" name="Text 10"/>
          <p:cNvSpPr/>
          <p:nvPr/>
        </p:nvSpPr>
        <p:spPr>
          <a:xfrm>
            <a:off x="658368" y="3547872"/>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Is most of the value legible only inside one context?</a:t>
            </a:r>
            <a:endParaRPr lang="en-US" sz="1700" dirty="0"/>
          </a:p>
        </p:txBody>
      </p:sp>
      <p:sp>
        <p:nvSpPr>
          <p:cNvPr id="13" name="Text 11"/>
          <p:cNvSpPr/>
          <p:nvPr/>
        </p:nvSpPr>
        <p:spPr>
          <a:xfrm>
            <a:off x="658368" y="4224528"/>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Is the work becoming less formative while expectations remain high?</a:t>
            </a:r>
            <a:endParaRPr lang="en-US" sz="1700" dirty="0"/>
          </a:p>
        </p:txBody>
      </p:sp>
      <p:sp>
        <p:nvSpPr>
          <p:cNvPr id="14" name="Text 12"/>
          <p:cNvSpPr/>
          <p:nvPr/>
        </p:nvSpPr>
        <p:spPr>
          <a:xfrm>
            <a:off x="658368" y="4901184"/>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Is the organisation redesigning the work without a clear future role for the capability?</a:t>
            </a:r>
            <a:endParaRPr lang="en-US" sz="1700" dirty="0"/>
          </a:p>
        </p:txBody>
      </p:sp>
      <p:sp>
        <p:nvSpPr>
          <p:cNvPr id="15" name="Text 13"/>
          <p:cNvSpPr/>
          <p:nvPr/>
        </p:nvSpPr>
        <p:spPr>
          <a:xfrm>
            <a:off x="6236208" y="2194560"/>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Why is the role open?</a:t>
            </a:r>
            <a:endParaRPr lang="en-US" sz="1700" dirty="0"/>
          </a:p>
        </p:txBody>
      </p:sp>
      <p:sp>
        <p:nvSpPr>
          <p:cNvPr id="16" name="Text 14"/>
          <p:cNvSpPr/>
          <p:nvPr/>
        </p:nvSpPr>
        <p:spPr>
          <a:xfrm>
            <a:off x="6236208" y="2871216"/>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What work has been added, removed or consolidated in the past year?</a:t>
            </a:r>
            <a:endParaRPr lang="en-US" sz="1700" dirty="0"/>
          </a:p>
        </p:txBody>
      </p:sp>
      <p:sp>
        <p:nvSpPr>
          <p:cNvPr id="17" name="Text 15"/>
          <p:cNvSpPr/>
          <p:nvPr/>
        </p:nvSpPr>
        <p:spPr>
          <a:xfrm>
            <a:off x="6236208" y="3547872"/>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Who can distinguish excellent work from adequate work?</a:t>
            </a:r>
            <a:endParaRPr lang="en-US" sz="1700" dirty="0"/>
          </a:p>
        </p:txBody>
      </p:sp>
      <p:sp>
        <p:nvSpPr>
          <p:cNvPr id="18" name="Text 16"/>
          <p:cNvSpPr/>
          <p:nvPr/>
        </p:nvSpPr>
        <p:spPr>
          <a:xfrm>
            <a:off x="6236208" y="4224528"/>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Where have people in this role moved next?</a:t>
            </a:r>
            <a:endParaRPr lang="en-US" sz="1700" dirty="0"/>
          </a:p>
        </p:txBody>
      </p:sp>
      <p:sp>
        <p:nvSpPr>
          <p:cNvPr id="19" name="Text 17"/>
          <p:cNvSpPr/>
          <p:nvPr/>
        </p:nvSpPr>
        <p:spPr>
          <a:xfrm>
            <a:off x="6236208" y="4901184"/>
            <a:ext cx="5294376" cy="658368"/>
          </a:xfrm>
          <a:prstGeom prst="rect">
            <a:avLst/>
          </a:prstGeom>
          <a:noFill/>
          <a:ln/>
        </p:spPr>
        <p:txBody>
          <a:bodyPr wrap="square" lIns="0" tIns="0" rIns="0" bIns="0" rtlCol="0" anchor="t">
            <a:normAutofit/>
          </a:bodyPr>
          <a:lstStyle/>
          <a:p>
            <a:pPr indent="0" marL="0">
              <a:lnSpc>
                <a:spcPct val="110000"/>
              </a:lnSpc>
              <a:buNone/>
            </a:pPr>
            <a:r>
              <a:rPr lang="en-US" sz="1700" dirty="0">
                <a:solidFill>
                  <a:srgbClr val="0F2347"/>
                </a:solidFill>
                <a:latin typeface="DM Sans" pitchFamily="34" charset="0"/>
                <a:ea typeface="DM Sans" pitchFamily="34" charset="-122"/>
                <a:cs typeface="DM Sans" pitchFamily="34" charset="-120"/>
              </a:rPr>
              <a:t>How is AI changing the actual work?</a:t>
            </a:r>
            <a:endParaRPr lang="en-US" sz="1700" dirty="0"/>
          </a:p>
        </p:txBody>
      </p:sp>
      <p:sp>
        <p:nvSpPr>
          <p:cNvPr id="20" name="Shape 18"/>
          <p:cNvSpPr/>
          <p:nvPr/>
        </p:nvSpPr>
        <p:spPr>
          <a:xfrm>
            <a:off x="658368" y="5632704"/>
            <a:ext cx="10872216" cy="10973"/>
          </a:xfrm>
          <a:prstGeom prst="rect">
            <a:avLst/>
          </a:prstGeom>
          <a:solidFill>
            <a:srgbClr val="E8DFCC"/>
          </a:solidFill>
          <a:ln w="12700">
            <a:solidFill>
              <a:srgbClr val="333333"/>
            </a:solidFill>
            <a:prstDash val="solid"/>
          </a:ln>
        </p:spPr>
        <p:txBody>
          <a:bodyPr>
            <a:normAutofit/>
          </a:bodyPr>
          <a:p/>
        </p:txBody>
      </p:sp>
      <p:sp>
        <p:nvSpPr>
          <p:cNvPr id="21" name="Text 19"/>
          <p:cNvSpPr/>
          <p:nvPr/>
        </p:nvSpPr>
        <p:spPr>
          <a:xfrm>
            <a:off x="658368" y="5724144"/>
            <a:ext cx="10872216" cy="420624"/>
          </a:xfrm>
          <a:prstGeom prst="rect">
            <a:avLst/>
          </a:prstGeom>
          <a:noFill/>
          <a:ln/>
        </p:spPr>
        <p:txBody>
          <a:bodyPr wrap="square" lIns="0" tIns="0" rIns="0" bIns="0" rtlCol="0" anchor="t">
            <a:normAutofit/>
          </a:bodyPr>
          <a:lstStyle/>
          <a:p>
            <a:pPr indent="0" marL="0">
              <a:buNone/>
            </a:pPr>
            <a:r>
              <a:rPr lang="en-US" sz="1500" b="1" dirty="0">
                <a:solidFill>
                  <a:srgbClr val="0F2347"/>
                </a:solidFill>
                <a:latin typeface="DM Sans" pitchFamily="34" charset="0"/>
                <a:ea typeface="DM Sans" pitchFamily="34" charset="-122"/>
                <a:cs typeface="DM Sans" pitchFamily="34" charset="-120"/>
              </a:rPr>
              <a:t>These signals do not predict a layoff. They identify questions that should be answered before you treat a position as secure.</a:t>
            </a:r>
            <a:endParaRPr lang="en-US" sz="15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1">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42</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APPENDIX</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AI and Compounding</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An application of the two axes. Not a technology session.</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75104"/>
            <a:ext cx="10872216" cy="1097280"/>
          </a:xfrm>
          <a:prstGeom prst="rect">
            <a:avLst/>
          </a:prstGeom>
          <a:noFill/>
          <a:ln/>
        </p:spPr>
        <p:txBody>
          <a:bodyPr wrap="square" lIns="0" tIns="0" rIns="0" bIns="0" rtlCol="0" anchor="t">
            <a:normAutofit/>
          </a:bodyPr>
          <a:lstStyle/>
          <a:p>
            <a:pPr indent="0" marL="0">
              <a:lnSpc>
                <a:spcPct val="120000"/>
              </a:lnSpc>
              <a:buNone/>
            </a:pPr>
            <a:r>
              <a:rPr lang="en-US" sz="2200" dirty="0">
                <a:solidFill>
                  <a:srgbClr val="0F2347"/>
                </a:solidFill>
                <a:latin typeface="Cormorant Garamond" pitchFamily="34" charset="0"/>
                <a:ea typeface="Cormorant Garamond" pitchFamily="34" charset="-122"/>
                <a:cs typeface="Cormorant Garamond" pitchFamily="34" charset="-120"/>
              </a:rPr>
              <a:t>Where AI makes routine output easier to reproduce, your position depends more heavily on judgment, learning velocity, and capability that travels across unfamiliar problems.</a:t>
            </a:r>
            <a:endParaRPr lang="en-US" sz="2200" dirty="0"/>
          </a:p>
        </p:txBody>
      </p:sp>
      <p:sp>
        <p:nvSpPr>
          <p:cNvPr id="9" name="Shape 7"/>
          <p:cNvSpPr/>
          <p:nvPr/>
        </p:nvSpPr>
        <p:spPr>
          <a:xfrm>
            <a:off x="658368" y="3310128"/>
            <a:ext cx="10872216" cy="914400"/>
          </a:xfrm>
          <a:prstGeom prst="rect">
            <a:avLst/>
          </a:prstGeom>
          <a:solidFill>
            <a:srgbClr val="FFFFFF"/>
          </a:solidFill>
          <a:ln w="12700">
            <a:solidFill>
              <a:srgbClr val="E8DFCC"/>
            </a:solidFill>
            <a:prstDash val="solid"/>
          </a:ln>
        </p:spPr>
        <p:txBody>
          <a:bodyPr>
            <a:normAutofit/>
          </a:bodyPr>
          <a:p/>
        </p:txBody>
      </p:sp>
      <p:sp>
        <p:nvSpPr>
          <p:cNvPr id="10" name="Text 8"/>
          <p:cNvSpPr/>
          <p:nvPr/>
        </p:nvSpPr>
        <p:spPr>
          <a:xfrm>
            <a:off x="914400" y="3493008"/>
            <a:ext cx="10360152" cy="603504"/>
          </a:xfrm>
          <a:prstGeom prst="rect">
            <a:avLst/>
          </a:prstGeom>
          <a:noFill/>
          <a:ln/>
        </p:spPr>
        <p:txBody>
          <a:bodyPr wrap="square" lIns="0" tIns="0" rIns="0" bIns="0" rtlCol="0" anchor="t">
            <a:normAutofit/>
          </a:bodyPr>
          <a:lstStyle/>
          <a:p>
            <a:pPr indent="0" marL="0">
              <a:lnSpc>
                <a:spcPct val="115000"/>
              </a:lnSpc>
              <a:buNone/>
            </a:pPr>
            <a:r>
              <a:rPr lang="en-US" sz="2100" b="1" dirty="0">
                <a:solidFill>
                  <a:srgbClr val="0F2347"/>
                </a:solidFill>
                <a:latin typeface="DM Sans" pitchFamily="34" charset="0"/>
                <a:ea typeface="DM Sans" pitchFamily="34" charset="-122"/>
                <a:cs typeface="DM Sans" pitchFamily="34" charset="-120"/>
              </a:rPr>
              <a:t>AI does not create Compounding. It raises the cost of mistaking familiar output for growing capability.</a:t>
            </a:r>
            <a:endParaRPr lang="en-US" sz="2100" dirty="0"/>
          </a:p>
        </p:txBody>
      </p:sp>
      <p:sp>
        <p:nvSpPr>
          <p:cNvPr id="11" name="Text 9"/>
          <p:cNvSpPr/>
          <p:nvPr/>
        </p:nvSpPr>
        <p:spPr>
          <a:xfrm>
            <a:off x="658368" y="4443984"/>
            <a:ext cx="10872216" cy="822960"/>
          </a:xfrm>
          <a:prstGeom prst="rect">
            <a:avLst/>
          </a:prstGeom>
          <a:noFill/>
          <a:ln/>
        </p:spPr>
        <p:txBody>
          <a:bodyPr wrap="square" lIns="0" tIns="0" rIns="0" bIns="0" rtlCol="0" anchor="t">
            <a:normAutofit/>
          </a:bodyPr>
          <a:lstStyle/>
          <a:p>
            <a:pPr indent="0" marL="0">
              <a:lnSpc>
                <a:spcPct val="120000"/>
              </a:lnSpc>
              <a:buNone/>
            </a:pPr>
            <a:r>
              <a:rPr lang="en-US" sz="1900" dirty="0">
                <a:solidFill>
                  <a:srgbClr val="0F2347"/>
                </a:solidFill>
                <a:latin typeface="DM Sans" pitchFamily="34" charset="0"/>
                <a:ea typeface="DM Sans" pitchFamily="34" charset="-122"/>
                <a:cs typeface="DM Sans" pitchFamily="34" charset="-120"/>
              </a:rPr>
              <a:t>Read it through the statements you already scored: statement 1 for unfamiliar problems, statement 5 for the edge of competence, statement 11 for what transfers.</a:t>
            </a:r>
            <a:endParaRPr lang="en-US" sz="1900" dirty="0"/>
          </a:p>
        </p:txBody>
      </p:sp>
      <p:sp>
        <p:nvSpPr>
          <p:cNvPr id="12" name="Shape 10"/>
          <p:cNvSpPr/>
          <p:nvPr/>
        </p:nvSpPr>
        <p:spPr>
          <a:xfrm>
            <a:off x="658368" y="5394960"/>
            <a:ext cx="10872216" cy="10973"/>
          </a:xfrm>
          <a:prstGeom prst="rect">
            <a:avLst/>
          </a:prstGeom>
          <a:solidFill>
            <a:srgbClr val="E8DFCC"/>
          </a:solidFill>
          <a:ln w="12700">
            <a:solidFill>
              <a:srgbClr val="333333"/>
            </a:solidFill>
            <a:prstDash val="solid"/>
          </a:ln>
        </p:spPr>
        <p:txBody>
          <a:bodyPr>
            <a:normAutofit/>
          </a:bodyPr>
          <a:p/>
        </p:txBody>
      </p:sp>
      <p:sp>
        <p:nvSpPr>
          <p:cNvPr id="13" name="Text 11"/>
          <p:cNvSpPr/>
          <p:nvPr/>
        </p:nvSpPr>
        <p:spPr>
          <a:xfrm>
            <a:off x="658368" y="5541264"/>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Take-home prompt on workbook page 25: which part of your output is becoming easier to reproduce, and which part of your work is deepening judgment another context would value?</a:t>
            </a:r>
            <a:endParaRPr lang="en-US" sz="16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2">
    <p:bg>
      <p:bgPr>
        <a:solidFill>
          <a:srgbClr val="F5F0E8"/>
        </a:solidFill>
      </p:bgPr>
    </p:bg>
    <p:spTree>
      <p:nvGrpSpPr>
        <p:cNvPr id="1" name=""/>
        <p:cNvGrpSpPr/>
        <p:nvPr/>
      </p:nvGrpSpPr>
      <p:grpSpPr>
        <a:xfrm>
          <a:off x="0" y="0"/>
          <a:ext cx="0" cy="0"/>
          <a:chOff x="0" y="0"/>
          <a:chExt cx="0" cy="0"/>
        </a:xfrm>
      </p:grpSpPr>
      <p:sp>
        <p:nvSpPr>
          <p:cNvPr id="2" name="Text 0"/>
          <p:cNvSpPr/>
          <p:nvPr/>
        </p:nvSpPr>
        <p:spPr>
          <a:xfrm>
            <a:off x="658368" y="6355080"/>
            <a:ext cx="5486400" cy="274320"/>
          </a:xfrm>
          <a:prstGeom prst="rect">
            <a:avLst/>
          </a:prstGeom>
          <a:noFill/>
          <a:ln/>
        </p:spPr>
        <p:txBody>
          <a:bodyPr wrap="square" lIns="0" tIns="0" rIns="0" bIns="0" rtlCol="0" anchor="ctr">
            <a:normAutofit/>
          </a:bodyPr>
          <a:lstStyle/>
          <a:p>
            <a:pPr indent="0" marL="0">
              <a:buNone/>
            </a:pPr>
            <a:r>
              <a:rPr lang="en-US" sz="900" spc="120" kern="0" dirty="0">
                <a:solidFill>
                  <a:srgbClr val="0F2347"/>
                </a:solidFill>
                <a:latin typeface="DM Sans" pitchFamily="34" charset="0"/>
                <a:ea typeface="DM Sans" pitchFamily="34" charset="-122"/>
                <a:cs typeface="DM Sans" pitchFamily="34" charset="-120"/>
              </a:rPr>
              <a:t>TEMIDAYO AFONJA   |   TEMIDAYOAFONJA.COM</a:t>
            </a:r>
            <a:endParaRPr lang="en-US" sz="900" dirty="0"/>
          </a:p>
        </p:txBody>
      </p:sp>
      <p:sp>
        <p:nvSpPr>
          <p:cNvPr id="3" name="Text 1"/>
          <p:cNvSpPr/>
          <p:nvPr/>
        </p:nvSpPr>
        <p:spPr>
          <a:xfrm>
            <a:off x="10616184" y="6355080"/>
            <a:ext cx="914400" cy="274320"/>
          </a:xfrm>
          <a:prstGeom prst="rect">
            <a:avLst/>
          </a:prstGeom>
          <a:noFill/>
          <a:ln/>
        </p:spPr>
        <p:txBody>
          <a:bodyPr wrap="square" lIns="0" tIns="0" rIns="0" bIns="0" rtlCol="0" anchor="ctr">
            <a:normAutofit/>
          </a:bodyPr>
          <a:lstStyle/>
          <a:p>
            <a:pPr algn="r" indent="0" marL="0">
              <a:buNone/>
            </a:pPr>
            <a:r>
              <a:rPr lang="en-US" sz="900" dirty="0">
                <a:solidFill>
                  <a:srgbClr val="0F2347"/>
                </a:solidFill>
                <a:latin typeface="DM Sans" pitchFamily="34" charset="0"/>
                <a:ea typeface="DM Sans" pitchFamily="34" charset="-122"/>
                <a:cs typeface="DM Sans" pitchFamily="34" charset="-120"/>
              </a:rPr>
              <a:t>43</a:t>
            </a:r>
            <a:endParaRPr lang="en-US" sz="900" dirty="0"/>
          </a:p>
        </p:txBody>
      </p:sp>
      <p:sp>
        <p:nvSpPr>
          <p:cNvPr id="4" name="Text 2"/>
          <p:cNvSpPr/>
          <p:nvPr/>
        </p:nvSpPr>
        <p:spPr>
          <a:xfrm>
            <a:off x="658368" y="347472"/>
            <a:ext cx="10872216" cy="237744"/>
          </a:xfrm>
          <a:prstGeom prst="rect">
            <a:avLst/>
          </a:prstGeom>
          <a:noFill/>
          <a:ln/>
        </p:spPr>
        <p:txBody>
          <a:bodyPr wrap="square" lIns="0" tIns="0" rIns="0" bIns="0" rtlCol="0" anchor="ctr">
            <a:normAutofit/>
          </a:bodyPr>
          <a:lstStyle/>
          <a:p>
            <a:pPr indent="0" marL="0">
              <a:buNone/>
            </a:pPr>
            <a:r>
              <a:rPr lang="en-US" sz="1100" b="1" spc="220" kern="0" dirty="0">
                <a:solidFill>
                  <a:srgbClr val="C9A84C"/>
                </a:solidFill>
                <a:latin typeface="DM Sans" pitchFamily="34" charset="0"/>
                <a:ea typeface="DM Sans" pitchFamily="34" charset="-122"/>
                <a:cs typeface="DM Sans" pitchFamily="34" charset="-120"/>
              </a:rPr>
              <a:t>APPENDIX</a:t>
            </a:r>
            <a:endParaRPr lang="en-US" sz="1100" dirty="0"/>
          </a:p>
        </p:txBody>
      </p:sp>
      <p:sp>
        <p:nvSpPr>
          <p:cNvPr id="5" name="Text 3"/>
          <p:cNvSpPr/>
          <p:nvPr/>
        </p:nvSpPr>
        <p:spPr>
          <a:xfrm>
            <a:off x="658368" y="603504"/>
            <a:ext cx="10872216" cy="603504"/>
          </a:xfrm>
          <a:prstGeom prst="rect">
            <a:avLst/>
          </a:prstGeom>
          <a:noFill/>
          <a:ln/>
        </p:spPr>
        <p:txBody>
          <a:bodyPr wrap="square" lIns="0" tIns="0" rIns="0" bIns="0" rtlCol="0" anchor="ctr">
            <a:normAutofit/>
          </a:bodyPr>
          <a:lstStyle/>
          <a:p>
            <a:pPr indent="0" marL="0">
              <a:buNone/>
            </a:pPr>
            <a:r>
              <a:rPr lang="en-US" sz="3800" dirty="0">
                <a:solidFill>
                  <a:srgbClr val="0F2347"/>
                </a:solidFill>
                <a:latin typeface="Cormorant Garamond" pitchFamily="34" charset="0"/>
                <a:ea typeface="Cormorant Garamond" pitchFamily="34" charset="-122"/>
                <a:cs typeface="Cormorant Garamond" pitchFamily="34" charset="-120"/>
              </a:rPr>
              <a:t>What translation actually means</a:t>
            </a:r>
            <a:endParaRPr lang="en-US" sz="3800" dirty="0"/>
          </a:p>
        </p:txBody>
      </p:sp>
      <p:sp>
        <p:nvSpPr>
          <p:cNvPr id="6" name="Text 4"/>
          <p:cNvSpPr/>
          <p:nvPr/>
        </p:nvSpPr>
        <p:spPr>
          <a:xfrm>
            <a:off x="658368" y="1225296"/>
            <a:ext cx="10872216" cy="329184"/>
          </a:xfrm>
          <a:prstGeom prst="rect">
            <a:avLst/>
          </a:prstGeom>
          <a:noFill/>
          <a:ln/>
        </p:spPr>
        <p:txBody>
          <a:bodyPr wrap="square" lIns="0" tIns="0" rIns="0" bIns="0" rtlCol="0" anchor="ctr">
            <a:normAutofit/>
          </a:bodyPr>
          <a:lstStyle/>
          <a:p>
            <a:pPr indent="0" marL="0">
              <a:buNone/>
            </a:pPr>
            <a:r>
              <a:rPr lang="en-US" sz="1500" dirty="0">
                <a:solidFill>
                  <a:srgbClr val="0F2347"/>
                </a:solidFill>
                <a:latin typeface="DM Sans" pitchFamily="34" charset="0"/>
                <a:ea typeface="DM Sans" pitchFamily="34" charset="-122"/>
                <a:cs typeface="DM Sans" pitchFamily="34" charset="-120"/>
              </a:rPr>
              <a:t>An application of the second move category. Not part of the timed core.</a:t>
            </a:r>
            <a:endParaRPr lang="en-US" sz="1500" dirty="0"/>
          </a:p>
        </p:txBody>
      </p:sp>
      <p:sp>
        <p:nvSpPr>
          <p:cNvPr id="7" name="Shape 5"/>
          <p:cNvSpPr/>
          <p:nvPr/>
        </p:nvSpPr>
        <p:spPr>
          <a:xfrm>
            <a:off x="658368" y="1645920"/>
            <a:ext cx="10872216" cy="10973"/>
          </a:xfrm>
          <a:prstGeom prst="rect">
            <a:avLst/>
          </a:prstGeom>
          <a:solidFill>
            <a:srgbClr val="E8DFCC"/>
          </a:solidFill>
          <a:ln w="12700">
            <a:solidFill>
              <a:srgbClr val="333333"/>
            </a:solidFill>
            <a:prstDash val="solid"/>
          </a:ln>
        </p:spPr>
        <p:txBody>
          <a:bodyPr>
            <a:normAutofit/>
          </a:bodyPr>
          <a:p/>
        </p:txBody>
      </p:sp>
      <p:sp>
        <p:nvSpPr>
          <p:cNvPr id="8" name="Text 6"/>
          <p:cNvSpPr/>
          <p:nvPr/>
        </p:nvSpPr>
        <p:spPr>
          <a:xfrm>
            <a:off x="658368" y="1975104"/>
            <a:ext cx="10872216" cy="859536"/>
          </a:xfrm>
          <a:prstGeom prst="rect">
            <a:avLst/>
          </a:prstGeom>
          <a:noFill/>
          <a:ln/>
        </p:spPr>
        <p:txBody>
          <a:bodyPr wrap="square" lIns="0" tIns="0" rIns="0" bIns="0" rtlCol="0" anchor="t">
            <a:normAutofit/>
          </a:bodyPr>
          <a:lstStyle/>
          <a:p>
            <a:pPr indent="0" marL="0">
              <a:lnSpc>
                <a:spcPct val="120000"/>
              </a:lnSpc>
              <a:buNone/>
            </a:pPr>
            <a:r>
              <a:rPr lang="en-US" sz="2400" dirty="0">
                <a:solidFill>
                  <a:srgbClr val="0F2347"/>
                </a:solidFill>
                <a:latin typeface="Cormorant Garamond" pitchFamily="34" charset="0"/>
                <a:ea typeface="Cormorant Garamond" pitchFamily="34" charset="-122"/>
                <a:cs typeface="Cormorant Garamond" pitchFamily="34" charset="-120"/>
              </a:rPr>
              <a:t>Legibility is not bragging. It is evidence translated into language another context can understand.</a:t>
            </a:r>
            <a:endParaRPr lang="en-US" sz="2400" dirty="0"/>
          </a:p>
        </p:txBody>
      </p:sp>
      <p:sp>
        <p:nvSpPr>
          <p:cNvPr id="9" name="Shape 7"/>
          <p:cNvSpPr/>
          <p:nvPr/>
        </p:nvSpPr>
        <p:spPr>
          <a:xfrm>
            <a:off x="658368" y="3017520"/>
            <a:ext cx="3438144" cy="1463040"/>
          </a:xfrm>
          <a:prstGeom prst="rect">
            <a:avLst/>
          </a:prstGeom>
          <a:solidFill>
            <a:srgbClr val="FFFFFF"/>
          </a:solidFill>
          <a:ln w="12700">
            <a:solidFill>
              <a:srgbClr val="E8DFCC"/>
            </a:solidFill>
            <a:prstDash val="solid"/>
          </a:ln>
        </p:spPr>
        <p:txBody>
          <a:bodyPr>
            <a:normAutofit/>
          </a:bodyPr>
          <a:p/>
        </p:txBody>
      </p:sp>
      <p:sp>
        <p:nvSpPr>
          <p:cNvPr id="10" name="Text 8"/>
          <p:cNvSpPr/>
          <p:nvPr/>
        </p:nvSpPr>
        <p:spPr>
          <a:xfrm>
            <a:off x="877824" y="3200400"/>
            <a:ext cx="2999232" cy="310896"/>
          </a:xfrm>
          <a:prstGeom prst="rect">
            <a:avLst/>
          </a:prstGeom>
          <a:noFill/>
          <a:ln/>
        </p:spPr>
        <p:txBody>
          <a:bodyPr wrap="square" lIns="0" tIns="0" rIns="0" bIns="0" rtlCol="0" anchor="t">
            <a:normAutofit/>
          </a:bodyPr>
          <a:lstStyle/>
          <a:p>
            <a:pPr indent="0" marL="0">
              <a:buNone/>
            </a:pPr>
            <a:r>
              <a:rPr lang="en-US" sz="1900" b="1" dirty="0">
                <a:solidFill>
                  <a:srgbClr val="0F2347"/>
                </a:solidFill>
                <a:latin typeface="DM Sans" pitchFamily="34" charset="0"/>
                <a:ea typeface="DM Sans" pitchFamily="34" charset="-122"/>
                <a:cs typeface="DM Sans" pitchFamily="34" charset="-120"/>
              </a:rPr>
              <a:t>The problem</a:t>
            </a:r>
            <a:endParaRPr lang="en-US" sz="1900" dirty="0"/>
          </a:p>
        </p:txBody>
      </p:sp>
      <p:sp>
        <p:nvSpPr>
          <p:cNvPr id="11" name="Text 9"/>
          <p:cNvSpPr/>
          <p:nvPr/>
        </p:nvSpPr>
        <p:spPr>
          <a:xfrm>
            <a:off x="877824" y="3566160"/>
            <a:ext cx="2999232" cy="786384"/>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What was actually hard, stated without your job title.</a:t>
            </a:r>
            <a:endParaRPr lang="en-US" sz="1600" dirty="0"/>
          </a:p>
        </p:txBody>
      </p:sp>
      <p:sp>
        <p:nvSpPr>
          <p:cNvPr id="12" name="Shape 10"/>
          <p:cNvSpPr/>
          <p:nvPr/>
        </p:nvSpPr>
        <p:spPr>
          <a:xfrm>
            <a:off x="4315968" y="3017520"/>
            <a:ext cx="3438144" cy="1463040"/>
          </a:xfrm>
          <a:prstGeom prst="rect">
            <a:avLst/>
          </a:prstGeom>
          <a:solidFill>
            <a:srgbClr val="FFFFFF"/>
          </a:solidFill>
          <a:ln w="12700">
            <a:solidFill>
              <a:srgbClr val="E8DFCC"/>
            </a:solidFill>
            <a:prstDash val="solid"/>
          </a:ln>
        </p:spPr>
        <p:txBody>
          <a:bodyPr>
            <a:normAutofit/>
          </a:bodyPr>
          <a:p/>
        </p:txBody>
      </p:sp>
      <p:sp>
        <p:nvSpPr>
          <p:cNvPr id="13" name="Text 11"/>
          <p:cNvSpPr/>
          <p:nvPr/>
        </p:nvSpPr>
        <p:spPr>
          <a:xfrm>
            <a:off x="4535424" y="3200400"/>
            <a:ext cx="2999232" cy="310896"/>
          </a:xfrm>
          <a:prstGeom prst="rect">
            <a:avLst/>
          </a:prstGeom>
          <a:noFill/>
          <a:ln/>
        </p:spPr>
        <p:txBody>
          <a:bodyPr wrap="square" lIns="0" tIns="0" rIns="0" bIns="0" rtlCol="0" anchor="t">
            <a:normAutofit/>
          </a:bodyPr>
          <a:lstStyle/>
          <a:p>
            <a:pPr indent="0" marL="0">
              <a:buNone/>
            </a:pPr>
            <a:r>
              <a:rPr lang="en-US" sz="1900" b="1" dirty="0">
                <a:solidFill>
                  <a:srgbClr val="0F2347"/>
                </a:solidFill>
                <a:latin typeface="DM Sans" pitchFamily="34" charset="0"/>
                <a:ea typeface="DM Sans" pitchFamily="34" charset="-122"/>
                <a:cs typeface="DM Sans" pitchFamily="34" charset="-120"/>
              </a:rPr>
              <a:t>The outcome</a:t>
            </a:r>
            <a:endParaRPr lang="en-US" sz="1900" dirty="0"/>
          </a:p>
        </p:txBody>
      </p:sp>
      <p:sp>
        <p:nvSpPr>
          <p:cNvPr id="14" name="Text 12"/>
          <p:cNvSpPr/>
          <p:nvPr/>
        </p:nvSpPr>
        <p:spPr>
          <a:xfrm>
            <a:off x="4535424" y="3566160"/>
            <a:ext cx="2999232" cy="786384"/>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What changed, in terms someone outside can weigh.</a:t>
            </a:r>
            <a:endParaRPr lang="en-US" sz="1600" dirty="0"/>
          </a:p>
        </p:txBody>
      </p:sp>
      <p:sp>
        <p:nvSpPr>
          <p:cNvPr id="15" name="Shape 13"/>
          <p:cNvSpPr/>
          <p:nvPr/>
        </p:nvSpPr>
        <p:spPr>
          <a:xfrm>
            <a:off x="7973568" y="3017520"/>
            <a:ext cx="3438144" cy="1463040"/>
          </a:xfrm>
          <a:prstGeom prst="rect">
            <a:avLst/>
          </a:prstGeom>
          <a:solidFill>
            <a:srgbClr val="FFFFFF"/>
          </a:solidFill>
          <a:ln w="12700">
            <a:solidFill>
              <a:srgbClr val="E8DFCC"/>
            </a:solidFill>
            <a:prstDash val="solid"/>
          </a:ln>
        </p:spPr>
        <p:txBody>
          <a:bodyPr>
            <a:normAutofit/>
          </a:bodyPr>
          <a:p/>
        </p:txBody>
      </p:sp>
      <p:sp>
        <p:nvSpPr>
          <p:cNvPr id="16" name="Text 14"/>
          <p:cNvSpPr/>
          <p:nvPr/>
        </p:nvSpPr>
        <p:spPr>
          <a:xfrm>
            <a:off x="8193024" y="3200400"/>
            <a:ext cx="2999232" cy="310896"/>
          </a:xfrm>
          <a:prstGeom prst="rect">
            <a:avLst/>
          </a:prstGeom>
          <a:noFill/>
          <a:ln/>
        </p:spPr>
        <p:txBody>
          <a:bodyPr wrap="square" lIns="0" tIns="0" rIns="0" bIns="0" rtlCol="0" anchor="t">
            <a:normAutofit/>
          </a:bodyPr>
          <a:lstStyle/>
          <a:p>
            <a:pPr indent="0" marL="0">
              <a:buNone/>
            </a:pPr>
            <a:r>
              <a:rPr lang="en-US" sz="1900" b="1" dirty="0">
                <a:solidFill>
                  <a:srgbClr val="0F2347"/>
                </a:solidFill>
                <a:latin typeface="DM Sans" pitchFamily="34" charset="0"/>
                <a:ea typeface="DM Sans" pitchFamily="34" charset="-122"/>
                <a:cs typeface="DM Sans" pitchFamily="34" charset="-120"/>
              </a:rPr>
              <a:t>The capability</a:t>
            </a:r>
            <a:endParaRPr lang="en-US" sz="1900" dirty="0"/>
          </a:p>
        </p:txBody>
      </p:sp>
      <p:sp>
        <p:nvSpPr>
          <p:cNvPr id="17" name="Text 15"/>
          <p:cNvSpPr/>
          <p:nvPr/>
        </p:nvSpPr>
        <p:spPr>
          <a:xfrm>
            <a:off x="8193024" y="3566160"/>
            <a:ext cx="2999232" cy="786384"/>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What the work formed in you that would travel.</a:t>
            </a:r>
            <a:endParaRPr lang="en-US" sz="1600" dirty="0"/>
          </a:p>
        </p:txBody>
      </p:sp>
      <p:sp>
        <p:nvSpPr>
          <p:cNvPr id="18" name="Text 16"/>
          <p:cNvSpPr/>
          <p:nvPr/>
        </p:nvSpPr>
        <p:spPr>
          <a:xfrm>
            <a:off x="658368" y="4718304"/>
            <a:ext cx="10872216" cy="548640"/>
          </a:xfrm>
          <a:prstGeom prst="rect">
            <a:avLst/>
          </a:prstGeom>
          <a:noFill/>
          <a:ln/>
        </p:spPr>
        <p:txBody>
          <a:bodyPr wrap="square" lIns="0" tIns="0" rIns="0" bIns="0" rtlCol="0" anchor="t">
            <a:normAutofit/>
          </a:bodyPr>
          <a:lstStyle/>
          <a:p>
            <a:pPr indent="0" marL="0">
              <a:lnSpc>
                <a:spcPct val="120000"/>
              </a:lnSpc>
              <a:buNone/>
            </a:pPr>
            <a:r>
              <a:rPr lang="en-US" sz="2100" b="1" dirty="0">
                <a:solidFill>
                  <a:srgbClr val="0F2347"/>
                </a:solidFill>
                <a:latin typeface="DM Sans" pitchFamily="34" charset="0"/>
                <a:ea typeface="DM Sans" pitchFamily="34" charset="-122"/>
                <a:cs typeface="DM Sans" pitchFamily="34" charset="-120"/>
              </a:rPr>
              <a:t>You do not need louder confidence. You need claims that can survive evidence.</a:t>
            </a:r>
            <a:endParaRPr lang="en-US" sz="2100" dirty="0"/>
          </a:p>
        </p:txBody>
      </p:sp>
      <p:sp>
        <p:nvSpPr>
          <p:cNvPr id="19" name="Shape 17"/>
          <p:cNvSpPr/>
          <p:nvPr/>
        </p:nvSpPr>
        <p:spPr>
          <a:xfrm>
            <a:off x="658368" y="5468112"/>
            <a:ext cx="10872216" cy="10973"/>
          </a:xfrm>
          <a:prstGeom prst="rect">
            <a:avLst/>
          </a:prstGeom>
          <a:solidFill>
            <a:srgbClr val="E8DFCC"/>
          </a:solidFill>
          <a:ln w="12700">
            <a:solidFill>
              <a:srgbClr val="333333"/>
            </a:solidFill>
            <a:prstDash val="solid"/>
          </a:ln>
        </p:spPr>
        <p:txBody>
          <a:bodyPr>
            <a:normAutofit/>
          </a:bodyPr>
          <a:p/>
        </p:txBody>
      </p:sp>
      <p:sp>
        <p:nvSpPr>
          <p:cNvPr id="20" name="Text 18"/>
          <p:cNvSpPr/>
          <p:nvPr/>
        </p:nvSpPr>
        <p:spPr>
          <a:xfrm>
            <a:off x="658368" y="5614416"/>
            <a:ext cx="10872216" cy="566928"/>
          </a:xfrm>
          <a:prstGeom prst="rect">
            <a:avLst/>
          </a:prstGeom>
          <a:noFill/>
          <a:ln/>
        </p:spPr>
        <p:txBody>
          <a:bodyPr wrap="square" lIns="0" tIns="0" rIns="0" bIns="0" rtlCol="0" anchor="t">
            <a:normAutofit/>
          </a:bodyPr>
          <a:lstStyle/>
          <a:p>
            <a:pPr indent="0" marL="0">
              <a:lnSpc>
                <a:spcPct val="115000"/>
              </a:lnSpc>
              <a:buNone/>
            </a:pPr>
            <a:r>
              <a:rPr lang="en-US" sz="1600" dirty="0">
                <a:solidFill>
                  <a:srgbClr val="0F2347"/>
                </a:solidFill>
                <a:latin typeface="DM Sans" pitchFamily="34" charset="0"/>
                <a:ea typeface="DM Sans" pitchFamily="34" charset="-122"/>
                <a:cs typeface="DM Sans" pitchFamily="34" charset="-120"/>
              </a:rPr>
              <a:t>Take-home prompt on workbook page 25.</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42</Slides>
  <Notes>42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42</vt:i4>
      </vt:variant>
    </vt:vector>
  </HeadingPairs>
  <TitlesOfParts>
    <vt:vector size="4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vector>
  </TitlesOfParts>
  <Company>The Density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Should I Stay or Should I Move? A Live Capability Position Read</dc:title>
  <dc:subject>Capability Formation Instrument Version 1.1 · Workshop Deck v4.7</dc:subject>
  <dc:creator>Temidayo Afonja</dc:creator>
  <cp:lastModifiedBy>Temidayo Afonja</cp:lastModifiedBy>
  <cp:revision>1</cp:revision>
  <dcterms:created xsi:type="dcterms:W3CDTF">2026-08-01T20:02:22Z</dcterms:created>
  <dcterms:modified xsi:type="dcterms:W3CDTF">2026-08-01T20:02:22Z</dcterms:modified>
</cp:coreProperties>
</file>