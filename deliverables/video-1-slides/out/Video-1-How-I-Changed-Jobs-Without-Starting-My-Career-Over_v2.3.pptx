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0:00-0:35</a:t>
            </a:r>
          </a:p>
          <a:p/>
          <a:p>
            <a:r>
              <a:t>Begin full-screen on Temidayo rather than on the slide.</a:t>
            </a:r>
          </a:p>
          <a:p/>
          <a:p>
            <a:r>
              <a:t>Exact opening:</a:t>
            </a:r>
          </a:p>
          <a:p/>
          <a:p>
            <a:r>
              <a:t>"If you are considering a different job, function or industry, one of the</a:t>
            </a:r>
          </a:p>
          <a:p>
            <a:r>
              <a:t>hardest questions is whether the experience you already have will still</a:t>
            </a:r>
          </a:p>
          <a:p>
            <a:r>
              <a:t>count. I have changed the kind of work I do several times without treating</a:t>
            </a:r>
          </a:p>
          <a:p>
            <a:r>
              <a:t>each move as a return to zero. In this video, I will show you three</a:t>
            </a:r>
          </a:p>
          <a:p>
            <a:r>
              <a:t>questions I use to identify what my experience has built, explain one</a:t>
            </a:r>
          </a:p>
          <a:p>
            <a:r>
              <a:t>result in language another employer can understand and decide what</a:t>
            </a:r>
          </a:p>
          <a:p>
            <a:r>
              <a:t>evidence to preserve before I move."</a:t>
            </a:r>
          </a:p>
          <a:p/>
          <a:p>
            <a:r>
              <a:t>Move to the title slide after introducing the three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0:35-1:35</a:t>
            </a:r>
          </a:p>
          <a:p/>
          <a:p>
            <a:r>
              <a:t>Speak naturally from the career sequence. Do not read the slide.</a:t>
            </a:r>
          </a:p>
          <a:p/>
          <a:p>
            <a:r>
              <a:t>Use this transition:</a:t>
            </a:r>
          </a:p>
          <a:p/>
          <a:p>
            <a:r>
              <a:t>"The continuity was not always visible in the job titles. I had to look</a:t>
            </a:r>
          </a:p>
          <a:p>
            <a:r>
              <a:t>underneath them and ask what the work had actually trained me to do."</a:t>
            </a:r>
          </a:p>
          <a:p/>
          <a:p>
            <a:r>
              <a:t>Keep the camera in the upper-left safe area while the timeline is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1:35-1:50</a:t>
            </a:r>
          </a:p>
          <a:p/>
          <a:p>
            <a:r>
              <a:t>Introduce the three ideas briefly. Do not explain all three on this slide.</a:t>
            </a:r>
          </a:p>
          <a:p/>
          <a:p>
            <a:r>
              <a:t>Reveal one card at a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1:50-3:10</a:t>
            </a:r>
          </a:p>
          <a:p/>
          <a:p>
            <a:r>
              <a:t>Explain that the title identifies where the work sat, while the questions</a:t>
            </a:r>
          </a:p>
          <a:p>
            <a:r>
              <a:t>reveal what the experience developed.</a:t>
            </a:r>
          </a:p>
          <a:p/>
          <a:p>
            <a:r>
              <a:t>Reveal one question at a time.</a:t>
            </a:r>
          </a:p>
          <a:p/>
          <a:p>
            <a:r>
              <a:t>Viewer action:</a:t>
            </a:r>
          </a:p>
          <a:p/>
          <a:p>
            <a:r>
              <a:t>Write down your current title. Under it, name three problems people now</a:t>
            </a:r>
          </a:p>
          <a:p>
            <a:r>
              <a:t>trust you to solve.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3:10-4:10</a:t>
            </a:r>
          </a:p>
          <a:p/>
          <a:p>
            <a:r>
              <a:t>Explain that "onboarding redesign" names the project but does not yet tell</a:t>
            </a:r>
          </a:p>
          <a:p>
            <a:r>
              <a:t>an unfamiliar viewer what improved.</a:t>
            </a:r>
          </a:p>
          <a:p/>
          <a:p>
            <a:r>
              <a:t>State clearly that you led the redesign with your team.</a:t>
            </a:r>
          </a:p>
          <a:p/>
          <a:p>
            <a:r>
              <a:t>Reveal the portable description only after the internal one has been read</a:t>
            </a:r>
          </a:p>
          <a:p>
            <a:r>
              <a:t>aloud and explained.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4:10-4:55</a:t>
            </a:r>
          </a:p>
          <a:p/>
          <a:p>
            <a:r>
              <a:t>Say:</a:t>
            </a:r>
          </a:p>
          <a:p/>
          <a:p>
            <a:r>
              <a:t>"One measure of how well new hires felt integrated moved from 47 to 75</a:t>
            </a:r>
          </a:p>
          <a:p>
            <a:r>
              <a:t>after the onboarding redesign I led with my team. The number becomes</a:t>
            </a:r>
          </a:p>
          <a:p>
            <a:r>
              <a:t>useful because I can explain what it measured, what changed and what I</a:t>
            </a:r>
          </a:p>
          <a:p>
            <a:r>
              <a:t>was responsible for."</a:t>
            </a:r>
          </a:p>
          <a:p/>
          <a:p>
            <a:r>
              <a:t>Reveal 47 first, then 75.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4:55-6:40</a:t>
            </a:r>
          </a:p>
          <a:p/>
          <a:p>
            <a:r>
              <a:t>Explain that professionals often remember project names while losing the</a:t>
            </a:r>
          </a:p>
          <a:p>
            <a:r>
              <a:t>evidence, context and explanation that make the work useful later.</a:t>
            </a:r>
          </a:p>
          <a:p/>
          <a:p>
            <a:r>
              <a:t>Teach the card one row at a time.</a:t>
            </a:r>
          </a:p>
          <a:p/>
          <a:p>
            <a:r>
              <a:t>Keep the account permitted and high level. Nothing confidential and no</a:t>
            </a:r>
          </a:p>
          <a:p>
            <a:r>
              <a:t>employer-owned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6:40-7:45</a:t>
            </a:r>
          </a:p>
          <a:p/>
          <a:p>
            <a:r>
              <a:t>Ask one question at a time and pause.</a:t>
            </a:r>
          </a:p>
          <a:p/>
          <a:p>
            <a:r>
              <a:t>Leave five to seven seconds after the third question before moving to the</a:t>
            </a:r>
          </a:p>
          <a:p>
            <a:r>
              <a:t>Field Kit invitation.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7:45-8:20</a:t>
            </a:r>
          </a:p>
          <a:p/>
          <a:p>
            <a:r>
              <a:t>Exact invitation:</a:t>
            </a:r>
          </a:p>
          <a:p/>
          <a:p>
            <a:r>
              <a:t>"If these questions are showing you that you need a fuller reading of what</a:t>
            </a:r>
          </a:p>
          <a:p>
            <a:r>
              <a:t>your current work is building, the Capability Formation Field Kit will help</a:t>
            </a:r>
          </a:p>
          <a:p>
            <a:r>
              <a:t>you complete that assessment privately using evidence from the last 90</a:t>
            </a:r>
          </a:p>
          <a:p>
            <a:r>
              <a:t>days."</a:t>
            </a:r>
          </a:p>
          <a:p/>
          <a:p>
            <a:r>
              <a:t>Keep the delivery calm and brief. This is the only purchase invitation in</a:t>
            </a:r>
          </a:p>
          <a:p>
            <a:r>
              <a:t>the video.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8:20-9:00</a:t>
            </a:r>
          </a:p>
          <a:p/>
          <a:p>
            <a:r>
              <a:t>Exact bridge:</a:t>
            </a:r>
          </a:p>
          <a:p/>
          <a:p>
            <a:r>
              <a:t>"In the next video, I will show you how to recognize when you are still</a:t>
            </a:r>
          </a:p>
          <a:p>
            <a:r>
              <a:t>performing well but the work is no longer expanding your skills or future</a:t>
            </a:r>
          </a:p>
          <a:p>
            <a:r>
              <a:t>options."</a:t>
            </a:r>
          </a:p>
          <a:p/>
          <a:p>
            <a:r>
              <a:t>Do not summarize the current video again.</a:t>
            </a:r>
          </a:p>
          <a:p/>
          <a:p>
            <a:r>
              <a:t>The right side of this frame is left open for the YouTube linked-video</a:t>
            </a:r>
          </a:p>
          <a:p>
            <a:r>
              <a:t>end-screen element. Hold the final frame for at least 12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5600" y="355600"/>
            <a:ext cx="11480800" cy="61468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91800" y="66040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15650" y="660400"/>
            <a:ext cx="254000" cy="2540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91800" y="98425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15650" y="98425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3600" y="2933700"/>
            <a:ext cx="889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VIDEO ONE  ·  CAPABILITY 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3600" y="33020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5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How I Changed Jobs</a:t>
            </a:r>
            <a:br/>
            <a:r>
              <a:rPr sz="5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Without Starting</a:t>
            </a:r>
            <a:br/>
            <a:r>
              <a:rPr sz="5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My Career Over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3600" y="5727700"/>
            <a:ext cx="1397000" cy="381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3600" y="5981700"/>
            <a:ext cx="762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200">
                <a:solidFill>
                  <a:srgbClr val="B9C3D2"/>
                </a:solidFill>
                <a:latin typeface="Montserrat"/>
                <a:ea typeface="Montserrat"/>
                <a:cs typeface="Montserrat"/>
              </a:rPr>
              <a:t>Temidayo Afonja  ·  temidayoafonja.com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hoto-portrait-wine.png"/>
          <p:cNvPicPr>
            <a:picLocks noChangeAspect="1"/>
          </p:cNvPicPr>
          <p:nvPr/>
        </p:nvPicPr>
        <p:blipFill>
          <a:blip r:embed="rId2"/>
          <a:srcRect l="18" r="18"/>
          <a:stretch>
            <a:fillRect/>
          </a:stretch>
        </p:blipFill>
        <p:spPr>
          <a:xfrm>
            <a:off x="9017000" y="584200"/>
            <a:ext cx="2540000" cy="3175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017000" y="584200"/>
            <a:ext cx="2540000" cy="3175000"/>
          </a:xfrm>
          <a:prstGeom prst="rect">
            <a:avLst/>
          </a:prstGeom>
          <a:noFill/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3175000"/>
            <a:ext cx="762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MY CAREER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479800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connected those career changes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013200"/>
            <a:ext cx="787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5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Accounting and audit trained me to look for evidence, controls, risk and</a:t>
            </a:r>
            <a:br/>
            <a:r>
              <a:rPr sz="145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what a system was failing to reveal. I carried that way of seeing into</a:t>
            </a:r>
            <a:br/>
            <a:r>
              <a:rPr sz="145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cybersecurity and later into people strategy.</a:t>
            </a:r>
          </a:p>
        </p:txBody>
      </p:sp>
      <p:sp>
        <p:nvSpPr>
          <p:cNvPr id="8" name="Rectangle 7"/>
          <p:cNvSpPr/>
          <p:nvPr/>
        </p:nvSpPr>
        <p:spPr>
          <a:xfrm>
            <a:off x="2032000" y="5473700"/>
            <a:ext cx="8191500" cy="1905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968500" y="5419725"/>
            <a:ext cx="127000" cy="127000"/>
          </a:xfrm>
          <a:prstGeom prst="ellipse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8500" y="5740400"/>
            <a:ext cx="2667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 spc="100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ACCOUNTING &amp; AUDIT</a:t>
            </a:r>
          </a:p>
        </p:txBody>
      </p:sp>
      <p:sp>
        <p:nvSpPr>
          <p:cNvPr id="11" name="Oval 10"/>
          <p:cNvSpPr/>
          <p:nvPr/>
        </p:nvSpPr>
        <p:spPr>
          <a:xfrm>
            <a:off x="4699000" y="5419725"/>
            <a:ext cx="127000" cy="127000"/>
          </a:xfrm>
          <a:prstGeom prst="ellipse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5740400"/>
            <a:ext cx="2667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 spc="100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CYBERSECURITY</a:t>
            </a:r>
          </a:p>
        </p:txBody>
      </p:sp>
      <p:sp>
        <p:nvSpPr>
          <p:cNvPr id="13" name="Oval 12"/>
          <p:cNvSpPr/>
          <p:nvPr/>
        </p:nvSpPr>
        <p:spPr>
          <a:xfrm>
            <a:off x="7429500" y="5419725"/>
            <a:ext cx="127000" cy="127000"/>
          </a:xfrm>
          <a:prstGeom prst="ellipse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59500" y="5740400"/>
            <a:ext cx="2667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 spc="100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PEOPLE STRATEGY</a:t>
            </a:r>
          </a:p>
        </p:txBody>
      </p:sp>
      <p:sp>
        <p:nvSpPr>
          <p:cNvPr id="15" name="Oval 14"/>
          <p:cNvSpPr/>
          <p:nvPr/>
        </p:nvSpPr>
        <p:spPr>
          <a:xfrm>
            <a:off x="10115550" y="5375275"/>
            <a:ext cx="215900" cy="2159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90000" y="5740400"/>
            <a:ext cx="2667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 spc="10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CAPABILITY FORMATION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500" y="6121400"/>
            <a:ext cx="10858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Along the way: consulting, life sciences, technology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THREE THINGS I LEARNED TO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These helped me carry</a:t>
            </a:r>
            <a:br/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my experience forward.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3302000"/>
            <a:ext cx="3365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3302000"/>
            <a:ext cx="33655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1400" y="35941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1400" y="4445000"/>
            <a:ext cx="2857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Look underneath</a:t>
            </a:r>
            <a:br/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the title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413250" y="3302000"/>
            <a:ext cx="3365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3250" y="3302000"/>
            <a:ext cx="33655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2650" y="35941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2650" y="4445000"/>
            <a:ext cx="2857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Explain what</a:t>
            </a:r>
            <a:br/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the work changed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64500" y="3302000"/>
            <a:ext cx="3365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4500" y="3302000"/>
            <a:ext cx="33655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3900" y="35941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3900" y="4445000"/>
            <a:ext cx="2857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Keep evidence</a:t>
            </a:r>
            <a:br/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before you need 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Look underneath the title.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9451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Name what the work has trained you to notice, decide and solve.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6957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4000" y="36576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problems do people trust me to solve?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415163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442468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" y="438658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decisions can I now make with better judgment?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488061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515366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4000" y="511556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could I do in another setting</a:t>
            </a:r>
            <a:br/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because of what I learned here?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Explain what the work changed.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526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Ask: What changed because I was there?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302000"/>
            <a:ext cx="4826000" cy="241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302000"/>
            <a:ext cx="4826000" cy="50800"/>
          </a:xfrm>
          <a:prstGeom prst="rect">
            <a:avLst/>
          </a:prstGeom>
          <a:solidFill>
            <a:srgbClr val="5A6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400" y="3594100"/>
            <a:ext cx="431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200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Internal 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1400" y="4038600"/>
            <a:ext cx="431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Led an onboarding</a:t>
            </a:r>
            <a:br/>
            <a:r>
              <a:rPr sz="2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redesign.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51500" y="4191000"/>
            <a:ext cx="101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500" b="0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04000" y="3302000"/>
            <a:ext cx="4826000" cy="241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04000" y="3302000"/>
            <a:ext cx="48260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83400" y="3594100"/>
            <a:ext cx="431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What another employer</a:t>
            </a:r>
            <a:br/>
            <a:r>
              <a:rPr sz="12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can understand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83400" y="4038600"/>
            <a:ext cx="438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 led an onboarding redesign with</a:t>
            </a:r>
            <a:br/>
            <a:r>
              <a:rPr sz="1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my team. One measure of how well</a:t>
            </a:r>
            <a:br/>
            <a:r>
              <a:rPr sz="1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new hires felt integrated moved</a:t>
            </a:r>
            <a:br/>
            <a:r>
              <a:rPr sz="1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from 47 to 75.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ONE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One measure of</a:t>
            </a:r>
            <a:br/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new-hire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210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A team result from a redesign I 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13000" y="33020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13000" y="56007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 spc="150">
                <a:solidFill>
                  <a:srgbClr val="B9C3D2"/>
                </a:solidFill>
                <a:latin typeface="Montserrat"/>
                <a:ea typeface="Montserrat"/>
                <a:cs typeface="Montserrat"/>
              </a:rPr>
              <a:t>Before the redesign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07000" y="3683000"/>
            <a:ext cx="177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0" b="0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33020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56007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After the redesign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THREE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Keep evidence</a:t>
            </a:r>
            <a:br/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before you need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225552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Write a permitted, high-level account in your own words.</a:t>
            </a:r>
            <a:br/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Leave confidential and employer-owned material out.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086100"/>
            <a:ext cx="10668000" cy="327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086100"/>
            <a:ext cx="106680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400" y="3352800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Situation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000" y="3314700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New hires needed a stronger integration experience.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1400" y="3742436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1400" y="3971036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My 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5000" y="3932936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 led the onboarding redesign with my team.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1400" y="4360672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1400" y="4589272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What changed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75000" y="4551172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One measure of how well new hires felt</a:t>
            </a:r>
            <a:br/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integrated moved from 47 to 75.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1400" y="5266944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1400" y="5495544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What this shows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75000" y="5457444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 can diagnose a weak point in the employee experience</a:t>
            </a:r>
            <a:br/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and lead a redesign that improves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BEFORE YOUR NEXT MOVE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Write down your answers</a:t>
            </a:r>
            <a:br/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to these three questions.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1877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0" y="31496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can I solve now</a:t>
            </a:r>
            <a:br/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that I could not solve two years ago?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3978910"/>
            <a:ext cx="10668000" cy="127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425196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" y="421386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result can I describe in language</a:t>
            </a:r>
            <a:br/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another employer would understand?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000" y="5043170"/>
            <a:ext cx="10668000" cy="127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531622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" y="527812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could I still do if the title,</a:t>
            </a:r>
            <a:br/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employer or industry changed?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eldkit-pag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180000">
            <a:off x="6414655" y="1206500"/>
            <a:ext cx="2728191" cy="3530600"/>
          </a:xfrm>
          <a:prstGeom prst="rect">
            <a:avLst/>
          </a:prstGeom>
        </p:spPr>
      </p:pic>
      <p:pic>
        <p:nvPicPr>
          <p:cNvPr id="4" name="Picture 3" descr="fieldkit-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6232" y="812800"/>
            <a:ext cx="3552536" cy="4597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2984500"/>
            <a:ext cx="762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CAPABILITY FORMATION FIELD 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289300"/>
            <a:ext cx="558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Is your job still</a:t>
            </a:r>
            <a:br/>
            <a:r>
              <a:rPr sz="3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building you?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394200"/>
            <a:ext cx="533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Complete a private, evidence-led career position</a:t>
            </a:r>
            <a:br/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assessment using the last 90 days of your</a:t>
            </a:r>
            <a:br/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actual work.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5372100"/>
            <a:ext cx="4572000" cy="6096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5372100"/>
            <a:ext cx="45720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temidayoafonja.com/fieldkit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933700"/>
            <a:ext cx="5715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WATCH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276600"/>
            <a:ext cx="609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Is Your Job</a:t>
            </a:r>
            <a:br/>
            <a:r>
              <a:rPr sz="4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Making You Less</a:t>
            </a:r>
            <a:br/>
            <a:r>
              <a:rPr sz="4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Marketable?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5410200"/>
            <a:ext cx="1270000" cy="381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871200" y="5892800"/>
            <a:ext cx="203200" cy="2032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131550" y="5892800"/>
            <a:ext cx="203200" cy="2032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71200" y="6153150"/>
            <a:ext cx="203200" cy="2032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131550" y="6153150"/>
            <a:ext cx="203200" cy="2032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