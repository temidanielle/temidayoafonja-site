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0:00-0:35</a:t>
            </a:r>
          </a:p>
          <a:p/>
          <a:p>
            <a:r>
              <a:t>Begin full-screen on Temidayo rather than on the slide.</a:t>
            </a:r>
          </a:p>
          <a:p/>
          <a:p>
            <a:r>
              <a:t>Exact opening:</a:t>
            </a:r>
          </a:p>
          <a:p/>
          <a:p>
            <a:r>
              <a:t>"If you are considering a different job, function or industry, one of the</a:t>
            </a:r>
          </a:p>
          <a:p>
            <a:r>
              <a:t>hardest questions is whether the experience you already have will still</a:t>
            </a:r>
          </a:p>
          <a:p>
            <a:r>
              <a:t>count. I have changed the kind of work I do several times without treating</a:t>
            </a:r>
          </a:p>
          <a:p>
            <a:r>
              <a:t>each move as a return to zero. In this video, I will show you three</a:t>
            </a:r>
          </a:p>
          <a:p>
            <a:r>
              <a:t>questions I use to identify what my experience has built, explain one</a:t>
            </a:r>
          </a:p>
          <a:p>
            <a:r>
              <a:t>result in language another employer can understand and decide what</a:t>
            </a:r>
          </a:p>
          <a:p>
            <a:r>
              <a:t>evidence to preserve before I move."</a:t>
            </a:r>
          </a:p>
          <a:p/>
          <a:p>
            <a:r>
              <a:t>Move to the title slide after introducing the three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0:35-1:35</a:t>
            </a:r>
          </a:p>
          <a:p/>
          <a:p>
            <a:r>
              <a:t>Speak naturally from the career sequence. Do not read the slide.</a:t>
            </a:r>
          </a:p>
          <a:p/>
          <a:p>
            <a:r>
              <a:t>Use this transition:</a:t>
            </a:r>
          </a:p>
          <a:p/>
          <a:p>
            <a:r>
              <a:t>"The continuity was not always visible in the job titles. I had to look</a:t>
            </a:r>
          </a:p>
          <a:p>
            <a:r>
              <a:t>underneath them and ask what the work had actually trained me to do."</a:t>
            </a:r>
          </a:p>
          <a:p/>
          <a:p>
            <a:r>
              <a:t>Keep the camera in the upper-left safe area while the timeline is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1:35-1:50</a:t>
            </a:r>
          </a:p>
          <a:p/>
          <a:p>
            <a:r>
              <a:t>Introduce the three ideas briefly. Do not explain all three on this slide.</a:t>
            </a:r>
          </a:p>
          <a:p/>
          <a:p>
            <a:r>
              <a:t>Reveal one card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1:50-3:10</a:t>
            </a:r>
          </a:p>
          <a:p/>
          <a:p>
            <a:r>
              <a:t>Explain that the title identifies where the work sat, while the questions</a:t>
            </a:r>
          </a:p>
          <a:p>
            <a:r>
              <a:t>reveal what the experience developed.</a:t>
            </a:r>
          </a:p>
          <a:p/>
          <a:p>
            <a:r>
              <a:t>Reveal one question at a time.</a:t>
            </a:r>
          </a:p>
          <a:p/>
          <a:p>
            <a:r>
              <a:t>Viewer action:</a:t>
            </a:r>
          </a:p>
          <a:p/>
          <a:p>
            <a:r>
              <a:t>Write down your current title. Under it, name three problems people now</a:t>
            </a:r>
          </a:p>
          <a:p>
            <a:r>
              <a:t>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3:10-4:10</a:t>
            </a:r>
          </a:p>
          <a:p/>
          <a:p>
            <a:r>
              <a:t>Explain that "onboarding redesign" names the project but does not yet tell</a:t>
            </a:r>
          </a:p>
          <a:p>
            <a:r>
              <a:t>an unfamiliar viewer what improved.</a:t>
            </a:r>
          </a:p>
          <a:p/>
          <a:p>
            <a:r>
              <a:t>State clearly that you led the redesign with your team.</a:t>
            </a:r>
          </a:p>
          <a:p/>
          <a:p>
            <a:r>
              <a:t>Reveal the portable description only after the internal one has been read</a:t>
            </a:r>
          </a:p>
          <a:p>
            <a:r>
              <a:t>aloud and explained.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4:10-4:55</a:t>
            </a:r>
          </a:p>
          <a:p/>
          <a:p>
            <a:r>
              <a:t>Say:</a:t>
            </a:r>
          </a:p>
          <a:p/>
          <a:p>
            <a:r>
              <a:t>"One measure of how well new hires felt integrated moved from 47 to 75</a:t>
            </a:r>
          </a:p>
          <a:p>
            <a:r>
              <a:t>after the onboarding redesign I led with my team. The number becomes</a:t>
            </a:r>
          </a:p>
          <a:p>
            <a:r>
              <a:t>useful because I can explain what it measured, what changed and what I</a:t>
            </a:r>
          </a:p>
          <a:p>
            <a:r>
              <a:t>was responsible for."</a:t>
            </a:r>
          </a:p>
          <a:p/>
          <a:p>
            <a:r>
              <a:t>Reveal 47 first, then 75.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4:55-6:40</a:t>
            </a:r>
          </a:p>
          <a:p/>
          <a:p>
            <a:r>
              <a:t>Explain that professionals often remember project names while losing the</a:t>
            </a:r>
          </a:p>
          <a:p>
            <a:r>
              <a:t>evidence, context and explanation that make the work useful later.</a:t>
            </a:r>
          </a:p>
          <a:p/>
          <a:p>
            <a:r>
              <a:t>Teach the card one row at a time.</a:t>
            </a:r>
          </a:p>
          <a:p/>
          <a:p>
            <a:r>
              <a:t>Keep the account permitted and high level. Nothing confidential and no</a:t>
            </a:r>
          </a:p>
          <a:p>
            <a:r>
              <a:t>employer-owned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6:40-7:45</a:t>
            </a:r>
          </a:p>
          <a:p/>
          <a:p>
            <a:r>
              <a:t>Ask one question at a time and pause.</a:t>
            </a:r>
          </a:p>
          <a:p/>
          <a:p>
            <a:r>
              <a:t>Leave five to seven seconds after the third question before moving to the</a:t>
            </a:r>
          </a:p>
          <a:p>
            <a:r>
              <a:t>Field Kit invitation.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7:45-8:20</a:t>
            </a:r>
          </a:p>
          <a:p/>
          <a:p>
            <a:r>
              <a:t>Exact invitation:</a:t>
            </a:r>
          </a:p>
          <a:p/>
          <a:p>
            <a:r>
              <a:t>"If these questions are showing you that you need a fuller reading of what</a:t>
            </a:r>
          </a:p>
          <a:p>
            <a:r>
              <a:t>your current work is building, the Capability Formation Field Kit will help</a:t>
            </a:r>
          </a:p>
          <a:p>
            <a:r>
              <a:t>you complete that assessment privately using evidence from the last 90</a:t>
            </a:r>
          </a:p>
          <a:p>
            <a:r>
              <a:t>days."</a:t>
            </a:r>
          </a:p>
          <a:p/>
          <a:p>
            <a:r>
              <a:t>Keep the delivery calm and brief. This is the only purchase invitation in</a:t>
            </a:r>
          </a:p>
          <a:p>
            <a:r>
              <a:t>the video.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8:20-9:00</a:t>
            </a:r>
          </a:p>
          <a:p/>
          <a:p>
            <a:r>
              <a:t>Exact bridge:</a:t>
            </a:r>
          </a:p>
          <a:p/>
          <a:p>
            <a:r>
              <a:t>"In the next video, I will show you how to recognize when you are still</a:t>
            </a:r>
          </a:p>
          <a:p>
            <a:r>
              <a:t>performing well but the work is no longer expanding your skills or future</a:t>
            </a:r>
          </a:p>
          <a:p>
            <a:r>
              <a:t>options."</a:t>
            </a:r>
          </a:p>
          <a:p/>
          <a:p>
            <a:r>
              <a:t>Do not summarize the current video again.</a:t>
            </a:r>
          </a:p>
          <a:p/>
          <a:p>
            <a:r>
              <a:t>The right side of this frame is left open for the YouTube linked-video</a:t>
            </a:r>
          </a:p>
          <a:p>
            <a:r>
              <a:t>end-screen element. Hold the final frame for at least 12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5600" y="355600"/>
            <a:ext cx="11480800" cy="61468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91800" y="66040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15650" y="660400"/>
            <a:ext cx="254000" cy="2540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9180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15650" y="984250"/>
            <a:ext cx="254000" cy="2540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3600" y="2933700"/>
            <a:ext cx="889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VIDEO ONE  ·  CAPABILITY 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How I Changed Jobs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Without Starting</a:t>
            </a:r>
            <a:br/>
            <a:r>
              <a:rPr sz="5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My Career Over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3600" y="5727700"/>
            <a:ext cx="1397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3600" y="59817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Temidayo Afonja  ·  temidayoafonja.com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hoto-portrait-wine.png"/>
          <p:cNvPicPr>
            <a:picLocks noChangeAspect="1"/>
          </p:cNvPicPr>
          <p:nvPr/>
        </p:nvPicPr>
        <p:blipFill>
          <a:blip r:embed="rId2"/>
          <a:srcRect l="18" r="18"/>
          <a:stretch>
            <a:fillRect/>
          </a:stretch>
        </p:blipFill>
        <p:spPr>
          <a:xfrm>
            <a:off x="9017000" y="584200"/>
            <a:ext cx="2540000" cy="3175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9017000" y="584200"/>
            <a:ext cx="2540000" cy="3175000"/>
          </a:xfrm>
          <a:prstGeom prst="rect">
            <a:avLst/>
          </a:prstGeom>
          <a:noFill/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2000" y="31750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CAREER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4798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connected those career changes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13200"/>
            <a:ext cx="787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Accounting and audit trained me to look for evidence, controls, risk and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a system was failing to reveal. I carried that way of seeing into</a:t>
            </a:r>
            <a:br/>
            <a:r>
              <a:rPr sz="145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cybersecurity and later into people strategy.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0500" y="5473700"/>
            <a:ext cx="9080500" cy="1905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70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15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ACCOUNTING</a:t>
            </a:r>
          </a:p>
        </p:txBody>
      </p:sp>
      <p:sp>
        <p:nvSpPr>
          <p:cNvPr id="11" name="Oval 10"/>
          <p:cNvSpPr/>
          <p:nvPr/>
        </p:nvSpPr>
        <p:spPr>
          <a:xfrm>
            <a:off x="32131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876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CONSULTING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37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LIFE</a:t>
            </a:r>
            <a:br/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SCIENCES</a:t>
            </a:r>
          </a:p>
        </p:txBody>
      </p:sp>
      <p:sp>
        <p:nvSpPr>
          <p:cNvPr id="15" name="Oval 14"/>
          <p:cNvSpPr/>
          <p:nvPr/>
        </p:nvSpPr>
        <p:spPr>
          <a:xfrm>
            <a:off x="68453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198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TECHNOLOGY</a:t>
            </a:r>
          </a:p>
        </p:txBody>
      </p:sp>
      <p:sp>
        <p:nvSpPr>
          <p:cNvPr id="17" name="Oval 16"/>
          <p:cNvSpPr/>
          <p:nvPr/>
        </p:nvSpPr>
        <p:spPr>
          <a:xfrm>
            <a:off x="8661400" y="5419725"/>
            <a:ext cx="127000" cy="127000"/>
          </a:xfrm>
          <a:prstGeom prst="ellipse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59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PEOPLE</a:t>
            </a:r>
            <a:br/>
            <a:r>
              <a:rPr sz="1350" b="1" i="0" spc="125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STRATEGY</a:t>
            </a:r>
          </a:p>
        </p:txBody>
      </p:sp>
      <p:sp>
        <p:nvSpPr>
          <p:cNvPr id="19" name="Oval 18"/>
          <p:cNvSpPr/>
          <p:nvPr/>
        </p:nvSpPr>
        <p:spPr>
          <a:xfrm>
            <a:off x="10433050" y="5375275"/>
            <a:ext cx="215900" cy="215900"/>
          </a:xfrm>
          <a:prstGeom prst="ellipse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2000" y="57404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 i="0" spc="125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CAPABILITY</a:t>
            </a:r>
            <a:br/>
            <a:r>
              <a:rPr sz="1350" b="1" i="0" spc="125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things helped me carry</a:t>
            </a:r>
            <a:br/>
            <a:r>
              <a:rPr sz="2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experience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title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work changed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Look underneath the title.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9451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Name what the work has trained you to notice, decide and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695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657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do people trust me to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415163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42468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38658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now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88061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51536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51155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could I do in another setting</a:t>
            </a:r>
            <a:br/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because of what I learned here?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Explain what the work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526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Ask: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386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Portable description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38600"/>
            <a:ext cx="438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an onboarding redesign with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my team. One measure of how well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felt integrated moved</a:t>
            </a:r>
            <a:br/>
            <a:r>
              <a:rPr sz="17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47 to 75.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ONE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measure of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new-hire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10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 team result from a redesign I 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 the redesign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683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302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600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 the redesign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Write a permitted, high-level account in your own words.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Leave confidential and employer-owned material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086100"/>
            <a:ext cx="10668000" cy="3276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0861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3528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14700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742436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3971036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My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3932936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led the onboarding redesign with my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360672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589272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551172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One measure of how well new hires felt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integrated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266944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495544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this shows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457444"/>
            <a:ext cx="800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 can diagnose a weak point in the employee experience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and lead a redesign that improves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Write down your answers</a:t>
            </a:r>
            <a:br/>
            <a:r>
              <a:rPr sz="28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to these 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187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4000" y="3149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can I solve now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397891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25196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" y="421386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result can I describe in language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04317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31622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527812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could I still do if the title,</a:t>
            </a:r>
            <a:br/>
            <a:r>
              <a:rPr sz="2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employer or industry changed?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ieldkit-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80000">
            <a:off x="6414655" y="1206500"/>
            <a:ext cx="2728191" cy="3530600"/>
          </a:xfrm>
          <a:prstGeom prst="rect">
            <a:avLst/>
          </a:prstGeom>
        </p:spPr>
      </p:pic>
      <p:pic>
        <p:nvPicPr>
          <p:cNvPr id="4" name="Picture 3" descr="fieldkit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232" y="812800"/>
            <a:ext cx="3552536" cy="4597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29845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CAPABILITY FORMATION FIELD KIT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2893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Is your job still</a:t>
            </a:r>
            <a:br/>
            <a:r>
              <a:rPr sz="3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building you?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94200"/>
            <a:ext cx="533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Complete a private, evidence-led career position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assessment using the last 90 days of your</a:t>
            </a:r>
            <a:br/>
            <a:r>
              <a:rPr sz="15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actual work.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5372100"/>
            <a:ext cx="4572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temidayoafonja.com/book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933700"/>
            <a:ext cx="571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2766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Is Your Job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Making You Less</a:t>
            </a:r>
            <a:br/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Marketable?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410200"/>
            <a:ext cx="1270000" cy="381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71200" y="589280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31550" y="5892800"/>
            <a:ext cx="203200" cy="2032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7120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131550" y="6153150"/>
            <a:ext cx="203200" cy="203200"/>
          </a:xfrm>
          <a:prstGeom prst="rect">
            <a:avLst/>
          </a:prstGeom>
          <a:noFill/>
          <a:ln w="1270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