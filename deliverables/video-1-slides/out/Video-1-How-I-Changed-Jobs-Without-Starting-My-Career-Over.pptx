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0:00-0:35 Opening promise - memorize exactly.</a:t>
            </a:r>
          </a:p>
          <a:p>
            <a:r>
              <a:t>Start on your face, not this slide. Move to the title only after</a:t>
            </a:r>
          </a:p>
          <a:p>
            <a:r>
              <a:t>'the three things that helped me do it.'</a:t>
            </a:r>
          </a:p>
          <a:p>
            <a:r>
              <a:t>Camera: full frame for the first sentence, then drop to the small</a:t>
            </a:r>
          </a:p>
          <a:p>
            <a:r>
              <a:t>presenter box in the upper-left safe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0:35-1:25 Personal context - speak from ideas.</a:t>
            </a:r>
          </a:p>
          <a:p>
            <a:r>
              <a:t>Landing line: 'The continuity was not always visible in the job titles.</a:t>
            </a:r>
          </a:p>
          <a:p>
            <a:r>
              <a:t>I had to look underneath the titles and ask what the work was teaching me to do.'</a:t>
            </a:r>
          </a:p>
          <a:p>
            <a:r>
              <a:t>Gem: 'The titles changed. The capability kept accumulating.'</a:t>
            </a:r>
          </a:p>
          <a:p>
            <a:r>
              <a:t>Camera: keep the presenter box small or hide it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 Set up the three moves, then teach them one at a time.</a:t>
            </a:r>
          </a:p>
          <a:p>
            <a:r>
              <a:t>Reveal one card at a time. Camera stays in the upper-left safe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1:25-3:10 Move 1 - speak from ideas, reveal one question at a time.</a:t>
            </a:r>
          </a:p>
          <a:p>
            <a:r>
              <a:t>Gem: 'Being new to the setting did not erase what I already knew how to do.'</a:t>
            </a:r>
          </a:p>
          <a:p>
            <a:r>
              <a:t>Viewer action: write your title, then three problems people 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 for Move 1. Field Kit page 6, statement 9, rebuilt as</a:t>
            </a:r>
          </a:p>
          <a:p>
            <a:r>
              <a:t>readable slide type - do not put the whole PDF page on screen.</a:t>
            </a:r>
          </a:p>
          <a:p>
            <a:r>
              <a:t>Camera: hide the presenter box briefly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3:10-5:05 Move 2 - one concrete before-and-after, not a list.</a:t>
            </a:r>
          </a:p>
          <a:p>
            <a:r>
              <a:t>Say clearly that this was done with a team.</a:t>
            </a:r>
          </a:p>
          <a:p>
            <a:r>
              <a:t>Gem: 'The project name tells people what I worked on.</a:t>
            </a:r>
          </a:p>
          <a:p>
            <a:r>
              <a:t>The result tells them what the work changed.'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47 first, then 75. Return to camera when you explain</a:t>
            </a:r>
          </a:p>
          <a:p>
            <a:r>
              <a:t>why the outcome travels outside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 for Move 2. Field Kit page 6, statement 8, rebuilt as</a:t>
            </a:r>
          </a:p>
          <a:p>
            <a:r>
              <a:t>readable slide type. Move to the 47-to-75 proof slide after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5:05-5:35 Field Kit invitation - memorize exactly.</a:t>
            </a:r>
          </a:p>
          <a:p>
            <a:r>
              <a:t>The only purchase invitation in the video. Keep it calm, specific, brief.</a:t>
            </a:r>
          </a:p>
          <a:p>
            <a:r>
              <a:t>Camera: visible but smaller than the product. Do not show Maven in this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5:35-7:25 Move 3 - teach the card slowly, one row at a time.</a:t>
            </a:r>
          </a:p>
          <a:p>
            <a:r>
              <a:t>Gem: 'A score without an evidence line is a guess with decimal points.'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7:25-8:25 Viewer exercise - slow down.</a:t>
            </a:r>
          </a:p>
          <a:p>
            <a:r>
              <a:t>Ask one question, pause, then reveal the next.</a:t>
            </a:r>
          </a:p>
          <a:p>
            <a:r>
              <a:t>Leave five to seven seconds of quiet after the last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8:25-9:00 Next-video bridge - memorize exactly. Do not summarize.</a:t>
            </a:r>
          </a:p>
          <a:p>
            <a:r>
              <a:t>The right side of this frame is deliberately empty for YouTube's</a:t>
            </a:r>
          </a:p>
          <a:p>
            <a:r>
              <a:t>linked-video end-screen element. Hold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headshot-green.png"/>
          <p:cNvPicPr>
            <a:picLocks noChangeAspect="1"/>
          </p:cNvPicPr>
          <p:nvPr/>
        </p:nvPicPr>
        <p:blipFill>
          <a:blip r:embed="rId2"/>
          <a:srcRect t="4070" b="4070"/>
          <a:stretch>
            <a:fillRect/>
          </a:stretch>
        </p:blipFill>
        <p:spPr>
          <a:xfrm>
            <a:off x="4445000" y="609600"/>
            <a:ext cx="2184400" cy="2006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45000" y="609600"/>
            <a:ext cx="2184400" cy="20066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oto-headshot-cream.png"/>
          <p:cNvPicPr>
            <a:picLocks noChangeAspect="1"/>
          </p:cNvPicPr>
          <p:nvPr/>
        </p:nvPicPr>
        <p:blipFill>
          <a:blip r:embed="rId3"/>
          <a:srcRect t="4070" b="4070"/>
          <a:stretch>
            <a:fillRect/>
          </a:stretch>
        </p:blipFill>
        <p:spPr>
          <a:xfrm>
            <a:off x="6832600" y="609600"/>
            <a:ext cx="2184400" cy="2006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32600" y="609600"/>
            <a:ext cx="2184400" cy="20066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-portrait-wine.png"/>
          <p:cNvPicPr>
            <a:picLocks noChangeAspect="1"/>
          </p:cNvPicPr>
          <p:nvPr/>
        </p:nvPicPr>
        <p:blipFill>
          <a:blip r:embed="rId4"/>
          <a:srcRect t="13243" b="13243"/>
          <a:stretch>
            <a:fillRect/>
          </a:stretch>
        </p:blipFill>
        <p:spPr>
          <a:xfrm>
            <a:off x="9220200" y="609600"/>
            <a:ext cx="2184400" cy="2006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20200" y="609600"/>
            <a:ext cx="2184400" cy="20066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9337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PATH WAS NOT STRAIGHT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798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titles changed.</a:t>
            </a:r>
            <a:br/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capability kept accumulating.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0500" y="5156200"/>
            <a:ext cx="9080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7000" y="51022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250" y="5422900"/>
            <a:ext cx="196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</a:t>
            </a:r>
          </a:p>
        </p:txBody>
      </p:sp>
      <p:sp>
        <p:nvSpPr>
          <p:cNvPr id="15" name="Oval 14"/>
          <p:cNvSpPr/>
          <p:nvPr/>
        </p:nvSpPr>
        <p:spPr>
          <a:xfrm>
            <a:off x="3213100" y="51022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2350" y="5422900"/>
            <a:ext cx="196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CONSULTING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0" y="51022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8450" y="5422900"/>
            <a:ext cx="196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LIFE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SCIENCES</a:t>
            </a:r>
          </a:p>
        </p:txBody>
      </p:sp>
      <p:sp>
        <p:nvSpPr>
          <p:cNvPr id="19" name="Oval 18"/>
          <p:cNvSpPr/>
          <p:nvPr/>
        </p:nvSpPr>
        <p:spPr>
          <a:xfrm>
            <a:off x="6845300" y="51022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4550" y="5422900"/>
            <a:ext cx="196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TECHNOLOGY</a:t>
            </a:r>
          </a:p>
        </p:txBody>
      </p:sp>
      <p:sp>
        <p:nvSpPr>
          <p:cNvPr id="21" name="Oval 20"/>
          <p:cNvSpPr/>
          <p:nvPr/>
        </p:nvSpPr>
        <p:spPr>
          <a:xfrm>
            <a:off x="8661400" y="51022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650" y="5422900"/>
            <a:ext cx="196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STRATEGY</a:t>
            </a:r>
          </a:p>
        </p:txBody>
      </p:sp>
      <p:sp>
        <p:nvSpPr>
          <p:cNvPr id="23" name="Oval 22"/>
          <p:cNvSpPr/>
          <p:nvPr/>
        </p:nvSpPr>
        <p:spPr>
          <a:xfrm>
            <a:off x="10433050" y="50577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6750" y="5422900"/>
            <a:ext cx="196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  <a:br/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practices that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carried the value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Translate the work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title tells people where the work sat. It does not tell them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the work trained you to see, decide or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52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can I now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9116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02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0513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609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8514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800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do today that I could not do two years ago?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102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600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5499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would remain mine if this role disappeared?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8702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  ·  PAGE 06  ·  OPTIONALITY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8500" y="3251200"/>
            <a:ext cx="635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1000" y="36195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3600" b="0" i="0">
                <a:solidFill>
                  <a:srgbClr val="F5F1E8"/>
                </a:solidFill>
                <a:latin typeface="Cormorant Garamond"/>
                <a:ea typeface="Cormorant Garamond"/>
                <a:cs typeface="Cormorant Garamond"/>
              </a:rPr>
              <a:t>“If my role disappeared tomorrow,</a:t>
            </a:r>
            <a:br/>
            <a:r>
              <a:rPr sz="3600" b="0" i="0">
                <a:solidFill>
                  <a:srgbClr val="F5F1E8"/>
                </a:solidFill>
                <a:latin typeface="Cormorant Garamond"/>
                <a:ea typeface="Cormorant Garamond"/>
                <a:cs typeface="Cormorant Garamond"/>
              </a:rPr>
              <a:t>the capability I built would still</a:t>
            </a:r>
            <a:br/>
            <a:r>
              <a:rPr sz="3600" b="0" i="0">
                <a:solidFill>
                  <a:srgbClr val="F5F1E8"/>
                </a:solidFill>
                <a:latin typeface="Cormorant Garamond"/>
                <a:ea typeface="Cormorant Garamond"/>
                <a:cs typeface="Cormorant Garamond"/>
              </a:rPr>
              <a:t>be mine to carry.”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9500" y="5588000"/>
            <a:ext cx="2413000" cy="3937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9500" y="5588000"/>
            <a:ext cx="2413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Statement 9  ·  score 1-5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Translate the work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translation question: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005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Portable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005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Helped redesign the new-hire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integration experience;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integrating score moved from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47 to 75.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6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Outcome language: time saved  ·  errors reduced  ·  adoption improved  ·  risk lowered  ·  retention strengthened  ·  capability built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  · 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Onboarding redesign.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New-hire integrating score, led with the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175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473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 spc="2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556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175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473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325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1">
                <a:solidFill>
                  <a:srgbClr val="B9C3D2"/>
                </a:solidFill>
                <a:latin typeface="Cormorant Garamond"/>
                <a:ea typeface="Cormorant Garamond"/>
                <a:cs typeface="Cormorant Garamond"/>
              </a:rPr>
              <a:t>A score without an evidence line is a guess with decimal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8702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  ·  PAGE 06  ·  OPTIONALITY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8500" y="3251200"/>
            <a:ext cx="635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1000" y="36195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3600" b="0" i="0">
                <a:solidFill>
                  <a:srgbClr val="F5F1E8"/>
                </a:solidFill>
                <a:latin typeface="Cormorant Garamond"/>
                <a:ea typeface="Cormorant Garamond"/>
                <a:cs typeface="Cormorant Garamond"/>
              </a:rPr>
              <a:t>“I can describe what I do in terms</a:t>
            </a:r>
            <a:br/>
            <a:r>
              <a:rPr sz="3600" b="0" i="0">
                <a:solidFill>
                  <a:srgbClr val="F5F1E8"/>
                </a:solidFill>
                <a:latin typeface="Cormorant Garamond"/>
                <a:ea typeface="Cormorant Garamond"/>
                <a:cs typeface="Cormorant Garamond"/>
              </a:rPr>
              <a:t>of outcomes, not just my company’s</a:t>
            </a:r>
            <a:br/>
            <a:r>
              <a:rPr sz="3600" b="0" i="0">
                <a:solidFill>
                  <a:srgbClr val="F5F1E8"/>
                </a:solidFill>
                <a:latin typeface="Cormorant Garamond"/>
                <a:ea typeface="Cormorant Garamond"/>
                <a:cs typeface="Cormorant Garamond"/>
              </a:rPr>
              <a:t>internal language.”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9500" y="5588000"/>
            <a:ext cx="2413000" cy="3937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9500" y="5588000"/>
            <a:ext cx="2413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Statement 8  ·  score 1-5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0861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909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Know what your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work is 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4831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the full assessment privately, using evidence from the last ninety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213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213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90-day record. No confidential information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10668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16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52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987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4178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4114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the onboarding redesign with the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749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940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876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integrating score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511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702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638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Diagnosing an employee-experience problem and leading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 measurable organizational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0226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can I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147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problem can I solve today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0259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1402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323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outcome have I produced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1435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2578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can I carry?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5499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If my current role disappeared tomorrow,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capability would still be mine?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6896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