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1:00.</a:t>
            </a:r>
          </a:p>
          <a:p>
            <a:r>
              <a:t>Slide 1 — Title.</a:t>
            </a:r>
          </a:p>
          <a:p>
            <a:r>
              <a:t>Cue — the line that lands on this slide: “I’m Temidayo Afonja.”</a:t>
            </a:r>
          </a:p>
          <a:p>
            <a:r>
              <a:t>Do NOT open on this slide. Begin full screen on Temidayo and let the whole opening land: the viewer's exposure, the rescinded offer, driving Uber, and the promise of three practices.</a:t>
            </a:r>
          </a:p>
          <a:p>
            <a:r>
              <a:t>Bring the title card in only on “I’m Temidayo Afonja.”</a:t>
            </a:r>
          </a:p>
          <a:p>
            <a:r>
              <a:t>The on-screen deck title reads “How I Changed Jobs Without Starting My Career Over” and differs from the public title on purpose. Do not change it.</a:t>
            </a:r>
          </a:p>
          <a:p>
            <a:r>
              <a:t>What follows on this slide is the honest promise — not everything transfers, markets change, skills go stale, and the next opportunity may not arrive quickly. That paragraph is what earns the rest of the video. Do not trim it for pace.</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1:37.</a:t>
            </a:r>
          </a:p>
          <a:p>
            <a:r>
              <a:t>Slide 2 — My Career Path.</a:t>
            </a:r>
          </a:p>
          <a:p>
            <a:r>
              <a:t>Cue — the line that lands on this slide: “The role had disappeared.”</a:t>
            </a:r>
          </a:p>
          <a:p>
            <a:r>
              <a:t>This slide holds the belonging beat and then the career sequence, in that order. Hold the career-path artwork back until “My path has crossed accounting and audit”. Before that, stay on Temidayo.</a:t>
            </a:r>
          </a:p>
          <a:p>
            <a:r>
              <a:t>FACTUAL BOUNDARY, exact: an accepted job offer; an acquisition rescinded the role before she ever got to start it; within a few months she was driving Uber; later a recruiter found her on LinkedIn and asked whether she would consider returning to Deloitte. Nothing else is established. No passenger referral, no networking while driving, no dates, no income, no duration beyond “within a few months”, no recruiter dialogue.</a:t>
            </a:r>
          </a:p>
          <a:p>
            <a:r>
              <a:t>CAUSALITY BOUNDARY — ABSOLUTE. “Driving Uber did not lead to Deloitte. They were simply two parts of the same career-transition chapter.” That protection must stay immediately adjacent to the recruiter line. Do not cut it, do not move it, do not separate them with a graphic.</a:t>
            </a:r>
          </a:p>
          <a:p>
            <a:r>
              <a:t>NO re-enactment, no car or rideshare footage, no app graphics, no comeback music. This is a recognition story about income uncertainty and loss of context, not a triumph.</a:t>
            </a:r>
          </a:p>
          <a:p>
            <a:r>
              <a:t>“The role had disappeared. My experience had not.” is the hinge of the video. Hold on her face. No music swell.</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4:14.</a:t>
            </a:r>
          </a:p>
          <a:p>
            <a:r>
              <a:t>Slide 3 — 01 Look Underneath the Title.</a:t>
            </a:r>
          </a:p>
          <a:p>
            <a:r>
              <a:t>Cue — the line that lands on this slide: “The first one is to look underneath your title.”</a:t>
            </a:r>
          </a:p>
          <a:p>
            <a:r>
              <a:t>Section break only. Four words on screen, then straight through.</a:t>
            </a:r>
          </a:p>
          <a:p>
            <a:r>
              <a:t>The framework does not arrive until here, about four minutes in, and that is deliberate. Recognition first. Do not move this earlier in the edit.</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4:18.</a:t>
            </a:r>
          </a:p>
          <a:p>
            <a:r>
              <a:t>Slide 4 — Move One.</a:t>
            </a:r>
          </a:p>
          <a:p>
            <a:r>
              <a:t>Cue — the line that lands on this slide: “Your title tells people where your work sat.”</a:t>
            </a:r>
          </a:p>
          <a:p>
            <a:r>
              <a:t>The three questions reveal one at a time, in the order spoken.</a:t>
            </a:r>
          </a:p>
          <a:p>
            <a:r>
              <a:t>“A word is not evidence. Calling yourself strategic proves nothing.” Keep it — it is what stops the exercise turning into résumé language.</a:t>
            </a:r>
          </a:p>
          <a:p>
            <a:r>
              <a:t>The verb list is spoken quickly. Do not put five words on screen and hold them; a light single-line treatment is enough.</a:t>
            </a:r>
          </a:p>
          <a:p>
            <a:r>
              <a:t>The closing paragraph carries the limit: something can travel while the context still has to be learned. That is the honest boundary in this section. Do not cut it to save time.</a:t>
            </a:r>
          </a:p>
          <a:p>
            <a:r>
              <a:t>Reveal states: 3. Reveal frame 4–6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5:46.</a:t>
            </a:r>
          </a:p>
          <a:p>
            <a:r>
              <a:t>Slide 5 — 02 Explain What the Work Changed.</a:t>
            </a:r>
          </a:p>
          <a:p>
            <a:r>
              <a:t>Cue — the line that lands on this slide: “The second practice is to explain what the work changed.”</a:t>
            </a:r>
          </a:p>
          <a:p>
            <a:r>
              <a:t>Section break only. Then straight into the before-and-after.</a:t>
            </a:r>
          </a:p>
          <a:p>
            <a:r>
              <a:t>Single state. Reveal frame 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5:50.</a:t>
            </a:r>
          </a:p>
          <a:p>
            <a:r>
              <a:t>Slide 6 — Move Two.</a:t>
            </a:r>
          </a:p>
          <a:p>
            <a:r>
              <a:t>Cue — the line that lands on this slide: “You may be describing your projects in language that only works on people who were in the room.”</a:t>
            </a:r>
          </a:p>
          <a:p>
            <a:r>
              <a:t>The before line and the after line are the whole point of this slide. Reveal the before, let it sit, then the after.</a:t>
            </a:r>
          </a:p>
          <a:p>
            <a:r>
              <a:t>Set them in the same weight. If the after line is styled as the “good” version with color or emphasis, the comparison stops being honest.</a:t>
            </a:r>
          </a:p>
          <a:p>
            <a:r>
              <a:t>Reveal states: 2. Reveal frame 8–9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6:21.</a:t>
            </a:r>
          </a:p>
          <a:p>
            <a:r>
              <a:t>Slide 7 — One Result — 47 to 75.</a:t>
            </a:r>
          </a:p>
          <a:p>
            <a:r>
              <a:t>Cue — the line that lands on this slide: “It is stronger because somebody who was not there can hear what I led and what changed.”</a:t>
            </a:r>
          </a:p>
          <a:p>
            <a:r>
              <a:t>FACTUAL BOUNDARY: one measure of how well new hires felt integrated moved from 47 to 75. It is NOT retention, turnover, cost or engagement, and it is not a claim about everything the redesign touched. It was team work that Temidayo led.</a:t>
            </a:r>
          </a:p>
          <a:p>
            <a:r>
              <a:t>No 30% and no $2M anywhere in this video.</a:t>
            </a:r>
          </a:p>
          <a:p>
            <a:r>
              <a:t>The precision paragraph is the trust beat. “People trust the person who tells them the edges of their own claim.” Keep it on her face.</a:t>
            </a:r>
          </a:p>
          <a:p>
            <a:r>
              <a:t>The three questions that follow reveal one at a time.</a:t>
            </a:r>
          </a:p>
          <a:p>
            <a:r>
              <a:t>Reveal states: 2. Reveal frame 10–11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7:11.</a:t>
            </a:r>
          </a:p>
          <a:p>
            <a:r>
              <a:t>Slide 8 — 03 Keep Evidence Before You Need It.</a:t>
            </a:r>
          </a:p>
          <a:p>
            <a:r>
              <a:t>Cue — the line that lands on this slide: “The third practice is to keep the evidence before you need it.”</a:t>
            </a:r>
          </a:p>
          <a:p>
            <a:r>
              <a:t>Section break only.</a:t>
            </a:r>
          </a:p>
          <a:p>
            <a:r>
              <a:t>Single state.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8:46.</a:t>
            </a:r>
          </a:p>
          <a:p>
            <a:r>
              <a:t>Slide 10 — Three Things I Learned to Do.</a:t>
            </a:r>
          </a:p>
          <a:p>
            <a:r>
              <a:t>Cue — the line that lands on this slide: “So those are the three.”</a:t>
            </a:r>
          </a:p>
          <a:p>
            <a:r>
              <a:t>The three practices come back on screen together for the first time.</a:t>
            </a:r>
          </a:p>
          <a:p>
            <a:r>
              <a:t>Then the two mistakes, then the honest limits. The limits paragraph names the things this does not control — restructures, hiring markets, money, caregiving, health, timing, location — and says plainly that it would not have stopped her own role being rescinded or made the next opportunity arrive sooner.</a:t>
            </a:r>
          </a:p>
          <a:p>
            <a:r>
              <a:t>That paragraph is not a disclaimer. It is the reason the viewer can believe the rest. Do not shorten it.</a:t>
            </a:r>
          </a:p>
          <a:p>
            <a:r>
              <a:t>Single state. Reveal frame 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9:45.</a:t>
            </a:r>
          </a:p>
          <a:p>
            <a:r>
              <a:t>Slide 11 — Before Your Next Move.</a:t>
            </a:r>
          </a:p>
          <a:p>
            <a:r>
              <a:t>Cue — the line that lands on this slide: “So before your next move, sit with three questions.”</a:t>
            </a:r>
          </a:p>
          <a:p>
            <a:r>
              <a:t>Three questions, revealed one at a time, then held together.</a:t>
            </a:r>
          </a:p>
          <a:p>
            <a:r>
              <a:t>Leave a real beat after “Pause here if you want to write them down.” The pause is part of the design.</a:t>
            </a:r>
          </a:p>
          <a:p>
            <a:r>
              <a:t>THE IDENTITY EXIT sits at the end of this slide: “I want you to reach the point where a change in your circumstances does not make you forget what you know how to do.” It answers the opening story directly. If the edit runs long, cut something else.</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10:55.</a:t>
            </a:r>
          </a:p>
          <a:p>
            <a:r>
              <a:t>Slide 12 — Career Evidence Starter.</a:t>
            </a:r>
          </a:p>
          <a:p>
            <a:r>
              <a:t>Cue — the line that lands on this slide: “If you want to try this on one real thing you have done, I made a free Career Evidence Starter.”</a:t>
            </a:r>
          </a:p>
          <a:p>
            <a:r>
              <a:t>Show the REAL Career Evidence Starter artifact, briefly. Do not redraw it, do not mock one up, do not substitute Field Kit imagery, and do not show the direct PDF URL — the landing page URL only.</a:t>
            </a:r>
          </a:p>
          <a:p>
            <a:r>
              <a:t>One CTA in this video. Do not add the Field Kit or a second offer.</a:t>
            </a:r>
          </a:p>
          <a:p>
            <a:r>
              <a:t>Single state. Reveal frame 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11:15.</a:t>
            </a:r>
          </a:p>
          <a:p>
            <a:r>
              <a:t>Slide 13 — Watch Next.</a:t>
            </a:r>
          </a:p>
          <a:p>
            <a:r>
              <a:t>Cue — the line that lands on this slide: “Having experience that can travel is not the same as having a job that is still adding to it.”</a:t>
            </a:r>
          </a:p>
          <a:p>
            <a:r>
              <a:t>The Video 2 route. Card reads “Is Your Job Making You Less Marketable?”.</a:t>
            </a:r>
          </a:p>
          <a:p>
            <a:r>
              <a:t>The last two lines are the sign-off. Let them land clean, with no music sting and no end-card animation over her face.</a:t>
            </a:r>
          </a:p>
          <a:p>
            <a:r>
              <a:t>Single state. Reveal frame 22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ONE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How I Changed Jobs</a:t>
            </a:r>
            <a:br/>
            <a:r>
              <a:rPr sz="5000" b="1" i="0">
                <a:solidFill>
                  <a:srgbClr val="F5F1E8"/>
                </a:solidFill>
                <a:latin typeface="Montserrat"/>
                <a:ea typeface="Montserrat"/>
                <a:cs typeface="Montserrat"/>
              </a:rPr>
              <a:t>Without Starting</a:t>
            </a:r>
            <a:br/>
            <a:r>
              <a:rPr sz="5000" b="1" i="0">
                <a:solidFill>
                  <a:srgbClr val="F5F1E8"/>
                </a:solidFill>
                <a:latin typeface="Montserrat"/>
                <a:ea typeface="Montserrat"/>
                <a:cs typeface="Montserrat"/>
              </a:rPr>
              <a:t>My Career Over</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hoto-portrait-wine.png"/>
          <p:cNvPicPr>
            <a:picLocks noChangeAspect="1"/>
          </p:cNvPicPr>
          <p:nvPr/>
        </p:nvPicPr>
        <p:blipFill>
          <a:blip r:embed="rId2"/>
          <a:srcRect l="18" r="18"/>
          <a:stretch>
            <a:fillRect/>
          </a:stretch>
        </p:blipFill>
        <p:spPr>
          <a:xfrm>
            <a:off x="9017000" y="584200"/>
            <a:ext cx="2540000" cy="3175000"/>
          </a:xfrm>
          <a:prstGeom prst="rect">
            <a:avLst/>
          </a:prstGeom>
        </p:spPr>
      </p:pic>
      <p:sp>
        <p:nvSpPr>
          <p:cNvPr id="4" name="Rectangle 3"/>
          <p:cNvSpPr/>
          <p:nvPr/>
        </p:nvSpPr>
        <p:spPr>
          <a:xfrm>
            <a:off x="9017000" y="584200"/>
            <a:ext cx="2540000" cy="3175000"/>
          </a:xfrm>
          <a:prstGeom prst="rect">
            <a:avLst/>
          </a:prstGeom>
          <a:no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31750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MY CAREER PATH</a:t>
            </a:r>
          </a:p>
        </p:txBody>
      </p:sp>
      <p:sp>
        <p:nvSpPr>
          <p:cNvPr id="6" name="TextBox 5"/>
          <p:cNvSpPr txBox="1"/>
          <p:nvPr/>
        </p:nvSpPr>
        <p:spPr>
          <a:xfrm>
            <a:off x="762000" y="3479800"/>
            <a:ext cx="8001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What connected those career changes</a:t>
            </a:r>
          </a:p>
        </p:txBody>
      </p:sp>
      <p:sp>
        <p:nvSpPr>
          <p:cNvPr id="7" name="TextBox 6"/>
          <p:cNvSpPr txBox="1"/>
          <p:nvPr/>
        </p:nvSpPr>
        <p:spPr>
          <a:xfrm>
            <a:off x="762000" y="4013200"/>
            <a:ext cx="7874000" cy="1270000"/>
          </a:xfrm>
          <a:prstGeom prst="rect">
            <a:avLst/>
          </a:prstGeom>
          <a:noFill/>
        </p:spPr>
        <p:txBody>
          <a:bodyPr wrap="square" lIns="0" rIns="0" tIns="0" bIns="0" anchor="t">
            <a:spAutoFit/>
          </a:bodyPr>
          <a:lstStyle/>
          <a:p>
            <a:pPr algn="l">
              <a:lnSpc>
                <a:spcPct val="142000"/>
              </a:lnSpc>
            </a:pPr>
            <a:r>
              <a:rPr sz="1450" b="0" i="0">
                <a:solidFill>
                  <a:srgbClr val="5A6B82"/>
                </a:solidFill>
                <a:latin typeface="DM Sans"/>
                <a:ea typeface="DM Sans"/>
                <a:cs typeface="DM Sans"/>
              </a:rPr>
              <a:t>Accounting and audit trained me to look for evidence, controls, risk and</a:t>
            </a:r>
            <a:br/>
            <a:r>
              <a:rPr sz="1450" b="0" i="0">
                <a:solidFill>
                  <a:srgbClr val="5A6B82"/>
                </a:solidFill>
                <a:latin typeface="DM Sans"/>
                <a:ea typeface="DM Sans"/>
                <a:cs typeface="DM Sans"/>
              </a:rPr>
              <a:t>what a system was failing to reveal. I carried that way of seeing into</a:t>
            </a:r>
            <a:br/>
            <a:r>
              <a:rPr sz="1450" b="0" i="0">
                <a:solidFill>
                  <a:srgbClr val="5A6B82"/>
                </a:solidFill>
                <a:latin typeface="DM Sans"/>
                <a:ea typeface="DM Sans"/>
                <a:cs typeface="DM Sans"/>
              </a:rPr>
              <a:t>cybersecurity and later into people strategy.</a:t>
            </a:r>
          </a:p>
        </p:txBody>
      </p:sp>
      <p:sp>
        <p:nvSpPr>
          <p:cNvPr id="8" name="Rectangle 7"/>
          <p:cNvSpPr/>
          <p:nvPr/>
        </p:nvSpPr>
        <p:spPr>
          <a:xfrm>
            <a:off x="2032000" y="5473700"/>
            <a:ext cx="8191500" cy="1905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9685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5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ACCOUNTING &amp; AUDIT</a:t>
            </a:r>
          </a:p>
        </p:txBody>
      </p:sp>
      <p:sp>
        <p:nvSpPr>
          <p:cNvPr id="11" name="Oval 10"/>
          <p:cNvSpPr/>
          <p:nvPr/>
        </p:nvSpPr>
        <p:spPr>
          <a:xfrm>
            <a:off x="46990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CYBERSECURITY</a:t>
            </a:r>
          </a:p>
        </p:txBody>
      </p:sp>
      <p:sp>
        <p:nvSpPr>
          <p:cNvPr id="13" name="Oval 12"/>
          <p:cNvSpPr/>
          <p:nvPr/>
        </p:nvSpPr>
        <p:spPr>
          <a:xfrm>
            <a:off x="74295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95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PEOPLE STRATEGY</a:t>
            </a:r>
          </a:p>
        </p:txBody>
      </p:sp>
      <p:sp>
        <p:nvSpPr>
          <p:cNvPr id="15" name="Oval 14"/>
          <p:cNvSpPr/>
          <p:nvPr/>
        </p:nvSpPr>
        <p:spPr>
          <a:xfrm>
            <a:off x="10115550" y="5375275"/>
            <a:ext cx="215900" cy="215900"/>
          </a:xfrm>
          <a:prstGeom prst="ellips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900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0F2346"/>
                </a:solidFill>
                <a:latin typeface="Montserrat"/>
                <a:ea typeface="Montserrat"/>
                <a:cs typeface="Montserrat"/>
              </a:rPr>
              <a:t>CAPABILITY FORMATION</a:t>
            </a:r>
          </a:p>
        </p:txBody>
      </p:sp>
      <p:sp>
        <p:nvSpPr>
          <p:cNvPr id="17" name="TextBox 16"/>
          <p:cNvSpPr txBox="1"/>
          <p:nvPr/>
        </p:nvSpPr>
        <p:spPr>
          <a:xfrm>
            <a:off x="698500" y="6121400"/>
            <a:ext cx="10858500" cy="1270000"/>
          </a:xfrm>
          <a:prstGeom prst="rect">
            <a:avLst/>
          </a:prstGeom>
          <a:noFill/>
        </p:spPr>
        <p:txBody>
          <a:bodyPr wrap="square" lIns="0" rIns="0" tIns="0" bIns="0" anchor="t">
            <a:spAutoFit/>
          </a:bodyPr>
          <a:lstStyle/>
          <a:p>
            <a:pPr algn="ctr">
              <a:lnSpc>
                <a:spcPct val="112000"/>
              </a:lnSpc>
            </a:pPr>
            <a:r>
              <a:rPr sz="1100" b="0" i="0">
                <a:solidFill>
                  <a:srgbClr val="5A6B82"/>
                </a:solidFill>
                <a:latin typeface="DM Sans"/>
                <a:ea typeface="DM Sans"/>
                <a:cs typeface="DM Sans"/>
              </a:rPr>
              <a:t>Along the way: consulting, life sciences, technology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Look underneath</a:t>
            </a:r>
            <a:br/>
            <a:r>
              <a:rPr sz="3800" b="1" i="0">
                <a:solidFill>
                  <a:srgbClr val="0F2346"/>
                </a:solidFill>
                <a:latin typeface="Montserrat"/>
                <a:ea typeface="Montserrat"/>
                <a:cs typeface="Montserrat"/>
              </a:rPr>
              <a:t>the title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has the work actually trained you to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Look underneath the title.</a:t>
            </a:r>
          </a:p>
        </p:txBody>
      </p:sp>
      <p:sp>
        <p:nvSpPr>
          <p:cNvPr id="5" name="TextBox 4"/>
          <p:cNvSpPr txBox="1"/>
          <p:nvPr/>
        </p:nvSpPr>
        <p:spPr>
          <a:xfrm>
            <a:off x="4191000" y="179451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Name what the work has trained you to notice, decide and solve.</a:t>
            </a:r>
          </a:p>
        </p:txBody>
      </p:sp>
      <p:sp>
        <p:nvSpPr>
          <p:cNvPr id="6" name="TextBox 5"/>
          <p:cNvSpPr txBox="1"/>
          <p:nvPr/>
        </p:nvSpPr>
        <p:spPr>
          <a:xfrm>
            <a:off x="762000" y="3695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7" name="TextBox 6"/>
          <p:cNvSpPr txBox="1"/>
          <p:nvPr/>
        </p:nvSpPr>
        <p:spPr>
          <a:xfrm>
            <a:off x="1524000" y="365760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problems do people trust me to solve?</a:t>
            </a:r>
          </a:p>
        </p:txBody>
      </p:sp>
      <p:sp>
        <p:nvSpPr>
          <p:cNvPr id="8" name="Rectangle 7"/>
          <p:cNvSpPr/>
          <p:nvPr/>
        </p:nvSpPr>
        <p:spPr>
          <a:xfrm>
            <a:off x="762000" y="41516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42468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10" name="TextBox 9"/>
          <p:cNvSpPr txBox="1"/>
          <p:nvPr/>
        </p:nvSpPr>
        <p:spPr>
          <a:xfrm>
            <a:off x="1524000" y="438658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decisions can I now make with better judgment?</a:t>
            </a:r>
          </a:p>
        </p:txBody>
      </p:sp>
      <p:sp>
        <p:nvSpPr>
          <p:cNvPr id="11" name="Rectangle 10"/>
          <p:cNvSpPr/>
          <p:nvPr/>
        </p:nvSpPr>
        <p:spPr>
          <a:xfrm>
            <a:off x="762000" y="48806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1536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03</a:t>
            </a:r>
          </a:p>
        </p:txBody>
      </p:sp>
      <p:sp>
        <p:nvSpPr>
          <p:cNvPr id="13" name="TextBox 12"/>
          <p:cNvSpPr txBox="1"/>
          <p:nvPr/>
        </p:nvSpPr>
        <p:spPr>
          <a:xfrm>
            <a:off x="1524000" y="511556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could I do in another setting</a:t>
            </a:r>
            <a:br/>
            <a:r>
              <a:rPr sz="2200" b="1" i="0">
                <a:solidFill>
                  <a:srgbClr val="0F2346"/>
                </a:solidFill>
                <a:latin typeface="Montserrat"/>
                <a:ea typeface="Montserrat"/>
                <a:cs typeface="Montserrat"/>
              </a:rPr>
              <a:t>because of what I learned 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Explain what</a:t>
            </a:r>
            <a:br/>
            <a:r>
              <a:rPr sz="3800" b="1" i="0">
                <a:solidFill>
                  <a:srgbClr val="0F2346"/>
                </a:solidFill>
                <a:latin typeface="Montserrat"/>
                <a:ea typeface="Montserrat"/>
                <a:cs typeface="Montserrat"/>
              </a:rPr>
              <a:t>the work changed</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changed because you were there?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Explain what the work changed.</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Ask: What changed because I was there?</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Internal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0000"/>
              </a:lnSpc>
            </a:pPr>
            <a:r>
              <a:rPr sz="2300" b="1" i="0">
                <a:solidFill>
                  <a:srgbClr val="0F2346"/>
                </a:solidFill>
                <a:latin typeface="Montserrat"/>
                <a:ea typeface="Montserrat"/>
                <a:cs typeface="Montserrat"/>
              </a:rPr>
              <a:t>Led an onboarding</a:t>
            </a:r>
            <a:br/>
            <a:r>
              <a:rPr sz="2300" b="1" i="0">
                <a:solidFill>
                  <a:srgbClr val="0F2346"/>
                </a:solidFill>
                <a:latin typeface="Montserrat"/>
                <a:ea typeface="Montserrat"/>
                <a:cs typeface="Montserrat"/>
              </a:rPr>
              <a:t>redesign.</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180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038600"/>
            <a:ext cx="4381500" cy="1270000"/>
          </a:xfrm>
          <a:prstGeom prst="rect">
            <a:avLst/>
          </a:prstGeom>
          <a:noFill/>
        </p:spPr>
        <p:txBody>
          <a:bodyPr wrap="square" lIns="0" rIns="0" tIns="0" bIns="0" anchor="t">
            <a:spAutoFit/>
          </a:bodyPr>
          <a:lstStyle/>
          <a:p>
            <a:pPr algn="l">
              <a:lnSpc>
                <a:spcPct val="126000"/>
              </a:lnSpc>
            </a:pPr>
            <a:r>
              <a:rPr sz="1700" b="1" i="0">
                <a:solidFill>
                  <a:srgbClr val="0F2346"/>
                </a:solidFill>
                <a:latin typeface="Montserrat"/>
                <a:ea typeface="Montserrat"/>
                <a:cs typeface="Montserrat"/>
              </a:rPr>
              <a:t>I led an onboarding redesign with</a:t>
            </a:r>
            <a:br/>
            <a:r>
              <a:rPr sz="1700" b="1" i="0">
                <a:solidFill>
                  <a:srgbClr val="0F2346"/>
                </a:solidFill>
                <a:latin typeface="Montserrat"/>
                <a:ea typeface="Montserrat"/>
                <a:cs typeface="Montserrat"/>
              </a:rPr>
              <a:t>my team. One measure of how well</a:t>
            </a:r>
            <a:br/>
            <a:r>
              <a:rPr sz="1700" b="1" i="0">
                <a:solidFill>
                  <a:srgbClr val="0F2346"/>
                </a:solidFill>
                <a:latin typeface="Montserrat"/>
                <a:ea typeface="Montserrat"/>
                <a:cs typeface="Montserrat"/>
              </a:rPr>
              <a:t>new hires felt integrated moved</a:t>
            </a:r>
            <a:br/>
            <a:r>
              <a:rPr sz="1700" b="1" i="0">
                <a:solidFill>
                  <a:srgbClr val="0F2346"/>
                </a:solidFill>
                <a:latin typeface="Montserrat"/>
                <a:ea typeface="Montserrat"/>
                <a:cs typeface="Montserrat"/>
              </a:rPr>
              <a:t>from 47 to 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ONE RESULT</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One measure of</a:t>
            </a:r>
            <a:br/>
            <a:r>
              <a:rPr sz="2800" b="1" i="0">
                <a:solidFill>
                  <a:srgbClr val="F5F1E8"/>
                </a:solidFill>
                <a:latin typeface="Montserrat"/>
                <a:ea typeface="Montserrat"/>
                <a:cs typeface="Montserrat"/>
              </a:rPr>
              <a:t>new-hire integration</a:t>
            </a:r>
          </a:p>
        </p:txBody>
      </p:sp>
      <p:sp>
        <p:nvSpPr>
          <p:cNvPr id="5" name="TextBox 4"/>
          <p:cNvSpPr txBox="1"/>
          <p:nvPr/>
        </p:nvSpPr>
        <p:spPr>
          <a:xfrm>
            <a:off x="4191000" y="2108200"/>
            <a:ext cx="7366000" cy="1270000"/>
          </a:xfrm>
          <a:prstGeom prst="rect">
            <a:avLst/>
          </a:prstGeom>
          <a:noFill/>
        </p:spPr>
        <p:txBody>
          <a:bodyPr wrap="square" lIns="0" rIns="0" tIns="0" bIns="0" anchor="t">
            <a:spAutoFit/>
          </a:bodyPr>
          <a:lstStyle/>
          <a:p>
            <a:pPr algn="l">
              <a:lnSpc>
                <a:spcPct val="130000"/>
              </a:lnSpc>
            </a:pPr>
            <a:r>
              <a:rPr sz="1500" b="0" i="0">
                <a:solidFill>
                  <a:srgbClr val="B9C3D2"/>
                </a:solidFill>
                <a:latin typeface="DM Sans"/>
                <a:ea typeface="DM Sans"/>
                <a:cs typeface="DM Sans"/>
              </a:rPr>
              <a:t>A team result from a redesign I led</a:t>
            </a:r>
          </a:p>
        </p:txBody>
      </p:sp>
      <p:sp>
        <p:nvSpPr>
          <p:cNvPr id="6" name="TextBox 5"/>
          <p:cNvSpPr txBox="1"/>
          <p:nvPr/>
        </p:nvSpPr>
        <p:spPr>
          <a:xfrm>
            <a:off x="2413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F5F1E8"/>
                </a:solidFill>
                <a:latin typeface="Montserrat"/>
                <a:ea typeface="Montserrat"/>
                <a:cs typeface="Montserrat"/>
              </a:rPr>
              <a:t>47</a:t>
            </a:r>
          </a:p>
        </p:txBody>
      </p:sp>
      <p:sp>
        <p:nvSpPr>
          <p:cNvPr id="7" name="TextBox 6"/>
          <p:cNvSpPr txBox="1"/>
          <p:nvPr/>
        </p:nvSpPr>
        <p:spPr>
          <a:xfrm>
            <a:off x="2413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B9C3D2"/>
                </a:solidFill>
                <a:latin typeface="Montserrat"/>
                <a:ea typeface="Montserrat"/>
                <a:cs typeface="Montserrat"/>
              </a:rPr>
              <a:t>Before the redesign</a:t>
            </a:r>
          </a:p>
        </p:txBody>
      </p:sp>
      <p:sp>
        <p:nvSpPr>
          <p:cNvPr id="8" name="TextBox 7"/>
          <p:cNvSpPr txBox="1"/>
          <p:nvPr/>
        </p:nvSpPr>
        <p:spPr>
          <a:xfrm>
            <a:off x="5207000" y="3683000"/>
            <a:ext cx="1778000" cy="1270000"/>
          </a:xfrm>
          <a:prstGeom prst="rect">
            <a:avLst/>
          </a:prstGeom>
          <a:noFill/>
        </p:spPr>
        <p:txBody>
          <a:bodyPr wrap="square" lIns="0" rIns="0" tIns="0" bIns="0" anchor="t">
            <a:spAutoFit/>
          </a:bodyPr>
          <a:lstStyle/>
          <a:p>
            <a:pPr algn="ctr">
              <a:lnSpc>
                <a:spcPct val="100000"/>
              </a:lnSpc>
            </a:pPr>
            <a:r>
              <a:rPr sz="6000" b="0" i="0">
                <a:solidFill>
                  <a:srgbClr val="C9A84C"/>
                </a:solidFill>
                <a:latin typeface="Montserrat"/>
                <a:ea typeface="Montserrat"/>
                <a:cs typeface="Montserrat"/>
              </a:rPr>
              <a:t>→</a:t>
            </a:r>
          </a:p>
        </p:txBody>
      </p:sp>
      <p:sp>
        <p:nvSpPr>
          <p:cNvPr id="9" name="TextBox 8"/>
          <p:cNvSpPr txBox="1"/>
          <p:nvPr/>
        </p:nvSpPr>
        <p:spPr>
          <a:xfrm>
            <a:off x="6985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C9A84C"/>
                </a:solidFill>
                <a:latin typeface="Montserrat"/>
                <a:ea typeface="Montserrat"/>
                <a:cs typeface="Montserrat"/>
              </a:rPr>
              <a:t>75</a:t>
            </a:r>
          </a:p>
        </p:txBody>
      </p:sp>
      <p:sp>
        <p:nvSpPr>
          <p:cNvPr id="10" name="TextBox 9"/>
          <p:cNvSpPr txBox="1"/>
          <p:nvPr/>
        </p:nvSpPr>
        <p:spPr>
          <a:xfrm>
            <a:off x="6985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C9A84C"/>
                </a:solidFill>
                <a:latin typeface="Montserrat"/>
                <a:ea typeface="Montserrat"/>
                <a:cs typeface="Montserrat"/>
              </a:rPr>
              <a:t>After the redesign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Keep evidence</a:t>
            </a:r>
            <a:br/>
            <a:r>
              <a:rPr sz="3800" b="1" i="0">
                <a:solidFill>
                  <a:srgbClr val="0F2346"/>
                </a:solidFill>
                <a:latin typeface="Montserrat"/>
                <a:ea typeface="Montserrat"/>
                <a:cs typeface="Montserrat"/>
              </a:rPr>
              <a:t>before you need it</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Capture the context, your role and what changed.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71036"/>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My role</a:t>
            </a:r>
          </a:p>
        </p:txBody>
      </p:sp>
      <p:sp>
        <p:nvSpPr>
          <p:cNvPr id="12" name="TextBox 11"/>
          <p:cNvSpPr txBox="1"/>
          <p:nvPr/>
        </p:nvSpPr>
        <p:spPr>
          <a:xfrm>
            <a:off x="3175000" y="3932936"/>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led the onboarding redesign with my team.</a:t>
            </a:r>
          </a:p>
        </p:txBody>
      </p:sp>
      <p:sp>
        <p:nvSpPr>
          <p:cNvPr id="13" name="Rectangle 12"/>
          <p:cNvSpPr/>
          <p:nvPr/>
        </p:nvSpPr>
        <p:spPr>
          <a:xfrm>
            <a:off x="1041400" y="4360672"/>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589272"/>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changed</a:t>
            </a:r>
          </a:p>
        </p:txBody>
      </p:sp>
      <p:sp>
        <p:nvSpPr>
          <p:cNvPr id="15" name="TextBox 14"/>
          <p:cNvSpPr txBox="1"/>
          <p:nvPr/>
        </p:nvSpPr>
        <p:spPr>
          <a:xfrm>
            <a:off x="3175000" y="4551172"/>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One measure of how well new hires felt</a:t>
            </a:r>
            <a:br/>
            <a:r>
              <a:rPr sz="1800" b="1" i="0">
                <a:solidFill>
                  <a:srgbClr val="0F2346"/>
                </a:solidFill>
                <a:latin typeface="Montserrat"/>
                <a:ea typeface="Montserrat"/>
                <a:cs typeface="Montserrat"/>
              </a:rPr>
              <a:t>integrated moved from 47 to 75.</a:t>
            </a:r>
          </a:p>
        </p:txBody>
      </p:sp>
      <p:sp>
        <p:nvSpPr>
          <p:cNvPr id="16" name="Rectangle 15"/>
          <p:cNvSpPr/>
          <p:nvPr/>
        </p:nvSpPr>
        <p:spPr>
          <a:xfrm>
            <a:off x="1041400" y="5266944"/>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495544"/>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this shows</a:t>
            </a:r>
          </a:p>
        </p:txBody>
      </p:sp>
      <p:sp>
        <p:nvSpPr>
          <p:cNvPr id="18" name="TextBox 17"/>
          <p:cNvSpPr txBox="1"/>
          <p:nvPr/>
        </p:nvSpPr>
        <p:spPr>
          <a:xfrm>
            <a:off x="3175000" y="5457444"/>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can diagnose a weak point in the employee experience</a:t>
            </a:r>
            <a:br/>
            <a:r>
              <a:rPr sz="1800" b="1" i="0">
                <a:solidFill>
                  <a:srgbClr val="0F2346"/>
                </a:solidFill>
                <a:latin typeface="Montserrat"/>
                <a:ea typeface="Montserrat"/>
                <a:cs typeface="Montserrat"/>
              </a:rPr>
              <a:t>and lead a redesign that improves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What helped me carry</a:t>
            </a:r>
            <a:br/>
            <a:r>
              <a:rPr sz="2700" b="1" i="0">
                <a:solidFill>
                  <a:srgbClr val="0F2346"/>
                </a:solidFill>
                <a:latin typeface="Montserrat"/>
                <a:ea typeface="Montserrat"/>
                <a:cs typeface="Montserrat"/>
              </a:rPr>
              <a:t>my experience forward.</a:t>
            </a:r>
          </a:p>
        </p:txBody>
      </p:sp>
      <p:sp>
        <p:nvSpPr>
          <p:cNvPr id="5" name="Rectangle 4"/>
          <p:cNvSpPr/>
          <p:nvPr/>
        </p:nvSpPr>
        <p:spPr>
          <a:xfrm>
            <a:off x="76200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Look underneath</a:t>
            </a:r>
            <a:br/>
            <a:r>
              <a:rPr sz="2000" b="1" i="0">
                <a:solidFill>
                  <a:srgbClr val="0F2346"/>
                </a:solidFill>
                <a:latin typeface="Montserrat"/>
                <a:ea typeface="Montserrat"/>
                <a:cs typeface="Montserrat"/>
              </a:rPr>
              <a:t>the title</a:t>
            </a:r>
          </a:p>
        </p:txBody>
      </p:sp>
      <p:sp>
        <p:nvSpPr>
          <p:cNvPr id="9" name="Rectangle 8"/>
          <p:cNvSpPr/>
          <p:nvPr/>
        </p:nvSpPr>
        <p:spPr>
          <a:xfrm>
            <a:off x="441325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Explain what</a:t>
            </a:r>
            <a:br/>
            <a:r>
              <a:rPr sz="2000" b="1" i="0">
                <a:solidFill>
                  <a:srgbClr val="0F2346"/>
                </a:solidFill>
                <a:latin typeface="Montserrat"/>
                <a:ea typeface="Montserrat"/>
                <a:cs typeface="Montserrat"/>
              </a:rPr>
              <a:t>the work changed</a:t>
            </a:r>
          </a:p>
        </p:txBody>
      </p:sp>
      <p:sp>
        <p:nvSpPr>
          <p:cNvPr id="13" name="Rectangle 12"/>
          <p:cNvSpPr/>
          <p:nvPr/>
        </p:nvSpPr>
        <p:spPr>
          <a:xfrm>
            <a:off x="806450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Keep evidence</a:t>
            </a:r>
            <a:br/>
            <a:r>
              <a:rPr sz="2000" b="1" i="0">
                <a:solidFill>
                  <a:srgbClr val="0F2346"/>
                </a:solidFill>
                <a:latin typeface="Montserrat"/>
                <a:ea typeface="Montserrat"/>
                <a:cs typeface="Montserrat"/>
              </a:rPr>
              <a:t>before you need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YOUR NEXT MOVE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Write down your answers</a:t>
            </a:r>
            <a:br/>
            <a:r>
              <a:rPr sz="2800" b="1" i="0">
                <a:solidFill>
                  <a:srgbClr val="F5F1E8"/>
                </a:solidFill>
                <a:latin typeface="Montserrat"/>
                <a:ea typeface="Montserrat"/>
                <a:cs typeface="Montserrat"/>
              </a:rPr>
              <a:t>to these three questions.</a:t>
            </a:r>
          </a:p>
        </p:txBody>
      </p:sp>
      <p:sp>
        <p:nvSpPr>
          <p:cNvPr id="5" name="TextBox 4"/>
          <p:cNvSpPr txBox="1"/>
          <p:nvPr/>
        </p:nvSpPr>
        <p:spPr>
          <a:xfrm>
            <a:off x="762000" y="3187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6" name="TextBox 5"/>
          <p:cNvSpPr txBox="1"/>
          <p:nvPr/>
        </p:nvSpPr>
        <p:spPr>
          <a:xfrm>
            <a:off x="1524000" y="3149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can I solve now</a:t>
            </a:r>
            <a:br/>
            <a:r>
              <a:rPr sz="2200" b="1" i="0">
                <a:solidFill>
                  <a:srgbClr val="F5F1E8"/>
                </a:solidFill>
                <a:latin typeface="Montserrat"/>
                <a:ea typeface="Montserrat"/>
                <a:cs typeface="Montserrat"/>
              </a:rPr>
              <a:t>that I could not solve two years ago?</a:t>
            </a:r>
          </a:p>
        </p:txBody>
      </p:sp>
      <p:sp>
        <p:nvSpPr>
          <p:cNvPr id="7" name="Rectangle 6"/>
          <p:cNvSpPr/>
          <p:nvPr/>
        </p:nvSpPr>
        <p:spPr>
          <a:xfrm>
            <a:off x="762000" y="397891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19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9" name="TextBox 8"/>
          <p:cNvSpPr txBox="1"/>
          <p:nvPr/>
        </p:nvSpPr>
        <p:spPr>
          <a:xfrm>
            <a:off x="1524000" y="42138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result can I describe in language</a:t>
            </a:r>
            <a:br/>
            <a:r>
              <a:rPr sz="2200" b="1" i="0">
                <a:solidFill>
                  <a:srgbClr val="F5F1E8"/>
                </a:solidFill>
                <a:latin typeface="Montserrat"/>
                <a:ea typeface="Montserrat"/>
                <a:cs typeface="Montserrat"/>
              </a:rPr>
              <a:t>another employer would understand?</a:t>
            </a:r>
          </a:p>
        </p:txBody>
      </p:sp>
      <p:sp>
        <p:nvSpPr>
          <p:cNvPr id="10" name="Rectangle 9"/>
          <p:cNvSpPr/>
          <p:nvPr/>
        </p:nvSpPr>
        <p:spPr>
          <a:xfrm>
            <a:off x="762000" y="504317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31622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03</a:t>
            </a:r>
          </a:p>
        </p:txBody>
      </p:sp>
      <p:sp>
        <p:nvSpPr>
          <p:cNvPr id="12" name="TextBox 11"/>
          <p:cNvSpPr txBox="1"/>
          <p:nvPr/>
        </p:nvSpPr>
        <p:spPr>
          <a:xfrm>
            <a:off x="1524000" y="527812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could I still do if the title,</a:t>
            </a:r>
            <a:br/>
            <a:r>
              <a:rPr sz="2200" b="1" i="0">
                <a:solidFill>
                  <a:srgbClr val="F5F1E8"/>
                </a:solidFill>
                <a:latin typeface="Montserrat"/>
                <a:ea typeface="Montserrat"/>
                <a:cs typeface="Montserrat"/>
              </a:rPr>
              <a:t>employer or industry 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FREE CAREER EVIDENCE STARTER</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ONE ACCOMPLISHMENT →</a:t>
            </a:r>
            <a:br/>
            <a:r>
              <a:rPr sz="2900" b="1" i="0">
                <a:solidFill>
                  <a:srgbClr val="0F2346"/>
                </a:solidFill>
                <a:latin typeface="Montserrat"/>
                <a:ea typeface="Montserrat"/>
                <a:cs typeface="Montserrat"/>
              </a:rPr>
              <a:t>ONE PORTABLE PROOF LINE</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Turn one accomplishment into proof you can use in a</a:t>
            </a:r>
            <a:br/>
            <a:r>
              <a:rPr sz="1500" b="0" i="0">
                <a:solidFill>
                  <a:srgbClr val="5A6B82"/>
                </a:solidFill>
                <a:latin typeface="DM Sans"/>
                <a:ea typeface="DM Sans"/>
                <a:cs typeface="DM Sans"/>
              </a:rPr>
              <a:t>performance review, interview, internal move or</a:t>
            </a:r>
            <a:br/>
            <a:r>
              <a:rPr sz="1500" b="0" i="0">
                <a:solidFill>
                  <a:srgbClr val="5A6B82"/>
                </a:solidFill>
                <a:latin typeface="DM Sans"/>
                <a:ea typeface="DM Sans"/>
                <a:cs typeface="DM Sans"/>
              </a:rPr>
              <a:t>career pivot.</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1400" b="1" i="0">
                <a:solidFill>
                  <a:srgbClr val="F5F1E8"/>
                </a:solidFill>
                <a:latin typeface="Montserrat"/>
                <a:ea typeface="Montserrat"/>
                <a:cs typeface="Montserrat"/>
              </a:rPr>
              <a:t>temidayoafonja.com/career-evidence-starter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400" b="1" i="0">
                <a:solidFill>
                  <a:srgbClr val="F5F1E8"/>
                </a:solidFill>
                <a:latin typeface="Montserrat"/>
                <a:ea typeface="Montserrat"/>
                <a:cs typeface="Montserrat"/>
              </a:rPr>
              <a:t>Is Your Job</a:t>
            </a:r>
            <a:br/>
            <a:r>
              <a:rPr sz="4400" b="1" i="0">
                <a:solidFill>
                  <a:srgbClr val="F5F1E8"/>
                </a:solidFill>
                <a:latin typeface="Montserrat"/>
                <a:ea typeface="Montserrat"/>
                <a:cs typeface="Montserrat"/>
              </a:rPr>
              <a:t>Making You Less</a:t>
            </a:r>
            <a:br/>
            <a:r>
              <a:rPr sz="4400" b="1" i="0">
                <a:solidFill>
                  <a:srgbClr val="F5F1E8"/>
                </a:solidFill>
                <a:latin typeface="Montserrat"/>
                <a:ea typeface="Montserrat"/>
                <a:cs typeface="Montserrat"/>
              </a:rPr>
              <a:t>Marketable?</a:t>
            </a:r>
          </a:p>
        </p:txBody>
      </p:sp>
      <p:sp>
        <p:nvSpPr>
          <p:cNvPr id="5" name="Rectangle 4"/>
          <p:cNvSpPr/>
          <p:nvPr/>
        </p:nvSpPr>
        <p:spPr>
          <a:xfrm>
            <a:off x="762000" y="5410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