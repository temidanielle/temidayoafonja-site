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 Set up the three moves, then teach them one at a time.</a:t>
            </a:r>
          </a:p>
          <a:p>
            <a:r>
              <a:t>Reveal one card at a time. Camera stays in the upper-left safe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 Set up the three moves, then teach them one at a time.</a:t>
            </a:r>
          </a:p>
          <a:p>
            <a:r>
              <a:t>Reveal one card at a time. Camera stays in the upper-left safe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 Set up the three moves, then teach them one at a time.</a:t>
            </a:r>
          </a:p>
          <a:p>
            <a:r>
              <a:t>Reveal one card at a time. Camera stays in the upper-left safe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1:25-3:10 Move 1 - speak from ideas, reveal one question at a time.</a:t>
            </a:r>
          </a:p>
          <a:p>
            <a:r>
              <a:t>Gem: 'Being new to the setting did not erase what I already knew how to do.'</a:t>
            </a:r>
          </a:p>
          <a:p>
            <a:r>
              <a:t>Viewer action: write your title, then three problems people 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1:25-3:10 Move 1 - speak from ideas, reveal one question at a time.</a:t>
            </a:r>
          </a:p>
          <a:p>
            <a:r>
              <a:t>Gem: 'Being new to the setting did not erase what I already knew how to do.'</a:t>
            </a:r>
          </a:p>
          <a:p>
            <a:r>
              <a:t>Viewer action: write your title, then three problems people 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1:25-3:10 Move 1 - speak from ideas, reveal one question at a time.</a:t>
            </a:r>
          </a:p>
          <a:p>
            <a:r>
              <a:t>Gem: 'Being new to the setting did not erase what I already knew how to do.'</a:t>
            </a:r>
          </a:p>
          <a:p>
            <a:r>
              <a:t>Viewer action: write your title, then three problems people 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1:25-3:10 Move 1 - speak from ideas, reveal one question at a time.</a:t>
            </a:r>
          </a:p>
          <a:p>
            <a:r>
              <a:t>Gem: 'Being new to the setting did not erase what I already knew how to do.'</a:t>
            </a:r>
          </a:p>
          <a:p>
            <a:r>
              <a:t>Viewer action: write your title, then three problems people trust you to 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3:10-5:05 Move 2 - one concrete before-and-after, not a list.</a:t>
            </a:r>
          </a:p>
          <a:p>
            <a:r>
              <a:t>Say clearly that this was done with a team.</a:t>
            </a:r>
          </a:p>
          <a:p>
            <a:r>
              <a:t>Gem: 'The project name tells people what I worked on.</a:t>
            </a:r>
          </a:p>
          <a:p>
            <a:r>
              <a:t>The result tells them what the work changed.'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3:10-5:05 Move 2 - one concrete before-and-after, not a list.</a:t>
            </a:r>
          </a:p>
          <a:p>
            <a:r>
              <a:t>Say clearly that this was done with a team.</a:t>
            </a:r>
          </a:p>
          <a:p>
            <a:r>
              <a:t>Gem: 'The project name tells people what I worked on.</a:t>
            </a:r>
          </a:p>
          <a:p>
            <a:r>
              <a:t>The result tells them what the work changed.'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47 first, then 75. Return to camera when you explain</a:t>
            </a:r>
          </a:p>
          <a:p>
            <a:r>
              <a:t>why the outcome travels outside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 47 first, then 75. Return to camera when you explain</a:t>
            </a:r>
          </a:p>
          <a:p>
            <a:r>
              <a:t>why the outcome travels outside the company.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5:35-7:25 Move 3 - teach the card slowly, one row at a time.</a:t>
            </a:r>
          </a:p>
          <a:p>
            <a:r>
              <a:t>Gem: 'A score without an evidence line is a guess with decimal points.'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5:35-7:25 Move 3 - teach the card slowly, one row at a time.</a:t>
            </a:r>
          </a:p>
          <a:p>
            <a:r>
              <a:t>Gem: 'A score without an evidence line is a guess with decimal points.'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5:35-7:25 Move 3 - teach the card slowly, one row at a time.</a:t>
            </a:r>
          </a:p>
          <a:p>
            <a:r>
              <a:t>Gem: 'A score without an evidence line is a guess with decimal points.'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5:35-7:25 Move 3 - teach the card slowly, one row at a time.</a:t>
            </a:r>
          </a:p>
          <a:p>
            <a:r>
              <a:t>Gem: 'A score without an evidence line is a guess with decimal points.'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7:25-8:25 Viewer exercise - slow down.</a:t>
            </a:r>
          </a:p>
          <a:p>
            <a:r>
              <a:t>Ask one question, pause, then reveal the next.</a:t>
            </a:r>
          </a:p>
          <a:p>
            <a:r>
              <a:t>Leave five to seven seconds of quiet after the last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7:25-8:25 Viewer exercise - slow down.</a:t>
            </a:r>
          </a:p>
          <a:p>
            <a:r>
              <a:t>Ask one question, pause, then reveal the next.</a:t>
            </a:r>
          </a:p>
          <a:p>
            <a:r>
              <a:t>Leave five to seven seconds of quiet after the last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7:25-8:25 Viewer exercise - slow down.</a:t>
            </a:r>
          </a:p>
          <a:p>
            <a:r>
              <a:t>Ask one question, pause, then reveal the next.</a:t>
            </a:r>
          </a:p>
          <a:p>
            <a:r>
              <a:t>Leave five to seven seconds of quiet after the last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practices that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carried the value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practices that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carried the value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Translate the work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THE THREE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Three practices that</a:t>
            </a:r>
            <a:br/>
            <a:r>
              <a:rPr sz="2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carried the value forward.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7620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14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14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1325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1325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9265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9265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Translate the work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outcomes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64500" y="3302000"/>
            <a:ext cx="33655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4500" y="3302000"/>
            <a:ext cx="33655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43900" y="35941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3900" y="4445000"/>
            <a:ext cx="285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20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title tells people where the work sat. It does not tell them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the work trained you to see, decide or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52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can I now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9116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title tells people where the work sat. It does not tell them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the work trained you to see, decide or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52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can I now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9116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02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0513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609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title tells people where the work sat. It does not tell them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the work trained you to see, decide or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52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can I now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9116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02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0513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609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8514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800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do today that I could not do two years ago?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102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Separate the title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from the capability.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title tells people where the work sat. It does not tell them</a:t>
            </a:r>
            <a:br/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what the work trained you to see, decide or solve.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528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24000" y="33020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problems can I now solve?</a:t>
            </a:r>
          </a:p>
        </p:txBody>
      </p:sp>
      <p:sp>
        <p:nvSpPr>
          <p:cNvPr id="8" name="Rectangle 7"/>
          <p:cNvSpPr/>
          <p:nvPr/>
        </p:nvSpPr>
        <p:spPr>
          <a:xfrm>
            <a:off x="762000" y="39116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41021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" y="40513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decisions can I make with better judgment?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2000" y="46609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000" y="48514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4000" y="48006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can I do today that I could not do two years ago?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2000" y="5410200"/>
            <a:ext cx="106680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2000" y="5600700"/>
            <a:ext cx="571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" y="5549900"/>
            <a:ext cx="990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What would remain mine if this role disappeared?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Translate the work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translation question: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005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596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Outcome language: time saved  ·  errors reduced  ·  adoption improved  ·  risk lowered  ·  retention strengthened  ·  capability built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Translate the work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into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The translation question: what changed because I was there?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302000"/>
            <a:ext cx="4826000" cy="50800"/>
          </a:xfrm>
          <a:prstGeom prst="rect">
            <a:avLst/>
          </a:prstGeom>
          <a:solidFill>
            <a:srgbClr val="5A6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5A6B82"/>
                </a:solidFill>
                <a:latin typeface="Montserrat"/>
                <a:ea typeface="Montserrat"/>
                <a:cs typeface="Montserrat"/>
              </a:rPr>
              <a:t>Internal description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1400" y="40005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an onboarding</a:t>
            </a:r>
            <a:br/>
            <a:r>
              <a:rPr sz="2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redesign.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1500" y="4191000"/>
            <a:ext cx="101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5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04000" y="3302000"/>
            <a:ext cx="4826000" cy="241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04000" y="3302000"/>
            <a:ext cx="4826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83400" y="35941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Portable outcome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3400" y="4000500"/>
            <a:ext cx="431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Helped redesign the new-hire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integration experience; the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integrating score moved from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47 to 75.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59690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Outcome language: time saved  ·  errors reduced  ·  adoption improved  ·  risk lowered  ·  retention strengthened  ·  capability built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  · 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Onboarding redesign.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New-hire integrating score, led with the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175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473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 spc="2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60325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1">
                <a:solidFill>
                  <a:srgbClr val="B9C3D2"/>
                </a:solidFill>
                <a:latin typeface="Cormorant Garamond"/>
                <a:ea typeface="Cormorant Garamond"/>
                <a:cs typeface="Cormorant Garamond"/>
              </a:rPr>
              <a:t>A score without an evidence line is a guess with decimal points.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TWO  · 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Onboarding redesign.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17780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B9C3D2"/>
                </a:solidFill>
                <a:latin typeface="DM Sans"/>
                <a:ea typeface="DM Sans"/>
                <a:cs typeface="DM Sans"/>
              </a:rPr>
              <a:t>New-hire integrating score, led with the team.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13000" y="3175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3000" y="5473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 spc="250">
                <a:solidFill>
                  <a:srgbClr val="B9C3D2"/>
                </a:solidFill>
                <a:latin typeface="Montserrat"/>
                <a:ea typeface="Montserrat"/>
                <a:cs typeface="Montserrat"/>
              </a:rP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07000" y="3556000"/>
            <a:ext cx="177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0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85000" y="31750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0" b="1" i="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75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85000" y="5473700"/>
            <a:ext cx="2794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 spc="25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0325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0" i="1">
                <a:solidFill>
                  <a:srgbClr val="B9C3D2"/>
                </a:solidFill>
                <a:latin typeface="Cormorant Garamond"/>
                <a:ea typeface="Cormorant Garamond"/>
                <a:cs typeface="Cormorant Garamond"/>
              </a:rPr>
              <a:t>A score without an evidence line is a guess with decimal points.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90-day record. No confidential information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10668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16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52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987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90-day record. No confidential information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10668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16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52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987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4178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4114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the onboarding redesign with the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749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90-day record. No confidential information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10668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16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52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987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4178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4114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the onboarding redesign with the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749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940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876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integrating score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511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MOVE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Keep evidence</a:t>
            </a:r>
            <a:br/>
            <a:r>
              <a:rPr sz="33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before you need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1000" y="225552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5A6B82"/>
                </a:solidFill>
                <a:latin typeface="DM Sans"/>
                <a:ea typeface="DM Sans"/>
                <a:cs typeface="DM Sans"/>
              </a:rPr>
              <a:t>A 90-day record. No confidential information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3149600"/>
            <a:ext cx="10668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3149600"/>
            <a:ext cx="10668000" cy="50800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1400" y="3416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5000" y="3352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New hires needed a stronger integration experience.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41400" y="3987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1400" y="4178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5000" y="4114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Led the onboarding redesign with the team.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1400" y="4749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1400" y="4940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Outcome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75000" y="4876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The integrating score moved from 47 to 75.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1400" y="5511800"/>
            <a:ext cx="9372600" cy="12700"/>
          </a:xfrm>
          <a:prstGeom prst="rect">
            <a:avLst/>
          </a:prstGeom>
          <a:solidFill>
            <a:srgbClr val="E2D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1400" y="5702300"/>
            <a:ext cx="203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5000" y="5638800"/>
            <a:ext cx="79375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Diagnosing an employee-experience problem and leading</a:t>
            </a:r>
            <a:br/>
            <a:r>
              <a:rPr sz="1800" b="1" i="0">
                <a:solidFill>
                  <a:srgbClr val="0F2346"/>
                </a:solidFill>
                <a:latin typeface="Montserrat"/>
                <a:ea typeface="Montserrat"/>
                <a:cs typeface="Montserrat"/>
              </a:rPr>
              <a:t>a measurable organizational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0226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can I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147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problem can I solve today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0259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0226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can I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147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problem can I solve today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0259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1402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323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outcome have I produced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1435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2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91000" y="8382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225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BEFORE YOUR NEXT 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91000" y="1168400"/>
            <a:ext cx="736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Three 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0226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can I solve?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33147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problem can I solve today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I could not solve two years ago?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40259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41402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changed?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4323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outcome have I produced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that another employer would understand?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2000" y="5143500"/>
            <a:ext cx="10668000" cy="12700"/>
          </a:xfrm>
          <a:prstGeom prst="rect">
            <a:avLst/>
          </a:prstGeom>
          <a:solidFill>
            <a:srgbClr val="244B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000" y="52578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00">
                <a:solidFill>
                  <a:srgbClr val="C9A84C"/>
                </a:solidFill>
                <a:latin typeface="Montserrat"/>
                <a:ea typeface="Montserrat"/>
                <a:cs typeface="Montserrat"/>
              </a:rPr>
              <a:t>What can I carry?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5549900"/>
            <a:ext cx="1066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If my current role disappeared tomorrow,</a:t>
            </a:r>
            <a:br/>
            <a:r>
              <a:rPr sz="2100" b="1" i="0">
                <a:solidFill>
                  <a:srgbClr val="F5F1E8"/>
                </a:solidFill>
                <a:latin typeface="Montserrat"/>
                <a:ea typeface="Montserrat"/>
                <a:cs typeface="Montserrat"/>
              </a:rPr>
              <a:t>what capability would still be mine?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