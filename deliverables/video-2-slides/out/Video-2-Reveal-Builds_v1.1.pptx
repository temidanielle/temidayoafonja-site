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1.</a:t>
            </a:r>
          </a:p>
          <a:p>
            <a:r>
              <a:t>Timing: approximately 0:34.</a:t>
            </a:r>
          </a:p>
          <a:p>
            <a:r>
              <a:t>Slide 1 — Title.</a:t>
            </a:r>
          </a:p>
          <a:p>
            <a:r>
              <a:t>Cue — the line that lands on this slide: “I’m Temidayo Afonja.”</a:t>
            </a:r>
          </a:p>
          <a:p>
            <a:r>
              <a:t>Do NOT open on this slide. Begin full screen on Temidayo. The opening is four beats: the compliment, the private question, “I have had to answer that question about myself more than once”, and the three tests.</a:t>
            </a:r>
          </a:p>
          <a:p>
            <a:r>
              <a:t>Bring the title card in only on “I’m Temidayo Afonja.”</a:t>
            </a:r>
          </a:p>
          <a:p>
            <a:r>
              <a:t>NON-ALARMIST IS A HARD RULE for this whole video. What follows on this slide is the explicit reassurance — being valuable where you are is real value, it is not a trap and not a warning sign. If the edit makes praise, pay or being relied on look like a symptom, the video has failed.</a:t>
            </a:r>
          </a:p>
          <a:p>
            <a:r>
              <a:t>Single state. Reveal frame 1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2.</a:t>
            </a:r>
          </a:p>
          <a:p>
            <a:r>
              <a:t>Timing: approximately 1:33.</a:t>
            </a:r>
          </a:p>
          <a:p>
            <a:r>
              <a:t>Slide 2 — Valuable Here / Legible Elsewhere.</a:t>
            </a:r>
          </a:p>
          <a:p>
            <a:r>
              <a:t>Cue — the line that lands on this slide: “Here is what makes this so hard to notice.”</a:t>
            </a:r>
          </a:p>
          <a:p>
            <a:r>
              <a:t>The mechanism slide. Reveal the contrast, then let her talk over it.</a:t>
            </a:r>
          </a:p>
          <a:p>
            <a:r>
              <a:t>“The people around you may know exactly why you matter, because they have seen the work.” This is a compliment and must be delivered as one. The claim is deliberately bounded — it says the people around you MAY know, not that every company reads its people correctly.</a:t>
            </a:r>
          </a:p>
          <a:p>
            <a:r>
              <a:t>“They are not being unfair when they cannot see it. They simply cannot read the evidence.” — this is the line that keeps the video generous about other employers. Keep it.</a:t>
            </a:r>
          </a:p>
          <a:p>
            <a:r>
              <a:t>Her own crossings across functions, employers and industries are the proof here. No employer, client, metric or result is attached to this beat, and there is no number anywhere in this video.</a:t>
            </a:r>
          </a:p>
          <a:p>
            <a:r>
              <a:t>Single state. Reveal frame 2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3.</a:t>
            </a:r>
          </a:p>
          <a:p>
            <a:r>
              <a:t>Timing: approximately 2:54.</a:t>
            </a:r>
          </a:p>
          <a:p>
            <a:r>
              <a:t>Slide 3 — 01 Remove the Company Nouns.</a:t>
            </a:r>
          </a:p>
          <a:p>
            <a:r>
              <a:t>Cue — the line that lands on this slide: “The first test is to remove the company nouns.”</a:t>
            </a:r>
          </a:p>
          <a:p>
            <a:r>
              <a:t>Section break only. The three tests do not arrive until about 2:52, which is deliberate — recognition first.</a:t>
            </a:r>
          </a:p>
          <a:p>
            <a:r>
              <a:t>Single state. Reveal frame 3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2 — main slide 4.</a:t>
            </a:r>
          </a:p>
          <a:p>
            <a:r>
              <a:t>Timing: approximately 2:57.</a:t>
            </a:r>
          </a:p>
          <a:p>
            <a:r>
              <a:t>Slide 4 — Test One.</a:t>
            </a:r>
          </a:p>
          <a:p>
            <a:r>
              <a:t>Cue — the line that lands on this slide: “Take one sentence you would use to describe your work, and delete every word that only exists inside your employer.”</a:t>
            </a:r>
          </a:p>
          <a:p>
            <a:r>
              <a:t>The before and after sentence is the center of this slide. Reveal the before, let it sit, then the after.</a:t>
            </a:r>
          </a:p>
          <a:p>
            <a:r>
              <a:t>FACTUAL BOUNDARY: the QBR sentence is a generic worked example. There is no client, employer, number or result behind it. Do not caption it as a case study, do not add a logo, do not imply it is real.</a:t>
            </a:r>
          </a:p>
          <a:p>
            <a:r>
              <a:t>“It is a diagnostic” — not CV advice. Keep that framing.</a:t>
            </a:r>
          </a:p>
          <a:p>
            <a:r>
              <a:t>Reveal states: 2. Reveal frame 4–5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2 — main slide 4.</a:t>
            </a:r>
          </a:p>
          <a:p>
            <a:r>
              <a:t>Timing: approximately 2:57.</a:t>
            </a:r>
          </a:p>
          <a:p>
            <a:r>
              <a:t>Slide 4 — Test One.</a:t>
            </a:r>
          </a:p>
          <a:p>
            <a:r>
              <a:t>Cue — the line that lands on this slide: “Take one sentence you would use to describe your work, and delete every word that only exists inside your employer.”</a:t>
            </a:r>
          </a:p>
          <a:p>
            <a:r>
              <a:t>The before and after sentence is the center of this slide. Reveal the before, let it sit, then the after.</a:t>
            </a:r>
          </a:p>
          <a:p>
            <a:r>
              <a:t>FACTUAL BOUNDARY: the QBR sentence is a generic worked example. There is no client, employer, number or result behind it. Do not caption it as a case study, do not add a logo, do not imply it is real.</a:t>
            </a:r>
          </a:p>
          <a:p>
            <a:r>
              <a:t>“It is a diagnostic” — not CV advice. Keep that framing.</a:t>
            </a:r>
          </a:p>
          <a:p>
            <a:r>
              <a:t>Reveal states: 2. Reveal frame 4–5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5.</a:t>
            </a:r>
          </a:p>
          <a:p>
            <a:r>
              <a:t>Timing: approximately 4:12.</a:t>
            </a:r>
          </a:p>
          <a:p>
            <a:r>
              <a:t>Slide 5 — 02 Find Outside-Context Evidence.</a:t>
            </a:r>
          </a:p>
          <a:p>
            <a:r>
              <a:t>Cue — the line that lands on this slide: “The second test is to find outside-context evidence.”</a:t>
            </a:r>
          </a:p>
          <a:p>
            <a:r>
              <a:t>Section break only.</a:t>
            </a:r>
          </a:p>
          <a:p>
            <a:r>
              <a:t>Single state. Reveal frame 6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4 — main slide 6.</a:t>
            </a:r>
          </a:p>
          <a:p>
            <a:r>
              <a:t>Timing: approximately 4:15.</a:t>
            </a:r>
          </a:p>
          <a:p>
            <a:r>
              <a:t>Slide 6 — Test Two.</a:t>
            </a:r>
          </a:p>
          <a:p>
            <a:r>
              <a:t>Cue — the line that lands on this slide: “Think of a time your judgment was useful beyond your immediate role, your immediate team, or your employer.”</a:t>
            </a:r>
          </a:p>
          <a:p>
            <a:r>
              <a:t>The examples of outside-context evidence reveal one at a time.</a:t>
            </a:r>
          </a:p>
          <a:p>
            <a:r>
              <a:t>“It is the only evidence that has already been tested on people who did not owe you the benefit of the doubt.” That is the reason the test exists. Do not cut it.</a:t>
            </a:r>
          </a:p>
          <a:p>
            <a:r>
              <a:t>The paragraph about deep versus wide is the non-alarmist safeguard in this section. Finding little outside-context evidence is not a verdict on the viewer. Keep both sentences.</a:t>
            </a:r>
          </a:p>
          <a:p>
            <a:r>
              <a:t>Reveal states: 4. Reveal frame 7–10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4 — main slide 6.</a:t>
            </a:r>
          </a:p>
          <a:p>
            <a:r>
              <a:t>Timing: approximately 4:15.</a:t>
            </a:r>
          </a:p>
          <a:p>
            <a:r>
              <a:t>Slide 6 — Test Two.</a:t>
            </a:r>
          </a:p>
          <a:p>
            <a:r>
              <a:t>Cue — the line that lands on this slide: “Think of a time your judgment was useful beyond your immediate role, your immediate team, or your employer.”</a:t>
            </a:r>
          </a:p>
          <a:p>
            <a:r>
              <a:t>The examples of outside-context evidence reveal one at a time.</a:t>
            </a:r>
          </a:p>
          <a:p>
            <a:r>
              <a:t>“It is the only evidence that has already been tested on people who did not owe you the benefit of the doubt.” That is the reason the test exists. Do not cut it.</a:t>
            </a:r>
          </a:p>
          <a:p>
            <a:r>
              <a:t>The paragraph about deep versus wide is the non-alarmist safeguard in this section. Finding little outside-context evidence is not a verdict on the viewer. Keep both sentences.</a:t>
            </a:r>
          </a:p>
          <a:p>
            <a:r>
              <a:t>Reveal states: 4. Reveal frame 7–10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4 — main slide 6.</a:t>
            </a:r>
          </a:p>
          <a:p>
            <a:r>
              <a:t>Timing: approximately 4:15.</a:t>
            </a:r>
          </a:p>
          <a:p>
            <a:r>
              <a:t>Slide 6 — Test Two.</a:t>
            </a:r>
          </a:p>
          <a:p>
            <a:r>
              <a:t>Cue — the line that lands on this slide: “Think of a time your judgment was useful beyond your immediate role, your immediate team, or your employer.”</a:t>
            </a:r>
          </a:p>
          <a:p>
            <a:r>
              <a:t>The examples of outside-context evidence reveal one at a time.</a:t>
            </a:r>
          </a:p>
          <a:p>
            <a:r>
              <a:t>“It is the only evidence that has already been tested on people who did not owe you the benefit of the doubt.” That is the reason the test exists. Do not cut it.</a:t>
            </a:r>
          </a:p>
          <a:p>
            <a:r>
              <a:t>The paragraph about deep versus wide is the non-alarmist safeguard in this section. Finding little outside-context evidence is not a verdict on the viewer. Keep both sentences.</a:t>
            </a:r>
          </a:p>
          <a:p>
            <a:r>
              <a:t>Reveal states: 4. Reveal frame 7–10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4 of 4 — main slide 6.</a:t>
            </a:r>
          </a:p>
          <a:p>
            <a:r>
              <a:t>Timing: approximately 4:15.</a:t>
            </a:r>
          </a:p>
          <a:p>
            <a:r>
              <a:t>Slide 6 — Test Two.</a:t>
            </a:r>
          </a:p>
          <a:p>
            <a:r>
              <a:t>Cue — the line that lands on this slide: “Think of a time your judgment was useful beyond your immediate role, your immediate team, or your employer.”</a:t>
            </a:r>
          </a:p>
          <a:p>
            <a:r>
              <a:t>The examples of outside-context evidence reveal one at a time.</a:t>
            </a:r>
          </a:p>
          <a:p>
            <a:r>
              <a:t>“It is the only evidence that has already been tested on people who did not owe you the benefit of the doubt.” That is the reason the test exists. Do not cut it.</a:t>
            </a:r>
          </a:p>
          <a:p>
            <a:r>
              <a:t>The paragraph about deep versus wide is the non-alarmist safeguard in this section. Finding little outside-context evidence is not a verdict on the viewer. Keep both sentences.</a:t>
            </a:r>
          </a:p>
          <a:p>
            <a:r>
              <a:t>Reveal states: 4. Reveal frame 7–10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7.</a:t>
            </a:r>
          </a:p>
          <a:p>
            <a:r>
              <a:t>Timing: approximately 5:36.</a:t>
            </a:r>
          </a:p>
          <a:p>
            <a:r>
              <a:t>Slide 7 — 03 Read the Last 90 Days.</a:t>
            </a:r>
          </a:p>
          <a:p>
            <a:r>
              <a:t>Cue — the line that lands on this slide: “The third test is to read your last 90 days.”</a:t>
            </a:r>
          </a:p>
          <a:p>
            <a:r>
              <a:t>Section break only.</a:t>
            </a:r>
          </a:p>
          <a:p>
            <a:r>
              <a:t>Single state. Reveal frame 11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4 — main slide 8.</a:t>
            </a:r>
          </a:p>
          <a:p>
            <a:r>
              <a:t>Timing: approximately 5:40.</a:t>
            </a:r>
          </a:p>
          <a:p>
            <a:r>
              <a:t>Slide 8 — Test Three.</a:t>
            </a:r>
          </a:p>
          <a:p>
            <a:r>
              <a:t>Cue — the line that lands on this slide: “Not whether you were busy.”</a:t>
            </a:r>
          </a:p>
          <a:p>
            <a:r>
              <a:t>The questions reveal one at a time.</a:t>
            </a:r>
          </a:p>
          <a:p>
            <a:r>
              <a:t>The skipped question — new judgment, or the same work faster — is the payoff of the section. Give it room before the answer.</a:t>
            </a:r>
          </a:p>
          <a:p>
            <a:r>
              <a:t>“Both are fine. You just want to know which one you have been doing.” No judgement in the delivery, and no visual that codes speed as bad.</a:t>
            </a:r>
          </a:p>
          <a:p>
            <a:r>
              <a:t>Reveal states: 4. Reveal frame 12–15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4 — main slide 8.</a:t>
            </a:r>
          </a:p>
          <a:p>
            <a:r>
              <a:t>Timing: approximately 5:40.</a:t>
            </a:r>
          </a:p>
          <a:p>
            <a:r>
              <a:t>Slide 8 — Test Three.</a:t>
            </a:r>
          </a:p>
          <a:p>
            <a:r>
              <a:t>Cue — the line that lands on this slide: “Not whether you were busy.”</a:t>
            </a:r>
          </a:p>
          <a:p>
            <a:r>
              <a:t>The questions reveal one at a time.</a:t>
            </a:r>
          </a:p>
          <a:p>
            <a:r>
              <a:t>The skipped question — new judgment, or the same work faster — is the payoff of the section. Give it room before the answer.</a:t>
            </a:r>
          </a:p>
          <a:p>
            <a:r>
              <a:t>“Both are fine. You just want to know which one you have been doing.” No judgement in the delivery, and no visual that codes speed as bad.</a:t>
            </a:r>
          </a:p>
          <a:p>
            <a:r>
              <a:t>Reveal states: 4. Reveal frame 12–15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4 — main slide 8.</a:t>
            </a:r>
          </a:p>
          <a:p>
            <a:r>
              <a:t>Timing: approximately 5:40.</a:t>
            </a:r>
          </a:p>
          <a:p>
            <a:r>
              <a:t>Slide 8 — Test Three.</a:t>
            </a:r>
          </a:p>
          <a:p>
            <a:r>
              <a:t>Cue — the line that lands on this slide: “Not whether you were busy.”</a:t>
            </a:r>
          </a:p>
          <a:p>
            <a:r>
              <a:t>The questions reveal one at a time.</a:t>
            </a:r>
          </a:p>
          <a:p>
            <a:r>
              <a:t>The skipped question — new judgment, or the same work faster — is the payoff of the section. Give it room before the answer.</a:t>
            </a:r>
          </a:p>
          <a:p>
            <a:r>
              <a:t>“Both are fine. You just want to know which one you have been doing.” No judgement in the delivery, and no visual that codes speed as bad.</a:t>
            </a:r>
          </a:p>
          <a:p>
            <a:r>
              <a:t>Reveal states: 4. Reveal frame 12–15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4 of 4 — main slide 8.</a:t>
            </a:r>
          </a:p>
          <a:p>
            <a:r>
              <a:t>Timing: approximately 5:40.</a:t>
            </a:r>
          </a:p>
          <a:p>
            <a:r>
              <a:t>Slide 8 — Test Three.</a:t>
            </a:r>
          </a:p>
          <a:p>
            <a:r>
              <a:t>Cue — the line that lands on this slide: “Not whether you were busy.”</a:t>
            </a:r>
          </a:p>
          <a:p>
            <a:r>
              <a:t>The questions reveal one at a time.</a:t>
            </a:r>
          </a:p>
          <a:p>
            <a:r>
              <a:t>The skipped question — new judgment, or the same work faster — is the payoff of the section. Give it room before the answer.</a:t>
            </a:r>
          </a:p>
          <a:p>
            <a:r>
              <a:t>“Both are fine. You just want to know which one you have been doing.” No judgement in the delivery, and no visual that codes speed as bad.</a:t>
            </a:r>
          </a:p>
          <a:p>
            <a:r>
              <a:t>Reveal states: 4. Reveal frame 12–15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9.</a:t>
            </a:r>
          </a:p>
          <a:p>
            <a:r>
              <a:t>Timing: approximately 6:37.</a:t>
            </a:r>
          </a:p>
          <a:p>
            <a:r>
              <a:t>Slide 9 — The Three Tests.</a:t>
            </a:r>
          </a:p>
          <a:p>
            <a:r>
              <a:t>Cue — the line that lands on this slide: “So those are the three.”</a:t>
            </a:r>
          </a:p>
          <a:p>
            <a:r>
              <a:t>The three tests together on screen for the first time. Short slide.</a:t>
            </a:r>
          </a:p>
          <a:p>
            <a:r>
              <a:t>Single state. Reveal frame 16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10.</a:t>
            </a:r>
          </a:p>
          <a:p>
            <a:r>
              <a:t>Timing: approximately 6:44.</a:t>
            </a:r>
          </a:p>
          <a:p>
            <a:r>
              <a:t>Slide 10 — Read the Pattern.</a:t>
            </a:r>
          </a:p>
          <a:p>
            <a:r>
              <a:t>Cue — the line that lands on this slide: “And I want to tell you how to read them, because one test on one bad quarter tells you nothing.”</a:t>
            </a:r>
          </a:p>
          <a:p>
            <a:r>
              <a:t>The two questions held side by side.</a:t>
            </a:r>
          </a:p>
          <a:p>
            <a:r>
              <a:t>“Do not diagnose your career from a single quarter.” This slide exists to stop the video producing anxiety from one bad stretch. It is not optional.</a:t>
            </a:r>
          </a:p>
          <a:p>
            <a:r>
              <a:t>Close on “Not panic. Attention.” Let it land.</a:t>
            </a:r>
          </a:p>
          <a:p>
            <a:r>
              <a:t>Single state. Reveal frame 17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1 of 4 — main slide 11.</a:t>
            </a:r>
          </a:p>
          <a:p>
            <a:r>
              <a:t>Timing: approximately 7:31.</a:t>
            </a:r>
          </a:p>
          <a:p>
            <a:r>
              <a:t>Slide 11 — Before You Leave.</a:t>
            </a:r>
          </a:p>
          <a:p>
            <a:r>
              <a:t>Cue — the line that lands on this slide: “Which brings me to the part you might assume is coming, and it is not.”</a:t>
            </a:r>
          </a:p>
          <a:p>
            <a:r>
              <a:t>The things the viewer could do without going anywhere reveal one at a time.</a:t>
            </a:r>
          </a:p>
          <a:p>
            <a:r>
              <a:t>Then the honest limits: this will not stop a restructure, control a hiring market, or turn a bad year into a good one.</a:t>
            </a:r>
          </a:p>
          <a:p>
            <a:r>
              <a:t>THE IDENTITY EXIT sits at the end of this slide: “Not a plan for leaving. The habit of checking.” It is the point of the video. If the edit runs long, cut something else.</a:t>
            </a:r>
          </a:p>
          <a:p>
            <a:r>
              <a:t>Reveal states: 4. Reveal frame 18–21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2 of 4 — main slide 11.</a:t>
            </a:r>
          </a:p>
          <a:p>
            <a:r>
              <a:t>Timing: approximately 7:31.</a:t>
            </a:r>
          </a:p>
          <a:p>
            <a:r>
              <a:t>Slide 11 — Before You Leave.</a:t>
            </a:r>
          </a:p>
          <a:p>
            <a:r>
              <a:t>Cue — the line that lands on this slide: “Which brings me to the part you might assume is coming, and it is not.”</a:t>
            </a:r>
          </a:p>
          <a:p>
            <a:r>
              <a:t>The things the viewer could do without going anywhere reveal one at a time.</a:t>
            </a:r>
          </a:p>
          <a:p>
            <a:r>
              <a:t>Then the honest limits: this will not stop a restructure, control a hiring market, or turn a bad year into a good one.</a:t>
            </a:r>
          </a:p>
          <a:p>
            <a:r>
              <a:t>THE IDENTITY EXIT sits at the end of this slide: “Not a plan for leaving. The habit of checking.” It is the point of the video. If the edit runs long, cut something else.</a:t>
            </a:r>
          </a:p>
          <a:p>
            <a:r>
              <a:t>Reveal states: 4. Reveal frame 18–21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3 of 4 — main slide 11.</a:t>
            </a:r>
          </a:p>
          <a:p>
            <a:r>
              <a:t>Timing: approximately 7:31.</a:t>
            </a:r>
          </a:p>
          <a:p>
            <a:r>
              <a:t>Slide 11 — Before You Leave.</a:t>
            </a:r>
          </a:p>
          <a:p>
            <a:r>
              <a:t>Cue — the line that lands on this slide: “Which brings me to the part you might assume is coming, and it is not.”</a:t>
            </a:r>
          </a:p>
          <a:p>
            <a:r>
              <a:t>The things the viewer could do without going anywhere reveal one at a time.</a:t>
            </a:r>
          </a:p>
          <a:p>
            <a:r>
              <a:t>Then the honest limits: this will not stop a restructure, control a hiring market, or turn a bad year into a good one.</a:t>
            </a:r>
          </a:p>
          <a:p>
            <a:r>
              <a:t>THE IDENTITY EXIT sits at the end of this slide: “Not a plan for leaving. The habit of checking.” It is the point of the video. If the edit runs long, cut something else.</a:t>
            </a:r>
          </a:p>
          <a:p>
            <a:r>
              <a:t>Reveal states: 4. Reveal frame 18–21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frame 4 of 4 — main slide 11.</a:t>
            </a:r>
          </a:p>
          <a:p>
            <a:r>
              <a:t>Timing: approximately 7:31.</a:t>
            </a:r>
          </a:p>
          <a:p>
            <a:r>
              <a:t>Slide 11 — Before You Leave.</a:t>
            </a:r>
          </a:p>
          <a:p>
            <a:r>
              <a:t>Cue — the line that lands on this slide: “Which brings me to the part you might assume is coming, and it is not.”</a:t>
            </a:r>
          </a:p>
          <a:p>
            <a:r>
              <a:t>The things the viewer could do without going anywhere reveal one at a time.</a:t>
            </a:r>
          </a:p>
          <a:p>
            <a:r>
              <a:t>Then the honest limits: this will not stop a restructure, control a hiring market, or turn a bad year into a good one.</a:t>
            </a:r>
          </a:p>
          <a:p>
            <a:r>
              <a:t>THE IDENTITY EXIT sits at the end of this slide: “Not a plan for leaving. The habit of checking.” It is the point of the video. If the edit runs long, cut something else.</a:t>
            </a:r>
          </a:p>
          <a:p>
            <a:r>
              <a:t>Reveal states: 4. Reveal frame 18–21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12.</a:t>
            </a:r>
          </a:p>
          <a:p>
            <a:r>
              <a:t>Timing: approximately 8:48.</a:t>
            </a:r>
          </a:p>
          <a:p>
            <a:r>
              <a:t>Slide 12 — Capability Formation Field Kit.</a:t>
            </a:r>
          </a:p>
          <a:p>
            <a:r>
              <a:t>Cue — the line that lands on this slide: “If you want a fuller read than three tests can give you, I made the Capability Formation Field Kit.”</a:t>
            </a:r>
          </a:p>
          <a:p>
            <a:r>
              <a:t>Show the real Field Kit artwork briefly. One CTA in this video — do not add Keep the Proof or the Career Evidence Starter.</a:t>
            </a:r>
          </a:p>
          <a:p>
            <a:r>
              <a:t>Before publishing, verify the live /fieldkit redirect and the current listing.</a:t>
            </a:r>
          </a:p>
          <a:p>
            <a:r>
              <a:t>Single state. Reveal frame 22 in the build deck.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Single-state frame — main slide 13.</a:t>
            </a:r>
          </a:p>
          <a:p>
            <a:r>
              <a:t>Timing: approximately 9:09.</a:t>
            </a:r>
          </a:p>
          <a:p>
            <a:r>
              <a:t>Slide 13 — Watch Next.</a:t>
            </a:r>
          </a:p>
          <a:p>
            <a:r>
              <a:t>Cue — the line that lands on this slide: “And if you are further along than checking — if some part of you has already decided — there is a different conversation to have.”</a:t>
            </a:r>
          </a:p>
          <a:p>
            <a:r>
              <a:t>The Video 3 route. This card already carries the corrected title, “3 Things to Do Before Quitting Your Job”. Verify it on the recording screen.</a:t>
            </a:r>
          </a:p>
          <a:p>
            <a:r>
              <a:t>“I am not going to try to talk you into staying. I want to help you leave with more than exhaustion.” — that is the Video 3 promise, previewed honestly.</a:t>
            </a:r>
          </a:p>
          <a:p>
            <a:r>
              <a:t>Sign off clean. No music sting over the last two lines.</a:t>
            </a:r>
          </a:p>
          <a:p>
            <a:r>
              <a:t>Single state. Reveal frame 23 in the build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91800" y="66040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15650" y="660400"/>
            <a:ext cx="254000" cy="254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9180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1565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933700"/>
            <a:ext cx="8890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VIDEO TWO  ·  CAPABILITY FORMATION</a:t>
            </a:r>
          </a:p>
        </p:txBody>
      </p:sp>
      <p:sp>
        <p:nvSpPr>
          <p:cNvPr id="9" name="TextBox 8"/>
          <p:cNvSpPr txBox="1"/>
          <p:nvPr/>
        </p:nvSpPr>
        <p:spPr>
          <a:xfrm>
            <a:off x="863600" y="3302000"/>
            <a:ext cx="9906000" cy="1270000"/>
          </a:xfrm>
          <a:prstGeom prst="rect">
            <a:avLst/>
          </a:prstGeom>
          <a:noFill/>
        </p:spPr>
        <p:txBody>
          <a:bodyPr wrap="square" lIns="0" rIns="0" tIns="0" bIns="0" anchor="t">
            <a:spAutoFit/>
          </a:bodyPr>
          <a:lstStyle/>
          <a:p>
            <a:pPr algn="l">
              <a:lnSpc>
                <a:spcPct val="108000"/>
              </a:lnSpc>
            </a:pPr>
            <a:r>
              <a:rPr sz="5000" b="1" i="0">
                <a:solidFill>
                  <a:srgbClr val="F5F1E8"/>
                </a:solidFill>
                <a:latin typeface="Montserrat"/>
                <a:ea typeface="Montserrat"/>
                <a:cs typeface="Montserrat"/>
              </a:rPr>
              <a:t>Is Your Job</a:t>
            </a:r>
            <a:br/>
            <a:r>
              <a:rPr sz="5000" b="1" i="0">
                <a:solidFill>
                  <a:srgbClr val="F5F1E8"/>
                </a:solidFill>
                <a:latin typeface="Montserrat"/>
                <a:ea typeface="Montserrat"/>
                <a:cs typeface="Montserrat"/>
              </a:rPr>
              <a:t>Making You Less</a:t>
            </a:r>
            <a:br/>
            <a:r>
              <a:rPr sz="5000" b="1" i="0">
                <a:solidFill>
                  <a:srgbClr val="F5F1E8"/>
                </a:solidFill>
                <a:latin typeface="Montserrat"/>
                <a:ea typeface="Montserrat"/>
                <a:cs typeface="Montserrat"/>
              </a:rPr>
              <a:t>Marketable?</a:t>
            </a:r>
          </a:p>
        </p:txBody>
      </p:sp>
      <p:sp>
        <p:nvSpPr>
          <p:cNvPr id="10" name="Rectangle 9"/>
          <p:cNvSpPr/>
          <p:nvPr/>
        </p:nvSpPr>
        <p:spPr>
          <a:xfrm>
            <a:off x="863600" y="5727700"/>
            <a:ext cx="1397000" cy="381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3600" y="5981700"/>
            <a:ext cx="7620000" cy="1270000"/>
          </a:xfrm>
          <a:prstGeom prst="rect">
            <a:avLst/>
          </a:prstGeom>
          <a:noFill/>
        </p:spPr>
        <p:txBody>
          <a:bodyPr wrap="square" lIns="0" rIns="0" tIns="0" bIns="0" anchor="t">
            <a:spAutoFit/>
          </a:bodyPr>
          <a:lstStyle/>
          <a:p>
            <a:pPr algn="l">
              <a:lnSpc>
                <a:spcPct val="112000"/>
              </a:lnSpc>
            </a:pPr>
            <a:r>
              <a:rPr sz="1200" b="1" i="0" spc="200">
                <a:solidFill>
                  <a:srgbClr val="B9C3D2"/>
                </a:solidFill>
                <a:latin typeface="Montserrat"/>
                <a:ea typeface="Montserrat"/>
                <a:cs typeface="Montserrat"/>
              </a:rPr>
              <a:t>Temidayo Afonja  ·  temidayoafonja.com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TWO DIFFERENT QUESTIONS</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2700" b="1" i="0">
                <a:solidFill>
                  <a:srgbClr val="0F2346"/>
                </a:solidFill>
                <a:latin typeface="Montserrat"/>
                <a:ea typeface="Montserrat"/>
                <a:cs typeface="Montserrat"/>
              </a:rPr>
              <a:t>Being valuable here</a:t>
            </a:r>
            <a:br/>
            <a:r>
              <a:rPr sz="2700" b="1" i="0">
                <a:solidFill>
                  <a:srgbClr val="0F2346"/>
                </a:solidFill>
                <a:latin typeface="Montserrat"/>
                <a:ea typeface="Montserrat"/>
                <a:cs typeface="Montserrat"/>
              </a:rPr>
              <a:t>answers only one question.</a:t>
            </a:r>
          </a:p>
        </p:txBody>
      </p:sp>
      <p:sp>
        <p:nvSpPr>
          <p:cNvPr id="5" name="TextBox 4"/>
          <p:cNvSpPr txBox="1"/>
          <p:nvPr/>
        </p:nvSpPr>
        <p:spPr>
          <a:xfrm>
            <a:off x="762000" y="3429000"/>
            <a:ext cx="4953000" cy="1270000"/>
          </a:xfrm>
          <a:prstGeom prst="rect">
            <a:avLst/>
          </a:prstGeom>
          <a:noFill/>
        </p:spPr>
        <p:txBody>
          <a:bodyPr wrap="square" lIns="0" rIns="0" tIns="0" bIns="0" anchor="t">
            <a:spAutoFit/>
          </a:bodyPr>
          <a:lstStyle/>
          <a:p>
            <a:pPr algn="l">
              <a:lnSpc>
                <a:spcPct val="110000"/>
              </a:lnSpc>
            </a:pPr>
            <a:r>
              <a:rPr sz="3400" b="1" i="0">
                <a:solidFill>
                  <a:srgbClr val="0F2346"/>
                </a:solidFill>
                <a:latin typeface="Montserrat"/>
                <a:ea typeface="Montserrat"/>
                <a:cs typeface="Montserrat"/>
              </a:rPr>
              <a:t>Valuable here</a:t>
            </a:r>
          </a:p>
        </p:txBody>
      </p:sp>
      <p:sp>
        <p:nvSpPr>
          <p:cNvPr id="6" name="Rectangle 5"/>
          <p:cNvSpPr/>
          <p:nvPr/>
        </p:nvSpPr>
        <p:spPr>
          <a:xfrm>
            <a:off x="6083300" y="3352800"/>
            <a:ext cx="19050" cy="8255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7000" y="3429000"/>
            <a:ext cx="4953000" cy="1270000"/>
          </a:xfrm>
          <a:prstGeom prst="rect">
            <a:avLst/>
          </a:prstGeom>
          <a:noFill/>
        </p:spPr>
        <p:txBody>
          <a:bodyPr wrap="square" lIns="0" rIns="0" tIns="0" bIns="0" anchor="t">
            <a:spAutoFit/>
          </a:bodyPr>
          <a:lstStyle/>
          <a:p>
            <a:pPr algn="l">
              <a:lnSpc>
                <a:spcPct val="110000"/>
              </a:lnSpc>
            </a:pPr>
            <a:r>
              <a:rPr sz="3400" b="1" i="0">
                <a:solidFill>
                  <a:srgbClr val="244B78"/>
                </a:solidFill>
                <a:latin typeface="Montserrat"/>
                <a:ea typeface="Montserrat"/>
                <a:cs typeface="Montserrat"/>
              </a:rPr>
              <a:t>Legible elsewhere</a:t>
            </a:r>
          </a:p>
        </p:txBody>
      </p:sp>
      <p:sp>
        <p:nvSpPr>
          <p:cNvPr id="8" name="Rectangle 7"/>
          <p:cNvSpPr/>
          <p:nvPr/>
        </p:nvSpPr>
        <p:spPr>
          <a:xfrm>
            <a:off x="762000" y="482600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5156200"/>
            <a:ext cx="9906000" cy="1270000"/>
          </a:xfrm>
          <a:prstGeom prst="rect">
            <a:avLst/>
          </a:prstGeom>
          <a:noFill/>
        </p:spPr>
        <p:txBody>
          <a:bodyPr wrap="square" lIns="0" rIns="0" tIns="0" bIns="0" anchor="t">
            <a:spAutoFit/>
          </a:bodyPr>
          <a:lstStyle/>
          <a:p>
            <a:pPr algn="l">
              <a:lnSpc>
                <a:spcPct val="135000"/>
              </a:lnSpc>
            </a:pPr>
            <a:r>
              <a:rPr sz="1600" b="0" i="0">
                <a:solidFill>
                  <a:srgbClr val="5A6B82"/>
                </a:solidFill>
                <a:latin typeface="DM Sans"/>
                <a:ea typeface="DM Sans"/>
                <a:cs typeface="DM Sans"/>
              </a:rPr>
              <a:t>The second question is whether another context</a:t>
            </a:r>
            <a:br/>
            <a:r>
              <a:rPr sz="1600" b="0" i="0">
                <a:solidFill>
                  <a:srgbClr val="5A6B82"/>
                </a:solidFill>
                <a:latin typeface="DM Sans"/>
                <a:ea typeface="DM Sans"/>
                <a:cs typeface="DM Sans"/>
              </a:rPr>
              <a:t>can recognize and use what you have built.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2870200"/>
            <a:ext cx="8890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THREE MARKETABILITY TESTS</a:t>
            </a:r>
          </a:p>
        </p:txBody>
      </p:sp>
      <p:sp>
        <p:nvSpPr>
          <p:cNvPr id="4" name="TextBox 3"/>
          <p:cNvSpPr txBox="1"/>
          <p:nvPr/>
        </p:nvSpPr>
        <p:spPr>
          <a:xfrm>
            <a:off x="762000" y="3175000"/>
            <a:ext cx="2540000" cy="1270000"/>
          </a:xfrm>
          <a:prstGeom prst="rect">
            <a:avLst/>
          </a:prstGeom>
          <a:noFill/>
        </p:spPr>
        <p:txBody>
          <a:bodyPr wrap="square" lIns="0" rIns="0" tIns="0" bIns="0" anchor="t">
            <a:spAutoFit/>
          </a:bodyPr>
          <a:lstStyle/>
          <a:p>
            <a:pPr algn="l">
              <a:lnSpc>
                <a:spcPct val="100000"/>
              </a:lnSpc>
            </a:pPr>
            <a:r>
              <a:rPr sz="8000" b="1" i="0">
                <a:solidFill>
                  <a:srgbClr val="C9A84C"/>
                </a:solidFill>
                <a:latin typeface="Montserrat"/>
                <a:ea typeface="Montserrat"/>
                <a:cs typeface="Montserrat"/>
              </a:rPr>
              <a:t>01</a:t>
            </a:r>
          </a:p>
        </p:txBody>
      </p:sp>
      <p:sp>
        <p:nvSpPr>
          <p:cNvPr id="5" name="TextBox 4"/>
          <p:cNvSpPr txBox="1"/>
          <p:nvPr/>
        </p:nvSpPr>
        <p:spPr>
          <a:xfrm>
            <a:off x="762000" y="4381500"/>
            <a:ext cx="9525000" cy="1270000"/>
          </a:xfrm>
          <a:prstGeom prst="rect">
            <a:avLst/>
          </a:prstGeom>
          <a:noFill/>
        </p:spPr>
        <p:txBody>
          <a:bodyPr wrap="square" lIns="0" rIns="0" tIns="0" bIns="0" anchor="t">
            <a:spAutoFit/>
          </a:bodyPr>
          <a:lstStyle/>
          <a:p>
            <a:pPr algn="l">
              <a:lnSpc>
                <a:spcPct val="114000"/>
              </a:lnSpc>
            </a:pPr>
            <a:r>
              <a:rPr sz="3800" b="1" i="0">
                <a:solidFill>
                  <a:srgbClr val="0F2346"/>
                </a:solidFill>
                <a:latin typeface="Montserrat"/>
                <a:ea typeface="Montserrat"/>
                <a:cs typeface="Montserrat"/>
              </a:rPr>
              <a:t>Remove the</a:t>
            </a:r>
            <a:br/>
            <a:r>
              <a:rPr sz="3800" b="1" i="0">
                <a:solidFill>
                  <a:srgbClr val="0F2346"/>
                </a:solidFill>
                <a:latin typeface="Montserrat"/>
                <a:ea typeface="Montserrat"/>
                <a:cs typeface="Montserrat"/>
              </a:rPr>
              <a:t>company nouns</a:t>
            </a:r>
          </a:p>
        </p:txBody>
      </p:sp>
      <p:sp>
        <p:nvSpPr>
          <p:cNvPr id="6" name="TextBox 5"/>
          <p:cNvSpPr txBox="1"/>
          <p:nvPr/>
        </p:nvSpPr>
        <p:spPr>
          <a:xfrm>
            <a:off x="762000" y="5715000"/>
            <a:ext cx="8890000" cy="1270000"/>
          </a:xfrm>
          <a:prstGeom prst="rect">
            <a:avLst/>
          </a:prstGeom>
          <a:noFill/>
        </p:spPr>
        <p:txBody>
          <a:bodyPr wrap="square" lIns="0" rIns="0" tIns="0" bIns="0" anchor="t">
            <a:spAutoFit/>
          </a:bodyPr>
          <a:lstStyle/>
          <a:p>
            <a:pPr algn="l">
              <a:lnSpc>
                <a:spcPct val="130000"/>
              </a:lnSpc>
            </a:pPr>
            <a:r>
              <a:rPr sz="1500" b="0" i="0">
                <a:solidFill>
                  <a:srgbClr val="5A6B82"/>
                </a:solidFill>
                <a:latin typeface="DM Sans"/>
                <a:ea typeface="DM Sans"/>
                <a:cs typeface="DM Sans"/>
              </a:rPr>
              <a:t>Can the capability still be described?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TEST ONE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Remove the company nouns.</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Cross out the employer, the internal programs, the systems,</a:t>
            </a:r>
            <a:br/>
            <a:r>
              <a:rPr sz="1600" b="0" i="0">
                <a:solidFill>
                  <a:srgbClr val="5A6B82"/>
                </a:solidFill>
                <a:latin typeface="DM Sans"/>
                <a:ea typeface="DM Sans"/>
                <a:cs typeface="DM Sans"/>
              </a:rPr>
              <a:t>the product names and the acronyms. Read what is left.</a:t>
            </a:r>
          </a:p>
        </p:txBody>
      </p:sp>
      <p:sp>
        <p:nvSpPr>
          <p:cNvPr id="6" name="Rectangle 5"/>
          <p:cNvSpPr/>
          <p:nvPr/>
        </p:nvSpPr>
        <p:spPr>
          <a:xfrm>
            <a:off x="762000" y="3302000"/>
            <a:ext cx="4826000" cy="24130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2000" y="3302000"/>
            <a:ext cx="4826000" cy="50800"/>
          </a:xfrm>
          <a:prstGeom prst="rect">
            <a:avLst/>
          </a:prstGeom>
          <a:solidFill>
            <a:srgbClr val="5A6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1400" y="3594100"/>
            <a:ext cx="4318000" cy="1270000"/>
          </a:xfrm>
          <a:prstGeom prst="rect">
            <a:avLst/>
          </a:prstGeom>
          <a:noFill/>
        </p:spPr>
        <p:txBody>
          <a:bodyPr wrap="square" lIns="0" rIns="0" tIns="0" bIns="0" anchor="t">
            <a:spAutoFit/>
          </a:bodyPr>
          <a:lstStyle/>
          <a:p>
            <a:pPr algn="l">
              <a:lnSpc>
                <a:spcPct val="112000"/>
              </a:lnSpc>
            </a:pPr>
            <a:r>
              <a:rPr sz="1200" b="1" i="0" spc="200">
                <a:solidFill>
                  <a:srgbClr val="5A6B82"/>
                </a:solidFill>
                <a:latin typeface="Montserrat"/>
                <a:ea typeface="Montserrat"/>
                <a:cs typeface="Montserrat"/>
              </a:rPr>
              <a:t>Company-bound description</a:t>
            </a:r>
          </a:p>
        </p:txBody>
      </p:sp>
      <p:sp>
        <p:nvSpPr>
          <p:cNvPr id="9" name="TextBox 8"/>
          <p:cNvSpPr txBox="1"/>
          <p:nvPr/>
        </p:nvSpPr>
        <p:spPr>
          <a:xfrm>
            <a:off x="1041400" y="4038600"/>
            <a:ext cx="4318000" cy="1270000"/>
          </a:xfrm>
          <a:prstGeom prst="rect">
            <a:avLst/>
          </a:prstGeom>
          <a:noFill/>
        </p:spPr>
        <p:txBody>
          <a:bodyPr wrap="square" lIns="0" rIns="0" tIns="0" bIns="0" anchor="t">
            <a:spAutoFit/>
          </a:bodyPr>
          <a:lstStyle/>
          <a:p>
            <a:pPr algn="l">
              <a:lnSpc>
                <a:spcPct val="122000"/>
              </a:lnSpc>
            </a:pPr>
            <a:r>
              <a:rPr sz="2200" b="1" i="0">
                <a:solidFill>
                  <a:srgbClr val="0F2346"/>
                </a:solidFill>
                <a:latin typeface="Montserrat"/>
                <a:ea typeface="Montserrat"/>
                <a:cs typeface="Montserrat"/>
              </a:rPr>
              <a:t>I own the QBR process</a:t>
            </a:r>
            <a:br/>
            <a:r>
              <a:rPr sz="2200" b="1" i="0">
                <a:solidFill>
                  <a:srgbClr val="0F2346"/>
                </a:solidFill>
                <a:latin typeface="Montserrat"/>
                <a:ea typeface="Montserrat"/>
                <a:cs typeface="Montserrat"/>
              </a:rPr>
              <a:t>for this business unit.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TEST ONE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Remove the company nouns.</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Cross out the employer, the internal programs, the systems,</a:t>
            </a:r>
            <a:br/>
            <a:r>
              <a:rPr sz="1600" b="0" i="0">
                <a:solidFill>
                  <a:srgbClr val="5A6B82"/>
                </a:solidFill>
                <a:latin typeface="DM Sans"/>
                <a:ea typeface="DM Sans"/>
                <a:cs typeface="DM Sans"/>
              </a:rPr>
              <a:t>the product names and the acronyms. Read what is left.</a:t>
            </a:r>
          </a:p>
        </p:txBody>
      </p:sp>
      <p:sp>
        <p:nvSpPr>
          <p:cNvPr id="6" name="Rectangle 5"/>
          <p:cNvSpPr/>
          <p:nvPr/>
        </p:nvSpPr>
        <p:spPr>
          <a:xfrm>
            <a:off x="762000" y="3302000"/>
            <a:ext cx="4826000" cy="24130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2000" y="3302000"/>
            <a:ext cx="4826000" cy="50800"/>
          </a:xfrm>
          <a:prstGeom prst="rect">
            <a:avLst/>
          </a:prstGeom>
          <a:solidFill>
            <a:srgbClr val="5A6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1400" y="3594100"/>
            <a:ext cx="4318000" cy="1270000"/>
          </a:xfrm>
          <a:prstGeom prst="rect">
            <a:avLst/>
          </a:prstGeom>
          <a:noFill/>
        </p:spPr>
        <p:txBody>
          <a:bodyPr wrap="square" lIns="0" rIns="0" tIns="0" bIns="0" anchor="t">
            <a:spAutoFit/>
          </a:bodyPr>
          <a:lstStyle/>
          <a:p>
            <a:pPr algn="l">
              <a:lnSpc>
                <a:spcPct val="112000"/>
              </a:lnSpc>
            </a:pPr>
            <a:r>
              <a:rPr sz="1200" b="1" i="0" spc="200">
                <a:solidFill>
                  <a:srgbClr val="5A6B82"/>
                </a:solidFill>
                <a:latin typeface="Montserrat"/>
                <a:ea typeface="Montserrat"/>
                <a:cs typeface="Montserrat"/>
              </a:rPr>
              <a:t>Company-bound description</a:t>
            </a:r>
          </a:p>
        </p:txBody>
      </p:sp>
      <p:sp>
        <p:nvSpPr>
          <p:cNvPr id="9" name="TextBox 8"/>
          <p:cNvSpPr txBox="1"/>
          <p:nvPr/>
        </p:nvSpPr>
        <p:spPr>
          <a:xfrm>
            <a:off x="1041400" y="4038600"/>
            <a:ext cx="4318000" cy="1270000"/>
          </a:xfrm>
          <a:prstGeom prst="rect">
            <a:avLst/>
          </a:prstGeom>
          <a:noFill/>
        </p:spPr>
        <p:txBody>
          <a:bodyPr wrap="square" lIns="0" rIns="0" tIns="0" bIns="0" anchor="t">
            <a:spAutoFit/>
          </a:bodyPr>
          <a:lstStyle/>
          <a:p>
            <a:pPr algn="l">
              <a:lnSpc>
                <a:spcPct val="122000"/>
              </a:lnSpc>
            </a:pPr>
            <a:r>
              <a:rPr sz="2200" b="1" i="0">
                <a:solidFill>
                  <a:srgbClr val="0F2346"/>
                </a:solidFill>
                <a:latin typeface="Montserrat"/>
                <a:ea typeface="Montserrat"/>
                <a:cs typeface="Montserrat"/>
              </a:rPr>
              <a:t>I own the QBR process</a:t>
            </a:r>
            <a:br/>
            <a:r>
              <a:rPr sz="2200" b="1" i="0">
                <a:solidFill>
                  <a:srgbClr val="0F2346"/>
                </a:solidFill>
                <a:latin typeface="Montserrat"/>
                <a:ea typeface="Montserrat"/>
                <a:cs typeface="Montserrat"/>
              </a:rPr>
              <a:t>for this business unit.</a:t>
            </a:r>
          </a:p>
        </p:txBody>
      </p:sp>
      <p:sp>
        <p:nvSpPr>
          <p:cNvPr id="10" name="TextBox 9"/>
          <p:cNvSpPr txBox="1"/>
          <p:nvPr/>
        </p:nvSpPr>
        <p:spPr>
          <a:xfrm>
            <a:off x="5651500" y="4191000"/>
            <a:ext cx="1016000" cy="1270000"/>
          </a:xfrm>
          <a:prstGeom prst="rect">
            <a:avLst/>
          </a:prstGeom>
          <a:noFill/>
        </p:spPr>
        <p:txBody>
          <a:bodyPr wrap="square" lIns="0" rIns="0" tIns="0" bIns="0" anchor="t">
            <a:spAutoFit/>
          </a:bodyPr>
          <a:lstStyle/>
          <a:p>
            <a:pPr algn="ctr">
              <a:lnSpc>
                <a:spcPct val="100000"/>
              </a:lnSpc>
            </a:pPr>
            <a:r>
              <a:rPr sz="4500" b="0" i="0">
                <a:solidFill>
                  <a:srgbClr val="C9A84C"/>
                </a:solidFill>
                <a:latin typeface="Montserrat"/>
                <a:ea typeface="Montserrat"/>
                <a:cs typeface="Montserrat"/>
              </a:rPr>
              <a:t>→</a:t>
            </a:r>
          </a:p>
        </p:txBody>
      </p:sp>
      <p:sp>
        <p:nvSpPr>
          <p:cNvPr id="11" name="Rectangle 10"/>
          <p:cNvSpPr/>
          <p:nvPr/>
        </p:nvSpPr>
        <p:spPr>
          <a:xfrm>
            <a:off x="6604000" y="3302000"/>
            <a:ext cx="4826000" cy="24130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04000" y="3302000"/>
            <a:ext cx="48260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83400" y="3594100"/>
            <a:ext cx="4381500" cy="1270000"/>
          </a:xfrm>
          <a:prstGeom prst="rect">
            <a:avLst/>
          </a:prstGeom>
          <a:noFill/>
        </p:spPr>
        <p:txBody>
          <a:bodyPr wrap="square" lIns="0" rIns="0" tIns="0" bIns="0" anchor="t">
            <a:spAutoFit/>
          </a:bodyPr>
          <a:lstStyle/>
          <a:p>
            <a:pPr algn="l">
              <a:lnSpc>
                <a:spcPct val="115000"/>
              </a:lnSpc>
            </a:pPr>
            <a:r>
              <a:rPr sz="1200" b="1" i="0" spc="200">
                <a:solidFill>
                  <a:srgbClr val="C9A84C"/>
                </a:solidFill>
                <a:latin typeface="Montserrat"/>
                <a:ea typeface="Montserrat"/>
                <a:cs typeface="Montserrat"/>
              </a:rPr>
              <a:t>What another employer</a:t>
            </a:r>
            <a:br/>
            <a:r>
              <a:rPr sz="1200" b="1" i="0" spc="200">
                <a:solidFill>
                  <a:srgbClr val="C9A84C"/>
                </a:solidFill>
                <a:latin typeface="Montserrat"/>
                <a:ea typeface="Montserrat"/>
                <a:cs typeface="Montserrat"/>
              </a:rPr>
              <a:t>can understand</a:t>
            </a:r>
          </a:p>
        </p:txBody>
      </p:sp>
      <p:sp>
        <p:nvSpPr>
          <p:cNvPr id="14" name="TextBox 13"/>
          <p:cNvSpPr txBox="1"/>
          <p:nvPr/>
        </p:nvSpPr>
        <p:spPr>
          <a:xfrm>
            <a:off x="6883400" y="4102100"/>
            <a:ext cx="4381500" cy="1270000"/>
          </a:xfrm>
          <a:prstGeom prst="rect">
            <a:avLst/>
          </a:prstGeom>
          <a:noFill/>
        </p:spPr>
        <p:txBody>
          <a:bodyPr wrap="square" lIns="0" rIns="0" tIns="0" bIns="0" anchor="t">
            <a:spAutoFit/>
          </a:bodyPr>
          <a:lstStyle/>
          <a:p>
            <a:pPr algn="l">
              <a:lnSpc>
                <a:spcPct val="130000"/>
              </a:lnSpc>
            </a:pPr>
            <a:r>
              <a:rPr sz="1500" b="1" i="0">
                <a:solidFill>
                  <a:srgbClr val="0F2346"/>
                </a:solidFill>
                <a:latin typeface="Montserrat"/>
                <a:ea typeface="Montserrat"/>
                <a:cs typeface="Montserrat"/>
              </a:rPr>
              <a:t>I combine incomplete operating</a:t>
            </a:r>
            <a:br/>
            <a:r>
              <a:rPr sz="1500" b="1" i="0">
                <a:solidFill>
                  <a:srgbClr val="0F2346"/>
                </a:solidFill>
                <a:latin typeface="Montserrat"/>
                <a:ea typeface="Montserrat"/>
                <a:cs typeface="Montserrat"/>
              </a:rPr>
              <a:t>data, surface the decision leaders</a:t>
            </a:r>
            <a:br/>
            <a:r>
              <a:rPr sz="1500" b="1" i="0">
                <a:solidFill>
                  <a:srgbClr val="0F2346"/>
                </a:solidFill>
                <a:latin typeface="Montserrat"/>
                <a:ea typeface="Montserrat"/>
                <a:cs typeface="Montserrat"/>
              </a:rPr>
              <a:t>are avoiding, and create a shared</a:t>
            </a:r>
            <a:br/>
            <a:r>
              <a:rPr sz="1500" b="1" i="0">
                <a:solidFill>
                  <a:srgbClr val="0F2346"/>
                </a:solidFill>
                <a:latin typeface="Montserrat"/>
                <a:ea typeface="Montserrat"/>
                <a:cs typeface="Montserrat"/>
              </a:rPr>
              <a:t>view of what needs to happen next.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2870200"/>
            <a:ext cx="8890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THREE MARKETABILITY TESTS</a:t>
            </a:r>
          </a:p>
        </p:txBody>
      </p:sp>
      <p:sp>
        <p:nvSpPr>
          <p:cNvPr id="4" name="TextBox 3"/>
          <p:cNvSpPr txBox="1"/>
          <p:nvPr/>
        </p:nvSpPr>
        <p:spPr>
          <a:xfrm>
            <a:off x="762000" y="3175000"/>
            <a:ext cx="2540000" cy="1270000"/>
          </a:xfrm>
          <a:prstGeom prst="rect">
            <a:avLst/>
          </a:prstGeom>
          <a:noFill/>
        </p:spPr>
        <p:txBody>
          <a:bodyPr wrap="square" lIns="0" rIns="0" tIns="0" bIns="0" anchor="t">
            <a:spAutoFit/>
          </a:bodyPr>
          <a:lstStyle/>
          <a:p>
            <a:pPr algn="l">
              <a:lnSpc>
                <a:spcPct val="100000"/>
              </a:lnSpc>
            </a:pPr>
            <a:r>
              <a:rPr sz="8000" b="1" i="0">
                <a:solidFill>
                  <a:srgbClr val="C9A84C"/>
                </a:solidFill>
                <a:latin typeface="Montserrat"/>
                <a:ea typeface="Montserrat"/>
                <a:cs typeface="Montserrat"/>
              </a:rPr>
              <a:t>02</a:t>
            </a:r>
          </a:p>
        </p:txBody>
      </p:sp>
      <p:sp>
        <p:nvSpPr>
          <p:cNvPr id="5" name="TextBox 4"/>
          <p:cNvSpPr txBox="1"/>
          <p:nvPr/>
        </p:nvSpPr>
        <p:spPr>
          <a:xfrm>
            <a:off x="762000" y="4381500"/>
            <a:ext cx="9525000" cy="1270000"/>
          </a:xfrm>
          <a:prstGeom prst="rect">
            <a:avLst/>
          </a:prstGeom>
          <a:noFill/>
        </p:spPr>
        <p:txBody>
          <a:bodyPr wrap="square" lIns="0" rIns="0" tIns="0" bIns="0" anchor="t">
            <a:spAutoFit/>
          </a:bodyPr>
          <a:lstStyle/>
          <a:p>
            <a:pPr algn="l">
              <a:lnSpc>
                <a:spcPct val="114000"/>
              </a:lnSpc>
            </a:pPr>
            <a:r>
              <a:rPr sz="3800" b="1" i="0">
                <a:solidFill>
                  <a:srgbClr val="0F2346"/>
                </a:solidFill>
                <a:latin typeface="Montserrat"/>
                <a:ea typeface="Montserrat"/>
                <a:cs typeface="Montserrat"/>
              </a:rPr>
              <a:t>Find outside-context</a:t>
            </a:r>
            <a:br/>
            <a:r>
              <a:rPr sz="3800" b="1" i="0">
                <a:solidFill>
                  <a:srgbClr val="0F2346"/>
                </a:solidFill>
                <a:latin typeface="Montserrat"/>
                <a:ea typeface="Montserrat"/>
                <a:cs typeface="Montserrat"/>
              </a:rPr>
              <a:t>evidence</a:t>
            </a:r>
          </a:p>
        </p:txBody>
      </p:sp>
      <p:sp>
        <p:nvSpPr>
          <p:cNvPr id="6" name="TextBox 5"/>
          <p:cNvSpPr txBox="1"/>
          <p:nvPr/>
        </p:nvSpPr>
        <p:spPr>
          <a:xfrm>
            <a:off x="762000" y="5715000"/>
            <a:ext cx="8890000" cy="1270000"/>
          </a:xfrm>
          <a:prstGeom prst="rect">
            <a:avLst/>
          </a:prstGeom>
          <a:noFill/>
        </p:spPr>
        <p:txBody>
          <a:bodyPr wrap="square" lIns="0" rIns="0" tIns="0" bIns="0" anchor="t">
            <a:spAutoFit/>
          </a:bodyPr>
          <a:lstStyle/>
          <a:p>
            <a:pPr algn="l">
              <a:lnSpc>
                <a:spcPct val="130000"/>
              </a:lnSpc>
            </a:pPr>
            <a:r>
              <a:rPr sz="1500" b="0" i="0">
                <a:solidFill>
                  <a:srgbClr val="5A6B82"/>
                </a:solidFill>
                <a:latin typeface="DM Sans"/>
                <a:ea typeface="DM Sans"/>
                <a:cs typeface="DM Sans"/>
              </a:rPr>
              <a:t>Has the usefulness survived a change in context?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TEST TWO</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Find outside-context evidence.</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The evidence can be small. It only has to show the usefulness</a:t>
            </a:r>
            <a:br/>
            <a:r>
              <a:rPr sz="1600" b="0" i="0">
                <a:solidFill>
                  <a:srgbClr val="5A6B82"/>
                </a:solidFill>
                <a:latin typeface="DM Sans"/>
                <a:ea typeface="DM Sans"/>
                <a:cs typeface="DM Sans"/>
              </a:rPr>
              <a:t>survived some distance from where it was formed.</a:t>
            </a:r>
          </a:p>
        </p:txBody>
      </p:sp>
      <p:sp>
        <p:nvSpPr>
          <p:cNvPr id="6" name="TextBox 5"/>
          <p:cNvSpPr txBox="1"/>
          <p:nvPr/>
        </p:nvSpPr>
        <p:spPr>
          <a:xfrm>
            <a:off x="762000" y="321310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7" name="TextBox 6"/>
          <p:cNvSpPr txBox="1"/>
          <p:nvPr/>
        </p:nvSpPr>
        <p:spPr>
          <a:xfrm>
            <a:off x="1524000" y="317500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Cross-functional project</a:t>
            </a:r>
          </a:p>
        </p:txBody>
      </p:sp>
      <p:sp>
        <p:nvSpPr>
          <p:cNvPr id="8" name="TextBox 7"/>
          <p:cNvSpPr txBox="1"/>
          <p:nvPr/>
        </p:nvSpPr>
        <p:spPr>
          <a:xfrm>
            <a:off x="1524000" y="3528060"/>
            <a:ext cx="9906000" cy="1270000"/>
          </a:xfrm>
          <a:prstGeom prst="rect">
            <a:avLst/>
          </a:prstGeom>
          <a:noFill/>
        </p:spPr>
        <p:txBody>
          <a:bodyPr wrap="square" lIns="0" rIns="0" tIns="0" bIns="0" anchor="t">
            <a:spAutoFit/>
          </a:bodyPr>
          <a:lstStyle/>
          <a:p>
            <a:pPr algn="l">
              <a:lnSpc>
                <a:spcPct val="130000"/>
              </a:lnSpc>
            </a:pPr>
            <a:r>
              <a:rPr sz="1300" b="0" i="0">
                <a:solidFill>
                  <a:srgbClr val="5A6B82"/>
                </a:solidFill>
                <a:latin typeface="DM Sans"/>
                <a:ea typeface="DM Sans"/>
                <a:cs typeface="DM Sans"/>
              </a:rPr>
              <a:t>Another group used or sought your judgment.</a:t>
            </a:r>
          </a:p>
        </p:txBody>
      </p:sp>
      <p:sp>
        <p:nvSpPr>
          <p:cNvPr id="9" name="Rectangle 8"/>
          <p:cNvSpPr/>
          <p:nvPr/>
        </p:nvSpPr>
        <p:spPr>
          <a:xfrm>
            <a:off x="762000" y="382524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TEST TWO</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Find outside-context evidence.</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The evidence can be small. It only has to show the usefulness</a:t>
            </a:r>
            <a:br/>
            <a:r>
              <a:rPr sz="1600" b="0" i="0">
                <a:solidFill>
                  <a:srgbClr val="5A6B82"/>
                </a:solidFill>
                <a:latin typeface="DM Sans"/>
                <a:ea typeface="DM Sans"/>
                <a:cs typeface="DM Sans"/>
              </a:rPr>
              <a:t>survived some distance from where it was formed.</a:t>
            </a:r>
          </a:p>
        </p:txBody>
      </p:sp>
      <p:sp>
        <p:nvSpPr>
          <p:cNvPr id="6" name="TextBox 5"/>
          <p:cNvSpPr txBox="1"/>
          <p:nvPr/>
        </p:nvSpPr>
        <p:spPr>
          <a:xfrm>
            <a:off x="762000" y="321310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7" name="TextBox 6"/>
          <p:cNvSpPr txBox="1"/>
          <p:nvPr/>
        </p:nvSpPr>
        <p:spPr>
          <a:xfrm>
            <a:off x="1524000" y="317500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Cross-functional project</a:t>
            </a:r>
          </a:p>
        </p:txBody>
      </p:sp>
      <p:sp>
        <p:nvSpPr>
          <p:cNvPr id="8" name="TextBox 7"/>
          <p:cNvSpPr txBox="1"/>
          <p:nvPr/>
        </p:nvSpPr>
        <p:spPr>
          <a:xfrm>
            <a:off x="1524000" y="3528060"/>
            <a:ext cx="9906000" cy="1270000"/>
          </a:xfrm>
          <a:prstGeom prst="rect">
            <a:avLst/>
          </a:prstGeom>
          <a:noFill/>
        </p:spPr>
        <p:txBody>
          <a:bodyPr wrap="square" lIns="0" rIns="0" tIns="0" bIns="0" anchor="t">
            <a:spAutoFit/>
          </a:bodyPr>
          <a:lstStyle/>
          <a:p>
            <a:pPr algn="l">
              <a:lnSpc>
                <a:spcPct val="130000"/>
              </a:lnSpc>
            </a:pPr>
            <a:r>
              <a:rPr sz="1300" b="0" i="0">
                <a:solidFill>
                  <a:srgbClr val="5A6B82"/>
                </a:solidFill>
                <a:latin typeface="DM Sans"/>
                <a:ea typeface="DM Sans"/>
                <a:cs typeface="DM Sans"/>
              </a:rPr>
              <a:t>Another group used or sought your judgment.</a:t>
            </a:r>
          </a:p>
        </p:txBody>
      </p:sp>
      <p:sp>
        <p:nvSpPr>
          <p:cNvPr id="9" name="Rectangle 8"/>
          <p:cNvSpPr/>
          <p:nvPr/>
        </p:nvSpPr>
        <p:spPr>
          <a:xfrm>
            <a:off x="762000" y="382524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402209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02</a:t>
            </a:r>
          </a:p>
        </p:txBody>
      </p:sp>
      <p:sp>
        <p:nvSpPr>
          <p:cNvPr id="11" name="TextBox 10"/>
          <p:cNvSpPr txBox="1"/>
          <p:nvPr/>
        </p:nvSpPr>
        <p:spPr>
          <a:xfrm>
            <a:off x="1524000" y="398399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External client or customer</a:t>
            </a:r>
          </a:p>
        </p:txBody>
      </p:sp>
      <p:sp>
        <p:nvSpPr>
          <p:cNvPr id="12" name="TextBox 11"/>
          <p:cNvSpPr txBox="1"/>
          <p:nvPr/>
        </p:nvSpPr>
        <p:spPr>
          <a:xfrm>
            <a:off x="1524000" y="4337050"/>
            <a:ext cx="9906000" cy="1270000"/>
          </a:xfrm>
          <a:prstGeom prst="rect">
            <a:avLst/>
          </a:prstGeom>
          <a:noFill/>
        </p:spPr>
        <p:txBody>
          <a:bodyPr wrap="square" lIns="0" rIns="0" tIns="0" bIns="0" anchor="t">
            <a:spAutoFit/>
          </a:bodyPr>
          <a:lstStyle/>
          <a:p>
            <a:pPr algn="l">
              <a:lnSpc>
                <a:spcPct val="130000"/>
              </a:lnSpc>
            </a:pPr>
            <a:r>
              <a:rPr sz="1300" b="0" i="0">
                <a:solidFill>
                  <a:srgbClr val="5A6B82"/>
                </a:solidFill>
                <a:latin typeface="DM Sans"/>
                <a:ea typeface="DM Sans"/>
                <a:cs typeface="DM Sans"/>
              </a:rPr>
              <a:t>The capability created value beyond your immediate team.</a:t>
            </a:r>
          </a:p>
        </p:txBody>
      </p:sp>
      <p:sp>
        <p:nvSpPr>
          <p:cNvPr id="13" name="Rectangle 12"/>
          <p:cNvSpPr/>
          <p:nvPr/>
        </p:nvSpPr>
        <p:spPr>
          <a:xfrm>
            <a:off x="762000" y="463423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TEST TWO</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Find outside-context evidence.</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The evidence can be small. It only has to show the usefulness</a:t>
            </a:r>
            <a:br/>
            <a:r>
              <a:rPr sz="1600" b="0" i="0">
                <a:solidFill>
                  <a:srgbClr val="5A6B82"/>
                </a:solidFill>
                <a:latin typeface="DM Sans"/>
                <a:ea typeface="DM Sans"/>
                <a:cs typeface="DM Sans"/>
              </a:rPr>
              <a:t>survived some distance from where it was formed.</a:t>
            </a:r>
          </a:p>
        </p:txBody>
      </p:sp>
      <p:sp>
        <p:nvSpPr>
          <p:cNvPr id="6" name="TextBox 5"/>
          <p:cNvSpPr txBox="1"/>
          <p:nvPr/>
        </p:nvSpPr>
        <p:spPr>
          <a:xfrm>
            <a:off x="762000" y="321310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7" name="TextBox 6"/>
          <p:cNvSpPr txBox="1"/>
          <p:nvPr/>
        </p:nvSpPr>
        <p:spPr>
          <a:xfrm>
            <a:off x="1524000" y="317500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Cross-functional project</a:t>
            </a:r>
          </a:p>
        </p:txBody>
      </p:sp>
      <p:sp>
        <p:nvSpPr>
          <p:cNvPr id="8" name="TextBox 7"/>
          <p:cNvSpPr txBox="1"/>
          <p:nvPr/>
        </p:nvSpPr>
        <p:spPr>
          <a:xfrm>
            <a:off x="1524000" y="3528060"/>
            <a:ext cx="9906000" cy="1270000"/>
          </a:xfrm>
          <a:prstGeom prst="rect">
            <a:avLst/>
          </a:prstGeom>
          <a:noFill/>
        </p:spPr>
        <p:txBody>
          <a:bodyPr wrap="square" lIns="0" rIns="0" tIns="0" bIns="0" anchor="t">
            <a:spAutoFit/>
          </a:bodyPr>
          <a:lstStyle/>
          <a:p>
            <a:pPr algn="l">
              <a:lnSpc>
                <a:spcPct val="130000"/>
              </a:lnSpc>
            </a:pPr>
            <a:r>
              <a:rPr sz="1300" b="0" i="0">
                <a:solidFill>
                  <a:srgbClr val="5A6B82"/>
                </a:solidFill>
                <a:latin typeface="DM Sans"/>
                <a:ea typeface="DM Sans"/>
                <a:cs typeface="DM Sans"/>
              </a:rPr>
              <a:t>Another group used or sought your judgment.</a:t>
            </a:r>
          </a:p>
        </p:txBody>
      </p:sp>
      <p:sp>
        <p:nvSpPr>
          <p:cNvPr id="9" name="Rectangle 8"/>
          <p:cNvSpPr/>
          <p:nvPr/>
        </p:nvSpPr>
        <p:spPr>
          <a:xfrm>
            <a:off x="762000" y="382524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402209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02</a:t>
            </a:r>
          </a:p>
        </p:txBody>
      </p:sp>
      <p:sp>
        <p:nvSpPr>
          <p:cNvPr id="11" name="TextBox 10"/>
          <p:cNvSpPr txBox="1"/>
          <p:nvPr/>
        </p:nvSpPr>
        <p:spPr>
          <a:xfrm>
            <a:off x="1524000" y="398399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External client or customer</a:t>
            </a:r>
          </a:p>
        </p:txBody>
      </p:sp>
      <p:sp>
        <p:nvSpPr>
          <p:cNvPr id="12" name="TextBox 11"/>
          <p:cNvSpPr txBox="1"/>
          <p:nvPr/>
        </p:nvSpPr>
        <p:spPr>
          <a:xfrm>
            <a:off x="1524000" y="4337050"/>
            <a:ext cx="9906000" cy="1270000"/>
          </a:xfrm>
          <a:prstGeom prst="rect">
            <a:avLst/>
          </a:prstGeom>
          <a:noFill/>
        </p:spPr>
        <p:txBody>
          <a:bodyPr wrap="square" lIns="0" rIns="0" tIns="0" bIns="0" anchor="t">
            <a:spAutoFit/>
          </a:bodyPr>
          <a:lstStyle/>
          <a:p>
            <a:pPr algn="l">
              <a:lnSpc>
                <a:spcPct val="130000"/>
              </a:lnSpc>
            </a:pPr>
            <a:r>
              <a:rPr sz="1300" b="0" i="0">
                <a:solidFill>
                  <a:srgbClr val="5A6B82"/>
                </a:solidFill>
                <a:latin typeface="DM Sans"/>
                <a:ea typeface="DM Sans"/>
                <a:cs typeface="DM Sans"/>
              </a:rPr>
              <a:t>The capability created value beyond your immediate team.</a:t>
            </a:r>
          </a:p>
        </p:txBody>
      </p:sp>
      <p:sp>
        <p:nvSpPr>
          <p:cNvPr id="13" name="Rectangle 12"/>
          <p:cNvSpPr/>
          <p:nvPr/>
        </p:nvSpPr>
        <p:spPr>
          <a:xfrm>
            <a:off x="762000" y="463423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483108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03</a:t>
            </a:r>
          </a:p>
        </p:txBody>
      </p:sp>
      <p:sp>
        <p:nvSpPr>
          <p:cNvPr id="15" name="TextBox 14"/>
          <p:cNvSpPr txBox="1"/>
          <p:nvPr/>
        </p:nvSpPr>
        <p:spPr>
          <a:xfrm>
            <a:off x="1524000" y="479298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Former colleague</a:t>
            </a:r>
          </a:p>
        </p:txBody>
      </p:sp>
      <p:sp>
        <p:nvSpPr>
          <p:cNvPr id="16" name="TextBox 15"/>
          <p:cNvSpPr txBox="1"/>
          <p:nvPr/>
        </p:nvSpPr>
        <p:spPr>
          <a:xfrm>
            <a:off x="1524000" y="5146040"/>
            <a:ext cx="9906000" cy="1270000"/>
          </a:xfrm>
          <a:prstGeom prst="rect">
            <a:avLst/>
          </a:prstGeom>
          <a:noFill/>
        </p:spPr>
        <p:txBody>
          <a:bodyPr wrap="square" lIns="0" rIns="0" tIns="0" bIns="0" anchor="t">
            <a:spAutoFit/>
          </a:bodyPr>
          <a:lstStyle/>
          <a:p>
            <a:pPr algn="l">
              <a:lnSpc>
                <a:spcPct val="130000"/>
              </a:lnSpc>
            </a:pPr>
            <a:r>
              <a:rPr sz="1300" b="0" i="0">
                <a:solidFill>
                  <a:srgbClr val="5A6B82"/>
                </a:solidFill>
                <a:latin typeface="DM Sans"/>
                <a:ea typeface="DM Sans"/>
                <a:cs typeface="DM Sans"/>
              </a:rPr>
              <a:t>They sought your judgment after the original context changed.</a:t>
            </a:r>
          </a:p>
        </p:txBody>
      </p:sp>
      <p:sp>
        <p:nvSpPr>
          <p:cNvPr id="17" name="Rectangle 16"/>
          <p:cNvSpPr/>
          <p:nvPr/>
        </p:nvSpPr>
        <p:spPr>
          <a:xfrm>
            <a:off x="762000" y="544322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TEST TWO</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0F2346"/>
                </a:solidFill>
                <a:latin typeface="Montserrat"/>
                <a:ea typeface="Montserrat"/>
                <a:cs typeface="Montserrat"/>
              </a:rPr>
              <a:t>Find outside-context evidence.</a:t>
            </a:r>
          </a:p>
        </p:txBody>
      </p:sp>
      <p:sp>
        <p:nvSpPr>
          <p:cNvPr id="5" name="TextBox 4"/>
          <p:cNvSpPr txBox="1"/>
          <p:nvPr/>
        </p:nvSpPr>
        <p:spPr>
          <a:xfrm>
            <a:off x="4191000" y="175260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The evidence can be small. It only has to show the usefulness</a:t>
            </a:r>
            <a:br/>
            <a:r>
              <a:rPr sz="1600" b="0" i="0">
                <a:solidFill>
                  <a:srgbClr val="5A6B82"/>
                </a:solidFill>
                <a:latin typeface="DM Sans"/>
                <a:ea typeface="DM Sans"/>
                <a:cs typeface="DM Sans"/>
              </a:rPr>
              <a:t>survived some distance from where it was formed.</a:t>
            </a:r>
          </a:p>
        </p:txBody>
      </p:sp>
      <p:sp>
        <p:nvSpPr>
          <p:cNvPr id="6" name="TextBox 5"/>
          <p:cNvSpPr txBox="1"/>
          <p:nvPr/>
        </p:nvSpPr>
        <p:spPr>
          <a:xfrm>
            <a:off x="762000" y="321310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7" name="TextBox 6"/>
          <p:cNvSpPr txBox="1"/>
          <p:nvPr/>
        </p:nvSpPr>
        <p:spPr>
          <a:xfrm>
            <a:off x="1524000" y="317500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Cross-functional project</a:t>
            </a:r>
          </a:p>
        </p:txBody>
      </p:sp>
      <p:sp>
        <p:nvSpPr>
          <p:cNvPr id="8" name="TextBox 7"/>
          <p:cNvSpPr txBox="1"/>
          <p:nvPr/>
        </p:nvSpPr>
        <p:spPr>
          <a:xfrm>
            <a:off x="1524000" y="3528060"/>
            <a:ext cx="9906000" cy="1270000"/>
          </a:xfrm>
          <a:prstGeom prst="rect">
            <a:avLst/>
          </a:prstGeom>
          <a:noFill/>
        </p:spPr>
        <p:txBody>
          <a:bodyPr wrap="square" lIns="0" rIns="0" tIns="0" bIns="0" anchor="t">
            <a:spAutoFit/>
          </a:bodyPr>
          <a:lstStyle/>
          <a:p>
            <a:pPr algn="l">
              <a:lnSpc>
                <a:spcPct val="130000"/>
              </a:lnSpc>
            </a:pPr>
            <a:r>
              <a:rPr sz="1300" b="0" i="0">
                <a:solidFill>
                  <a:srgbClr val="5A6B82"/>
                </a:solidFill>
                <a:latin typeface="DM Sans"/>
                <a:ea typeface="DM Sans"/>
                <a:cs typeface="DM Sans"/>
              </a:rPr>
              <a:t>Another group used or sought your judgment.</a:t>
            </a:r>
          </a:p>
        </p:txBody>
      </p:sp>
      <p:sp>
        <p:nvSpPr>
          <p:cNvPr id="9" name="Rectangle 8"/>
          <p:cNvSpPr/>
          <p:nvPr/>
        </p:nvSpPr>
        <p:spPr>
          <a:xfrm>
            <a:off x="762000" y="382524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402209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02</a:t>
            </a:r>
          </a:p>
        </p:txBody>
      </p:sp>
      <p:sp>
        <p:nvSpPr>
          <p:cNvPr id="11" name="TextBox 10"/>
          <p:cNvSpPr txBox="1"/>
          <p:nvPr/>
        </p:nvSpPr>
        <p:spPr>
          <a:xfrm>
            <a:off x="1524000" y="398399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External client or customer</a:t>
            </a:r>
          </a:p>
        </p:txBody>
      </p:sp>
      <p:sp>
        <p:nvSpPr>
          <p:cNvPr id="12" name="TextBox 11"/>
          <p:cNvSpPr txBox="1"/>
          <p:nvPr/>
        </p:nvSpPr>
        <p:spPr>
          <a:xfrm>
            <a:off x="1524000" y="4337050"/>
            <a:ext cx="9906000" cy="1270000"/>
          </a:xfrm>
          <a:prstGeom prst="rect">
            <a:avLst/>
          </a:prstGeom>
          <a:noFill/>
        </p:spPr>
        <p:txBody>
          <a:bodyPr wrap="square" lIns="0" rIns="0" tIns="0" bIns="0" anchor="t">
            <a:spAutoFit/>
          </a:bodyPr>
          <a:lstStyle/>
          <a:p>
            <a:pPr algn="l">
              <a:lnSpc>
                <a:spcPct val="130000"/>
              </a:lnSpc>
            </a:pPr>
            <a:r>
              <a:rPr sz="1300" b="0" i="0">
                <a:solidFill>
                  <a:srgbClr val="5A6B82"/>
                </a:solidFill>
                <a:latin typeface="DM Sans"/>
                <a:ea typeface="DM Sans"/>
                <a:cs typeface="DM Sans"/>
              </a:rPr>
              <a:t>The capability created value beyond your immediate team.</a:t>
            </a:r>
          </a:p>
        </p:txBody>
      </p:sp>
      <p:sp>
        <p:nvSpPr>
          <p:cNvPr id="13" name="Rectangle 12"/>
          <p:cNvSpPr/>
          <p:nvPr/>
        </p:nvSpPr>
        <p:spPr>
          <a:xfrm>
            <a:off x="762000" y="463423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483108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03</a:t>
            </a:r>
          </a:p>
        </p:txBody>
      </p:sp>
      <p:sp>
        <p:nvSpPr>
          <p:cNvPr id="15" name="TextBox 14"/>
          <p:cNvSpPr txBox="1"/>
          <p:nvPr/>
        </p:nvSpPr>
        <p:spPr>
          <a:xfrm>
            <a:off x="1524000" y="479298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Former colleague</a:t>
            </a:r>
          </a:p>
        </p:txBody>
      </p:sp>
      <p:sp>
        <p:nvSpPr>
          <p:cNvPr id="16" name="TextBox 15"/>
          <p:cNvSpPr txBox="1"/>
          <p:nvPr/>
        </p:nvSpPr>
        <p:spPr>
          <a:xfrm>
            <a:off x="1524000" y="5146040"/>
            <a:ext cx="9906000" cy="1270000"/>
          </a:xfrm>
          <a:prstGeom prst="rect">
            <a:avLst/>
          </a:prstGeom>
          <a:noFill/>
        </p:spPr>
        <p:txBody>
          <a:bodyPr wrap="square" lIns="0" rIns="0" tIns="0" bIns="0" anchor="t">
            <a:spAutoFit/>
          </a:bodyPr>
          <a:lstStyle/>
          <a:p>
            <a:pPr algn="l">
              <a:lnSpc>
                <a:spcPct val="130000"/>
              </a:lnSpc>
            </a:pPr>
            <a:r>
              <a:rPr sz="1300" b="0" i="0">
                <a:solidFill>
                  <a:srgbClr val="5A6B82"/>
                </a:solidFill>
                <a:latin typeface="DM Sans"/>
                <a:ea typeface="DM Sans"/>
                <a:cs typeface="DM Sans"/>
              </a:rPr>
              <a:t>They sought your judgment after the original context changed.</a:t>
            </a:r>
          </a:p>
        </p:txBody>
      </p:sp>
      <p:sp>
        <p:nvSpPr>
          <p:cNvPr id="17" name="Rectangle 16"/>
          <p:cNvSpPr/>
          <p:nvPr/>
        </p:nvSpPr>
        <p:spPr>
          <a:xfrm>
            <a:off x="762000" y="544322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000" y="564007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04</a:t>
            </a:r>
          </a:p>
        </p:txBody>
      </p:sp>
      <p:sp>
        <p:nvSpPr>
          <p:cNvPr id="19" name="TextBox 18"/>
          <p:cNvSpPr txBox="1"/>
          <p:nvPr/>
        </p:nvSpPr>
        <p:spPr>
          <a:xfrm>
            <a:off x="1524000" y="560197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Another setting or industry contribution</a:t>
            </a:r>
          </a:p>
        </p:txBody>
      </p:sp>
      <p:sp>
        <p:nvSpPr>
          <p:cNvPr id="20" name="TextBox 19"/>
          <p:cNvSpPr txBox="1"/>
          <p:nvPr/>
        </p:nvSpPr>
        <p:spPr>
          <a:xfrm>
            <a:off x="1524000" y="5955030"/>
            <a:ext cx="9906000" cy="1270000"/>
          </a:xfrm>
          <a:prstGeom prst="rect">
            <a:avLst/>
          </a:prstGeom>
          <a:noFill/>
        </p:spPr>
        <p:txBody>
          <a:bodyPr wrap="square" lIns="0" rIns="0" tIns="0" bIns="0" anchor="t">
            <a:spAutoFit/>
          </a:bodyPr>
          <a:lstStyle/>
          <a:p>
            <a:pPr algn="l">
              <a:lnSpc>
                <a:spcPct val="130000"/>
              </a:lnSpc>
            </a:pPr>
            <a:r>
              <a:rPr sz="1300" b="0" i="0">
                <a:solidFill>
                  <a:srgbClr val="5A6B82"/>
                </a:solidFill>
                <a:latin typeface="DM Sans"/>
                <a:ea typeface="DM Sans"/>
                <a:cs typeface="DM Sans"/>
              </a:rPr>
              <a:t>A similar problem or approach remained useful elsewhere.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2870200"/>
            <a:ext cx="8890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THREE MARKETABILITY TESTS</a:t>
            </a:r>
          </a:p>
        </p:txBody>
      </p:sp>
      <p:sp>
        <p:nvSpPr>
          <p:cNvPr id="4" name="TextBox 3"/>
          <p:cNvSpPr txBox="1"/>
          <p:nvPr/>
        </p:nvSpPr>
        <p:spPr>
          <a:xfrm>
            <a:off x="762000" y="3175000"/>
            <a:ext cx="2540000" cy="1270000"/>
          </a:xfrm>
          <a:prstGeom prst="rect">
            <a:avLst/>
          </a:prstGeom>
          <a:noFill/>
        </p:spPr>
        <p:txBody>
          <a:bodyPr wrap="square" lIns="0" rIns="0" tIns="0" bIns="0" anchor="t">
            <a:spAutoFit/>
          </a:bodyPr>
          <a:lstStyle/>
          <a:p>
            <a:pPr algn="l">
              <a:lnSpc>
                <a:spcPct val="100000"/>
              </a:lnSpc>
            </a:pPr>
            <a:r>
              <a:rPr sz="8000" b="1" i="0">
                <a:solidFill>
                  <a:srgbClr val="C9A84C"/>
                </a:solidFill>
                <a:latin typeface="Montserrat"/>
                <a:ea typeface="Montserrat"/>
                <a:cs typeface="Montserrat"/>
              </a:rPr>
              <a:t>03</a:t>
            </a:r>
          </a:p>
        </p:txBody>
      </p:sp>
      <p:sp>
        <p:nvSpPr>
          <p:cNvPr id="5" name="TextBox 4"/>
          <p:cNvSpPr txBox="1"/>
          <p:nvPr/>
        </p:nvSpPr>
        <p:spPr>
          <a:xfrm>
            <a:off x="762000" y="4381500"/>
            <a:ext cx="9525000" cy="1270000"/>
          </a:xfrm>
          <a:prstGeom prst="rect">
            <a:avLst/>
          </a:prstGeom>
          <a:noFill/>
        </p:spPr>
        <p:txBody>
          <a:bodyPr wrap="square" lIns="0" rIns="0" tIns="0" bIns="0" anchor="t">
            <a:spAutoFit/>
          </a:bodyPr>
          <a:lstStyle/>
          <a:p>
            <a:pPr algn="l">
              <a:lnSpc>
                <a:spcPct val="114000"/>
              </a:lnSpc>
            </a:pPr>
            <a:r>
              <a:rPr sz="3800" b="1" i="0">
                <a:solidFill>
                  <a:srgbClr val="0F2346"/>
                </a:solidFill>
                <a:latin typeface="Montserrat"/>
                <a:ea typeface="Montserrat"/>
                <a:cs typeface="Montserrat"/>
              </a:rPr>
              <a:t>Read the</a:t>
            </a:r>
            <a:br/>
            <a:r>
              <a:rPr sz="3800" b="1" i="0">
                <a:solidFill>
                  <a:srgbClr val="0F2346"/>
                </a:solidFill>
                <a:latin typeface="Montserrat"/>
                <a:ea typeface="Montserrat"/>
                <a:cs typeface="Montserrat"/>
              </a:rPr>
              <a:t>last 90 days</a:t>
            </a:r>
          </a:p>
        </p:txBody>
      </p:sp>
      <p:sp>
        <p:nvSpPr>
          <p:cNvPr id="6" name="TextBox 5"/>
          <p:cNvSpPr txBox="1"/>
          <p:nvPr/>
        </p:nvSpPr>
        <p:spPr>
          <a:xfrm>
            <a:off x="762000" y="5715000"/>
            <a:ext cx="8890000" cy="1270000"/>
          </a:xfrm>
          <a:prstGeom prst="rect">
            <a:avLst/>
          </a:prstGeom>
          <a:noFill/>
        </p:spPr>
        <p:txBody>
          <a:bodyPr wrap="square" lIns="0" rIns="0" tIns="0" bIns="0" anchor="t">
            <a:spAutoFit/>
          </a:bodyPr>
          <a:lstStyle/>
          <a:p>
            <a:pPr algn="l">
              <a:lnSpc>
                <a:spcPct val="130000"/>
              </a:lnSpc>
            </a:pPr>
            <a:r>
              <a:rPr sz="1500" b="0" i="0">
                <a:solidFill>
                  <a:srgbClr val="5A6B82"/>
                </a:solidFill>
                <a:latin typeface="DM Sans"/>
                <a:ea typeface="DM Sans"/>
                <a:cs typeface="DM Sans"/>
              </a:rPr>
              <a:t>What new judgment did the work build?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TEST THREE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F5F1E8"/>
                </a:solidFill>
                <a:latin typeface="Montserrat"/>
                <a:ea typeface="Montserrat"/>
                <a:cs typeface="Montserrat"/>
              </a:rPr>
              <a:t>Read the last 90 days.</a:t>
            </a:r>
          </a:p>
        </p:txBody>
      </p:sp>
      <p:sp>
        <p:nvSpPr>
          <p:cNvPr id="5" name="TextBox 4"/>
          <p:cNvSpPr txBox="1"/>
          <p:nvPr/>
        </p:nvSpPr>
        <p:spPr>
          <a:xfrm>
            <a:off x="4191000" y="1778000"/>
            <a:ext cx="7366000" cy="1270000"/>
          </a:xfrm>
          <a:prstGeom prst="rect">
            <a:avLst/>
          </a:prstGeom>
          <a:noFill/>
        </p:spPr>
        <p:txBody>
          <a:bodyPr wrap="square" lIns="0" rIns="0" tIns="0" bIns="0" anchor="t">
            <a:spAutoFit/>
          </a:bodyPr>
          <a:lstStyle/>
          <a:p>
            <a:pPr algn="l">
              <a:lnSpc>
                <a:spcPct val="132000"/>
              </a:lnSpc>
            </a:pPr>
            <a:r>
              <a:rPr sz="1500" b="0" i="0">
                <a:solidFill>
                  <a:srgbClr val="B9C3D2"/>
                </a:solidFill>
                <a:latin typeface="DM Sans"/>
                <a:ea typeface="DM Sans"/>
                <a:cs typeface="DM Sans"/>
              </a:rPr>
              <a:t>What can you now do, see or decide that you could not</a:t>
            </a:r>
            <a:br/>
            <a:r>
              <a:rPr sz="1500" b="0" i="0">
                <a:solidFill>
                  <a:srgbClr val="B9C3D2"/>
                </a:solidFill>
                <a:latin typeface="DM Sans"/>
                <a:ea typeface="DM Sans"/>
                <a:cs typeface="DM Sans"/>
              </a:rPr>
              <a:t>do ninety days ago?</a:t>
            </a:r>
          </a:p>
        </p:txBody>
      </p:sp>
      <p:sp>
        <p:nvSpPr>
          <p:cNvPr id="6" name="TextBox 5"/>
          <p:cNvSpPr txBox="1"/>
          <p:nvPr/>
        </p:nvSpPr>
        <p:spPr>
          <a:xfrm>
            <a:off x="762000" y="3175000"/>
            <a:ext cx="4953000" cy="1270000"/>
          </a:xfrm>
          <a:prstGeom prst="rect">
            <a:avLst/>
          </a:prstGeom>
          <a:noFill/>
        </p:spPr>
        <p:txBody>
          <a:bodyPr wrap="square" lIns="0" rIns="0" tIns="0" bIns="0" anchor="t">
            <a:spAutoFit/>
          </a:bodyPr>
          <a:lstStyle/>
          <a:p>
            <a:pPr algn="l">
              <a:lnSpc>
                <a:spcPct val="110000"/>
              </a:lnSpc>
            </a:pPr>
            <a:r>
              <a:rPr sz="3400" b="1" i="0">
                <a:solidFill>
                  <a:srgbClr val="C9A84C"/>
                </a:solidFill>
                <a:latin typeface="Montserrat"/>
                <a:ea typeface="Montserrat"/>
                <a:cs typeface="Montserrat"/>
              </a:rPr>
              <a:t>New judgment</a:t>
            </a:r>
          </a:p>
        </p:txBody>
      </p:sp>
      <p:sp>
        <p:nvSpPr>
          <p:cNvPr id="7" name="Rectangle 6"/>
          <p:cNvSpPr/>
          <p:nvPr/>
        </p:nvSpPr>
        <p:spPr>
          <a:xfrm>
            <a:off x="6083300" y="3111500"/>
            <a:ext cx="19050" cy="698500"/>
          </a:xfrm>
          <a:prstGeom prst="rect">
            <a:avLst/>
          </a:prstGeom>
          <a:solidFill>
            <a:srgbClr val="B9C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0" y="3175000"/>
            <a:ext cx="4953000" cy="1270000"/>
          </a:xfrm>
          <a:prstGeom prst="rect">
            <a:avLst/>
          </a:prstGeom>
          <a:noFill/>
        </p:spPr>
        <p:txBody>
          <a:bodyPr wrap="square" lIns="0" rIns="0" tIns="0" bIns="0" anchor="t">
            <a:spAutoFit/>
          </a:bodyPr>
          <a:lstStyle/>
          <a:p>
            <a:pPr algn="l">
              <a:lnSpc>
                <a:spcPct val="110000"/>
              </a:lnSpc>
            </a:pPr>
            <a:r>
              <a:rPr sz="3400" b="1" i="0">
                <a:solidFill>
                  <a:srgbClr val="B9C3D2"/>
                </a:solidFill>
                <a:latin typeface="Montserrat"/>
                <a:ea typeface="Montserrat"/>
                <a:cs typeface="Montserrat"/>
              </a:rPr>
              <a:t>Same work faster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TEST THREE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F5F1E8"/>
                </a:solidFill>
                <a:latin typeface="Montserrat"/>
                <a:ea typeface="Montserrat"/>
                <a:cs typeface="Montserrat"/>
              </a:rPr>
              <a:t>Read the last 90 days.</a:t>
            </a:r>
          </a:p>
        </p:txBody>
      </p:sp>
      <p:sp>
        <p:nvSpPr>
          <p:cNvPr id="5" name="TextBox 4"/>
          <p:cNvSpPr txBox="1"/>
          <p:nvPr/>
        </p:nvSpPr>
        <p:spPr>
          <a:xfrm>
            <a:off x="4191000" y="1778000"/>
            <a:ext cx="7366000" cy="1270000"/>
          </a:xfrm>
          <a:prstGeom prst="rect">
            <a:avLst/>
          </a:prstGeom>
          <a:noFill/>
        </p:spPr>
        <p:txBody>
          <a:bodyPr wrap="square" lIns="0" rIns="0" tIns="0" bIns="0" anchor="t">
            <a:spAutoFit/>
          </a:bodyPr>
          <a:lstStyle/>
          <a:p>
            <a:pPr algn="l">
              <a:lnSpc>
                <a:spcPct val="132000"/>
              </a:lnSpc>
            </a:pPr>
            <a:r>
              <a:rPr sz="1500" b="0" i="0">
                <a:solidFill>
                  <a:srgbClr val="B9C3D2"/>
                </a:solidFill>
                <a:latin typeface="DM Sans"/>
                <a:ea typeface="DM Sans"/>
                <a:cs typeface="DM Sans"/>
              </a:rPr>
              <a:t>What can you now do, see or decide that you could not</a:t>
            </a:r>
            <a:br/>
            <a:r>
              <a:rPr sz="1500" b="0" i="0">
                <a:solidFill>
                  <a:srgbClr val="B9C3D2"/>
                </a:solidFill>
                <a:latin typeface="DM Sans"/>
                <a:ea typeface="DM Sans"/>
                <a:cs typeface="DM Sans"/>
              </a:rPr>
              <a:t>do ninety days ago?</a:t>
            </a:r>
          </a:p>
        </p:txBody>
      </p:sp>
      <p:sp>
        <p:nvSpPr>
          <p:cNvPr id="6" name="TextBox 5"/>
          <p:cNvSpPr txBox="1"/>
          <p:nvPr/>
        </p:nvSpPr>
        <p:spPr>
          <a:xfrm>
            <a:off x="762000" y="3175000"/>
            <a:ext cx="4953000" cy="1270000"/>
          </a:xfrm>
          <a:prstGeom prst="rect">
            <a:avLst/>
          </a:prstGeom>
          <a:noFill/>
        </p:spPr>
        <p:txBody>
          <a:bodyPr wrap="square" lIns="0" rIns="0" tIns="0" bIns="0" anchor="t">
            <a:spAutoFit/>
          </a:bodyPr>
          <a:lstStyle/>
          <a:p>
            <a:pPr algn="l">
              <a:lnSpc>
                <a:spcPct val="110000"/>
              </a:lnSpc>
            </a:pPr>
            <a:r>
              <a:rPr sz="3400" b="1" i="0">
                <a:solidFill>
                  <a:srgbClr val="C9A84C"/>
                </a:solidFill>
                <a:latin typeface="Montserrat"/>
                <a:ea typeface="Montserrat"/>
                <a:cs typeface="Montserrat"/>
              </a:rPr>
              <a:t>New judgment</a:t>
            </a:r>
          </a:p>
        </p:txBody>
      </p:sp>
      <p:sp>
        <p:nvSpPr>
          <p:cNvPr id="7" name="Rectangle 6"/>
          <p:cNvSpPr/>
          <p:nvPr/>
        </p:nvSpPr>
        <p:spPr>
          <a:xfrm>
            <a:off x="6083300" y="3111500"/>
            <a:ext cx="19050" cy="698500"/>
          </a:xfrm>
          <a:prstGeom prst="rect">
            <a:avLst/>
          </a:prstGeom>
          <a:solidFill>
            <a:srgbClr val="B9C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0" y="3175000"/>
            <a:ext cx="4953000" cy="1270000"/>
          </a:xfrm>
          <a:prstGeom prst="rect">
            <a:avLst/>
          </a:prstGeom>
          <a:noFill/>
        </p:spPr>
        <p:txBody>
          <a:bodyPr wrap="square" lIns="0" rIns="0" tIns="0" bIns="0" anchor="t">
            <a:spAutoFit/>
          </a:bodyPr>
          <a:lstStyle/>
          <a:p>
            <a:pPr algn="l">
              <a:lnSpc>
                <a:spcPct val="110000"/>
              </a:lnSpc>
            </a:pPr>
            <a:r>
              <a:rPr sz="3400" b="1" i="0">
                <a:solidFill>
                  <a:srgbClr val="B9C3D2"/>
                </a:solidFill>
                <a:latin typeface="Montserrat"/>
                <a:ea typeface="Montserrat"/>
                <a:cs typeface="Montserrat"/>
              </a:rPr>
              <a:t>Same work faster</a:t>
            </a:r>
          </a:p>
        </p:txBody>
      </p:sp>
      <p:sp>
        <p:nvSpPr>
          <p:cNvPr id="9" name="TextBox 8"/>
          <p:cNvSpPr txBox="1"/>
          <p:nvPr/>
        </p:nvSpPr>
        <p:spPr>
          <a:xfrm>
            <a:off x="762000" y="4406900"/>
            <a:ext cx="571500" cy="1270000"/>
          </a:xfrm>
          <a:prstGeom prst="rect">
            <a:avLst/>
          </a:prstGeom>
          <a:noFill/>
        </p:spPr>
        <p:txBody>
          <a:bodyPr wrap="square" lIns="0" rIns="0" tIns="0" bIns="0" anchor="t">
            <a:spAutoFit/>
          </a:bodyPr>
          <a:lstStyle/>
          <a:p>
            <a:pPr algn="l">
              <a:lnSpc>
                <a:spcPct val="100000"/>
              </a:lnSpc>
            </a:pPr>
            <a:r>
              <a:rPr sz="1300" b="1" i="0">
                <a:solidFill>
                  <a:srgbClr val="C9A84C"/>
                </a:solidFill>
                <a:latin typeface="Montserrat"/>
                <a:ea typeface="Montserrat"/>
                <a:cs typeface="Montserrat"/>
              </a:rPr>
              <a:t>01</a:t>
            </a:r>
          </a:p>
        </p:txBody>
      </p:sp>
      <p:sp>
        <p:nvSpPr>
          <p:cNvPr id="10" name="TextBox 9"/>
          <p:cNvSpPr txBox="1"/>
          <p:nvPr/>
        </p:nvSpPr>
        <p:spPr>
          <a:xfrm>
            <a:off x="1524000" y="4381500"/>
            <a:ext cx="10033000" cy="1270000"/>
          </a:xfrm>
          <a:prstGeom prst="rect">
            <a:avLst/>
          </a:prstGeom>
          <a:noFill/>
        </p:spPr>
        <p:txBody>
          <a:bodyPr wrap="square" lIns="0" rIns="0" tIns="0" bIns="0" anchor="t">
            <a:spAutoFit/>
          </a:bodyPr>
          <a:lstStyle/>
          <a:p>
            <a:pPr algn="l">
              <a:lnSpc>
                <a:spcPct val="120000"/>
              </a:lnSpc>
            </a:pPr>
            <a:r>
              <a:rPr sz="1800" b="1" i="0">
                <a:solidFill>
                  <a:srgbClr val="F5F1E8"/>
                </a:solidFill>
                <a:latin typeface="Montserrat"/>
                <a:ea typeface="Montserrat"/>
                <a:cs typeface="Montserrat"/>
              </a:rPr>
              <a:t>What unfamiliar problem did I have to solve?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TEST THREE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F5F1E8"/>
                </a:solidFill>
                <a:latin typeface="Montserrat"/>
                <a:ea typeface="Montserrat"/>
                <a:cs typeface="Montserrat"/>
              </a:rPr>
              <a:t>Read the last 90 days.</a:t>
            </a:r>
          </a:p>
        </p:txBody>
      </p:sp>
      <p:sp>
        <p:nvSpPr>
          <p:cNvPr id="5" name="TextBox 4"/>
          <p:cNvSpPr txBox="1"/>
          <p:nvPr/>
        </p:nvSpPr>
        <p:spPr>
          <a:xfrm>
            <a:off x="4191000" y="1778000"/>
            <a:ext cx="7366000" cy="1270000"/>
          </a:xfrm>
          <a:prstGeom prst="rect">
            <a:avLst/>
          </a:prstGeom>
          <a:noFill/>
        </p:spPr>
        <p:txBody>
          <a:bodyPr wrap="square" lIns="0" rIns="0" tIns="0" bIns="0" anchor="t">
            <a:spAutoFit/>
          </a:bodyPr>
          <a:lstStyle/>
          <a:p>
            <a:pPr algn="l">
              <a:lnSpc>
                <a:spcPct val="132000"/>
              </a:lnSpc>
            </a:pPr>
            <a:r>
              <a:rPr sz="1500" b="0" i="0">
                <a:solidFill>
                  <a:srgbClr val="B9C3D2"/>
                </a:solidFill>
                <a:latin typeface="DM Sans"/>
                <a:ea typeface="DM Sans"/>
                <a:cs typeface="DM Sans"/>
              </a:rPr>
              <a:t>What can you now do, see or decide that you could not</a:t>
            </a:r>
            <a:br/>
            <a:r>
              <a:rPr sz="1500" b="0" i="0">
                <a:solidFill>
                  <a:srgbClr val="B9C3D2"/>
                </a:solidFill>
                <a:latin typeface="DM Sans"/>
                <a:ea typeface="DM Sans"/>
                <a:cs typeface="DM Sans"/>
              </a:rPr>
              <a:t>do ninety days ago?</a:t>
            </a:r>
          </a:p>
        </p:txBody>
      </p:sp>
      <p:sp>
        <p:nvSpPr>
          <p:cNvPr id="6" name="TextBox 5"/>
          <p:cNvSpPr txBox="1"/>
          <p:nvPr/>
        </p:nvSpPr>
        <p:spPr>
          <a:xfrm>
            <a:off x="762000" y="3175000"/>
            <a:ext cx="4953000" cy="1270000"/>
          </a:xfrm>
          <a:prstGeom prst="rect">
            <a:avLst/>
          </a:prstGeom>
          <a:noFill/>
        </p:spPr>
        <p:txBody>
          <a:bodyPr wrap="square" lIns="0" rIns="0" tIns="0" bIns="0" anchor="t">
            <a:spAutoFit/>
          </a:bodyPr>
          <a:lstStyle/>
          <a:p>
            <a:pPr algn="l">
              <a:lnSpc>
                <a:spcPct val="110000"/>
              </a:lnSpc>
            </a:pPr>
            <a:r>
              <a:rPr sz="3400" b="1" i="0">
                <a:solidFill>
                  <a:srgbClr val="C9A84C"/>
                </a:solidFill>
                <a:latin typeface="Montserrat"/>
                <a:ea typeface="Montserrat"/>
                <a:cs typeface="Montserrat"/>
              </a:rPr>
              <a:t>New judgment</a:t>
            </a:r>
          </a:p>
        </p:txBody>
      </p:sp>
      <p:sp>
        <p:nvSpPr>
          <p:cNvPr id="7" name="Rectangle 6"/>
          <p:cNvSpPr/>
          <p:nvPr/>
        </p:nvSpPr>
        <p:spPr>
          <a:xfrm>
            <a:off x="6083300" y="3111500"/>
            <a:ext cx="19050" cy="698500"/>
          </a:xfrm>
          <a:prstGeom prst="rect">
            <a:avLst/>
          </a:prstGeom>
          <a:solidFill>
            <a:srgbClr val="B9C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0" y="3175000"/>
            <a:ext cx="4953000" cy="1270000"/>
          </a:xfrm>
          <a:prstGeom prst="rect">
            <a:avLst/>
          </a:prstGeom>
          <a:noFill/>
        </p:spPr>
        <p:txBody>
          <a:bodyPr wrap="square" lIns="0" rIns="0" tIns="0" bIns="0" anchor="t">
            <a:spAutoFit/>
          </a:bodyPr>
          <a:lstStyle/>
          <a:p>
            <a:pPr algn="l">
              <a:lnSpc>
                <a:spcPct val="110000"/>
              </a:lnSpc>
            </a:pPr>
            <a:r>
              <a:rPr sz="3400" b="1" i="0">
                <a:solidFill>
                  <a:srgbClr val="B9C3D2"/>
                </a:solidFill>
                <a:latin typeface="Montserrat"/>
                <a:ea typeface="Montserrat"/>
                <a:cs typeface="Montserrat"/>
              </a:rPr>
              <a:t>Same work faster</a:t>
            </a:r>
          </a:p>
        </p:txBody>
      </p:sp>
      <p:sp>
        <p:nvSpPr>
          <p:cNvPr id="9" name="TextBox 8"/>
          <p:cNvSpPr txBox="1"/>
          <p:nvPr/>
        </p:nvSpPr>
        <p:spPr>
          <a:xfrm>
            <a:off x="762000" y="4406900"/>
            <a:ext cx="571500" cy="1270000"/>
          </a:xfrm>
          <a:prstGeom prst="rect">
            <a:avLst/>
          </a:prstGeom>
          <a:noFill/>
        </p:spPr>
        <p:txBody>
          <a:bodyPr wrap="square" lIns="0" rIns="0" tIns="0" bIns="0" anchor="t">
            <a:spAutoFit/>
          </a:bodyPr>
          <a:lstStyle/>
          <a:p>
            <a:pPr algn="l">
              <a:lnSpc>
                <a:spcPct val="100000"/>
              </a:lnSpc>
            </a:pPr>
            <a:r>
              <a:rPr sz="1300" b="1" i="0">
                <a:solidFill>
                  <a:srgbClr val="C9A84C"/>
                </a:solidFill>
                <a:latin typeface="Montserrat"/>
                <a:ea typeface="Montserrat"/>
                <a:cs typeface="Montserrat"/>
              </a:rPr>
              <a:t>01</a:t>
            </a:r>
          </a:p>
        </p:txBody>
      </p:sp>
      <p:sp>
        <p:nvSpPr>
          <p:cNvPr id="10" name="TextBox 9"/>
          <p:cNvSpPr txBox="1"/>
          <p:nvPr/>
        </p:nvSpPr>
        <p:spPr>
          <a:xfrm>
            <a:off x="1524000" y="4381500"/>
            <a:ext cx="10033000" cy="1270000"/>
          </a:xfrm>
          <a:prstGeom prst="rect">
            <a:avLst/>
          </a:prstGeom>
          <a:noFill/>
        </p:spPr>
        <p:txBody>
          <a:bodyPr wrap="square" lIns="0" rIns="0" tIns="0" bIns="0" anchor="t">
            <a:spAutoFit/>
          </a:bodyPr>
          <a:lstStyle/>
          <a:p>
            <a:pPr algn="l">
              <a:lnSpc>
                <a:spcPct val="120000"/>
              </a:lnSpc>
            </a:pPr>
            <a:r>
              <a:rPr sz="1800" b="1" i="0">
                <a:solidFill>
                  <a:srgbClr val="F5F1E8"/>
                </a:solidFill>
                <a:latin typeface="Montserrat"/>
                <a:ea typeface="Montserrat"/>
                <a:cs typeface="Montserrat"/>
              </a:rPr>
              <a:t>What unfamiliar problem did I have to solve?</a:t>
            </a:r>
          </a:p>
        </p:txBody>
      </p:sp>
      <p:sp>
        <p:nvSpPr>
          <p:cNvPr id="11" name="TextBox 10"/>
          <p:cNvSpPr txBox="1"/>
          <p:nvPr/>
        </p:nvSpPr>
        <p:spPr>
          <a:xfrm>
            <a:off x="762000" y="4953000"/>
            <a:ext cx="571500" cy="1270000"/>
          </a:xfrm>
          <a:prstGeom prst="rect">
            <a:avLst/>
          </a:prstGeom>
          <a:noFill/>
        </p:spPr>
        <p:txBody>
          <a:bodyPr wrap="square" lIns="0" rIns="0" tIns="0" bIns="0" anchor="t">
            <a:spAutoFit/>
          </a:bodyPr>
          <a:lstStyle/>
          <a:p>
            <a:pPr algn="l">
              <a:lnSpc>
                <a:spcPct val="100000"/>
              </a:lnSpc>
            </a:pPr>
            <a:r>
              <a:rPr sz="1300" b="1" i="0">
                <a:solidFill>
                  <a:srgbClr val="C9A84C"/>
                </a:solidFill>
                <a:latin typeface="Montserrat"/>
                <a:ea typeface="Montserrat"/>
                <a:cs typeface="Montserrat"/>
              </a:rPr>
              <a:t>02</a:t>
            </a:r>
          </a:p>
        </p:txBody>
      </p:sp>
      <p:sp>
        <p:nvSpPr>
          <p:cNvPr id="12" name="TextBox 11"/>
          <p:cNvSpPr txBox="1"/>
          <p:nvPr/>
        </p:nvSpPr>
        <p:spPr>
          <a:xfrm>
            <a:off x="1524000" y="4927600"/>
            <a:ext cx="10033000" cy="1270000"/>
          </a:xfrm>
          <a:prstGeom prst="rect">
            <a:avLst/>
          </a:prstGeom>
          <a:noFill/>
        </p:spPr>
        <p:txBody>
          <a:bodyPr wrap="square" lIns="0" rIns="0" tIns="0" bIns="0" anchor="t">
            <a:spAutoFit/>
          </a:bodyPr>
          <a:lstStyle/>
          <a:p>
            <a:pPr algn="l">
              <a:lnSpc>
                <a:spcPct val="120000"/>
              </a:lnSpc>
            </a:pPr>
            <a:r>
              <a:rPr sz="1800" b="1" i="0">
                <a:solidFill>
                  <a:srgbClr val="F5F1E8"/>
                </a:solidFill>
                <a:latin typeface="Montserrat"/>
                <a:ea typeface="Montserrat"/>
                <a:cs typeface="Montserrat"/>
              </a:rPr>
              <a:t>What decision can I now make with less help?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TEST THREE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F5F1E8"/>
                </a:solidFill>
                <a:latin typeface="Montserrat"/>
                <a:ea typeface="Montserrat"/>
                <a:cs typeface="Montserrat"/>
              </a:rPr>
              <a:t>Read the last 90 days.</a:t>
            </a:r>
          </a:p>
        </p:txBody>
      </p:sp>
      <p:sp>
        <p:nvSpPr>
          <p:cNvPr id="5" name="TextBox 4"/>
          <p:cNvSpPr txBox="1"/>
          <p:nvPr/>
        </p:nvSpPr>
        <p:spPr>
          <a:xfrm>
            <a:off x="4191000" y="1778000"/>
            <a:ext cx="7366000" cy="1270000"/>
          </a:xfrm>
          <a:prstGeom prst="rect">
            <a:avLst/>
          </a:prstGeom>
          <a:noFill/>
        </p:spPr>
        <p:txBody>
          <a:bodyPr wrap="square" lIns="0" rIns="0" tIns="0" bIns="0" anchor="t">
            <a:spAutoFit/>
          </a:bodyPr>
          <a:lstStyle/>
          <a:p>
            <a:pPr algn="l">
              <a:lnSpc>
                <a:spcPct val="132000"/>
              </a:lnSpc>
            </a:pPr>
            <a:r>
              <a:rPr sz="1500" b="0" i="0">
                <a:solidFill>
                  <a:srgbClr val="B9C3D2"/>
                </a:solidFill>
                <a:latin typeface="DM Sans"/>
                <a:ea typeface="DM Sans"/>
                <a:cs typeface="DM Sans"/>
              </a:rPr>
              <a:t>What can you now do, see or decide that you could not</a:t>
            </a:r>
            <a:br/>
            <a:r>
              <a:rPr sz="1500" b="0" i="0">
                <a:solidFill>
                  <a:srgbClr val="B9C3D2"/>
                </a:solidFill>
                <a:latin typeface="DM Sans"/>
                <a:ea typeface="DM Sans"/>
                <a:cs typeface="DM Sans"/>
              </a:rPr>
              <a:t>do ninety days ago?</a:t>
            </a:r>
          </a:p>
        </p:txBody>
      </p:sp>
      <p:sp>
        <p:nvSpPr>
          <p:cNvPr id="6" name="TextBox 5"/>
          <p:cNvSpPr txBox="1"/>
          <p:nvPr/>
        </p:nvSpPr>
        <p:spPr>
          <a:xfrm>
            <a:off x="762000" y="3175000"/>
            <a:ext cx="4953000" cy="1270000"/>
          </a:xfrm>
          <a:prstGeom prst="rect">
            <a:avLst/>
          </a:prstGeom>
          <a:noFill/>
        </p:spPr>
        <p:txBody>
          <a:bodyPr wrap="square" lIns="0" rIns="0" tIns="0" bIns="0" anchor="t">
            <a:spAutoFit/>
          </a:bodyPr>
          <a:lstStyle/>
          <a:p>
            <a:pPr algn="l">
              <a:lnSpc>
                <a:spcPct val="110000"/>
              </a:lnSpc>
            </a:pPr>
            <a:r>
              <a:rPr sz="3400" b="1" i="0">
                <a:solidFill>
                  <a:srgbClr val="C9A84C"/>
                </a:solidFill>
                <a:latin typeface="Montserrat"/>
                <a:ea typeface="Montserrat"/>
                <a:cs typeface="Montserrat"/>
              </a:rPr>
              <a:t>New judgment</a:t>
            </a:r>
          </a:p>
        </p:txBody>
      </p:sp>
      <p:sp>
        <p:nvSpPr>
          <p:cNvPr id="7" name="Rectangle 6"/>
          <p:cNvSpPr/>
          <p:nvPr/>
        </p:nvSpPr>
        <p:spPr>
          <a:xfrm>
            <a:off x="6083300" y="3111500"/>
            <a:ext cx="19050" cy="698500"/>
          </a:xfrm>
          <a:prstGeom prst="rect">
            <a:avLst/>
          </a:prstGeom>
          <a:solidFill>
            <a:srgbClr val="B9C3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0" y="3175000"/>
            <a:ext cx="4953000" cy="1270000"/>
          </a:xfrm>
          <a:prstGeom prst="rect">
            <a:avLst/>
          </a:prstGeom>
          <a:noFill/>
        </p:spPr>
        <p:txBody>
          <a:bodyPr wrap="square" lIns="0" rIns="0" tIns="0" bIns="0" anchor="t">
            <a:spAutoFit/>
          </a:bodyPr>
          <a:lstStyle/>
          <a:p>
            <a:pPr algn="l">
              <a:lnSpc>
                <a:spcPct val="110000"/>
              </a:lnSpc>
            </a:pPr>
            <a:r>
              <a:rPr sz="3400" b="1" i="0">
                <a:solidFill>
                  <a:srgbClr val="B9C3D2"/>
                </a:solidFill>
                <a:latin typeface="Montserrat"/>
                <a:ea typeface="Montserrat"/>
                <a:cs typeface="Montserrat"/>
              </a:rPr>
              <a:t>Same work faster</a:t>
            </a:r>
          </a:p>
        </p:txBody>
      </p:sp>
      <p:sp>
        <p:nvSpPr>
          <p:cNvPr id="9" name="TextBox 8"/>
          <p:cNvSpPr txBox="1"/>
          <p:nvPr/>
        </p:nvSpPr>
        <p:spPr>
          <a:xfrm>
            <a:off x="762000" y="4406900"/>
            <a:ext cx="571500" cy="1270000"/>
          </a:xfrm>
          <a:prstGeom prst="rect">
            <a:avLst/>
          </a:prstGeom>
          <a:noFill/>
        </p:spPr>
        <p:txBody>
          <a:bodyPr wrap="square" lIns="0" rIns="0" tIns="0" bIns="0" anchor="t">
            <a:spAutoFit/>
          </a:bodyPr>
          <a:lstStyle/>
          <a:p>
            <a:pPr algn="l">
              <a:lnSpc>
                <a:spcPct val="100000"/>
              </a:lnSpc>
            </a:pPr>
            <a:r>
              <a:rPr sz="1300" b="1" i="0">
                <a:solidFill>
                  <a:srgbClr val="C9A84C"/>
                </a:solidFill>
                <a:latin typeface="Montserrat"/>
                <a:ea typeface="Montserrat"/>
                <a:cs typeface="Montserrat"/>
              </a:rPr>
              <a:t>01</a:t>
            </a:r>
          </a:p>
        </p:txBody>
      </p:sp>
      <p:sp>
        <p:nvSpPr>
          <p:cNvPr id="10" name="TextBox 9"/>
          <p:cNvSpPr txBox="1"/>
          <p:nvPr/>
        </p:nvSpPr>
        <p:spPr>
          <a:xfrm>
            <a:off x="1524000" y="4381500"/>
            <a:ext cx="10033000" cy="1270000"/>
          </a:xfrm>
          <a:prstGeom prst="rect">
            <a:avLst/>
          </a:prstGeom>
          <a:noFill/>
        </p:spPr>
        <p:txBody>
          <a:bodyPr wrap="square" lIns="0" rIns="0" tIns="0" bIns="0" anchor="t">
            <a:spAutoFit/>
          </a:bodyPr>
          <a:lstStyle/>
          <a:p>
            <a:pPr algn="l">
              <a:lnSpc>
                <a:spcPct val="120000"/>
              </a:lnSpc>
            </a:pPr>
            <a:r>
              <a:rPr sz="1800" b="1" i="0">
                <a:solidFill>
                  <a:srgbClr val="F5F1E8"/>
                </a:solidFill>
                <a:latin typeface="Montserrat"/>
                <a:ea typeface="Montserrat"/>
                <a:cs typeface="Montserrat"/>
              </a:rPr>
              <a:t>What unfamiliar problem did I have to solve?</a:t>
            </a:r>
          </a:p>
        </p:txBody>
      </p:sp>
      <p:sp>
        <p:nvSpPr>
          <p:cNvPr id="11" name="TextBox 10"/>
          <p:cNvSpPr txBox="1"/>
          <p:nvPr/>
        </p:nvSpPr>
        <p:spPr>
          <a:xfrm>
            <a:off x="762000" y="4953000"/>
            <a:ext cx="571500" cy="1270000"/>
          </a:xfrm>
          <a:prstGeom prst="rect">
            <a:avLst/>
          </a:prstGeom>
          <a:noFill/>
        </p:spPr>
        <p:txBody>
          <a:bodyPr wrap="square" lIns="0" rIns="0" tIns="0" bIns="0" anchor="t">
            <a:spAutoFit/>
          </a:bodyPr>
          <a:lstStyle/>
          <a:p>
            <a:pPr algn="l">
              <a:lnSpc>
                <a:spcPct val="100000"/>
              </a:lnSpc>
            </a:pPr>
            <a:r>
              <a:rPr sz="1300" b="1" i="0">
                <a:solidFill>
                  <a:srgbClr val="C9A84C"/>
                </a:solidFill>
                <a:latin typeface="Montserrat"/>
                <a:ea typeface="Montserrat"/>
                <a:cs typeface="Montserrat"/>
              </a:rPr>
              <a:t>02</a:t>
            </a:r>
          </a:p>
        </p:txBody>
      </p:sp>
      <p:sp>
        <p:nvSpPr>
          <p:cNvPr id="12" name="TextBox 11"/>
          <p:cNvSpPr txBox="1"/>
          <p:nvPr/>
        </p:nvSpPr>
        <p:spPr>
          <a:xfrm>
            <a:off x="1524000" y="4927600"/>
            <a:ext cx="10033000" cy="1270000"/>
          </a:xfrm>
          <a:prstGeom prst="rect">
            <a:avLst/>
          </a:prstGeom>
          <a:noFill/>
        </p:spPr>
        <p:txBody>
          <a:bodyPr wrap="square" lIns="0" rIns="0" tIns="0" bIns="0" anchor="t">
            <a:spAutoFit/>
          </a:bodyPr>
          <a:lstStyle/>
          <a:p>
            <a:pPr algn="l">
              <a:lnSpc>
                <a:spcPct val="120000"/>
              </a:lnSpc>
            </a:pPr>
            <a:r>
              <a:rPr sz="1800" b="1" i="0">
                <a:solidFill>
                  <a:srgbClr val="F5F1E8"/>
                </a:solidFill>
                <a:latin typeface="Montserrat"/>
                <a:ea typeface="Montserrat"/>
                <a:cs typeface="Montserrat"/>
              </a:rPr>
              <a:t>What decision can I now make with less help?</a:t>
            </a:r>
          </a:p>
        </p:txBody>
      </p:sp>
      <p:sp>
        <p:nvSpPr>
          <p:cNvPr id="13" name="TextBox 12"/>
          <p:cNvSpPr txBox="1"/>
          <p:nvPr/>
        </p:nvSpPr>
        <p:spPr>
          <a:xfrm>
            <a:off x="762000" y="5499100"/>
            <a:ext cx="571500" cy="1270000"/>
          </a:xfrm>
          <a:prstGeom prst="rect">
            <a:avLst/>
          </a:prstGeom>
          <a:noFill/>
        </p:spPr>
        <p:txBody>
          <a:bodyPr wrap="square" lIns="0" rIns="0" tIns="0" bIns="0" anchor="t">
            <a:spAutoFit/>
          </a:bodyPr>
          <a:lstStyle/>
          <a:p>
            <a:pPr algn="l">
              <a:lnSpc>
                <a:spcPct val="100000"/>
              </a:lnSpc>
            </a:pPr>
            <a:r>
              <a:rPr sz="1300" b="1" i="0">
                <a:solidFill>
                  <a:srgbClr val="C9A84C"/>
                </a:solidFill>
                <a:latin typeface="Montserrat"/>
                <a:ea typeface="Montserrat"/>
                <a:cs typeface="Montserrat"/>
              </a:rPr>
              <a:t>03</a:t>
            </a:r>
          </a:p>
        </p:txBody>
      </p:sp>
      <p:sp>
        <p:nvSpPr>
          <p:cNvPr id="14" name="TextBox 13"/>
          <p:cNvSpPr txBox="1"/>
          <p:nvPr/>
        </p:nvSpPr>
        <p:spPr>
          <a:xfrm>
            <a:off x="1524000" y="5473700"/>
            <a:ext cx="10033000" cy="1270000"/>
          </a:xfrm>
          <a:prstGeom prst="rect">
            <a:avLst/>
          </a:prstGeom>
          <a:noFill/>
        </p:spPr>
        <p:txBody>
          <a:bodyPr wrap="square" lIns="0" rIns="0" tIns="0" bIns="0" anchor="t">
            <a:spAutoFit/>
          </a:bodyPr>
          <a:lstStyle/>
          <a:p>
            <a:pPr algn="l">
              <a:lnSpc>
                <a:spcPct val="120000"/>
              </a:lnSpc>
            </a:pPr>
            <a:r>
              <a:rPr sz="1800" b="1" i="0">
                <a:solidFill>
                  <a:srgbClr val="F5F1E8"/>
                </a:solidFill>
                <a:latin typeface="Montserrat"/>
                <a:ea typeface="Montserrat"/>
                <a:cs typeface="Montserrat"/>
              </a:rPr>
              <a:t>What constraint, audience or context did I learn to work across?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THE THREE TESTS</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2600" b="1" i="0">
                <a:solidFill>
                  <a:srgbClr val="0F2346"/>
                </a:solidFill>
                <a:latin typeface="Montserrat"/>
                <a:ea typeface="Montserrat"/>
                <a:cs typeface="Montserrat"/>
              </a:rPr>
              <a:t>Together they separate internal</a:t>
            </a:r>
            <a:br/>
            <a:r>
              <a:rPr sz="2600" b="1" i="0">
                <a:solidFill>
                  <a:srgbClr val="0F2346"/>
                </a:solidFill>
                <a:latin typeface="Montserrat"/>
                <a:ea typeface="Montserrat"/>
                <a:cs typeface="Montserrat"/>
              </a:rPr>
              <a:t>value from external marketability.</a:t>
            </a:r>
          </a:p>
        </p:txBody>
      </p:sp>
      <p:sp>
        <p:nvSpPr>
          <p:cNvPr id="5" name="Rectangle 4"/>
          <p:cNvSpPr/>
          <p:nvPr/>
        </p:nvSpPr>
        <p:spPr>
          <a:xfrm>
            <a:off x="762000" y="3302000"/>
            <a:ext cx="3492500" cy="26670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62000" y="3302000"/>
            <a:ext cx="34925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1400" y="3594100"/>
            <a:ext cx="2921000" cy="1270000"/>
          </a:xfrm>
          <a:prstGeom prst="rect">
            <a:avLst/>
          </a:prstGeom>
          <a:noFill/>
        </p:spPr>
        <p:txBody>
          <a:bodyPr wrap="square" lIns="0" rIns="0" tIns="0" bIns="0" anchor="t">
            <a:spAutoFit/>
          </a:bodyPr>
          <a:lstStyle/>
          <a:p>
            <a:pPr algn="l">
              <a:lnSpc>
                <a:spcPct val="100000"/>
              </a:lnSpc>
            </a:pPr>
            <a:r>
              <a:rPr sz="3800" b="1" i="0">
                <a:solidFill>
                  <a:srgbClr val="C9A84C"/>
                </a:solidFill>
                <a:latin typeface="Montserrat"/>
                <a:ea typeface="Montserrat"/>
                <a:cs typeface="Montserrat"/>
              </a:rPr>
              <a:t>01</a:t>
            </a:r>
          </a:p>
        </p:txBody>
      </p:sp>
      <p:sp>
        <p:nvSpPr>
          <p:cNvPr id="8" name="TextBox 7"/>
          <p:cNvSpPr txBox="1"/>
          <p:nvPr/>
        </p:nvSpPr>
        <p:spPr>
          <a:xfrm>
            <a:off x="1041400" y="4445000"/>
            <a:ext cx="2984500" cy="1270000"/>
          </a:xfrm>
          <a:prstGeom prst="rect">
            <a:avLst/>
          </a:prstGeom>
          <a:noFill/>
        </p:spPr>
        <p:txBody>
          <a:bodyPr wrap="square" lIns="0" rIns="0" tIns="0" bIns="0" anchor="t">
            <a:spAutoFit/>
          </a:bodyPr>
          <a:lstStyle/>
          <a:p>
            <a:pPr algn="l">
              <a:lnSpc>
                <a:spcPct val="124000"/>
              </a:lnSpc>
            </a:pPr>
            <a:r>
              <a:rPr sz="1700" b="1" i="0">
                <a:solidFill>
                  <a:srgbClr val="0F2346"/>
                </a:solidFill>
                <a:latin typeface="Montserrat"/>
                <a:ea typeface="Montserrat"/>
                <a:cs typeface="Montserrat"/>
              </a:rPr>
              <a:t>Remove the</a:t>
            </a:r>
            <a:br/>
            <a:r>
              <a:rPr sz="1700" b="1" i="0">
                <a:solidFill>
                  <a:srgbClr val="0F2346"/>
                </a:solidFill>
                <a:latin typeface="Montserrat"/>
                <a:ea typeface="Montserrat"/>
                <a:cs typeface="Montserrat"/>
              </a:rPr>
              <a:t>company nouns</a:t>
            </a:r>
          </a:p>
        </p:txBody>
      </p:sp>
      <p:sp>
        <p:nvSpPr>
          <p:cNvPr id="9" name="Rectangle 8"/>
          <p:cNvSpPr/>
          <p:nvPr/>
        </p:nvSpPr>
        <p:spPr>
          <a:xfrm>
            <a:off x="4413250" y="3302000"/>
            <a:ext cx="3492500" cy="26670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13250" y="3302000"/>
            <a:ext cx="34925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92650" y="3594100"/>
            <a:ext cx="2921000" cy="1270000"/>
          </a:xfrm>
          <a:prstGeom prst="rect">
            <a:avLst/>
          </a:prstGeom>
          <a:noFill/>
        </p:spPr>
        <p:txBody>
          <a:bodyPr wrap="square" lIns="0" rIns="0" tIns="0" bIns="0" anchor="t">
            <a:spAutoFit/>
          </a:bodyPr>
          <a:lstStyle/>
          <a:p>
            <a:pPr algn="l">
              <a:lnSpc>
                <a:spcPct val="100000"/>
              </a:lnSpc>
            </a:pPr>
            <a:r>
              <a:rPr sz="3800" b="1" i="0">
                <a:solidFill>
                  <a:srgbClr val="C9A84C"/>
                </a:solidFill>
                <a:latin typeface="Montserrat"/>
                <a:ea typeface="Montserrat"/>
                <a:cs typeface="Montserrat"/>
              </a:rPr>
              <a:t>02</a:t>
            </a:r>
          </a:p>
        </p:txBody>
      </p:sp>
      <p:sp>
        <p:nvSpPr>
          <p:cNvPr id="12" name="TextBox 11"/>
          <p:cNvSpPr txBox="1"/>
          <p:nvPr/>
        </p:nvSpPr>
        <p:spPr>
          <a:xfrm>
            <a:off x="4692650" y="4445000"/>
            <a:ext cx="2984500" cy="1270000"/>
          </a:xfrm>
          <a:prstGeom prst="rect">
            <a:avLst/>
          </a:prstGeom>
          <a:noFill/>
        </p:spPr>
        <p:txBody>
          <a:bodyPr wrap="square" lIns="0" rIns="0" tIns="0" bIns="0" anchor="t">
            <a:spAutoFit/>
          </a:bodyPr>
          <a:lstStyle/>
          <a:p>
            <a:pPr algn="l">
              <a:lnSpc>
                <a:spcPct val="124000"/>
              </a:lnSpc>
            </a:pPr>
            <a:r>
              <a:rPr sz="1700" b="1" i="0">
                <a:solidFill>
                  <a:srgbClr val="0F2346"/>
                </a:solidFill>
                <a:latin typeface="Montserrat"/>
                <a:ea typeface="Montserrat"/>
                <a:cs typeface="Montserrat"/>
              </a:rPr>
              <a:t>Find outside-context</a:t>
            </a:r>
            <a:br/>
            <a:r>
              <a:rPr sz="1700" b="1" i="0">
                <a:solidFill>
                  <a:srgbClr val="0F2346"/>
                </a:solidFill>
                <a:latin typeface="Montserrat"/>
                <a:ea typeface="Montserrat"/>
                <a:cs typeface="Montserrat"/>
              </a:rPr>
              <a:t>evidence</a:t>
            </a:r>
          </a:p>
        </p:txBody>
      </p:sp>
      <p:sp>
        <p:nvSpPr>
          <p:cNvPr id="13" name="Rectangle 12"/>
          <p:cNvSpPr/>
          <p:nvPr/>
        </p:nvSpPr>
        <p:spPr>
          <a:xfrm>
            <a:off x="8064500" y="3302000"/>
            <a:ext cx="3492500" cy="2667000"/>
          </a:xfrm>
          <a:prstGeom prst="rect">
            <a:avLst/>
          </a:prstGeom>
          <a:solidFill>
            <a:srgbClr val="FFFFFF"/>
          </a:solidFill>
          <a:ln w="12700">
            <a:solidFill>
              <a:srgbClr val="E2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4500" y="3302000"/>
            <a:ext cx="3492500" cy="508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43900" y="3594100"/>
            <a:ext cx="2921000" cy="1270000"/>
          </a:xfrm>
          <a:prstGeom prst="rect">
            <a:avLst/>
          </a:prstGeom>
          <a:noFill/>
        </p:spPr>
        <p:txBody>
          <a:bodyPr wrap="square" lIns="0" rIns="0" tIns="0" bIns="0" anchor="t">
            <a:spAutoFit/>
          </a:bodyPr>
          <a:lstStyle/>
          <a:p>
            <a:pPr algn="l">
              <a:lnSpc>
                <a:spcPct val="100000"/>
              </a:lnSpc>
            </a:pPr>
            <a:r>
              <a:rPr sz="3800" b="1" i="0">
                <a:solidFill>
                  <a:srgbClr val="C9A84C"/>
                </a:solidFill>
                <a:latin typeface="Montserrat"/>
                <a:ea typeface="Montserrat"/>
                <a:cs typeface="Montserrat"/>
              </a:rPr>
              <a:t>03</a:t>
            </a:r>
          </a:p>
        </p:txBody>
      </p:sp>
      <p:sp>
        <p:nvSpPr>
          <p:cNvPr id="16" name="TextBox 15"/>
          <p:cNvSpPr txBox="1"/>
          <p:nvPr/>
        </p:nvSpPr>
        <p:spPr>
          <a:xfrm>
            <a:off x="8343900" y="4445000"/>
            <a:ext cx="2984500" cy="1270000"/>
          </a:xfrm>
          <a:prstGeom prst="rect">
            <a:avLst/>
          </a:prstGeom>
          <a:noFill/>
        </p:spPr>
        <p:txBody>
          <a:bodyPr wrap="square" lIns="0" rIns="0" tIns="0" bIns="0" anchor="t">
            <a:spAutoFit/>
          </a:bodyPr>
          <a:lstStyle/>
          <a:p>
            <a:pPr algn="l">
              <a:lnSpc>
                <a:spcPct val="124000"/>
              </a:lnSpc>
            </a:pPr>
            <a:r>
              <a:rPr sz="1700" b="1" i="0">
                <a:solidFill>
                  <a:srgbClr val="0F2346"/>
                </a:solidFill>
                <a:latin typeface="Montserrat"/>
                <a:ea typeface="Montserrat"/>
                <a:cs typeface="Montserrat"/>
              </a:rPr>
              <a:t>Read the</a:t>
            </a:r>
            <a:br/>
            <a:r>
              <a:rPr sz="1700" b="1" i="0">
                <a:solidFill>
                  <a:srgbClr val="0F2346"/>
                </a:solidFill>
                <a:latin typeface="Montserrat"/>
                <a:ea typeface="Montserrat"/>
                <a:cs typeface="Montserrat"/>
              </a:rPr>
              <a:t>last 90 days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READING THE PATTERN</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000" b="1" i="0">
                <a:solidFill>
                  <a:srgbClr val="F5F1E8"/>
                </a:solidFill>
                <a:latin typeface="Montserrat"/>
                <a:ea typeface="Montserrat"/>
                <a:cs typeface="Montserrat"/>
              </a:rPr>
              <a:t>Read them together.</a:t>
            </a:r>
          </a:p>
        </p:txBody>
      </p:sp>
      <p:sp>
        <p:nvSpPr>
          <p:cNvPr id="5" name="TextBox 4"/>
          <p:cNvSpPr txBox="1"/>
          <p:nvPr/>
        </p:nvSpPr>
        <p:spPr>
          <a:xfrm>
            <a:off x="762000" y="3175000"/>
            <a:ext cx="10668000" cy="1270000"/>
          </a:xfrm>
          <a:prstGeom prst="rect">
            <a:avLst/>
          </a:prstGeom>
          <a:noFill/>
        </p:spPr>
        <p:txBody>
          <a:bodyPr wrap="square" lIns="0" rIns="0" tIns="0" bIns="0" anchor="t">
            <a:spAutoFit/>
          </a:bodyPr>
          <a:lstStyle/>
          <a:p>
            <a:pPr algn="l">
              <a:lnSpc>
                <a:spcPct val="115000"/>
              </a:lnSpc>
            </a:pPr>
            <a:r>
              <a:rPr sz="3300" b="1" i="0">
                <a:solidFill>
                  <a:srgbClr val="F5F1E8"/>
                </a:solidFill>
                <a:latin typeface="Montserrat"/>
                <a:ea typeface="Montserrat"/>
                <a:cs typeface="Montserrat"/>
              </a:rPr>
              <a:t>Is my judgment growing?</a:t>
            </a:r>
          </a:p>
        </p:txBody>
      </p:sp>
      <p:sp>
        <p:nvSpPr>
          <p:cNvPr id="6" name="Rectangle 5"/>
          <p:cNvSpPr/>
          <p:nvPr/>
        </p:nvSpPr>
        <p:spPr>
          <a:xfrm>
            <a:off x="762000" y="3937000"/>
            <a:ext cx="10668000" cy="12700"/>
          </a:xfrm>
          <a:prstGeom prst="rect">
            <a:avLst/>
          </a:prstGeom>
          <a:solidFill>
            <a:srgbClr val="244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4267200"/>
            <a:ext cx="10668000" cy="1270000"/>
          </a:xfrm>
          <a:prstGeom prst="rect">
            <a:avLst/>
          </a:prstGeom>
          <a:noFill/>
        </p:spPr>
        <p:txBody>
          <a:bodyPr wrap="square" lIns="0" rIns="0" tIns="0" bIns="0" anchor="t">
            <a:spAutoFit/>
          </a:bodyPr>
          <a:lstStyle/>
          <a:p>
            <a:pPr algn="l">
              <a:lnSpc>
                <a:spcPct val="115000"/>
              </a:lnSpc>
            </a:pPr>
            <a:r>
              <a:rPr sz="3300" b="1" i="0">
                <a:solidFill>
                  <a:srgbClr val="C9A84C"/>
                </a:solidFill>
                <a:latin typeface="Montserrat"/>
                <a:ea typeface="Montserrat"/>
                <a:cs typeface="Montserrat"/>
              </a:rPr>
              <a:t>Can another context use it?</a:t>
            </a:r>
          </a:p>
        </p:txBody>
      </p:sp>
      <p:sp>
        <p:nvSpPr>
          <p:cNvPr id="8" name="TextBox 7"/>
          <p:cNvSpPr txBox="1"/>
          <p:nvPr/>
        </p:nvSpPr>
        <p:spPr>
          <a:xfrm>
            <a:off x="762000" y="5397500"/>
            <a:ext cx="9906000" cy="1270000"/>
          </a:xfrm>
          <a:prstGeom prst="rect">
            <a:avLst/>
          </a:prstGeom>
          <a:noFill/>
        </p:spPr>
        <p:txBody>
          <a:bodyPr wrap="square" lIns="0" rIns="0" tIns="0" bIns="0" anchor="t">
            <a:spAutoFit/>
          </a:bodyPr>
          <a:lstStyle/>
          <a:p>
            <a:pPr algn="l">
              <a:lnSpc>
                <a:spcPct val="135000"/>
              </a:lnSpc>
            </a:pPr>
            <a:r>
              <a:rPr sz="1500" b="0" i="0">
                <a:solidFill>
                  <a:srgbClr val="B9C3D2"/>
                </a:solidFill>
                <a:latin typeface="DM Sans"/>
                <a:ea typeface="DM Sans"/>
                <a:cs typeface="DM Sans"/>
              </a:rPr>
              <a:t>One familiar sign is not a diagnosis. Read the pattern across growth</a:t>
            </a:r>
            <a:br/>
            <a:r>
              <a:rPr sz="1500" b="0" i="0">
                <a:solidFill>
                  <a:srgbClr val="B9C3D2"/>
                </a:solidFill>
                <a:latin typeface="DM Sans"/>
                <a:ea typeface="DM Sans"/>
                <a:cs typeface="DM Sans"/>
              </a:rPr>
              <a:t>and portability, and keep the reading provisional.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BEFORE YOU LEAVE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300" b="1" i="0">
                <a:solidFill>
                  <a:srgbClr val="0F2346"/>
                </a:solidFill>
                <a:latin typeface="Montserrat"/>
                <a:ea typeface="Montserrat"/>
                <a:cs typeface="Montserrat"/>
              </a:rPr>
              <a:t>What can I change</a:t>
            </a:r>
            <a:br/>
            <a:r>
              <a:rPr sz="3300" b="1" i="0">
                <a:solidFill>
                  <a:srgbClr val="0F2346"/>
                </a:solidFill>
                <a:latin typeface="Montserrat"/>
                <a:ea typeface="Montserrat"/>
                <a:cs typeface="Montserrat"/>
              </a:rPr>
              <a:t>before I leave?</a:t>
            </a:r>
          </a:p>
        </p:txBody>
      </p:sp>
      <p:sp>
        <p:nvSpPr>
          <p:cNvPr id="5" name="TextBox 4"/>
          <p:cNvSpPr txBox="1"/>
          <p:nvPr/>
        </p:nvSpPr>
        <p:spPr>
          <a:xfrm>
            <a:off x="4191000" y="225552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A concern in one test does not mean the answer is to resign.</a:t>
            </a:r>
            <a:br/>
            <a:r>
              <a:rPr sz="1600" b="0" i="0">
                <a:solidFill>
                  <a:srgbClr val="5A6B82"/>
                </a:solidFill>
                <a:latin typeface="DM Sans"/>
                <a:ea typeface="DM Sans"/>
                <a:cs typeface="DM Sans"/>
              </a:rPr>
              <a:t>Choose one thing to test in the next thirty days.</a:t>
            </a:r>
          </a:p>
        </p:txBody>
      </p:sp>
      <p:sp>
        <p:nvSpPr>
          <p:cNvPr id="6" name="TextBox 5"/>
          <p:cNvSpPr txBox="1"/>
          <p:nvPr/>
        </p:nvSpPr>
        <p:spPr>
          <a:xfrm>
            <a:off x="762000" y="334010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7" name="TextBox 6"/>
          <p:cNvSpPr txBox="1"/>
          <p:nvPr/>
        </p:nvSpPr>
        <p:spPr>
          <a:xfrm>
            <a:off x="1524000" y="330200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Ask for work that creates new judgment, not only more volume.</a:t>
            </a:r>
          </a:p>
        </p:txBody>
      </p:sp>
      <p:sp>
        <p:nvSpPr>
          <p:cNvPr id="8" name="Rectangle 7"/>
          <p:cNvSpPr/>
          <p:nvPr/>
        </p:nvSpPr>
        <p:spPr>
          <a:xfrm>
            <a:off x="762000" y="371221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BEFORE YOU LEAVE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300" b="1" i="0">
                <a:solidFill>
                  <a:srgbClr val="0F2346"/>
                </a:solidFill>
                <a:latin typeface="Montserrat"/>
                <a:ea typeface="Montserrat"/>
                <a:cs typeface="Montserrat"/>
              </a:rPr>
              <a:t>What can I change</a:t>
            </a:r>
            <a:br/>
            <a:r>
              <a:rPr sz="3300" b="1" i="0">
                <a:solidFill>
                  <a:srgbClr val="0F2346"/>
                </a:solidFill>
                <a:latin typeface="Montserrat"/>
                <a:ea typeface="Montserrat"/>
                <a:cs typeface="Montserrat"/>
              </a:rPr>
              <a:t>before I leave?</a:t>
            </a:r>
          </a:p>
        </p:txBody>
      </p:sp>
      <p:sp>
        <p:nvSpPr>
          <p:cNvPr id="5" name="TextBox 4"/>
          <p:cNvSpPr txBox="1"/>
          <p:nvPr/>
        </p:nvSpPr>
        <p:spPr>
          <a:xfrm>
            <a:off x="4191000" y="225552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A concern in one test does not mean the answer is to resign.</a:t>
            </a:r>
            <a:br/>
            <a:r>
              <a:rPr sz="1600" b="0" i="0">
                <a:solidFill>
                  <a:srgbClr val="5A6B82"/>
                </a:solidFill>
                <a:latin typeface="DM Sans"/>
                <a:ea typeface="DM Sans"/>
                <a:cs typeface="DM Sans"/>
              </a:rPr>
              <a:t>Choose one thing to test in the next thirty days.</a:t>
            </a:r>
          </a:p>
        </p:txBody>
      </p:sp>
      <p:sp>
        <p:nvSpPr>
          <p:cNvPr id="6" name="TextBox 5"/>
          <p:cNvSpPr txBox="1"/>
          <p:nvPr/>
        </p:nvSpPr>
        <p:spPr>
          <a:xfrm>
            <a:off x="762000" y="334010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7" name="TextBox 6"/>
          <p:cNvSpPr txBox="1"/>
          <p:nvPr/>
        </p:nvSpPr>
        <p:spPr>
          <a:xfrm>
            <a:off x="1524000" y="330200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Ask for work that creates new judgment, not only more volume.</a:t>
            </a:r>
          </a:p>
        </p:txBody>
      </p:sp>
      <p:sp>
        <p:nvSpPr>
          <p:cNvPr id="8" name="Rectangle 7"/>
          <p:cNvSpPr/>
          <p:nvPr/>
        </p:nvSpPr>
        <p:spPr>
          <a:xfrm>
            <a:off x="762000" y="371221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394716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02</a:t>
            </a:r>
          </a:p>
        </p:txBody>
      </p:sp>
      <p:sp>
        <p:nvSpPr>
          <p:cNvPr id="10" name="TextBox 9"/>
          <p:cNvSpPr txBox="1"/>
          <p:nvPr/>
        </p:nvSpPr>
        <p:spPr>
          <a:xfrm>
            <a:off x="1524000" y="390906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Make the capability visible outside the immediate team</a:t>
            </a:r>
            <a:br/>
            <a:r>
              <a:rPr sz="1900" b="1" i="0">
                <a:solidFill>
                  <a:srgbClr val="0F2346"/>
                </a:solidFill>
                <a:latin typeface="Montserrat"/>
                <a:ea typeface="Montserrat"/>
                <a:cs typeface="Montserrat"/>
              </a:rPr>
              <a:t>or function.</a:t>
            </a:r>
          </a:p>
        </p:txBody>
      </p:sp>
      <p:sp>
        <p:nvSpPr>
          <p:cNvPr id="11" name="Rectangle 10"/>
          <p:cNvSpPr/>
          <p:nvPr/>
        </p:nvSpPr>
        <p:spPr>
          <a:xfrm>
            <a:off x="762000" y="460883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BEFORE YOU LEAVE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300" b="1" i="0">
                <a:solidFill>
                  <a:srgbClr val="0F2346"/>
                </a:solidFill>
                <a:latin typeface="Montserrat"/>
                <a:ea typeface="Montserrat"/>
                <a:cs typeface="Montserrat"/>
              </a:rPr>
              <a:t>What can I change</a:t>
            </a:r>
            <a:br/>
            <a:r>
              <a:rPr sz="3300" b="1" i="0">
                <a:solidFill>
                  <a:srgbClr val="0F2346"/>
                </a:solidFill>
                <a:latin typeface="Montserrat"/>
                <a:ea typeface="Montserrat"/>
                <a:cs typeface="Montserrat"/>
              </a:rPr>
              <a:t>before I leave?</a:t>
            </a:r>
          </a:p>
        </p:txBody>
      </p:sp>
      <p:sp>
        <p:nvSpPr>
          <p:cNvPr id="5" name="TextBox 4"/>
          <p:cNvSpPr txBox="1"/>
          <p:nvPr/>
        </p:nvSpPr>
        <p:spPr>
          <a:xfrm>
            <a:off x="4191000" y="225552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A concern in one test does not mean the answer is to resign.</a:t>
            </a:r>
            <a:br/>
            <a:r>
              <a:rPr sz="1600" b="0" i="0">
                <a:solidFill>
                  <a:srgbClr val="5A6B82"/>
                </a:solidFill>
                <a:latin typeface="DM Sans"/>
                <a:ea typeface="DM Sans"/>
                <a:cs typeface="DM Sans"/>
              </a:rPr>
              <a:t>Choose one thing to test in the next thirty days.</a:t>
            </a:r>
          </a:p>
        </p:txBody>
      </p:sp>
      <p:sp>
        <p:nvSpPr>
          <p:cNvPr id="6" name="TextBox 5"/>
          <p:cNvSpPr txBox="1"/>
          <p:nvPr/>
        </p:nvSpPr>
        <p:spPr>
          <a:xfrm>
            <a:off x="762000" y="334010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7" name="TextBox 6"/>
          <p:cNvSpPr txBox="1"/>
          <p:nvPr/>
        </p:nvSpPr>
        <p:spPr>
          <a:xfrm>
            <a:off x="1524000" y="330200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Ask for work that creates new judgment, not only more volume.</a:t>
            </a:r>
          </a:p>
        </p:txBody>
      </p:sp>
      <p:sp>
        <p:nvSpPr>
          <p:cNvPr id="8" name="Rectangle 7"/>
          <p:cNvSpPr/>
          <p:nvPr/>
        </p:nvSpPr>
        <p:spPr>
          <a:xfrm>
            <a:off x="762000" y="371221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394716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02</a:t>
            </a:r>
          </a:p>
        </p:txBody>
      </p:sp>
      <p:sp>
        <p:nvSpPr>
          <p:cNvPr id="10" name="TextBox 9"/>
          <p:cNvSpPr txBox="1"/>
          <p:nvPr/>
        </p:nvSpPr>
        <p:spPr>
          <a:xfrm>
            <a:off x="1524000" y="390906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Make the capability visible outside the immediate team</a:t>
            </a:r>
            <a:br/>
            <a:r>
              <a:rPr sz="1900" b="1" i="0">
                <a:solidFill>
                  <a:srgbClr val="0F2346"/>
                </a:solidFill>
                <a:latin typeface="Montserrat"/>
                <a:ea typeface="Montserrat"/>
                <a:cs typeface="Montserrat"/>
              </a:rPr>
              <a:t>or function.</a:t>
            </a:r>
          </a:p>
        </p:txBody>
      </p:sp>
      <p:sp>
        <p:nvSpPr>
          <p:cNvPr id="11" name="Rectangle 10"/>
          <p:cNvSpPr/>
          <p:nvPr/>
        </p:nvSpPr>
        <p:spPr>
          <a:xfrm>
            <a:off x="762000" y="460883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484378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03</a:t>
            </a:r>
          </a:p>
        </p:txBody>
      </p:sp>
      <p:sp>
        <p:nvSpPr>
          <p:cNvPr id="13" name="TextBox 12"/>
          <p:cNvSpPr txBox="1"/>
          <p:nvPr/>
        </p:nvSpPr>
        <p:spPr>
          <a:xfrm>
            <a:off x="1524000" y="480568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Document knowledge or results that exist mainly in your head.</a:t>
            </a:r>
          </a:p>
        </p:txBody>
      </p:sp>
      <p:sp>
        <p:nvSpPr>
          <p:cNvPr id="14" name="Rectangle 13"/>
          <p:cNvSpPr/>
          <p:nvPr/>
        </p:nvSpPr>
        <p:spPr>
          <a:xfrm>
            <a:off x="762000" y="521589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91000" y="838200"/>
            <a:ext cx="7366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BEFORE YOU LEAVE</a:t>
            </a:r>
          </a:p>
        </p:txBody>
      </p:sp>
      <p:sp>
        <p:nvSpPr>
          <p:cNvPr id="4" name="TextBox 3"/>
          <p:cNvSpPr txBox="1"/>
          <p:nvPr/>
        </p:nvSpPr>
        <p:spPr>
          <a:xfrm>
            <a:off x="4191000" y="1168400"/>
            <a:ext cx="7366000" cy="1270000"/>
          </a:xfrm>
          <a:prstGeom prst="rect">
            <a:avLst/>
          </a:prstGeom>
          <a:noFill/>
        </p:spPr>
        <p:txBody>
          <a:bodyPr wrap="square" lIns="0" rIns="0" tIns="0" bIns="0" anchor="t">
            <a:spAutoFit/>
          </a:bodyPr>
          <a:lstStyle/>
          <a:p>
            <a:pPr algn="l">
              <a:lnSpc>
                <a:spcPct val="110000"/>
              </a:lnSpc>
            </a:pPr>
            <a:r>
              <a:rPr sz="3300" b="1" i="0">
                <a:solidFill>
                  <a:srgbClr val="0F2346"/>
                </a:solidFill>
                <a:latin typeface="Montserrat"/>
                <a:ea typeface="Montserrat"/>
                <a:cs typeface="Montserrat"/>
              </a:rPr>
              <a:t>What can I change</a:t>
            </a:r>
            <a:br/>
            <a:r>
              <a:rPr sz="3300" b="1" i="0">
                <a:solidFill>
                  <a:srgbClr val="0F2346"/>
                </a:solidFill>
                <a:latin typeface="Montserrat"/>
                <a:ea typeface="Montserrat"/>
                <a:cs typeface="Montserrat"/>
              </a:rPr>
              <a:t>before I leave?</a:t>
            </a:r>
          </a:p>
        </p:txBody>
      </p:sp>
      <p:sp>
        <p:nvSpPr>
          <p:cNvPr id="5" name="TextBox 4"/>
          <p:cNvSpPr txBox="1"/>
          <p:nvPr/>
        </p:nvSpPr>
        <p:spPr>
          <a:xfrm>
            <a:off x="4191000" y="2255520"/>
            <a:ext cx="7366000" cy="1270000"/>
          </a:xfrm>
          <a:prstGeom prst="rect">
            <a:avLst/>
          </a:prstGeom>
          <a:noFill/>
        </p:spPr>
        <p:txBody>
          <a:bodyPr wrap="square" lIns="0" rIns="0" tIns="0" bIns="0" anchor="t">
            <a:spAutoFit/>
          </a:bodyPr>
          <a:lstStyle/>
          <a:p>
            <a:pPr algn="l">
              <a:lnSpc>
                <a:spcPct val="132000"/>
              </a:lnSpc>
            </a:pPr>
            <a:r>
              <a:rPr sz="1600" b="0" i="0">
                <a:solidFill>
                  <a:srgbClr val="5A6B82"/>
                </a:solidFill>
                <a:latin typeface="DM Sans"/>
                <a:ea typeface="DM Sans"/>
                <a:cs typeface="DM Sans"/>
              </a:rPr>
              <a:t>A concern in one test does not mean the answer is to resign.</a:t>
            </a:r>
            <a:br/>
            <a:r>
              <a:rPr sz="1600" b="0" i="0">
                <a:solidFill>
                  <a:srgbClr val="5A6B82"/>
                </a:solidFill>
                <a:latin typeface="DM Sans"/>
                <a:ea typeface="DM Sans"/>
                <a:cs typeface="DM Sans"/>
              </a:rPr>
              <a:t>Choose one thing to test in the next thirty days.</a:t>
            </a:r>
          </a:p>
        </p:txBody>
      </p:sp>
      <p:sp>
        <p:nvSpPr>
          <p:cNvPr id="6" name="TextBox 5"/>
          <p:cNvSpPr txBox="1"/>
          <p:nvPr/>
        </p:nvSpPr>
        <p:spPr>
          <a:xfrm>
            <a:off x="762000" y="334010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01</a:t>
            </a:r>
          </a:p>
        </p:txBody>
      </p:sp>
      <p:sp>
        <p:nvSpPr>
          <p:cNvPr id="7" name="TextBox 6"/>
          <p:cNvSpPr txBox="1"/>
          <p:nvPr/>
        </p:nvSpPr>
        <p:spPr>
          <a:xfrm>
            <a:off x="1524000" y="330200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Ask for work that creates new judgment, not only more volume.</a:t>
            </a:r>
          </a:p>
        </p:txBody>
      </p:sp>
      <p:sp>
        <p:nvSpPr>
          <p:cNvPr id="8" name="Rectangle 7"/>
          <p:cNvSpPr/>
          <p:nvPr/>
        </p:nvSpPr>
        <p:spPr>
          <a:xfrm>
            <a:off x="762000" y="371221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394716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02</a:t>
            </a:r>
          </a:p>
        </p:txBody>
      </p:sp>
      <p:sp>
        <p:nvSpPr>
          <p:cNvPr id="10" name="TextBox 9"/>
          <p:cNvSpPr txBox="1"/>
          <p:nvPr/>
        </p:nvSpPr>
        <p:spPr>
          <a:xfrm>
            <a:off x="1524000" y="390906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Make the capability visible outside the immediate team</a:t>
            </a:r>
            <a:br/>
            <a:r>
              <a:rPr sz="1900" b="1" i="0">
                <a:solidFill>
                  <a:srgbClr val="0F2346"/>
                </a:solidFill>
                <a:latin typeface="Montserrat"/>
                <a:ea typeface="Montserrat"/>
                <a:cs typeface="Montserrat"/>
              </a:rPr>
              <a:t>or function.</a:t>
            </a:r>
          </a:p>
        </p:txBody>
      </p:sp>
      <p:sp>
        <p:nvSpPr>
          <p:cNvPr id="11" name="Rectangle 10"/>
          <p:cNvSpPr/>
          <p:nvPr/>
        </p:nvSpPr>
        <p:spPr>
          <a:xfrm>
            <a:off x="762000" y="460883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484378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03</a:t>
            </a:r>
          </a:p>
        </p:txBody>
      </p:sp>
      <p:sp>
        <p:nvSpPr>
          <p:cNvPr id="13" name="TextBox 12"/>
          <p:cNvSpPr txBox="1"/>
          <p:nvPr/>
        </p:nvSpPr>
        <p:spPr>
          <a:xfrm>
            <a:off x="1524000" y="480568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Document knowledge or results that exist mainly in your head.</a:t>
            </a:r>
          </a:p>
        </p:txBody>
      </p:sp>
      <p:sp>
        <p:nvSpPr>
          <p:cNvPr id="14" name="Rectangle 13"/>
          <p:cNvSpPr/>
          <p:nvPr/>
        </p:nvSpPr>
        <p:spPr>
          <a:xfrm>
            <a:off x="762000" y="5215890"/>
            <a:ext cx="10668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5450840"/>
            <a:ext cx="571500" cy="1270000"/>
          </a:xfrm>
          <a:prstGeom prst="rect">
            <a:avLst/>
          </a:prstGeom>
          <a:noFill/>
        </p:spPr>
        <p:txBody>
          <a:bodyPr wrap="square" lIns="0" rIns="0" tIns="0" bIns="0" anchor="t">
            <a:spAutoFit/>
          </a:bodyPr>
          <a:lstStyle/>
          <a:p>
            <a:pPr algn="l">
              <a:lnSpc>
                <a:spcPct val="100000"/>
              </a:lnSpc>
            </a:pPr>
            <a:r>
              <a:rPr sz="1500" b="1" i="0">
                <a:solidFill>
                  <a:srgbClr val="C9A84C"/>
                </a:solidFill>
                <a:latin typeface="Montserrat"/>
                <a:ea typeface="Montserrat"/>
                <a:cs typeface="Montserrat"/>
              </a:rPr>
              <a:t>04</a:t>
            </a:r>
          </a:p>
        </p:txBody>
      </p:sp>
      <p:sp>
        <p:nvSpPr>
          <p:cNvPr id="16" name="TextBox 15"/>
          <p:cNvSpPr txBox="1"/>
          <p:nvPr/>
        </p:nvSpPr>
        <p:spPr>
          <a:xfrm>
            <a:off x="1524000" y="5412740"/>
            <a:ext cx="9906000" cy="1270000"/>
          </a:xfrm>
          <a:prstGeom prst="rect">
            <a:avLst/>
          </a:prstGeom>
          <a:noFill/>
        </p:spPr>
        <p:txBody>
          <a:bodyPr wrap="square" lIns="0" rIns="0" tIns="0" bIns="0" anchor="t">
            <a:spAutoFit/>
          </a:bodyPr>
          <a:lstStyle/>
          <a:p>
            <a:pPr algn="l">
              <a:lnSpc>
                <a:spcPct val="120000"/>
              </a:lnSpc>
            </a:pPr>
            <a:r>
              <a:rPr sz="1900" b="1" i="0">
                <a:solidFill>
                  <a:srgbClr val="0F2346"/>
                </a:solidFill>
                <a:latin typeface="Montserrat"/>
                <a:ea typeface="Montserrat"/>
                <a:cs typeface="Montserrat"/>
              </a:rPr>
              <a:t>Take on an adjacent problem that forces the capability</a:t>
            </a:r>
            <a:br/>
            <a:r>
              <a:rPr sz="1900" b="1" i="0">
                <a:solidFill>
                  <a:srgbClr val="0F2346"/>
                </a:solidFill>
                <a:latin typeface="Montserrat"/>
                <a:ea typeface="Montserrat"/>
                <a:cs typeface="Montserrat"/>
              </a:rPr>
              <a:t>into a different context.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eldkit-page-06.png"/>
          <p:cNvPicPr>
            <a:picLocks noChangeAspect="1"/>
          </p:cNvPicPr>
          <p:nvPr/>
        </p:nvPicPr>
        <p:blipFill>
          <a:blip r:embed="rId2"/>
          <a:stretch>
            <a:fillRect/>
          </a:stretch>
        </p:blipFill>
        <p:spPr>
          <a:xfrm rot="21180000">
            <a:off x="6414655" y="1206500"/>
            <a:ext cx="2728191" cy="3530600"/>
          </a:xfrm>
          <a:prstGeom prst="rect">
            <a:avLst/>
          </a:prstGeom>
        </p:spPr>
      </p:pic>
      <p:pic>
        <p:nvPicPr>
          <p:cNvPr id="4" name="Picture 3" descr="fieldkit-cover.png"/>
          <p:cNvPicPr>
            <a:picLocks noChangeAspect="1"/>
          </p:cNvPicPr>
          <p:nvPr/>
        </p:nvPicPr>
        <p:blipFill>
          <a:blip r:embed="rId3"/>
          <a:stretch>
            <a:fillRect/>
          </a:stretch>
        </p:blipFill>
        <p:spPr>
          <a:xfrm>
            <a:off x="8066232" y="812800"/>
            <a:ext cx="3552536" cy="4597400"/>
          </a:xfrm>
          <a:prstGeom prst="rect">
            <a:avLst/>
          </a:prstGeom>
        </p:spPr>
      </p:pic>
      <p:sp>
        <p:nvSpPr>
          <p:cNvPr id="5" name="TextBox 4"/>
          <p:cNvSpPr txBox="1"/>
          <p:nvPr/>
        </p:nvSpPr>
        <p:spPr>
          <a:xfrm>
            <a:off x="762000" y="2984500"/>
            <a:ext cx="7620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THE CAPABILITY FORMATION FIELD KIT</a:t>
            </a:r>
          </a:p>
        </p:txBody>
      </p:sp>
      <p:sp>
        <p:nvSpPr>
          <p:cNvPr id="6" name="TextBox 5"/>
          <p:cNvSpPr txBox="1"/>
          <p:nvPr/>
        </p:nvSpPr>
        <p:spPr>
          <a:xfrm>
            <a:off x="762000" y="3289300"/>
            <a:ext cx="5588000" cy="1270000"/>
          </a:xfrm>
          <a:prstGeom prst="rect">
            <a:avLst/>
          </a:prstGeom>
          <a:noFill/>
        </p:spPr>
        <p:txBody>
          <a:bodyPr wrap="square" lIns="0" rIns="0" tIns="0" bIns="0" anchor="t">
            <a:spAutoFit/>
          </a:bodyPr>
          <a:lstStyle/>
          <a:p>
            <a:pPr algn="l">
              <a:lnSpc>
                <a:spcPct val="110000"/>
              </a:lnSpc>
            </a:pPr>
            <a:r>
              <a:rPr sz="3200" b="1" i="0">
                <a:solidFill>
                  <a:srgbClr val="0F2346"/>
                </a:solidFill>
                <a:latin typeface="Montserrat"/>
                <a:ea typeface="Montserrat"/>
                <a:cs typeface="Montserrat"/>
              </a:rPr>
              <a:t>Is your job still</a:t>
            </a:r>
            <a:br/>
            <a:r>
              <a:rPr sz="3200" b="1" i="0">
                <a:solidFill>
                  <a:srgbClr val="0F2346"/>
                </a:solidFill>
                <a:latin typeface="Montserrat"/>
                <a:ea typeface="Montserrat"/>
                <a:cs typeface="Montserrat"/>
              </a:rPr>
              <a:t>building you?</a:t>
            </a:r>
          </a:p>
        </p:txBody>
      </p:sp>
      <p:sp>
        <p:nvSpPr>
          <p:cNvPr id="7" name="TextBox 6"/>
          <p:cNvSpPr txBox="1"/>
          <p:nvPr/>
        </p:nvSpPr>
        <p:spPr>
          <a:xfrm>
            <a:off x="762000" y="4394200"/>
            <a:ext cx="5334000" cy="1270000"/>
          </a:xfrm>
          <a:prstGeom prst="rect">
            <a:avLst/>
          </a:prstGeom>
          <a:noFill/>
        </p:spPr>
        <p:txBody>
          <a:bodyPr wrap="square" lIns="0" rIns="0" tIns="0" bIns="0" anchor="t">
            <a:spAutoFit/>
          </a:bodyPr>
          <a:lstStyle/>
          <a:p>
            <a:pPr algn="l">
              <a:lnSpc>
                <a:spcPct val="132000"/>
              </a:lnSpc>
            </a:pPr>
            <a:r>
              <a:rPr sz="1500" b="0" i="0">
                <a:solidFill>
                  <a:srgbClr val="5A6B82"/>
                </a:solidFill>
                <a:latin typeface="DM Sans"/>
                <a:ea typeface="DM Sans"/>
                <a:cs typeface="DM Sans"/>
              </a:rPr>
              <a:t>Complete a private, evidence-led career position</a:t>
            </a:r>
            <a:br/>
            <a:r>
              <a:rPr sz="1500" b="0" i="0">
                <a:solidFill>
                  <a:srgbClr val="5A6B82"/>
                </a:solidFill>
                <a:latin typeface="DM Sans"/>
                <a:ea typeface="DM Sans"/>
                <a:cs typeface="DM Sans"/>
              </a:rPr>
              <a:t>assessment using the last 90 days of your</a:t>
            </a:r>
            <a:br/>
            <a:r>
              <a:rPr sz="1500" b="0" i="0">
                <a:solidFill>
                  <a:srgbClr val="5A6B82"/>
                </a:solidFill>
                <a:latin typeface="DM Sans"/>
                <a:ea typeface="DM Sans"/>
                <a:cs typeface="DM Sans"/>
              </a:rPr>
              <a:t>actual work.</a:t>
            </a:r>
          </a:p>
        </p:txBody>
      </p:sp>
      <p:sp>
        <p:nvSpPr>
          <p:cNvPr id="8" name="Rectangle 7"/>
          <p:cNvSpPr/>
          <p:nvPr/>
        </p:nvSpPr>
        <p:spPr>
          <a:xfrm>
            <a:off x="762000" y="5372100"/>
            <a:ext cx="4572000" cy="6096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5372100"/>
            <a:ext cx="4572000" cy="609600"/>
          </a:xfrm>
          <a:prstGeom prst="rect">
            <a:avLst/>
          </a:prstGeom>
          <a:noFill/>
        </p:spPr>
        <p:txBody>
          <a:bodyPr wrap="square" lIns="0" rIns="0" tIns="0" bIns="0" anchor="ctr">
            <a:spAutoFit/>
          </a:bodyPr>
          <a:lstStyle/>
          <a:p>
            <a:pPr algn="ctr">
              <a:lnSpc>
                <a:spcPct val="112000"/>
              </a:lnSpc>
            </a:pPr>
            <a:r>
              <a:rPr sz="2000" b="1" i="0">
                <a:solidFill>
                  <a:srgbClr val="F5F1E8"/>
                </a:solidFill>
                <a:latin typeface="Montserrat"/>
                <a:ea typeface="Montserrat"/>
                <a:cs typeface="Montserrat"/>
              </a:rPr>
              <a:t>temidayoafonja.com/fieldkit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2933700"/>
            <a:ext cx="5715000" cy="12700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WATCH NEXT</a:t>
            </a:r>
          </a:p>
        </p:txBody>
      </p:sp>
      <p:sp>
        <p:nvSpPr>
          <p:cNvPr id="4" name="TextBox 3"/>
          <p:cNvSpPr txBox="1"/>
          <p:nvPr/>
        </p:nvSpPr>
        <p:spPr>
          <a:xfrm>
            <a:off x="762000" y="3276600"/>
            <a:ext cx="6096000" cy="1270000"/>
          </a:xfrm>
          <a:prstGeom prst="rect">
            <a:avLst/>
          </a:prstGeom>
          <a:noFill/>
        </p:spPr>
        <p:txBody>
          <a:bodyPr wrap="square" lIns="0" rIns="0" tIns="0" bIns="0" anchor="t">
            <a:spAutoFit/>
          </a:bodyPr>
          <a:lstStyle/>
          <a:p>
            <a:pPr algn="l">
              <a:lnSpc>
                <a:spcPct val="110000"/>
              </a:lnSpc>
            </a:pPr>
            <a:r>
              <a:rPr sz="4000" b="1" i="0">
                <a:solidFill>
                  <a:srgbClr val="F5F1E8"/>
                </a:solidFill>
                <a:latin typeface="Montserrat"/>
                <a:ea typeface="Montserrat"/>
                <a:cs typeface="Montserrat"/>
              </a:rPr>
              <a:t>3 Things to Do</a:t>
            </a:r>
            <a:br/>
            <a:r>
              <a:rPr sz="4000" b="1" i="0">
                <a:solidFill>
                  <a:srgbClr val="F5F1E8"/>
                </a:solidFill>
                <a:latin typeface="Montserrat"/>
                <a:ea typeface="Montserrat"/>
                <a:cs typeface="Montserrat"/>
              </a:rPr>
              <a:t>Before Quitting</a:t>
            </a:r>
            <a:br/>
            <a:r>
              <a:rPr sz="4000" b="1" i="0">
                <a:solidFill>
                  <a:srgbClr val="F5F1E8"/>
                </a:solidFill>
                <a:latin typeface="Montserrat"/>
                <a:ea typeface="Montserrat"/>
                <a:cs typeface="Montserrat"/>
              </a:rPr>
              <a:t>Your Job</a:t>
            </a:r>
          </a:p>
        </p:txBody>
      </p:sp>
      <p:sp>
        <p:nvSpPr>
          <p:cNvPr id="5" name="Rectangle 4"/>
          <p:cNvSpPr/>
          <p:nvPr/>
        </p:nvSpPr>
        <p:spPr>
          <a:xfrm>
            <a:off x="762000" y="5283200"/>
            <a:ext cx="1270000" cy="381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871200" y="5892800"/>
            <a:ext cx="203200" cy="2032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131550" y="5892800"/>
            <a:ext cx="203200" cy="2032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871200" y="6153150"/>
            <a:ext cx="203200" cy="2032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131550" y="6153150"/>
            <a:ext cx="203200" cy="2032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