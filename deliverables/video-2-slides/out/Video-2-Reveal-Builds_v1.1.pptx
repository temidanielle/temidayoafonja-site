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a:t>
            </a:r>
          </a:p>
          <a:p>
            <a:r>
              <a:t>Timing: approximately 0:38 to 0:57.</a:t>
            </a:r>
          </a:p>
          <a:p>
            <a:r>
              <a:t>Do NOT open on this slide. Begin full-screen on Temidayo and let the whole H.I.T. opening land first: the hook, the viewer bridge, her own cross-industry proof, the valuable-here / legible-elsewhere line and the three-test promise.</a:t>
            </a:r>
          </a:p>
          <a:p>
            <a:r>
              <a:t>Bring the title up under the channel line: "I'm Temidayo Afonja. I help experienced professionals understand what their work has built, what can travel, and what still has to be learned when the context changes. And that is what I want to help you do here."</a:t>
            </a:r>
          </a:p>
          <a:p>
            <a:r>
              <a:t>That second sentence is the turn from positioning to relationship. Stay on her face for it.</a:t>
            </a:r>
          </a:p>
          <a:p>
            <a:r>
              <a:t>Do not make the opening alarmist.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2.</a:t>
            </a:r>
          </a:p>
          <a:p>
            <a:r>
              <a:t>Timing: approximately 0:57.</a:t>
            </a:r>
          </a:p>
          <a:p>
            <a:r>
              <a:t>This is the central idea of the video. Let it sit.</a:t>
            </a:r>
          </a:p>
          <a:p>
            <a:r>
              <a:t>Reveal the second question after the first has been asked, not before.</a:t>
            </a:r>
          </a:p>
          <a:p>
            <a:r>
              <a:t>Temidayo is careful here and the edit must not undercut her: being relied on is real value, and none of this implies the viewer should leave. The closing beat of this section is "Praise tells you that you matter here. It cannot tell you how easily what you do travels."</a:t>
            </a:r>
          </a:p>
          <a:p>
            <a:r>
              <a:t>Non-alarmist. No warning graphics, no red, no urgency motifs.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3.</a:t>
            </a:r>
          </a:p>
          <a:p>
            <a:r>
              <a:t>Timing: approximately 2:02, holding to about 2:06.</a:t>
            </a:r>
          </a:p>
          <a:p>
            <a:r>
              <a:t>Section card. Hold briefly, then return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2 — main slide 4.</a:t>
            </a:r>
          </a:p>
          <a:p>
            <a:r>
              <a:t>Timing: approximately 2:06.</a:t>
            </a:r>
          </a:p>
          <a:p>
            <a:r>
              <a:t>Show the company-bound sentence first, then the clearer description.</a:t>
            </a:r>
          </a:p>
          <a:p>
            <a:r>
              <a:t>What remains after the nouns come out should still tell another person what problem the viewer solves and what judgment the work requires.</a:t>
            </a:r>
          </a:p>
          <a:p>
            <a:r>
              <a:t>Note the direct-address framing: Temidayo says "Say you tell me: 'I own the QBR process for this business unit.'" and then "Outside it, I mostly hear the name of a process." She is standing in as the listener across the table. Keep her on camera for those two lines so the exchange reads as a conversation.</a:t>
            </a:r>
          </a:p>
          <a:p>
            <a:r>
              <a:t>Viewer action: one sentence from a résumé, a LinkedIn profile or the way they introduce their work.</a:t>
            </a:r>
          </a:p>
          <a:p>
            <a:r>
              <a:t>The example is generic. Keep it that way; no employer-specific or confidential material.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2 — main slide 4.</a:t>
            </a:r>
          </a:p>
          <a:p>
            <a:r>
              <a:t>Timing: approximately 2:06.</a:t>
            </a:r>
          </a:p>
          <a:p>
            <a:r>
              <a:t>Show the company-bound sentence first, then the clearer description.</a:t>
            </a:r>
          </a:p>
          <a:p>
            <a:r>
              <a:t>What remains after the nouns come out should still tell another person what problem the viewer solves and what judgment the work requires.</a:t>
            </a:r>
          </a:p>
          <a:p>
            <a:r>
              <a:t>Note the direct-address framing: Temidayo says "Say you tell me: 'I own the QBR process for this business unit.'" and then "Outside it, I mostly hear the name of a process." She is standing in as the listener across the table. Keep her on camera for those two lines so the exchange reads as a conversation.</a:t>
            </a:r>
          </a:p>
          <a:p>
            <a:r>
              <a:t>Viewer action: one sentence from a résumé, a LinkedIn profile or the way they introduce their work.</a:t>
            </a:r>
          </a:p>
          <a:p>
            <a:r>
              <a:t>The example is generic. Keep it that way; no employer-specific or confidential material.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5.</a:t>
            </a:r>
          </a:p>
          <a:p>
            <a:r>
              <a:t>Timing: approximately 3:14, holding to about 3:17.</a:t>
            </a:r>
          </a:p>
          <a:p>
            <a:r>
              <a:t>Section card. Hold briefly, then return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6.</a:t>
            </a:r>
          </a:p>
          <a:p>
            <a:r>
              <a:t>Timing: approximately 3:17.</a:t>
            </a:r>
          </a:p>
          <a:p>
            <a:r>
              <a:t>Reveal the evidence types one at a time as each is named.</a:t>
            </a:r>
          </a:p>
          <a:p>
            <a:r>
              <a:t>The evidence can be small. It only has to show that the usefulness survived some distance from where it was formed.</a:t>
            </a:r>
          </a:p>
          <a:p>
            <a:r>
              <a:t>This is where the indispensable trap is named — and in v3.0 it is named at the viewer: "This is where being indispensable can mislead you." Do not soften it into a general observation, and do not turn it into a warning.</a:t>
            </a:r>
          </a:p>
          <a:p>
            <a:r>
              <a:t>Close on the permission line: if the viewer cannot think of an example yet, that is not a verdict on them. It is something to go and test.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6.</a:t>
            </a:r>
          </a:p>
          <a:p>
            <a:r>
              <a:t>Timing: approximately 3:17.</a:t>
            </a:r>
          </a:p>
          <a:p>
            <a:r>
              <a:t>Reveal the evidence types one at a time as each is named.</a:t>
            </a:r>
          </a:p>
          <a:p>
            <a:r>
              <a:t>The evidence can be small. It only has to show that the usefulness survived some distance from where it was formed.</a:t>
            </a:r>
          </a:p>
          <a:p>
            <a:r>
              <a:t>This is where the indispensable trap is named — and in v3.0 it is named at the viewer: "This is where being indispensable can mislead you." Do not soften it into a general observation, and do not turn it into a warning.</a:t>
            </a:r>
          </a:p>
          <a:p>
            <a:r>
              <a:t>Close on the permission line: if the viewer cannot think of an example yet, that is not a verdict on them. It is something to go and test.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6.</a:t>
            </a:r>
          </a:p>
          <a:p>
            <a:r>
              <a:t>Timing: approximately 3:17.</a:t>
            </a:r>
          </a:p>
          <a:p>
            <a:r>
              <a:t>Reveal the evidence types one at a time as each is named.</a:t>
            </a:r>
          </a:p>
          <a:p>
            <a:r>
              <a:t>The evidence can be small. It only has to show that the usefulness survived some distance from where it was formed.</a:t>
            </a:r>
          </a:p>
          <a:p>
            <a:r>
              <a:t>This is where the indispensable trap is named — and in v3.0 it is named at the viewer: "This is where being indispensable can mislead you." Do not soften it into a general observation, and do not turn it into a warning.</a:t>
            </a:r>
          </a:p>
          <a:p>
            <a:r>
              <a:t>Close on the permission line: if the viewer cannot think of an example yet, that is not a verdict on them. It is something to go and test.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6.</a:t>
            </a:r>
          </a:p>
          <a:p>
            <a:r>
              <a:t>Timing: approximately 3:17.</a:t>
            </a:r>
          </a:p>
          <a:p>
            <a:r>
              <a:t>Reveal the evidence types one at a time as each is named.</a:t>
            </a:r>
          </a:p>
          <a:p>
            <a:r>
              <a:t>The evidence can be small. It only has to show that the usefulness survived some distance from where it was formed.</a:t>
            </a:r>
          </a:p>
          <a:p>
            <a:r>
              <a:t>This is where the indispensable trap is named — and in v3.0 it is named at the viewer: "This is where being indispensable can mislead you." Do not soften it into a general observation, and do not turn it into a warning.</a:t>
            </a:r>
          </a:p>
          <a:p>
            <a:r>
              <a:t>Close on the permission line: if the viewer cannot think of an example yet, that is not a verdict on them. It is something to go and test.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7.</a:t>
            </a:r>
          </a:p>
          <a:p>
            <a:r>
              <a:t>Timing: approximately 4:38, holding to about 4:42.</a:t>
            </a:r>
          </a:p>
          <a:p>
            <a:r>
              <a:t>Section card. Hold briefly, then return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8.</a:t>
            </a:r>
          </a:p>
          <a:p>
            <a:r>
              <a:t>Timing: approximately 4:42.</a:t>
            </a:r>
          </a:p>
          <a:p>
            <a:r>
              <a:t>Reveal the three questions one at a time, then the new-judgment versus same-work-faster contrast.</a:t>
            </a:r>
          </a:p>
          <a:p>
            <a:r>
              <a:t>Speed and efficiency are not dismissed. Temidayo says so explicitly. The distinction is proficiency versus expansion, and the edit should not tip it into a criticism of anyone who has become faster at familiar 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8.</a:t>
            </a:r>
          </a:p>
          <a:p>
            <a:r>
              <a:t>Timing: approximately 4:42.</a:t>
            </a:r>
          </a:p>
          <a:p>
            <a:r>
              <a:t>Reveal the three questions one at a time, then the new-judgment versus same-work-faster contrast.</a:t>
            </a:r>
          </a:p>
          <a:p>
            <a:r>
              <a:t>Speed and efficiency are not dismissed. Temidayo says so explicitly. The distinction is proficiency versus expansion, and the edit should not tip it into a criticism of anyone who has become faster at familiar work.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8.</a:t>
            </a:r>
          </a:p>
          <a:p>
            <a:r>
              <a:t>Timing: approximately 4:42.</a:t>
            </a:r>
          </a:p>
          <a:p>
            <a:r>
              <a:t>Reveal the three questions one at a time, then the new-judgment versus same-work-faster contrast.</a:t>
            </a:r>
          </a:p>
          <a:p>
            <a:r>
              <a:t>Speed and efficiency are not dismissed. Temidayo says so explicitly. The distinction is proficiency versus expansion, and the edit should not tip it into a criticism of anyone who has become faster at familiar 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8.</a:t>
            </a:r>
          </a:p>
          <a:p>
            <a:r>
              <a:t>Timing: approximately 4:42.</a:t>
            </a:r>
          </a:p>
          <a:p>
            <a:r>
              <a:t>Reveal the three questions one at a time, then the new-judgment versus same-work-faster contrast.</a:t>
            </a:r>
          </a:p>
          <a:p>
            <a:r>
              <a:t>Speed and efficiency are not dismissed. Temidayo says so explicitly. The distinction is proficiency versus expansion, and the edit should not tip it into a criticism of anyone who has become faster at familiar work.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9.</a:t>
            </a:r>
          </a:p>
          <a:p>
            <a:r>
              <a:t>Timing: approximately 5:43.</a:t>
            </a:r>
          </a:p>
          <a:p>
            <a:r>
              <a:t>The consolidation card. Reveal the three in order.</a:t>
            </a:r>
          </a:p>
          <a:p>
            <a:r>
              <a:t>Do not add a fourth item, an acronym or a slogan. The three tests are the only memory device in this video.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10.</a:t>
            </a:r>
          </a:p>
          <a:p>
            <a:r>
              <a:t>Timing: approximately 5:58.</a:t>
            </a:r>
          </a:p>
          <a:p>
            <a:r>
              <a:t>Hold the two questions side by side while Temidayo walks the four readings.</a:t>
            </a:r>
          </a:p>
          <a:p>
            <a:r>
              <a:t>The governing line is hers and it is addressed to the viewer: "I am not asking you to diagnose yourself from one quarter or one frustrating assignment. What matters is the pattern."</a:t>
            </a:r>
          </a:p>
          <a:p>
            <a:r>
              <a:t>No diagnostic tone. No scorecard treatment.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11.</a:t>
            </a:r>
          </a:p>
          <a:p>
            <a:r>
              <a:t>Timing: approximately 6:50.</a:t>
            </a:r>
          </a:p>
          <a:p>
            <a:r>
              <a:t>Progressive reveal, one option at a time.</a:t>
            </a:r>
          </a:p>
          <a:p>
            <a:r>
              <a:t>This is the section that keeps the video non-alarmist, so give it room. A concern in one test does not mean resign.</a:t>
            </a:r>
          </a:p>
          <a:p>
            <a:r>
              <a:t>The documentation option keeps its boundary verbatim: in the viewer's own words, at a permitted high level, without taking confidential or employer-owned material. Do not trim that qualifier.</a:t>
            </a:r>
          </a:p>
          <a:p>
            <a:r>
              <a:t>Close on "Before you change the employer, test whether you can change what the work is building in you." </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11.</a:t>
            </a:r>
          </a:p>
          <a:p>
            <a:r>
              <a:t>Timing: approximately 6:50.</a:t>
            </a:r>
          </a:p>
          <a:p>
            <a:r>
              <a:t>Progressive reveal, one option at a time.</a:t>
            </a:r>
          </a:p>
          <a:p>
            <a:r>
              <a:t>This is the section that keeps the video non-alarmist, so give it room. A concern in one test does not mean resign.</a:t>
            </a:r>
          </a:p>
          <a:p>
            <a:r>
              <a:t>The documentation option keeps its boundary verbatim: in the viewer's own words, at a permitted high level, without taking confidential or employer-owned material. Do not trim that qualifier.</a:t>
            </a:r>
          </a:p>
          <a:p>
            <a:r>
              <a:t>Close on "Before you change the employer, test whether you can change what the work is building in you." </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11.</a:t>
            </a:r>
          </a:p>
          <a:p>
            <a:r>
              <a:t>Timing: approximately 6:50.</a:t>
            </a:r>
          </a:p>
          <a:p>
            <a:r>
              <a:t>Progressive reveal, one option at a time.</a:t>
            </a:r>
          </a:p>
          <a:p>
            <a:r>
              <a:t>This is the section that keeps the video non-alarmist, so give it room. A concern in one test does not mean resign.</a:t>
            </a:r>
          </a:p>
          <a:p>
            <a:r>
              <a:t>The documentation option keeps its boundary verbatim: in the viewer's own words, at a permitted high level, without taking confidential or employer-owned material. Do not trim that qualifier.</a:t>
            </a:r>
          </a:p>
          <a:p>
            <a:r>
              <a:t>Close on "Before you change the employer, test whether you can change what the work is building in you." </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11.</a:t>
            </a:r>
          </a:p>
          <a:p>
            <a:r>
              <a:t>Timing: approximately 6:50.</a:t>
            </a:r>
          </a:p>
          <a:p>
            <a:r>
              <a:t>Progressive reveal, one option at a time.</a:t>
            </a:r>
          </a:p>
          <a:p>
            <a:r>
              <a:t>This is the section that keeps the video non-alarmist, so give it room. A concern in one test does not mean resign.</a:t>
            </a:r>
          </a:p>
          <a:p>
            <a:r>
              <a:t>The documentation option keeps its boundary verbatim: in the viewer's own words, at a permitted high level, without taking confidential or employer-owned material. Do not trim that qualifier.</a:t>
            </a:r>
          </a:p>
          <a:p>
            <a:r>
              <a:t>Close on "Before you change the employer, test whether you can change what the work is building in you." </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12.</a:t>
            </a:r>
          </a:p>
          <a:p>
            <a:r>
              <a:t>Timing: approximately 7:49.</a:t>
            </a:r>
          </a:p>
          <a:p>
            <a:r>
              <a:t>Exact invitation, verbatim from the v3.0 script:</a:t>
            </a:r>
          </a:p>
          <a:p>
            <a:r>
              <a:t>"If these three tests tell you that you need a fuller read of what your current work is building and how portable it is, the Capability Formation Field Kit gives you a private, evidence-led assessment using the last 90 days of your actual work. It helps you see what is growing, what may be stalling, what looks portable and what you still need to investigate before you decide what comes next. You can find it at temidayoafonja.com/fieldkit."</a:t>
            </a:r>
          </a:p>
          <a:p>
            <a:r>
              <a:t>Calm and brief. This is the only resource invitation in the video. Show the real Field Kit artwork briefly. Do not add Keep the Proof or the Career Evidence Starter.</a:t>
            </a:r>
          </a:p>
          <a:p>
            <a:r>
              <a:t>Before publishing, verify the live /fieldkit redirect and the current listing.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13.</a:t>
            </a:r>
          </a:p>
          <a:p>
            <a:r>
              <a:t>Timing: approximately 8:21 to the end, about 8:40.</a:t>
            </a:r>
          </a:p>
          <a:p>
            <a:r>
              <a:t>Exact bridge, verbatim from the v3.0 script:</a:t>
            </a:r>
          </a:p>
          <a:p>
            <a:r>
              <a:t>"And if what you are seeing has you seriously considering an exit, do not move straight from concern to resignation. There are three things I want you to check first. That is the next video: 3 Things to Do Before Quitting Your Job. Watch that one next."</a:t>
            </a:r>
          </a:p>
          <a:p>
            <a:r>
              <a:t>DECK DEFECT — NOT FIXED. This card still reads "Before You Quit Your Job, Check These 3 Things", which is the RETIRED Video 3 title. The locked title is "3 Things to Do Before Quitting Your Job", which is what Temidayo says. No slide XML change was authorised in this pass. Until the card is corrected, do not hold it on screen while she names the video: stay on Temidayo, or cut to the end-screen route.</a:t>
            </a:r>
          </a:p>
          <a:p>
            <a:r>
              <a:t>Do not summarize this video again.</a:t>
            </a:r>
          </a:p>
          <a:p>
            <a:r>
              <a:t>The right side of the frame is left open for the YouTube linked-video end-screen element. Hold the final frame for at least 12 seconds.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29337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VIDEO TWO  ·  CAPABILITY FORMATION</a:t>
            </a:r>
          </a:p>
        </p:txBody>
      </p:sp>
      <p:sp>
        <p:nvSpPr>
          <p:cNvPr id="9" name="TextBox 8"/>
          <p:cNvSpPr txBox="1"/>
          <p:nvPr/>
        </p:nvSpPr>
        <p:spPr>
          <a:xfrm>
            <a:off x="863600" y="3302000"/>
            <a:ext cx="9906000" cy="1270000"/>
          </a:xfrm>
          <a:prstGeom prst="rect">
            <a:avLst/>
          </a:prstGeom>
          <a:noFill/>
        </p:spPr>
        <p:txBody>
          <a:bodyPr wrap="square" lIns="0" rIns="0" tIns="0" bIns="0" anchor="t">
            <a:spAutoFit/>
          </a:bodyPr>
          <a:lstStyle/>
          <a:p>
            <a:pPr algn="l">
              <a:lnSpc>
                <a:spcPct val="108000"/>
              </a:lnSpc>
            </a:pPr>
            <a:r>
              <a:rPr sz="5000" b="1" i="0">
                <a:solidFill>
                  <a:srgbClr val="F5F1E8"/>
                </a:solidFill>
                <a:latin typeface="Montserrat"/>
                <a:ea typeface="Montserrat"/>
                <a:cs typeface="Montserrat"/>
              </a:rPr>
              <a:t>Is Your Job</a:t>
            </a:r>
            <a:br/>
            <a:r>
              <a:rPr sz="5000" b="1" i="0">
                <a:solidFill>
                  <a:srgbClr val="F5F1E8"/>
                </a:solidFill>
                <a:latin typeface="Montserrat"/>
                <a:ea typeface="Montserrat"/>
                <a:cs typeface="Montserrat"/>
              </a:rPr>
              <a:t>Making You Less</a:t>
            </a:r>
            <a:br/>
            <a:r>
              <a:rPr sz="5000" b="1" i="0">
                <a:solidFill>
                  <a:srgbClr val="F5F1E8"/>
                </a:solidFill>
                <a:latin typeface="Montserrat"/>
                <a:ea typeface="Montserrat"/>
                <a:cs typeface="Montserrat"/>
              </a:rPr>
              <a:t>Marketable?</a:t>
            </a:r>
          </a:p>
        </p:txBody>
      </p:sp>
      <p:sp>
        <p:nvSpPr>
          <p:cNvPr id="10" name="Rectangle 9"/>
          <p:cNvSpPr/>
          <p:nvPr/>
        </p:nvSpPr>
        <p:spPr>
          <a:xfrm>
            <a:off x="863600" y="5727700"/>
            <a:ext cx="1397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3600" y="5981700"/>
            <a:ext cx="7620000" cy="1270000"/>
          </a:xfrm>
          <a:prstGeom prst="rect">
            <a:avLst/>
          </a:prstGeom>
          <a:noFill/>
        </p:spPr>
        <p:txBody>
          <a:bodyPr wrap="square" lIns="0" rIns="0" tIns="0" bIns="0" anchor="t">
            <a:spAutoFit/>
          </a:bodyPr>
          <a:lstStyle/>
          <a:p>
            <a:pPr algn="l">
              <a:lnSpc>
                <a:spcPct val="112000"/>
              </a:lnSpc>
            </a:pPr>
            <a:r>
              <a:rPr sz="1200" b="1" i="0" spc="200">
                <a:solidFill>
                  <a:srgbClr val="B9C3D2"/>
                </a:solidFill>
                <a:latin typeface="Montserrat"/>
                <a:ea typeface="Montserrat"/>
                <a:cs typeface="Montserrat"/>
              </a:rPr>
              <a:t>Temidayo Afonja  ·  temidayoafonja.com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TWO DIFFERENT QUESTIONS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Being valuable here</a:t>
            </a:r>
            <a:br/>
            <a:r>
              <a:rPr sz="2700" b="1" i="0">
                <a:solidFill>
                  <a:srgbClr val="0F2346"/>
                </a:solidFill>
                <a:latin typeface="Montserrat"/>
                <a:ea typeface="Montserrat"/>
                <a:cs typeface="Montserrat"/>
              </a:rPr>
              <a:t>answers only one question.</a:t>
            </a:r>
          </a:p>
        </p:txBody>
      </p:sp>
      <p:sp>
        <p:nvSpPr>
          <p:cNvPr id="5" name="TextBox 4"/>
          <p:cNvSpPr txBox="1"/>
          <p:nvPr/>
        </p:nvSpPr>
        <p:spPr>
          <a:xfrm>
            <a:off x="762000" y="3429000"/>
            <a:ext cx="4953000" cy="1270000"/>
          </a:xfrm>
          <a:prstGeom prst="rect">
            <a:avLst/>
          </a:prstGeom>
          <a:noFill/>
        </p:spPr>
        <p:txBody>
          <a:bodyPr wrap="square" lIns="0" rIns="0" tIns="0" bIns="0" anchor="t">
            <a:spAutoFit/>
          </a:bodyPr>
          <a:lstStyle/>
          <a:p>
            <a:pPr algn="l">
              <a:lnSpc>
                <a:spcPct val="110000"/>
              </a:lnSpc>
            </a:pPr>
            <a:r>
              <a:rPr sz="3400" b="1" i="0">
                <a:solidFill>
                  <a:srgbClr val="0F2346"/>
                </a:solidFill>
                <a:latin typeface="Montserrat"/>
                <a:ea typeface="Montserrat"/>
                <a:cs typeface="Montserrat"/>
              </a:rPr>
              <a:t>Valuable here</a:t>
            </a:r>
          </a:p>
        </p:txBody>
      </p:sp>
      <p:sp>
        <p:nvSpPr>
          <p:cNvPr id="6" name="Rectangle 5"/>
          <p:cNvSpPr/>
          <p:nvPr/>
        </p:nvSpPr>
        <p:spPr>
          <a:xfrm>
            <a:off x="6083300" y="3352800"/>
            <a:ext cx="19050" cy="8255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77000" y="3429000"/>
            <a:ext cx="4953000" cy="1270000"/>
          </a:xfrm>
          <a:prstGeom prst="rect">
            <a:avLst/>
          </a:prstGeom>
          <a:noFill/>
        </p:spPr>
        <p:txBody>
          <a:bodyPr wrap="square" lIns="0" rIns="0" tIns="0" bIns="0" anchor="t">
            <a:spAutoFit/>
          </a:bodyPr>
          <a:lstStyle/>
          <a:p>
            <a:pPr algn="l">
              <a:lnSpc>
                <a:spcPct val="110000"/>
              </a:lnSpc>
            </a:pPr>
            <a:r>
              <a:rPr sz="3400" b="1" i="0">
                <a:solidFill>
                  <a:srgbClr val="244B78"/>
                </a:solidFill>
                <a:latin typeface="Montserrat"/>
                <a:ea typeface="Montserrat"/>
                <a:cs typeface="Montserrat"/>
              </a:rPr>
              <a:t>Legible elsewhere</a:t>
            </a:r>
          </a:p>
        </p:txBody>
      </p:sp>
      <p:sp>
        <p:nvSpPr>
          <p:cNvPr id="8" name="Rectangle 7"/>
          <p:cNvSpPr/>
          <p:nvPr/>
        </p:nvSpPr>
        <p:spPr>
          <a:xfrm>
            <a:off x="762000" y="482600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5156200"/>
            <a:ext cx="9906000" cy="1270000"/>
          </a:xfrm>
          <a:prstGeom prst="rect">
            <a:avLst/>
          </a:prstGeom>
          <a:noFill/>
        </p:spPr>
        <p:txBody>
          <a:bodyPr wrap="square" lIns="0" rIns="0" tIns="0" bIns="0" anchor="t">
            <a:spAutoFit/>
          </a:bodyPr>
          <a:lstStyle/>
          <a:p>
            <a:pPr algn="l">
              <a:lnSpc>
                <a:spcPct val="135000"/>
              </a:lnSpc>
            </a:pPr>
            <a:r>
              <a:rPr sz="1600" b="0" i="0">
                <a:solidFill>
                  <a:srgbClr val="5A6B82"/>
                </a:solidFill>
                <a:latin typeface="DM Sans"/>
                <a:ea typeface="DM Sans"/>
                <a:cs typeface="DM Sans"/>
              </a:rPr>
              <a:t>The second question is whether another context</a:t>
            </a:r>
            <a:br/>
            <a:r>
              <a:rPr sz="1600" b="0" i="0">
                <a:solidFill>
                  <a:srgbClr val="5A6B82"/>
                </a:solidFill>
                <a:latin typeface="DM Sans"/>
                <a:ea typeface="DM Sans"/>
                <a:cs typeface="DM Sans"/>
              </a:rPr>
              <a:t>can recognize and use what you have built.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01</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Remove the</a:t>
            </a:r>
            <a:br/>
            <a:r>
              <a:rPr sz="3800" b="1" i="0">
                <a:solidFill>
                  <a:srgbClr val="0F2346"/>
                </a:solidFill>
                <a:latin typeface="Montserrat"/>
                <a:ea typeface="Montserrat"/>
                <a:cs typeface="Montserrat"/>
              </a:rPr>
              <a:t>company nouns</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Can the capability still be described?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Remove the company nouns.</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Cross out the employer, the internal programs, the systems,</a:t>
            </a:r>
            <a:br/>
            <a:r>
              <a:rPr sz="1600" b="0" i="0">
                <a:solidFill>
                  <a:srgbClr val="5A6B82"/>
                </a:solidFill>
                <a:latin typeface="DM Sans"/>
                <a:ea typeface="DM Sans"/>
                <a:cs typeface="DM Sans"/>
              </a:rPr>
              <a:t>the product names and the acronyms. Read what is left.</a:t>
            </a:r>
          </a:p>
        </p:txBody>
      </p:sp>
      <p:sp>
        <p:nvSpPr>
          <p:cNvPr id="6" name="Rectangle 5"/>
          <p:cNvSpPr/>
          <p:nvPr/>
        </p:nvSpPr>
        <p:spPr>
          <a:xfrm>
            <a:off x="762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302000"/>
            <a:ext cx="4826000" cy="50800"/>
          </a:xfrm>
          <a:prstGeom prst="rect">
            <a:avLst/>
          </a:prstGeom>
          <a:solidFill>
            <a:srgbClr val="5A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594100"/>
            <a:ext cx="4318000" cy="1270000"/>
          </a:xfrm>
          <a:prstGeom prst="rect">
            <a:avLst/>
          </a:prstGeom>
          <a:noFill/>
        </p:spPr>
        <p:txBody>
          <a:bodyPr wrap="square" lIns="0" rIns="0" tIns="0" bIns="0" anchor="t">
            <a:spAutoFit/>
          </a:bodyPr>
          <a:lstStyle/>
          <a:p>
            <a:pPr algn="l">
              <a:lnSpc>
                <a:spcPct val="112000"/>
              </a:lnSpc>
            </a:pPr>
            <a:r>
              <a:rPr sz="1200" b="1" i="0" spc="200">
                <a:solidFill>
                  <a:srgbClr val="5A6B82"/>
                </a:solidFill>
                <a:latin typeface="Montserrat"/>
                <a:ea typeface="Montserrat"/>
                <a:cs typeface="Montserrat"/>
              </a:rPr>
              <a:t>Company-bound description</a:t>
            </a:r>
          </a:p>
        </p:txBody>
      </p:sp>
      <p:sp>
        <p:nvSpPr>
          <p:cNvPr id="9" name="TextBox 8"/>
          <p:cNvSpPr txBox="1"/>
          <p:nvPr/>
        </p:nvSpPr>
        <p:spPr>
          <a:xfrm>
            <a:off x="1041400" y="4038600"/>
            <a:ext cx="4318000" cy="1270000"/>
          </a:xfrm>
          <a:prstGeom prst="rect">
            <a:avLst/>
          </a:prstGeom>
          <a:noFill/>
        </p:spPr>
        <p:txBody>
          <a:bodyPr wrap="square" lIns="0" rIns="0" tIns="0" bIns="0" anchor="t">
            <a:spAutoFit/>
          </a:bodyPr>
          <a:lstStyle/>
          <a:p>
            <a:pPr algn="l">
              <a:lnSpc>
                <a:spcPct val="122000"/>
              </a:lnSpc>
            </a:pPr>
            <a:r>
              <a:rPr sz="2200" b="1" i="0">
                <a:solidFill>
                  <a:srgbClr val="0F2346"/>
                </a:solidFill>
                <a:latin typeface="Montserrat"/>
                <a:ea typeface="Montserrat"/>
                <a:cs typeface="Montserrat"/>
              </a:rPr>
              <a:t>I own the QBR process</a:t>
            </a:r>
            <a:br/>
            <a:r>
              <a:rPr sz="2200" b="1" i="0">
                <a:solidFill>
                  <a:srgbClr val="0F2346"/>
                </a:solidFill>
                <a:latin typeface="Montserrat"/>
                <a:ea typeface="Montserrat"/>
                <a:cs typeface="Montserrat"/>
              </a:rPr>
              <a:t>for this business unit.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Remove the company nouns.</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Cross out the employer, the internal programs, the systems,</a:t>
            </a:r>
            <a:br/>
            <a:r>
              <a:rPr sz="1600" b="0" i="0">
                <a:solidFill>
                  <a:srgbClr val="5A6B82"/>
                </a:solidFill>
                <a:latin typeface="DM Sans"/>
                <a:ea typeface="DM Sans"/>
                <a:cs typeface="DM Sans"/>
              </a:rPr>
              <a:t>the product names and the acronyms. Read what is left.</a:t>
            </a:r>
          </a:p>
        </p:txBody>
      </p:sp>
      <p:sp>
        <p:nvSpPr>
          <p:cNvPr id="6" name="Rectangle 5"/>
          <p:cNvSpPr/>
          <p:nvPr/>
        </p:nvSpPr>
        <p:spPr>
          <a:xfrm>
            <a:off x="762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302000"/>
            <a:ext cx="4826000" cy="50800"/>
          </a:xfrm>
          <a:prstGeom prst="rect">
            <a:avLst/>
          </a:prstGeom>
          <a:solidFill>
            <a:srgbClr val="5A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594100"/>
            <a:ext cx="4318000" cy="1270000"/>
          </a:xfrm>
          <a:prstGeom prst="rect">
            <a:avLst/>
          </a:prstGeom>
          <a:noFill/>
        </p:spPr>
        <p:txBody>
          <a:bodyPr wrap="square" lIns="0" rIns="0" tIns="0" bIns="0" anchor="t">
            <a:spAutoFit/>
          </a:bodyPr>
          <a:lstStyle/>
          <a:p>
            <a:pPr algn="l">
              <a:lnSpc>
                <a:spcPct val="112000"/>
              </a:lnSpc>
            </a:pPr>
            <a:r>
              <a:rPr sz="1200" b="1" i="0" spc="200">
                <a:solidFill>
                  <a:srgbClr val="5A6B82"/>
                </a:solidFill>
                <a:latin typeface="Montserrat"/>
                <a:ea typeface="Montserrat"/>
                <a:cs typeface="Montserrat"/>
              </a:rPr>
              <a:t>Company-bound description</a:t>
            </a:r>
          </a:p>
        </p:txBody>
      </p:sp>
      <p:sp>
        <p:nvSpPr>
          <p:cNvPr id="9" name="TextBox 8"/>
          <p:cNvSpPr txBox="1"/>
          <p:nvPr/>
        </p:nvSpPr>
        <p:spPr>
          <a:xfrm>
            <a:off x="1041400" y="4038600"/>
            <a:ext cx="4318000" cy="1270000"/>
          </a:xfrm>
          <a:prstGeom prst="rect">
            <a:avLst/>
          </a:prstGeom>
          <a:noFill/>
        </p:spPr>
        <p:txBody>
          <a:bodyPr wrap="square" lIns="0" rIns="0" tIns="0" bIns="0" anchor="t">
            <a:spAutoFit/>
          </a:bodyPr>
          <a:lstStyle/>
          <a:p>
            <a:pPr algn="l">
              <a:lnSpc>
                <a:spcPct val="122000"/>
              </a:lnSpc>
            </a:pPr>
            <a:r>
              <a:rPr sz="2200" b="1" i="0">
                <a:solidFill>
                  <a:srgbClr val="0F2346"/>
                </a:solidFill>
                <a:latin typeface="Montserrat"/>
                <a:ea typeface="Montserrat"/>
                <a:cs typeface="Montserrat"/>
              </a:rPr>
              <a:t>I own the QBR process</a:t>
            </a:r>
            <a:br/>
            <a:r>
              <a:rPr sz="2200" b="1" i="0">
                <a:solidFill>
                  <a:srgbClr val="0F2346"/>
                </a:solidFill>
                <a:latin typeface="Montserrat"/>
                <a:ea typeface="Montserrat"/>
                <a:cs typeface="Montserrat"/>
              </a:rPr>
              <a:t>for this business unit.</a:t>
            </a:r>
          </a:p>
        </p:txBody>
      </p:sp>
      <p:sp>
        <p:nvSpPr>
          <p:cNvPr id="10" name="TextBox 9"/>
          <p:cNvSpPr txBox="1"/>
          <p:nvPr/>
        </p:nvSpPr>
        <p:spPr>
          <a:xfrm>
            <a:off x="5651500" y="4191000"/>
            <a:ext cx="1016000" cy="1270000"/>
          </a:xfrm>
          <a:prstGeom prst="rect">
            <a:avLst/>
          </a:prstGeom>
          <a:noFill/>
        </p:spPr>
        <p:txBody>
          <a:bodyPr wrap="square" lIns="0" rIns="0" tIns="0" bIns="0" anchor="t">
            <a:spAutoFit/>
          </a:bodyPr>
          <a:lstStyle/>
          <a:p>
            <a:pPr algn="ctr">
              <a:lnSpc>
                <a:spcPct val="100000"/>
              </a:lnSpc>
            </a:pPr>
            <a:r>
              <a:rPr sz="4500" b="0" i="0">
                <a:solidFill>
                  <a:srgbClr val="C9A84C"/>
                </a:solidFill>
                <a:latin typeface="Montserrat"/>
                <a:ea typeface="Montserrat"/>
                <a:cs typeface="Montserrat"/>
              </a:rPr>
              <a:t>→</a:t>
            </a:r>
          </a:p>
        </p:txBody>
      </p:sp>
      <p:sp>
        <p:nvSpPr>
          <p:cNvPr id="11" name="Rectangle 10"/>
          <p:cNvSpPr/>
          <p:nvPr/>
        </p:nvSpPr>
        <p:spPr>
          <a:xfrm>
            <a:off x="6604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04000" y="3302000"/>
            <a:ext cx="4826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83400" y="3594100"/>
            <a:ext cx="4381500" cy="1270000"/>
          </a:xfrm>
          <a:prstGeom prst="rect">
            <a:avLst/>
          </a:prstGeom>
          <a:noFill/>
        </p:spPr>
        <p:txBody>
          <a:bodyPr wrap="square" lIns="0" rIns="0" tIns="0" bIns="0" anchor="t">
            <a:spAutoFit/>
          </a:bodyPr>
          <a:lstStyle/>
          <a:p>
            <a:pPr algn="l">
              <a:lnSpc>
                <a:spcPct val="115000"/>
              </a:lnSpc>
            </a:pPr>
            <a:r>
              <a:rPr sz="1200" b="1" i="0" spc="200">
                <a:solidFill>
                  <a:srgbClr val="C9A84C"/>
                </a:solidFill>
                <a:latin typeface="Montserrat"/>
                <a:ea typeface="Montserrat"/>
                <a:cs typeface="Montserrat"/>
              </a:rPr>
              <a:t>What another employer</a:t>
            </a:r>
            <a:br/>
            <a:r>
              <a:rPr sz="1200" b="1" i="0" spc="200">
                <a:solidFill>
                  <a:srgbClr val="C9A84C"/>
                </a:solidFill>
                <a:latin typeface="Montserrat"/>
                <a:ea typeface="Montserrat"/>
                <a:cs typeface="Montserrat"/>
              </a:rPr>
              <a:t>can understand</a:t>
            </a:r>
          </a:p>
        </p:txBody>
      </p:sp>
      <p:sp>
        <p:nvSpPr>
          <p:cNvPr id="14" name="TextBox 13"/>
          <p:cNvSpPr txBox="1"/>
          <p:nvPr/>
        </p:nvSpPr>
        <p:spPr>
          <a:xfrm>
            <a:off x="6883400" y="4102100"/>
            <a:ext cx="4381500" cy="1270000"/>
          </a:xfrm>
          <a:prstGeom prst="rect">
            <a:avLst/>
          </a:prstGeom>
          <a:noFill/>
        </p:spPr>
        <p:txBody>
          <a:bodyPr wrap="square" lIns="0" rIns="0" tIns="0" bIns="0" anchor="t">
            <a:spAutoFit/>
          </a:bodyPr>
          <a:lstStyle/>
          <a:p>
            <a:pPr algn="l">
              <a:lnSpc>
                <a:spcPct val="130000"/>
              </a:lnSpc>
            </a:pPr>
            <a:r>
              <a:rPr sz="1500" b="1" i="0">
                <a:solidFill>
                  <a:srgbClr val="0F2346"/>
                </a:solidFill>
                <a:latin typeface="Montserrat"/>
                <a:ea typeface="Montserrat"/>
                <a:cs typeface="Montserrat"/>
              </a:rPr>
              <a:t>I combine incomplete operating</a:t>
            </a:r>
            <a:br/>
            <a:r>
              <a:rPr sz="1500" b="1" i="0">
                <a:solidFill>
                  <a:srgbClr val="0F2346"/>
                </a:solidFill>
                <a:latin typeface="Montserrat"/>
                <a:ea typeface="Montserrat"/>
                <a:cs typeface="Montserrat"/>
              </a:rPr>
              <a:t>data, surface the decision leaders</a:t>
            </a:r>
            <a:br/>
            <a:r>
              <a:rPr sz="1500" b="1" i="0">
                <a:solidFill>
                  <a:srgbClr val="0F2346"/>
                </a:solidFill>
                <a:latin typeface="Montserrat"/>
                <a:ea typeface="Montserrat"/>
                <a:cs typeface="Montserrat"/>
              </a:rPr>
              <a:t>are avoiding, and create a shared</a:t>
            </a:r>
            <a:br/>
            <a:r>
              <a:rPr sz="1500" b="1" i="0">
                <a:solidFill>
                  <a:srgbClr val="0F2346"/>
                </a:solidFill>
                <a:latin typeface="Montserrat"/>
                <a:ea typeface="Montserrat"/>
                <a:cs typeface="Montserrat"/>
              </a:rPr>
              <a:t>view of what needs to happen next.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02</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Find outside-context</a:t>
            </a:r>
            <a:br/>
            <a:r>
              <a:rPr sz="3800" b="1" i="0">
                <a:solidFill>
                  <a:srgbClr val="0F2346"/>
                </a:solidFill>
                <a:latin typeface="Montserrat"/>
                <a:ea typeface="Montserrat"/>
                <a:cs typeface="Montserrat"/>
              </a:rPr>
              <a:t>evidence</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Has the usefulness survived a change in context?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402209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1" name="TextBox 10"/>
          <p:cNvSpPr txBox="1"/>
          <p:nvPr/>
        </p:nvSpPr>
        <p:spPr>
          <a:xfrm>
            <a:off x="1524000" y="398399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External client or customer</a:t>
            </a:r>
          </a:p>
        </p:txBody>
      </p:sp>
      <p:sp>
        <p:nvSpPr>
          <p:cNvPr id="12" name="TextBox 11"/>
          <p:cNvSpPr txBox="1"/>
          <p:nvPr/>
        </p:nvSpPr>
        <p:spPr>
          <a:xfrm>
            <a:off x="1524000" y="433705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 capability created value beyond your immediate team.</a:t>
            </a:r>
          </a:p>
        </p:txBody>
      </p:sp>
      <p:sp>
        <p:nvSpPr>
          <p:cNvPr id="13" name="Rectangle 12"/>
          <p:cNvSpPr/>
          <p:nvPr/>
        </p:nvSpPr>
        <p:spPr>
          <a:xfrm>
            <a:off x="762000" y="46342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402209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1" name="TextBox 10"/>
          <p:cNvSpPr txBox="1"/>
          <p:nvPr/>
        </p:nvSpPr>
        <p:spPr>
          <a:xfrm>
            <a:off x="1524000" y="398399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External client or customer</a:t>
            </a:r>
          </a:p>
        </p:txBody>
      </p:sp>
      <p:sp>
        <p:nvSpPr>
          <p:cNvPr id="12" name="TextBox 11"/>
          <p:cNvSpPr txBox="1"/>
          <p:nvPr/>
        </p:nvSpPr>
        <p:spPr>
          <a:xfrm>
            <a:off x="1524000" y="433705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 capability created value beyond your immediate team.</a:t>
            </a:r>
          </a:p>
        </p:txBody>
      </p:sp>
      <p:sp>
        <p:nvSpPr>
          <p:cNvPr id="13" name="Rectangle 12"/>
          <p:cNvSpPr/>
          <p:nvPr/>
        </p:nvSpPr>
        <p:spPr>
          <a:xfrm>
            <a:off x="762000" y="46342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 y="48310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5" name="TextBox 14"/>
          <p:cNvSpPr txBox="1"/>
          <p:nvPr/>
        </p:nvSpPr>
        <p:spPr>
          <a:xfrm>
            <a:off x="1524000" y="47929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Former colleague</a:t>
            </a:r>
          </a:p>
        </p:txBody>
      </p:sp>
      <p:sp>
        <p:nvSpPr>
          <p:cNvPr id="16" name="TextBox 15"/>
          <p:cNvSpPr txBox="1"/>
          <p:nvPr/>
        </p:nvSpPr>
        <p:spPr>
          <a:xfrm>
            <a:off x="1524000" y="514604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They sought your judgment after the original context changed.</a:t>
            </a:r>
          </a:p>
        </p:txBody>
      </p:sp>
      <p:sp>
        <p:nvSpPr>
          <p:cNvPr id="17" name="Rectangle 16"/>
          <p:cNvSpPr/>
          <p:nvPr/>
        </p:nvSpPr>
        <p:spPr>
          <a:xfrm>
            <a:off x="762000" y="544322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402209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1" name="TextBox 10"/>
          <p:cNvSpPr txBox="1"/>
          <p:nvPr/>
        </p:nvSpPr>
        <p:spPr>
          <a:xfrm>
            <a:off x="1524000" y="398399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External client or customer</a:t>
            </a:r>
          </a:p>
        </p:txBody>
      </p:sp>
      <p:sp>
        <p:nvSpPr>
          <p:cNvPr id="12" name="TextBox 11"/>
          <p:cNvSpPr txBox="1"/>
          <p:nvPr/>
        </p:nvSpPr>
        <p:spPr>
          <a:xfrm>
            <a:off x="1524000" y="433705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 capability created value beyond your immediate team.</a:t>
            </a:r>
          </a:p>
        </p:txBody>
      </p:sp>
      <p:sp>
        <p:nvSpPr>
          <p:cNvPr id="13" name="Rectangle 12"/>
          <p:cNvSpPr/>
          <p:nvPr/>
        </p:nvSpPr>
        <p:spPr>
          <a:xfrm>
            <a:off x="762000" y="46342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 y="48310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5" name="TextBox 14"/>
          <p:cNvSpPr txBox="1"/>
          <p:nvPr/>
        </p:nvSpPr>
        <p:spPr>
          <a:xfrm>
            <a:off x="1524000" y="47929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Former colleague</a:t>
            </a:r>
          </a:p>
        </p:txBody>
      </p:sp>
      <p:sp>
        <p:nvSpPr>
          <p:cNvPr id="16" name="TextBox 15"/>
          <p:cNvSpPr txBox="1"/>
          <p:nvPr/>
        </p:nvSpPr>
        <p:spPr>
          <a:xfrm>
            <a:off x="1524000" y="514604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They sought your judgment after the original context changed.</a:t>
            </a:r>
          </a:p>
        </p:txBody>
      </p:sp>
      <p:sp>
        <p:nvSpPr>
          <p:cNvPr id="17" name="Rectangle 16"/>
          <p:cNvSpPr/>
          <p:nvPr/>
        </p:nvSpPr>
        <p:spPr>
          <a:xfrm>
            <a:off x="762000" y="544322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000" y="564007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04</a:t>
            </a:r>
          </a:p>
        </p:txBody>
      </p:sp>
      <p:sp>
        <p:nvSpPr>
          <p:cNvPr id="19" name="TextBox 18"/>
          <p:cNvSpPr txBox="1"/>
          <p:nvPr/>
        </p:nvSpPr>
        <p:spPr>
          <a:xfrm>
            <a:off x="1524000" y="560197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Another setting or industry contribution</a:t>
            </a:r>
          </a:p>
        </p:txBody>
      </p:sp>
      <p:sp>
        <p:nvSpPr>
          <p:cNvPr id="20" name="TextBox 19"/>
          <p:cNvSpPr txBox="1"/>
          <p:nvPr/>
        </p:nvSpPr>
        <p:spPr>
          <a:xfrm>
            <a:off x="1524000" y="595503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 similar problem or approach remained useful elsewhere.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03</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Read the</a:t>
            </a:r>
            <a:br/>
            <a:r>
              <a:rPr sz="3800" b="1" i="0">
                <a:solidFill>
                  <a:srgbClr val="0F2346"/>
                </a:solidFill>
                <a:latin typeface="Montserrat"/>
                <a:ea typeface="Montserrat"/>
                <a:cs typeface="Montserrat"/>
              </a:rPr>
              <a:t>last 90 days</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What new judgment did the work build?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
        <p:nvSpPr>
          <p:cNvPr id="9" name="TextBox 8"/>
          <p:cNvSpPr txBox="1"/>
          <p:nvPr/>
        </p:nvSpPr>
        <p:spPr>
          <a:xfrm>
            <a:off x="762000" y="44069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3815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unfamiliar problem did I have to solve?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
        <p:nvSpPr>
          <p:cNvPr id="9" name="TextBox 8"/>
          <p:cNvSpPr txBox="1"/>
          <p:nvPr/>
        </p:nvSpPr>
        <p:spPr>
          <a:xfrm>
            <a:off x="762000" y="44069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3815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unfamiliar problem did I have to solve?</a:t>
            </a:r>
          </a:p>
        </p:txBody>
      </p:sp>
      <p:sp>
        <p:nvSpPr>
          <p:cNvPr id="11" name="TextBox 10"/>
          <p:cNvSpPr txBox="1"/>
          <p:nvPr/>
        </p:nvSpPr>
        <p:spPr>
          <a:xfrm>
            <a:off x="762000" y="49530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02</a:t>
            </a:r>
          </a:p>
        </p:txBody>
      </p:sp>
      <p:sp>
        <p:nvSpPr>
          <p:cNvPr id="12" name="TextBox 11"/>
          <p:cNvSpPr txBox="1"/>
          <p:nvPr/>
        </p:nvSpPr>
        <p:spPr>
          <a:xfrm>
            <a:off x="1524000" y="49276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decision can I now make with less help?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
        <p:nvSpPr>
          <p:cNvPr id="9" name="TextBox 8"/>
          <p:cNvSpPr txBox="1"/>
          <p:nvPr/>
        </p:nvSpPr>
        <p:spPr>
          <a:xfrm>
            <a:off x="762000" y="44069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3815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unfamiliar problem did I have to solve?</a:t>
            </a:r>
          </a:p>
        </p:txBody>
      </p:sp>
      <p:sp>
        <p:nvSpPr>
          <p:cNvPr id="11" name="TextBox 10"/>
          <p:cNvSpPr txBox="1"/>
          <p:nvPr/>
        </p:nvSpPr>
        <p:spPr>
          <a:xfrm>
            <a:off x="762000" y="49530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02</a:t>
            </a:r>
          </a:p>
        </p:txBody>
      </p:sp>
      <p:sp>
        <p:nvSpPr>
          <p:cNvPr id="12" name="TextBox 11"/>
          <p:cNvSpPr txBox="1"/>
          <p:nvPr/>
        </p:nvSpPr>
        <p:spPr>
          <a:xfrm>
            <a:off x="1524000" y="49276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decision can I now make with less help?</a:t>
            </a:r>
          </a:p>
        </p:txBody>
      </p:sp>
      <p:sp>
        <p:nvSpPr>
          <p:cNvPr id="13" name="TextBox 12"/>
          <p:cNvSpPr txBox="1"/>
          <p:nvPr/>
        </p:nvSpPr>
        <p:spPr>
          <a:xfrm>
            <a:off x="762000" y="54991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03</a:t>
            </a:r>
          </a:p>
        </p:txBody>
      </p:sp>
      <p:sp>
        <p:nvSpPr>
          <p:cNvPr id="14" name="TextBox 13"/>
          <p:cNvSpPr txBox="1"/>
          <p:nvPr/>
        </p:nvSpPr>
        <p:spPr>
          <a:xfrm>
            <a:off x="1524000" y="54737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constraint, audience or context did I learn to work across?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THREE TESTS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600" b="1" i="0">
                <a:solidFill>
                  <a:srgbClr val="0F2346"/>
                </a:solidFill>
                <a:latin typeface="Montserrat"/>
                <a:ea typeface="Montserrat"/>
                <a:cs typeface="Montserrat"/>
              </a:rPr>
              <a:t>Together they separate internal</a:t>
            </a:r>
            <a:br/>
            <a:r>
              <a:rPr sz="2600" b="1" i="0">
                <a:solidFill>
                  <a:srgbClr val="0F2346"/>
                </a:solidFill>
                <a:latin typeface="Montserrat"/>
                <a:ea typeface="Montserrat"/>
                <a:cs typeface="Montserrat"/>
              </a:rPr>
              <a:t>value from external marketability.</a:t>
            </a:r>
          </a:p>
        </p:txBody>
      </p:sp>
      <p:sp>
        <p:nvSpPr>
          <p:cNvPr id="5" name="Rectangle 4"/>
          <p:cNvSpPr/>
          <p:nvPr/>
        </p:nvSpPr>
        <p:spPr>
          <a:xfrm>
            <a:off x="7620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14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01</a:t>
            </a:r>
          </a:p>
        </p:txBody>
      </p:sp>
      <p:sp>
        <p:nvSpPr>
          <p:cNvPr id="8" name="TextBox 7"/>
          <p:cNvSpPr txBox="1"/>
          <p:nvPr/>
        </p:nvSpPr>
        <p:spPr>
          <a:xfrm>
            <a:off x="104140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Remove the</a:t>
            </a:r>
            <a:br/>
            <a:r>
              <a:rPr sz="1700" b="1" i="0">
                <a:solidFill>
                  <a:srgbClr val="0F2346"/>
                </a:solidFill>
                <a:latin typeface="Montserrat"/>
                <a:ea typeface="Montserrat"/>
                <a:cs typeface="Montserrat"/>
              </a:rPr>
              <a:t>company nouns</a:t>
            </a:r>
          </a:p>
        </p:txBody>
      </p:sp>
      <p:sp>
        <p:nvSpPr>
          <p:cNvPr id="9" name="Rectangle 8"/>
          <p:cNvSpPr/>
          <p:nvPr/>
        </p:nvSpPr>
        <p:spPr>
          <a:xfrm>
            <a:off x="441325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1325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9265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02</a:t>
            </a:r>
          </a:p>
        </p:txBody>
      </p:sp>
      <p:sp>
        <p:nvSpPr>
          <p:cNvPr id="12" name="TextBox 11"/>
          <p:cNvSpPr txBox="1"/>
          <p:nvPr/>
        </p:nvSpPr>
        <p:spPr>
          <a:xfrm>
            <a:off x="469265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Find outside-context</a:t>
            </a:r>
            <a:br/>
            <a:r>
              <a:rPr sz="1700" b="1" i="0">
                <a:solidFill>
                  <a:srgbClr val="0F2346"/>
                </a:solidFill>
                <a:latin typeface="Montserrat"/>
                <a:ea typeface="Montserrat"/>
                <a:cs typeface="Montserrat"/>
              </a:rPr>
              <a:t>evidence</a:t>
            </a:r>
          </a:p>
        </p:txBody>
      </p:sp>
      <p:sp>
        <p:nvSpPr>
          <p:cNvPr id="13" name="Rectangle 12"/>
          <p:cNvSpPr/>
          <p:nvPr/>
        </p:nvSpPr>
        <p:spPr>
          <a:xfrm>
            <a:off x="80645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45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39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03</a:t>
            </a:r>
          </a:p>
        </p:txBody>
      </p:sp>
      <p:sp>
        <p:nvSpPr>
          <p:cNvPr id="16" name="TextBox 15"/>
          <p:cNvSpPr txBox="1"/>
          <p:nvPr/>
        </p:nvSpPr>
        <p:spPr>
          <a:xfrm>
            <a:off x="834390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Read the</a:t>
            </a:r>
            <a:br/>
            <a:r>
              <a:rPr sz="1700" b="1" i="0">
                <a:solidFill>
                  <a:srgbClr val="0F2346"/>
                </a:solidFill>
                <a:latin typeface="Montserrat"/>
                <a:ea typeface="Montserrat"/>
                <a:cs typeface="Montserrat"/>
              </a:rPr>
              <a:t>last 90 days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READING THE PATTERN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them together.</a:t>
            </a:r>
          </a:p>
        </p:txBody>
      </p:sp>
      <p:sp>
        <p:nvSpPr>
          <p:cNvPr id="5" name="TextBox 4"/>
          <p:cNvSpPr txBox="1"/>
          <p:nvPr/>
        </p:nvSpPr>
        <p:spPr>
          <a:xfrm>
            <a:off x="762000" y="3175000"/>
            <a:ext cx="10668000" cy="1270000"/>
          </a:xfrm>
          <a:prstGeom prst="rect">
            <a:avLst/>
          </a:prstGeom>
          <a:noFill/>
        </p:spPr>
        <p:txBody>
          <a:bodyPr wrap="square" lIns="0" rIns="0" tIns="0" bIns="0" anchor="t">
            <a:spAutoFit/>
          </a:bodyPr>
          <a:lstStyle/>
          <a:p>
            <a:pPr algn="l">
              <a:lnSpc>
                <a:spcPct val="115000"/>
              </a:lnSpc>
            </a:pPr>
            <a:r>
              <a:rPr sz="3300" b="1" i="0">
                <a:solidFill>
                  <a:srgbClr val="F5F1E8"/>
                </a:solidFill>
                <a:latin typeface="Montserrat"/>
                <a:ea typeface="Montserrat"/>
                <a:cs typeface="Montserrat"/>
              </a:rPr>
              <a:t>Is my judgment growing?</a:t>
            </a:r>
          </a:p>
        </p:txBody>
      </p:sp>
      <p:sp>
        <p:nvSpPr>
          <p:cNvPr id="6" name="Rectangle 5"/>
          <p:cNvSpPr/>
          <p:nvPr/>
        </p:nvSpPr>
        <p:spPr>
          <a:xfrm>
            <a:off x="762000" y="393700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4267200"/>
            <a:ext cx="10668000" cy="1270000"/>
          </a:xfrm>
          <a:prstGeom prst="rect">
            <a:avLst/>
          </a:prstGeom>
          <a:noFill/>
        </p:spPr>
        <p:txBody>
          <a:bodyPr wrap="square" lIns="0" rIns="0" tIns="0" bIns="0" anchor="t">
            <a:spAutoFit/>
          </a:bodyPr>
          <a:lstStyle/>
          <a:p>
            <a:pPr algn="l">
              <a:lnSpc>
                <a:spcPct val="115000"/>
              </a:lnSpc>
            </a:pPr>
            <a:r>
              <a:rPr sz="3300" b="1" i="0">
                <a:solidFill>
                  <a:srgbClr val="C9A84C"/>
                </a:solidFill>
                <a:latin typeface="Montserrat"/>
                <a:ea typeface="Montserrat"/>
                <a:cs typeface="Montserrat"/>
              </a:rPr>
              <a:t>Can another context use it?</a:t>
            </a:r>
          </a:p>
        </p:txBody>
      </p:sp>
      <p:sp>
        <p:nvSpPr>
          <p:cNvPr id="8" name="TextBox 7"/>
          <p:cNvSpPr txBox="1"/>
          <p:nvPr/>
        </p:nvSpPr>
        <p:spPr>
          <a:xfrm>
            <a:off x="762000" y="5397500"/>
            <a:ext cx="9906000" cy="1270000"/>
          </a:xfrm>
          <a:prstGeom prst="rect">
            <a:avLst/>
          </a:prstGeom>
          <a:noFill/>
        </p:spPr>
        <p:txBody>
          <a:bodyPr wrap="square" lIns="0" rIns="0" tIns="0" bIns="0" anchor="t">
            <a:spAutoFit/>
          </a:bodyPr>
          <a:lstStyle/>
          <a:p>
            <a:pPr algn="l">
              <a:lnSpc>
                <a:spcPct val="135000"/>
              </a:lnSpc>
            </a:pPr>
            <a:r>
              <a:rPr sz="1500" b="0" i="0">
                <a:solidFill>
                  <a:srgbClr val="B9C3D2"/>
                </a:solidFill>
                <a:latin typeface="DM Sans"/>
                <a:ea typeface="DM Sans"/>
                <a:cs typeface="DM Sans"/>
              </a:rPr>
              <a:t>One familiar sign is not a diagnosis. Read the pattern across growth</a:t>
            </a:r>
            <a:br/>
            <a:r>
              <a:rPr sz="1500" b="0" i="0">
                <a:solidFill>
                  <a:srgbClr val="B9C3D2"/>
                </a:solidFill>
                <a:latin typeface="DM Sans"/>
                <a:ea typeface="DM Sans"/>
                <a:cs typeface="DM Sans"/>
              </a:rPr>
              <a:t>and portability, and keep the reading provisional.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39471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0" name="TextBox 9"/>
          <p:cNvSpPr txBox="1"/>
          <p:nvPr/>
        </p:nvSpPr>
        <p:spPr>
          <a:xfrm>
            <a:off x="1524000" y="390906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Make the capability visible outside the immediate team</a:t>
            </a:r>
            <a:br/>
            <a:r>
              <a:rPr sz="1900" b="1" i="0">
                <a:solidFill>
                  <a:srgbClr val="0F2346"/>
                </a:solidFill>
                <a:latin typeface="Montserrat"/>
                <a:ea typeface="Montserrat"/>
                <a:cs typeface="Montserrat"/>
              </a:rPr>
              <a:t>or function.</a:t>
            </a:r>
          </a:p>
        </p:txBody>
      </p:sp>
      <p:sp>
        <p:nvSpPr>
          <p:cNvPr id="11" name="Rectangle 10"/>
          <p:cNvSpPr/>
          <p:nvPr/>
        </p:nvSpPr>
        <p:spPr>
          <a:xfrm>
            <a:off x="762000" y="46088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39471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0" name="TextBox 9"/>
          <p:cNvSpPr txBox="1"/>
          <p:nvPr/>
        </p:nvSpPr>
        <p:spPr>
          <a:xfrm>
            <a:off x="1524000" y="390906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Make the capability visible outside the immediate team</a:t>
            </a:r>
            <a:br/>
            <a:r>
              <a:rPr sz="1900" b="1" i="0">
                <a:solidFill>
                  <a:srgbClr val="0F2346"/>
                </a:solidFill>
                <a:latin typeface="Montserrat"/>
                <a:ea typeface="Montserrat"/>
                <a:cs typeface="Montserrat"/>
              </a:rPr>
              <a:t>or function.</a:t>
            </a:r>
          </a:p>
        </p:txBody>
      </p:sp>
      <p:sp>
        <p:nvSpPr>
          <p:cNvPr id="11" name="Rectangle 10"/>
          <p:cNvSpPr/>
          <p:nvPr/>
        </p:nvSpPr>
        <p:spPr>
          <a:xfrm>
            <a:off x="762000" y="46088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48437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3" name="TextBox 12"/>
          <p:cNvSpPr txBox="1"/>
          <p:nvPr/>
        </p:nvSpPr>
        <p:spPr>
          <a:xfrm>
            <a:off x="1524000" y="48056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Document knowledge or results that exist mainly in your head.</a:t>
            </a:r>
          </a:p>
        </p:txBody>
      </p:sp>
      <p:sp>
        <p:nvSpPr>
          <p:cNvPr id="14" name="Rectangle 13"/>
          <p:cNvSpPr/>
          <p:nvPr/>
        </p:nvSpPr>
        <p:spPr>
          <a:xfrm>
            <a:off x="762000" y="521589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39471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0" name="TextBox 9"/>
          <p:cNvSpPr txBox="1"/>
          <p:nvPr/>
        </p:nvSpPr>
        <p:spPr>
          <a:xfrm>
            <a:off x="1524000" y="390906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Make the capability visible outside the immediate team</a:t>
            </a:r>
            <a:br/>
            <a:r>
              <a:rPr sz="1900" b="1" i="0">
                <a:solidFill>
                  <a:srgbClr val="0F2346"/>
                </a:solidFill>
                <a:latin typeface="Montserrat"/>
                <a:ea typeface="Montserrat"/>
                <a:cs typeface="Montserrat"/>
              </a:rPr>
              <a:t>or function.</a:t>
            </a:r>
          </a:p>
        </p:txBody>
      </p:sp>
      <p:sp>
        <p:nvSpPr>
          <p:cNvPr id="11" name="Rectangle 10"/>
          <p:cNvSpPr/>
          <p:nvPr/>
        </p:nvSpPr>
        <p:spPr>
          <a:xfrm>
            <a:off x="762000" y="46088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48437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3" name="TextBox 12"/>
          <p:cNvSpPr txBox="1"/>
          <p:nvPr/>
        </p:nvSpPr>
        <p:spPr>
          <a:xfrm>
            <a:off x="1524000" y="48056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Document knowledge or results that exist mainly in your head.</a:t>
            </a:r>
          </a:p>
        </p:txBody>
      </p:sp>
      <p:sp>
        <p:nvSpPr>
          <p:cNvPr id="14" name="Rectangle 13"/>
          <p:cNvSpPr/>
          <p:nvPr/>
        </p:nvSpPr>
        <p:spPr>
          <a:xfrm>
            <a:off x="762000" y="521589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 y="545084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04</a:t>
            </a:r>
          </a:p>
        </p:txBody>
      </p:sp>
      <p:sp>
        <p:nvSpPr>
          <p:cNvPr id="16" name="TextBox 15"/>
          <p:cNvSpPr txBox="1"/>
          <p:nvPr/>
        </p:nvSpPr>
        <p:spPr>
          <a:xfrm>
            <a:off x="1524000" y="541274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Take on an adjacent problem that forces the capability</a:t>
            </a:r>
            <a:br/>
            <a:r>
              <a:rPr sz="1900" b="1" i="0">
                <a:solidFill>
                  <a:srgbClr val="0F2346"/>
                </a:solidFill>
                <a:latin typeface="Montserrat"/>
                <a:ea typeface="Montserrat"/>
                <a:cs typeface="Montserrat"/>
              </a:rPr>
              <a:t>into a different context.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eldkit-page-06.png"/>
          <p:cNvPicPr>
            <a:picLocks noChangeAspect="1"/>
          </p:cNvPicPr>
          <p:nvPr/>
        </p:nvPicPr>
        <p:blipFill>
          <a:blip r:embed="rId2"/>
          <a:stretch>
            <a:fillRect/>
          </a:stretch>
        </p:blipFill>
        <p:spPr>
          <a:xfrm rot="21180000">
            <a:off x="6414655" y="1206500"/>
            <a:ext cx="2728191" cy="3530600"/>
          </a:xfrm>
          <a:prstGeom prst="rect">
            <a:avLst/>
          </a:prstGeom>
        </p:spPr>
      </p:pic>
      <p:pic>
        <p:nvPicPr>
          <p:cNvPr id="4" name="Picture 3" descr="fieldkit-cover.png"/>
          <p:cNvPicPr>
            <a:picLocks noChangeAspect="1"/>
          </p:cNvPicPr>
          <p:nvPr/>
        </p:nvPicPr>
        <p:blipFill>
          <a:blip r:embed="rId3"/>
          <a:stretch>
            <a:fillRect/>
          </a:stretch>
        </p:blipFill>
        <p:spPr>
          <a:xfrm>
            <a:off x="8066232" y="812800"/>
            <a:ext cx="3552536" cy="4597400"/>
          </a:xfrm>
          <a:prstGeom prst="rect">
            <a:avLst/>
          </a:prstGeom>
        </p:spPr>
      </p:pic>
      <p:sp>
        <p:nvSpPr>
          <p:cNvPr id="5" name="TextBox 4"/>
          <p:cNvSpPr txBox="1"/>
          <p:nvPr/>
        </p:nvSpPr>
        <p:spPr>
          <a:xfrm>
            <a:off x="762000" y="2984500"/>
            <a:ext cx="762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CAPABILITY FORMATION FIELD KIT</a:t>
            </a:r>
          </a:p>
        </p:txBody>
      </p:sp>
      <p:sp>
        <p:nvSpPr>
          <p:cNvPr id="6" name="TextBox 5"/>
          <p:cNvSpPr txBox="1"/>
          <p:nvPr/>
        </p:nvSpPr>
        <p:spPr>
          <a:xfrm>
            <a:off x="762000" y="3289300"/>
            <a:ext cx="5588000" cy="1270000"/>
          </a:xfrm>
          <a:prstGeom prst="rect">
            <a:avLst/>
          </a:prstGeom>
          <a:noFill/>
        </p:spPr>
        <p:txBody>
          <a:bodyPr wrap="square" lIns="0" rIns="0" tIns="0" bIns="0" anchor="t">
            <a:spAutoFit/>
          </a:bodyPr>
          <a:lstStyle/>
          <a:p>
            <a:pPr algn="l">
              <a:lnSpc>
                <a:spcPct val="110000"/>
              </a:lnSpc>
            </a:pPr>
            <a:r>
              <a:rPr sz="3200" b="1" i="0">
                <a:solidFill>
                  <a:srgbClr val="0F2346"/>
                </a:solidFill>
                <a:latin typeface="Montserrat"/>
                <a:ea typeface="Montserrat"/>
                <a:cs typeface="Montserrat"/>
              </a:rPr>
              <a:t>Is your job still</a:t>
            </a:r>
            <a:br/>
            <a:r>
              <a:rPr sz="3200" b="1" i="0">
                <a:solidFill>
                  <a:srgbClr val="0F2346"/>
                </a:solidFill>
                <a:latin typeface="Montserrat"/>
                <a:ea typeface="Montserrat"/>
                <a:cs typeface="Montserrat"/>
              </a:rPr>
              <a:t>building you?</a:t>
            </a:r>
          </a:p>
        </p:txBody>
      </p:sp>
      <p:sp>
        <p:nvSpPr>
          <p:cNvPr id="7" name="TextBox 6"/>
          <p:cNvSpPr txBox="1"/>
          <p:nvPr/>
        </p:nvSpPr>
        <p:spPr>
          <a:xfrm>
            <a:off x="762000" y="4394200"/>
            <a:ext cx="5334000" cy="1270000"/>
          </a:xfrm>
          <a:prstGeom prst="rect">
            <a:avLst/>
          </a:prstGeom>
          <a:noFill/>
        </p:spPr>
        <p:txBody>
          <a:bodyPr wrap="square" lIns="0" rIns="0" tIns="0" bIns="0" anchor="t">
            <a:spAutoFit/>
          </a:bodyPr>
          <a:lstStyle/>
          <a:p>
            <a:pPr algn="l">
              <a:lnSpc>
                <a:spcPct val="132000"/>
              </a:lnSpc>
            </a:pPr>
            <a:r>
              <a:rPr sz="1500" b="0" i="0">
                <a:solidFill>
                  <a:srgbClr val="5A6B82"/>
                </a:solidFill>
                <a:latin typeface="DM Sans"/>
                <a:ea typeface="DM Sans"/>
                <a:cs typeface="DM Sans"/>
              </a:rPr>
              <a:t>Complete a private, evidence-led career position</a:t>
            </a:r>
            <a:br/>
            <a:r>
              <a:rPr sz="1500" b="0" i="0">
                <a:solidFill>
                  <a:srgbClr val="5A6B82"/>
                </a:solidFill>
                <a:latin typeface="DM Sans"/>
                <a:ea typeface="DM Sans"/>
                <a:cs typeface="DM Sans"/>
              </a:rPr>
              <a:t>assessment using the last 90 days of your</a:t>
            </a:r>
            <a:br/>
            <a:r>
              <a:rPr sz="1500" b="0" i="0">
                <a:solidFill>
                  <a:srgbClr val="5A6B82"/>
                </a:solidFill>
                <a:latin typeface="DM Sans"/>
                <a:ea typeface="DM Sans"/>
                <a:cs typeface="DM Sans"/>
              </a:rPr>
              <a:t>actual work.</a:t>
            </a:r>
          </a:p>
        </p:txBody>
      </p:sp>
      <p:sp>
        <p:nvSpPr>
          <p:cNvPr id="8" name="Rectangle 7"/>
          <p:cNvSpPr/>
          <p:nvPr/>
        </p:nvSpPr>
        <p:spPr>
          <a:xfrm>
            <a:off x="762000" y="5372100"/>
            <a:ext cx="4572000" cy="6096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5372100"/>
            <a:ext cx="4572000" cy="609600"/>
          </a:xfrm>
          <a:prstGeom prst="rect">
            <a:avLst/>
          </a:prstGeom>
          <a:noFill/>
        </p:spPr>
        <p:txBody>
          <a:bodyPr wrap="square" lIns="0" rIns="0" tIns="0" bIns="0" anchor="ctr">
            <a:spAutoFit/>
          </a:bodyPr>
          <a:lstStyle/>
          <a:p>
            <a:pPr algn="ctr">
              <a:lnSpc>
                <a:spcPct val="112000"/>
              </a:lnSpc>
            </a:pPr>
            <a:r>
              <a:rPr sz="2000" b="1" i="0">
                <a:solidFill>
                  <a:srgbClr val="F5F1E8"/>
                </a:solidFill>
                <a:latin typeface="Montserrat"/>
                <a:ea typeface="Montserrat"/>
                <a:cs typeface="Montserrat"/>
              </a:rPr>
              <a:t>temidayoafonja.com/fieldkit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933700"/>
            <a:ext cx="5715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4" name="TextBox 3"/>
          <p:cNvSpPr txBox="1"/>
          <p:nvPr/>
        </p:nvSpPr>
        <p:spPr>
          <a:xfrm>
            <a:off x="762000" y="3276600"/>
            <a:ext cx="6096000" cy="1270000"/>
          </a:xfrm>
          <a:prstGeom prst="rect">
            <a:avLst/>
          </a:prstGeom>
          <a:noFill/>
        </p:spPr>
        <p:txBody>
          <a:bodyPr wrap="square" lIns="0" rIns="0" tIns="0" bIns="0" anchor="t">
            <a:spAutoFit/>
          </a:bodyPr>
          <a:lstStyle/>
          <a:p>
            <a:pPr algn="l">
              <a:lnSpc>
                <a:spcPct val="110000"/>
              </a:lnSpc>
            </a:pPr>
            <a:r>
              <a:rPr sz="4000" b="1" i="0">
                <a:solidFill>
                  <a:srgbClr val="F5F1E8"/>
                </a:solidFill>
                <a:latin typeface="Montserrat"/>
                <a:ea typeface="Montserrat"/>
                <a:cs typeface="Montserrat"/>
              </a:rPr>
              <a:t>Before You Quit</a:t>
            </a:r>
            <a:br/>
            <a:r>
              <a:rPr sz="4000" b="1" i="0">
                <a:solidFill>
                  <a:srgbClr val="F5F1E8"/>
                </a:solidFill>
                <a:latin typeface="Montserrat"/>
                <a:ea typeface="Montserrat"/>
                <a:cs typeface="Montserrat"/>
              </a:rPr>
              <a:t>Your Job, Check</a:t>
            </a:r>
            <a:br/>
            <a:r>
              <a:rPr sz="4000" b="1" i="0">
                <a:solidFill>
                  <a:srgbClr val="F5F1E8"/>
                </a:solidFill>
                <a:latin typeface="Montserrat"/>
                <a:ea typeface="Montserrat"/>
                <a:cs typeface="Montserrat"/>
              </a:rPr>
              <a:t>These 3 Things</a:t>
            </a:r>
          </a:p>
        </p:txBody>
      </p:sp>
      <p:sp>
        <p:nvSpPr>
          <p:cNvPr id="5" name="Rectangle 4"/>
          <p:cNvSpPr/>
          <p:nvPr/>
        </p:nvSpPr>
        <p:spPr>
          <a:xfrm>
            <a:off x="762000" y="5283200"/>
            <a:ext cx="1270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871200" y="589280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131550" y="5892800"/>
            <a:ext cx="203200" cy="2032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87120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13155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