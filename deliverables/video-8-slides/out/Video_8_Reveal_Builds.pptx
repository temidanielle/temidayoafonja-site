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0:57.</a:t>
            </a:r>
          </a:p>
          <a:p>
            <a:r>
              <a:t>First visual after the hook. Begin full screen on Temidayo; this lands only after the opening distinction and the viewer promise.</a:t>
            </a:r>
          </a:p>
          <a:p>
            <a:r>
              <a:t>Reveal the first statement, hold it, then bring in the second. The gap between them is the whole video — do not rush it.</a:t>
            </a:r>
          </a:p>
          <a:p>
            <a:r>
              <a:t>v2.2 RESEARCH ALIGNMENT: the video now opens on the audience pain — “direct industry experience required” — held FULL SCREEN on Temidayo before this slide appears. This slide is the answer to that line, so it must not arrive early. The payoff promise follows at about 0:24 and the lived evidence from about 0:34.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0:57.</a:t>
            </a:r>
          </a:p>
          <a:p>
            <a:r>
              <a:t>First visual after the hook. Begin full screen on Temidayo; this lands only after the opening distinction and the viewer promise.</a:t>
            </a:r>
          </a:p>
          <a:p>
            <a:r>
              <a:t>Reveal the first statement, hold it, then bring in the second. The gap between them is the whole video — do not rush it.</a:t>
            </a:r>
          </a:p>
          <a:p>
            <a:r>
              <a:t>v2.2 RESEARCH ALIGNMENT: the video now opens on the audience pain — “direct industry experience required” — held FULL SCREEN on Temidayo before this slide appears. This slide is the answer to that line, so it must not arrive early. The payoff promise follows at about 0:24 and the lived evidence from about 0:34.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1:45.</a:t>
            </a:r>
          </a:p>
          <a:p>
            <a:r>
              <a:t>Read the six as a list she is walking through, not as a grid to get past. Incentives is the one viewers underestimate — give it a beat.</a:t>
            </a:r>
          </a:p>
          <a:p>
            <a:r>
              <a:t>The navy band is the relief line. It reframes the whole problem from competence to information, so let it land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1:45.</a:t>
            </a:r>
          </a:p>
          <a:p>
            <a:r>
              <a:t>Read the six as a list she is walking through, not as a grid to get past. Incentives is the one viewers underestimate — give it a beat.</a:t>
            </a:r>
          </a:p>
          <a:p>
            <a:r>
              <a:t>The navy band is the relief line. It reframes the whole problem from competence to information, so let it land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2:36.</a:t>
            </a:r>
          </a:p>
          <a:p>
            <a:r>
              <a:t>One row per beat. This is the spine of the video: slides 4, 5 and 6 open each of the three in turn.</a:t>
            </a:r>
          </a:p>
          <a:p>
            <a:r>
              <a:t>The reason to separate them is that they have different remedies. Say that line here rather than saving it — it is what makes the slide useful.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2:36.</a:t>
            </a:r>
          </a:p>
          <a:p>
            <a:r>
              <a:t>One row per beat. This is the spine of the video: slides 4, 5 and 6 open each of the three in turn.</a:t>
            </a:r>
          </a:p>
          <a:p>
            <a:r>
              <a:t>The reason to separate them is that they have different remedies. Say that line here rather than saving it — it is what makes the slide useful.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2:36.</a:t>
            </a:r>
          </a:p>
          <a:p>
            <a:r>
              <a:t>One row per beat. This is the spine of the video: slides 4, 5 and 6 open each of the three in turn.</a:t>
            </a:r>
          </a:p>
          <a:p>
            <a:r>
              <a:t>The reason to separate them is that they have different remedies. Say that line here rather than saving it — it is what makes the slide useful.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2:48.</a:t>
            </a:r>
          </a:p>
          <a:p>
            <a:r>
              <a:t>Concrete examples, not adjectives. Adaptable, strategic and fast learner are explicitly rejected later — do not let them in here.</a:t>
            </a:r>
          </a:p>
          <a:p>
            <a:r>
              <a:t>Invite the viewer to add two of their own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2:48.</a:t>
            </a:r>
          </a:p>
          <a:p>
            <a:r>
              <a:t>Concrete examples, not adjectives. Adaptable, strategic and fast learner are explicitly rejected later — do not let them in here.</a:t>
            </a:r>
          </a:p>
          <a:p>
            <a:r>
              <a:t>Invite the viewer to add two of their own before advancing.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3:36.</a:t>
            </a:r>
          </a:p>
          <a:p>
            <a:r>
              <a:t>The last line is the reassurance the viewer came for, so deliver it level rather than warmly — it is a finding, not comfort.</a:t>
            </a:r>
          </a:p>
          <a:p>
            <a:r>
              <a:t>Do not promise the gap closes quickly. Say it closes faster than expected when someone is deliberate about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3:36.</a:t>
            </a:r>
          </a:p>
          <a:p>
            <a:r>
              <a:t>The last line is the reassurance the viewer came for, so deliver it level rather than warmly — it is a finding, not comfort.</a:t>
            </a:r>
          </a:p>
          <a:p>
            <a:r>
              <a:t>Do not promise the gap closes quickly. Say it closes faster than expected when someone is deliberate about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4:29.</a:t>
            </a:r>
          </a:p>
          <a:p>
            <a:r>
              <a:t>One state, no build. The three cases are more useful read together than revealed one at a time.</a:t>
            </a:r>
          </a:p>
          <a:p>
            <a:r>
              <a:t>The third case is the one that saves the viewer money and months. Say it plainly and without mockery — chasing a credential is a reasonable response to feeling stuck.</a:t>
            </a:r>
          </a:p>
          <a:p>
            <a:r>
              <a:t>v2.2 RESEARCH ALIGNMENT: the spoken section now closes by interpreting the job-ad phrase itself. “Direct industry experience required” sometimes points at something real — regulation, domain knowledge, a licence, decisions where being wrong carries real consequences — and sometimes it is shorthand for hiring risk. The viewer is NOT told to ignore it either way; they are told to ask what the employer is trying not to get wrong. The three cases already on this slide carry that distinction, so the slide does not change.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6:07.</a:t>
            </a:r>
          </a:p>
          <a:p>
            <a:r>
              <a:t>The direction of travel is the point. Most viewers start from their own history and hope it matches; this reverses it.</a:t>
            </a:r>
          </a:p>
          <a:p>
            <a:r>
              <a:t>Name the real sources out loud — trade press, earnings calls, regulator commentary, and how job descriptions read when a team is frustrated.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6:07.</a:t>
            </a:r>
          </a:p>
          <a:p>
            <a:r>
              <a:t>The direction of travel is the point. Most viewers start from their own history and hope it matches; this reverses it.</a:t>
            </a:r>
          </a:p>
          <a:p>
            <a:r>
              <a:t>Name the real sources out loud — trade press, earnings calls, regulator commentary, and how job descriptions read when a team is frustrated.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7:03.</a:t>
            </a:r>
          </a:p>
          <a:p>
            <a:r>
              <a:t>Read the three adjectives flatly. They are not being mocked; they are being shown to carry no information.</a:t>
            </a:r>
          </a:p>
          <a:p>
            <a:r>
              <a:t>Follow immediately with the honest limit: managing a regulated programme transfers, knowing how a specific regulator behaves does not.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7:03.</a:t>
            </a:r>
          </a:p>
          <a:p>
            <a:r>
              <a:t>Read the three adjectives flatly. They are not being mocked; they are being shown to carry no information.</a:t>
            </a:r>
          </a:p>
          <a:p>
            <a:r>
              <a:t>Follow immediately with the honest limit: managing a regulated programme transfers, knowing how a specific regulator behaves does not.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8:03.</a:t>
            </a:r>
          </a:p>
          <a:p>
            <a:r>
              <a:t>One band per beat. None of these is invented experience, and that boundary is stated out loud rather than implied.</a:t>
            </a:r>
          </a:p>
          <a:p>
            <a:r>
              <a:t>Research only counts once it has become a point of view. Make that distinction audible — it is the difference between reading about a sector and having something to say about it.</a:t>
            </a:r>
          </a:p>
          <a:p>
            <a:r>
              <a:t>v2.2 RESEARCH ALIGNMENT: before the bridge-evidence list, the script now sorts the gap into four parts — what I can already do with evidence, what context I could reasonably learn, what is a genuine gap, and what this employer would need to see to trust the overlap. That fourth part is the employer-legibility layer and is the one most people skip. Keep it; it is what stops the section becoming confidence theater.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8:03.</a:t>
            </a:r>
          </a:p>
          <a:p>
            <a:r>
              <a:t>One band per beat. None of these is invented experience, and that boundary is stated out loud rather than implied.</a:t>
            </a:r>
          </a:p>
          <a:p>
            <a:r>
              <a:t>Research only counts once it has become a point of view. Make that distinction audible — it is the difference between reading about a sector and having something to say about it.</a:t>
            </a:r>
          </a:p>
          <a:p>
            <a:r>
              <a:t>v2.2 RESEARCH ALIGNMENT: before the bridge-evidence list, the script now sorts the gap into four parts — what I can already do with evidence, what context I could reasonably learn, what is a genuine gap, and what this employer would need to see to trust the overlap. That fourth part is the employer-legibility layer and is the one most people skip. Keep it; it is what stops the section becoming confidence theater.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8:03.</a:t>
            </a:r>
          </a:p>
          <a:p>
            <a:r>
              <a:t>One band per beat. None of these is invented experience, and that boundary is stated out loud rather than implied.</a:t>
            </a:r>
          </a:p>
          <a:p>
            <a:r>
              <a:t>Research only counts once it has become a point of view. Make that distinction audible — it is the difference between reading about a sector and having something to say about it.</a:t>
            </a:r>
          </a:p>
          <a:p>
            <a:r>
              <a:t>v2.2 RESEARCH ALIGNMENT: before the bridge-evidence list, the script now sorts the gap into four parts — what I can already do with evidence, what context I could reasonably learn, what is a genuine gap, and what this employer would need to see to trust the overlap. That fourth part is the employer-legibility layer and is the one most people skip. Keep it; it is what stops the section becoming confidence theater.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10:05.</a:t>
            </a:r>
          </a:p>
          <a:p>
            <a:r>
              <a:t>One column per beat, left to right.</a:t>
            </a:r>
          </a:p>
          <a:p>
            <a:r>
              <a:t>Say the finding that makes the exercise worth doing, as an invitation rather than a statistic: they may find the first column is longer than they feared and the third shorter than they assumed.</a:t>
            </a:r>
          </a:p>
          <a:p>
            <a:r>
              <a:t>The translation sentence follows this slide and stays spoken, not typeset — the viewer should write it in their own words.</a:t>
            </a:r>
          </a:p>
          <a:p>
            <a:r>
              <a:t>v2.2 RESEARCH ALIGNMENT: the section now ends on an identity line — this becomes a way of moving rather than a plan for one change, arriving neither as though you were starting from zero nor as though you were already qualified for everything. Let it land before the CTA.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10:05.</a:t>
            </a:r>
          </a:p>
          <a:p>
            <a:r>
              <a:t>One column per beat, left to right.</a:t>
            </a:r>
          </a:p>
          <a:p>
            <a:r>
              <a:t>Say the finding that makes the exercise worth doing, as an invitation rather than a statistic: they may find the first column is longer than they feared and the third shorter than they assumed.</a:t>
            </a:r>
          </a:p>
          <a:p>
            <a:r>
              <a:t>The translation sentence follows this slide and stays spoken, not typeset — the viewer should write it in their own words.</a:t>
            </a:r>
          </a:p>
          <a:p>
            <a:r>
              <a:t>v2.2 RESEARCH ALIGNMENT: the section now ends on an identity line — this becomes a way of moving rather than a plan for one change, arriving neither as though you were starting from zero nor as though you were already qualified for everything. Let it land before the CTA.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10:05.</a:t>
            </a:r>
          </a:p>
          <a:p>
            <a:r>
              <a:t>One column per beat, left to right.</a:t>
            </a:r>
          </a:p>
          <a:p>
            <a:r>
              <a:t>Say the finding that makes the exercise worth doing, as an invitation rather than a statistic: they may find the first column is longer than they feared and the third shorter than they assumed.</a:t>
            </a:r>
          </a:p>
          <a:p>
            <a:r>
              <a:t>The translation sentence follows this slide and stays spoken, not typeset — the viewer should write it in their own words.</a:t>
            </a:r>
          </a:p>
          <a:p>
            <a:r>
              <a:t>v2.2 RESEARCH ALIGNMENT: the section now ends on an identity line — this becomes a way of moving rather than a plan for one change, arriving neither as though you were starting from zero nor as though you were already qualified for everything. Let it land before the CTA.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11:56.</a:t>
            </a:r>
          </a:p>
          <a:p>
            <a:r>
              <a:t>One offer only. No Keep the Proof, no Career Decision Evidence Check, no book, on this slide or anywhere in this block.</a:t>
            </a:r>
          </a:p>
          <a:p>
            <a:r>
              <a:t>State the limits out loud: the Field Kit does not tell the viewer which industry is hiring and does not replace researching the destination.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approximately 12:32.</a:t>
            </a:r>
          </a:p>
          <a:p>
            <a:r>
              <a:t>Everything sits left of x=1130. The right third is reserved for the YouTube end-screen element and must stay empty.</a:t>
            </a:r>
          </a:p>
          <a:p>
            <a:r>
              <a:t>No unpublished video is named here or in the spoken line. Set the end-screen video element at upload: route it directly to the next video if that video is already public, otherwise to the public Career Portability playlist. Verify the playlist opens signed out and contains at least one other public video.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854200"/>
            <a:ext cx="9017000" cy="1422400"/>
          </a:xfrm>
          <a:prstGeom prst="rect">
            <a:avLst/>
          </a:prstGeom>
          <a:noFill/>
        </p:spPr>
        <p:txBody>
          <a:bodyPr wrap="square" lIns="0" rIns="0" tIns="0" bIns="0" anchor="t">
            <a:spAutoFit/>
          </a:bodyPr>
          <a:lstStyle/>
          <a:p>
            <a:pPr algn="l">
              <a:lnSpc>
                <a:spcPct val="116000"/>
              </a:lnSpc>
            </a:pPr>
            <a:r>
              <a:rPr sz="3100" b="1" i="0">
                <a:solidFill>
                  <a:srgbClr val="F5F1E8"/>
                </a:solidFill>
                <a:latin typeface="Montserrat"/>
                <a:ea typeface="Montserrat"/>
                <a:cs typeface="Montserrat"/>
              </a:rPr>
              <a:t>CHANGING INDUSTRIES</a:t>
            </a:r>
            <a:br/>
            <a:r>
              <a:rPr sz="3100" b="1" i="0">
                <a:solidFill>
                  <a:srgbClr val="F5F1E8"/>
                </a:solidFill>
                <a:latin typeface="Montserrat"/>
                <a:ea typeface="Montserrat"/>
                <a:cs typeface="Montserrat"/>
              </a:rPr>
              <a:t>DOES NOT MAKE YOU</a:t>
            </a:r>
            <a:br/>
            <a:r>
              <a:rPr sz="3100" b="1" i="0">
                <a:solidFill>
                  <a:srgbClr val="F5F1E8"/>
                </a:solidFill>
                <a:latin typeface="Montserrat"/>
                <a:ea typeface="Montserrat"/>
                <a:cs typeface="Montserrat"/>
              </a:rPr>
              <a:t>ENTRY-LEVEL AT EVERYTHING.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854200"/>
            <a:ext cx="9017000" cy="1422400"/>
          </a:xfrm>
          <a:prstGeom prst="rect">
            <a:avLst/>
          </a:prstGeom>
          <a:noFill/>
        </p:spPr>
        <p:txBody>
          <a:bodyPr wrap="square" lIns="0" rIns="0" tIns="0" bIns="0" anchor="t">
            <a:spAutoFit/>
          </a:bodyPr>
          <a:lstStyle/>
          <a:p>
            <a:pPr algn="l">
              <a:lnSpc>
                <a:spcPct val="116000"/>
              </a:lnSpc>
            </a:pPr>
            <a:r>
              <a:rPr sz="3100" b="1" i="0">
                <a:solidFill>
                  <a:srgbClr val="F5F1E8"/>
                </a:solidFill>
                <a:latin typeface="Montserrat"/>
                <a:ea typeface="Montserrat"/>
                <a:cs typeface="Montserrat"/>
              </a:rPr>
              <a:t>CHANGING INDUSTRIES</a:t>
            </a:r>
            <a:br/>
            <a:r>
              <a:rPr sz="3100" b="1" i="0">
                <a:solidFill>
                  <a:srgbClr val="F5F1E8"/>
                </a:solidFill>
                <a:latin typeface="Montserrat"/>
                <a:ea typeface="Montserrat"/>
                <a:cs typeface="Montserrat"/>
              </a:rPr>
              <a:t>DOES NOT MAKE YOU</a:t>
            </a:r>
            <a:br/>
            <a:r>
              <a:rPr sz="3100" b="1" i="0">
                <a:solidFill>
                  <a:srgbClr val="F5F1E8"/>
                </a:solidFill>
                <a:latin typeface="Montserrat"/>
                <a:ea typeface="Montserrat"/>
                <a:cs typeface="Montserrat"/>
              </a:rPr>
              <a:t>ENTRY-LEVEL AT EVERYTHING.</a:t>
            </a:r>
          </a:p>
        </p:txBody>
      </p:sp>
      <p:sp>
        <p:nvSpPr>
          <p:cNvPr id="8" name="Rectangle 7"/>
          <p:cNvSpPr/>
          <p:nvPr/>
        </p:nvSpPr>
        <p:spPr>
          <a:xfrm>
            <a:off x="1016000" y="42418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4673600"/>
            <a:ext cx="9017000" cy="965200"/>
          </a:xfrm>
          <a:prstGeom prst="rect">
            <a:avLst/>
          </a:prstGeom>
          <a:noFill/>
        </p:spPr>
        <p:txBody>
          <a:bodyPr wrap="square" lIns="0" rIns="0" tIns="0" bIns="0" anchor="t">
            <a:spAutoFit/>
          </a:bodyPr>
          <a:lstStyle/>
          <a:p>
            <a:pPr algn="l">
              <a:lnSpc>
                <a:spcPct val="116000"/>
              </a:lnSpc>
            </a:pPr>
            <a:r>
              <a:rPr sz="3100" b="1" i="0">
                <a:solidFill>
                  <a:srgbClr val="C9A84C"/>
                </a:solidFill>
                <a:latin typeface="Montserrat"/>
                <a:ea typeface="Montserrat"/>
                <a:cs typeface="Montserrat"/>
              </a:rPr>
              <a:t>IT MAKES YOU NEW</a:t>
            </a:r>
            <a:br/>
            <a:r>
              <a:rPr sz="3100" b="1" i="0">
                <a:solidFill>
                  <a:srgbClr val="C9A84C"/>
                </a:solidFill>
                <a:latin typeface="Montserrat"/>
                <a:ea typeface="Montserrat"/>
                <a:cs typeface="Montserrat"/>
              </a:rPr>
              <a:t>TO A CONTEXT.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WHAT ACTUALLY CHANGES</a:t>
            </a:r>
          </a:p>
        </p:txBody>
      </p:sp>
      <p:sp>
        <p:nvSpPr>
          <p:cNvPr id="3" name="TextBox 2"/>
          <p:cNvSpPr txBox="1"/>
          <p:nvPr/>
        </p:nvSpPr>
        <p:spPr>
          <a:xfrm>
            <a:off x="1016000" y="1498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Language</a:t>
            </a:r>
          </a:p>
        </p:txBody>
      </p:sp>
      <p:sp>
        <p:nvSpPr>
          <p:cNvPr id="4" name="Rectangle 3"/>
          <p:cNvSpPr/>
          <p:nvPr/>
        </p:nvSpPr>
        <p:spPr>
          <a:xfrm>
            <a:off x="1016000" y="1981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971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Stakeholders</a:t>
            </a:r>
          </a:p>
        </p:txBody>
      </p:sp>
      <p:sp>
        <p:nvSpPr>
          <p:cNvPr id="6" name="Rectangle 5"/>
          <p:cNvSpPr/>
          <p:nvPr/>
        </p:nvSpPr>
        <p:spPr>
          <a:xfrm>
            <a:off x="1016000" y="26797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895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Incentives</a:t>
            </a:r>
          </a:p>
        </p:txBody>
      </p:sp>
      <p:sp>
        <p:nvSpPr>
          <p:cNvPr id="8" name="Rectangle 7"/>
          <p:cNvSpPr/>
          <p:nvPr/>
        </p:nvSpPr>
        <p:spPr>
          <a:xfrm>
            <a:off x="1016000" y="3378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0" y="1498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Regulation</a:t>
            </a:r>
          </a:p>
        </p:txBody>
      </p:sp>
      <p:sp>
        <p:nvSpPr>
          <p:cNvPr id="10" name="Rectangle 9"/>
          <p:cNvSpPr/>
          <p:nvPr/>
        </p:nvSpPr>
        <p:spPr>
          <a:xfrm>
            <a:off x="6223000" y="1981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3000" y="21971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Operating rhythm</a:t>
            </a:r>
          </a:p>
        </p:txBody>
      </p:sp>
      <p:sp>
        <p:nvSpPr>
          <p:cNvPr id="12" name="Rectangle 11"/>
          <p:cNvSpPr/>
          <p:nvPr/>
        </p:nvSpPr>
        <p:spPr>
          <a:xfrm>
            <a:off x="6223000" y="26797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0" y="2895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Risks</a:t>
            </a:r>
          </a:p>
        </p:txBody>
      </p:sp>
      <p:sp>
        <p:nvSpPr>
          <p:cNvPr id="14" name="Rectangle 13"/>
          <p:cNvSpPr/>
          <p:nvPr/>
        </p:nvSpPr>
        <p:spPr>
          <a:xfrm>
            <a:off x="6223000" y="3378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WHAT ACTUALLY CHANGES</a:t>
            </a:r>
          </a:p>
        </p:txBody>
      </p:sp>
      <p:sp>
        <p:nvSpPr>
          <p:cNvPr id="3" name="TextBox 2"/>
          <p:cNvSpPr txBox="1"/>
          <p:nvPr/>
        </p:nvSpPr>
        <p:spPr>
          <a:xfrm>
            <a:off x="1016000" y="1498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Language</a:t>
            </a:r>
          </a:p>
        </p:txBody>
      </p:sp>
      <p:sp>
        <p:nvSpPr>
          <p:cNvPr id="4" name="Rectangle 3"/>
          <p:cNvSpPr/>
          <p:nvPr/>
        </p:nvSpPr>
        <p:spPr>
          <a:xfrm>
            <a:off x="1016000" y="1981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1971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Stakeholders</a:t>
            </a:r>
          </a:p>
        </p:txBody>
      </p:sp>
      <p:sp>
        <p:nvSpPr>
          <p:cNvPr id="6" name="Rectangle 5"/>
          <p:cNvSpPr/>
          <p:nvPr/>
        </p:nvSpPr>
        <p:spPr>
          <a:xfrm>
            <a:off x="1016000" y="26797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2895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Incentives</a:t>
            </a:r>
          </a:p>
        </p:txBody>
      </p:sp>
      <p:sp>
        <p:nvSpPr>
          <p:cNvPr id="8" name="Rectangle 7"/>
          <p:cNvSpPr/>
          <p:nvPr/>
        </p:nvSpPr>
        <p:spPr>
          <a:xfrm>
            <a:off x="1016000" y="3378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0" y="1498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Regulation</a:t>
            </a:r>
          </a:p>
        </p:txBody>
      </p:sp>
      <p:sp>
        <p:nvSpPr>
          <p:cNvPr id="10" name="Rectangle 9"/>
          <p:cNvSpPr/>
          <p:nvPr/>
        </p:nvSpPr>
        <p:spPr>
          <a:xfrm>
            <a:off x="6223000" y="1981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23000" y="21971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Operating rhythm</a:t>
            </a:r>
          </a:p>
        </p:txBody>
      </p:sp>
      <p:sp>
        <p:nvSpPr>
          <p:cNvPr id="12" name="Rectangle 11"/>
          <p:cNvSpPr/>
          <p:nvPr/>
        </p:nvSpPr>
        <p:spPr>
          <a:xfrm>
            <a:off x="6223000" y="26797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23000" y="2895600"/>
            <a:ext cx="4826000" cy="387350"/>
          </a:xfrm>
          <a:prstGeom prst="rect">
            <a:avLst/>
          </a:prstGeom>
          <a:noFill/>
        </p:spPr>
        <p:txBody>
          <a:bodyPr wrap="square" lIns="0" rIns="0" tIns="0" bIns="0" anchor="t">
            <a:spAutoFit/>
          </a:bodyPr>
          <a:lstStyle/>
          <a:p>
            <a:pPr algn="l">
              <a:lnSpc>
                <a:spcPct val="120000"/>
              </a:lnSpc>
            </a:pPr>
            <a:r>
              <a:rPr sz="2200" b="0" i="0">
                <a:solidFill>
                  <a:srgbClr val="0F2346"/>
                </a:solidFill>
                <a:latin typeface="DM Sans"/>
                <a:ea typeface="DM Sans"/>
                <a:cs typeface="DM Sans"/>
              </a:rPr>
              <a:t>Risks</a:t>
            </a:r>
          </a:p>
        </p:txBody>
      </p:sp>
      <p:sp>
        <p:nvSpPr>
          <p:cNvPr id="14" name="Rectangle 13"/>
          <p:cNvSpPr/>
          <p:nvPr/>
        </p:nvSpPr>
        <p:spPr>
          <a:xfrm>
            <a:off x="6223000" y="3378200"/>
            <a:ext cx="4445000" cy="1905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4064000"/>
            <a:ext cx="12192000" cy="27940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6000" y="4546600"/>
            <a:ext cx="10160000" cy="901700"/>
          </a:xfrm>
          <a:prstGeom prst="rect">
            <a:avLst/>
          </a:prstGeom>
          <a:noFill/>
        </p:spPr>
        <p:txBody>
          <a:bodyPr wrap="square" lIns="0" rIns="0" tIns="0" bIns="0" anchor="t">
            <a:spAutoFit/>
          </a:bodyPr>
          <a:lstStyle/>
          <a:p>
            <a:pPr algn="l">
              <a:lnSpc>
                <a:spcPct val="110000"/>
              </a:lnSpc>
            </a:pPr>
            <a:r>
              <a:rPr sz="2600" b="1" i="0">
                <a:solidFill>
                  <a:srgbClr val="F5F1E8"/>
                </a:solidFill>
                <a:latin typeface="Montserrat"/>
                <a:ea typeface="Montserrat"/>
                <a:cs typeface="Montserrat"/>
              </a:rPr>
              <a:t>NONE OF THAT IS YOUR COMPETENCE.</a:t>
            </a:r>
          </a:p>
          <a:p>
            <a:pPr algn="l">
              <a:lnSpc>
                <a:spcPct val="110000"/>
              </a:lnSpc>
              <a:spcBef>
                <a:spcPts val="1000"/>
              </a:spcBef>
            </a:pPr>
            <a:r>
              <a:rPr sz="2600" b="1" i="0">
                <a:solidFill>
                  <a:srgbClr val="C9A84C"/>
                </a:solidFill>
                <a:latin typeface="Montserrat"/>
                <a:ea typeface="Montserrat"/>
                <a:cs typeface="Montserrat"/>
              </a:rPr>
              <a:t>ALL OF IT IS CONTEXT.</a:t>
            </a:r>
          </a:p>
        </p:txBody>
      </p:sp>
      <p:sp>
        <p:nvSpPr>
          <p:cNvPr id="17" name="Rectangle 16"/>
          <p:cNvSpPr/>
          <p:nvPr/>
        </p:nvSpPr>
        <p:spPr>
          <a:xfrm>
            <a:off x="1016000" y="58166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6000" y="6070600"/>
            <a:ext cx="10160000" cy="361950"/>
          </a:xfrm>
          <a:prstGeom prst="rect">
            <a:avLst/>
          </a:prstGeom>
          <a:noFill/>
        </p:spPr>
        <p:txBody>
          <a:bodyPr wrap="square" lIns="0" rIns="0" tIns="0" bIns="0" anchor="t">
            <a:spAutoFit/>
          </a:bodyPr>
          <a:lstStyle/>
          <a:p>
            <a:pPr algn="l">
              <a:lnSpc>
                <a:spcPct val="128000"/>
              </a:lnSpc>
            </a:pPr>
            <a:r>
              <a:rPr sz="1900" b="0" i="0">
                <a:solidFill>
                  <a:srgbClr val="B9C3D2"/>
                </a:solidFill>
                <a:latin typeface="DM Sans"/>
                <a:ea typeface="DM Sans"/>
                <a:cs typeface="DM Sans"/>
              </a:rPr>
              <a:t>And context is learnable.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8890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ONE</a:t>
            </a:r>
          </a:p>
        </p:txBody>
      </p:sp>
      <p:sp>
        <p:nvSpPr>
          <p:cNvPr id="3" name="TextBox 2"/>
          <p:cNvSpPr txBox="1"/>
          <p:nvPr/>
        </p:nvSpPr>
        <p:spPr>
          <a:xfrm>
            <a:off x="1016000" y="1587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1</a:t>
            </a:r>
          </a:p>
        </p:txBody>
      </p:sp>
      <p:sp>
        <p:nvSpPr>
          <p:cNvPr id="4" name="TextBox 3"/>
          <p:cNvSpPr txBox="1"/>
          <p:nvPr/>
        </p:nvSpPr>
        <p:spPr>
          <a:xfrm>
            <a:off x="1905000" y="1562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CAPABILITY</a:t>
            </a:r>
          </a:p>
        </p:txBody>
      </p:sp>
      <p:sp>
        <p:nvSpPr>
          <p:cNvPr id="5" name="TextBox 4"/>
          <p:cNvSpPr txBox="1"/>
          <p:nvPr/>
        </p:nvSpPr>
        <p:spPr>
          <a:xfrm>
            <a:off x="1905000" y="2070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Judgment that stays useful when the setting changes.</a:t>
            </a:r>
          </a:p>
        </p:txBody>
      </p:sp>
      <p:sp>
        <p:nvSpPr>
          <p:cNvPr id="6" name="Rectangle 5"/>
          <p:cNvSpPr/>
          <p:nvPr/>
        </p:nvSpPr>
        <p:spPr>
          <a:xfrm>
            <a:off x="1905000" y="2603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8890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ONE</a:t>
            </a:r>
          </a:p>
        </p:txBody>
      </p:sp>
      <p:sp>
        <p:nvSpPr>
          <p:cNvPr id="3" name="TextBox 2"/>
          <p:cNvSpPr txBox="1"/>
          <p:nvPr/>
        </p:nvSpPr>
        <p:spPr>
          <a:xfrm>
            <a:off x="1016000" y="1587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1</a:t>
            </a:r>
          </a:p>
        </p:txBody>
      </p:sp>
      <p:sp>
        <p:nvSpPr>
          <p:cNvPr id="4" name="TextBox 3"/>
          <p:cNvSpPr txBox="1"/>
          <p:nvPr/>
        </p:nvSpPr>
        <p:spPr>
          <a:xfrm>
            <a:off x="1905000" y="1562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CAPABILITY</a:t>
            </a:r>
          </a:p>
        </p:txBody>
      </p:sp>
      <p:sp>
        <p:nvSpPr>
          <p:cNvPr id="5" name="TextBox 4"/>
          <p:cNvSpPr txBox="1"/>
          <p:nvPr/>
        </p:nvSpPr>
        <p:spPr>
          <a:xfrm>
            <a:off x="1905000" y="2070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Judgment that stays useful when the setting changes.</a:t>
            </a:r>
          </a:p>
        </p:txBody>
      </p:sp>
      <p:sp>
        <p:nvSpPr>
          <p:cNvPr id="6" name="Rectangle 5"/>
          <p:cNvSpPr/>
          <p:nvPr/>
        </p:nvSpPr>
        <p:spPr>
          <a:xfrm>
            <a:off x="1905000" y="2603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3111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2</a:t>
            </a:r>
          </a:p>
        </p:txBody>
      </p:sp>
      <p:sp>
        <p:nvSpPr>
          <p:cNvPr id="8" name="TextBox 7"/>
          <p:cNvSpPr txBox="1"/>
          <p:nvPr/>
        </p:nvSpPr>
        <p:spPr>
          <a:xfrm>
            <a:off x="1905000" y="3086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CONTEXT</a:t>
            </a:r>
          </a:p>
        </p:txBody>
      </p:sp>
      <p:sp>
        <p:nvSpPr>
          <p:cNvPr id="9" name="TextBox 8"/>
          <p:cNvSpPr txBox="1"/>
          <p:nvPr/>
        </p:nvSpPr>
        <p:spPr>
          <a:xfrm>
            <a:off x="1905000" y="3594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What the new field knows and you do not — yet.</a:t>
            </a:r>
          </a:p>
        </p:txBody>
      </p:sp>
      <p:sp>
        <p:nvSpPr>
          <p:cNvPr id="10" name="Rectangle 9"/>
          <p:cNvSpPr/>
          <p:nvPr/>
        </p:nvSpPr>
        <p:spPr>
          <a:xfrm>
            <a:off x="1905000" y="4127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8890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ONE</a:t>
            </a:r>
          </a:p>
        </p:txBody>
      </p:sp>
      <p:sp>
        <p:nvSpPr>
          <p:cNvPr id="3" name="TextBox 2"/>
          <p:cNvSpPr txBox="1"/>
          <p:nvPr/>
        </p:nvSpPr>
        <p:spPr>
          <a:xfrm>
            <a:off x="1016000" y="1587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1</a:t>
            </a:r>
          </a:p>
        </p:txBody>
      </p:sp>
      <p:sp>
        <p:nvSpPr>
          <p:cNvPr id="4" name="TextBox 3"/>
          <p:cNvSpPr txBox="1"/>
          <p:nvPr/>
        </p:nvSpPr>
        <p:spPr>
          <a:xfrm>
            <a:off x="1905000" y="1562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CAPABILITY</a:t>
            </a:r>
          </a:p>
        </p:txBody>
      </p:sp>
      <p:sp>
        <p:nvSpPr>
          <p:cNvPr id="5" name="TextBox 4"/>
          <p:cNvSpPr txBox="1"/>
          <p:nvPr/>
        </p:nvSpPr>
        <p:spPr>
          <a:xfrm>
            <a:off x="1905000" y="2070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Judgment that stays useful when the setting changes.</a:t>
            </a:r>
          </a:p>
        </p:txBody>
      </p:sp>
      <p:sp>
        <p:nvSpPr>
          <p:cNvPr id="6" name="Rectangle 5"/>
          <p:cNvSpPr/>
          <p:nvPr/>
        </p:nvSpPr>
        <p:spPr>
          <a:xfrm>
            <a:off x="1905000" y="2603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3111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2</a:t>
            </a:r>
          </a:p>
        </p:txBody>
      </p:sp>
      <p:sp>
        <p:nvSpPr>
          <p:cNvPr id="8" name="TextBox 7"/>
          <p:cNvSpPr txBox="1"/>
          <p:nvPr/>
        </p:nvSpPr>
        <p:spPr>
          <a:xfrm>
            <a:off x="1905000" y="3086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CONTEXT</a:t>
            </a:r>
          </a:p>
        </p:txBody>
      </p:sp>
      <p:sp>
        <p:nvSpPr>
          <p:cNvPr id="9" name="TextBox 8"/>
          <p:cNvSpPr txBox="1"/>
          <p:nvPr/>
        </p:nvSpPr>
        <p:spPr>
          <a:xfrm>
            <a:off x="1905000" y="3594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What the new field knows and you do not — yet.</a:t>
            </a:r>
          </a:p>
        </p:txBody>
      </p:sp>
      <p:sp>
        <p:nvSpPr>
          <p:cNvPr id="10" name="Rectangle 9"/>
          <p:cNvSpPr/>
          <p:nvPr/>
        </p:nvSpPr>
        <p:spPr>
          <a:xfrm>
            <a:off x="1905000" y="4127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4635500"/>
            <a:ext cx="762000" cy="342900"/>
          </a:xfrm>
          <a:prstGeom prst="rect">
            <a:avLst/>
          </a:prstGeom>
          <a:noFill/>
        </p:spPr>
        <p:txBody>
          <a:bodyPr wrap="square" lIns="0" rIns="0" tIns="0" bIns="0" anchor="t">
            <a:spAutoFit/>
          </a:bodyPr>
          <a:lstStyle/>
          <a:p>
            <a:pPr algn="l">
              <a:lnSpc>
                <a:spcPct val="100000"/>
              </a:lnSpc>
            </a:pPr>
            <a:r>
              <a:rPr sz="2300" b="1" i="0">
                <a:solidFill>
                  <a:srgbClr val="C9A84C"/>
                </a:solidFill>
                <a:latin typeface="Montserrat"/>
                <a:ea typeface="Montserrat"/>
                <a:cs typeface="Montserrat"/>
              </a:rPr>
              <a:t>3</a:t>
            </a:r>
          </a:p>
        </p:txBody>
      </p:sp>
      <p:sp>
        <p:nvSpPr>
          <p:cNvPr id="12" name="TextBox 11"/>
          <p:cNvSpPr txBox="1"/>
          <p:nvPr/>
        </p:nvSpPr>
        <p:spPr>
          <a:xfrm>
            <a:off x="1905000" y="4610100"/>
            <a:ext cx="9271000" cy="381000"/>
          </a:xfrm>
          <a:prstGeom prst="rect">
            <a:avLst/>
          </a:prstGeom>
          <a:noFill/>
        </p:spPr>
        <p:txBody>
          <a:bodyPr wrap="square" lIns="0" rIns="0" tIns="0" bIns="0" anchor="t">
            <a:spAutoFit/>
          </a:bodyPr>
          <a:lstStyle/>
          <a:p>
            <a:pPr algn="l">
              <a:lnSpc>
                <a:spcPct val="105000"/>
              </a:lnSpc>
            </a:pPr>
            <a:r>
              <a:rPr sz="2500" b="1" i="0" spc="100">
                <a:solidFill>
                  <a:srgbClr val="F5F1E8"/>
                </a:solidFill>
                <a:latin typeface="Montserrat"/>
                <a:ea typeface="Montserrat"/>
                <a:cs typeface="Montserrat"/>
              </a:rPr>
              <a:t>CREDENTIAL</a:t>
            </a:r>
          </a:p>
        </p:txBody>
      </p:sp>
      <p:sp>
        <p:nvSpPr>
          <p:cNvPr id="13" name="TextBox 12"/>
          <p:cNvSpPr txBox="1"/>
          <p:nvPr/>
        </p:nvSpPr>
        <p:spPr>
          <a:xfrm>
            <a:off x="1905000" y="5118100"/>
            <a:ext cx="9271000" cy="342900"/>
          </a:xfrm>
          <a:prstGeom prst="rect">
            <a:avLst/>
          </a:prstGeom>
          <a:noFill/>
        </p:spPr>
        <p:txBody>
          <a:bodyPr wrap="square" lIns="0" rIns="0" tIns="0" bIns="0" anchor="t">
            <a:spAutoFit/>
          </a:bodyPr>
          <a:lstStyle/>
          <a:p>
            <a:pPr algn="l">
              <a:lnSpc>
                <a:spcPct val="128000"/>
              </a:lnSpc>
            </a:pPr>
            <a:r>
              <a:rPr sz="1800" b="0" i="0">
                <a:solidFill>
                  <a:srgbClr val="B9C3D2"/>
                </a:solidFill>
                <a:latin typeface="DM Sans"/>
                <a:ea typeface="DM Sans"/>
                <a:cs typeface="DM Sans"/>
              </a:rPr>
              <a:t>Formal evidence or permission the destination requires.</a:t>
            </a:r>
          </a:p>
        </p:txBody>
      </p:sp>
      <p:sp>
        <p:nvSpPr>
          <p:cNvPr id="14" name="Rectangle 13"/>
          <p:cNvSpPr/>
          <p:nvPr/>
        </p:nvSpPr>
        <p:spPr>
          <a:xfrm>
            <a:off x="1905000" y="5651500"/>
            <a:ext cx="9144000" cy="1270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CAPABILITY</a:t>
            </a:r>
          </a:p>
        </p:txBody>
      </p:sp>
      <p:sp>
        <p:nvSpPr>
          <p:cNvPr id="3" name="TextBox 2"/>
          <p:cNvSpPr txBox="1"/>
          <p:nvPr/>
        </p:nvSpPr>
        <p:spPr>
          <a:xfrm>
            <a:off x="1016000" y="1498600"/>
            <a:ext cx="10160000" cy="469900"/>
          </a:xfrm>
          <a:prstGeom prst="rect">
            <a:avLst/>
          </a:prstGeom>
          <a:noFill/>
        </p:spPr>
        <p:txBody>
          <a:bodyPr wrap="square" lIns="0" rIns="0" tIns="0" bIns="0" anchor="t">
            <a:spAutoFit/>
          </a:bodyPr>
          <a:lstStyle/>
          <a:p>
            <a:pPr algn="l">
              <a:lnSpc>
                <a:spcPct val="106000"/>
              </a:lnSpc>
            </a:pPr>
            <a:r>
              <a:rPr sz="3100" b="1" i="0">
                <a:solidFill>
                  <a:srgbClr val="0F2346"/>
                </a:solidFill>
                <a:latin typeface="Montserrat"/>
                <a:ea typeface="Montserrat"/>
                <a:cs typeface="Montserrat"/>
              </a:rPr>
              <a:t>WHAT TRAVELS</a:t>
            </a:r>
          </a:p>
        </p:txBody>
      </p:sp>
      <p:sp>
        <p:nvSpPr>
          <p:cNvPr id="4" name="Rectangle 3"/>
          <p:cNvSpPr/>
          <p:nvPr/>
        </p:nvSpPr>
        <p:spPr>
          <a:xfrm>
            <a:off x="1016000" y="2159000"/>
            <a:ext cx="12700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CAPABILITY</a:t>
            </a:r>
          </a:p>
        </p:txBody>
      </p:sp>
      <p:sp>
        <p:nvSpPr>
          <p:cNvPr id="3" name="TextBox 2"/>
          <p:cNvSpPr txBox="1"/>
          <p:nvPr/>
        </p:nvSpPr>
        <p:spPr>
          <a:xfrm>
            <a:off x="1016000" y="1498600"/>
            <a:ext cx="10160000" cy="469900"/>
          </a:xfrm>
          <a:prstGeom prst="rect">
            <a:avLst/>
          </a:prstGeom>
          <a:noFill/>
        </p:spPr>
        <p:txBody>
          <a:bodyPr wrap="square" lIns="0" rIns="0" tIns="0" bIns="0" anchor="t">
            <a:spAutoFit/>
          </a:bodyPr>
          <a:lstStyle/>
          <a:p>
            <a:pPr algn="l">
              <a:lnSpc>
                <a:spcPct val="106000"/>
              </a:lnSpc>
            </a:pPr>
            <a:r>
              <a:rPr sz="3100" b="1" i="0">
                <a:solidFill>
                  <a:srgbClr val="0F2346"/>
                </a:solidFill>
                <a:latin typeface="Montserrat"/>
                <a:ea typeface="Montserrat"/>
                <a:cs typeface="Montserrat"/>
              </a:rPr>
              <a:t>WHAT TRAVELS</a:t>
            </a:r>
          </a:p>
        </p:txBody>
      </p:sp>
      <p:sp>
        <p:nvSpPr>
          <p:cNvPr id="4" name="Rectangle 3"/>
          <p:cNvSpPr/>
          <p:nvPr/>
        </p:nvSpPr>
        <p:spPr>
          <a:xfrm>
            <a:off x="1016000" y="2159000"/>
            <a:ext cx="12700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616200"/>
            <a:ext cx="10160000" cy="1866900"/>
          </a:xfrm>
          <a:prstGeom prst="rect">
            <a:avLst/>
          </a:prstGeom>
          <a:noFill/>
        </p:spPr>
        <p:txBody>
          <a:bodyPr wrap="square" lIns="0" rIns="0" tIns="0" bIns="0" anchor="t">
            <a:spAutoFit/>
          </a:bodyPr>
          <a:lstStyle/>
          <a:p>
            <a:pPr algn="l">
              <a:lnSpc>
                <a:spcPct val="130000"/>
              </a:lnSpc>
            </a:pPr>
            <a:r>
              <a:rPr sz="2000" b="0" i="0">
                <a:solidFill>
                  <a:srgbClr val="0F2346"/>
                </a:solidFill>
                <a:latin typeface="DM Sans"/>
                <a:ea typeface="DM Sans"/>
                <a:cs typeface="DM Sans"/>
              </a:rPr>
              <a:t>Finding the real decision in a room of stated positions.</a:t>
            </a:r>
          </a:p>
          <a:p>
            <a:pPr algn="l">
              <a:lnSpc>
                <a:spcPct val="130000"/>
              </a:lnSpc>
              <a:spcBef>
                <a:spcPts val="1300"/>
              </a:spcBef>
            </a:pPr>
            <a:r>
              <a:rPr sz="2000" b="0" i="0">
                <a:solidFill>
                  <a:srgbClr val="0F2346"/>
                </a:solidFill>
                <a:latin typeface="DM Sans"/>
                <a:ea typeface="DM Sans"/>
                <a:cs typeface="DM Sans"/>
              </a:rPr>
              <a:t>Structuring a problem nobody has framed yet.</a:t>
            </a:r>
          </a:p>
          <a:p>
            <a:pPr algn="l">
              <a:lnSpc>
                <a:spcPct val="130000"/>
              </a:lnSpc>
              <a:spcBef>
                <a:spcPts val="1300"/>
              </a:spcBef>
            </a:pPr>
            <a:r>
              <a:rPr sz="2000" b="0" i="0">
                <a:solidFill>
                  <a:srgbClr val="0F2346"/>
                </a:solidFill>
                <a:latin typeface="DM Sans"/>
                <a:ea typeface="DM Sans"/>
                <a:cs typeface="DM Sans"/>
              </a:rPr>
              <a:t>Knowing when a number is too clean to be true.</a:t>
            </a:r>
          </a:p>
          <a:p>
            <a:pPr algn="l">
              <a:lnSpc>
                <a:spcPct val="130000"/>
              </a:lnSpc>
              <a:spcBef>
                <a:spcPts val="1300"/>
              </a:spcBef>
            </a:pPr>
            <a:r>
              <a:rPr sz="2000" b="0" i="0">
                <a:solidFill>
                  <a:srgbClr val="0F2346"/>
                </a:solidFill>
                <a:latin typeface="DM Sans"/>
                <a:ea typeface="DM Sans"/>
                <a:cs typeface="DM Sans"/>
              </a:rPr>
              <a:t>Holding a position when the room would rather you did not.</a:t>
            </a:r>
          </a:p>
        </p:txBody>
      </p:sp>
      <p:sp>
        <p:nvSpPr>
          <p:cNvPr id="6" name="Rectangle 5"/>
          <p:cNvSpPr/>
          <p:nvPr/>
        </p:nvSpPr>
        <p:spPr>
          <a:xfrm>
            <a:off x="1016000" y="48260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5118100"/>
            <a:ext cx="10160000" cy="355600"/>
          </a:xfrm>
          <a:prstGeom prst="rect">
            <a:avLst/>
          </a:prstGeom>
          <a:noFill/>
        </p:spPr>
        <p:txBody>
          <a:bodyPr wrap="square" lIns="0" rIns="0" tIns="0" bIns="0" anchor="t">
            <a:spAutoFit/>
          </a:bodyPr>
          <a:lstStyle/>
          <a:p>
            <a:pPr algn="l">
              <a:lnSpc>
                <a:spcPct val="120000"/>
              </a:lnSpc>
            </a:pPr>
            <a:r>
              <a:rPr sz="2000" b="1" i="0">
                <a:solidFill>
                  <a:srgbClr val="0F2346"/>
                </a:solidFill>
                <a:latin typeface="Montserrat"/>
                <a:ea typeface="Montserrat"/>
                <a:cs typeface="Montserrat"/>
              </a:rPr>
              <a:t>None of these belong to an industry.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CONTEXT</a:t>
            </a:r>
          </a:p>
        </p:txBody>
      </p:sp>
      <p:sp>
        <p:nvSpPr>
          <p:cNvPr id="3" name="TextBox 2"/>
          <p:cNvSpPr txBox="1"/>
          <p:nvPr/>
        </p:nvSpPr>
        <p:spPr>
          <a:xfrm>
            <a:off x="1016000" y="1498600"/>
            <a:ext cx="10160000" cy="469900"/>
          </a:xfrm>
          <a:prstGeom prst="rect">
            <a:avLst/>
          </a:prstGeom>
          <a:noFill/>
        </p:spPr>
        <p:txBody>
          <a:bodyPr wrap="square" lIns="0" rIns="0" tIns="0" bIns="0" anchor="t">
            <a:spAutoFit/>
          </a:bodyPr>
          <a:lstStyle/>
          <a:p>
            <a:pPr algn="l">
              <a:lnSpc>
                <a:spcPct val="106000"/>
              </a:lnSpc>
            </a:pPr>
            <a:r>
              <a:rPr sz="3100" b="1" i="0">
                <a:solidFill>
                  <a:srgbClr val="F5F1E8"/>
                </a:solidFill>
                <a:latin typeface="Montserrat"/>
                <a:ea typeface="Montserrat"/>
                <a:cs typeface="Montserrat"/>
              </a:rPr>
              <a:t>WHAT MUST BE RELEARNED</a:t>
            </a:r>
          </a:p>
        </p:txBody>
      </p:sp>
      <p:sp>
        <p:nvSpPr>
          <p:cNvPr id="4" name="Rectangle 3"/>
          <p:cNvSpPr/>
          <p:nvPr/>
        </p:nvSpPr>
        <p:spPr>
          <a:xfrm>
            <a:off x="1016000" y="21844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CONTEXT</a:t>
            </a:r>
          </a:p>
        </p:txBody>
      </p:sp>
      <p:sp>
        <p:nvSpPr>
          <p:cNvPr id="3" name="TextBox 2"/>
          <p:cNvSpPr txBox="1"/>
          <p:nvPr/>
        </p:nvSpPr>
        <p:spPr>
          <a:xfrm>
            <a:off x="1016000" y="1498600"/>
            <a:ext cx="10160000" cy="469900"/>
          </a:xfrm>
          <a:prstGeom prst="rect">
            <a:avLst/>
          </a:prstGeom>
          <a:noFill/>
        </p:spPr>
        <p:txBody>
          <a:bodyPr wrap="square" lIns="0" rIns="0" tIns="0" bIns="0" anchor="t">
            <a:spAutoFit/>
          </a:bodyPr>
          <a:lstStyle/>
          <a:p>
            <a:pPr algn="l">
              <a:lnSpc>
                <a:spcPct val="106000"/>
              </a:lnSpc>
            </a:pPr>
            <a:r>
              <a:rPr sz="3100" b="1" i="0">
                <a:solidFill>
                  <a:srgbClr val="F5F1E8"/>
                </a:solidFill>
                <a:latin typeface="Montserrat"/>
                <a:ea typeface="Montserrat"/>
                <a:cs typeface="Montserrat"/>
              </a:rPr>
              <a:t>WHAT MUST BE RELEARNED</a:t>
            </a:r>
          </a:p>
        </p:txBody>
      </p:sp>
      <p:sp>
        <p:nvSpPr>
          <p:cNvPr id="4" name="Rectangle 3"/>
          <p:cNvSpPr/>
          <p:nvPr/>
        </p:nvSpPr>
        <p:spPr>
          <a:xfrm>
            <a:off x="1016000" y="21844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692400"/>
            <a:ext cx="10160000" cy="1746250"/>
          </a:xfrm>
          <a:prstGeom prst="rect">
            <a:avLst/>
          </a:prstGeom>
          <a:noFill/>
        </p:spPr>
        <p:txBody>
          <a:bodyPr wrap="square" lIns="0" rIns="0" tIns="0" bIns="0" anchor="t">
            <a:spAutoFit/>
          </a:bodyPr>
          <a:lstStyle/>
          <a:p>
            <a:pPr algn="l">
              <a:lnSpc>
                <a:spcPct val="128000"/>
              </a:lnSpc>
            </a:pPr>
            <a:r>
              <a:rPr sz="1900" b="0" i="0">
                <a:solidFill>
                  <a:srgbClr val="F5F1E8"/>
                </a:solidFill>
                <a:latin typeface="DM Sans"/>
                <a:ea typeface="DM Sans"/>
                <a:cs typeface="DM Sans"/>
              </a:rPr>
              <a:t>The names the same idea goes by here.</a:t>
            </a:r>
          </a:p>
          <a:p>
            <a:pPr algn="l">
              <a:lnSpc>
                <a:spcPct val="128000"/>
              </a:lnSpc>
              <a:spcBef>
                <a:spcPts val="1200"/>
              </a:spcBef>
            </a:pPr>
            <a:r>
              <a:rPr sz="1900" b="0" i="0">
                <a:solidFill>
                  <a:srgbClr val="F5F1E8"/>
                </a:solidFill>
                <a:latin typeface="DM Sans"/>
                <a:ea typeface="DM Sans"/>
                <a:cs typeface="DM Sans"/>
              </a:rPr>
              <a:t>Who must be convinced, and who can quietly stop it.</a:t>
            </a:r>
          </a:p>
          <a:p>
            <a:pPr algn="l">
              <a:lnSpc>
                <a:spcPct val="128000"/>
              </a:lnSpc>
              <a:spcBef>
                <a:spcPts val="1200"/>
              </a:spcBef>
            </a:pPr>
            <a:r>
              <a:rPr sz="1900" b="0" i="0">
                <a:solidFill>
                  <a:srgbClr val="F5F1E8"/>
                </a:solidFill>
                <a:latin typeface="DM Sans"/>
                <a:ea typeface="DM Sans"/>
                <a:cs typeface="DM Sans"/>
              </a:rPr>
              <a:t>What the pressure is, and where it comes from.</a:t>
            </a:r>
          </a:p>
          <a:p>
            <a:pPr algn="l">
              <a:lnSpc>
                <a:spcPct val="128000"/>
              </a:lnSpc>
              <a:spcBef>
                <a:spcPts val="1200"/>
              </a:spcBef>
            </a:pPr>
            <a:r>
              <a:rPr sz="1900" b="0" i="0">
                <a:solidFill>
                  <a:srgbClr val="F5F1E8"/>
                </a:solidFill>
                <a:latin typeface="DM Sans"/>
                <a:ea typeface="DM Sans"/>
                <a:cs typeface="DM Sans"/>
              </a:rPr>
              <a:t>What everyone here is quietly afraid of.</a:t>
            </a:r>
          </a:p>
        </p:txBody>
      </p:sp>
      <p:sp>
        <p:nvSpPr>
          <p:cNvPr id="6" name="Rectangle 5"/>
          <p:cNvSpPr/>
          <p:nvPr/>
        </p:nvSpPr>
        <p:spPr>
          <a:xfrm>
            <a:off x="1016000" y="4927600"/>
            <a:ext cx="10160000" cy="19050"/>
          </a:xfrm>
          <a:prstGeom prst="rect">
            <a:avLst/>
          </a:prstGeom>
          <a:solidFill>
            <a:srgbClr val="223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5219700"/>
            <a:ext cx="10160000" cy="960120"/>
          </a:xfrm>
          <a:prstGeom prst="rect">
            <a:avLst/>
          </a:prstGeom>
          <a:noFill/>
        </p:spPr>
        <p:txBody>
          <a:bodyPr wrap="square" lIns="0" rIns="0" tIns="0" bIns="0" anchor="t">
            <a:spAutoFit/>
          </a:bodyPr>
          <a:lstStyle/>
          <a:p>
            <a:pPr algn="l">
              <a:lnSpc>
                <a:spcPct val="120000"/>
              </a:lnSpc>
            </a:pPr>
            <a:r>
              <a:rPr sz="2000" b="1" i="0">
                <a:solidFill>
                  <a:srgbClr val="C9A84C"/>
                </a:solidFill>
                <a:latin typeface="Montserrat"/>
                <a:ea typeface="Montserrat"/>
                <a:cs typeface="Montserrat"/>
              </a:rPr>
              <a:t>IT CAN FEEL LIKE A COMPETENCE GAP.</a:t>
            </a:r>
            <a:br/>
            <a:r>
              <a:rPr sz="2000" b="1" i="0">
                <a:solidFill>
                  <a:srgbClr val="C9A84C"/>
                </a:solidFill>
                <a:latin typeface="Montserrat"/>
                <a:ea typeface="Montserrat"/>
                <a:cs typeface="Montserrat"/>
              </a:rPr>
              <a:t>SOME CONTEXT CAN BE RESEARCHED.</a:t>
            </a:r>
            <a:br/>
            <a:r>
              <a:rPr sz="2000" b="1" i="0">
                <a:solidFill>
                  <a:srgbClr val="C9A84C"/>
                </a:solidFill>
                <a:latin typeface="Montserrat"/>
                <a:ea typeface="Montserrat"/>
                <a:cs typeface="Montserrat"/>
              </a:rPr>
              <a:t>SOME MUST BE LEARNED THROUGH EXPOSURE.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CREDENTIAL</a:t>
            </a:r>
          </a:p>
        </p:txBody>
      </p:sp>
      <p:sp>
        <p:nvSpPr>
          <p:cNvPr id="3" name="TextBox 2"/>
          <p:cNvSpPr txBox="1"/>
          <p:nvPr/>
        </p:nvSpPr>
        <p:spPr>
          <a:xfrm>
            <a:off x="1016000" y="1498600"/>
            <a:ext cx="10160000" cy="469900"/>
          </a:xfrm>
          <a:prstGeom prst="rect">
            <a:avLst/>
          </a:prstGeom>
          <a:noFill/>
        </p:spPr>
        <p:txBody>
          <a:bodyPr wrap="square" lIns="0" rIns="0" tIns="0" bIns="0" anchor="t">
            <a:spAutoFit/>
          </a:bodyPr>
          <a:lstStyle/>
          <a:p>
            <a:pPr algn="l">
              <a:lnSpc>
                <a:spcPct val="106000"/>
              </a:lnSpc>
            </a:pPr>
            <a:r>
              <a:rPr sz="3100" b="1" i="0">
                <a:solidFill>
                  <a:srgbClr val="0F2346"/>
                </a:solidFill>
                <a:latin typeface="Montserrat"/>
                <a:ea typeface="Montserrat"/>
                <a:cs typeface="Montserrat"/>
              </a:rPr>
              <a:t>WHAT MUST BE EARNED</a:t>
            </a:r>
          </a:p>
        </p:txBody>
      </p:sp>
      <p:sp>
        <p:nvSpPr>
          <p:cNvPr id="4" name="Rectangle 3"/>
          <p:cNvSpPr/>
          <p:nvPr/>
        </p:nvSpPr>
        <p:spPr>
          <a:xfrm>
            <a:off x="1016000" y="2184400"/>
            <a:ext cx="12700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730500"/>
            <a:ext cx="3937000" cy="330200"/>
          </a:xfrm>
          <a:prstGeom prst="rect">
            <a:avLst/>
          </a:prstGeom>
          <a:noFill/>
        </p:spPr>
        <p:txBody>
          <a:bodyPr wrap="square" lIns="0" rIns="0" tIns="0" bIns="0" anchor="t">
            <a:spAutoFit/>
          </a:bodyPr>
          <a:lstStyle/>
          <a:p>
            <a:pPr algn="l">
              <a:lnSpc>
                <a:spcPct val="110000"/>
              </a:lnSpc>
            </a:pPr>
            <a:r>
              <a:rPr sz="2000" b="1" i="0">
                <a:solidFill>
                  <a:srgbClr val="0F2346"/>
                </a:solidFill>
                <a:latin typeface="Montserrat"/>
                <a:ea typeface="Montserrat"/>
                <a:cs typeface="Montserrat"/>
              </a:rPr>
              <a:t>Genuinely required</a:t>
            </a:r>
          </a:p>
        </p:txBody>
      </p:sp>
      <p:sp>
        <p:nvSpPr>
          <p:cNvPr id="6" name="TextBox 5"/>
          <p:cNvSpPr txBox="1"/>
          <p:nvPr/>
        </p:nvSpPr>
        <p:spPr>
          <a:xfrm>
            <a:off x="5207000" y="2755900"/>
            <a:ext cx="5969000" cy="336550"/>
          </a:xfrm>
          <a:prstGeom prst="rect">
            <a:avLst/>
          </a:prstGeom>
          <a:noFill/>
        </p:spPr>
        <p:txBody>
          <a:bodyPr wrap="square" lIns="0" rIns="0" tIns="0" bIns="0" anchor="t">
            <a:spAutoFit/>
          </a:bodyPr>
          <a:lstStyle/>
          <a:p>
            <a:pPr algn="l">
              <a:lnSpc>
                <a:spcPct val="126000"/>
              </a:lnSpc>
            </a:pPr>
            <a:r>
              <a:rPr sz="1800" b="0" i="0">
                <a:solidFill>
                  <a:srgbClr val="5A6B82"/>
                </a:solidFill>
                <a:latin typeface="DM Sans"/>
                <a:ea typeface="DM Sans"/>
                <a:cs typeface="DM Sans"/>
              </a:rPr>
              <a:t>There is no way around it. Plan for it.</a:t>
            </a:r>
          </a:p>
        </p:txBody>
      </p:sp>
      <p:sp>
        <p:nvSpPr>
          <p:cNvPr id="7" name="Rectangle 6"/>
          <p:cNvSpPr/>
          <p:nvPr/>
        </p:nvSpPr>
        <p:spPr>
          <a:xfrm>
            <a:off x="1016000" y="34798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3911600"/>
            <a:ext cx="3937000" cy="330200"/>
          </a:xfrm>
          <a:prstGeom prst="rect">
            <a:avLst/>
          </a:prstGeom>
          <a:noFill/>
        </p:spPr>
        <p:txBody>
          <a:bodyPr wrap="square" lIns="0" rIns="0" tIns="0" bIns="0" anchor="t">
            <a:spAutoFit/>
          </a:bodyPr>
          <a:lstStyle/>
          <a:p>
            <a:pPr algn="l">
              <a:lnSpc>
                <a:spcPct val="110000"/>
              </a:lnSpc>
            </a:pPr>
            <a:r>
              <a:rPr sz="2000" b="1" i="0">
                <a:solidFill>
                  <a:srgbClr val="0F2346"/>
                </a:solidFill>
                <a:latin typeface="Montserrat"/>
                <a:ea typeface="Montserrat"/>
                <a:cs typeface="Montserrat"/>
              </a:rPr>
              <a:t>A signal</a:t>
            </a:r>
          </a:p>
        </p:txBody>
      </p:sp>
      <p:sp>
        <p:nvSpPr>
          <p:cNvPr id="9" name="TextBox 8"/>
          <p:cNvSpPr txBox="1"/>
          <p:nvPr/>
        </p:nvSpPr>
        <p:spPr>
          <a:xfrm>
            <a:off x="5207000" y="3937000"/>
            <a:ext cx="5969000" cy="336550"/>
          </a:xfrm>
          <a:prstGeom prst="rect">
            <a:avLst/>
          </a:prstGeom>
          <a:noFill/>
        </p:spPr>
        <p:txBody>
          <a:bodyPr wrap="square" lIns="0" rIns="0" tIns="0" bIns="0" anchor="t">
            <a:spAutoFit/>
          </a:bodyPr>
          <a:lstStyle/>
          <a:p>
            <a:pPr algn="l">
              <a:lnSpc>
                <a:spcPct val="126000"/>
              </a:lnSpc>
            </a:pPr>
            <a:r>
              <a:rPr sz="1800" b="0" i="0">
                <a:solidFill>
                  <a:srgbClr val="5A6B82"/>
                </a:solidFill>
                <a:latin typeface="DM Sans"/>
                <a:ea typeface="DM Sans"/>
                <a:cs typeface="DM Sans"/>
              </a:rPr>
              <a:t>Not required, but it shortens the conversation.</a:t>
            </a:r>
          </a:p>
        </p:txBody>
      </p:sp>
      <p:sp>
        <p:nvSpPr>
          <p:cNvPr id="10" name="Rectangle 9"/>
          <p:cNvSpPr/>
          <p:nvPr/>
        </p:nvSpPr>
        <p:spPr>
          <a:xfrm>
            <a:off x="1016000" y="46609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5092700"/>
            <a:ext cx="3937000" cy="330200"/>
          </a:xfrm>
          <a:prstGeom prst="rect">
            <a:avLst/>
          </a:prstGeom>
          <a:noFill/>
        </p:spPr>
        <p:txBody>
          <a:bodyPr wrap="square" lIns="0" rIns="0" tIns="0" bIns="0" anchor="t">
            <a:spAutoFit/>
          </a:bodyPr>
          <a:lstStyle/>
          <a:p>
            <a:pPr algn="l">
              <a:lnSpc>
                <a:spcPct val="110000"/>
              </a:lnSpc>
            </a:pPr>
            <a:r>
              <a:rPr sz="2000" b="1" i="0">
                <a:solidFill>
                  <a:srgbClr val="0F2346"/>
                </a:solidFill>
                <a:latin typeface="Montserrat"/>
                <a:ea typeface="Montserrat"/>
                <a:cs typeface="Montserrat"/>
              </a:rPr>
              <a:t>Neither</a:t>
            </a:r>
          </a:p>
        </p:txBody>
      </p:sp>
      <p:sp>
        <p:nvSpPr>
          <p:cNvPr id="12" name="TextBox 11"/>
          <p:cNvSpPr txBox="1"/>
          <p:nvPr/>
        </p:nvSpPr>
        <p:spPr>
          <a:xfrm>
            <a:off x="5207000" y="5118100"/>
            <a:ext cx="5969000" cy="336550"/>
          </a:xfrm>
          <a:prstGeom prst="rect">
            <a:avLst/>
          </a:prstGeom>
          <a:noFill/>
        </p:spPr>
        <p:txBody>
          <a:bodyPr wrap="square" lIns="0" rIns="0" tIns="0" bIns="0" anchor="t">
            <a:spAutoFit/>
          </a:bodyPr>
          <a:lstStyle/>
          <a:p>
            <a:pPr algn="l">
              <a:lnSpc>
                <a:spcPct val="126000"/>
              </a:lnSpc>
            </a:pPr>
            <a:r>
              <a:rPr sz="1800" b="0" i="0">
                <a:solidFill>
                  <a:srgbClr val="5A6B82"/>
                </a:solidFill>
                <a:latin typeface="DM Sans"/>
                <a:ea typeface="DM Sans"/>
                <a:cs typeface="DM Sans"/>
              </a:rPr>
              <a:t>Chased because it feels like progress.</a:t>
            </a:r>
          </a:p>
        </p:txBody>
      </p:sp>
      <p:sp>
        <p:nvSpPr>
          <p:cNvPr id="13" name="Rectangle 12"/>
          <p:cNvSpPr/>
          <p:nvPr/>
        </p:nvSpPr>
        <p:spPr>
          <a:xfrm>
            <a:off x="1016000" y="5842000"/>
            <a:ext cx="10160000" cy="127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TWO</a:t>
            </a:r>
          </a:p>
        </p:txBody>
      </p:sp>
      <p:sp>
        <p:nvSpPr>
          <p:cNvPr id="3" name="TextBox 2"/>
          <p:cNvSpPr txBox="1"/>
          <p:nvPr/>
        </p:nvSpPr>
        <p:spPr>
          <a:xfrm>
            <a:off x="1016000" y="1371600"/>
            <a:ext cx="10287000" cy="863600"/>
          </a:xfrm>
          <a:prstGeom prst="rect">
            <a:avLst/>
          </a:prstGeom>
          <a:noFill/>
        </p:spPr>
        <p:txBody>
          <a:bodyPr wrap="square" lIns="0" rIns="0" tIns="0" bIns="0" anchor="t">
            <a:spAutoFit/>
          </a:bodyPr>
          <a:lstStyle/>
          <a:p>
            <a:pPr algn="l">
              <a:lnSpc>
                <a:spcPct val="114000"/>
              </a:lnSpc>
            </a:pPr>
            <a:r>
              <a:rPr sz="2800" b="1" i="0">
                <a:solidFill>
                  <a:srgbClr val="F5F1E8"/>
                </a:solidFill>
                <a:latin typeface="Montserrat"/>
                <a:ea typeface="Montserrat"/>
                <a:cs typeface="Montserrat"/>
              </a:rPr>
              <a:t>START FROM THE DESTINATION,</a:t>
            </a:r>
            <a:br/>
            <a:r>
              <a:rPr sz="2800" b="1" i="0">
                <a:solidFill>
                  <a:srgbClr val="F5F1E8"/>
                </a:solidFill>
                <a:latin typeface="Montserrat"/>
                <a:ea typeface="Montserrat"/>
                <a:cs typeface="Montserrat"/>
              </a:rPr>
              <a:t>NOT FROM YOUR CV.</a:t>
            </a:r>
          </a:p>
        </p:txBody>
      </p:sp>
      <p:sp>
        <p:nvSpPr>
          <p:cNvPr id="4" name="Rectangle 3"/>
          <p:cNvSpPr/>
          <p:nvPr/>
        </p:nvSpPr>
        <p:spPr>
          <a:xfrm>
            <a:off x="1016000" y="25400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TWO</a:t>
            </a:r>
          </a:p>
        </p:txBody>
      </p:sp>
      <p:sp>
        <p:nvSpPr>
          <p:cNvPr id="3" name="TextBox 2"/>
          <p:cNvSpPr txBox="1"/>
          <p:nvPr/>
        </p:nvSpPr>
        <p:spPr>
          <a:xfrm>
            <a:off x="1016000" y="1371600"/>
            <a:ext cx="10287000" cy="863600"/>
          </a:xfrm>
          <a:prstGeom prst="rect">
            <a:avLst/>
          </a:prstGeom>
          <a:noFill/>
        </p:spPr>
        <p:txBody>
          <a:bodyPr wrap="square" lIns="0" rIns="0" tIns="0" bIns="0" anchor="t">
            <a:spAutoFit/>
          </a:bodyPr>
          <a:lstStyle/>
          <a:p>
            <a:pPr algn="l">
              <a:lnSpc>
                <a:spcPct val="114000"/>
              </a:lnSpc>
            </a:pPr>
            <a:r>
              <a:rPr sz="2800" b="1" i="0">
                <a:solidFill>
                  <a:srgbClr val="F5F1E8"/>
                </a:solidFill>
                <a:latin typeface="Montserrat"/>
                <a:ea typeface="Montserrat"/>
                <a:cs typeface="Montserrat"/>
              </a:rPr>
              <a:t>START FROM THE DESTINATION,</a:t>
            </a:r>
            <a:br/>
            <a:r>
              <a:rPr sz="2800" b="1" i="0">
                <a:solidFill>
                  <a:srgbClr val="F5F1E8"/>
                </a:solidFill>
                <a:latin typeface="Montserrat"/>
                <a:ea typeface="Montserrat"/>
                <a:cs typeface="Montserrat"/>
              </a:rPr>
              <a:t>NOT FROM YOUR CV.</a:t>
            </a:r>
          </a:p>
        </p:txBody>
      </p:sp>
      <p:sp>
        <p:nvSpPr>
          <p:cNvPr id="4" name="Rectangle 3"/>
          <p:cNvSpPr/>
          <p:nvPr/>
        </p:nvSpPr>
        <p:spPr>
          <a:xfrm>
            <a:off x="1016000" y="25400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984500"/>
            <a:ext cx="10287000" cy="1784350"/>
          </a:xfrm>
          <a:prstGeom prst="rect">
            <a:avLst/>
          </a:prstGeom>
          <a:noFill/>
        </p:spPr>
        <p:txBody>
          <a:bodyPr wrap="square" lIns="0" rIns="0" tIns="0" bIns="0" anchor="t">
            <a:spAutoFit/>
          </a:bodyPr>
          <a:lstStyle/>
          <a:p>
            <a:pPr algn="l">
              <a:lnSpc>
                <a:spcPct val="128000"/>
              </a:lnSpc>
            </a:pPr>
            <a:r>
              <a:rPr sz="1900" b="0" i="0">
                <a:solidFill>
                  <a:srgbClr val="F5F1E8"/>
                </a:solidFill>
                <a:latin typeface="DM Sans"/>
                <a:ea typeface="DM Sans"/>
                <a:cs typeface="DM Sans"/>
              </a:rPr>
              <a:t>What does that industry keep failing to solve?</a:t>
            </a:r>
          </a:p>
          <a:p>
            <a:pPr algn="l">
              <a:lnSpc>
                <a:spcPct val="128000"/>
              </a:lnSpc>
              <a:spcBef>
                <a:spcPts val="1300"/>
              </a:spcBef>
            </a:pPr>
            <a:r>
              <a:rPr sz="1900" b="0" i="0">
                <a:solidFill>
                  <a:srgbClr val="F5F1E8"/>
                </a:solidFill>
                <a:latin typeface="DM Sans"/>
                <a:ea typeface="DM Sans"/>
                <a:cs typeface="DM Sans"/>
              </a:rPr>
              <a:t>Which of those decisions have you made before?</a:t>
            </a:r>
          </a:p>
          <a:p>
            <a:pPr algn="l">
              <a:lnSpc>
                <a:spcPct val="128000"/>
              </a:lnSpc>
              <a:spcBef>
                <a:spcPts val="1300"/>
              </a:spcBef>
            </a:pPr>
            <a:r>
              <a:rPr sz="1900" b="0" i="0">
                <a:solidFill>
                  <a:srgbClr val="F5F1E8"/>
                </a:solidFill>
                <a:latin typeface="DM Sans"/>
                <a:ea typeface="DM Sans"/>
                <a:cs typeface="DM Sans"/>
              </a:rPr>
              <a:t>Which patterns do you already recognise early?</a:t>
            </a:r>
          </a:p>
          <a:p>
            <a:pPr algn="l">
              <a:lnSpc>
                <a:spcPct val="128000"/>
              </a:lnSpc>
              <a:spcBef>
                <a:spcPts val="1300"/>
              </a:spcBef>
            </a:pPr>
            <a:r>
              <a:rPr sz="1900" b="0" i="0">
                <a:solidFill>
                  <a:srgbClr val="F5F1E8"/>
                </a:solidFill>
                <a:latin typeface="DM Sans"/>
                <a:ea typeface="DM Sans"/>
                <a:cs typeface="DM Sans"/>
              </a:rPr>
              <a:t>Which constraints have you worked inside?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TRANSLATE, DO NOT RECITE</a:t>
            </a:r>
          </a:p>
        </p:txBody>
      </p:sp>
      <p:sp>
        <p:nvSpPr>
          <p:cNvPr id="3" name="TextBox 2"/>
          <p:cNvSpPr txBox="1"/>
          <p:nvPr/>
        </p:nvSpPr>
        <p:spPr>
          <a:xfrm>
            <a:off x="1016000" y="1524000"/>
            <a:ext cx="10160000" cy="844550"/>
          </a:xfrm>
          <a:prstGeom prst="rect">
            <a:avLst/>
          </a:prstGeom>
          <a:noFill/>
        </p:spPr>
        <p:txBody>
          <a:bodyPr wrap="square" lIns="0" rIns="0" tIns="0" bIns="0" anchor="t">
            <a:spAutoFit/>
          </a:bodyPr>
          <a:lstStyle/>
          <a:p>
            <a:pPr algn="l">
              <a:lnSpc>
                <a:spcPct val="116000"/>
              </a:lnSpc>
            </a:pPr>
            <a:r>
              <a:rPr sz="2700" b="1" i="0">
                <a:solidFill>
                  <a:srgbClr val="5A6B82"/>
                </a:solidFill>
                <a:latin typeface="Montserrat"/>
                <a:ea typeface="Montserrat"/>
                <a:cs typeface="Montserrat"/>
              </a:rPr>
              <a:t>“ADAPTABLE.”   “STRATEGIC.”</a:t>
            </a:r>
            <a:br/>
            <a:r>
              <a:rPr sz="2700" b="1" i="0">
                <a:solidFill>
                  <a:srgbClr val="5A6B82"/>
                </a:solidFill>
                <a:latin typeface="Montserrat"/>
                <a:ea typeface="Montserrat"/>
                <a:cs typeface="Montserrat"/>
              </a:rPr>
              <a:t>“A FAST LEARNER.”</a:t>
            </a:r>
          </a:p>
        </p:txBody>
      </p:sp>
      <p:sp>
        <p:nvSpPr>
          <p:cNvPr id="4" name="Rectangle 3"/>
          <p:cNvSpPr/>
          <p:nvPr/>
        </p:nvSpPr>
        <p:spPr>
          <a:xfrm>
            <a:off x="1016000" y="2717800"/>
            <a:ext cx="12700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3022600"/>
            <a:ext cx="10160000" cy="361950"/>
          </a:xfrm>
          <a:prstGeom prst="rect">
            <a:avLst/>
          </a:prstGeom>
          <a:noFill/>
        </p:spPr>
        <p:txBody>
          <a:bodyPr wrap="square" lIns="0" rIns="0" tIns="0" bIns="0" anchor="t">
            <a:spAutoFit/>
          </a:bodyPr>
          <a:lstStyle/>
          <a:p>
            <a:pPr algn="l">
              <a:lnSpc>
                <a:spcPct val="128000"/>
              </a:lnSpc>
            </a:pPr>
            <a:r>
              <a:rPr sz="1900" b="0" i="0">
                <a:solidFill>
                  <a:srgbClr val="5A6B82"/>
                </a:solidFill>
                <a:latin typeface="DM Sans"/>
                <a:ea typeface="DM Sans"/>
                <a:cs typeface="DM Sans"/>
              </a:rPr>
              <a:t>These describe how you would like to be seen.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10668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TRANSLATE, DO NOT RECITE</a:t>
            </a:r>
          </a:p>
        </p:txBody>
      </p:sp>
      <p:sp>
        <p:nvSpPr>
          <p:cNvPr id="3" name="TextBox 2"/>
          <p:cNvSpPr txBox="1"/>
          <p:nvPr/>
        </p:nvSpPr>
        <p:spPr>
          <a:xfrm>
            <a:off x="1016000" y="1524000"/>
            <a:ext cx="10160000" cy="844550"/>
          </a:xfrm>
          <a:prstGeom prst="rect">
            <a:avLst/>
          </a:prstGeom>
          <a:noFill/>
        </p:spPr>
        <p:txBody>
          <a:bodyPr wrap="square" lIns="0" rIns="0" tIns="0" bIns="0" anchor="t">
            <a:spAutoFit/>
          </a:bodyPr>
          <a:lstStyle/>
          <a:p>
            <a:pPr algn="l">
              <a:lnSpc>
                <a:spcPct val="116000"/>
              </a:lnSpc>
            </a:pPr>
            <a:r>
              <a:rPr sz="2700" b="1" i="0">
                <a:solidFill>
                  <a:srgbClr val="5A6B82"/>
                </a:solidFill>
                <a:latin typeface="Montserrat"/>
                <a:ea typeface="Montserrat"/>
                <a:cs typeface="Montserrat"/>
              </a:rPr>
              <a:t>“ADAPTABLE.”   “STRATEGIC.”</a:t>
            </a:r>
            <a:br/>
            <a:r>
              <a:rPr sz="2700" b="1" i="0">
                <a:solidFill>
                  <a:srgbClr val="5A6B82"/>
                </a:solidFill>
                <a:latin typeface="Montserrat"/>
                <a:ea typeface="Montserrat"/>
                <a:cs typeface="Montserrat"/>
              </a:rPr>
              <a:t>“A FAST LEARNER.”</a:t>
            </a:r>
          </a:p>
        </p:txBody>
      </p:sp>
      <p:sp>
        <p:nvSpPr>
          <p:cNvPr id="4" name="Rectangle 3"/>
          <p:cNvSpPr/>
          <p:nvPr/>
        </p:nvSpPr>
        <p:spPr>
          <a:xfrm>
            <a:off x="1016000" y="2717800"/>
            <a:ext cx="1270000" cy="254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3022600"/>
            <a:ext cx="10160000" cy="361950"/>
          </a:xfrm>
          <a:prstGeom prst="rect">
            <a:avLst/>
          </a:prstGeom>
          <a:noFill/>
        </p:spPr>
        <p:txBody>
          <a:bodyPr wrap="square" lIns="0" rIns="0" tIns="0" bIns="0" anchor="t">
            <a:spAutoFit/>
          </a:bodyPr>
          <a:lstStyle/>
          <a:p>
            <a:pPr algn="l">
              <a:lnSpc>
                <a:spcPct val="128000"/>
              </a:lnSpc>
            </a:pPr>
            <a:r>
              <a:rPr sz="1900" b="0" i="0">
                <a:solidFill>
                  <a:srgbClr val="5A6B82"/>
                </a:solidFill>
                <a:latin typeface="DM Sans"/>
                <a:ea typeface="DM Sans"/>
                <a:cs typeface="DM Sans"/>
              </a:rPr>
              <a:t>These describe how you would like to be seen.</a:t>
            </a:r>
          </a:p>
        </p:txBody>
      </p:sp>
      <p:sp>
        <p:nvSpPr>
          <p:cNvPr id="6" name="Rectangle 5"/>
          <p:cNvSpPr/>
          <p:nvPr/>
        </p:nvSpPr>
        <p:spPr>
          <a:xfrm>
            <a:off x="0" y="3784600"/>
            <a:ext cx="12192000" cy="3073400"/>
          </a:xfrm>
          <a:prstGeom prst="rect">
            <a:avLst/>
          </a:prstGeom>
          <a:solidFill>
            <a:srgbClr val="0F23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4292600"/>
            <a:ext cx="10160000" cy="787400"/>
          </a:xfrm>
          <a:prstGeom prst="rect">
            <a:avLst/>
          </a:prstGeom>
          <a:noFill/>
        </p:spPr>
        <p:txBody>
          <a:bodyPr wrap="square" lIns="0" rIns="0" tIns="0" bIns="0" anchor="t">
            <a:spAutoFit/>
          </a:bodyPr>
          <a:lstStyle/>
          <a:p>
            <a:pPr algn="l">
              <a:lnSpc>
                <a:spcPct val="116000"/>
              </a:lnSpc>
            </a:pPr>
            <a:r>
              <a:rPr sz="2500" b="1" i="0">
                <a:solidFill>
                  <a:srgbClr val="F5F1E8"/>
                </a:solidFill>
                <a:latin typeface="Montserrat"/>
                <a:ea typeface="Montserrat"/>
                <a:cs typeface="Montserrat"/>
              </a:rPr>
              <a:t>THE UNIT THAT TRANSFERS IS JUDGMENT,</a:t>
            </a:r>
            <a:br/>
            <a:r>
              <a:rPr sz="2500" b="1" i="0">
                <a:solidFill>
                  <a:srgbClr val="F5F1E8"/>
                </a:solidFill>
                <a:latin typeface="Montserrat"/>
                <a:ea typeface="Montserrat"/>
                <a:cs typeface="Montserrat"/>
              </a:rPr>
              <a:t>WITH EVIDENCE ATTACHED.</a:t>
            </a:r>
          </a:p>
        </p:txBody>
      </p:sp>
      <p:sp>
        <p:nvSpPr>
          <p:cNvPr id="8" name="Rectangle 7"/>
          <p:cNvSpPr/>
          <p:nvPr/>
        </p:nvSpPr>
        <p:spPr>
          <a:xfrm>
            <a:off x="1016000" y="55372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6000" y="5829300"/>
            <a:ext cx="10160000" cy="361950"/>
          </a:xfrm>
          <a:prstGeom prst="rect">
            <a:avLst/>
          </a:prstGeom>
          <a:noFill/>
        </p:spPr>
        <p:txBody>
          <a:bodyPr wrap="square" lIns="0" rIns="0" tIns="0" bIns="0" anchor="t">
            <a:spAutoFit/>
          </a:bodyPr>
          <a:lstStyle/>
          <a:p>
            <a:pPr algn="l">
              <a:lnSpc>
                <a:spcPct val="128000"/>
              </a:lnSpc>
            </a:pPr>
            <a:r>
              <a:rPr sz="1900" b="0" i="0">
                <a:solidFill>
                  <a:srgbClr val="B9C3D2"/>
                </a:solidFill>
                <a:latin typeface="DM Sans"/>
                <a:ea typeface="DM Sans"/>
                <a:cs typeface="DM Sans"/>
              </a:rPr>
              <a:t>Not a job title. Not a task list.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8890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THREE</a:t>
            </a:r>
          </a:p>
        </p:txBody>
      </p:sp>
      <p:sp>
        <p:nvSpPr>
          <p:cNvPr id="3" name="TextBox 2"/>
          <p:cNvSpPr txBox="1"/>
          <p:nvPr/>
        </p:nvSpPr>
        <p:spPr>
          <a:xfrm>
            <a:off x="1016000" y="1308100"/>
            <a:ext cx="10287000" cy="438150"/>
          </a:xfrm>
          <a:prstGeom prst="rect">
            <a:avLst/>
          </a:prstGeom>
          <a:noFill/>
        </p:spPr>
        <p:txBody>
          <a:bodyPr wrap="square" lIns="0" rIns="0" tIns="0" bIns="0" anchor="t">
            <a:spAutoFit/>
          </a:bodyPr>
          <a:lstStyle/>
          <a:p>
            <a:pPr algn="l">
              <a:lnSpc>
                <a:spcPct val="106000"/>
              </a:lnSpc>
            </a:pPr>
            <a:r>
              <a:rPr sz="2900" b="1" i="0">
                <a:solidFill>
                  <a:srgbClr val="F5F1E8"/>
                </a:solidFill>
                <a:latin typeface="Montserrat"/>
                <a:ea typeface="Montserrat"/>
                <a:cs typeface="Montserrat"/>
              </a:rPr>
              <a:t>BRIDGE EVIDENCE</a:t>
            </a:r>
          </a:p>
        </p:txBody>
      </p:sp>
      <p:sp>
        <p:nvSpPr>
          <p:cNvPr id="4" name="Rectangle 3"/>
          <p:cNvSpPr/>
          <p:nvPr/>
        </p:nvSpPr>
        <p:spPr>
          <a:xfrm>
            <a:off x="1016000" y="19431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000" y="24257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08100" y="27051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A RELEVANT PROJECT   ·   CROSS-FUNCTIONAL WORK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8890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THREE</a:t>
            </a:r>
          </a:p>
        </p:txBody>
      </p:sp>
      <p:sp>
        <p:nvSpPr>
          <p:cNvPr id="3" name="TextBox 2"/>
          <p:cNvSpPr txBox="1"/>
          <p:nvPr/>
        </p:nvSpPr>
        <p:spPr>
          <a:xfrm>
            <a:off x="1016000" y="1308100"/>
            <a:ext cx="10287000" cy="438150"/>
          </a:xfrm>
          <a:prstGeom prst="rect">
            <a:avLst/>
          </a:prstGeom>
          <a:noFill/>
        </p:spPr>
        <p:txBody>
          <a:bodyPr wrap="square" lIns="0" rIns="0" tIns="0" bIns="0" anchor="t">
            <a:spAutoFit/>
          </a:bodyPr>
          <a:lstStyle/>
          <a:p>
            <a:pPr algn="l">
              <a:lnSpc>
                <a:spcPct val="106000"/>
              </a:lnSpc>
            </a:pPr>
            <a:r>
              <a:rPr sz="2900" b="1" i="0">
                <a:solidFill>
                  <a:srgbClr val="F5F1E8"/>
                </a:solidFill>
                <a:latin typeface="Montserrat"/>
                <a:ea typeface="Montserrat"/>
                <a:cs typeface="Montserrat"/>
              </a:rPr>
              <a:t>BRIDGE EVIDENCE</a:t>
            </a:r>
          </a:p>
        </p:txBody>
      </p:sp>
      <p:sp>
        <p:nvSpPr>
          <p:cNvPr id="4" name="Rectangle 3"/>
          <p:cNvSpPr/>
          <p:nvPr/>
        </p:nvSpPr>
        <p:spPr>
          <a:xfrm>
            <a:off x="1016000" y="19431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000" y="24257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08100" y="27051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A RELEVANT PROJECT   ·   CROSS-FUNCTIONAL WORK</a:t>
            </a:r>
          </a:p>
        </p:txBody>
      </p:sp>
      <p:sp>
        <p:nvSpPr>
          <p:cNvPr id="7" name="Rectangle 6"/>
          <p:cNvSpPr/>
          <p:nvPr/>
        </p:nvSpPr>
        <p:spPr>
          <a:xfrm>
            <a:off x="1016000" y="35433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8100" y="38227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RESEARCH TURNED INTO A POINT OF VIEW   ·   A WORK SAMPLE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889000"/>
            <a:ext cx="7620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MOVE THREE</a:t>
            </a:r>
          </a:p>
        </p:txBody>
      </p:sp>
      <p:sp>
        <p:nvSpPr>
          <p:cNvPr id="3" name="TextBox 2"/>
          <p:cNvSpPr txBox="1"/>
          <p:nvPr/>
        </p:nvSpPr>
        <p:spPr>
          <a:xfrm>
            <a:off x="1016000" y="1308100"/>
            <a:ext cx="10287000" cy="438150"/>
          </a:xfrm>
          <a:prstGeom prst="rect">
            <a:avLst/>
          </a:prstGeom>
          <a:noFill/>
        </p:spPr>
        <p:txBody>
          <a:bodyPr wrap="square" lIns="0" rIns="0" tIns="0" bIns="0" anchor="t">
            <a:spAutoFit/>
          </a:bodyPr>
          <a:lstStyle/>
          <a:p>
            <a:pPr algn="l">
              <a:lnSpc>
                <a:spcPct val="106000"/>
              </a:lnSpc>
            </a:pPr>
            <a:r>
              <a:rPr sz="2900" b="1" i="0">
                <a:solidFill>
                  <a:srgbClr val="F5F1E8"/>
                </a:solidFill>
                <a:latin typeface="Montserrat"/>
                <a:ea typeface="Montserrat"/>
                <a:cs typeface="Montserrat"/>
              </a:rPr>
              <a:t>BRIDGE EVIDENCE</a:t>
            </a:r>
          </a:p>
        </p:txBody>
      </p:sp>
      <p:sp>
        <p:nvSpPr>
          <p:cNvPr id="4" name="Rectangle 3"/>
          <p:cNvSpPr/>
          <p:nvPr/>
        </p:nvSpPr>
        <p:spPr>
          <a:xfrm>
            <a:off x="1016000" y="1943100"/>
            <a:ext cx="1270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16000" y="24257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08100" y="27051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A RELEVANT PROJECT   ·   CROSS-FUNCTIONAL WORK</a:t>
            </a:r>
          </a:p>
        </p:txBody>
      </p:sp>
      <p:sp>
        <p:nvSpPr>
          <p:cNvPr id="7" name="Rectangle 6"/>
          <p:cNvSpPr/>
          <p:nvPr/>
        </p:nvSpPr>
        <p:spPr>
          <a:xfrm>
            <a:off x="1016000" y="35433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8100" y="38227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RESEARCH TURNED INTO A POINT OF VIEW   ·   A WORK SAMPLE</a:t>
            </a:r>
          </a:p>
        </p:txBody>
      </p:sp>
      <p:sp>
        <p:nvSpPr>
          <p:cNvPr id="9" name="Rectangle 8"/>
          <p:cNvSpPr/>
          <p:nvPr/>
        </p:nvSpPr>
        <p:spPr>
          <a:xfrm>
            <a:off x="1016000" y="4660900"/>
            <a:ext cx="10287000" cy="889000"/>
          </a:xfrm>
          <a:prstGeom prst="rect">
            <a:avLst/>
          </a:prstGeom>
          <a:noFill/>
          <a:ln w="19050">
            <a:solidFill>
              <a:srgbClr val="223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08100" y="4940300"/>
            <a:ext cx="9779000" cy="304800"/>
          </a:xfrm>
          <a:prstGeom prst="rect">
            <a:avLst/>
          </a:prstGeom>
          <a:noFill/>
        </p:spPr>
        <p:txBody>
          <a:bodyPr wrap="square" lIns="0" rIns="0" tIns="0" bIns="0" anchor="t">
            <a:spAutoFit/>
          </a:bodyPr>
          <a:lstStyle/>
          <a:p>
            <a:pPr algn="l">
              <a:lnSpc>
                <a:spcPct val="110000"/>
              </a:lnSpc>
            </a:pPr>
            <a:r>
              <a:rPr sz="1800" b="1" i="0">
                <a:solidFill>
                  <a:srgbClr val="F5F1E8"/>
                </a:solidFill>
                <a:latin typeface="Montserrat"/>
                <a:ea typeface="Montserrat"/>
                <a:cs typeface="Montserrat"/>
              </a:rPr>
              <a:t>PRACTITIONER CONVERSATIONS   ·   A FIRST-90-DAYS PLAN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ONE PAGE, THREE COLUMNS</a:t>
            </a:r>
          </a:p>
        </p:txBody>
      </p:sp>
      <p:sp>
        <p:nvSpPr>
          <p:cNvPr id="3" name="Rectangle 2"/>
          <p:cNvSpPr/>
          <p:nvPr/>
        </p:nvSpPr>
        <p:spPr>
          <a:xfrm>
            <a:off x="1016000" y="1524000"/>
            <a:ext cx="25400" cy="3556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954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a:t>
            </a:r>
            <a:br/>
            <a:r>
              <a:rPr sz="2100" b="1" i="0" spc="80">
                <a:solidFill>
                  <a:srgbClr val="0F2346"/>
                </a:solidFill>
                <a:latin typeface="Montserrat"/>
                <a:ea typeface="Montserrat"/>
                <a:cs typeface="Montserrat"/>
              </a:rPr>
              <a:t>TRAVELS</a:t>
            </a:r>
          </a:p>
        </p:txBody>
      </p:sp>
      <p:sp>
        <p:nvSpPr>
          <p:cNvPr id="5" name="TextBox 4"/>
          <p:cNvSpPr txBox="1"/>
          <p:nvPr/>
        </p:nvSpPr>
        <p:spPr>
          <a:xfrm>
            <a:off x="12954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Judgment, decisions,</a:t>
            </a:r>
            <a:br/>
            <a:r>
              <a:rPr sz="1600" b="0" i="0">
                <a:solidFill>
                  <a:srgbClr val="5A6B82"/>
                </a:solidFill>
                <a:latin typeface="DM Sans"/>
                <a:ea typeface="DM Sans"/>
                <a:cs typeface="DM Sans"/>
              </a:rPr>
              <a:t>patterns, ways of working.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ONE PAGE, THREE COLUMNS</a:t>
            </a:r>
          </a:p>
        </p:txBody>
      </p:sp>
      <p:sp>
        <p:nvSpPr>
          <p:cNvPr id="3" name="Rectangle 2"/>
          <p:cNvSpPr/>
          <p:nvPr/>
        </p:nvSpPr>
        <p:spPr>
          <a:xfrm>
            <a:off x="1016000" y="1524000"/>
            <a:ext cx="25400" cy="3556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954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a:t>
            </a:r>
            <a:br/>
            <a:r>
              <a:rPr sz="2100" b="1" i="0" spc="80">
                <a:solidFill>
                  <a:srgbClr val="0F2346"/>
                </a:solidFill>
                <a:latin typeface="Montserrat"/>
                <a:ea typeface="Montserrat"/>
                <a:cs typeface="Montserrat"/>
              </a:rPr>
              <a:t>TRAVELS</a:t>
            </a:r>
          </a:p>
        </p:txBody>
      </p:sp>
      <p:sp>
        <p:nvSpPr>
          <p:cNvPr id="5" name="TextBox 4"/>
          <p:cNvSpPr txBox="1"/>
          <p:nvPr/>
        </p:nvSpPr>
        <p:spPr>
          <a:xfrm>
            <a:off x="12954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Judgment, decisions,</a:t>
            </a:r>
            <a:br/>
            <a:r>
              <a:rPr sz="1600" b="0" i="0">
                <a:solidFill>
                  <a:srgbClr val="5A6B82"/>
                </a:solidFill>
                <a:latin typeface="DM Sans"/>
                <a:ea typeface="DM Sans"/>
                <a:cs typeface="DM Sans"/>
              </a:rPr>
              <a:t>patterns, ways of working.</a:t>
            </a:r>
          </a:p>
        </p:txBody>
      </p:sp>
      <p:sp>
        <p:nvSpPr>
          <p:cNvPr id="6" name="Rectangle 5"/>
          <p:cNvSpPr/>
          <p:nvPr/>
        </p:nvSpPr>
        <p:spPr>
          <a:xfrm>
            <a:off x="4483100" y="1524000"/>
            <a:ext cx="25400" cy="35560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25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a:t>
            </a:r>
            <a:br/>
            <a:r>
              <a:rPr sz="2100" b="1" i="0" spc="80">
                <a:solidFill>
                  <a:srgbClr val="0F2346"/>
                </a:solidFill>
                <a:latin typeface="Montserrat"/>
                <a:ea typeface="Montserrat"/>
                <a:cs typeface="Montserrat"/>
              </a:rPr>
              <a:t>CHANGES</a:t>
            </a:r>
          </a:p>
        </p:txBody>
      </p:sp>
      <p:sp>
        <p:nvSpPr>
          <p:cNvPr id="8" name="TextBox 7"/>
          <p:cNvSpPr txBox="1"/>
          <p:nvPr/>
        </p:nvSpPr>
        <p:spPr>
          <a:xfrm>
            <a:off x="47625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Language, stakeholders,</a:t>
            </a:r>
            <a:br/>
            <a:r>
              <a:rPr sz="1600" b="0" i="0">
                <a:solidFill>
                  <a:srgbClr val="5A6B82"/>
                </a:solidFill>
                <a:latin typeface="DM Sans"/>
                <a:ea typeface="DM Sans"/>
                <a:cs typeface="DM Sans"/>
              </a:rPr>
              <a:t>incentives, rhythm, risk.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TextBox 1"/>
          <p:cNvSpPr txBox="1"/>
          <p:nvPr/>
        </p:nvSpPr>
        <p:spPr>
          <a:xfrm>
            <a:off x="1016000" y="952500"/>
            <a:ext cx="7620000" cy="203200"/>
          </a:xfrm>
          <a:prstGeom prst="rect">
            <a:avLst/>
          </a:prstGeom>
          <a:noFill/>
        </p:spPr>
        <p:txBody>
          <a:bodyPr wrap="square" lIns="0" rIns="0" tIns="0" bIns="0" anchor="t">
            <a:spAutoFit/>
          </a:bodyPr>
          <a:lstStyle/>
          <a:p>
            <a:pPr algn="l">
              <a:lnSpc>
                <a:spcPct val="100000"/>
              </a:lnSpc>
            </a:pPr>
            <a:r>
              <a:rPr sz="1200" b="1" i="0" spc="225">
                <a:solidFill>
                  <a:srgbClr val="5A6B82"/>
                </a:solidFill>
                <a:latin typeface="Montserrat"/>
                <a:ea typeface="Montserrat"/>
                <a:cs typeface="Montserrat"/>
              </a:rPr>
              <a:t>ONE PAGE, THREE COLUMNS</a:t>
            </a:r>
          </a:p>
        </p:txBody>
      </p:sp>
      <p:sp>
        <p:nvSpPr>
          <p:cNvPr id="3" name="Rectangle 2"/>
          <p:cNvSpPr/>
          <p:nvPr/>
        </p:nvSpPr>
        <p:spPr>
          <a:xfrm>
            <a:off x="1016000" y="1524000"/>
            <a:ext cx="25400" cy="35560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954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a:t>
            </a:r>
            <a:br/>
            <a:r>
              <a:rPr sz="2100" b="1" i="0" spc="80">
                <a:solidFill>
                  <a:srgbClr val="0F2346"/>
                </a:solidFill>
                <a:latin typeface="Montserrat"/>
                <a:ea typeface="Montserrat"/>
                <a:cs typeface="Montserrat"/>
              </a:rPr>
              <a:t>TRAVELS</a:t>
            </a:r>
          </a:p>
        </p:txBody>
      </p:sp>
      <p:sp>
        <p:nvSpPr>
          <p:cNvPr id="5" name="TextBox 4"/>
          <p:cNvSpPr txBox="1"/>
          <p:nvPr/>
        </p:nvSpPr>
        <p:spPr>
          <a:xfrm>
            <a:off x="12954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Judgment, decisions,</a:t>
            </a:r>
            <a:br/>
            <a:r>
              <a:rPr sz="1600" b="0" i="0">
                <a:solidFill>
                  <a:srgbClr val="5A6B82"/>
                </a:solidFill>
                <a:latin typeface="DM Sans"/>
                <a:ea typeface="DM Sans"/>
                <a:cs typeface="DM Sans"/>
              </a:rPr>
              <a:t>patterns, ways of working.</a:t>
            </a:r>
          </a:p>
        </p:txBody>
      </p:sp>
      <p:sp>
        <p:nvSpPr>
          <p:cNvPr id="6" name="Rectangle 5"/>
          <p:cNvSpPr/>
          <p:nvPr/>
        </p:nvSpPr>
        <p:spPr>
          <a:xfrm>
            <a:off x="4483100" y="1524000"/>
            <a:ext cx="25400" cy="35560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625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a:t>
            </a:r>
            <a:br/>
            <a:r>
              <a:rPr sz="2100" b="1" i="0" spc="80">
                <a:solidFill>
                  <a:srgbClr val="0F2346"/>
                </a:solidFill>
                <a:latin typeface="Montserrat"/>
                <a:ea typeface="Montserrat"/>
                <a:cs typeface="Montserrat"/>
              </a:rPr>
              <a:t>CHANGES</a:t>
            </a:r>
          </a:p>
        </p:txBody>
      </p:sp>
      <p:sp>
        <p:nvSpPr>
          <p:cNvPr id="8" name="TextBox 7"/>
          <p:cNvSpPr txBox="1"/>
          <p:nvPr/>
        </p:nvSpPr>
        <p:spPr>
          <a:xfrm>
            <a:off x="47625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Language, stakeholders,</a:t>
            </a:r>
            <a:br/>
            <a:r>
              <a:rPr sz="1600" b="0" i="0">
                <a:solidFill>
                  <a:srgbClr val="5A6B82"/>
                </a:solidFill>
                <a:latin typeface="DM Sans"/>
                <a:ea typeface="DM Sans"/>
                <a:cs typeface="DM Sans"/>
              </a:rPr>
              <a:t>incentives, rhythm, risk.</a:t>
            </a:r>
          </a:p>
        </p:txBody>
      </p:sp>
      <p:sp>
        <p:nvSpPr>
          <p:cNvPr id="9" name="Rectangle 8"/>
          <p:cNvSpPr/>
          <p:nvPr/>
        </p:nvSpPr>
        <p:spPr>
          <a:xfrm>
            <a:off x="7950200" y="1524000"/>
            <a:ext cx="25400" cy="3556000"/>
          </a:xfrm>
          <a:prstGeom prst="rect">
            <a:avLst/>
          </a:prstGeom>
          <a:solidFill>
            <a:srgbClr val="E2D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87500"/>
            <a:ext cx="2984500" cy="660400"/>
          </a:xfrm>
          <a:prstGeom prst="rect">
            <a:avLst/>
          </a:prstGeom>
          <a:noFill/>
        </p:spPr>
        <p:txBody>
          <a:bodyPr wrap="square" lIns="0" rIns="0" tIns="0" bIns="0" anchor="t">
            <a:spAutoFit/>
          </a:bodyPr>
          <a:lstStyle/>
          <a:p>
            <a:pPr algn="l">
              <a:lnSpc>
                <a:spcPct val="114000"/>
              </a:lnSpc>
            </a:pPr>
            <a:r>
              <a:rPr sz="2100" b="1" i="0" spc="80">
                <a:solidFill>
                  <a:srgbClr val="0F2346"/>
                </a:solidFill>
                <a:latin typeface="Montserrat"/>
                <a:ea typeface="Montserrat"/>
                <a:cs typeface="Montserrat"/>
              </a:rPr>
              <a:t>WHAT I</a:t>
            </a:r>
            <a:br/>
            <a:r>
              <a:rPr sz="2100" b="1" i="0" spc="80">
                <a:solidFill>
                  <a:srgbClr val="0F2346"/>
                </a:solidFill>
                <a:latin typeface="Montserrat"/>
                <a:ea typeface="Montserrat"/>
                <a:cs typeface="Montserrat"/>
              </a:rPr>
              <a:t>MUST EARN</a:t>
            </a:r>
          </a:p>
        </p:txBody>
      </p:sp>
      <p:sp>
        <p:nvSpPr>
          <p:cNvPr id="11" name="TextBox 10"/>
          <p:cNvSpPr txBox="1"/>
          <p:nvPr/>
        </p:nvSpPr>
        <p:spPr>
          <a:xfrm>
            <a:off x="8229600" y="2730500"/>
            <a:ext cx="2984500" cy="577850"/>
          </a:xfrm>
          <a:prstGeom prst="rect">
            <a:avLst/>
          </a:prstGeom>
          <a:noFill/>
        </p:spPr>
        <p:txBody>
          <a:bodyPr wrap="square" lIns="0" rIns="0" tIns="0" bIns="0" anchor="t">
            <a:spAutoFit/>
          </a:bodyPr>
          <a:lstStyle/>
          <a:p>
            <a:pPr algn="l">
              <a:lnSpc>
                <a:spcPct val="130000"/>
              </a:lnSpc>
            </a:pPr>
            <a:r>
              <a:rPr sz="1600" b="0" i="0">
                <a:solidFill>
                  <a:srgbClr val="5A6B82"/>
                </a:solidFill>
                <a:latin typeface="DM Sans"/>
                <a:ea typeface="DM Sans"/>
                <a:cs typeface="DM Sans"/>
              </a:rPr>
              <a:t>The credential or exposure</a:t>
            </a:r>
            <a:br/>
            <a:r>
              <a:rPr sz="1600" b="0" i="0">
                <a:solidFill>
                  <a:srgbClr val="5A6B82"/>
                </a:solidFill>
                <a:latin typeface="DM Sans"/>
                <a:ea typeface="DM Sans"/>
                <a:cs typeface="DM Sans"/>
              </a:rPr>
              <a:t>nothing substitutes for.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Rectangle 1"/>
          <p:cNvSpPr/>
          <p:nvPr/>
        </p:nvSpPr>
        <p:spPr>
          <a:xfrm>
            <a:off x="355600" y="355600"/>
            <a:ext cx="11480800" cy="6146800"/>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591800" y="66040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15650" y="660400"/>
            <a:ext cx="254000" cy="25400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59180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15650" y="984250"/>
            <a:ext cx="254000" cy="254000"/>
          </a:xfrm>
          <a:prstGeom prst="rect">
            <a:avLst/>
          </a:prstGeom>
          <a:noFill/>
          <a:ln w="1905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6000" y="1879600"/>
            <a:ext cx="7620000" cy="215900"/>
          </a:xfrm>
          <a:prstGeom prst="rect">
            <a:avLst/>
          </a:prstGeom>
          <a:noFill/>
        </p:spPr>
        <p:txBody>
          <a:bodyPr wrap="square" lIns="0" rIns="0" tIns="0" bIns="0" anchor="t">
            <a:spAutoFit/>
          </a:bodyPr>
          <a:lstStyle/>
          <a:p>
            <a:pPr algn="l">
              <a:lnSpc>
                <a:spcPct val="100000"/>
              </a:lnSpc>
            </a:pPr>
            <a:r>
              <a:rPr sz="1300" b="1" i="0" spc="225">
                <a:solidFill>
                  <a:srgbClr val="C9A84C"/>
                </a:solidFill>
                <a:latin typeface="Montserrat"/>
                <a:ea typeface="Montserrat"/>
                <a:cs typeface="Montserrat"/>
              </a:rPr>
              <a:t>CAPABILITY FORMATION</a:t>
            </a:r>
          </a:p>
        </p:txBody>
      </p:sp>
      <p:sp>
        <p:nvSpPr>
          <p:cNvPr id="8" name="TextBox 7"/>
          <p:cNvSpPr txBox="1"/>
          <p:nvPr/>
        </p:nvSpPr>
        <p:spPr>
          <a:xfrm>
            <a:off x="1016000" y="2324100"/>
            <a:ext cx="9017000" cy="584200"/>
          </a:xfrm>
          <a:prstGeom prst="rect">
            <a:avLst/>
          </a:prstGeom>
          <a:noFill/>
        </p:spPr>
        <p:txBody>
          <a:bodyPr wrap="square" lIns="0" rIns="0" tIns="0" bIns="0" anchor="t">
            <a:spAutoFit/>
          </a:bodyPr>
          <a:lstStyle/>
          <a:p>
            <a:pPr algn="l">
              <a:lnSpc>
                <a:spcPct val="108000"/>
              </a:lnSpc>
            </a:pPr>
            <a:r>
              <a:rPr sz="3900" b="1" i="0">
                <a:solidFill>
                  <a:srgbClr val="F5F1E8"/>
                </a:solidFill>
                <a:latin typeface="Montserrat"/>
                <a:ea typeface="Montserrat"/>
                <a:cs typeface="Montserrat"/>
              </a:rPr>
              <a:t>FIELD KIT</a:t>
            </a:r>
          </a:p>
        </p:txBody>
      </p:sp>
      <p:sp>
        <p:nvSpPr>
          <p:cNvPr id="9" name="Rectangle 8"/>
          <p:cNvSpPr/>
          <p:nvPr/>
        </p:nvSpPr>
        <p:spPr>
          <a:xfrm>
            <a:off x="1016000" y="3225800"/>
            <a:ext cx="1905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3619500"/>
            <a:ext cx="9017000" cy="723900"/>
          </a:xfrm>
          <a:prstGeom prst="rect">
            <a:avLst/>
          </a:prstGeom>
          <a:noFill/>
        </p:spPr>
        <p:txBody>
          <a:bodyPr wrap="square" lIns="0" rIns="0" tIns="0" bIns="0" anchor="t">
            <a:spAutoFit/>
          </a:bodyPr>
          <a:lstStyle/>
          <a:p>
            <a:pPr algn="l">
              <a:lnSpc>
                <a:spcPct val="132000"/>
              </a:lnSpc>
            </a:pPr>
            <a:r>
              <a:rPr sz="2000" b="0" i="0">
                <a:solidFill>
                  <a:srgbClr val="B9C3D2"/>
                </a:solidFill>
                <a:latin typeface="DM Sans"/>
                <a:ea typeface="DM Sans"/>
                <a:cs typeface="DM Sans"/>
              </a:rPr>
              <a:t>What has your work built in you?</a:t>
            </a:r>
            <a:br/>
            <a:r>
              <a:rPr sz="2000" b="0" i="0">
                <a:solidFill>
                  <a:srgbClr val="B9C3D2"/>
                </a:solidFill>
                <a:latin typeface="DM Sans"/>
                <a:ea typeface="DM Sans"/>
                <a:cs typeface="DM Sans"/>
              </a:rPr>
              <a:t>How portable is it? What is still missing?</a:t>
            </a:r>
          </a:p>
        </p:txBody>
      </p:sp>
      <p:sp>
        <p:nvSpPr>
          <p:cNvPr id="11" name="TextBox 10"/>
          <p:cNvSpPr txBox="1"/>
          <p:nvPr/>
        </p:nvSpPr>
        <p:spPr>
          <a:xfrm>
            <a:off x="1016000" y="5435600"/>
            <a:ext cx="9017000" cy="355600"/>
          </a:xfrm>
          <a:prstGeom prst="rect">
            <a:avLst/>
          </a:prstGeom>
          <a:noFill/>
        </p:spPr>
        <p:txBody>
          <a:bodyPr wrap="square" lIns="0" rIns="0" tIns="0" bIns="0" anchor="t">
            <a:spAutoFit/>
          </a:bodyPr>
          <a:lstStyle/>
          <a:p>
            <a:pPr algn="l">
              <a:lnSpc>
                <a:spcPct val="110000"/>
              </a:lnSpc>
            </a:pPr>
            <a:r>
              <a:rPr sz="2200" b="1" i="0">
                <a:solidFill>
                  <a:srgbClr val="C9A84C"/>
                </a:solidFill>
                <a:latin typeface="Montserrat"/>
                <a:ea typeface="Montserrat"/>
                <a:cs typeface="Montserrat"/>
              </a:rPr>
              <a:t>temidayoafonja.com/fieldkit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2346"/>
        </a:solidFill>
        <a:effectLst/>
      </p:bgPr>
    </p:bg>
    <p:spTree>
      <p:nvGrpSpPr>
        <p:cNvPr id="1" name=""/>
        <p:cNvGrpSpPr/>
        <p:nvPr/>
      </p:nvGrpSpPr>
      <p:grpSpPr/>
      <p:sp>
        <p:nvSpPr>
          <p:cNvPr id="2" name="TextBox 1"/>
          <p:cNvSpPr txBox="1"/>
          <p:nvPr/>
        </p:nvSpPr>
        <p:spPr>
          <a:xfrm>
            <a:off x="1016000" y="1701800"/>
            <a:ext cx="5715000" cy="203200"/>
          </a:xfrm>
          <a:prstGeom prst="rect">
            <a:avLst/>
          </a:prstGeom>
          <a:noFill/>
        </p:spPr>
        <p:txBody>
          <a:bodyPr wrap="square" lIns="0" rIns="0" tIns="0" bIns="0" anchor="t">
            <a:spAutoFit/>
          </a:bodyPr>
          <a:lstStyle/>
          <a:p>
            <a:pPr algn="l">
              <a:lnSpc>
                <a:spcPct val="100000"/>
              </a:lnSpc>
            </a:pPr>
            <a:r>
              <a:rPr sz="1200" b="1" i="0" spc="225">
                <a:solidFill>
                  <a:srgbClr val="C9A84C"/>
                </a:solidFill>
                <a:latin typeface="Montserrat"/>
                <a:ea typeface="Montserrat"/>
                <a:cs typeface="Montserrat"/>
              </a:rPr>
              <a:t>CONTINUE THE SERIES</a:t>
            </a:r>
          </a:p>
        </p:txBody>
      </p:sp>
      <p:sp>
        <p:nvSpPr>
          <p:cNvPr id="3" name="TextBox 2"/>
          <p:cNvSpPr txBox="1"/>
          <p:nvPr/>
        </p:nvSpPr>
        <p:spPr>
          <a:xfrm>
            <a:off x="1016000" y="2235200"/>
            <a:ext cx="5715000" cy="1130300"/>
          </a:xfrm>
          <a:prstGeom prst="rect">
            <a:avLst/>
          </a:prstGeom>
          <a:noFill/>
        </p:spPr>
        <p:txBody>
          <a:bodyPr wrap="square" lIns="0" rIns="0" tIns="0" bIns="0" anchor="t">
            <a:spAutoFit/>
          </a:bodyPr>
          <a:lstStyle/>
          <a:p>
            <a:pPr algn="l">
              <a:lnSpc>
                <a:spcPct val="112000"/>
              </a:lnSpc>
            </a:pPr>
            <a:r>
              <a:rPr sz="3800" b="1" i="0">
                <a:solidFill>
                  <a:srgbClr val="F5F1E8"/>
                </a:solidFill>
                <a:latin typeface="Montserrat"/>
                <a:ea typeface="Montserrat"/>
                <a:cs typeface="Montserrat"/>
              </a:rPr>
              <a:t>CAREER</a:t>
            </a:r>
            <a:br/>
            <a:r>
              <a:rPr sz="3800" b="1" i="0">
                <a:solidFill>
                  <a:srgbClr val="F5F1E8"/>
                </a:solidFill>
                <a:latin typeface="Montserrat"/>
                <a:ea typeface="Montserrat"/>
                <a:cs typeface="Montserrat"/>
              </a:rPr>
              <a:t>PORTABILITY</a:t>
            </a:r>
          </a:p>
        </p:txBody>
      </p:sp>
      <p:sp>
        <p:nvSpPr>
          <p:cNvPr id="4" name="Rectangle 3"/>
          <p:cNvSpPr/>
          <p:nvPr/>
        </p:nvSpPr>
        <p:spPr>
          <a:xfrm>
            <a:off x="1016000" y="4038600"/>
            <a:ext cx="1651000" cy="2540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4445000"/>
            <a:ext cx="5715000" cy="317500"/>
          </a:xfrm>
          <a:prstGeom prst="rect">
            <a:avLst/>
          </a:prstGeom>
          <a:noFill/>
        </p:spPr>
        <p:txBody>
          <a:bodyPr wrap="square" lIns="0" rIns="0" tIns="0" bIns="0" anchor="t">
            <a:spAutoFit/>
          </a:bodyPr>
          <a:lstStyle/>
          <a:p>
            <a:pPr algn="l">
              <a:lnSpc>
                <a:spcPct val="130000"/>
              </a:lnSpc>
            </a:pPr>
            <a:r>
              <a:rPr sz="1600" b="1" i="0" spc="60">
                <a:solidFill>
                  <a:srgbClr val="8E9CB2"/>
                </a:solidFill>
                <a:latin typeface="Montserrat"/>
                <a:ea typeface="Montserrat"/>
                <a:cs typeface="Montserrat"/>
              </a:rPr>
              <a:t>CAREER PIVOTS  ·  INTERNAL MOVES  ·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