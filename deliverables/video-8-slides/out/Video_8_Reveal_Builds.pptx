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0:30.</a:t>
            </a:r>
          </a:p>
          <a:p/>
          <a:p>
            <a:r>
              <a:t>First visual after the hook. Begin full screen on Temidayo; this lands only</a:t>
            </a:r>
          </a:p>
          <a:p>
            <a:r>
              <a:t>after the opening distinction and the viewer promise.</a:t>
            </a:r>
          </a:p>
          <a:p/>
          <a:p>
            <a:r>
              <a:t>Reveal the first statement, hold it, then bring in the second. The gap between</a:t>
            </a:r>
          </a:p>
          <a:p>
            <a:r>
              <a:t>them is the whole video — do not rush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0:30.</a:t>
            </a:r>
          </a:p>
          <a:p/>
          <a:p>
            <a:r>
              <a:t>First visual after the hook. Begin full screen on Temidayo; this lands only</a:t>
            </a:r>
          </a:p>
          <a:p>
            <a:r>
              <a:t>after the opening distinction and the viewer promise.</a:t>
            </a:r>
          </a:p>
          <a:p/>
          <a:p>
            <a:r>
              <a:t>Reveal the first statement, hold it, then bring in the second. The gap between</a:t>
            </a:r>
          </a:p>
          <a:p>
            <a:r>
              <a:t>them is the whole video — do not rush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1:20.</a:t>
            </a:r>
          </a:p>
          <a:p/>
          <a:p>
            <a:r>
              <a:t>Read the six as a list she is walking through, not as a grid to get past.</a:t>
            </a:r>
          </a:p>
          <a:p>
            <a:r>
              <a:t>Incentives is the one viewers underestimate — give it a beat.</a:t>
            </a:r>
          </a:p>
          <a:p/>
          <a:p>
            <a:r>
              <a:t>The navy band is the relief line. It reframes the whole problem from</a:t>
            </a:r>
          </a:p>
          <a:p>
            <a:r>
              <a:t>competence to information, so let it land before moving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1:20.</a:t>
            </a:r>
          </a:p>
          <a:p/>
          <a:p>
            <a:r>
              <a:t>Read the six as a list she is walking through, not as a grid to get past.</a:t>
            </a:r>
          </a:p>
          <a:p>
            <a:r>
              <a:t>Incentives is the one viewers underestimate — give it a beat.</a:t>
            </a:r>
          </a:p>
          <a:p/>
          <a:p>
            <a:r>
              <a:t>The navy band is the relief line. It reframes the whole problem from</a:t>
            </a:r>
          </a:p>
          <a:p>
            <a:r>
              <a:t>competence to information, so let it land before moving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2:15.</a:t>
            </a:r>
          </a:p>
          <a:p/>
          <a:p>
            <a:r>
              <a:t>One row per beat. This is the spine of the video: slides 4, 5 and 6 open each</a:t>
            </a:r>
          </a:p>
          <a:p>
            <a:r>
              <a:t>of the three in turn.</a:t>
            </a:r>
          </a:p>
          <a:p/>
          <a:p>
            <a:r>
              <a:t>The reason to separate them is that they have different remedies. Say that</a:t>
            </a:r>
          </a:p>
          <a:p>
            <a:r>
              <a:t>line here rather than saving it — it is what makes the slide useful.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2:15.</a:t>
            </a:r>
          </a:p>
          <a:p/>
          <a:p>
            <a:r>
              <a:t>One row per beat. This is the spine of the video: slides 4, 5 and 6 open each</a:t>
            </a:r>
          </a:p>
          <a:p>
            <a:r>
              <a:t>of the three in turn.</a:t>
            </a:r>
          </a:p>
          <a:p/>
          <a:p>
            <a:r>
              <a:t>The reason to separate them is that they have different remedies. Say that</a:t>
            </a:r>
          </a:p>
          <a:p>
            <a:r>
              <a:t>line here rather than saving it — it is what makes the slide useful.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2:15.</a:t>
            </a:r>
          </a:p>
          <a:p/>
          <a:p>
            <a:r>
              <a:t>One row per beat. This is the spine of the video: slides 4, 5 and 6 open each</a:t>
            </a:r>
          </a:p>
          <a:p>
            <a:r>
              <a:t>of the three in turn.</a:t>
            </a:r>
          </a:p>
          <a:p/>
          <a:p>
            <a:r>
              <a:t>The reason to separate them is that they have different remedies. Say that</a:t>
            </a:r>
          </a:p>
          <a:p>
            <a:r>
              <a:t>line here rather than saving it — it is what makes the slide useful.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2:50.</a:t>
            </a:r>
          </a:p>
          <a:p/>
          <a:p>
            <a:r>
              <a:t>Concrete examples, not adjectives. Adaptable, strategic and fast learner are</a:t>
            </a:r>
          </a:p>
          <a:p>
            <a:r>
              <a:t>explicitly rejected later — do not let them in here.</a:t>
            </a:r>
          </a:p>
          <a:p/>
          <a:p>
            <a:r>
              <a:t>Invite the viewer to add two of their own before advancing.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2:50.</a:t>
            </a:r>
          </a:p>
          <a:p/>
          <a:p>
            <a:r>
              <a:t>Concrete examples, not adjectives. Adaptable, strategic and fast learner are</a:t>
            </a:r>
          </a:p>
          <a:p>
            <a:r>
              <a:t>explicitly rejected later — do not let them in here.</a:t>
            </a:r>
          </a:p>
          <a:p/>
          <a:p>
            <a:r>
              <a:t>Invite the viewer to add two of their own before advancing.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3:25.</a:t>
            </a:r>
          </a:p>
          <a:p/>
          <a:p>
            <a:r>
              <a:t>The last line is the reassurance the viewer came for, so deliver it level</a:t>
            </a:r>
          </a:p>
          <a:p>
            <a:r>
              <a:t>rather than warmly — it is a finding, not comfort.</a:t>
            </a:r>
          </a:p>
          <a:p/>
          <a:p>
            <a:r>
              <a:t>Do not promise the gap closes quickly. Say it closes faster than expected when</a:t>
            </a:r>
          </a:p>
          <a:p>
            <a:r>
              <a:t>someone is deliberate about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3:25.</a:t>
            </a:r>
          </a:p>
          <a:p/>
          <a:p>
            <a:r>
              <a:t>The last line is the reassurance the viewer came for, so deliver it level</a:t>
            </a:r>
          </a:p>
          <a:p>
            <a:r>
              <a:t>rather than warmly — it is a finding, not comfort.</a:t>
            </a:r>
          </a:p>
          <a:p/>
          <a:p>
            <a:r>
              <a:t>Do not promise the gap closes quickly. Say it closes faster than expected when</a:t>
            </a:r>
          </a:p>
          <a:p>
            <a:r>
              <a:t>someone is deliberate about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4:05.</a:t>
            </a:r>
          </a:p>
          <a:p/>
          <a:p>
            <a:r>
              <a:t>One state, no build. The three cases are more useful read together than</a:t>
            </a:r>
          </a:p>
          <a:p>
            <a:r>
              <a:t>revealed one at a time.</a:t>
            </a:r>
          </a:p>
          <a:p/>
          <a:p>
            <a:r>
              <a:t>The third case is the one that saves the viewer money and months. Say it</a:t>
            </a:r>
          </a:p>
          <a:p>
            <a:r>
              <a:t>plainly and without mockery — chasing a credential is a reasonable response to</a:t>
            </a:r>
          </a:p>
          <a:p>
            <a:r>
              <a:t>feeling stuck.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4:45.</a:t>
            </a:r>
          </a:p>
          <a:p/>
          <a:p>
            <a:r>
              <a:t>The direction of travel is the point. Most viewers start from their own</a:t>
            </a:r>
          </a:p>
          <a:p>
            <a:r>
              <a:t>history and hope it matches; this reverses it.</a:t>
            </a:r>
          </a:p>
          <a:p/>
          <a:p>
            <a:r>
              <a:t>Name the real sources out loud — trade press, earnings calls, regulator</a:t>
            </a:r>
          </a:p>
          <a:p>
            <a:r>
              <a:t>commentary, and how job descriptions read when a team is frustrated.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4:45.</a:t>
            </a:r>
          </a:p>
          <a:p/>
          <a:p>
            <a:r>
              <a:t>The direction of travel is the point. Most viewers start from their own</a:t>
            </a:r>
          </a:p>
          <a:p>
            <a:r>
              <a:t>history and hope it matches; this reverses it.</a:t>
            </a:r>
          </a:p>
          <a:p/>
          <a:p>
            <a:r>
              <a:t>Name the real sources out loud — trade press, earnings calls, regulator</a:t>
            </a:r>
          </a:p>
          <a:p>
            <a:r>
              <a:t>commentary, and how job descriptions read when a team is frustrated.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5:40.</a:t>
            </a:r>
          </a:p>
          <a:p/>
          <a:p>
            <a:r>
              <a:t>Read the three adjectives flatly. They are not being mocked; they are being</a:t>
            </a:r>
          </a:p>
          <a:p>
            <a:r>
              <a:t>shown to carry no information.</a:t>
            </a:r>
          </a:p>
          <a:p/>
          <a:p>
            <a:r>
              <a:t>Follow immediately with the honest limit: managing a regulated programme</a:t>
            </a:r>
          </a:p>
          <a:p>
            <a:r>
              <a:t>transfers, knowing how a specific regulator behaves does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5:40.</a:t>
            </a:r>
          </a:p>
          <a:p/>
          <a:p>
            <a:r>
              <a:t>Read the three adjectives flatly. They are not being mocked; they are being</a:t>
            </a:r>
          </a:p>
          <a:p>
            <a:r>
              <a:t>shown to carry no information.</a:t>
            </a:r>
          </a:p>
          <a:p/>
          <a:p>
            <a:r>
              <a:t>Follow immediately with the honest limit: managing a regulated programme</a:t>
            </a:r>
          </a:p>
          <a:p>
            <a:r>
              <a:t>transfers, knowing how a specific regulator behaves does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6:20.</a:t>
            </a:r>
          </a:p>
          <a:p/>
          <a:p>
            <a:r>
              <a:t>One band per beat. None of these is invented experience, and that boundary is</a:t>
            </a:r>
          </a:p>
          <a:p>
            <a:r>
              <a:t>stated out loud rather than implied.</a:t>
            </a:r>
          </a:p>
          <a:p/>
          <a:p>
            <a:r>
              <a:t>Research only counts once it has become a point of view. Make that distinction</a:t>
            </a:r>
          </a:p>
          <a:p>
            <a:r>
              <a:t>audible — it is the difference between reading about a sector and having</a:t>
            </a:r>
          </a:p>
          <a:p>
            <a:r>
              <a:t>something to say about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6:20.</a:t>
            </a:r>
          </a:p>
          <a:p/>
          <a:p>
            <a:r>
              <a:t>One band per beat. None of these is invented experience, and that boundary is</a:t>
            </a:r>
          </a:p>
          <a:p>
            <a:r>
              <a:t>stated out loud rather than implied.</a:t>
            </a:r>
          </a:p>
          <a:p/>
          <a:p>
            <a:r>
              <a:t>Research only counts once it has become a point of view. Make that distinction</a:t>
            </a:r>
          </a:p>
          <a:p>
            <a:r>
              <a:t>audible — it is the difference between reading about a sector and having</a:t>
            </a:r>
          </a:p>
          <a:p>
            <a:r>
              <a:t>something to say about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6:20.</a:t>
            </a:r>
          </a:p>
          <a:p/>
          <a:p>
            <a:r>
              <a:t>One band per beat. None of these is invented experience, and that boundary is</a:t>
            </a:r>
          </a:p>
          <a:p>
            <a:r>
              <a:t>stated out loud rather than implied.</a:t>
            </a:r>
          </a:p>
          <a:p/>
          <a:p>
            <a:r>
              <a:t>Research only counts once it has become a point of view. Make that distinction</a:t>
            </a:r>
          </a:p>
          <a:p>
            <a:r>
              <a:t>audible — it is the difference between reading about a sector and having</a:t>
            </a:r>
          </a:p>
          <a:p>
            <a:r>
              <a:t>something to say about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8:35.</a:t>
            </a:r>
          </a:p>
          <a:p/>
          <a:p>
            <a:r>
              <a:t>One column per beat, left to right.</a:t>
            </a:r>
          </a:p>
          <a:p/>
          <a:p>
            <a:r>
              <a:t>Say the finding that makes the exercise worth doing, as an invitation rather</a:t>
            </a:r>
          </a:p>
          <a:p>
            <a:r>
              <a:t>than a statistic: they may find the first column is longer than they feared and</a:t>
            </a:r>
          </a:p>
          <a:p>
            <a:r>
              <a:t>the third shorter than they assumed.</a:t>
            </a:r>
          </a:p>
          <a:p/>
          <a:p>
            <a:r>
              <a:t>The translation sentence follows this slide and stays spoken, not typeset —</a:t>
            </a:r>
          </a:p>
          <a:p>
            <a:r>
              <a:t>the viewer should write it in their own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8:35.</a:t>
            </a:r>
          </a:p>
          <a:p/>
          <a:p>
            <a:r>
              <a:t>One column per beat, left to right.</a:t>
            </a:r>
          </a:p>
          <a:p/>
          <a:p>
            <a:r>
              <a:t>Say the finding that makes the exercise worth doing, as an invitation rather</a:t>
            </a:r>
          </a:p>
          <a:p>
            <a:r>
              <a:t>than a statistic: they may find the first column is longer than they feared and</a:t>
            </a:r>
          </a:p>
          <a:p>
            <a:r>
              <a:t>the third shorter than they assumed.</a:t>
            </a:r>
          </a:p>
          <a:p/>
          <a:p>
            <a:r>
              <a:t>The translation sentence follows this slide and stays spoken, not typeset —</a:t>
            </a:r>
          </a:p>
          <a:p>
            <a:r>
              <a:t>the viewer should write it in their own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8:35.</a:t>
            </a:r>
          </a:p>
          <a:p/>
          <a:p>
            <a:r>
              <a:t>One column per beat, left to right.</a:t>
            </a:r>
          </a:p>
          <a:p/>
          <a:p>
            <a:r>
              <a:t>Say the finding that makes the exercise worth doing, as an invitation rather</a:t>
            </a:r>
          </a:p>
          <a:p>
            <a:r>
              <a:t>than a statistic: they may find the first column is longer than they feared and</a:t>
            </a:r>
          </a:p>
          <a:p>
            <a:r>
              <a:t>the third shorter than they assumed.</a:t>
            </a:r>
          </a:p>
          <a:p/>
          <a:p>
            <a:r>
              <a:t>The translation sentence follows this slide and stays spoken, not typeset —</a:t>
            </a:r>
          </a:p>
          <a:p>
            <a:r>
              <a:t>the viewer should write it in their own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9:30.</a:t>
            </a:r>
          </a:p>
          <a:p/>
          <a:p>
            <a:r>
              <a:t>One offer only. No Keep the Proof, no Career Decision Evidence Check, no book,</a:t>
            </a:r>
          </a:p>
          <a:p>
            <a:r>
              <a:t>on this slide or anywhere in this block.</a:t>
            </a:r>
          </a:p>
          <a:p/>
          <a:p>
            <a:r>
              <a:t>State the limits out loud: the Field Kit does not tell the viewer which</a:t>
            </a:r>
          </a:p>
          <a:p>
            <a:r>
              <a:t>industry is hiring and does not replace researching the destination.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10:05.</a:t>
            </a:r>
          </a:p>
          <a:p/>
          <a:p>
            <a:r>
              <a:t>Everything sits left of x=1130. The right third is reserved for the YouTube</a:t>
            </a:r>
          </a:p>
          <a:p>
            <a:r>
              <a:t>end-screen element and must stay empty.</a:t>
            </a:r>
          </a:p>
          <a:p/>
          <a:p>
            <a:r>
              <a:t>No unpublished video is named here or in the spoken line. Set the end-screen</a:t>
            </a:r>
          </a:p>
          <a:p>
            <a:r>
              <a:t>video element at upload: route it directly to the next video if that video is</a:t>
            </a:r>
          </a:p>
          <a:p>
            <a:r>
              <a:t>already public, otherwise to the public Career Portability playlist. Verify</a:t>
            </a:r>
          </a:p>
          <a:p>
            <a:r>
              <a:t>the playlist opens signed out and contains at least one other public video.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591800" y="66040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15650" y="660400"/>
            <a:ext cx="254000" cy="2540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9180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1565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1854200"/>
            <a:ext cx="9017000" cy="14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31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CHANGING INDUSTRIES</a:t>
            </a:r>
            <a:br/>
            <a:r>
              <a:rPr sz="31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DOES NOT MAKE YOU</a:t>
            </a:r>
            <a:br/>
            <a:r>
              <a:rPr sz="31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ENTRY-LEVEL AT EVERYTHING.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591800" y="66040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15650" y="660400"/>
            <a:ext cx="254000" cy="2540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9180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1565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1854200"/>
            <a:ext cx="9017000" cy="14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31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CHANGING INDUSTRIES</a:t>
            </a:r>
            <a:br/>
            <a:r>
              <a:rPr sz="31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DOES NOT MAKE YOU</a:t>
            </a:r>
            <a:br/>
            <a:r>
              <a:rPr sz="31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ENTRY-LEVEL AT EVERYTHING.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6000" y="4241800"/>
            <a:ext cx="1905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6000" y="4673600"/>
            <a:ext cx="9017000" cy="965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31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IT MAKES YOU NEW</a:t>
            </a:r>
            <a:br/>
            <a:r>
              <a:rPr sz="31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TO A CONTEXT.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9525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WHAT ACTUALLY CHANGES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498600"/>
            <a:ext cx="4826000" cy="387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0F2346"/>
                </a:solidFill>
                <a:latin typeface="DM Sans"/>
                <a:ea typeface="DM Sans"/>
                <a:cs typeface="DM Sans"/>
              </a:rPr>
              <a:t>Language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981200"/>
            <a:ext cx="4445000" cy="1905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197100"/>
            <a:ext cx="4826000" cy="387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0F2346"/>
                </a:solidFill>
                <a:latin typeface="DM Sans"/>
                <a:ea typeface="DM Sans"/>
                <a:cs typeface="DM Sans"/>
              </a:rPr>
              <a:t>Stakeholders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1016000" y="2679700"/>
            <a:ext cx="4445000" cy="1905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2895600"/>
            <a:ext cx="4826000" cy="387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0F2346"/>
                </a:solidFill>
                <a:latin typeface="DM Sans"/>
                <a:ea typeface="DM Sans"/>
                <a:cs typeface="DM Sans"/>
              </a:rPr>
              <a:t>Incentives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6000" y="3378200"/>
            <a:ext cx="4445000" cy="1905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23000" y="1498600"/>
            <a:ext cx="4826000" cy="387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0F2346"/>
                </a:solidFill>
                <a:latin typeface="DM Sans"/>
                <a:ea typeface="DM Sans"/>
                <a:cs typeface="DM Sans"/>
              </a:rPr>
              <a:t>Regulation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23000" y="1981200"/>
            <a:ext cx="4445000" cy="1905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23000" y="2197100"/>
            <a:ext cx="4826000" cy="387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0F2346"/>
                </a:solidFill>
                <a:latin typeface="DM Sans"/>
                <a:ea typeface="DM Sans"/>
                <a:cs typeface="DM Sans"/>
              </a:rPr>
              <a:t>Operating rhythm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3000" y="2679700"/>
            <a:ext cx="4445000" cy="1905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23000" y="2895600"/>
            <a:ext cx="4826000" cy="387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0F2346"/>
                </a:solidFill>
                <a:latin typeface="DM Sans"/>
                <a:ea typeface="DM Sans"/>
                <a:cs typeface="DM Sans"/>
              </a:rPr>
              <a:t>Risks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23000" y="3378200"/>
            <a:ext cx="4445000" cy="1905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9525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WHAT ACTUALLY CHANGES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498600"/>
            <a:ext cx="4826000" cy="387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0F2346"/>
                </a:solidFill>
                <a:latin typeface="DM Sans"/>
                <a:ea typeface="DM Sans"/>
                <a:cs typeface="DM Sans"/>
              </a:rPr>
              <a:t>Language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981200"/>
            <a:ext cx="4445000" cy="1905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197100"/>
            <a:ext cx="4826000" cy="387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0F2346"/>
                </a:solidFill>
                <a:latin typeface="DM Sans"/>
                <a:ea typeface="DM Sans"/>
                <a:cs typeface="DM Sans"/>
              </a:rPr>
              <a:t>Stakeholders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1016000" y="2679700"/>
            <a:ext cx="4445000" cy="1905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2895600"/>
            <a:ext cx="4826000" cy="387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0F2346"/>
                </a:solidFill>
                <a:latin typeface="DM Sans"/>
                <a:ea typeface="DM Sans"/>
                <a:cs typeface="DM Sans"/>
              </a:rPr>
              <a:t>Incentives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6000" y="3378200"/>
            <a:ext cx="4445000" cy="1905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23000" y="1498600"/>
            <a:ext cx="4826000" cy="387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0F2346"/>
                </a:solidFill>
                <a:latin typeface="DM Sans"/>
                <a:ea typeface="DM Sans"/>
                <a:cs typeface="DM Sans"/>
              </a:rPr>
              <a:t>Regulation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23000" y="1981200"/>
            <a:ext cx="4445000" cy="1905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23000" y="2197100"/>
            <a:ext cx="4826000" cy="387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0F2346"/>
                </a:solidFill>
                <a:latin typeface="DM Sans"/>
                <a:ea typeface="DM Sans"/>
                <a:cs typeface="DM Sans"/>
              </a:rPr>
              <a:t>Operating rhythm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3000" y="2679700"/>
            <a:ext cx="4445000" cy="1905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23000" y="2895600"/>
            <a:ext cx="4826000" cy="387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0F2346"/>
                </a:solidFill>
                <a:latin typeface="DM Sans"/>
                <a:ea typeface="DM Sans"/>
                <a:cs typeface="DM Sans"/>
              </a:rPr>
              <a:t>Risks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23000" y="3378200"/>
            <a:ext cx="4445000" cy="1905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4064000"/>
            <a:ext cx="12192000" cy="27940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6000" y="4546600"/>
            <a:ext cx="10160000" cy="901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NONE OF THAT IS YOUR COMPETENCE.</a:t>
            </a:r>
          </a:p>
          <a:p>
            <a:pPr algn="l">
              <a:lnSpc>
                <a:spcPct val="110000"/>
              </a:lnSpc>
              <a:spcBef>
                <a:spcPts val="1000"/>
              </a:spcBef>
            </a:pPr>
            <a:r>
              <a:rPr sz="26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ALL OF IT IS CONTEXT.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16000" y="5816600"/>
            <a:ext cx="1270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6000" y="6070600"/>
            <a:ext cx="10160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And context is learnable.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8890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587500"/>
            <a:ext cx="76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05000" y="1562100"/>
            <a:ext cx="9271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500" b="1" i="0" spc="10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CAPABILITY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5000" y="2070100"/>
            <a:ext cx="9271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8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Judgment that stays useful when the setting changes.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1905000" y="2603500"/>
            <a:ext cx="9144000" cy="127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8890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587500"/>
            <a:ext cx="76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05000" y="1562100"/>
            <a:ext cx="9271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500" b="1" i="0" spc="10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CAPABILITY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5000" y="2070100"/>
            <a:ext cx="9271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8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Judgment that stays useful when the setting changes.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1905000" y="2603500"/>
            <a:ext cx="9144000" cy="127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3111500"/>
            <a:ext cx="76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05000" y="3086100"/>
            <a:ext cx="9271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500" b="1" i="0" spc="10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CONTEXT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05000" y="3594100"/>
            <a:ext cx="9271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8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What the new field knows and you do not — yet.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905000" y="4127500"/>
            <a:ext cx="9144000" cy="127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8890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587500"/>
            <a:ext cx="76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05000" y="1562100"/>
            <a:ext cx="9271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500" b="1" i="0" spc="10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CAPABILITY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5000" y="2070100"/>
            <a:ext cx="9271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8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Judgment that stays useful when the setting changes.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1905000" y="2603500"/>
            <a:ext cx="9144000" cy="127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3111500"/>
            <a:ext cx="76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05000" y="3086100"/>
            <a:ext cx="9271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500" b="1" i="0" spc="10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CONTEXT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05000" y="3594100"/>
            <a:ext cx="9271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8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What the new field knows and you do not — yet.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905000" y="4127500"/>
            <a:ext cx="9144000" cy="127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6000" y="4635500"/>
            <a:ext cx="76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05000" y="4610100"/>
            <a:ext cx="9271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500" b="1" i="0" spc="10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CREDENTIAL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05000" y="5118100"/>
            <a:ext cx="9271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8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Formal evidence or permission the destination requires.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05000" y="5651500"/>
            <a:ext cx="9144000" cy="127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0668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CAPABILITY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498600"/>
            <a:ext cx="10160000" cy="469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1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TRAVELS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159000"/>
            <a:ext cx="1270000" cy="254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0668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CAPABILITY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498600"/>
            <a:ext cx="10160000" cy="469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1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TRAVELS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159000"/>
            <a:ext cx="1270000" cy="254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616200"/>
            <a:ext cx="10160000" cy="1866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0F2346"/>
                </a:solidFill>
                <a:latin typeface="DM Sans"/>
                <a:ea typeface="DM Sans"/>
                <a:cs typeface="DM Sans"/>
              </a:rPr>
              <a:t>Finding the real decision in a room of stated positions.</a:t>
            </a:r>
          </a:p>
          <a:p>
            <a:pPr algn="l">
              <a:lnSpc>
                <a:spcPct val="130000"/>
              </a:lnSpc>
              <a:spcBef>
                <a:spcPts val="1300"/>
              </a:spcBef>
            </a:pPr>
            <a:r>
              <a:rPr sz="2000" b="0" i="0">
                <a:solidFill>
                  <a:srgbClr val="0F2346"/>
                </a:solidFill>
                <a:latin typeface="DM Sans"/>
                <a:ea typeface="DM Sans"/>
                <a:cs typeface="DM Sans"/>
              </a:rPr>
              <a:t>Structuring a problem nobody has framed yet.</a:t>
            </a:r>
          </a:p>
          <a:p>
            <a:pPr algn="l">
              <a:lnSpc>
                <a:spcPct val="130000"/>
              </a:lnSpc>
              <a:spcBef>
                <a:spcPts val="1300"/>
              </a:spcBef>
            </a:pPr>
            <a:r>
              <a:rPr sz="2000" b="0" i="0">
                <a:solidFill>
                  <a:srgbClr val="0F2346"/>
                </a:solidFill>
                <a:latin typeface="DM Sans"/>
                <a:ea typeface="DM Sans"/>
                <a:cs typeface="DM Sans"/>
              </a:rPr>
              <a:t>Knowing when a number is too clean to be true.</a:t>
            </a:r>
          </a:p>
          <a:p>
            <a:pPr algn="l">
              <a:lnSpc>
                <a:spcPct val="130000"/>
              </a:lnSpc>
              <a:spcBef>
                <a:spcPts val="1300"/>
              </a:spcBef>
            </a:pPr>
            <a:r>
              <a:rPr sz="2000" b="0" i="0">
                <a:solidFill>
                  <a:srgbClr val="0F2346"/>
                </a:solidFill>
                <a:latin typeface="DM Sans"/>
                <a:ea typeface="DM Sans"/>
                <a:cs typeface="DM Sans"/>
              </a:rPr>
              <a:t>Holding a position when the room would rather you did not.</a:t>
            </a:r>
          </a:p>
        </p:txBody>
      </p:sp>
      <p:sp>
        <p:nvSpPr>
          <p:cNvPr id="6" name="Rectangle 5"/>
          <p:cNvSpPr/>
          <p:nvPr/>
        </p:nvSpPr>
        <p:spPr>
          <a:xfrm>
            <a:off x="1016000" y="4826000"/>
            <a:ext cx="1270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5118100"/>
            <a:ext cx="1016000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None of these belong to an industry.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0668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498600"/>
            <a:ext cx="10160000" cy="469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1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MUST BE RELEARNED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184400"/>
            <a:ext cx="1270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0668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498600"/>
            <a:ext cx="10160000" cy="469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1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MUST BE RELEARNED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184400"/>
            <a:ext cx="1270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692400"/>
            <a:ext cx="10160000" cy="174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The names the same idea goes by here.</a:t>
            </a:r>
          </a:p>
          <a:p>
            <a:pPr algn="l">
              <a:lnSpc>
                <a:spcPct val="128000"/>
              </a:lnSpc>
              <a:spcBef>
                <a:spcPts val="1200"/>
              </a:spcBef>
            </a:pPr>
            <a:r>
              <a:rPr sz="19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Who must be convinced, and who can quietly stop it.</a:t>
            </a:r>
          </a:p>
          <a:p>
            <a:pPr algn="l">
              <a:lnSpc>
                <a:spcPct val="128000"/>
              </a:lnSpc>
              <a:spcBef>
                <a:spcPts val="1200"/>
              </a:spcBef>
            </a:pPr>
            <a:r>
              <a:rPr sz="19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What the pressure is, and where it comes from.</a:t>
            </a:r>
          </a:p>
          <a:p>
            <a:pPr algn="l">
              <a:lnSpc>
                <a:spcPct val="128000"/>
              </a:lnSpc>
              <a:spcBef>
                <a:spcPts val="1200"/>
              </a:spcBef>
            </a:pPr>
            <a:r>
              <a:rPr sz="19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What everyone here is quietly afraid of.</a:t>
            </a:r>
          </a:p>
        </p:txBody>
      </p:sp>
      <p:sp>
        <p:nvSpPr>
          <p:cNvPr id="6" name="Rectangle 5"/>
          <p:cNvSpPr/>
          <p:nvPr/>
        </p:nvSpPr>
        <p:spPr>
          <a:xfrm>
            <a:off x="1016000" y="4927600"/>
            <a:ext cx="10160000" cy="1905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5219700"/>
            <a:ext cx="1016000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It feels like a competence gap. It is an information gap.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0668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CREDENTIAL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498600"/>
            <a:ext cx="10160000" cy="469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1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MUST BE EARNED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184400"/>
            <a:ext cx="1270000" cy="254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730500"/>
            <a:ext cx="3937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Genuinely required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07000" y="2755900"/>
            <a:ext cx="5969000" cy="336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There is no way around it. Plan for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1016000" y="3479800"/>
            <a:ext cx="10160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6000" y="3911600"/>
            <a:ext cx="3937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A signal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07000" y="3937000"/>
            <a:ext cx="5969000" cy="336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Not required, but it shortens the conversation.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16000" y="4660900"/>
            <a:ext cx="10160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6000" y="5092700"/>
            <a:ext cx="3937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Neither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07000" y="5118100"/>
            <a:ext cx="5969000" cy="336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Chased because it feels like progress.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16000" y="5842000"/>
            <a:ext cx="10160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9525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TWO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371600"/>
            <a:ext cx="10287000" cy="863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START FROM THE DESTINATION,</a:t>
            </a:r>
            <a:br/>
            <a:r>
              <a:rPr sz="2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NOT FROM YOUR CV.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540000"/>
            <a:ext cx="1905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9525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TWO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371600"/>
            <a:ext cx="10287000" cy="863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START FROM THE DESTINATION,</a:t>
            </a:r>
            <a:br/>
            <a:r>
              <a:rPr sz="2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NOT FROM YOUR CV.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540000"/>
            <a:ext cx="1905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984500"/>
            <a:ext cx="10287000" cy="1784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What does that industry keep failing to solve?</a:t>
            </a:r>
          </a:p>
          <a:p>
            <a:pPr algn="l">
              <a:lnSpc>
                <a:spcPct val="128000"/>
              </a:lnSpc>
              <a:spcBef>
                <a:spcPts val="1300"/>
              </a:spcBef>
            </a:pPr>
            <a:r>
              <a:rPr sz="19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Which of those decisions have you made before?</a:t>
            </a:r>
          </a:p>
          <a:p>
            <a:pPr algn="l">
              <a:lnSpc>
                <a:spcPct val="128000"/>
              </a:lnSpc>
              <a:spcBef>
                <a:spcPts val="1300"/>
              </a:spcBef>
            </a:pPr>
            <a:r>
              <a:rPr sz="19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Which patterns do you already recognise early?</a:t>
            </a:r>
          </a:p>
          <a:p>
            <a:pPr algn="l">
              <a:lnSpc>
                <a:spcPct val="128000"/>
              </a:lnSpc>
              <a:spcBef>
                <a:spcPts val="1300"/>
              </a:spcBef>
            </a:pPr>
            <a:r>
              <a:rPr sz="19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Which constraints have you worked inside?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0668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TRANSLATE, DO NOT RECITE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524000"/>
            <a:ext cx="10160000" cy="844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700" b="1" i="0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“ADAPTABLE.”   “STRATEGIC.”</a:t>
            </a:r>
            <a:br/>
            <a:r>
              <a:rPr sz="2700" b="1" i="0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“A FAST LEARNER.”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717800"/>
            <a:ext cx="1270000" cy="254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3022600"/>
            <a:ext cx="10160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These describe how you would like to be seen.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0668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TRANSLATE, DO NOT RECITE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524000"/>
            <a:ext cx="10160000" cy="844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700" b="1" i="0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“ADAPTABLE.”   “STRATEGIC.”</a:t>
            </a:r>
            <a:br/>
            <a:r>
              <a:rPr sz="2700" b="1" i="0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“A FAST LEARNER.”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717800"/>
            <a:ext cx="1270000" cy="254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3022600"/>
            <a:ext cx="10160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These describe how you would like to be seen.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3784600"/>
            <a:ext cx="12192000" cy="30734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4292600"/>
            <a:ext cx="10160000" cy="787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5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THE UNIT THAT TRANSFERS IS JUDGMENT,</a:t>
            </a:r>
            <a:br/>
            <a:r>
              <a:rPr sz="25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WITH EVIDENCE ATTACHED.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6000" y="5537200"/>
            <a:ext cx="1270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6000" y="5829300"/>
            <a:ext cx="10160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Not a job title. Not a task list.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8890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THREE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308100"/>
            <a:ext cx="10287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BRIDGE EVIDENCE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943100"/>
            <a:ext cx="1270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2425700"/>
            <a:ext cx="10287000" cy="889000"/>
          </a:xfrm>
          <a:prstGeom prst="rect">
            <a:avLst/>
          </a:prstGeom>
          <a:noFill/>
          <a:ln w="19050">
            <a:solidFill>
              <a:srgbClr val="223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08100" y="2705100"/>
            <a:ext cx="9779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 RELEVANT PROJECT   ·   CROSS-FUNCTIONAL WORK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8890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THREE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308100"/>
            <a:ext cx="10287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BRIDGE EVIDENCE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943100"/>
            <a:ext cx="1270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2425700"/>
            <a:ext cx="10287000" cy="889000"/>
          </a:xfrm>
          <a:prstGeom prst="rect">
            <a:avLst/>
          </a:prstGeom>
          <a:noFill/>
          <a:ln w="19050">
            <a:solidFill>
              <a:srgbClr val="223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08100" y="2705100"/>
            <a:ext cx="9779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 RELEVANT PROJECT   ·   CROSS-FUNCTIONAL WORK</a:t>
            </a:r>
          </a:p>
        </p:txBody>
      </p:sp>
      <p:sp>
        <p:nvSpPr>
          <p:cNvPr id="7" name="Rectangle 6"/>
          <p:cNvSpPr/>
          <p:nvPr/>
        </p:nvSpPr>
        <p:spPr>
          <a:xfrm>
            <a:off x="1016000" y="3543300"/>
            <a:ext cx="10287000" cy="889000"/>
          </a:xfrm>
          <a:prstGeom prst="rect">
            <a:avLst/>
          </a:prstGeom>
          <a:noFill/>
          <a:ln w="19050">
            <a:solidFill>
              <a:srgbClr val="223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08100" y="3822700"/>
            <a:ext cx="9779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RESEARCH TURNED INTO A POINT OF VIEW   ·   A WORK SAMPLE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8890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THREE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308100"/>
            <a:ext cx="10287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BRIDGE EVIDENCE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943100"/>
            <a:ext cx="1270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2425700"/>
            <a:ext cx="10287000" cy="889000"/>
          </a:xfrm>
          <a:prstGeom prst="rect">
            <a:avLst/>
          </a:prstGeom>
          <a:noFill/>
          <a:ln w="19050">
            <a:solidFill>
              <a:srgbClr val="223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08100" y="2705100"/>
            <a:ext cx="9779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 RELEVANT PROJECT   ·   CROSS-FUNCTIONAL WORK</a:t>
            </a:r>
          </a:p>
        </p:txBody>
      </p:sp>
      <p:sp>
        <p:nvSpPr>
          <p:cNvPr id="7" name="Rectangle 6"/>
          <p:cNvSpPr/>
          <p:nvPr/>
        </p:nvSpPr>
        <p:spPr>
          <a:xfrm>
            <a:off x="1016000" y="3543300"/>
            <a:ext cx="10287000" cy="889000"/>
          </a:xfrm>
          <a:prstGeom prst="rect">
            <a:avLst/>
          </a:prstGeom>
          <a:noFill/>
          <a:ln w="19050">
            <a:solidFill>
              <a:srgbClr val="223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08100" y="3822700"/>
            <a:ext cx="9779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RESEARCH TURNED INTO A POINT OF VIEW   ·   A WORK SAMPLE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6000" y="4660900"/>
            <a:ext cx="10287000" cy="889000"/>
          </a:xfrm>
          <a:prstGeom prst="rect">
            <a:avLst/>
          </a:prstGeom>
          <a:noFill/>
          <a:ln w="19050">
            <a:solidFill>
              <a:srgbClr val="223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08100" y="4940300"/>
            <a:ext cx="9779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PRACTITIONER CONVERSATIONS   ·   A FIRST-90-DAYS PLAN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9525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ONE PAGE, THREE COLUMNS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6000" y="1524000"/>
            <a:ext cx="25400" cy="35560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5400" y="1587500"/>
            <a:ext cx="2984500" cy="66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100" b="1" i="0" spc="8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</a:t>
            </a:r>
            <a:br/>
            <a:r>
              <a:rPr sz="2100" b="1" i="0" spc="8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TRAVELS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5400" y="2730500"/>
            <a:ext cx="2984500" cy="577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Judgment, decisions,</a:t>
            </a:r>
            <a:br/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patterns, ways of working.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9525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ONE PAGE, THREE COLUMNS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6000" y="1524000"/>
            <a:ext cx="25400" cy="35560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5400" y="1587500"/>
            <a:ext cx="2984500" cy="66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100" b="1" i="0" spc="8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</a:t>
            </a:r>
            <a:br/>
            <a:r>
              <a:rPr sz="2100" b="1" i="0" spc="8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TRAVELS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5400" y="2730500"/>
            <a:ext cx="2984500" cy="577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Judgment, decisions,</a:t>
            </a:r>
            <a:br/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patterns, ways of working.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4483100" y="1524000"/>
            <a:ext cx="25400" cy="35560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62500" y="1587500"/>
            <a:ext cx="2984500" cy="66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100" b="1" i="0" spc="8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</a:t>
            </a:r>
            <a:br/>
            <a:r>
              <a:rPr sz="2100" b="1" i="0" spc="8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CHANGES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62500" y="2730500"/>
            <a:ext cx="2984500" cy="577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Language, stakeholders,</a:t>
            </a:r>
            <a:br/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incentives, rhythm, risk.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9525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ONE PAGE, THREE COLUMNS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6000" y="1524000"/>
            <a:ext cx="25400" cy="35560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5400" y="1587500"/>
            <a:ext cx="2984500" cy="66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100" b="1" i="0" spc="8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</a:t>
            </a:r>
            <a:br/>
            <a:r>
              <a:rPr sz="2100" b="1" i="0" spc="8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TRAVELS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5400" y="2730500"/>
            <a:ext cx="2984500" cy="577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Judgment, decisions,</a:t>
            </a:r>
            <a:br/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patterns, ways of working.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4483100" y="1524000"/>
            <a:ext cx="25400" cy="35560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62500" y="1587500"/>
            <a:ext cx="2984500" cy="66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100" b="1" i="0" spc="8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</a:t>
            </a:r>
            <a:br/>
            <a:r>
              <a:rPr sz="2100" b="1" i="0" spc="8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CHANGES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62500" y="2730500"/>
            <a:ext cx="2984500" cy="577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Language, stakeholders,</a:t>
            </a:r>
            <a:br/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incentives, rhythm, risk.</a:t>
            </a:r>
          </a:p>
        </p:txBody>
      </p:sp>
      <p:sp>
        <p:nvSpPr>
          <p:cNvPr id="9" name="Rectangle 8"/>
          <p:cNvSpPr/>
          <p:nvPr/>
        </p:nvSpPr>
        <p:spPr>
          <a:xfrm>
            <a:off x="7950200" y="1524000"/>
            <a:ext cx="25400" cy="35560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587500"/>
            <a:ext cx="2984500" cy="66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100" b="1" i="0" spc="8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I</a:t>
            </a:r>
            <a:br/>
            <a:r>
              <a:rPr sz="2100" b="1" i="0" spc="8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MUST EARN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2730500"/>
            <a:ext cx="2984500" cy="577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The credential or exposure</a:t>
            </a:r>
            <a:br/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nothing substitutes for.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591800" y="66040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15650" y="660400"/>
            <a:ext cx="254000" cy="2540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9180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1565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1879600"/>
            <a:ext cx="762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CAPABILITY FORMATION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324100"/>
            <a:ext cx="9017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FIELD KIT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6000" y="3225800"/>
            <a:ext cx="1905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6000" y="3619500"/>
            <a:ext cx="90170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0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What has your work built in you?</a:t>
            </a:r>
            <a:br/>
            <a:r>
              <a:rPr sz="20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How portable is it? What is still missing?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" y="5435600"/>
            <a:ext cx="901700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temidayoafonja.com/fieldkit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701800"/>
            <a:ext cx="5715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CONTINUE THE SERIES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2235200"/>
            <a:ext cx="5715000" cy="1130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CAREER</a:t>
            </a:r>
            <a:br/>
            <a:r>
              <a:rPr sz="3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PORTABILITY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4038600"/>
            <a:ext cx="1651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4445000"/>
            <a:ext cx="57150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 spc="60">
                <a:solidFill>
                  <a:srgbClr val="8E9CB2"/>
                </a:solidFill>
                <a:latin typeface="Montserrat"/>
                <a:ea typeface="Montserrat"/>
                <a:cs typeface="Montserrat"/>
              </a:rPr>
              <a:t>CAREER PIVOTS  ·  INTERNAL MOVES  ·  GROWTH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