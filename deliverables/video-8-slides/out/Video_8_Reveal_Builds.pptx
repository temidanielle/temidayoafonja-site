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a:p>
            <a:r>
              <a:t>v2.2.1 PRECISION CORRECTION: the payoff now reads NOT EVERY DIFFERENCE IS A CAPABILITY GAP. / MUCH OF IT IS CONTEXT., with the sub-line “Some can be researched. Some must be learned through exposure.” The earlier wording (“none of that is your competence… and context is learnable”) was too absolute against the research-aligned script, because regulation and risk can be genuine domain or exposure requirements. The list and the visual design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a:p>
            <a:r>
              <a:t>v2.2.1 PRECISION CORRECTION: the payoff now reads NOT EVERY DIFFERENCE IS A CAPABILITY GAP. / MUCH OF IT IS CONTEXT., with the sub-line “Some can be researched. Some must be learned through exposure.” The earlier wording (“none of that is your competence… and context is learnable”) was too absolute against the research-aligned script, because regulation and risk can be genuine domain or exposure requirements. The list and the visual design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a:p>
            <a:r>
              <a:t>v2.2.1 PRECISION CORRECTION: the closing line now reads THESE FORMS OF JUDGMENT CAN TRAVEL — / WHEN THE NEW CONTEXT NEEDS THEM., replacing “None of these belong to an industry.” The point is that judgment does not transfer automatically regardless of whether the destination needs it. Two lines, same position, same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a:p>
            <a:r>
              <a:t>v2.2.1 PRECISION CORRECTION: the closing line now reads THESE FORMS OF JUDGMENT CAN TRAVEL — / WHEN THE NEW CONTEXT NEEDS THEM., replacing “None of these belong to an industry.” The point is that judgment does not transfer automatically regardless of whether the destination needs it. Two lines, same position, same 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4:29.</a:t>
            </a:r>
          </a:p>
          <a:p>
            <a:r>
              <a:t>One state, no build. The three cases are more useful read together than revealed one at a time.</a:t>
            </a:r>
          </a:p>
          <a:p>
            <a:r>
              <a:t>The third case is the one that saves the viewer money and months. Say it plainly and without mockery — chasing a credential is a reasonable response to feeling stuck.</a:t>
            </a:r>
          </a:p>
          <a:p>
            <a:r>
              <a:t>v2.2 RESEARCH ALIGNMENT: the spoken section now closes by interpreting the job-ad phrase itself. “Direct industry experience required” sometimes points at something real — regulation, domain knowledge, a license, decisions where being wrong carries real consequences — and sometimes it is shorthand for hiring risk. The viewer is NOT told to ignore it either way; they are told to ask what the employer is trying not to get wrong. The three cases already on this slide carry that distinction, so the slide does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6:14.</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6:14.</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7:10.</a:t>
            </a:r>
          </a:p>
          <a:p>
            <a:r>
              <a:t>Read the three adjectives flatly. They are not being mocked; they are being shown to carry no information.</a:t>
            </a:r>
          </a:p>
          <a:p>
            <a:r>
              <a:t>Follow immediately with the honest limit: managing a regulated programme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7:10.</a:t>
            </a:r>
          </a:p>
          <a:p>
            <a:r>
              <a:t>Read the three adjectives flatly. They are not being mocked; they are being shown to carry no information.</a:t>
            </a:r>
          </a:p>
          <a:p>
            <a:r>
              <a:t>Follow immediately with the honest limit: managing a regulated programme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12:02.</a:t>
            </a:r>
          </a:p>
          <a:p>
            <a:r>
              <a:t>One offer only. No Keep the Proof, no Career Decision Evidence Check, no book, on this slide or anywhere in this block.</a:t>
            </a:r>
          </a:p>
          <a:p>
            <a:r>
              <a:t>State the limits out loud: the Field Kit does not tell the viewer which industry is hiring and does not replace researching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12:38.</a:t>
            </a:r>
          </a:p>
          <a:p>
            <a:r>
              <a:t>Everything sits left of x=1130. The right third is reserved for the YouTube end-screen element and must stay empty.</a:t>
            </a:r>
          </a:p>
          <a:p>
            <a:r>
              <a:t>No unpublished video is named here or in the spoken line. Set the end-screen video element at upload: route it directly to the next video if that video is already public, otherwise to the public Career Portability playlist. Verify the playlist opens signed out and contains at least one other public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
        <p:nvSpPr>
          <p:cNvPr id="8" name="Rectangle 7"/>
          <p:cNvSpPr/>
          <p:nvPr/>
        </p:nvSpPr>
        <p:spPr>
          <a:xfrm>
            <a:off x="1016000" y="4241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673600"/>
            <a:ext cx="9017000" cy="965200"/>
          </a:xfrm>
          <a:prstGeom prst="rect">
            <a:avLst/>
          </a:prstGeom>
          <a:noFill/>
        </p:spPr>
        <p:txBody>
          <a:bodyPr wrap="square" lIns="0" rIns="0" tIns="0" bIns="0" anchor="t">
            <a:spAutoFit/>
          </a:bodyPr>
          <a:lstStyle/>
          <a:p>
            <a:pPr algn="l">
              <a:lnSpc>
                <a:spcPct val="116000"/>
              </a:lnSpc>
            </a:pPr>
            <a:r>
              <a:rPr sz="3100" b="1" i="0">
                <a:solidFill>
                  <a:srgbClr val="C9A84C"/>
                </a:solidFill>
                <a:latin typeface="Montserrat"/>
                <a:ea typeface="Montserrat"/>
                <a:cs typeface="Montserrat"/>
              </a:rPr>
              <a:t>IT MAKES YOU NEW</a:t>
            </a:r>
            <a:br/>
            <a:r>
              <a:rPr sz="3100" b="1" i="0">
                <a:solidFill>
                  <a:srgbClr val="C9A84C"/>
                </a:solidFill>
                <a:latin typeface="Montserrat"/>
                <a:ea typeface="Montserrat"/>
                <a:cs typeface="Montserrat"/>
              </a:rPr>
              <a:t>TO A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4064000"/>
            <a:ext cx="12192000" cy="2794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4546600"/>
            <a:ext cx="10160000" cy="901700"/>
          </a:xfrm>
          <a:prstGeom prst="rect">
            <a:avLst/>
          </a:prstGeom>
          <a:noFill/>
        </p:spPr>
        <p:txBody>
          <a:bodyPr wrap="square" lIns="0" rIns="0" tIns="0" bIns="0" anchor="t">
            <a:spAutoFit/>
          </a:bodyPr>
          <a:lstStyle/>
          <a:p>
            <a:pPr algn="l">
              <a:lnSpc>
                <a:spcPct val="110000"/>
              </a:lnSpc>
            </a:pPr>
            <a:r>
              <a:rPr sz="2600" b="1" i="0">
                <a:solidFill>
                  <a:srgbClr val="F5F1E8"/>
                </a:solidFill>
                <a:latin typeface="Montserrat"/>
                <a:ea typeface="Montserrat"/>
                <a:cs typeface="Montserrat"/>
              </a:rPr>
              <a:t>NOT EVERY DIFFERENCE IS A CAPABILITY GAP.</a:t>
            </a:r>
          </a:p>
          <a:p>
            <a:pPr algn="l">
              <a:lnSpc>
                <a:spcPct val="110000"/>
              </a:lnSpc>
              <a:spcBef>
                <a:spcPts val="1000"/>
              </a:spcBef>
            </a:pPr>
            <a:r>
              <a:rPr sz="2600" b="1" i="0">
                <a:solidFill>
                  <a:srgbClr val="C9A84C"/>
                </a:solidFill>
                <a:latin typeface="Montserrat"/>
                <a:ea typeface="Montserrat"/>
                <a:cs typeface="Montserrat"/>
              </a:rPr>
              <a:t>MUCH OF IT IS CONTEXT.</a:t>
            </a:r>
          </a:p>
        </p:txBody>
      </p:sp>
      <p:sp>
        <p:nvSpPr>
          <p:cNvPr id="17" name="Rectangle 16"/>
          <p:cNvSpPr/>
          <p:nvPr/>
        </p:nvSpPr>
        <p:spPr>
          <a:xfrm>
            <a:off x="1016000" y="58166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000" y="60706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Some can be researched. Some must be learned through exposure.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4635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12" name="TextBox 11"/>
          <p:cNvSpPr txBox="1"/>
          <p:nvPr/>
        </p:nvSpPr>
        <p:spPr>
          <a:xfrm>
            <a:off x="1905000" y="4610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CREDENTIAL</a:t>
            </a:r>
          </a:p>
        </p:txBody>
      </p:sp>
      <p:sp>
        <p:nvSpPr>
          <p:cNvPr id="13" name="TextBox 12"/>
          <p:cNvSpPr txBox="1"/>
          <p:nvPr/>
        </p:nvSpPr>
        <p:spPr>
          <a:xfrm>
            <a:off x="1905000" y="5118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Formal evidence or permission the destination requires.</a:t>
            </a:r>
          </a:p>
        </p:txBody>
      </p:sp>
      <p:sp>
        <p:nvSpPr>
          <p:cNvPr id="14" name="Rectangle 13"/>
          <p:cNvSpPr/>
          <p:nvPr/>
        </p:nvSpPr>
        <p:spPr>
          <a:xfrm>
            <a:off x="1905000" y="5651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16200"/>
            <a:ext cx="10160000" cy="1866900"/>
          </a:xfrm>
          <a:prstGeom prst="rect">
            <a:avLst/>
          </a:prstGeom>
          <a:noFill/>
        </p:spPr>
        <p:txBody>
          <a:bodyPr wrap="square" lIns="0" rIns="0" tIns="0" bIns="0" anchor="t">
            <a:spAutoFit/>
          </a:bodyPr>
          <a:lstStyle/>
          <a:p>
            <a:pPr algn="l">
              <a:lnSpc>
                <a:spcPct val="130000"/>
              </a:lnSpc>
            </a:pPr>
            <a:r>
              <a:rPr sz="2000" b="0" i="0">
                <a:solidFill>
                  <a:srgbClr val="0F2346"/>
                </a:solidFill>
                <a:latin typeface="DM Sans"/>
                <a:ea typeface="DM Sans"/>
                <a:cs typeface="DM Sans"/>
              </a:rPr>
              <a:t>Finding the real decision in a room of stated positions.</a:t>
            </a:r>
          </a:p>
          <a:p>
            <a:pPr algn="l">
              <a:lnSpc>
                <a:spcPct val="130000"/>
              </a:lnSpc>
              <a:spcBef>
                <a:spcPts val="1300"/>
              </a:spcBef>
            </a:pPr>
            <a:r>
              <a:rPr sz="2000" b="0" i="0">
                <a:solidFill>
                  <a:srgbClr val="0F2346"/>
                </a:solidFill>
                <a:latin typeface="DM Sans"/>
                <a:ea typeface="DM Sans"/>
                <a:cs typeface="DM Sans"/>
              </a:rPr>
              <a:t>Structuring a problem nobody has framed yet.</a:t>
            </a:r>
          </a:p>
          <a:p>
            <a:pPr algn="l">
              <a:lnSpc>
                <a:spcPct val="130000"/>
              </a:lnSpc>
              <a:spcBef>
                <a:spcPts val="1300"/>
              </a:spcBef>
            </a:pPr>
            <a:r>
              <a:rPr sz="2000" b="0" i="0">
                <a:solidFill>
                  <a:srgbClr val="0F2346"/>
                </a:solidFill>
                <a:latin typeface="DM Sans"/>
                <a:ea typeface="DM Sans"/>
                <a:cs typeface="DM Sans"/>
              </a:rPr>
              <a:t>Knowing when a number is too clean to be true.</a:t>
            </a:r>
          </a:p>
          <a:p>
            <a:pPr algn="l">
              <a:lnSpc>
                <a:spcPct val="130000"/>
              </a:lnSpc>
              <a:spcBef>
                <a:spcPts val="1300"/>
              </a:spcBef>
            </a:pPr>
            <a:r>
              <a:rPr sz="2000" b="0" i="0">
                <a:solidFill>
                  <a:srgbClr val="0F2346"/>
                </a:solidFill>
                <a:latin typeface="DM Sans"/>
                <a:ea typeface="DM Sans"/>
                <a:cs typeface="DM Sans"/>
              </a:rPr>
              <a:t>Holding a position when the room would rather you did not.</a:t>
            </a:r>
          </a:p>
        </p:txBody>
      </p:sp>
      <p:sp>
        <p:nvSpPr>
          <p:cNvPr id="6" name="Rectangle 5"/>
          <p:cNvSpPr/>
          <p:nvPr/>
        </p:nvSpPr>
        <p:spPr>
          <a:xfrm>
            <a:off x="1016000" y="48260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118100"/>
            <a:ext cx="10160000" cy="3556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THESE FORMS OF JUDGMENT CAN TRAVEL —</a:t>
            </a:r>
            <a:br>
              <a:rPr sz="2000" b="1" i="0">
                <a:solidFill>
                  <a:srgbClr val="0F2346"/>
                </a:solidFill>
                <a:latin typeface="Montserrat"/>
                <a:ea typeface="Montserrat"/>
                <a:cs typeface="Montserrat"/>
              </a:rPr>
            </a:br>
            <a:r>
              <a:rPr sz="2000" b="1" i="0">
                <a:solidFill>
                  <a:srgbClr val="0F2346"/>
                </a:solidFill>
                <a:latin typeface="Montserrat"/>
                <a:ea typeface="Montserrat"/>
                <a:cs typeface="Montserrat"/>
              </a:rPr>
              <a:t>WHEN THE NEW CONTEXT NEEDS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92400"/>
            <a:ext cx="10160000" cy="17462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The names the same idea goes by here.</a:t>
            </a:r>
          </a:p>
          <a:p>
            <a:pPr algn="l">
              <a:lnSpc>
                <a:spcPct val="128000"/>
              </a:lnSpc>
              <a:spcBef>
                <a:spcPts val="1200"/>
              </a:spcBef>
            </a:pPr>
            <a:r>
              <a:rPr sz="1900" b="0" i="0">
                <a:solidFill>
                  <a:srgbClr val="F5F1E8"/>
                </a:solidFill>
                <a:latin typeface="DM Sans"/>
                <a:ea typeface="DM Sans"/>
                <a:cs typeface="DM Sans"/>
              </a:rPr>
              <a:t>Who must be convinced, and who can quietly stop it.</a:t>
            </a:r>
          </a:p>
          <a:p>
            <a:pPr algn="l">
              <a:lnSpc>
                <a:spcPct val="128000"/>
              </a:lnSpc>
              <a:spcBef>
                <a:spcPts val="1200"/>
              </a:spcBef>
            </a:pPr>
            <a:r>
              <a:rPr sz="1900" b="0" i="0">
                <a:solidFill>
                  <a:srgbClr val="F5F1E8"/>
                </a:solidFill>
                <a:latin typeface="DM Sans"/>
                <a:ea typeface="DM Sans"/>
                <a:cs typeface="DM Sans"/>
              </a:rPr>
              <a:t>What the pressure is, and where it comes from.</a:t>
            </a:r>
          </a:p>
          <a:p>
            <a:pPr algn="l">
              <a:lnSpc>
                <a:spcPct val="128000"/>
              </a:lnSpc>
              <a:spcBef>
                <a:spcPts val="1200"/>
              </a:spcBef>
            </a:pPr>
            <a:r>
              <a:rPr sz="1900" b="0" i="0">
                <a:solidFill>
                  <a:srgbClr val="F5F1E8"/>
                </a:solidFill>
                <a:latin typeface="DM Sans"/>
                <a:ea typeface="DM Sans"/>
                <a:cs typeface="DM Sans"/>
              </a:rPr>
              <a:t>What everyone here is quietly afraid of.</a:t>
            </a:r>
          </a:p>
        </p:txBody>
      </p:sp>
      <p:sp>
        <p:nvSpPr>
          <p:cNvPr id="6" name="Rectangle 5"/>
          <p:cNvSpPr/>
          <p:nvPr/>
        </p:nvSpPr>
        <p:spPr>
          <a:xfrm>
            <a:off x="1016000" y="4927600"/>
            <a:ext cx="10160000" cy="1905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219700"/>
            <a:ext cx="10160000" cy="960120"/>
          </a:xfrm>
          <a:prstGeom prst="rect">
            <a:avLst/>
          </a:prstGeom>
          <a:noFill/>
        </p:spPr>
        <p:txBody>
          <a:bodyPr wrap="square" lIns="0" rIns="0" tIns="0" bIns="0" anchor="t">
            <a:spAutoFit/>
          </a:bodyPr>
          <a:lstStyle/>
          <a:p>
            <a:pPr algn="l">
              <a:lnSpc>
                <a:spcPct val="120000"/>
              </a:lnSpc>
            </a:pPr>
            <a:r>
              <a:rPr sz="2000" b="1" i="0">
                <a:solidFill>
                  <a:srgbClr val="C9A84C"/>
                </a:solidFill>
                <a:latin typeface="Montserrat"/>
                <a:ea typeface="Montserrat"/>
                <a:cs typeface="Montserrat"/>
              </a:rPr>
              <a:t>IT CAN FEEL LIKE A COMPETENCE GAP.</a:t>
            </a:r>
            <a:br/>
            <a:r>
              <a:rPr sz="2000" b="1" i="0">
                <a:solidFill>
                  <a:srgbClr val="C9A84C"/>
                </a:solidFill>
                <a:latin typeface="Montserrat"/>
                <a:ea typeface="Montserrat"/>
                <a:cs typeface="Montserrat"/>
              </a:rPr>
              <a:t>SOME CONTEXT CAN BE RESEARCHED.</a:t>
            </a:r>
            <a:br/>
            <a:r>
              <a:rPr sz="2000" b="1" i="0">
                <a:solidFill>
                  <a:srgbClr val="C9A84C"/>
                </a:solidFill>
                <a:latin typeface="Montserrat"/>
                <a:ea typeface="Montserrat"/>
                <a:cs typeface="Montserrat"/>
              </a:rPr>
              <a:t>SOME MUST BE LEARNED THROUGH EXPOSURE.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CREDENTIAL</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MUST BE EARNED</a:t>
            </a:r>
          </a:p>
        </p:txBody>
      </p:sp>
      <p:sp>
        <p:nvSpPr>
          <p:cNvPr id="4" name="Rectangle 3"/>
          <p:cNvSpPr/>
          <p:nvPr/>
        </p:nvSpPr>
        <p:spPr>
          <a:xfrm>
            <a:off x="1016000" y="21844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305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Genuinely required</a:t>
            </a:r>
          </a:p>
        </p:txBody>
      </p:sp>
      <p:sp>
        <p:nvSpPr>
          <p:cNvPr id="6" name="TextBox 5"/>
          <p:cNvSpPr txBox="1"/>
          <p:nvPr/>
        </p:nvSpPr>
        <p:spPr>
          <a:xfrm>
            <a:off x="5207000" y="27559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There is no way around it. Plan for it.</a:t>
            </a:r>
          </a:p>
        </p:txBody>
      </p:sp>
      <p:sp>
        <p:nvSpPr>
          <p:cNvPr id="7" name="Rectangle 6"/>
          <p:cNvSpPr/>
          <p:nvPr/>
        </p:nvSpPr>
        <p:spPr>
          <a:xfrm>
            <a:off x="1016000" y="3479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39116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A signal</a:t>
            </a:r>
          </a:p>
        </p:txBody>
      </p:sp>
      <p:sp>
        <p:nvSpPr>
          <p:cNvPr id="9" name="TextBox 8"/>
          <p:cNvSpPr txBox="1"/>
          <p:nvPr/>
        </p:nvSpPr>
        <p:spPr>
          <a:xfrm>
            <a:off x="5207000" y="39370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Not required, but it shortens the conversation.</a:t>
            </a:r>
          </a:p>
        </p:txBody>
      </p:sp>
      <p:sp>
        <p:nvSpPr>
          <p:cNvPr id="10" name="Rectangle 9"/>
          <p:cNvSpPr/>
          <p:nvPr/>
        </p:nvSpPr>
        <p:spPr>
          <a:xfrm>
            <a:off x="1016000" y="46609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50927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Neither</a:t>
            </a:r>
          </a:p>
        </p:txBody>
      </p:sp>
      <p:sp>
        <p:nvSpPr>
          <p:cNvPr id="12" name="TextBox 11"/>
          <p:cNvSpPr txBox="1"/>
          <p:nvPr/>
        </p:nvSpPr>
        <p:spPr>
          <a:xfrm>
            <a:off x="5207000" y="51181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Chased because it feels like progress.</a:t>
            </a:r>
          </a:p>
        </p:txBody>
      </p:sp>
      <p:sp>
        <p:nvSpPr>
          <p:cNvPr id="13" name="Rectangle 12"/>
          <p:cNvSpPr/>
          <p:nvPr/>
        </p:nvSpPr>
        <p:spPr>
          <a:xfrm>
            <a:off x="1016000" y="58420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10287000" cy="17843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What does that industry keep failing to solve?</a:t>
            </a:r>
          </a:p>
          <a:p>
            <a:pPr algn="l">
              <a:lnSpc>
                <a:spcPct val="128000"/>
              </a:lnSpc>
              <a:spcBef>
                <a:spcPts val="1300"/>
              </a:spcBef>
            </a:pPr>
            <a:r>
              <a:rPr sz="1900" b="0" i="0">
                <a:solidFill>
                  <a:srgbClr val="F5F1E8"/>
                </a:solidFill>
                <a:latin typeface="DM Sans"/>
                <a:ea typeface="DM Sans"/>
                <a:cs typeface="DM Sans"/>
              </a:rPr>
              <a:t>Which of those decisions have you made before?</a:t>
            </a:r>
          </a:p>
          <a:p>
            <a:pPr algn="l">
              <a:lnSpc>
                <a:spcPct val="128000"/>
              </a:lnSpc>
              <a:spcBef>
                <a:spcPts val="1300"/>
              </a:spcBef>
            </a:pPr>
            <a:r>
              <a:rPr sz="1900" b="0" i="0">
                <a:solidFill>
                  <a:srgbClr val="F5F1E8"/>
                </a:solidFill>
                <a:latin typeface="DM Sans"/>
                <a:ea typeface="DM Sans"/>
                <a:cs typeface="DM Sans"/>
              </a:rPr>
              <a:t>Which patterns do you already recognise early?</a:t>
            </a:r>
          </a:p>
          <a:p>
            <a:pPr algn="l">
              <a:lnSpc>
                <a:spcPct val="128000"/>
              </a:lnSpc>
              <a:spcBef>
                <a:spcPts val="1300"/>
              </a:spcBef>
            </a:pPr>
            <a:r>
              <a:rPr sz="1900" b="0" i="0">
                <a:solidFill>
                  <a:srgbClr val="F5F1E8"/>
                </a:solidFill>
                <a:latin typeface="DM Sans"/>
                <a:ea typeface="DM Sans"/>
                <a:cs typeface="DM Sans"/>
              </a:rPr>
              <a:t>Which constraints have you worked inside?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
        <p:nvSpPr>
          <p:cNvPr id="6" name="Rectangle 5"/>
          <p:cNvSpPr/>
          <p:nvPr/>
        </p:nvSpPr>
        <p:spPr>
          <a:xfrm>
            <a:off x="0" y="3784600"/>
            <a:ext cx="12192000" cy="3073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4292600"/>
            <a:ext cx="10160000" cy="787400"/>
          </a:xfrm>
          <a:prstGeom prst="rect">
            <a:avLst/>
          </a:prstGeom>
          <a:noFill/>
        </p:spPr>
        <p:txBody>
          <a:bodyPr wrap="square" lIns="0" rIns="0" tIns="0" bIns="0" anchor="t">
            <a:spAutoFit/>
          </a:bodyPr>
          <a:lstStyle/>
          <a:p>
            <a:pPr algn="l">
              <a:lnSpc>
                <a:spcPct val="116000"/>
              </a:lnSpc>
            </a:pPr>
            <a:r>
              <a:rPr sz="2500" b="1" i="0">
                <a:solidFill>
                  <a:srgbClr val="F5F1E8"/>
                </a:solidFill>
                <a:latin typeface="Montserrat"/>
                <a:ea typeface="Montserrat"/>
                <a:cs typeface="Montserrat"/>
              </a:rPr>
              <a:t>THE UNIT THAT TRANSFERS IS JUDGMENT,</a:t>
            </a:r>
            <a:br/>
            <a:r>
              <a:rPr sz="2500" b="1" i="0">
                <a:solidFill>
                  <a:srgbClr val="F5F1E8"/>
                </a:solidFill>
                <a:latin typeface="Montserrat"/>
                <a:ea typeface="Montserrat"/>
                <a:cs typeface="Montserrat"/>
              </a:rPr>
              <a:t>WITH EVIDENCE ATTACHED.</a:t>
            </a:r>
          </a:p>
        </p:txBody>
      </p:sp>
      <p:sp>
        <p:nvSpPr>
          <p:cNvPr id="8" name="Rectangle 7"/>
          <p:cNvSpPr/>
          <p:nvPr/>
        </p:nvSpPr>
        <p:spPr>
          <a:xfrm>
            <a:off x="1016000" y="55372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58293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Not a job title. Not a task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
        <p:nvSpPr>
          <p:cNvPr id="9" name="Rectangle 8"/>
          <p:cNvSpPr/>
          <p:nvPr/>
        </p:nvSpPr>
        <p:spPr>
          <a:xfrm>
            <a:off x="1016000" y="46609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08100" y="49403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PRACTITIONER CONVERSATIONS   ·   A FIRST-90-DAYS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
        <p:nvSpPr>
          <p:cNvPr id="9" name="Rectangle 8"/>
          <p:cNvSpPr/>
          <p:nvPr/>
        </p:nvSpPr>
        <p:spPr>
          <a:xfrm>
            <a:off x="79502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 I</a:t>
            </a:r>
            <a:br/>
            <a:r>
              <a:rPr sz="2100" b="1" i="0" spc="80">
                <a:solidFill>
                  <a:srgbClr val="0F2346"/>
                </a:solidFill>
                <a:latin typeface="Montserrat"/>
                <a:ea typeface="Montserrat"/>
                <a:cs typeface="Montserrat"/>
              </a:rPr>
              <a:t>MUST EARN</a:t>
            </a:r>
          </a:p>
        </p:txBody>
      </p:sp>
      <p:sp>
        <p:nvSpPr>
          <p:cNvPr id="11" name="TextBox 10"/>
          <p:cNvSpPr txBox="1"/>
          <p:nvPr/>
        </p:nvSpPr>
        <p:spPr>
          <a:xfrm>
            <a:off x="82296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The credential or exposure</a:t>
            </a:r>
            <a:br/>
            <a:r>
              <a:rPr sz="1600" b="0" i="0">
                <a:solidFill>
                  <a:srgbClr val="5A6B82"/>
                </a:solidFill>
                <a:latin typeface="DM Sans"/>
                <a:ea typeface="DM Sans"/>
                <a:cs typeface="DM Sans"/>
              </a:rPr>
              <a:t>nothing substitutes for.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79600"/>
            <a:ext cx="7620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CAPABILITY FORMATION</a:t>
            </a:r>
          </a:p>
        </p:txBody>
      </p:sp>
      <p:sp>
        <p:nvSpPr>
          <p:cNvPr id="8" name="TextBox 7"/>
          <p:cNvSpPr txBox="1"/>
          <p:nvPr/>
        </p:nvSpPr>
        <p:spPr>
          <a:xfrm>
            <a:off x="1016000" y="2324100"/>
            <a:ext cx="9017000" cy="584200"/>
          </a:xfrm>
          <a:prstGeom prst="rect">
            <a:avLst/>
          </a:prstGeom>
          <a:noFill/>
        </p:spPr>
        <p:txBody>
          <a:bodyPr wrap="square" lIns="0" rIns="0" tIns="0" bIns="0" anchor="t">
            <a:spAutoFit/>
          </a:bodyPr>
          <a:lstStyle/>
          <a:p>
            <a:pPr algn="l">
              <a:lnSpc>
                <a:spcPct val="108000"/>
              </a:lnSpc>
            </a:pPr>
            <a:r>
              <a:rPr sz="3900" b="1" i="0">
                <a:solidFill>
                  <a:srgbClr val="F5F1E8"/>
                </a:solidFill>
                <a:latin typeface="Montserrat"/>
                <a:ea typeface="Montserrat"/>
                <a:cs typeface="Montserrat"/>
              </a:rPr>
              <a:t>FIELD KIT</a:t>
            </a:r>
          </a:p>
        </p:txBody>
      </p:sp>
      <p:sp>
        <p:nvSpPr>
          <p:cNvPr id="9" name="Rectangle 8"/>
          <p:cNvSpPr/>
          <p:nvPr/>
        </p:nvSpPr>
        <p:spPr>
          <a:xfrm>
            <a:off x="1016000" y="3225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3619500"/>
            <a:ext cx="9017000" cy="723900"/>
          </a:xfrm>
          <a:prstGeom prst="rect">
            <a:avLst/>
          </a:prstGeom>
          <a:noFill/>
        </p:spPr>
        <p:txBody>
          <a:bodyPr wrap="square" lIns="0" rIns="0" tIns="0" bIns="0" anchor="t">
            <a:spAutoFit/>
          </a:bodyPr>
          <a:lstStyle/>
          <a:p>
            <a:pPr algn="l">
              <a:lnSpc>
                <a:spcPct val="132000"/>
              </a:lnSpc>
            </a:pPr>
            <a:r>
              <a:rPr sz="2000" b="0" i="0">
                <a:solidFill>
                  <a:srgbClr val="B9C3D2"/>
                </a:solidFill>
                <a:latin typeface="DM Sans"/>
                <a:ea typeface="DM Sans"/>
                <a:cs typeface="DM Sans"/>
              </a:rPr>
              <a:t>What has your work built in you?</a:t>
            </a:r>
            <a:br/>
            <a:r>
              <a:rPr sz="2000" b="0" i="0">
                <a:solidFill>
                  <a:srgbClr val="B9C3D2"/>
                </a:solidFill>
                <a:latin typeface="DM Sans"/>
                <a:ea typeface="DM Sans"/>
                <a:cs typeface="DM Sans"/>
              </a:rPr>
              <a:t>How portable is it? What is still missing?</a:t>
            </a:r>
          </a:p>
        </p:txBody>
      </p:sp>
      <p:sp>
        <p:nvSpPr>
          <p:cNvPr id="11" name="TextBox 10"/>
          <p:cNvSpPr txBox="1"/>
          <p:nvPr/>
        </p:nvSpPr>
        <p:spPr>
          <a:xfrm>
            <a:off x="1016000" y="5435600"/>
            <a:ext cx="9017000" cy="355600"/>
          </a:xfrm>
          <a:prstGeom prst="rect">
            <a:avLst/>
          </a:prstGeom>
          <a:noFill/>
        </p:spPr>
        <p:txBody>
          <a:bodyPr wrap="square" lIns="0" rIns="0" tIns="0" bIns="0" anchor="t">
            <a:spAutoFit/>
          </a:bodyPr>
          <a:lstStyle/>
          <a:p>
            <a:pPr algn="l">
              <a:lnSpc>
                <a:spcPct val="110000"/>
              </a:lnSpc>
            </a:pPr>
            <a:r>
              <a:rPr sz="2200" b="1" i="0">
                <a:solidFill>
                  <a:srgbClr val="C9A84C"/>
                </a:solidFill>
                <a:latin typeface="Montserrat"/>
                <a:ea typeface="Montserrat"/>
                <a:cs typeface="Montserrat"/>
              </a:rPr>
              <a:t>temidayoafonja.com/fieldkit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701800"/>
            <a:ext cx="5715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CONTINUE THE SERIES</a:t>
            </a:r>
          </a:p>
        </p:txBody>
      </p:sp>
      <p:sp>
        <p:nvSpPr>
          <p:cNvPr id="3" name="TextBox 2"/>
          <p:cNvSpPr txBox="1"/>
          <p:nvPr/>
        </p:nvSpPr>
        <p:spPr>
          <a:xfrm>
            <a:off x="1016000" y="2235200"/>
            <a:ext cx="5715000" cy="1130300"/>
          </a:xfrm>
          <a:prstGeom prst="rect">
            <a:avLst/>
          </a:prstGeom>
          <a:noFill/>
        </p:spPr>
        <p:txBody>
          <a:bodyPr wrap="square" lIns="0" rIns="0" tIns="0" bIns="0" anchor="t">
            <a:spAutoFit/>
          </a:bodyPr>
          <a:lstStyle/>
          <a:p>
            <a:pPr algn="l">
              <a:lnSpc>
                <a:spcPct val="112000"/>
              </a:lnSpc>
            </a:pPr>
            <a:r>
              <a:rPr sz="3800" b="1" i="0">
                <a:solidFill>
                  <a:srgbClr val="F5F1E8"/>
                </a:solidFill>
                <a:latin typeface="Montserrat"/>
                <a:ea typeface="Montserrat"/>
                <a:cs typeface="Montserrat"/>
              </a:rPr>
              <a:t>CAREER</a:t>
            </a:r>
            <a:br/>
            <a:r>
              <a:rPr sz="3800" b="1" i="0">
                <a:solidFill>
                  <a:srgbClr val="F5F1E8"/>
                </a:solidFill>
                <a:latin typeface="Montserrat"/>
                <a:ea typeface="Montserrat"/>
                <a:cs typeface="Montserrat"/>
              </a:rPr>
              <a:t>PORTABILITY</a:t>
            </a:r>
          </a:p>
        </p:txBody>
      </p:sp>
      <p:sp>
        <p:nvSpPr>
          <p:cNvPr id="4" name="Rectangle 3"/>
          <p:cNvSpPr/>
          <p:nvPr/>
        </p:nvSpPr>
        <p:spPr>
          <a:xfrm>
            <a:off x="1016000" y="4038600"/>
            <a:ext cx="165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445000"/>
            <a:ext cx="5715000" cy="317500"/>
          </a:xfrm>
          <a:prstGeom prst="rect">
            <a:avLst/>
          </a:prstGeom>
          <a:noFill/>
        </p:spPr>
        <p:txBody>
          <a:bodyPr wrap="square" lIns="0" rIns="0" tIns="0" bIns="0" anchor="t">
            <a:spAutoFit/>
          </a:bodyPr>
          <a:lstStyle/>
          <a:p>
            <a:pPr algn="l">
              <a:lnSpc>
                <a:spcPct val="130000"/>
              </a:lnSpc>
            </a:pPr>
            <a:r>
              <a:rPr sz="1600" b="1" i="0" spc="60">
                <a:solidFill>
                  <a:srgbClr val="8E9CB2"/>
                </a:solidFill>
                <a:latin typeface="Montserrat"/>
                <a:ea typeface="Montserrat"/>
                <a:cs typeface="Montserrat"/>
              </a:rPr>
              <a:t>CAREER PIVOTS  ·  INTERNAL MOVES  ·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