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0:30.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second. The gap between</a:t>
            </a:r>
          </a:p>
          <a:p>
            <a:r>
              <a:t>them is the whole video — do not rush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1:20.</a:t>
            </a:r>
          </a:p>
          <a:p/>
          <a:p>
            <a:r>
              <a:t>Read the six as a list she is walking through, not as a grid to get past.</a:t>
            </a:r>
          </a:p>
          <a:p>
            <a:r>
              <a:t>Incentives is the one viewers underestimate — give it a beat.</a:t>
            </a:r>
          </a:p>
          <a:p/>
          <a:p>
            <a:r>
              <a:t>The navy band is the relief line. It reframes the whole problem from</a:t>
            </a:r>
          </a:p>
          <a:p>
            <a:r>
              <a:t>competence to information, so let it land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2:15.</a:t>
            </a:r>
          </a:p>
          <a:p/>
          <a:p>
            <a:r>
              <a:t>One row per beat. This is the spine of the video: slides 4, 5 and 6 open each</a:t>
            </a:r>
          </a:p>
          <a:p>
            <a:r>
              <a:t>of the three in turn.</a:t>
            </a:r>
          </a:p>
          <a:p/>
          <a:p>
            <a:r>
              <a:t>The reason to separate them is that they have different remedies. Say that</a:t>
            </a:r>
          </a:p>
          <a:p>
            <a:r>
              <a:t>line here rather than saving it — it is what makes the slide useful.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2:50.</a:t>
            </a:r>
          </a:p>
          <a:p/>
          <a:p>
            <a:r>
              <a:t>Concrete examples, not adjectives. Adaptable, strategic and fast learner are</a:t>
            </a:r>
          </a:p>
          <a:p>
            <a:r>
              <a:t>explicitly rejected later — do not let them in here.</a:t>
            </a:r>
          </a:p>
          <a:p/>
          <a:p>
            <a:r>
              <a:t>Invite the viewer to add two of their own before advancing.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3:25.</a:t>
            </a:r>
          </a:p>
          <a:p/>
          <a:p>
            <a:r>
              <a:t>The last line is the reassurance the viewer came for, so deliver it level</a:t>
            </a:r>
          </a:p>
          <a:p>
            <a:r>
              <a:t>rather than warmly — it is a finding, not comfort.</a:t>
            </a:r>
          </a:p>
          <a:p/>
          <a:p>
            <a:r>
              <a:t>Do not promise the gap closes quickly. Say it closes faster than expected when</a:t>
            </a:r>
          </a:p>
          <a:p>
            <a:r>
              <a:t>someone is deliberate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4:05.</a:t>
            </a:r>
          </a:p>
          <a:p/>
          <a:p>
            <a:r>
              <a:t>One state, no build. The three cases are more useful read together than</a:t>
            </a:r>
          </a:p>
          <a:p>
            <a:r>
              <a:t>revealed one at a time.</a:t>
            </a:r>
          </a:p>
          <a:p/>
          <a:p>
            <a:r>
              <a:t>The third case is the one that saves the viewer money and months. Say it</a:t>
            </a:r>
          </a:p>
          <a:p>
            <a:r>
              <a:t>plainly and without mockery — chasing a credential is a reasonable response to</a:t>
            </a:r>
          </a:p>
          <a:p>
            <a:r>
              <a:t>feeling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4:45.</a:t>
            </a:r>
          </a:p>
          <a:p/>
          <a:p>
            <a:r>
              <a:t>The direction of travel is the point. Most viewers start from their own</a:t>
            </a:r>
          </a:p>
          <a:p>
            <a:r>
              <a:t>history and hope it matches; this reverses it.</a:t>
            </a:r>
          </a:p>
          <a:p/>
          <a:p>
            <a:r>
              <a:t>Name the real sources out loud — trade press, earnings calls, regulator</a:t>
            </a:r>
          </a:p>
          <a:p>
            <a:r>
              <a:t>commentary, and how job descriptions read when a team is frustrated.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Read the three adjectives flatly. They are not being mocked; they are being</a:t>
            </a:r>
          </a:p>
          <a:p>
            <a:r>
              <a:t>shown to carry no information.</a:t>
            </a:r>
          </a:p>
          <a:p/>
          <a:p>
            <a:r>
              <a:t>Follow immediately with the honest limit: managing a regulated programme</a:t>
            </a:r>
          </a:p>
          <a:p>
            <a:r>
              <a:t>transfers, knowing how a specific regulator behaves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6:20.</a:t>
            </a:r>
          </a:p>
          <a:p/>
          <a:p>
            <a:r>
              <a:t>One band per beat. None of these is invented experience, and that boundary is</a:t>
            </a:r>
          </a:p>
          <a:p>
            <a:r>
              <a:t>stated out loud rather than implied.</a:t>
            </a:r>
          </a:p>
          <a:p/>
          <a:p>
            <a:r>
              <a:t>Research only counts once it has become a point of view. Make that distinction</a:t>
            </a:r>
          </a:p>
          <a:p>
            <a:r>
              <a:t>audible — it is the difference between reading about a sector and having</a:t>
            </a:r>
          </a:p>
          <a:p>
            <a:r>
              <a:t>something to say about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One column per beat, left to right.</a:t>
            </a:r>
          </a:p>
          <a:p/>
          <a:p>
            <a:r>
              <a:t>Say the finding that makes the exercise worth doing, as an invitation rather</a:t>
            </a:r>
          </a:p>
          <a:p>
            <a:r>
              <a:t>than a statistic: they may find the first column is longer than they feared and</a:t>
            </a:r>
          </a:p>
          <a:p>
            <a:r>
              <a:t>the third shorter than they assumed.</a:t>
            </a:r>
          </a:p>
          <a:p/>
          <a:p>
            <a:r>
              <a:t>The translation sentence follows this slide and stays spoken, not typeset —</a:t>
            </a:r>
          </a:p>
          <a:p>
            <a:r>
              <a:t>the viewer should write it in their own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9:30.</a:t>
            </a:r>
          </a:p>
          <a:p/>
          <a:p>
            <a:r>
              <a:t>One offer only. No Keep the Proof, no Career Decision Evidence Check, no book,</a:t>
            </a:r>
          </a:p>
          <a:p>
            <a:r>
              <a:t>on this slide or anywhere in this block.</a:t>
            </a:r>
          </a:p>
          <a:p/>
          <a:p>
            <a:r>
              <a:t>State the limits out loud: the Field Kit does not tell the viewer which</a:t>
            </a:r>
          </a:p>
          <a:p>
            <a:r>
              <a:t>industry is hiring and does not replace researching the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10:05.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No unpublished video is named here or in the spoken line. Set the end-screen</a:t>
            </a:r>
          </a:p>
          <a:p>
            <a:r>
              <a:t>video element at upload: route it directly to the next video if that video is</a:t>
            </a:r>
          </a:p>
          <a:p>
            <a:r>
              <a:t>already public, otherwise to the public Career Portability playlist. Verify</a:t>
            </a:r>
          </a:p>
          <a:p>
            <a:r>
              <a:t>the playlist opens signed out and contains at least one other public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54200"/>
            <a:ext cx="901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CHANGING INDUSTRIES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DOES NOT MAKE YOU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ENTRY-LEVEL AT EVERYTHING.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4241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673600"/>
            <a:ext cx="9017000" cy="965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MAKES YOU NEW</a:t>
            </a:r>
            <a:br/>
            <a:r>
              <a:rPr sz="3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TO A CONTEXT.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WHAT ACTUALLY CHANGES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Language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Stakeholders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Incentives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3000" y="1498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Regulation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23000" y="1981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23000" y="21971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Operating rhythm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3000" y="26797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23000" y="2895600"/>
            <a:ext cx="4826000" cy="387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Risks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3000" y="3378200"/>
            <a:ext cx="4445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064000"/>
            <a:ext cx="12192000" cy="27940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6000" y="45466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NONE OF THAT IS YOUR COMPETENCE.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26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ALL OF IT IS CONTEXT.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6000" y="58166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6000" y="6070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And context is learnable.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87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05000" y="1562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5000" y="2070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Judgment that stays useful when the setting changes.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905000" y="2603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111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5000" y="3086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5000" y="3594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new field knows and you do not — yet.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05000" y="4127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35500"/>
            <a:ext cx="76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5000" y="4610100"/>
            <a:ext cx="9271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500" b="1" i="0" spc="10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5000" y="5118100"/>
            <a:ext cx="9271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Formal evidence or permission the destination requires.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05000" y="5651500"/>
            <a:ext cx="9144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TRAVELS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590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16200"/>
            <a:ext cx="10160000" cy="1866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Finding the real decision in a room of stated positions.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Structuring a problem nobody has framed yet.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Knowing when a number is too clean to be true.</a:t>
            </a:r>
          </a:p>
          <a:p>
            <a:pPr algn="l">
              <a:lnSpc>
                <a:spcPct val="130000"/>
              </a:lnSpc>
              <a:spcBef>
                <a:spcPts val="1300"/>
              </a:spcBef>
            </a:pPr>
            <a:r>
              <a:rPr sz="20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Holding a position when the room would rather you did not.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826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1181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None of these belong to an industry.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MUST BE RELEARNED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692400"/>
            <a:ext cx="10160000" cy="174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The names the same idea goes by here.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Who must be convinced, and who can quietly stop it.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the pressure is, and where it comes from.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everyone here is quietly afraid of.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4927600"/>
            <a:ext cx="10160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219700"/>
            <a:ext cx="10160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It feels like a competence gap. It is an information gap.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CREDENTIAL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98600"/>
            <a:ext cx="10160000" cy="46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MUST BE 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184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7305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Genuinely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07000" y="27559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There is no way around it. Plan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4798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9116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7000" y="39370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required, but it shortens the conversation.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6609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5092700"/>
            <a:ext cx="3937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Neither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7000" y="5118100"/>
            <a:ext cx="5969000" cy="336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Chased because it feels like progress.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842000"/>
            <a:ext cx="10160000" cy="127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287000" cy="863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START FROM THE DESTINATION,</a:t>
            </a:r>
            <a:br/>
            <a:r>
              <a:rPr sz="2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NOT FROM YOUR CV.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40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984500"/>
            <a:ext cx="10287000" cy="17843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What does that industry keep failing to solve?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of those decisions have you made before?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patterns do you already recognise early?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</a:pPr>
            <a:r>
              <a:rPr sz="19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Which constraints have you worked inside?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TRANSLATE, DO NOT RECITE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8445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“ADAPTABLE.”   “STRATEGIC.”</a:t>
            </a:r>
            <a:br/>
            <a:r>
              <a:rPr sz="2700" b="1" i="0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“A FAST LEARNER.”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7178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0226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These describe how you would like to be seen.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784600"/>
            <a:ext cx="12192000" cy="3073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292600"/>
            <a:ext cx="10160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UNIT THAT TRANSFERS IS JUDGMENT,</a:t>
            </a:r>
            <a:br/>
            <a:r>
              <a:rPr sz="2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 EVIDENCE ATTACHED.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537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8293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 job title. Not a task 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8890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08100"/>
            <a:ext cx="10287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BRIDGE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9431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4257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08100" y="27051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RELEVANT PROJECT   ·   CROSS-FUNCTIONAL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433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8100" y="38227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RESEARCH TURNED INTO A POINT OF VIEW   ·   A WORK SAMPLE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660900"/>
            <a:ext cx="10287000" cy="889000"/>
          </a:xfrm>
          <a:prstGeom prst="rect">
            <a:avLst/>
          </a:prstGeom>
          <a:noFill/>
          <a:ln w="19050">
            <a:solidFill>
              <a:srgbClr val="223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8100" y="4940300"/>
            <a:ext cx="97790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PRACTITIONER CONVERSATIONS   ·   A FIRST-90-DAYS 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ONE PAGE, 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524000"/>
            <a:ext cx="25400" cy="35560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TRAVELS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Judgment, decisions,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patterns, ways of working.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4831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625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625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Language, stakeholders,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incentives, rhythm, risk.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50200" y="1524000"/>
            <a:ext cx="25400" cy="35560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587500"/>
            <a:ext cx="2984500" cy="66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</a:t>
            </a:r>
            <a:br/>
            <a:r>
              <a:rPr sz="2100" b="1" i="0" spc="8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MUST EARN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730500"/>
            <a:ext cx="2984500" cy="577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The credential or exposure</a:t>
            </a:r>
            <a:br/>
            <a:r>
              <a:rPr sz="16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nothing substitutes for.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8796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CAPABILITY FORMATION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24100"/>
            <a:ext cx="9017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FIELD KIT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2258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3619500"/>
            <a:ext cx="9017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has your work built in you?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How portable is it? What is still missing?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CONTINUE THE SERIES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2235200"/>
            <a:ext cx="5715000" cy="1130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CAREER</a:t>
            </a:r>
            <a:br/>
            <a:r>
              <a:rPr sz="38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PORTABILITY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0386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445000"/>
            <a:ext cx="571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 spc="60">
                <a:solidFill>
                  <a:srgbClr val="8E9CB2"/>
                </a:solidFill>
                <a:latin typeface="Montserrat"/>
                <a:ea typeface="Montserrat"/>
                <a:cs typeface="Montserrat"/>
              </a:rPr>
              <a:t>CAREER PIVOTS  ·  INTERNAL MOVES  · 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