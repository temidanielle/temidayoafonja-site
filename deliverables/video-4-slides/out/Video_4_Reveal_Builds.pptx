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a:t>
            </a:r>
          </a:p>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2.</a:t>
            </a:r>
          </a:p>
          <a:p>
            <a:r>
              <a:t>Timing: approximately 1:21.</a:t>
            </a:r>
          </a:p>
          <a:p>
            <a:r>
              <a:t>The central distinction of the video. Reveal the second half after the first has been stated.</a:t>
            </a:r>
          </a:p>
          <a:p>
            <a:r>
              <a:t>Note the direct-address framing in v4.0: "when someone asks you, 'Walk me through your background,' you probably give them a list." The list that follows is the viewer's list, not a case study. Keep it restrained — no résumé-scroll animation, no timeline gag.</a:t>
            </a:r>
          </a:p>
          <a:p>
            <a:r>
              <a:t>Close on the instruction: give them enough chronology to orient them, then explain what the work repeatedly required you to become able to do.</a:t>
            </a:r>
          </a:p>
          <a:p>
            <a:r>
              <a:t>"There are three parts, and I want to walk you through each one" is the coaching turn.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2.</a:t>
            </a:r>
          </a:p>
          <a:p>
            <a:r>
              <a:t>Timing: approximately 1:21.</a:t>
            </a:r>
          </a:p>
          <a:p>
            <a:r>
              <a:t>The central distinction of the video. Reveal the second half after the first has been stated.</a:t>
            </a:r>
          </a:p>
          <a:p>
            <a:r>
              <a:t>Note the direct-address framing in v4.0: "when someone asks you, 'Walk me through your background,' you probably give them a list." The list that follows is the viewer's list, not a case study. Keep it restrained — no résumé-scroll animation, no timeline gag.</a:t>
            </a:r>
          </a:p>
          <a:p>
            <a:r>
              <a:t>Close on the instruction: give them enough chronology to orient them, then explain what the work repeatedly required you to become able to do.</a:t>
            </a:r>
          </a:p>
          <a:p>
            <a:r>
              <a:t>"There are three parts, and I want to walk you through each one" is the coaching turn.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2:09.</a:t>
            </a:r>
          </a:p>
          <a:p>
            <a:r>
              <a:t>Reveal the three cues as she names them.</a:t>
            </a:r>
          </a:p>
          <a:p>
            <a:r>
              <a:t>The coached framing is deliberate: "Your first sentence only has one job: orientation, not defense." Do not cut it.</a:t>
            </a:r>
          </a:p>
          <a:p>
            <a:r>
              <a:t>Her own example chapters are spoken once, briefly. The 2008 financial-crisis context stays exactly as spoken and gains nothing: she graduated into that market, so the first turn was not part of a designed plan. No employer, no metric, no further detail.</a:t>
            </a:r>
          </a:p>
          <a:p>
            <a:r>
              <a:t>Close on the honesty line: a coherent career story does not require pretending every move was strategic.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5 of 5 — main slide 4.</a:t>
            </a:r>
          </a:p>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5.</a:t>
            </a:r>
          </a:p>
          <a:p>
            <a:r>
              <a:t>Timing: approximately 3:40.</a:t>
            </a:r>
          </a:p>
          <a:p>
            <a:r>
              <a:t>Show the three nouns first, then the verb question.</a:t>
            </a:r>
          </a:p>
          <a:p>
            <a:r>
              <a:t>Temidayo's own recurring verbs — examine, translate, connect, build — are her evidence, not a template. The script is explicit that accounting, cybersecurity and people strategy are NOT the same profession, and that she would not force a connection the evidence does not support. In v4.0 that is turned to the viewer: "so do not force yours either." Do not cut either half.</a:t>
            </a:r>
          </a:p>
          <a:p>
            <a:r>
              <a:t>Close on the rule: a portable capability is not a word you like, it is something your work repeatedly required you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5.</a:t>
            </a:r>
          </a:p>
          <a:p>
            <a:r>
              <a:t>Timing: approximately 3:40.</a:t>
            </a:r>
          </a:p>
          <a:p>
            <a:r>
              <a:t>Show the three nouns first, then the verb question.</a:t>
            </a:r>
          </a:p>
          <a:p>
            <a:r>
              <a:t>Temidayo's own recurring verbs — examine, translate, connect, build — are her evidence, not a template. The script is explicit that accounting, cybersecurity and people strategy are NOT the same profession, and that she would not force a connection the evidence does not support. In v4.0 that is turned to the viewer: "so do not force yours either." Do not cut either half.</a:t>
            </a:r>
          </a:p>
          <a:p>
            <a:r>
              <a:t>Close on the rule: a portable capability is not a word you like, it is something your work repeatedly required you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6.</a:t>
            </a:r>
          </a:p>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6.</a:t>
            </a:r>
          </a:p>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6.</a:t>
            </a:r>
          </a:p>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7.</a:t>
            </a:r>
          </a:p>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7.</a:t>
            </a:r>
          </a:p>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7.</a:t>
            </a:r>
          </a:p>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8.</a:t>
            </a:r>
          </a:p>
          <a:p>
            <a:r>
              <a:t>Timing: approximately 6:17.</a:t>
            </a:r>
          </a:p>
          <a:p>
            <a:r>
              <a:t>The honesty test, and the reason the video is credible. Give it room.</a:t>
            </a:r>
          </a:p>
          <a:p>
            <a:r>
              <a:t>"There is an honesty test here, and here is what I would not do." That framing is Temidayo taking the risk first, then handing the viewer the standard. Keep it.</a:t>
            </a:r>
          </a:p>
          <a:p>
            <a:r>
              <a:t>Markets, caregiving, health, compensation, restructuring and unpredicted opportunity are all named as legitimate. Interruption, redirection and relearning are all allowed in a truthful explanation.</a:t>
            </a:r>
          </a:p>
          <a:p>
            <a:r>
              <a:t>Close on: you are not trying to make your career look linear, you are trying to make your formation legible.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8:31.</a:t>
            </a:r>
          </a:p>
          <a:p>
            <a:r>
              <a:t>Calm and brief. This is the only invitation in the video, and it is the FREE Career Evidence Starter — not Keep the Proof, not the Capability Formation Field Kit.</a:t>
            </a:r>
          </a:p>
          <a:p>
            <a:r>
              <a:t>Exact invitation, verbatim from the v4.0 script:</a:t>
            </a:r>
          </a:p>
          <a:p>
            <a:r>
              <a:t>"If you want to try this on one real accomplishment of yours, I made a free Career Evidence Starter. Set aside about 10 to 15 focused minutes and you will leave with one portable Proof Line. I've linked it below."</a:t>
            </a:r>
          </a:p>
          <a:p>
            <a:r>
              <a:t>Show the real Starter artwork. Use the direct public landing-page URL only — temidayoafonja.com/career-evidence-starter. Do not expose a PDF link.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8:48 to the end, about 9:20.</a:t>
            </a:r>
          </a:p>
          <a:p>
            <a:r>
              <a:t>The card reads "Should I Make an Internal Move? 3 Questions to Decide" with the playlist line. That is the locked Video 5 title and it matches what Temidayo says.</a:t>
            </a:r>
          </a:p>
          <a:p>
            <a:r>
              <a:t>Closing lines: "Your career does not have to look linear to make sense. But you do have to make the continuity visible." Stay on her for both.</a:t>
            </a:r>
          </a:p>
          <a:p>
            <a:r>
              <a:t>Do not summarize this video again.</a:t>
            </a:r>
          </a:p>
          <a:p>
            <a:r>
              <a:t>The right side of the frame is left open for the YouTube linked-video end-screen element. Hold the final frame for at least 12 seconds. Do not leave Subscribe as the only end-screen element.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
        <p:nvSpPr>
          <p:cNvPr id="11" name="Rectangle 10"/>
          <p:cNvSpPr/>
          <p:nvPr/>
        </p:nvSpPr>
        <p:spPr>
          <a:xfrm>
            <a:off x="1371600" y="30099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10800000">
            <a:off x="1317625" y="3270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0800" y="34544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PEOPLE STRATEGY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
        <p:nvSpPr>
          <p:cNvPr id="11" name="Rectangle 10"/>
          <p:cNvSpPr/>
          <p:nvPr/>
        </p:nvSpPr>
        <p:spPr>
          <a:xfrm>
            <a:off x="1371600" y="30099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10800000">
            <a:off x="1317625" y="3270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0800" y="34544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PEOPLE STRATEGY</a:t>
            </a:r>
          </a:p>
        </p:txBody>
      </p:sp>
      <p:sp>
        <p:nvSpPr>
          <p:cNvPr id="14" name="Rectangle 13"/>
          <p:cNvSpPr/>
          <p:nvPr/>
        </p:nvSpPr>
        <p:spPr>
          <a:xfrm>
            <a:off x="1371600" y="40005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rot="10800000">
            <a:off x="1317625" y="42608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00" y="44450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ENTERPRISE TRANSFORMATION</a:t>
            </a:r>
          </a:p>
        </p:txBody>
      </p:sp>
      <p:sp>
        <p:nvSpPr>
          <p:cNvPr id="17" name="Rectangle 16"/>
          <p:cNvSpPr/>
          <p:nvPr/>
        </p:nvSpPr>
        <p:spPr>
          <a:xfrm>
            <a:off x="1320800" y="54356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0800" y="5715000"/>
            <a:ext cx="9906000" cy="355600"/>
          </a:xfrm>
          <a:prstGeom prst="rect">
            <a:avLst/>
          </a:prstGeom>
          <a:noFill/>
        </p:spPr>
        <p:txBody>
          <a:bodyPr wrap="square" lIns="0" rIns="0" tIns="0" bIns="0" anchor="t">
            <a:spAutoFit/>
          </a:bodyPr>
          <a:lstStyle/>
          <a:p>
            <a:pPr algn="l">
              <a:lnSpc>
                <a:spcPct val="112000"/>
              </a:lnSpc>
            </a:pPr>
            <a:r>
              <a:rPr sz="1600" b="1" i="0" spc="150">
                <a:solidFill>
                  <a:srgbClr val="F5F1E8"/>
                </a:solidFill>
                <a:latin typeface="Montserrat"/>
                <a:ea typeface="Montserrat"/>
                <a:cs typeface="Montserrat"/>
              </a:rPr>
              <a:t>THE TITLES CHANGED. THE CAPABILITY KEPT ACCUMULATING.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206500" y="2730500"/>
            <a:ext cx="4191000" cy="425450"/>
          </a:xfrm>
          <a:prstGeom prst="rect">
            <a:avLst/>
          </a:prstGeom>
          <a:noFill/>
        </p:spPr>
        <p:txBody>
          <a:bodyPr wrap="square" lIns="0" rIns="0" tIns="0" bIns="0" anchor="t">
            <a:spAutoFit/>
          </a:bodyPr>
          <a:lstStyle/>
          <a:p>
            <a:pPr algn="l">
              <a:lnSpc>
                <a:spcPct val="105000"/>
              </a:lnSpc>
            </a:pPr>
            <a:r>
              <a:rPr sz="2800" b="1" i="0">
                <a:solidFill>
                  <a:srgbClr val="0F2346"/>
                </a:solidFill>
                <a:latin typeface="Montserrat"/>
                <a:ea typeface="Montserrat"/>
                <a:cs typeface="Montserrat"/>
              </a:rPr>
              <a:t>CHRONOLOGY</a:t>
            </a:r>
          </a:p>
        </p:txBody>
      </p:sp>
      <p:sp>
        <p:nvSpPr>
          <p:cNvPr id="3" name="Rectangle 2"/>
          <p:cNvSpPr/>
          <p:nvPr/>
        </p:nvSpPr>
        <p:spPr>
          <a:xfrm>
            <a:off x="1206500" y="33147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3644900"/>
            <a:ext cx="4191000" cy="349250"/>
          </a:xfrm>
          <a:prstGeom prst="rect">
            <a:avLst/>
          </a:prstGeom>
          <a:noFill/>
        </p:spPr>
        <p:txBody>
          <a:bodyPr wrap="square" lIns="0" rIns="0" tIns="0" bIns="0" anchor="t">
            <a:spAutoFit/>
          </a:bodyPr>
          <a:lstStyle/>
          <a:p>
            <a:pPr algn="l">
              <a:lnSpc>
                <a:spcPct val="130000"/>
              </a:lnSpc>
            </a:pPr>
            <a:r>
              <a:rPr sz="1800" b="0" i="0">
                <a:solidFill>
                  <a:srgbClr val="5A6B82"/>
                </a:solidFill>
                <a:latin typeface="DM Sans"/>
                <a:ea typeface="DM Sans"/>
                <a:cs typeface="DM Sans"/>
              </a:rPr>
              <a:t>Where you have been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206500" y="2730500"/>
            <a:ext cx="4191000" cy="425450"/>
          </a:xfrm>
          <a:prstGeom prst="rect">
            <a:avLst/>
          </a:prstGeom>
          <a:noFill/>
        </p:spPr>
        <p:txBody>
          <a:bodyPr wrap="square" lIns="0" rIns="0" tIns="0" bIns="0" anchor="t">
            <a:spAutoFit/>
          </a:bodyPr>
          <a:lstStyle/>
          <a:p>
            <a:pPr algn="l">
              <a:lnSpc>
                <a:spcPct val="105000"/>
              </a:lnSpc>
            </a:pPr>
            <a:r>
              <a:rPr sz="2800" b="1" i="0">
                <a:solidFill>
                  <a:srgbClr val="0F2346"/>
                </a:solidFill>
                <a:latin typeface="Montserrat"/>
                <a:ea typeface="Montserrat"/>
                <a:cs typeface="Montserrat"/>
              </a:rPr>
              <a:t>CHRONOLOGY</a:t>
            </a:r>
          </a:p>
        </p:txBody>
      </p:sp>
      <p:sp>
        <p:nvSpPr>
          <p:cNvPr id="3" name="Rectangle 2"/>
          <p:cNvSpPr/>
          <p:nvPr/>
        </p:nvSpPr>
        <p:spPr>
          <a:xfrm>
            <a:off x="1206500" y="33147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3644900"/>
            <a:ext cx="4191000" cy="349250"/>
          </a:xfrm>
          <a:prstGeom prst="rect">
            <a:avLst/>
          </a:prstGeom>
          <a:noFill/>
        </p:spPr>
        <p:txBody>
          <a:bodyPr wrap="square" lIns="0" rIns="0" tIns="0" bIns="0" anchor="t">
            <a:spAutoFit/>
          </a:bodyPr>
          <a:lstStyle/>
          <a:p>
            <a:pPr algn="l">
              <a:lnSpc>
                <a:spcPct val="130000"/>
              </a:lnSpc>
            </a:pPr>
            <a:r>
              <a:rPr sz="1800" b="0" i="0">
                <a:solidFill>
                  <a:srgbClr val="5A6B82"/>
                </a:solidFill>
                <a:latin typeface="DM Sans"/>
                <a:ea typeface="DM Sans"/>
                <a:cs typeface="DM Sans"/>
              </a:rPr>
              <a:t>Where you have been</a:t>
            </a:r>
          </a:p>
        </p:txBody>
      </p:sp>
      <p:sp>
        <p:nvSpPr>
          <p:cNvPr id="5" name="Rectangle 4"/>
          <p:cNvSpPr/>
          <p:nvPr/>
        </p:nvSpPr>
        <p:spPr>
          <a:xfrm>
            <a:off x="6254750" y="2159000"/>
            <a:ext cx="5080000" cy="2413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26250" y="2730500"/>
            <a:ext cx="4191000" cy="425450"/>
          </a:xfrm>
          <a:prstGeom prst="rect">
            <a:avLst/>
          </a:prstGeom>
          <a:noFill/>
        </p:spPr>
        <p:txBody>
          <a:bodyPr wrap="square" lIns="0" rIns="0" tIns="0" bIns="0" anchor="t">
            <a:spAutoFit/>
          </a:bodyPr>
          <a:lstStyle/>
          <a:p>
            <a:pPr algn="l">
              <a:lnSpc>
                <a:spcPct val="105000"/>
              </a:lnSpc>
            </a:pPr>
            <a:r>
              <a:rPr sz="2800" b="1" i="0">
                <a:solidFill>
                  <a:srgbClr val="F5F1E8"/>
                </a:solidFill>
                <a:latin typeface="Montserrat"/>
                <a:ea typeface="Montserrat"/>
                <a:cs typeface="Montserrat"/>
              </a:rPr>
              <a:t>PORTABILITY</a:t>
            </a:r>
          </a:p>
        </p:txBody>
      </p:sp>
      <p:sp>
        <p:nvSpPr>
          <p:cNvPr id="7" name="Rectangle 6"/>
          <p:cNvSpPr/>
          <p:nvPr/>
        </p:nvSpPr>
        <p:spPr>
          <a:xfrm>
            <a:off x="6826250" y="33147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26250" y="3644900"/>
            <a:ext cx="4191000" cy="349250"/>
          </a:xfrm>
          <a:prstGeom prst="rect">
            <a:avLst/>
          </a:prstGeom>
          <a:noFill/>
        </p:spPr>
        <p:txBody>
          <a:bodyPr wrap="square" lIns="0" rIns="0" tIns="0" bIns="0" anchor="t">
            <a:spAutoFit/>
          </a:bodyPr>
          <a:lstStyle/>
          <a:p>
            <a:pPr algn="l">
              <a:lnSpc>
                <a:spcPct val="130000"/>
              </a:lnSpc>
            </a:pPr>
            <a:r>
              <a:rPr sz="1800" b="0" i="0">
                <a:solidFill>
                  <a:srgbClr val="B9C3D2"/>
                </a:solidFill>
                <a:latin typeface="DM Sans"/>
                <a:ea typeface="DM Sans"/>
                <a:cs typeface="DM Sans"/>
              </a:rPr>
              <a:t>What traveled with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NAME THE CHAPTERS — BRIEFLY</a:t>
            </a:r>
          </a:p>
        </p:txBody>
      </p:sp>
      <p:sp>
        <p:nvSpPr>
          <p:cNvPr id="6" name="TextBox 5"/>
          <p:cNvSpPr txBox="1"/>
          <p:nvPr/>
        </p:nvSpPr>
        <p:spPr>
          <a:xfrm>
            <a:off x="863600" y="2984500"/>
            <a:ext cx="9906000" cy="431800"/>
          </a:xfrm>
          <a:prstGeom prst="rect">
            <a:avLst/>
          </a:prstGeom>
          <a:noFill/>
        </p:spPr>
        <p:txBody>
          <a:bodyPr wrap="square" lIns="0" rIns="0" tIns="0" bIns="0" anchor="t">
            <a:spAutoFit/>
          </a:bodyPr>
          <a:lstStyle/>
          <a:p>
            <a:pPr algn="l">
              <a:lnSpc>
                <a:spcPct val="130000"/>
              </a:lnSpc>
            </a:pPr>
            <a:r>
              <a:rPr sz="2300" b="0" i="0">
                <a:solidFill>
                  <a:srgbClr val="F5F1E8"/>
                </a:solidFill>
                <a:latin typeface="DM Sans"/>
                <a:ea typeface="DM Sans"/>
                <a:cs typeface="DM Sans"/>
              </a:rPr>
              <a:t>Roles • Functions • Industries</a:t>
            </a:r>
          </a:p>
        </p:txBody>
      </p:sp>
      <p:sp>
        <p:nvSpPr>
          <p:cNvPr id="7" name="Rectangle 6"/>
          <p:cNvSpPr/>
          <p:nvPr/>
        </p:nvSpPr>
        <p:spPr>
          <a:xfrm>
            <a:off x="863600" y="35941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3898900"/>
            <a:ext cx="9906000" cy="412750"/>
          </a:xfrm>
          <a:prstGeom prst="rect">
            <a:avLst/>
          </a:prstGeom>
          <a:noFill/>
        </p:spPr>
        <p:txBody>
          <a:bodyPr wrap="square" lIns="0" rIns="0" tIns="0" bIns="0" anchor="t">
            <a:spAutoFit/>
          </a:bodyPr>
          <a:lstStyle/>
          <a:p>
            <a:pPr algn="l">
              <a:lnSpc>
                <a:spcPct val="130000"/>
              </a:lnSpc>
            </a:pPr>
            <a:r>
              <a:rPr sz="2200" b="1" i="0">
                <a:solidFill>
                  <a:srgbClr val="C9A84C"/>
                </a:solidFill>
                <a:latin typeface="Montserrat"/>
                <a:ea typeface="Montserrat"/>
                <a:cs typeface="Montserrat"/>
              </a:rPr>
              <a:t>One sentence, not a defense.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 • DECIDE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 • DECIDE</a:t>
            </a:r>
          </a:p>
        </p:txBody>
      </p:sp>
      <p:sp>
        <p:nvSpPr>
          <p:cNvPr id="7" name="Rectangle 6"/>
          <p:cNvSpPr/>
          <p:nvPr/>
        </p:nvSpPr>
        <p:spPr>
          <a:xfrm>
            <a:off x="863600" y="41910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4521200"/>
            <a:ext cx="10160000" cy="406400"/>
          </a:xfrm>
          <a:prstGeom prst="rect">
            <a:avLst/>
          </a:prstGeom>
          <a:noFill/>
        </p:spPr>
        <p:txBody>
          <a:bodyPr wrap="square" lIns="0" rIns="0" tIns="0" bIns="0" anchor="t">
            <a:spAutoFit/>
          </a:bodyPr>
          <a:lstStyle/>
          <a:p>
            <a:pPr algn="l">
              <a:lnSpc>
                <a:spcPct val="122000"/>
              </a:lnSpc>
            </a:pPr>
            <a:r>
              <a:rPr sz="2300" b="1" i="0">
                <a:solidFill>
                  <a:srgbClr val="C9A84C"/>
                </a:solidFill>
                <a:latin typeface="Montserrat"/>
                <a:ea typeface="Montserrat"/>
                <a:cs typeface="Montserrat"/>
              </a:rPr>
              <a:t>What did people repeatedly trust you to carry?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7620000" cy="368300"/>
          </a:xfrm>
          <a:prstGeom prst="rect">
            <a:avLst/>
          </a:prstGeom>
          <a:noFill/>
        </p:spPr>
        <p:txBody>
          <a:bodyPr wrap="square" lIns="0" rIns="0" tIns="0" bIns="0" anchor="t">
            <a:spAutoFit/>
          </a:bodyPr>
          <a:lstStyle/>
          <a:p>
            <a:pPr algn="l">
              <a:lnSpc>
                <a:spcPct val="105000"/>
              </a:lnSpc>
            </a:pPr>
            <a:r>
              <a:rPr sz="2400" b="1" i="0">
                <a:solidFill>
                  <a:srgbClr val="0F2346"/>
                </a:solidFill>
                <a:latin typeface="Montserrat"/>
                <a:ea typeface="Montserrat"/>
                <a:cs typeface="Montserrat"/>
              </a:rPr>
              <a:t>JOB TITLES</a:t>
            </a:r>
          </a:p>
        </p:txBody>
      </p:sp>
      <p:sp>
        <p:nvSpPr>
          <p:cNvPr id="3" name="TextBox 2"/>
          <p:cNvSpPr txBox="1"/>
          <p:nvPr/>
        </p:nvSpPr>
        <p:spPr>
          <a:xfrm>
            <a:off x="1016000" y="2247900"/>
            <a:ext cx="7620000" cy="368300"/>
          </a:xfrm>
          <a:prstGeom prst="rect">
            <a:avLst/>
          </a:prstGeom>
          <a:noFill/>
        </p:spPr>
        <p:txBody>
          <a:bodyPr wrap="square" lIns="0" rIns="0" tIns="0" bIns="0" anchor="t">
            <a:spAutoFit/>
          </a:bodyPr>
          <a:lstStyle/>
          <a:p>
            <a:pPr algn="l">
              <a:lnSpc>
                <a:spcPct val="105000"/>
              </a:lnSpc>
            </a:pPr>
            <a:r>
              <a:rPr sz="2400" b="1" i="0">
                <a:solidFill>
                  <a:srgbClr val="0F2346"/>
                </a:solidFill>
                <a:latin typeface="Montserrat"/>
                <a:ea typeface="Montserrat"/>
                <a:cs typeface="Montserrat"/>
              </a:rPr>
              <a:t>COMPANY LANGUAGE</a:t>
            </a:r>
          </a:p>
        </p:txBody>
      </p:sp>
      <p:sp>
        <p:nvSpPr>
          <p:cNvPr id="4" name="TextBox 3"/>
          <p:cNvSpPr txBox="1"/>
          <p:nvPr/>
        </p:nvSpPr>
        <p:spPr>
          <a:xfrm>
            <a:off x="1016000" y="2908300"/>
            <a:ext cx="7620000" cy="368300"/>
          </a:xfrm>
          <a:prstGeom prst="rect">
            <a:avLst/>
          </a:prstGeom>
          <a:noFill/>
        </p:spPr>
        <p:txBody>
          <a:bodyPr wrap="square" lIns="0" rIns="0" tIns="0" bIns="0" anchor="t">
            <a:spAutoFit/>
          </a:bodyPr>
          <a:lstStyle/>
          <a:p>
            <a:pPr algn="l">
              <a:lnSpc>
                <a:spcPct val="105000"/>
              </a:lnSpc>
            </a:pPr>
            <a:r>
              <a:rPr sz="2400" b="1" i="0">
                <a:solidFill>
                  <a:srgbClr val="0F2346"/>
                </a:solidFill>
                <a:latin typeface="Montserrat"/>
                <a:ea typeface="Montserrat"/>
                <a:cs typeface="Montserrat"/>
              </a:rPr>
              <a:t>INDUSTRY VOCABULARY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JOB TITLES</a:t>
            </a:r>
          </a:p>
        </p:txBody>
      </p:sp>
      <p:sp>
        <p:nvSpPr>
          <p:cNvPr id="3" name="TextBox 2"/>
          <p:cNvSpPr txBox="1"/>
          <p:nvPr/>
        </p:nvSpPr>
        <p:spPr>
          <a:xfrm>
            <a:off x="1016000" y="22479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COMPANY LANGUAGE</a:t>
            </a:r>
          </a:p>
        </p:txBody>
      </p:sp>
      <p:sp>
        <p:nvSpPr>
          <p:cNvPr id="4" name="TextBox 3"/>
          <p:cNvSpPr txBox="1"/>
          <p:nvPr/>
        </p:nvSpPr>
        <p:spPr>
          <a:xfrm>
            <a:off x="1016000" y="29083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INDUSTRY VOCABULARY</a:t>
            </a:r>
          </a:p>
        </p:txBody>
      </p:sp>
      <p:sp>
        <p:nvSpPr>
          <p:cNvPr id="5" name="Rectangle 4"/>
          <p:cNvSpPr/>
          <p:nvPr/>
        </p:nvSpPr>
        <p:spPr>
          <a:xfrm>
            <a:off x="1016000" y="3810000"/>
            <a:ext cx="889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4191000"/>
            <a:ext cx="10287000" cy="920750"/>
          </a:xfrm>
          <a:prstGeom prst="rect">
            <a:avLst/>
          </a:prstGeom>
          <a:noFill/>
        </p:spPr>
        <p:txBody>
          <a:bodyPr wrap="square" lIns="0" rIns="0" tIns="0" bIns="0" anchor="t">
            <a:spAutoFit/>
          </a:bodyPr>
          <a:lstStyle/>
          <a:p>
            <a:pPr algn="l">
              <a:lnSpc>
                <a:spcPct val="118000"/>
              </a:lnSpc>
            </a:pPr>
            <a:r>
              <a:rPr sz="2900" b="1" i="0">
                <a:solidFill>
                  <a:srgbClr val="0F2346"/>
                </a:solidFill>
                <a:latin typeface="Montserrat"/>
                <a:ea typeface="Montserrat"/>
                <a:cs typeface="Montserrat"/>
              </a:rPr>
              <a:t>What did you notice, decide, solve,</a:t>
            </a:r>
            <a:br/>
            <a:r>
              <a:rPr sz="2900" b="1" i="0">
                <a:solidFill>
                  <a:srgbClr val="0F2346"/>
                </a:solidFill>
                <a:latin typeface="Montserrat"/>
                <a:ea typeface="Montserrat"/>
                <a:cs typeface="Montserrat"/>
              </a:rPr>
              <a:t>influence or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
        <p:nvSpPr>
          <p:cNvPr id="7" name="Rectangle 6"/>
          <p:cNvSpPr/>
          <p:nvPr/>
        </p:nvSpPr>
        <p:spPr>
          <a:xfrm>
            <a:off x="1371600" y="37592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10800000">
            <a:off x="1317625" y="39941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0800" y="41783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REPEATED CAPABILITY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
        <p:nvSpPr>
          <p:cNvPr id="7" name="Rectangle 6"/>
          <p:cNvSpPr/>
          <p:nvPr/>
        </p:nvSpPr>
        <p:spPr>
          <a:xfrm>
            <a:off x="1371600" y="37592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10800000">
            <a:off x="1317625" y="39941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0800" y="41783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REPEATED CAPABILITY</a:t>
            </a:r>
          </a:p>
        </p:txBody>
      </p:sp>
      <p:sp>
        <p:nvSpPr>
          <p:cNvPr id="10" name="Rectangle 9"/>
          <p:cNvSpPr/>
          <p:nvPr/>
        </p:nvSpPr>
        <p:spPr>
          <a:xfrm>
            <a:off x="1371600" y="46863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10800000">
            <a:off x="1317625" y="4921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20800" y="51054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NEXT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
        <p:nvSpPr>
          <p:cNvPr id="4" name="Rectangle 3"/>
          <p:cNvSpPr/>
          <p:nvPr/>
        </p:nvSpPr>
        <p:spPr>
          <a:xfrm>
            <a:off x="1016000" y="30226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51000" y="28829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Across those chapters, I kept being asked 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
        <p:nvSpPr>
          <p:cNvPr id="4" name="Rectangle 3"/>
          <p:cNvSpPr/>
          <p:nvPr/>
        </p:nvSpPr>
        <p:spPr>
          <a:xfrm>
            <a:off x="1016000" y="30226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51000" y="28829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Across those chapters, I kept being asked to…</a:t>
            </a:r>
          </a:p>
        </p:txBody>
      </p:sp>
      <p:sp>
        <p:nvSpPr>
          <p:cNvPr id="6" name="Rectangle 5"/>
          <p:cNvSpPr/>
          <p:nvPr/>
        </p:nvSpPr>
        <p:spPr>
          <a:xfrm>
            <a:off x="1016000" y="41148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51000" y="39751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That is why I am now focused 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2032000"/>
            <a:ext cx="10160000" cy="1250950"/>
          </a:xfrm>
          <a:prstGeom prst="rect">
            <a:avLst/>
          </a:prstGeom>
          <a:noFill/>
        </p:spPr>
        <p:txBody>
          <a:bodyPr wrap="square" lIns="0" rIns="0" tIns="0" bIns="0" anchor="t">
            <a:spAutoFit/>
          </a:bodyPr>
          <a:lstStyle/>
          <a:p>
            <a:pPr algn="l">
              <a:lnSpc>
                <a:spcPct val="110000"/>
              </a:lnSpc>
            </a:pPr>
            <a:r>
              <a:rPr sz="4300" b="1" i="0">
                <a:solidFill>
                  <a:srgbClr val="F5F1E8"/>
                </a:solidFill>
                <a:latin typeface="Montserrat"/>
                <a:ea typeface="Montserrat"/>
                <a:cs typeface="Montserrat"/>
              </a:rPr>
              <a:t>DO NOT INVENT</a:t>
            </a:r>
            <a:br/>
            <a:r>
              <a:rPr sz="4300" b="1" i="0">
                <a:solidFill>
                  <a:srgbClr val="F5F1E8"/>
                </a:solidFill>
                <a:latin typeface="Montserrat"/>
                <a:ea typeface="Montserrat"/>
                <a:cs typeface="Montserrat"/>
              </a:rPr>
              <a:t>A PERFECT PLAN.</a:t>
            </a:r>
          </a:p>
        </p:txBody>
      </p:sp>
      <p:sp>
        <p:nvSpPr>
          <p:cNvPr id="4" name="Rectangle 3"/>
          <p:cNvSpPr/>
          <p:nvPr/>
        </p:nvSpPr>
        <p:spPr>
          <a:xfrm>
            <a:off x="1016000" y="38481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191000"/>
            <a:ext cx="10160000" cy="933450"/>
          </a:xfrm>
          <a:prstGeom prst="rect">
            <a:avLst/>
          </a:prstGeom>
          <a:noFill/>
        </p:spPr>
        <p:txBody>
          <a:bodyPr wrap="square" lIns="0" rIns="0" tIns="0" bIns="0" anchor="t">
            <a:spAutoFit/>
          </a:bodyPr>
          <a:lstStyle/>
          <a:p>
            <a:pPr algn="l">
              <a:lnSpc>
                <a:spcPct val="132000"/>
              </a:lnSpc>
            </a:pPr>
            <a:r>
              <a:rPr sz="2300" b="0" i="0">
                <a:solidFill>
                  <a:srgbClr val="F5F1E8"/>
                </a:solidFill>
                <a:latin typeface="DM Sans"/>
                <a:ea typeface="DM Sans"/>
                <a:cs typeface="DM Sans"/>
              </a:rPr>
              <a:t>Name the constraint, experiment or redirection.</a:t>
            </a:r>
          </a:p>
          <a:p>
            <a:pPr algn="l">
              <a:lnSpc>
                <a:spcPct val="132000"/>
              </a:lnSpc>
              <a:spcBef>
                <a:spcPts val="900"/>
              </a:spcBef>
            </a:pPr>
            <a:r>
              <a:rPr sz="2300" b="0" i="0">
                <a:solidFill>
                  <a:srgbClr val="F5F1E8"/>
                </a:solidFill>
                <a:latin typeface="DM Sans"/>
                <a:ea typeface="DM Sans"/>
                <a:cs typeface="DM Sans"/>
              </a:rPr>
              <a:t>Explain what became clearer.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778000" y="29083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Does it show ability — not only interest?</a:t>
            </a:r>
          </a:p>
        </p:txBody>
      </p:sp>
      <p:sp>
        <p:nvSpPr>
          <p:cNvPr id="7" name="Rectangle 6"/>
          <p:cNvSpPr/>
          <p:nvPr/>
        </p:nvSpPr>
        <p:spPr>
          <a:xfrm>
            <a:off x="1016000" y="3733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778000" y="29083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Does it show ability — not only interest?</a:t>
            </a:r>
          </a:p>
        </p:txBody>
      </p:sp>
      <p:sp>
        <p:nvSpPr>
          <p:cNvPr id="7" name="Rectangle 6"/>
          <p:cNvSpPr/>
          <p:nvPr/>
        </p:nvSpPr>
        <p:spPr>
          <a:xfrm>
            <a:off x="1016000" y="3733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148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778000" y="40386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Is there evidence behind each verb?</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362200"/>
            <a:ext cx="9525000" cy="666750"/>
          </a:xfrm>
          <a:prstGeom prst="rect">
            <a:avLst/>
          </a:prstGeom>
          <a:noFill/>
        </p:spPr>
        <p:txBody>
          <a:bodyPr wrap="square" lIns="0" rIns="0" tIns="0" bIns="0" anchor="t">
            <a:spAutoFit/>
          </a:bodyPr>
          <a:lstStyle/>
          <a:p>
            <a:pPr algn="l">
              <a:lnSpc>
                <a:spcPct val="105000"/>
              </a:lnSpc>
            </a:pPr>
            <a:r>
              <a:rPr sz="4100" b="1" i="0">
                <a:solidFill>
                  <a:srgbClr val="F5F1E8"/>
                </a:solidFill>
                <a:latin typeface="Montserrat"/>
                <a:ea typeface="Montserrat"/>
                <a:cs typeface="Montserrat"/>
              </a:rPr>
              <a:t>FREE CAREER EVIDENCE STARTER</a:t>
            </a:r>
          </a:p>
        </p:txBody>
      </p:sp>
      <p:sp>
        <p:nvSpPr>
          <p:cNvPr id="8" name="Rectangle 7"/>
          <p:cNvSpPr/>
          <p:nvPr/>
        </p:nvSpPr>
        <p:spPr>
          <a:xfrm>
            <a:off x="1016000" y="31750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530600"/>
            <a:ext cx="9525000" cy="463550"/>
          </a:xfrm>
          <a:prstGeom prst="rect">
            <a:avLst/>
          </a:prstGeom>
          <a:noFill/>
        </p:spPr>
        <p:txBody>
          <a:bodyPr wrap="square" lIns="0" rIns="0" tIns="0" bIns="0" anchor="t">
            <a:spAutoFit/>
          </a:bodyPr>
          <a:lstStyle/>
          <a:p>
            <a:pPr algn="l">
              <a:lnSpc>
                <a:spcPct val="130000"/>
              </a:lnSpc>
            </a:pPr>
            <a:r>
              <a:rPr sz="2500" b="0" i="0">
                <a:solidFill>
                  <a:srgbClr val="F5F1E8"/>
                </a:solidFill>
                <a:latin typeface="DM Sans"/>
                <a:ea typeface="DM Sans"/>
                <a:cs typeface="DM Sans"/>
              </a:rPr>
              <a:t>ONE ACCOMPLISHMENT → ONE PORTABLE PROOF LINE</a:t>
            </a:r>
          </a:p>
        </p:txBody>
      </p:sp>
      <p:sp>
        <p:nvSpPr>
          <p:cNvPr id="10" name="TextBox 9"/>
          <p:cNvSpPr txBox="1"/>
          <p:nvPr/>
        </p:nvSpPr>
        <p:spPr>
          <a:xfrm>
            <a:off x="1016000" y="4381500"/>
            <a:ext cx="9906000" cy="533400"/>
          </a:xfrm>
          <a:prstGeom prst="rect">
            <a:avLst/>
          </a:prstGeom>
          <a:noFill/>
        </p:spPr>
        <p:txBody>
          <a:bodyPr wrap="square" lIns="0" rIns="0" tIns="0" bIns="0" anchor="t">
            <a:spAutoFit/>
          </a:bodyPr>
          <a:lstStyle/>
          <a:p>
            <a:pPr algn="l">
              <a:lnSpc>
                <a:spcPct val="115000"/>
              </a:lnSpc>
            </a:pPr>
            <a:r>
              <a:rPr sz="3100" b="1" i="0">
                <a:solidFill>
                  <a:srgbClr val="C9A84C"/>
                </a:solidFill>
                <a:latin typeface="Montserrat"/>
                <a:ea typeface="Montserrat"/>
                <a:cs typeface="Montserrat"/>
              </a:rPr>
              <a:t>temidayoafonja.com/career-evidence-starter</a:t>
            </a:r>
          </a:p>
        </p:txBody>
      </p:sp>
      <p:sp>
        <p:nvSpPr>
          <p:cNvPr id="11" name="Rectangle 10"/>
          <p:cNvSpPr/>
          <p:nvPr/>
        </p:nvSpPr>
        <p:spPr>
          <a:xfrm>
            <a:off x="1016000" y="5080000"/>
            <a:ext cx="64135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Should I Make</a:t>
            </a:r>
            <a:br/>
            <a:r>
              <a:rPr sz="3100" b="1" i="0">
                <a:solidFill>
                  <a:srgbClr val="0F2346"/>
                </a:solidFill>
                <a:latin typeface="Montserrat"/>
                <a:ea typeface="Montserrat"/>
                <a:cs typeface="Montserrat"/>
              </a:rPr>
              <a:t>an Internal Move?</a:t>
            </a:r>
            <a:br/>
            <a:r>
              <a:rPr sz="3100" b="1" i="0">
                <a:solidFill>
                  <a:srgbClr val="0F2346"/>
                </a:solidFill>
                <a:latin typeface="Montserrat"/>
                <a:ea typeface="Montserrat"/>
                <a:cs typeface="Montserrat"/>
              </a:rPr>
              <a:t>3 Questions to Decide</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685800"/>
          </a:xfrm>
          <a:prstGeom prst="rect">
            <a:avLst/>
          </a:prstGeom>
          <a:noFill/>
        </p:spPr>
        <p:txBody>
          <a:bodyPr wrap="square" lIns="0" rIns="0" tIns="0" bIns="0" anchor="t">
            <a:spAutoFit/>
          </a:bodyPr>
          <a:lstStyle/>
          <a:p>
            <a:pPr algn="l">
              <a:lnSpc>
                <a:spcPct val="132000"/>
              </a:lnSpc>
            </a:pPr>
            <a:r>
              <a:rPr sz="1900" b="1" i="0">
                <a:solidFill>
                  <a:srgbClr val="3E506B"/>
                </a:solidFill>
                <a:latin typeface="Montserrat"/>
                <a:ea typeface="Montserrat"/>
                <a:cs typeface="Montserrat"/>
              </a:rPr>
              <a:t>Playlist: Career Portability: Career Pivots,</a:t>
            </a:r>
            <a:br/>
            <a:r>
              <a:rPr sz="19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