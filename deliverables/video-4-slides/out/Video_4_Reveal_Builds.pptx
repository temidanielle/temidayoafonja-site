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1.</a:t>
            </a:r>
          </a:p>
          <a:p>
            <a:r>
              <a:t>Timing: approximately 0:32 to 1:21.</a:t>
            </a:r>
          </a:p>
          <a:p>
            <a:r>
              <a:t>Do NOT open on this slide. Begin full-screen on Temidayo and let the whole opening land first: the cat-with-nine-lives line, the disconnected-list problem, "The career wasn't the problem. The explanation was.", and the turn to the viewer — "So if your career looks disconnected on paper, let me show you how I learned to explain mine."</a:t>
            </a:r>
          </a:p>
          <a:p>
            <a:r>
              <a:t>FACTUAL BOUNDARY: the joke is the entire approved fact. Do not name the employer publicly, do not invent the original conversation, do not script the colleague's words beyond "a cat with nine lives", and use NO CAT IMAGERY anywhere — not in the edit, not in the thumbnail.</a:t>
            </a:r>
          </a:p>
          <a:p>
            <a:r>
              <a:t>Bring the chapters up as the chronology. Temidayo deliberately does not read them back: "The slide gives you the chronology, so I am not going to read every chapter back to you." Let the visual do that work.</a:t>
            </a:r>
          </a:p>
          <a:p>
            <a:r>
              <a:t>She then names the limits out loud — the work did not stay identical, some knowledge belonged to the context she was leaving, every move required real learning. Do not trim those.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1.</a:t>
            </a:r>
          </a:p>
          <a:p>
            <a:r>
              <a:t>Timing: approximately 0:32 to 1:21.</a:t>
            </a:r>
          </a:p>
          <a:p>
            <a:r>
              <a:t>Do NOT open on this slide. Begin full-screen on Temidayo and let the whole opening land first: the cat-with-nine-lives line, the disconnected-list problem, "The career wasn't the problem. The explanation was.", and the turn to the viewer — "So if your career looks disconnected on paper, let me show you how I learned to explain mine."</a:t>
            </a:r>
          </a:p>
          <a:p>
            <a:r>
              <a:t>FACTUAL BOUNDARY: the joke is the entire approved fact. Do not name the employer publicly, do not invent the original conversation, do not script the colleague's words beyond "a cat with nine lives", and use NO CAT IMAGERY anywhere — not in the edit, not in the thumbnail.</a:t>
            </a:r>
          </a:p>
          <a:p>
            <a:r>
              <a:t>Bring the chapters up as the chronology. Temidayo deliberately does not read them back: "The slide gives you the chronology, so I am not going to read every chapter back to you." Let the visual do that work.</a:t>
            </a:r>
          </a:p>
          <a:p>
            <a:r>
              <a:t>She then names the limits out loud — the work did not stay identical, some knowledge belonged to the context she was leaving, every move required real learning. Do not trim those.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1.</a:t>
            </a:r>
          </a:p>
          <a:p>
            <a:r>
              <a:t>Timing: approximately 0:32 to 1:21.</a:t>
            </a:r>
          </a:p>
          <a:p>
            <a:r>
              <a:t>Do NOT open on this slide. Begin full-screen on Temidayo and let the whole opening land first: the cat-with-nine-lives line, the disconnected-list problem, "The career wasn't the problem. The explanation was.", and the turn to the viewer — "So if your career looks disconnected on paper, let me show you how I learned to explain mine."</a:t>
            </a:r>
          </a:p>
          <a:p>
            <a:r>
              <a:t>FACTUAL BOUNDARY: the joke is the entire approved fact. Do not name the employer publicly, do not invent the original conversation, do not script the colleague's words beyond "a cat with nine lives", and use NO CAT IMAGERY anywhere — not in the edit, not in the thumbnail.</a:t>
            </a:r>
          </a:p>
          <a:p>
            <a:r>
              <a:t>Bring the chapters up as the chronology. Temidayo deliberately does not read them back: "The slide gives you the chronology, so I am not going to read every chapter back to you." Let the visual do that work.</a:t>
            </a:r>
          </a:p>
          <a:p>
            <a:r>
              <a:t>She then names the limits out loud — the work did not stay identical, some knowledge belonged to the context she was leaving, every move required real learning. Do not trim those.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1.</a:t>
            </a:r>
          </a:p>
          <a:p>
            <a:r>
              <a:t>Timing: approximately 0:32 to 1:21.</a:t>
            </a:r>
          </a:p>
          <a:p>
            <a:r>
              <a:t>Do NOT open on this slide. Begin full-screen on Temidayo and let the whole opening land first: the cat-with-nine-lives line, the disconnected-list problem, "The career wasn't the problem. The explanation was.", and the turn to the viewer — "So if your career looks disconnected on paper, let me show you how I learned to explain mine."</a:t>
            </a:r>
          </a:p>
          <a:p>
            <a:r>
              <a:t>FACTUAL BOUNDARY: the joke is the entire approved fact. Do not name the employer publicly, do not invent the original conversation, do not script the colleague's words beyond "a cat with nine lives", and use NO CAT IMAGERY anywhere — not in the edit, not in the thumbnail.</a:t>
            </a:r>
          </a:p>
          <a:p>
            <a:r>
              <a:t>Bring the chapters up as the chronology. Temidayo deliberately does not read them back: "The slide gives you the chronology, so I am not going to read every chapter back to you." Let the visual do that work.</a:t>
            </a:r>
          </a:p>
          <a:p>
            <a:r>
              <a:t>She then names the limits out loud — the work did not stay identical, some knowledge belonged to the context she was leaving, every move required real learning. Do not trim those.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2.</a:t>
            </a:r>
          </a:p>
          <a:p>
            <a:r>
              <a:t>Timing: approximately 1:21.</a:t>
            </a:r>
          </a:p>
          <a:p>
            <a:r>
              <a:t>The central distinction of the video. Reveal the second half after the first has been stated.</a:t>
            </a:r>
          </a:p>
          <a:p>
            <a:r>
              <a:t>Note the direct-address framing in v3.0: "when someone asks you, 'Walk me through your background,' you probably give them a list." The list that follows is the viewer's list, not a case study. Keep it restrained — no résumé-scroll animation, no timeline gag.</a:t>
            </a:r>
          </a:p>
          <a:p>
            <a:r>
              <a:t>Close on the instruction: give them enough chronology to orient them, then explain what the work repeatedly required you to become able to do.</a:t>
            </a:r>
          </a:p>
          <a:p>
            <a:r>
              <a:t>"There are three parts, and I want to walk you through each one" is the coaching turn. Stay on Temidayo.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2.</a:t>
            </a:r>
          </a:p>
          <a:p>
            <a:r>
              <a:t>Timing: approximately 1:21.</a:t>
            </a:r>
          </a:p>
          <a:p>
            <a:r>
              <a:t>The central distinction of the video. Reveal the second half after the first has been stated.</a:t>
            </a:r>
          </a:p>
          <a:p>
            <a:r>
              <a:t>Note the direct-address framing in v3.0: "when someone asks you, 'Walk me through your background,' you probably give them a list." The list that follows is the viewer's list, not a case study. Keep it restrained — no résumé-scroll animation, no timeline gag.</a:t>
            </a:r>
          </a:p>
          <a:p>
            <a:r>
              <a:t>Close on the instruction: give them enough chronology to orient them, then explain what the work repeatedly required you to become able to do.</a:t>
            </a:r>
          </a:p>
          <a:p>
            <a:r>
              <a:t>"There are three parts, and I want to walk you through each one" is the coaching turn. Stay on Temidayo.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2:09.</a:t>
            </a:r>
          </a:p>
          <a:p>
            <a:r>
              <a:t>Reveal the three cues as she names them.</a:t>
            </a:r>
          </a:p>
          <a:p>
            <a:r>
              <a:t>The coached framing is deliberate: "Your first sentence only has one job: orientation, not defense." Do not cut it.</a:t>
            </a:r>
          </a:p>
          <a:p>
            <a:r>
              <a:t>Her own example chapters are spoken once, briefly. The 2008 financial-crisis context stays exactly as spoken and gains nothing: she graduated into that market, so the first turn was not part of a designed plan. No employer, no metric, no further detail.</a:t>
            </a:r>
          </a:p>
          <a:p>
            <a:r>
              <a:t>Close on the honesty line: a coherent career story does not require pretending every move was strategic.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5 — main slide 4.</a:t>
            </a:r>
          </a:p>
          <a:p>
            <a:r>
              <a:t>Timing: approximately 3:11, holding to about 3:40.</a:t>
            </a:r>
          </a:p>
          <a:p>
            <a:r>
              <a:t>Reveal NOTICE • TRANSLATE • BUILD • DECIDE as the questions are asked.</a:t>
            </a:r>
          </a:p>
          <a:p>
            <a:r>
              <a:t>"In the second sentence, I want you to look underneath the titles" is the coaching bridge into this section. Keep it.</a:t>
            </a:r>
          </a:p>
          <a:p>
            <a:r>
              <a:t>The four questions are handed to the viewer one at a time. Let each land; do not stack them into a single graphic.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5 — main slide 4.</a:t>
            </a:r>
          </a:p>
          <a:p>
            <a:r>
              <a:t>Timing: approximately 3:11, holding to about 3:40.</a:t>
            </a:r>
          </a:p>
          <a:p>
            <a:r>
              <a:t>Reveal NOTICE • TRANSLATE • BUILD • DECIDE as the questions are asked.</a:t>
            </a:r>
          </a:p>
          <a:p>
            <a:r>
              <a:t>"In the second sentence, I want you to look underneath the titles" is the coaching bridge into this section. Keep it.</a:t>
            </a:r>
          </a:p>
          <a:p>
            <a:r>
              <a:t>The four questions are handed to the viewer one at a time. Let each land; do not stack them into a single graphic.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5 — main slide 4.</a:t>
            </a:r>
          </a:p>
          <a:p>
            <a:r>
              <a:t>Timing: approximately 3:11, holding to about 3:40.</a:t>
            </a:r>
          </a:p>
          <a:p>
            <a:r>
              <a:t>Reveal NOTICE • TRANSLATE • BUILD • DECIDE as the questions are asked.</a:t>
            </a:r>
          </a:p>
          <a:p>
            <a:r>
              <a:t>"In the second sentence, I want you to look underneath the titles" is the coaching bridge into this section. Keep it.</a:t>
            </a:r>
          </a:p>
          <a:p>
            <a:r>
              <a:t>The four questions are handed to the viewer one at a time. Let each land; do not stack them into a single graphic.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5 — main slide 4.</a:t>
            </a:r>
          </a:p>
          <a:p>
            <a:r>
              <a:t>Timing: approximately 3:11, holding to about 3:40.</a:t>
            </a:r>
          </a:p>
          <a:p>
            <a:r>
              <a:t>Reveal NOTICE • TRANSLATE • BUILD • DECIDE as the questions are asked.</a:t>
            </a:r>
          </a:p>
          <a:p>
            <a:r>
              <a:t>"In the second sentence, I want you to look underneath the titles" is the coaching bridge into this section. Keep it.</a:t>
            </a:r>
          </a:p>
          <a:p>
            <a:r>
              <a:t>The four questions are handed to the viewer one at a time. Let each land; do not stack them into a single graphic.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5 of 5 — main slide 4.</a:t>
            </a:r>
          </a:p>
          <a:p>
            <a:r>
              <a:t>Timing: approximately 3:11, holding to about 3:40.</a:t>
            </a:r>
          </a:p>
          <a:p>
            <a:r>
              <a:t>Reveal NOTICE • TRANSLATE • BUILD • DECIDE as the questions are asked.</a:t>
            </a:r>
          </a:p>
          <a:p>
            <a:r>
              <a:t>"In the second sentence, I want you to look underneath the titles" is the coaching bridge into this section. Keep it.</a:t>
            </a:r>
          </a:p>
          <a:p>
            <a:r>
              <a:t>The four questions are handed to the viewer one at a time. Let each land; do not stack them into a single graphic.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5.</a:t>
            </a:r>
          </a:p>
          <a:p>
            <a:r>
              <a:t>Timing: approximately 3:40.</a:t>
            </a:r>
          </a:p>
          <a:p>
            <a:r>
              <a:t>Show the three nouns first, then the verb question.</a:t>
            </a:r>
          </a:p>
          <a:p>
            <a:r>
              <a:t>Temidayo's own recurring verbs — examine, translate, connect, build — are her evidence, not a template. The script is explicit that accounting, cybersecurity and people strategy are NOT the same profession, and that she would not force a connection the evidence does not support. In v3.0 that is turned to the viewer: "so do not force yours either." Do not cut either half.</a:t>
            </a:r>
          </a:p>
          <a:p>
            <a:r>
              <a:t>Close on the rule: a portable capability is not a word you like, it is something your work repeatedly required you to demonstrate.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5.</a:t>
            </a:r>
          </a:p>
          <a:p>
            <a:r>
              <a:t>Timing: approximately 3:40.</a:t>
            </a:r>
          </a:p>
          <a:p>
            <a:r>
              <a:t>Show the three nouns first, then the verb question.</a:t>
            </a:r>
          </a:p>
          <a:p>
            <a:r>
              <a:t>Temidayo's own recurring verbs — examine, translate, connect, build — are her evidence, not a template. The script is explicit that accounting, cybersecurity and people strategy are NOT the same profession, and that she would not force a connection the evidence does not support. In v3.0 that is turned to the viewer: "so do not force yours either." Do not cut either half.</a:t>
            </a:r>
          </a:p>
          <a:p>
            <a:r>
              <a:t>Close on the rule: a portable capability is not a word you like, it is something your work repeatedly required you to demonstrate.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6.</a:t>
            </a:r>
          </a:p>
          <a:p>
            <a:r>
              <a:t>Timing: approximately 4:52, holding to about 5:11.</a:t>
            </a:r>
          </a:p>
          <a:p>
            <a:r>
              <a:t>Reveal PAST CHAPTERS → REPEATED CAPABILITY → NEXT VALUE.</a:t>
            </a:r>
          </a:p>
          <a:p>
            <a:r>
              <a:t>The goal is not to prove the next move was inevitable. It is to make the connection understandable. That distinction is the whole section.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6.</a:t>
            </a:r>
          </a:p>
          <a:p>
            <a:r>
              <a:t>Timing: approximately 4:52, holding to about 5:11.</a:t>
            </a:r>
          </a:p>
          <a:p>
            <a:r>
              <a:t>Reveal PAST CHAPTERS → REPEATED CAPABILITY → NEXT VALUE.</a:t>
            </a:r>
          </a:p>
          <a:p>
            <a:r>
              <a:t>The goal is not to prove the next move was inevitable. It is to make the connection understandable. That distinction is the whole section.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6.</a:t>
            </a:r>
          </a:p>
          <a:p>
            <a:r>
              <a:t>Timing: approximately 4:52, holding to about 5:11.</a:t>
            </a:r>
          </a:p>
          <a:p>
            <a:r>
              <a:t>Reveal PAST CHAPTERS → REPEATED CAPABILITY → NEXT VALUE.</a:t>
            </a:r>
          </a:p>
          <a:p>
            <a:r>
              <a:t>The goal is not to prove the next move was inevitable. It is to make the connection understandable. That distinction is the whole section.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7.</a:t>
            </a:r>
          </a:p>
          <a:p>
            <a:r>
              <a:t>Timing: approximately 5:11.</a:t>
            </a:r>
          </a:p>
          <a:p>
            <a:r>
              <a:t>Reveal the three stems one at a time.</a:t>
            </a:r>
          </a:p>
          <a:p>
            <a:r>
              <a:t>"The third sentence explains why the next direction makes sense" is spoken as part of the coaching; it is not a caption.</a:t>
            </a:r>
          </a:p>
          <a:p>
            <a:r>
              <a:t>Her worked example is hers — "Here is mine:". Then note what it does NOT say: not every chapter was the same, not every move was planned, not everything transferred automatically. Those three denials are load-bearing and must not be trimmed for pace.</a:t>
            </a:r>
          </a:p>
          <a:p>
            <a:r>
              <a:t>Close on the hand-off: "Now try the same three sentences on your own career." Stay on Temidayo for it.</a:t>
            </a:r>
          </a:p>
          <a:p>
            <a:r>
              <a:t>This is the only memory device in the video. Do not add CAR, the Career Evidence 3 Cs, or any second framework.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7.</a:t>
            </a:r>
          </a:p>
          <a:p>
            <a:r>
              <a:t>Timing: approximately 5:11.</a:t>
            </a:r>
          </a:p>
          <a:p>
            <a:r>
              <a:t>Reveal the three stems one at a time.</a:t>
            </a:r>
          </a:p>
          <a:p>
            <a:r>
              <a:t>"The third sentence explains why the next direction makes sense" is spoken as part of the coaching; it is not a caption.</a:t>
            </a:r>
          </a:p>
          <a:p>
            <a:r>
              <a:t>Her worked example is hers — "Here is mine:". Then note what it does NOT say: not every chapter was the same, not every move was planned, not everything transferred automatically. Those three denials are load-bearing and must not be trimmed for pace.</a:t>
            </a:r>
          </a:p>
          <a:p>
            <a:r>
              <a:t>Close on the hand-off: "Now try the same three sentences on your own career." Stay on Temidayo for it.</a:t>
            </a:r>
          </a:p>
          <a:p>
            <a:r>
              <a:t>This is the only memory device in the video. Do not add CAR, the Career Evidence 3 Cs, or any second framework.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7.</a:t>
            </a:r>
          </a:p>
          <a:p>
            <a:r>
              <a:t>Timing: approximately 5:11.</a:t>
            </a:r>
          </a:p>
          <a:p>
            <a:r>
              <a:t>Reveal the three stems one at a time.</a:t>
            </a:r>
          </a:p>
          <a:p>
            <a:r>
              <a:t>"The third sentence explains why the next direction makes sense" is spoken as part of the coaching; it is not a caption.</a:t>
            </a:r>
          </a:p>
          <a:p>
            <a:r>
              <a:t>Her worked example is hers — "Here is mine:". Then note what it does NOT say: not every chapter was the same, not every move was planned, not everything transferred automatically. Those three denials are load-bearing and must not be trimmed for pace.</a:t>
            </a:r>
          </a:p>
          <a:p>
            <a:r>
              <a:t>Close on the hand-off: "Now try the same three sentences on your own career." Stay on Temidayo for it.</a:t>
            </a:r>
          </a:p>
          <a:p>
            <a:r>
              <a:t>This is the only memory device in the video. Do not add CAR, the Career Evidence 3 Cs, or any second framework.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8.</a:t>
            </a:r>
          </a:p>
          <a:p>
            <a:r>
              <a:t>Timing: approximately 6:17.</a:t>
            </a:r>
          </a:p>
          <a:p>
            <a:r>
              <a:t>The honesty test, and the reason the video is credible. Give it room.</a:t>
            </a:r>
          </a:p>
          <a:p>
            <a:r>
              <a:t>"There is an honesty test here, and here is what I would not do." That framing is Temidayo taking the risk first, then handing the viewer the standard. Keep it.</a:t>
            </a:r>
          </a:p>
          <a:p>
            <a:r>
              <a:t>Markets, caregiving, health, compensation, restructuring and unpredicted opportunity are all named as legitimate. Interruption, redirection and relearning are all allowed in a truthful explanation.</a:t>
            </a:r>
          </a:p>
          <a:p>
            <a:r>
              <a:t>Close on: you are not trying to make your career look linear, you are trying to make your formation legible.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9.</a:t>
            </a:r>
          </a:p>
          <a:p>
            <a:r>
              <a:t>Timing: approximately 7:08.</a:t>
            </a:r>
          </a:p>
          <a:p>
            <a:r>
              <a:t>Reveal the three test questions one at a time, then the evidence challenges.</a:t>
            </a:r>
          </a:p>
          <a:p>
            <a:r>
              <a:t>The three "if you say…" lines are the sharpest moment in the video and they are addressed straight at the viewer. Do not soften them and do not bury them under a graphic.</a:t>
            </a:r>
          </a:p>
          <a:p>
            <a:r>
              <a:t>Then the written exercise: three or four chapters, the problem, the judgment, one piece of PERMITTED evidence, then circle the repeating verbs. The permitted qualifier is not optional.</a:t>
            </a:r>
          </a:p>
          <a:p>
            <a:r>
              <a:t>Close on the reassurance: if it still sounds disconnected, the problem may not be your path — you may just need better evidence behind the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9.</a:t>
            </a:r>
          </a:p>
          <a:p>
            <a:r>
              <a:t>Timing: approximately 7:08.</a:t>
            </a:r>
          </a:p>
          <a:p>
            <a:r>
              <a:t>Reveal the three test questions one at a time, then the evidence challenges.</a:t>
            </a:r>
          </a:p>
          <a:p>
            <a:r>
              <a:t>The three "if you say…" lines are the sharpest moment in the video and they are addressed straight at the viewer. Do not soften them and do not bury them under a graphic.</a:t>
            </a:r>
          </a:p>
          <a:p>
            <a:r>
              <a:t>Then the written exercise: three or four chapters, the problem, the judgment, one piece of PERMITTED evidence, then circle the repeating verbs. The permitted qualifier is not optional.</a:t>
            </a:r>
          </a:p>
          <a:p>
            <a:r>
              <a:t>Close on the reassurance: if it still sounds disconnected, the problem may not be your path — you may just need better evidence behind the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9.</a:t>
            </a:r>
          </a:p>
          <a:p>
            <a:r>
              <a:t>Timing: approximately 7:08.</a:t>
            </a:r>
          </a:p>
          <a:p>
            <a:r>
              <a:t>Reveal the three test questions one at a time, then the evidence challenges.</a:t>
            </a:r>
          </a:p>
          <a:p>
            <a:r>
              <a:t>The three "if you say…" lines are the sharpest moment in the video and they are addressed straight at the viewer. Do not soften them and do not bury them under a graphic.</a:t>
            </a:r>
          </a:p>
          <a:p>
            <a:r>
              <a:t>Then the written exercise: three or four chapters, the problem, the judgment, one piece of PERMITTED evidence, then circle the repeating verbs. The permitted qualifier is not optional.</a:t>
            </a:r>
          </a:p>
          <a:p>
            <a:r>
              <a:t>Close on the reassurance: if it still sounds disconnected, the problem may not be your path — you may just need better evidence behind the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10.</a:t>
            </a:r>
          </a:p>
          <a:p>
            <a:r>
              <a:t>Timing: approximately 8:31.</a:t>
            </a:r>
          </a:p>
          <a:p>
            <a:r>
              <a:t>Calm and brief. This is the only invitation in the video, and it is the FREE Career Evidence Starter — not Keep the Proof, not the Capability Formation Field Kit.</a:t>
            </a:r>
          </a:p>
          <a:p>
            <a:r>
              <a:t>Exact invitation, verbatim from the v3.0 script:</a:t>
            </a:r>
          </a:p>
          <a:p>
            <a:r>
              <a:t>"If you want to try this on one real accomplishment of yours, I made a free Career Evidence Starter. Set aside about 10 to 15 focused minutes and you will leave with one portable Proof Line. I've linked it below."</a:t>
            </a:r>
          </a:p>
          <a:p>
            <a:r>
              <a:t>Show the real Starter artwork. Use the direct public landing-page URL only — temidayoafonja.com/career-evidence-starter. Do not expose a PDF link.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11.</a:t>
            </a:r>
          </a:p>
          <a:p>
            <a:r>
              <a:t>Timing: approximately 8:48 to the end, about 9:20.</a:t>
            </a:r>
          </a:p>
          <a:p>
            <a:r>
              <a:t>The card reads "Should I Make an Internal Move? 3 Questions to Decide" with the playlist line. That is the locked Video 5 title and it matches what Temidayo says.</a:t>
            </a:r>
          </a:p>
          <a:p>
            <a:r>
              <a:t>Closing lines: "Your career does not have to look linear to make sense. But you do have to make the continuity visible." Stay on her for both.</a:t>
            </a:r>
          </a:p>
          <a:p>
            <a:r>
              <a:t>Do not summarize this video again.</a:t>
            </a:r>
          </a:p>
          <a:p>
            <a:r>
              <a:t>The right side of the frame is left open for the YouTube linked-video end-screen element. Hold the final frame for at least 12 seconds. Do not leave Subscribe as the only end-screen element.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20800" y="14732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ACCOUNTING &amp; AUDIT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20800" y="14732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ACCOUNTING &amp; AUDIT</a:t>
            </a:r>
          </a:p>
        </p:txBody>
      </p:sp>
      <p:sp>
        <p:nvSpPr>
          <p:cNvPr id="8" name="Rectangle 7"/>
          <p:cNvSpPr/>
          <p:nvPr/>
        </p:nvSpPr>
        <p:spPr>
          <a:xfrm>
            <a:off x="1371600" y="20193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rot="10800000">
            <a:off x="1317625" y="22796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0800" y="24638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CYBERSECURITY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20800" y="14732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ACCOUNTING &amp; AUDIT</a:t>
            </a:r>
          </a:p>
        </p:txBody>
      </p:sp>
      <p:sp>
        <p:nvSpPr>
          <p:cNvPr id="8" name="Rectangle 7"/>
          <p:cNvSpPr/>
          <p:nvPr/>
        </p:nvSpPr>
        <p:spPr>
          <a:xfrm>
            <a:off x="1371600" y="20193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rot="10800000">
            <a:off x="1317625" y="22796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0800" y="24638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CYBERSECURITY</a:t>
            </a:r>
          </a:p>
        </p:txBody>
      </p:sp>
      <p:sp>
        <p:nvSpPr>
          <p:cNvPr id="11" name="Rectangle 10"/>
          <p:cNvSpPr/>
          <p:nvPr/>
        </p:nvSpPr>
        <p:spPr>
          <a:xfrm>
            <a:off x="1371600" y="30099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sosceles Triangle 11"/>
          <p:cNvSpPr/>
          <p:nvPr/>
        </p:nvSpPr>
        <p:spPr>
          <a:xfrm rot="10800000">
            <a:off x="1317625" y="32702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0800" y="34544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PEOPLE STRATEGY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20800" y="14732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ACCOUNTING &amp; AUDIT</a:t>
            </a:r>
          </a:p>
        </p:txBody>
      </p:sp>
      <p:sp>
        <p:nvSpPr>
          <p:cNvPr id="8" name="Rectangle 7"/>
          <p:cNvSpPr/>
          <p:nvPr/>
        </p:nvSpPr>
        <p:spPr>
          <a:xfrm>
            <a:off x="1371600" y="20193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rot="10800000">
            <a:off x="1317625" y="22796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0800" y="24638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CYBERSECURITY</a:t>
            </a:r>
          </a:p>
        </p:txBody>
      </p:sp>
      <p:sp>
        <p:nvSpPr>
          <p:cNvPr id="11" name="Rectangle 10"/>
          <p:cNvSpPr/>
          <p:nvPr/>
        </p:nvSpPr>
        <p:spPr>
          <a:xfrm>
            <a:off x="1371600" y="30099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sosceles Triangle 11"/>
          <p:cNvSpPr/>
          <p:nvPr/>
        </p:nvSpPr>
        <p:spPr>
          <a:xfrm rot="10800000">
            <a:off x="1317625" y="32702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0800" y="34544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PEOPLE STRATEGY</a:t>
            </a:r>
          </a:p>
        </p:txBody>
      </p:sp>
      <p:sp>
        <p:nvSpPr>
          <p:cNvPr id="14" name="Rectangle 13"/>
          <p:cNvSpPr/>
          <p:nvPr/>
        </p:nvSpPr>
        <p:spPr>
          <a:xfrm>
            <a:off x="1371600" y="40005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rot="10800000">
            <a:off x="1317625" y="42608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0800" y="44450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ENTERPRISE TRANSFORMATION</a:t>
            </a:r>
          </a:p>
        </p:txBody>
      </p:sp>
      <p:sp>
        <p:nvSpPr>
          <p:cNvPr id="17" name="Rectangle 16"/>
          <p:cNvSpPr/>
          <p:nvPr/>
        </p:nvSpPr>
        <p:spPr>
          <a:xfrm>
            <a:off x="1320800" y="54356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20800" y="5715000"/>
            <a:ext cx="9906000" cy="355600"/>
          </a:xfrm>
          <a:prstGeom prst="rect">
            <a:avLst/>
          </a:prstGeom>
          <a:noFill/>
        </p:spPr>
        <p:txBody>
          <a:bodyPr wrap="square" lIns="0" rIns="0" tIns="0" bIns="0" anchor="t">
            <a:spAutoFit/>
          </a:bodyPr>
          <a:lstStyle/>
          <a:p>
            <a:pPr algn="l">
              <a:lnSpc>
                <a:spcPct val="112000"/>
              </a:lnSpc>
            </a:pPr>
            <a:r>
              <a:rPr sz="1600" b="1" i="0" spc="150">
                <a:solidFill>
                  <a:srgbClr val="F5F1E8"/>
                </a:solidFill>
                <a:latin typeface="Montserrat"/>
                <a:ea typeface="Montserrat"/>
                <a:cs typeface="Montserrat"/>
              </a:rPr>
              <a:t>THE TITLES CHANGED. THE CAPABILITY KEPT ACCUMULATING.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206500" y="2730500"/>
            <a:ext cx="4191000" cy="425450"/>
          </a:xfrm>
          <a:prstGeom prst="rect">
            <a:avLst/>
          </a:prstGeom>
          <a:noFill/>
        </p:spPr>
        <p:txBody>
          <a:bodyPr wrap="square" lIns="0" rIns="0" tIns="0" bIns="0" anchor="t">
            <a:spAutoFit/>
          </a:bodyPr>
          <a:lstStyle/>
          <a:p>
            <a:pPr algn="l">
              <a:lnSpc>
                <a:spcPct val="105000"/>
              </a:lnSpc>
            </a:pPr>
            <a:r>
              <a:rPr sz="2800" b="1" i="0">
                <a:solidFill>
                  <a:srgbClr val="0F2346"/>
                </a:solidFill>
                <a:latin typeface="Montserrat"/>
                <a:ea typeface="Montserrat"/>
                <a:cs typeface="Montserrat"/>
              </a:rPr>
              <a:t>CHRONOLOGY</a:t>
            </a:r>
          </a:p>
        </p:txBody>
      </p:sp>
      <p:sp>
        <p:nvSpPr>
          <p:cNvPr id="3" name="Rectangle 2"/>
          <p:cNvSpPr/>
          <p:nvPr/>
        </p:nvSpPr>
        <p:spPr>
          <a:xfrm>
            <a:off x="1206500" y="33147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06500" y="3644900"/>
            <a:ext cx="4191000" cy="349250"/>
          </a:xfrm>
          <a:prstGeom prst="rect">
            <a:avLst/>
          </a:prstGeom>
          <a:noFill/>
        </p:spPr>
        <p:txBody>
          <a:bodyPr wrap="square" lIns="0" rIns="0" tIns="0" bIns="0" anchor="t">
            <a:spAutoFit/>
          </a:bodyPr>
          <a:lstStyle/>
          <a:p>
            <a:pPr algn="l">
              <a:lnSpc>
                <a:spcPct val="130000"/>
              </a:lnSpc>
            </a:pPr>
            <a:r>
              <a:rPr sz="1800" b="0" i="0">
                <a:solidFill>
                  <a:srgbClr val="5A6B82"/>
                </a:solidFill>
                <a:latin typeface="DM Sans"/>
                <a:ea typeface="DM Sans"/>
                <a:cs typeface="DM Sans"/>
              </a:rPr>
              <a:t>Where you have been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206500" y="2730500"/>
            <a:ext cx="4191000" cy="425450"/>
          </a:xfrm>
          <a:prstGeom prst="rect">
            <a:avLst/>
          </a:prstGeom>
          <a:noFill/>
        </p:spPr>
        <p:txBody>
          <a:bodyPr wrap="square" lIns="0" rIns="0" tIns="0" bIns="0" anchor="t">
            <a:spAutoFit/>
          </a:bodyPr>
          <a:lstStyle/>
          <a:p>
            <a:pPr algn="l">
              <a:lnSpc>
                <a:spcPct val="105000"/>
              </a:lnSpc>
            </a:pPr>
            <a:r>
              <a:rPr sz="2800" b="1" i="0">
                <a:solidFill>
                  <a:srgbClr val="0F2346"/>
                </a:solidFill>
                <a:latin typeface="Montserrat"/>
                <a:ea typeface="Montserrat"/>
                <a:cs typeface="Montserrat"/>
              </a:rPr>
              <a:t>CHRONOLOGY</a:t>
            </a:r>
          </a:p>
        </p:txBody>
      </p:sp>
      <p:sp>
        <p:nvSpPr>
          <p:cNvPr id="3" name="Rectangle 2"/>
          <p:cNvSpPr/>
          <p:nvPr/>
        </p:nvSpPr>
        <p:spPr>
          <a:xfrm>
            <a:off x="1206500" y="33147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06500" y="3644900"/>
            <a:ext cx="4191000" cy="349250"/>
          </a:xfrm>
          <a:prstGeom prst="rect">
            <a:avLst/>
          </a:prstGeom>
          <a:noFill/>
        </p:spPr>
        <p:txBody>
          <a:bodyPr wrap="square" lIns="0" rIns="0" tIns="0" bIns="0" anchor="t">
            <a:spAutoFit/>
          </a:bodyPr>
          <a:lstStyle/>
          <a:p>
            <a:pPr algn="l">
              <a:lnSpc>
                <a:spcPct val="130000"/>
              </a:lnSpc>
            </a:pPr>
            <a:r>
              <a:rPr sz="1800" b="0" i="0">
                <a:solidFill>
                  <a:srgbClr val="5A6B82"/>
                </a:solidFill>
                <a:latin typeface="DM Sans"/>
                <a:ea typeface="DM Sans"/>
                <a:cs typeface="DM Sans"/>
              </a:rPr>
              <a:t>Where you have been</a:t>
            </a:r>
          </a:p>
        </p:txBody>
      </p:sp>
      <p:sp>
        <p:nvSpPr>
          <p:cNvPr id="5" name="Rectangle 4"/>
          <p:cNvSpPr/>
          <p:nvPr/>
        </p:nvSpPr>
        <p:spPr>
          <a:xfrm>
            <a:off x="6254750" y="2159000"/>
            <a:ext cx="5080000" cy="2413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26250" y="2730500"/>
            <a:ext cx="4191000" cy="425450"/>
          </a:xfrm>
          <a:prstGeom prst="rect">
            <a:avLst/>
          </a:prstGeom>
          <a:noFill/>
        </p:spPr>
        <p:txBody>
          <a:bodyPr wrap="square" lIns="0" rIns="0" tIns="0" bIns="0" anchor="t">
            <a:spAutoFit/>
          </a:bodyPr>
          <a:lstStyle/>
          <a:p>
            <a:pPr algn="l">
              <a:lnSpc>
                <a:spcPct val="105000"/>
              </a:lnSpc>
            </a:pPr>
            <a:r>
              <a:rPr sz="2800" b="1" i="0">
                <a:solidFill>
                  <a:srgbClr val="F5F1E8"/>
                </a:solidFill>
                <a:latin typeface="Montserrat"/>
                <a:ea typeface="Montserrat"/>
                <a:cs typeface="Montserrat"/>
              </a:rPr>
              <a:t>PORTABILITY</a:t>
            </a:r>
          </a:p>
        </p:txBody>
      </p:sp>
      <p:sp>
        <p:nvSpPr>
          <p:cNvPr id="7" name="Rectangle 6"/>
          <p:cNvSpPr/>
          <p:nvPr/>
        </p:nvSpPr>
        <p:spPr>
          <a:xfrm>
            <a:off x="6826250" y="33147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26250" y="3644900"/>
            <a:ext cx="4191000" cy="349250"/>
          </a:xfrm>
          <a:prstGeom prst="rect">
            <a:avLst/>
          </a:prstGeom>
          <a:noFill/>
        </p:spPr>
        <p:txBody>
          <a:bodyPr wrap="square" lIns="0" rIns="0" tIns="0" bIns="0" anchor="t">
            <a:spAutoFit/>
          </a:bodyPr>
          <a:lstStyle/>
          <a:p>
            <a:pPr algn="l">
              <a:lnSpc>
                <a:spcPct val="130000"/>
              </a:lnSpc>
            </a:pPr>
            <a:r>
              <a:rPr sz="1800" b="0" i="0">
                <a:solidFill>
                  <a:srgbClr val="B9C3D2"/>
                </a:solidFill>
                <a:latin typeface="DM Sans"/>
                <a:ea typeface="DM Sans"/>
                <a:cs typeface="DM Sans"/>
              </a:rPr>
              <a:t>What traveled with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NAME THE CHAPTERS — BRIEFLY</a:t>
            </a:r>
          </a:p>
        </p:txBody>
      </p:sp>
      <p:sp>
        <p:nvSpPr>
          <p:cNvPr id="6" name="TextBox 5"/>
          <p:cNvSpPr txBox="1"/>
          <p:nvPr/>
        </p:nvSpPr>
        <p:spPr>
          <a:xfrm>
            <a:off x="863600" y="2984500"/>
            <a:ext cx="9906000" cy="431800"/>
          </a:xfrm>
          <a:prstGeom prst="rect">
            <a:avLst/>
          </a:prstGeom>
          <a:noFill/>
        </p:spPr>
        <p:txBody>
          <a:bodyPr wrap="square" lIns="0" rIns="0" tIns="0" bIns="0" anchor="t">
            <a:spAutoFit/>
          </a:bodyPr>
          <a:lstStyle/>
          <a:p>
            <a:pPr algn="l">
              <a:lnSpc>
                <a:spcPct val="130000"/>
              </a:lnSpc>
            </a:pPr>
            <a:r>
              <a:rPr sz="2300" b="0" i="0">
                <a:solidFill>
                  <a:srgbClr val="F5F1E8"/>
                </a:solidFill>
                <a:latin typeface="DM Sans"/>
                <a:ea typeface="DM Sans"/>
                <a:cs typeface="DM Sans"/>
              </a:rPr>
              <a:t>Roles • Functions • Industries</a:t>
            </a:r>
          </a:p>
        </p:txBody>
      </p:sp>
      <p:sp>
        <p:nvSpPr>
          <p:cNvPr id="7" name="Rectangle 6"/>
          <p:cNvSpPr/>
          <p:nvPr/>
        </p:nvSpPr>
        <p:spPr>
          <a:xfrm>
            <a:off x="863600" y="3594100"/>
            <a:ext cx="762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3898900"/>
            <a:ext cx="9906000" cy="412750"/>
          </a:xfrm>
          <a:prstGeom prst="rect">
            <a:avLst/>
          </a:prstGeom>
          <a:noFill/>
        </p:spPr>
        <p:txBody>
          <a:bodyPr wrap="square" lIns="0" rIns="0" tIns="0" bIns="0" anchor="t">
            <a:spAutoFit/>
          </a:bodyPr>
          <a:lstStyle/>
          <a:p>
            <a:pPr algn="l">
              <a:lnSpc>
                <a:spcPct val="130000"/>
              </a:lnSpc>
            </a:pPr>
            <a:r>
              <a:rPr sz="2200" b="1" i="0">
                <a:solidFill>
                  <a:srgbClr val="C9A84C"/>
                </a:solidFill>
                <a:latin typeface="Montserrat"/>
                <a:ea typeface="Montserrat"/>
                <a:cs typeface="Montserrat"/>
              </a:rPr>
              <a:t>One sentence, not a defense.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FIND THE REPEATED WORK</a:t>
            </a:r>
          </a:p>
        </p:txBody>
      </p:sp>
      <p:sp>
        <p:nvSpPr>
          <p:cNvPr id="6" name="TextBox 5"/>
          <p:cNvSpPr txBox="1"/>
          <p:nvPr/>
        </p:nvSpPr>
        <p:spPr>
          <a:xfrm>
            <a:off x="863600" y="3124200"/>
            <a:ext cx="10541000" cy="368300"/>
          </a:xfrm>
          <a:prstGeom prst="rect">
            <a:avLst/>
          </a:prstGeom>
          <a:noFill/>
        </p:spPr>
        <p:txBody>
          <a:bodyPr wrap="square" lIns="0" rIns="0" tIns="0" bIns="0" anchor="t">
            <a:spAutoFit/>
          </a:bodyPr>
          <a:lstStyle/>
          <a:p>
            <a:pPr algn="l">
              <a:lnSpc>
                <a:spcPct val="100000"/>
              </a:lnSpc>
            </a:pPr>
            <a:r>
              <a:rPr sz="2500" b="1" i="0">
                <a:solidFill>
                  <a:srgbClr val="F5F1E8"/>
                </a:solidFill>
                <a:latin typeface="Montserrat"/>
                <a:ea typeface="Montserrat"/>
                <a:cs typeface="Montserrat"/>
              </a:rPr>
              <a:t>NOTICE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FIND THE REPEATED WORK</a:t>
            </a:r>
          </a:p>
        </p:txBody>
      </p:sp>
      <p:sp>
        <p:nvSpPr>
          <p:cNvPr id="6" name="TextBox 5"/>
          <p:cNvSpPr txBox="1"/>
          <p:nvPr/>
        </p:nvSpPr>
        <p:spPr>
          <a:xfrm>
            <a:off x="863600" y="3124200"/>
            <a:ext cx="10541000" cy="368300"/>
          </a:xfrm>
          <a:prstGeom prst="rect">
            <a:avLst/>
          </a:prstGeom>
          <a:noFill/>
        </p:spPr>
        <p:txBody>
          <a:bodyPr wrap="square" lIns="0" rIns="0" tIns="0" bIns="0" anchor="t">
            <a:spAutoFit/>
          </a:bodyPr>
          <a:lstStyle/>
          <a:p>
            <a:pPr algn="l">
              <a:lnSpc>
                <a:spcPct val="100000"/>
              </a:lnSpc>
            </a:pPr>
            <a:r>
              <a:rPr sz="2500" b="1" i="0">
                <a:solidFill>
                  <a:srgbClr val="F5F1E8"/>
                </a:solidFill>
                <a:latin typeface="Montserrat"/>
                <a:ea typeface="Montserrat"/>
                <a:cs typeface="Montserrat"/>
              </a:rPr>
              <a:t>NOTICE • TRANSLATE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FIND THE REPEATED WORK</a:t>
            </a:r>
          </a:p>
        </p:txBody>
      </p:sp>
      <p:sp>
        <p:nvSpPr>
          <p:cNvPr id="6" name="TextBox 5"/>
          <p:cNvSpPr txBox="1"/>
          <p:nvPr/>
        </p:nvSpPr>
        <p:spPr>
          <a:xfrm>
            <a:off x="863600" y="3124200"/>
            <a:ext cx="10541000" cy="368300"/>
          </a:xfrm>
          <a:prstGeom prst="rect">
            <a:avLst/>
          </a:prstGeom>
          <a:noFill/>
        </p:spPr>
        <p:txBody>
          <a:bodyPr wrap="square" lIns="0" rIns="0" tIns="0" bIns="0" anchor="t">
            <a:spAutoFit/>
          </a:bodyPr>
          <a:lstStyle/>
          <a:p>
            <a:pPr algn="l">
              <a:lnSpc>
                <a:spcPct val="100000"/>
              </a:lnSpc>
            </a:pPr>
            <a:r>
              <a:rPr sz="2500" b="1" i="0">
                <a:solidFill>
                  <a:srgbClr val="F5F1E8"/>
                </a:solidFill>
                <a:latin typeface="Montserrat"/>
                <a:ea typeface="Montserrat"/>
                <a:cs typeface="Montserrat"/>
              </a:rPr>
              <a:t>NOTICE • TRANSLATE • BUILD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FIND THE REPEATED WORK</a:t>
            </a:r>
          </a:p>
        </p:txBody>
      </p:sp>
      <p:sp>
        <p:nvSpPr>
          <p:cNvPr id="6" name="TextBox 5"/>
          <p:cNvSpPr txBox="1"/>
          <p:nvPr/>
        </p:nvSpPr>
        <p:spPr>
          <a:xfrm>
            <a:off x="863600" y="3124200"/>
            <a:ext cx="10541000" cy="368300"/>
          </a:xfrm>
          <a:prstGeom prst="rect">
            <a:avLst/>
          </a:prstGeom>
          <a:noFill/>
        </p:spPr>
        <p:txBody>
          <a:bodyPr wrap="square" lIns="0" rIns="0" tIns="0" bIns="0" anchor="t">
            <a:spAutoFit/>
          </a:bodyPr>
          <a:lstStyle/>
          <a:p>
            <a:pPr algn="l">
              <a:lnSpc>
                <a:spcPct val="100000"/>
              </a:lnSpc>
            </a:pPr>
            <a:r>
              <a:rPr sz="2500" b="1" i="0">
                <a:solidFill>
                  <a:srgbClr val="F5F1E8"/>
                </a:solidFill>
                <a:latin typeface="Montserrat"/>
                <a:ea typeface="Montserrat"/>
                <a:cs typeface="Montserrat"/>
              </a:rPr>
              <a:t>NOTICE • TRANSLATE • BUILD • DECIDE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FIND THE REPEATED WORK</a:t>
            </a:r>
          </a:p>
        </p:txBody>
      </p:sp>
      <p:sp>
        <p:nvSpPr>
          <p:cNvPr id="6" name="TextBox 5"/>
          <p:cNvSpPr txBox="1"/>
          <p:nvPr/>
        </p:nvSpPr>
        <p:spPr>
          <a:xfrm>
            <a:off x="863600" y="3124200"/>
            <a:ext cx="10541000" cy="368300"/>
          </a:xfrm>
          <a:prstGeom prst="rect">
            <a:avLst/>
          </a:prstGeom>
          <a:noFill/>
        </p:spPr>
        <p:txBody>
          <a:bodyPr wrap="square" lIns="0" rIns="0" tIns="0" bIns="0" anchor="t">
            <a:spAutoFit/>
          </a:bodyPr>
          <a:lstStyle/>
          <a:p>
            <a:pPr algn="l">
              <a:lnSpc>
                <a:spcPct val="100000"/>
              </a:lnSpc>
            </a:pPr>
            <a:r>
              <a:rPr sz="2500" b="1" i="0">
                <a:solidFill>
                  <a:srgbClr val="F5F1E8"/>
                </a:solidFill>
                <a:latin typeface="Montserrat"/>
                <a:ea typeface="Montserrat"/>
                <a:cs typeface="Montserrat"/>
              </a:rPr>
              <a:t>NOTICE • TRANSLATE • BUILD • DECIDE</a:t>
            </a:r>
          </a:p>
        </p:txBody>
      </p:sp>
      <p:sp>
        <p:nvSpPr>
          <p:cNvPr id="7" name="Rectangle 6"/>
          <p:cNvSpPr/>
          <p:nvPr/>
        </p:nvSpPr>
        <p:spPr>
          <a:xfrm>
            <a:off x="863600" y="4191000"/>
            <a:ext cx="762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4521200"/>
            <a:ext cx="10160000" cy="406400"/>
          </a:xfrm>
          <a:prstGeom prst="rect">
            <a:avLst/>
          </a:prstGeom>
          <a:noFill/>
        </p:spPr>
        <p:txBody>
          <a:bodyPr wrap="square" lIns="0" rIns="0" tIns="0" bIns="0" anchor="t">
            <a:spAutoFit/>
          </a:bodyPr>
          <a:lstStyle/>
          <a:p>
            <a:pPr algn="l">
              <a:lnSpc>
                <a:spcPct val="122000"/>
              </a:lnSpc>
            </a:pPr>
            <a:r>
              <a:rPr sz="2300" b="1" i="0">
                <a:solidFill>
                  <a:srgbClr val="C9A84C"/>
                </a:solidFill>
                <a:latin typeface="Montserrat"/>
                <a:ea typeface="Montserrat"/>
                <a:cs typeface="Montserrat"/>
              </a:rPr>
              <a:t>What did people repeatedly trust you to carry?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7620000" cy="368300"/>
          </a:xfrm>
          <a:prstGeom prst="rect">
            <a:avLst/>
          </a:prstGeom>
          <a:noFill/>
        </p:spPr>
        <p:txBody>
          <a:bodyPr wrap="square" lIns="0" rIns="0" tIns="0" bIns="0" anchor="t">
            <a:spAutoFit/>
          </a:bodyPr>
          <a:lstStyle/>
          <a:p>
            <a:pPr algn="l">
              <a:lnSpc>
                <a:spcPct val="105000"/>
              </a:lnSpc>
            </a:pPr>
            <a:r>
              <a:rPr sz="2400" b="1" i="0">
                <a:solidFill>
                  <a:srgbClr val="0F2346"/>
                </a:solidFill>
                <a:latin typeface="Montserrat"/>
                <a:ea typeface="Montserrat"/>
                <a:cs typeface="Montserrat"/>
              </a:rPr>
              <a:t>JOB TITLES</a:t>
            </a:r>
          </a:p>
        </p:txBody>
      </p:sp>
      <p:sp>
        <p:nvSpPr>
          <p:cNvPr id="3" name="TextBox 2"/>
          <p:cNvSpPr txBox="1"/>
          <p:nvPr/>
        </p:nvSpPr>
        <p:spPr>
          <a:xfrm>
            <a:off x="1016000" y="2247900"/>
            <a:ext cx="7620000" cy="368300"/>
          </a:xfrm>
          <a:prstGeom prst="rect">
            <a:avLst/>
          </a:prstGeom>
          <a:noFill/>
        </p:spPr>
        <p:txBody>
          <a:bodyPr wrap="square" lIns="0" rIns="0" tIns="0" bIns="0" anchor="t">
            <a:spAutoFit/>
          </a:bodyPr>
          <a:lstStyle/>
          <a:p>
            <a:pPr algn="l">
              <a:lnSpc>
                <a:spcPct val="105000"/>
              </a:lnSpc>
            </a:pPr>
            <a:r>
              <a:rPr sz="2400" b="1" i="0">
                <a:solidFill>
                  <a:srgbClr val="0F2346"/>
                </a:solidFill>
                <a:latin typeface="Montserrat"/>
                <a:ea typeface="Montserrat"/>
                <a:cs typeface="Montserrat"/>
              </a:rPr>
              <a:t>COMPANY LANGUAGE</a:t>
            </a:r>
          </a:p>
        </p:txBody>
      </p:sp>
      <p:sp>
        <p:nvSpPr>
          <p:cNvPr id="4" name="TextBox 3"/>
          <p:cNvSpPr txBox="1"/>
          <p:nvPr/>
        </p:nvSpPr>
        <p:spPr>
          <a:xfrm>
            <a:off x="1016000" y="2908300"/>
            <a:ext cx="7620000" cy="368300"/>
          </a:xfrm>
          <a:prstGeom prst="rect">
            <a:avLst/>
          </a:prstGeom>
          <a:noFill/>
        </p:spPr>
        <p:txBody>
          <a:bodyPr wrap="square" lIns="0" rIns="0" tIns="0" bIns="0" anchor="t">
            <a:spAutoFit/>
          </a:bodyPr>
          <a:lstStyle/>
          <a:p>
            <a:pPr algn="l">
              <a:lnSpc>
                <a:spcPct val="105000"/>
              </a:lnSpc>
            </a:pPr>
            <a:r>
              <a:rPr sz="2400" b="1" i="0">
                <a:solidFill>
                  <a:srgbClr val="0F2346"/>
                </a:solidFill>
                <a:latin typeface="Montserrat"/>
                <a:ea typeface="Montserrat"/>
                <a:cs typeface="Montserrat"/>
              </a:rPr>
              <a:t>INDUSTRY VOCABULARY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7620000" cy="368300"/>
          </a:xfrm>
          <a:prstGeom prst="rect">
            <a:avLst/>
          </a:prstGeom>
          <a:noFill/>
        </p:spPr>
        <p:txBody>
          <a:bodyPr wrap="square" lIns="0" rIns="0" tIns="0" bIns="0" anchor="t">
            <a:spAutoFit/>
          </a:bodyPr>
          <a:lstStyle/>
          <a:p>
            <a:pPr algn="l">
              <a:lnSpc>
                <a:spcPct val="105000"/>
              </a:lnSpc>
            </a:pPr>
            <a:r>
              <a:rPr sz="2400" b="1" i="0">
                <a:solidFill>
                  <a:srgbClr val="A8AFBC"/>
                </a:solidFill>
                <a:latin typeface="Montserrat"/>
                <a:ea typeface="Montserrat"/>
                <a:cs typeface="Montserrat"/>
              </a:rPr>
              <a:t>JOB TITLES</a:t>
            </a:r>
          </a:p>
        </p:txBody>
      </p:sp>
      <p:sp>
        <p:nvSpPr>
          <p:cNvPr id="3" name="TextBox 2"/>
          <p:cNvSpPr txBox="1"/>
          <p:nvPr/>
        </p:nvSpPr>
        <p:spPr>
          <a:xfrm>
            <a:off x="1016000" y="2247900"/>
            <a:ext cx="7620000" cy="368300"/>
          </a:xfrm>
          <a:prstGeom prst="rect">
            <a:avLst/>
          </a:prstGeom>
          <a:noFill/>
        </p:spPr>
        <p:txBody>
          <a:bodyPr wrap="square" lIns="0" rIns="0" tIns="0" bIns="0" anchor="t">
            <a:spAutoFit/>
          </a:bodyPr>
          <a:lstStyle/>
          <a:p>
            <a:pPr algn="l">
              <a:lnSpc>
                <a:spcPct val="105000"/>
              </a:lnSpc>
            </a:pPr>
            <a:r>
              <a:rPr sz="2400" b="1" i="0">
                <a:solidFill>
                  <a:srgbClr val="A8AFBC"/>
                </a:solidFill>
                <a:latin typeface="Montserrat"/>
                <a:ea typeface="Montserrat"/>
                <a:cs typeface="Montserrat"/>
              </a:rPr>
              <a:t>COMPANY LANGUAGE</a:t>
            </a:r>
          </a:p>
        </p:txBody>
      </p:sp>
      <p:sp>
        <p:nvSpPr>
          <p:cNvPr id="4" name="TextBox 3"/>
          <p:cNvSpPr txBox="1"/>
          <p:nvPr/>
        </p:nvSpPr>
        <p:spPr>
          <a:xfrm>
            <a:off x="1016000" y="2908300"/>
            <a:ext cx="7620000" cy="368300"/>
          </a:xfrm>
          <a:prstGeom prst="rect">
            <a:avLst/>
          </a:prstGeom>
          <a:noFill/>
        </p:spPr>
        <p:txBody>
          <a:bodyPr wrap="square" lIns="0" rIns="0" tIns="0" bIns="0" anchor="t">
            <a:spAutoFit/>
          </a:bodyPr>
          <a:lstStyle/>
          <a:p>
            <a:pPr algn="l">
              <a:lnSpc>
                <a:spcPct val="105000"/>
              </a:lnSpc>
            </a:pPr>
            <a:r>
              <a:rPr sz="2400" b="1" i="0">
                <a:solidFill>
                  <a:srgbClr val="A8AFBC"/>
                </a:solidFill>
                <a:latin typeface="Montserrat"/>
                <a:ea typeface="Montserrat"/>
                <a:cs typeface="Montserrat"/>
              </a:rPr>
              <a:t>INDUSTRY VOCABULARY</a:t>
            </a:r>
          </a:p>
        </p:txBody>
      </p:sp>
      <p:sp>
        <p:nvSpPr>
          <p:cNvPr id="5" name="Rectangle 4"/>
          <p:cNvSpPr/>
          <p:nvPr/>
        </p:nvSpPr>
        <p:spPr>
          <a:xfrm>
            <a:off x="1016000" y="3810000"/>
            <a:ext cx="889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4191000"/>
            <a:ext cx="10287000" cy="920750"/>
          </a:xfrm>
          <a:prstGeom prst="rect">
            <a:avLst/>
          </a:prstGeom>
          <a:noFill/>
        </p:spPr>
        <p:txBody>
          <a:bodyPr wrap="square" lIns="0" rIns="0" tIns="0" bIns="0" anchor="t">
            <a:spAutoFit/>
          </a:bodyPr>
          <a:lstStyle/>
          <a:p>
            <a:pPr algn="l">
              <a:lnSpc>
                <a:spcPct val="118000"/>
              </a:lnSpc>
            </a:pPr>
            <a:r>
              <a:rPr sz="2900" b="1" i="0">
                <a:solidFill>
                  <a:srgbClr val="0F2346"/>
                </a:solidFill>
                <a:latin typeface="Montserrat"/>
                <a:ea typeface="Montserrat"/>
                <a:cs typeface="Montserrat"/>
              </a:rPr>
              <a:t>What did you notice, decide, solve,</a:t>
            </a:r>
            <a:br/>
            <a:r>
              <a:rPr sz="2900" b="1" i="0">
                <a:solidFill>
                  <a:srgbClr val="0F2346"/>
                </a:solidFill>
                <a:latin typeface="Montserrat"/>
                <a:ea typeface="Montserrat"/>
                <a:cs typeface="Montserrat"/>
              </a:rPr>
              <a:t>influence or change?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EXPLAIN THE DIRECTION</a:t>
            </a:r>
          </a:p>
        </p:txBody>
      </p:sp>
      <p:sp>
        <p:nvSpPr>
          <p:cNvPr id="6" name="TextBox 5"/>
          <p:cNvSpPr txBox="1"/>
          <p:nvPr/>
        </p:nvSpPr>
        <p:spPr>
          <a:xfrm>
            <a:off x="1320800" y="32512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PAST CHAPTERS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EXPLAIN THE DIRECTION</a:t>
            </a:r>
          </a:p>
        </p:txBody>
      </p:sp>
      <p:sp>
        <p:nvSpPr>
          <p:cNvPr id="6" name="TextBox 5"/>
          <p:cNvSpPr txBox="1"/>
          <p:nvPr/>
        </p:nvSpPr>
        <p:spPr>
          <a:xfrm>
            <a:off x="1320800" y="32512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PAST CHAPTERS</a:t>
            </a:r>
          </a:p>
        </p:txBody>
      </p:sp>
      <p:sp>
        <p:nvSpPr>
          <p:cNvPr id="7" name="Rectangle 6"/>
          <p:cNvSpPr/>
          <p:nvPr/>
        </p:nvSpPr>
        <p:spPr>
          <a:xfrm>
            <a:off x="1371600" y="3759200"/>
            <a:ext cx="19050" cy="2349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Isosceles Triangle 7"/>
          <p:cNvSpPr/>
          <p:nvPr/>
        </p:nvSpPr>
        <p:spPr>
          <a:xfrm rot="10800000">
            <a:off x="1317625" y="39941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20800" y="41783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REPEATED CAPABILITY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EXPLAIN THE DIRECTION</a:t>
            </a:r>
          </a:p>
        </p:txBody>
      </p:sp>
      <p:sp>
        <p:nvSpPr>
          <p:cNvPr id="6" name="TextBox 5"/>
          <p:cNvSpPr txBox="1"/>
          <p:nvPr/>
        </p:nvSpPr>
        <p:spPr>
          <a:xfrm>
            <a:off x="1320800" y="32512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PAST CHAPTERS</a:t>
            </a:r>
          </a:p>
        </p:txBody>
      </p:sp>
      <p:sp>
        <p:nvSpPr>
          <p:cNvPr id="7" name="Rectangle 6"/>
          <p:cNvSpPr/>
          <p:nvPr/>
        </p:nvSpPr>
        <p:spPr>
          <a:xfrm>
            <a:off x="1371600" y="3759200"/>
            <a:ext cx="19050" cy="2349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Isosceles Triangle 7"/>
          <p:cNvSpPr/>
          <p:nvPr/>
        </p:nvSpPr>
        <p:spPr>
          <a:xfrm rot="10800000">
            <a:off x="1317625" y="39941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20800" y="41783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REPEATED CAPABILITY</a:t>
            </a:r>
          </a:p>
        </p:txBody>
      </p:sp>
      <p:sp>
        <p:nvSpPr>
          <p:cNvPr id="10" name="Rectangle 9"/>
          <p:cNvSpPr/>
          <p:nvPr/>
        </p:nvSpPr>
        <p:spPr>
          <a:xfrm>
            <a:off x="1371600" y="4686300"/>
            <a:ext cx="19050" cy="2349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10800000">
            <a:off x="1317625" y="49212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20800" y="51054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NEXT VALUE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9304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51000" y="17907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My career has moved across…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9304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51000" y="17907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My career has moved across…</a:t>
            </a:r>
          </a:p>
        </p:txBody>
      </p:sp>
      <p:sp>
        <p:nvSpPr>
          <p:cNvPr id="4" name="Rectangle 3"/>
          <p:cNvSpPr/>
          <p:nvPr/>
        </p:nvSpPr>
        <p:spPr>
          <a:xfrm>
            <a:off x="1016000" y="30226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51000" y="28829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Across those chapters, I kept being asked to…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9304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51000" y="17907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My career has moved across…</a:t>
            </a:r>
          </a:p>
        </p:txBody>
      </p:sp>
      <p:sp>
        <p:nvSpPr>
          <p:cNvPr id="4" name="Rectangle 3"/>
          <p:cNvSpPr/>
          <p:nvPr/>
        </p:nvSpPr>
        <p:spPr>
          <a:xfrm>
            <a:off x="1016000" y="30226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51000" y="28829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Across those chapters, I kept being asked to…</a:t>
            </a:r>
          </a:p>
        </p:txBody>
      </p:sp>
      <p:sp>
        <p:nvSpPr>
          <p:cNvPr id="6" name="Rectangle 5"/>
          <p:cNvSpPr/>
          <p:nvPr/>
        </p:nvSpPr>
        <p:spPr>
          <a:xfrm>
            <a:off x="1016000" y="41148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51000" y="39751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That is why I am now focused 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2032000"/>
            <a:ext cx="10160000" cy="1250950"/>
          </a:xfrm>
          <a:prstGeom prst="rect">
            <a:avLst/>
          </a:prstGeom>
          <a:noFill/>
        </p:spPr>
        <p:txBody>
          <a:bodyPr wrap="square" lIns="0" rIns="0" tIns="0" bIns="0" anchor="t">
            <a:spAutoFit/>
          </a:bodyPr>
          <a:lstStyle/>
          <a:p>
            <a:pPr algn="l">
              <a:lnSpc>
                <a:spcPct val="110000"/>
              </a:lnSpc>
            </a:pPr>
            <a:r>
              <a:rPr sz="4300" b="1" i="0">
                <a:solidFill>
                  <a:srgbClr val="F5F1E8"/>
                </a:solidFill>
                <a:latin typeface="Montserrat"/>
                <a:ea typeface="Montserrat"/>
                <a:cs typeface="Montserrat"/>
              </a:rPr>
              <a:t>DO NOT INVENT</a:t>
            </a:r>
            <a:br/>
            <a:r>
              <a:rPr sz="4300" b="1" i="0">
                <a:solidFill>
                  <a:srgbClr val="F5F1E8"/>
                </a:solidFill>
                <a:latin typeface="Montserrat"/>
                <a:ea typeface="Montserrat"/>
                <a:cs typeface="Montserrat"/>
              </a:rPr>
              <a:t>A PERFECT PLAN.</a:t>
            </a:r>
          </a:p>
        </p:txBody>
      </p:sp>
      <p:sp>
        <p:nvSpPr>
          <p:cNvPr id="4" name="Rectangle 3"/>
          <p:cNvSpPr/>
          <p:nvPr/>
        </p:nvSpPr>
        <p:spPr>
          <a:xfrm>
            <a:off x="1016000" y="38481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191000"/>
            <a:ext cx="10160000" cy="933450"/>
          </a:xfrm>
          <a:prstGeom prst="rect">
            <a:avLst/>
          </a:prstGeom>
          <a:noFill/>
        </p:spPr>
        <p:txBody>
          <a:bodyPr wrap="square" lIns="0" rIns="0" tIns="0" bIns="0" anchor="t">
            <a:spAutoFit/>
          </a:bodyPr>
          <a:lstStyle/>
          <a:p>
            <a:pPr algn="l">
              <a:lnSpc>
                <a:spcPct val="132000"/>
              </a:lnSpc>
            </a:pPr>
            <a:r>
              <a:rPr sz="2300" b="0" i="0">
                <a:solidFill>
                  <a:srgbClr val="F5F1E8"/>
                </a:solidFill>
                <a:latin typeface="DM Sans"/>
                <a:ea typeface="DM Sans"/>
                <a:cs typeface="DM Sans"/>
              </a:rPr>
              <a:t>Name the constraint, experiment or redirection.</a:t>
            </a:r>
          </a:p>
          <a:p>
            <a:pPr algn="l">
              <a:lnSpc>
                <a:spcPct val="132000"/>
              </a:lnSpc>
              <a:spcBef>
                <a:spcPts val="900"/>
              </a:spcBef>
            </a:pPr>
            <a:r>
              <a:rPr sz="2300" b="0" i="0">
                <a:solidFill>
                  <a:srgbClr val="F5F1E8"/>
                </a:solidFill>
                <a:latin typeface="DM Sans"/>
                <a:ea typeface="DM Sans"/>
                <a:cs typeface="DM Sans"/>
              </a:rPr>
              <a:t>Explain what became clearer.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854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778000" y="17780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Can a stranger hear why the next move follows?</a:t>
            </a:r>
          </a:p>
        </p:txBody>
      </p:sp>
      <p:sp>
        <p:nvSpPr>
          <p:cNvPr id="4" name="Rectangle 3"/>
          <p:cNvSpPr/>
          <p:nvPr/>
        </p:nvSpPr>
        <p:spPr>
          <a:xfrm>
            <a:off x="1016000" y="26035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854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778000" y="17780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Can a stranger hear why the next move follows?</a:t>
            </a:r>
          </a:p>
        </p:txBody>
      </p:sp>
      <p:sp>
        <p:nvSpPr>
          <p:cNvPr id="4" name="Rectangle 3"/>
          <p:cNvSpPr/>
          <p:nvPr/>
        </p:nvSpPr>
        <p:spPr>
          <a:xfrm>
            <a:off x="1016000" y="26035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845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778000" y="29083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Does it show ability — not only interest?</a:t>
            </a:r>
          </a:p>
        </p:txBody>
      </p:sp>
      <p:sp>
        <p:nvSpPr>
          <p:cNvPr id="7" name="Rectangle 6"/>
          <p:cNvSpPr/>
          <p:nvPr/>
        </p:nvSpPr>
        <p:spPr>
          <a:xfrm>
            <a:off x="1016000" y="3733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854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778000" y="17780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Can a stranger hear why the next move follows?</a:t>
            </a:r>
          </a:p>
        </p:txBody>
      </p:sp>
      <p:sp>
        <p:nvSpPr>
          <p:cNvPr id="4" name="Rectangle 3"/>
          <p:cNvSpPr/>
          <p:nvPr/>
        </p:nvSpPr>
        <p:spPr>
          <a:xfrm>
            <a:off x="1016000" y="26035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845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778000" y="29083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Does it show ability — not only interest?</a:t>
            </a:r>
          </a:p>
        </p:txBody>
      </p:sp>
      <p:sp>
        <p:nvSpPr>
          <p:cNvPr id="7" name="Rectangle 6"/>
          <p:cNvSpPr/>
          <p:nvPr/>
        </p:nvSpPr>
        <p:spPr>
          <a:xfrm>
            <a:off x="1016000" y="3733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148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778000" y="40386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Is there evidence behind each verb?</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362200"/>
            <a:ext cx="9525000" cy="666750"/>
          </a:xfrm>
          <a:prstGeom prst="rect">
            <a:avLst/>
          </a:prstGeom>
          <a:noFill/>
        </p:spPr>
        <p:txBody>
          <a:bodyPr wrap="square" lIns="0" rIns="0" tIns="0" bIns="0" anchor="t">
            <a:spAutoFit/>
          </a:bodyPr>
          <a:lstStyle/>
          <a:p>
            <a:pPr algn="l">
              <a:lnSpc>
                <a:spcPct val="105000"/>
              </a:lnSpc>
            </a:pPr>
            <a:r>
              <a:rPr sz="4100" b="1" i="0">
                <a:solidFill>
                  <a:srgbClr val="F5F1E8"/>
                </a:solidFill>
                <a:latin typeface="Montserrat"/>
                <a:ea typeface="Montserrat"/>
                <a:cs typeface="Montserrat"/>
              </a:rPr>
              <a:t>FREE CAREER EVIDENCE STARTER</a:t>
            </a:r>
          </a:p>
        </p:txBody>
      </p:sp>
      <p:sp>
        <p:nvSpPr>
          <p:cNvPr id="8" name="Rectangle 7"/>
          <p:cNvSpPr/>
          <p:nvPr/>
        </p:nvSpPr>
        <p:spPr>
          <a:xfrm>
            <a:off x="1016000" y="31750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530600"/>
            <a:ext cx="9525000" cy="463550"/>
          </a:xfrm>
          <a:prstGeom prst="rect">
            <a:avLst/>
          </a:prstGeom>
          <a:noFill/>
        </p:spPr>
        <p:txBody>
          <a:bodyPr wrap="square" lIns="0" rIns="0" tIns="0" bIns="0" anchor="t">
            <a:spAutoFit/>
          </a:bodyPr>
          <a:lstStyle/>
          <a:p>
            <a:pPr algn="l">
              <a:lnSpc>
                <a:spcPct val="130000"/>
              </a:lnSpc>
            </a:pPr>
            <a:r>
              <a:rPr sz="2500" b="0" i="0">
                <a:solidFill>
                  <a:srgbClr val="F5F1E8"/>
                </a:solidFill>
                <a:latin typeface="DM Sans"/>
                <a:ea typeface="DM Sans"/>
                <a:cs typeface="DM Sans"/>
              </a:rPr>
              <a:t>ONE ACCOMPLISHMENT → ONE PORTABLE PROOF LINE</a:t>
            </a:r>
          </a:p>
        </p:txBody>
      </p:sp>
      <p:sp>
        <p:nvSpPr>
          <p:cNvPr id="10" name="TextBox 9"/>
          <p:cNvSpPr txBox="1"/>
          <p:nvPr/>
        </p:nvSpPr>
        <p:spPr>
          <a:xfrm>
            <a:off x="1016000" y="4381500"/>
            <a:ext cx="9906000" cy="533400"/>
          </a:xfrm>
          <a:prstGeom prst="rect">
            <a:avLst/>
          </a:prstGeom>
          <a:noFill/>
        </p:spPr>
        <p:txBody>
          <a:bodyPr wrap="square" lIns="0" rIns="0" tIns="0" bIns="0" anchor="t">
            <a:spAutoFit/>
          </a:bodyPr>
          <a:lstStyle/>
          <a:p>
            <a:pPr algn="l">
              <a:lnSpc>
                <a:spcPct val="115000"/>
              </a:lnSpc>
            </a:pPr>
            <a:r>
              <a:rPr sz="3100" b="1" i="0">
                <a:solidFill>
                  <a:srgbClr val="C9A84C"/>
                </a:solidFill>
                <a:latin typeface="Montserrat"/>
                <a:ea typeface="Montserrat"/>
                <a:cs typeface="Montserrat"/>
              </a:rPr>
              <a:t>temidayoafonja.com/career-evidence-starter</a:t>
            </a:r>
          </a:p>
        </p:txBody>
      </p:sp>
      <p:sp>
        <p:nvSpPr>
          <p:cNvPr id="11" name="Rectangle 10"/>
          <p:cNvSpPr/>
          <p:nvPr/>
        </p:nvSpPr>
        <p:spPr>
          <a:xfrm>
            <a:off x="1016000" y="5080000"/>
            <a:ext cx="64135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Should I Make</a:t>
            </a:r>
            <a:br/>
            <a:r>
              <a:rPr sz="3100" b="1" i="0">
                <a:solidFill>
                  <a:srgbClr val="0F2346"/>
                </a:solidFill>
                <a:latin typeface="Montserrat"/>
                <a:ea typeface="Montserrat"/>
                <a:cs typeface="Montserrat"/>
              </a:rPr>
              <a:t>an Internal Move?</a:t>
            </a:r>
            <a:br/>
            <a:r>
              <a:rPr sz="3100" b="1" i="0">
                <a:solidFill>
                  <a:srgbClr val="0F2346"/>
                </a:solidFill>
                <a:latin typeface="Montserrat"/>
                <a:ea typeface="Montserrat"/>
                <a:cs typeface="Montserrat"/>
              </a:rPr>
              <a:t>3 Questions to Decide</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685800"/>
          </a:xfrm>
          <a:prstGeom prst="rect">
            <a:avLst/>
          </a:prstGeom>
          <a:noFill/>
        </p:spPr>
        <p:txBody>
          <a:bodyPr wrap="square" lIns="0" rIns="0" tIns="0" bIns="0" anchor="t">
            <a:spAutoFit/>
          </a:bodyPr>
          <a:lstStyle/>
          <a:p>
            <a:pPr algn="l">
              <a:lnSpc>
                <a:spcPct val="132000"/>
              </a:lnSpc>
            </a:pPr>
            <a:r>
              <a:rPr sz="1900" b="1" i="0">
                <a:solidFill>
                  <a:srgbClr val="3E506B"/>
                </a:solidFill>
                <a:latin typeface="Montserrat"/>
                <a:ea typeface="Montserrat"/>
                <a:cs typeface="Montserrat"/>
              </a:rPr>
              <a:t>Playlist: Career Portability: Career Pivots,</a:t>
            </a:r>
            <a:br/>
            <a:r>
              <a:rPr sz="19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