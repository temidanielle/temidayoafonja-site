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1 of 4 — main slide 1.</a:t>
            </a:r>
          </a:p>
          <a:p>
            <a:r>
              <a:t>Timing: approximately 0:30.</a:t>
            </a:r>
          </a:p>
          <a:p>
            <a:r>
              <a:t>Slide 1 — Career Path.</a:t>
            </a:r>
          </a:p>
          <a:p>
            <a:r>
              <a:t>Cue — the line that lands on this slide: “I’m Temidayo Afonja.”</a:t>
            </a:r>
          </a:p>
          <a:p>
            <a:r>
              <a:t>Do NOT open on this slide. Begin full screen on Temidayo. The opening is four beats: the viewer's career makes sense to them, they are less sure it makes sense to anybody else, the cat-with-nine-lives joke, and the offer of three sentences.</a:t>
            </a:r>
          </a:p>
          <a:p>
            <a:r>
              <a:t>FACTUAL BOUNDARY: a senior-manager friend at EY used to joke that Temidayo was a cat with nine lives. That is the entire approved fact. Do not invent the original conversation and do not script words for the friend. The friend's pronouns are not established — the script says “they”, and captions must match.</a:t>
            </a:r>
          </a:p>
          <a:p>
            <a:r>
              <a:t>NO CAT IMAGERY. Not in the edit, not in a graphic, not in the thumbnail.</a:t>
            </a:r>
          </a:p>
          <a:p>
            <a:r>
              <a:t>This slide then carries the four chapters as chronology, plus the December 2008 accounting degree and the financial crisis, exactly as spoken.</a:t>
            </a:r>
          </a:p>
          <a:p>
            <a:r>
              <a:t>Reveal states: 4. Reveal frame 1–4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2 of 4 — main slide 1.</a:t>
            </a:r>
          </a:p>
          <a:p>
            <a:r>
              <a:t>Timing: approximately 0:30.</a:t>
            </a:r>
          </a:p>
          <a:p>
            <a:r>
              <a:t>Slide 1 — Career Path.</a:t>
            </a:r>
          </a:p>
          <a:p>
            <a:r>
              <a:t>Cue — the line that lands on this slide: “I’m Temidayo Afonja.”</a:t>
            </a:r>
          </a:p>
          <a:p>
            <a:r>
              <a:t>Do NOT open on this slide. Begin full screen on Temidayo. The opening is four beats: the viewer's career makes sense to them, they are less sure it makes sense to anybody else, the cat-with-nine-lives joke, and the offer of three sentences.</a:t>
            </a:r>
          </a:p>
          <a:p>
            <a:r>
              <a:t>FACTUAL BOUNDARY: a senior-manager friend at EY used to joke that Temidayo was a cat with nine lives. That is the entire approved fact. Do not invent the original conversation and do not script words for the friend. The friend's pronouns are not established — the script says “they”, and captions must match.</a:t>
            </a:r>
          </a:p>
          <a:p>
            <a:r>
              <a:t>NO CAT IMAGERY. Not in the edit, not in a graphic, not in the thumbnail.</a:t>
            </a:r>
          </a:p>
          <a:p>
            <a:r>
              <a:t>This slide then carries the four chapters as chronology, plus the December 2008 accounting degree and the financial crisis, exactly as spoken.</a:t>
            </a:r>
          </a:p>
          <a:p>
            <a:r>
              <a:t>Reveal states: 4. Reveal frame 1–4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3 of 4 — main slide 1.</a:t>
            </a:r>
          </a:p>
          <a:p>
            <a:r>
              <a:t>Timing: approximately 0:30.</a:t>
            </a:r>
          </a:p>
          <a:p>
            <a:r>
              <a:t>Slide 1 — Career Path.</a:t>
            </a:r>
          </a:p>
          <a:p>
            <a:r>
              <a:t>Cue — the line that lands on this slide: “I’m Temidayo Afonja.”</a:t>
            </a:r>
          </a:p>
          <a:p>
            <a:r>
              <a:t>Do NOT open on this slide. Begin full screen on Temidayo. The opening is four beats: the viewer's career makes sense to them, they are less sure it makes sense to anybody else, the cat-with-nine-lives joke, and the offer of three sentences.</a:t>
            </a:r>
          </a:p>
          <a:p>
            <a:r>
              <a:t>FACTUAL BOUNDARY: a senior-manager friend at EY used to joke that Temidayo was a cat with nine lives. That is the entire approved fact. Do not invent the original conversation and do not script words for the friend. The friend's pronouns are not established — the script says “they”, and captions must match.</a:t>
            </a:r>
          </a:p>
          <a:p>
            <a:r>
              <a:t>NO CAT IMAGERY. Not in the edit, not in a graphic, not in the thumbnail.</a:t>
            </a:r>
          </a:p>
          <a:p>
            <a:r>
              <a:t>This slide then carries the four chapters as chronology, plus the December 2008 accounting degree and the financial crisis, exactly as spoken.</a:t>
            </a:r>
          </a:p>
          <a:p>
            <a:r>
              <a:t>Reveal states: 4. Reveal frame 1–4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4 of 4 — main slide 1.</a:t>
            </a:r>
          </a:p>
          <a:p>
            <a:r>
              <a:t>Timing: approximately 0:30.</a:t>
            </a:r>
          </a:p>
          <a:p>
            <a:r>
              <a:t>Slide 1 — Career Path.</a:t>
            </a:r>
          </a:p>
          <a:p>
            <a:r>
              <a:t>Cue — the line that lands on this slide: “I’m Temidayo Afonja.”</a:t>
            </a:r>
          </a:p>
          <a:p>
            <a:r>
              <a:t>Do NOT open on this slide. Begin full screen on Temidayo. The opening is four beats: the viewer's career makes sense to them, they are less sure it makes sense to anybody else, the cat-with-nine-lives joke, and the offer of three sentences.</a:t>
            </a:r>
          </a:p>
          <a:p>
            <a:r>
              <a:t>FACTUAL BOUNDARY: a senior-manager friend at EY used to joke that Temidayo was a cat with nine lives. That is the entire approved fact. Do not invent the original conversation and do not script words for the friend. The friend's pronouns are not established — the script says “they”, and captions must match.</a:t>
            </a:r>
          </a:p>
          <a:p>
            <a:r>
              <a:t>NO CAT IMAGERY. Not in the edit, not in a graphic, not in the thumbnail.</a:t>
            </a:r>
          </a:p>
          <a:p>
            <a:r>
              <a:t>This slide then carries the four chapters as chronology, plus the December 2008 accounting degree and the financial crisis, exactly as spoken.</a:t>
            </a:r>
          </a:p>
          <a:p>
            <a:r>
              <a:t>Reveal states: 4. Reveal frame 1–4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1 of 2 — main slide 2.</a:t>
            </a:r>
          </a:p>
          <a:p>
            <a:r>
              <a:t>Timing: approximately 1:30.</a:t>
            </a:r>
          </a:p>
          <a:p>
            <a:r>
              <a:t>Slide 2 — Chronology / Portability.</a:t>
            </a:r>
          </a:p>
          <a:p>
            <a:r>
              <a:t>Cue — the line that lands on this slide: “Here is a mistake I made for years, and one I still hear often.”</a:t>
            </a:r>
          </a:p>
          <a:p>
            <a:r>
              <a:t>Chronology beside portability. Reveal chronology first, then portability.</a:t>
            </a:r>
          </a:p>
          <a:p>
            <a:r>
              <a:t>“Chronology is where you have been. Portability is what traveled with you.” This is the core interpretation of the video. Hold it.</a:t>
            </a:r>
          </a:p>
          <a:p>
            <a:r>
              <a:t>The inventing-the-plan warning is the honesty boundary arriving early. “It does not survive a follow-up question.” Keep it.</a:t>
            </a:r>
          </a:p>
          <a:p>
            <a:r>
              <a:t>No résumé-scroll animation and no timeline gag anywhere.</a:t>
            </a:r>
          </a:p>
          <a:p>
            <a:r>
              <a:t>Reveal states: 2. Reveal frame 5–6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2 of 2 — main slide 2.</a:t>
            </a:r>
          </a:p>
          <a:p>
            <a:r>
              <a:t>Timing: approximately 1:30.</a:t>
            </a:r>
          </a:p>
          <a:p>
            <a:r>
              <a:t>Slide 2 — Chronology / Portability.</a:t>
            </a:r>
          </a:p>
          <a:p>
            <a:r>
              <a:t>Cue — the line that lands on this slide: “Here is a mistake I made for years, and one I still hear often.”</a:t>
            </a:r>
          </a:p>
          <a:p>
            <a:r>
              <a:t>Chronology beside portability. Reveal chronology first, then portability.</a:t>
            </a:r>
          </a:p>
          <a:p>
            <a:r>
              <a:t>“Chronology is where you have been. Portability is what traveled with you.” This is the core interpretation of the video. Hold it.</a:t>
            </a:r>
          </a:p>
          <a:p>
            <a:r>
              <a:t>The inventing-the-plan warning is the honesty boundary arriving early. “It does not survive a follow-up question.” Keep it.</a:t>
            </a:r>
          </a:p>
          <a:p>
            <a:r>
              <a:t>No résumé-scroll animation and no timeline gag anywhere.</a:t>
            </a:r>
          </a:p>
          <a:p>
            <a:r>
              <a:t>Reveal states: 2. Reveal frame 5–6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Single-state frame — main slide 3.</a:t>
            </a:r>
          </a:p>
          <a:p>
            <a:r>
              <a:t>Timing: approximately 2:45.</a:t>
            </a:r>
          </a:p>
          <a:p>
            <a:r>
              <a:t>Slide 3 — 1 Name the Chapters Briefly.</a:t>
            </a:r>
          </a:p>
          <a:p>
            <a:r>
              <a:t>Cue — the line that lands on this slide: “Sentence one names the chapters, briefly.”</a:t>
            </a:r>
          </a:p>
          <a:p>
            <a:r>
              <a:t>Sentence one. Brief is the whole instruction — no dates, no employers, no explaining why each chapter ended.</a:t>
            </a:r>
          </a:p>
          <a:p>
            <a:r>
              <a:t>Temidayo's own version is spoken as one sentence. Put it on screen as one line, not as a list of four bullets.</a:t>
            </a:r>
          </a:p>
          <a:p>
            <a:r>
              <a:t>“Justifying in sentence one is what makes a career sound defensive.” Keep it.</a:t>
            </a:r>
          </a:p>
          <a:p>
            <a:r>
              <a:t>Single state. Reveal frame 7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1 of 5 — main slide 4.</a:t>
            </a:r>
          </a:p>
          <a:p>
            <a:r>
              <a:t>Timing: approximately 3:22.</a:t>
            </a:r>
          </a:p>
          <a:p>
            <a:r>
              <a:t>Slide 4 — 2 Find the Repeated Work.</a:t>
            </a:r>
          </a:p>
          <a:p>
            <a:r>
              <a:t>Cue — the line that lands on this slide: “Sentence two names the work that repeats underneath the chapters.”</a:t>
            </a:r>
          </a:p>
          <a:p>
            <a:r>
              <a:t>Sentence two. Section break into the harder half of the method.</a:t>
            </a:r>
          </a:p>
          <a:p>
            <a:r>
              <a:t>Reveal states: 5. Reveal frame 8–12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2 of 5 — main slide 4.</a:t>
            </a:r>
          </a:p>
          <a:p>
            <a:r>
              <a:t>Timing: approximately 3:22.</a:t>
            </a:r>
          </a:p>
          <a:p>
            <a:r>
              <a:t>Slide 4 — 2 Find the Repeated Work.</a:t>
            </a:r>
          </a:p>
          <a:p>
            <a:r>
              <a:t>Cue — the line that lands on this slide: “Sentence two names the work that repeats underneath the chapters.”</a:t>
            </a:r>
          </a:p>
          <a:p>
            <a:r>
              <a:t>Sentence two. Section break into the harder half of the method.</a:t>
            </a:r>
          </a:p>
          <a:p>
            <a:r>
              <a:t>Reveal states: 5. Reveal frame 8–12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3 of 5 — main slide 4.</a:t>
            </a:r>
          </a:p>
          <a:p>
            <a:r>
              <a:t>Timing: approximately 3:22.</a:t>
            </a:r>
          </a:p>
          <a:p>
            <a:r>
              <a:t>Slide 4 — 2 Find the Repeated Work.</a:t>
            </a:r>
          </a:p>
          <a:p>
            <a:r>
              <a:t>Cue — the line that lands on this slide: “Sentence two names the work that repeats underneath the chapters.”</a:t>
            </a:r>
          </a:p>
          <a:p>
            <a:r>
              <a:t>Sentence two. Section break into the harder half of the method.</a:t>
            </a:r>
          </a:p>
          <a:p>
            <a:r>
              <a:t>Reveal states: 5. Reveal frame 8–12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4 of 5 — main slide 4.</a:t>
            </a:r>
          </a:p>
          <a:p>
            <a:r>
              <a:t>Timing: approximately 3:22.</a:t>
            </a:r>
          </a:p>
          <a:p>
            <a:r>
              <a:t>Slide 4 — 2 Find the Repeated Work.</a:t>
            </a:r>
          </a:p>
          <a:p>
            <a:r>
              <a:t>Cue — the line that lands on this slide: “Sentence two names the work that repeats underneath the chapters.”</a:t>
            </a:r>
          </a:p>
          <a:p>
            <a:r>
              <a:t>Sentence two. Section break into the harder half of the method.</a:t>
            </a:r>
          </a:p>
          <a:p>
            <a:r>
              <a:t>Reveal states: 5. Reveal frame 8–12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5 of 5 — main slide 4.</a:t>
            </a:r>
          </a:p>
          <a:p>
            <a:r>
              <a:t>Timing: approximately 3:22.</a:t>
            </a:r>
          </a:p>
          <a:p>
            <a:r>
              <a:t>Slide 4 — 2 Find the Repeated Work.</a:t>
            </a:r>
          </a:p>
          <a:p>
            <a:r>
              <a:t>Cue — the line that lands on this slide: “Sentence two names the work that repeats underneath the chapters.”</a:t>
            </a:r>
          </a:p>
          <a:p>
            <a:r>
              <a:t>Sentence two. Section break into the harder half of the method.</a:t>
            </a:r>
          </a:p>
          <a:p>
            <a:r>
              <a:t>Reveal states: 5. Reveal frame 8–12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1 of 2 — main slide 5.</a:t>
            </a:r>
          </a:p>
          <a:p>
            <a:r>
              <a:t>Timing: approximately 3:26.</a:t>
            </a:r>
          </a:p>
          <a:p>
            <a:r>
              <a:t>Slide 5 — Look Beneath the Nouns.</a:t>
            </a:r>
          </a:p>
          <a:p>
            <a:r>
              <a:t>Cue — the line that lands on this slide: “This is the sentence that does the real work, and it is the one most of us have never written down.”</a:t>
            </a:r>
          </a:p>
          <a:p>
            <a:r>
              <a:t>The nouns that hide the work. Reveal the prompts one at a time.</a:t>
            </a:r>
          </a:p>
          <a:p>
            <a:r>
              <a:t>Temidayo's own sentence two is spoken in full and is the model for the exercise. Put it on screen verbatim if anything at all.</a:t>
            </a:r>
          </a:p>
          <a:p>
            <a:r>
              <a:t>The closing warning is the part that keeps people honest: sentence two usually comes out smaller and more ordinary than expected, and that is correct. Do not cut it — without it the exercise produces inflated language.</a:t>
            </a:r>
          </a:p>
          <a:p>
            <a:r>
              <a:t>Reveal states: 2. Reveal frame 13–14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2 of 2 — main slide 5.</a:t>
            </a:r>
          </a:p>
          <a:p>
            <a:r>
              <a:t>Timing: approximately 3:26.</a:t>
            </a:r>
          </a:p>
          <a:p>
            <a:r>
              <a:t>Slide 5 — Look Beneath the Nouns.</a:t>
            </a:r>
          </a:p>
          <a:p>
            <a:r>
              <a:t>Cue — the line that lands on this slide: “This is the sentence that does the real work, and it is the one most of us have never written down.”</a:t>
            </a:r>
          </a:p>
          <a:p>
            <a:r>
              <a:t>The nouns that hide the work. Reveal the prompts one at a time.</a:t>
            </a:r>
          </a:p>
          <a:p>
            <a:r>
              <a:t>Temidayo's own sentence two is spoken in full and is the model for the exercise. Put it on screen verbatim if anything at all.</a:t>
            </a:r>
          </a:p>
          <a:p>
            <a:r>
              <a:t>The closing warning is the part that keeps people honest: sentence two usually comes out smaller and more ordinary than expected, and that is correct. Do not cut it — without it the exercise produces inflated language.</a:t>
            </a:r>
          </a:p>
          <a:p>
            <a:r>
              <a:t>Reveal states: 2. Reveal frame 13–14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1 of 3 — main slide 6.</a:t>
            </a:r>
          </a:p>
          <a:p>
            <a:r>
              <a:t>Timing: approximately 5:04.</a:t>
            </a:r>
          </a:p>
          <a:p>
            <a:r>
              <a:t>Slide 6 — 3 Explain the Direction.</a:t>
            </a:r>
          </a:p>
          <a:p>
            <a:r>
              <a:t>Cue — the line that lands on this slide: “Sentence three explains why the next direction follows.”</a:t>
            </a:r>
          </a:p>
          <a:p>
            <a:r>
              <a:t>Sentence three. Forward-facing, not a justification of the last move.</a:t>
            </a:r>
          </a:p>
          <a:p>
            <a:r>
              <a:t>Reveal states: 3. Reveal frame 15–17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2 of 3 — main slide 6.</a:t>
            </a:r>
          </a:p>
          <a:p>
            <a:r>
              <a:t>Timing: approximately 5:04.</a:t>
            </a:r>
          </a:p>
          <a:p>
            <a:r>
              <a:t>Slide 6 — 3 Explain the Direction.</a:t>
            </a:r>
          </a:p>
          <a:p>
            <a:r>
              <a:t>Cue — the line that lands on this slide: “Sentence three explains why the next direction follows.”</a:t>
            </a:r>
          </a:p>
          <a:p>
            <a:r>
              <a:t>Sentence three. Forward-facing, not a justification of the last move.</a:t>
            </a:r>
          </a:p>
          <a:p>
            <a:r>
              <a:t>Reveal states: 3. Reveal frame 15–17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3 of 3 — main slide 6.</a:t>
            </a:r>
          </a:p>
          <a:p>
            <a:r>
              <a:t>Timing: approximately 5:04.</a:t>
            </a:r>
          </a:p>
          <a:p>
            <a:r>
              <a:t>Slide 6 — 3 Explain the Direction.</a:t>
            </a:r>
          </a:p>
          <a:p>
            <a:r>
              <a:t>Cue — the line that lands on this slide: “Sentence three explains why the next direction follows.”</a:t>
            </a:r>
          </a:p>
          <a:p>
            <a:r>
              <a:t>Sentence three. Forward-facing, not a justification of the last move.</a:t>
            </a:r>
          </a:p>
          <a:p>
            <a:r>
              <a:t>Reveal states: 3. Reveal frame 15–17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1 of 3 — main slide 7.</a:t>
            </a:r>
          </a:p>
          <a:p>
            <a:r>
              <a:t>Timing: approximately 5:08.</a:t>
            </a:r>
          </a:p>
          <a:p>
            <a:r>
              <a:t>Slide 7 — Three-Sentence Structure.</a:t>
            </a:r>
          </a:p>
          <a:p>
            <a:r>
              <a:t>Cue — the line that lands on this slide: “Not why the last move happened.”</a:t>
            </a:r>
          </a:p>
          <a:p>
            <a:r>
              <a:t>The three sentence stems together for the first time. Reveal in order.</a:t>
            </a:r>
          </a:p>
          <a:p>
            <a:r>
              <a:t>“Say it in about forty seconds, and then stop talking.” The stopping is teaching, not a throwaway. Give it a beat.</a:t>
            </a:r>
          </a:p>
          <a:p>
            <a:r>
              <a:t>Reveal states: 3. Reveal frame 18–20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2 of 3 — main slide 7.</a:t>
            </a:r>
          </a:p>
          <a:p>
            <a:r>
              <a:t>Timing: approximately 5:08.</a:t>
            </a:r>
          </a:p>
          <a:p>
            <a:r>
              <a:t>Slide 7 — Three-Sentence Structure.</a:t>
            </a:r>
          </a:p>
          <a:p>
            <a:r>
              <a:t>Cue — the line that lands on this slide: “Not why the last move happened.”</a:t>
            </a:r>
          </a:p>
          <a:p>
            <a:r>
              <a:t>The three sentence stems together for the first time. Reveal in order.</a:t>
            </a:r>
          </a:p>
          <a:p>
            <a:r>
              <a:t>“Say it in about forty seconds, and then stop talking.” The stopping is teaching, not a throwaway. Give it a beat.</a:t>
            </a:r>
          </a:p>
          <a:p>
            <a:r>
              <a:t>Reveal states: 3. Reveal frame 18–20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3 of 3 — main slide 7.</a:t>
            </a:r>
          </a:p>
          <a:p>
            <a:r>
              <a:t>Timing: approximately 5:08.</a:t>
            </a:r>
          </a:p>
          <a:p>
            <a:r>
              <a:t>Slide 7 — Three-Sentence Structure.</a:t>
            </a:r>
          </a:p>
          <a:p>
            <a:r>
              <a:t>Cue — the line that lands on this slide: “Not why the last move happened.”</a:t>
            </a:r>
          </a:p>
          <a:p>
            <a:r>
              <a:t>The three sentence stems together for the first time. Reveal in order.</a:t>
            </a:r>
          </a:p>
          <a:p>
            <a:r>
              <a:t>“Say it in about forty seconds, and then stop talking.” The stopping is teaching, not a throwaway. Give it a beat.</a:t>
            </a:r>
          </a:p>
          <a:p>
            <a:r>
              <a:t>Reveal states: 3. Reveal frame 18–20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Single-state frame — main slide 8.</a:t>
            </a:r>
          </a:p>
          <a:p>
            <a:r>
              <a:t>Timing: approximately 5:56.</a:t>
            </a:r>
          </a:p>
          <a:p>
            <a:r>
              <a:t>Slide 8 — Do Not Invent a Perfect Plan.</a:t>
            </a:r>
          </a:p>
          <a:p>
            <a:r>
              <a:t>Cue — the line that lands on this slide: “Now the honesty boundary, because this is where it goes wrong.”</a:t>
            </a:r>
          </a:p>
          <a:p>
            <a:r>
              <a:t>The honesty boundary in full, and the most important slide in the video.</a:t>
            </a:r>
          </a:p>
          <a:p>
            <a:r>
              <a:t>Do not claim every move was intentional. Do not claim everything transferred. Both are said out loud, and both must stay.</a:t>
            </a:r>
          </a:p>
          <a:p>
            <a:r>
              <a:t>APPROVED RELEARNING FACTS: went back to school; prepared for a professional certification and did not pass it first time. No further detail, no employer, no dates beyond December 2008.</a:t>
            </a:r>
          </a:p>
          <a:p>
            <a:r>
              <a:t>Nothing in the edit may make a nonlinear career look like a failure.</a:t>
            </a:r>
          </a:p>
          <a:p>
            <a:r>
              <a:t>Single state. Reveal frame 21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1 of 3 — main slide 9.</a:t>
            </a:r>
          </a:p>
          <a:p>
            <a:r>
              <a:t>Timing: approximately 6:59.</a:t>
            </a:r>
          </a:p>
          <a:p>
            <a:r>
              <a:t>Slide 9 — Explanation Test.</a:t>
            </a:r>
          </a:p>
          <a:p>
            <a:r>
              <a:t>Cue — the line that lands on this slide: “Here is how to test it before you need it.”</a:t>
            </a:r>
          </a:p>
          <a:p>
            <a:r>
              <a:t>The test: say the three sentences out loud to someone outside your field, then ask what they think you are good at.</a:t>
            </a:r>
          </a:p>
          <a:p>
            <a:r>
              <a:t>Reveal the two possible answers — a list of industries, or a kind of problem.</a:t>
            </a:r>
          </a:p>
          <a:p>
            <a:r>
              <a:t>THE IDENTITY EXIT sits at the end of this slide: describing a career that did not go in a straight line without apologizing for it, and without inventing a plan you were never running. It is the point of the video. If the edit runs long, cut something else.</a:t>
            </a:r>
          </a:p>
          <a:p>
            <a:r>
              <a:t>Reveal states: 3. Reveal frame 22–24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2 of 3 — main slide 9.</a:t>
            </a:r>
          </a:p>
          <a:p>
            <a:r>
              <a:t>Timing: approximately 6:59.</a:t>
            </a:r>
          </a:p>
          <a:p>
            <a:r>
              <a:t>Slide 9 — Explanation Test.</a:t>
            </a:r>
          </a:p>
          <a:p>
            <a:r>
              <a:t>Cue — the line that lands on this slide: “Here is how to test it before you need it.”</a:t>
            </a:r>
          </a:p>
          <a:p>
            <a:r>
              <a:t>The test: say the three sentences out loud to someone outside your field, then ask what they think you are good at.</a:t>
            </a:r>
          </a:p>
          <a:p>
            <a:r>
              <a:t>Reveal the two possible answers — a list of industries, or a kind of problem.</a:t>
            </a:r>
          </a:p>
          <a:p>
            <a:r>
              <a:t>THE IDENTITY EXIT sits at the end of this slide: describing a career that did not go in a straight line without apologizing for it, and without inventing a plan you were never running. It is the point of the video. If the edit runs long, cut something else.</a:t>
            </a:r>
          </a:p>
          <a:p>
            <a:r>
              <a:t>Reveal states: 3. Reveal frame 22–24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frame 3 of 3 — main slide 9.</a:t>
            </a:r>
          </a:p>
          <a:p>
            <a:r>
              <a:t>Timing: approximately 6:59.</a:t>
            </a:r>
          </a:p>
          <a:p>
            <a:r>
              <a:t>Slide 9 — Explanation Test.</a:t>
            </a:r>
          </a:p>
          <a:p>
            <a:r>
              <a:t>Cue — the line that lands on this slide: “Here is how to test it before you need it.”</a:t>
            </a:r>
          </a:p>
          <a:p>
            <a:r>
              <a:t>The test: say the three sentences out loud to someone outside your field, then ask what they think you are good at.</a:t>
            </a:r>
          </a:p>
          <a:p>
            <a:r>
              <a:t>Reveal the two possible answers — a list of industries, or a kind of problem.</a:t>
            </a:r>
          </a:p>
          <a:p>
            <a:r>
              <a:t>THE IDENTITY EXIT sits at the end of this slide: describing a career that did not go in a straight line without apologizing for it, and without inventing a plan you were never running. It is the point of the video. If the edit runs long, cut something else.</a:t>
            </a:r>
          </a:p>
          <a:p>
            <a:r>
              <a:t>Reveal states: 3. Reveal frame 22–24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Single-state frame — main slide 10.</a:t>
            </a:r>
          </a:p>
          <a:p>
            <a:r>
              <a:t>Timing: approximately 8:16.</a:t>
            </a:r>
          </a:p>
          <a:p>
            <a:r>
              <a:t>Slide 10 — Career Evidence Starter.</a:t>
            </a:r>
          </a:p>
          <a:p>
            <a:r>
              <a:t>Cue — the line that lands on this slide: “Sentence two is the hard one, and it goes much better when you have real evidence in front of you instead of trying to remember.”</a:t>
            </a:r>
          </a:p>
          <a:p>
            <a:r>
              <a:t>Show the REAL Career Evidence Starter artifact briefly. Use the public landing-page URL only — do not expose a direct PDF link.</a:t>
            </a:r>
          </a:p>
          <a:p>
            <a:r>
              <a:t>The Starter is the only CTA in this video. Keep the Proof is NOT restored. Do not add the Field Kit.</a:t>
            </a:r>
          </a:p>
          <a:p>
            <a:r>
              <a:t>Single state. Reveal frame 25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Single-state frame — main slide 11.</a:t>
            </a:r>
          </a:p>
          <a:p>
            <a:r>
              <a:t>Timing: approximately 8:44.</a:t>
            </a:r>
          </a:p>
          <a:p>
            <a:r>
              <a:t>Slide 11 — Watch Next.</a:t>
            </a:r>
          </a:p>
          <a:p>
            <a:r>
              <a:t>Cue — the line that lands on this slide: “And there is a version of this question that arrives before you ever explain anything to an outsider.”</a:t>
            </a:r>
          </a:p>
          <a:p>
            <a:r>
              <a:t>The Video 5 route. Card reads “Should I Make an Internal Move? 3 Questions to Decide”.</a:t>
            </a:r>
          </a:p>
          <a:p>
            <a:r>
              <a:t>Sign off clean on the last two lines. No music sting.</a:t>
            </a:r>
          </a:p>
          <a:p>
            <a:r>
              <a:t>Single state. Reveal frame 26 in the build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0800" y="14732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0800" y="14732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193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1317625" y="22796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0800" y="24638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0800" y="14732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193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1317625" y="22796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0800" y="24638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0099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1317625" y="32702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0800" y="34544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0800" y="14732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193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1317625" y="22796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0800" y="24638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0099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1317625" y="32702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0800" y="34544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000500"/>
            <a:ext cx="19050" cy="2603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1317625" y="42608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0800" y="4445000"/>
            <a:ext cx="9525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ENTERPRISE TRANSFORMATION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800" y="54356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0800" y="5715000"/>
            <a:ext cx="990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TITLES CHANGED. THE CAPABILITY KEPT ACCUMULATING.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6500" y="2730500"/>
            <a:ext cx="4191000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CHRONOLOGY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6500" y="3314700"/>
            <a:ext cx="10795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3644900"/>
            <a:ext cx="4191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Where you have been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6500" y="2730500"/>
            <a:ext cx="4191000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CHRONOLOGY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6500" y="3314700"/>
            <a:ext cx="10795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3644900"/>
            <a:ext cx="4191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Where you have been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4750" y="2159000"/>
            <a:ext cx="5080000" cy="2413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26250" y="2730500"/>
            <a:ext cx="4191000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PORTABILITY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26250" y="3314700"/>
            <a:ext cx="107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26250" y="3644900"/>
            <a:ext cx="4191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traveled with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NAME THE CHAPTERS — BRIEFLY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2984500"/>
            <a:ext cx="990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Roles • Functions • Industries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3594100"/>
            <a:ext cx="7620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3898900"/>
            <a:ext cx="9906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sentence, not a defense.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FIND THE REPEATED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3124200"/>
            <a:ext cx="1054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FIND THE REPEATED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3124200"/>
            <a:ext cx="1054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NOTICE • TRANSLATE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FIND THE REPEATED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3124200"/>
            <a:ext cx="1054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NOTICE • TRANSLATE • 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FIND THE REPEATED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3124200"/>
            <a:ext cx="1054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NOTICE • TRANSLATE • BUILD • DECIDE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FIND THE REPEATED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00" y="3124200"/>
            <a:ext cx="10541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NOTICE • TRANSLATE • BUILD • DECIDE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600" y="4191000"/>
            <a:ext cx="7620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4521200"/>
            <a:ext cx="1016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did people repeatedly trust you to carry?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5875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JOB TITLES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2479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COMPANY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083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INDUSTRY VOCABULARY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5875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AFBC"/>
                </a:solidFill>
                <a:latin typeface="Montserrat"/>
                <a:ea typeface="Montserrat"/>
                <a:cs typeface="Montserrat"/>
              </a:rPr>
              <a:t>JOB TITLES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2479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AFBC"/>
                </a:solidFill>
                <a:latin typeface="Montserrat"/>
                <a:ea typeface="Montserrat"/>
                <a:cs typeface="Montserrat"/>
              </a:rPr>
              <a:t>COMPANY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908300"/>
            <a:ext cx="7620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AFBC"/>
                </a:solidFill>
                <a:latin typeface="Montserrat"/>
                <a:ea typeface="Montserrat"/>
                <a:cs typeface="Montserrat"/>
              </a:rPr>
              <a:t>INDUSTRY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3810000"/>
            <a:ext cx="889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4191000"/>
            <a:ext cx="10287000" cy="92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you notice, decide, solve,</a:t>
            </a:r>
            <a:br/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influence or change?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EXPLAIN THE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0800" y="32512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PAST CHAPTERS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EXPLAIN THE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0800" y="32512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PAST CHAPTERS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759200"/>
            <a:ext cx="19050" cy="2349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317625" y="39941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0800" y="41783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REPEATED CAPABILITY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9525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3600" y="1727200"/>
            <a:ext cx="584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20320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EXPLAIN THE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0800" y="32512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PAST CHAPTERS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759200"/>
            <a:ext cx="19050" cy="2349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317625" y="39941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0800" y="41783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REPEATED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686300"/>
            <a:ext cx="19050" cy="2349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0800000">
            <a:off x="1317625" y="4921250"/>
            <a:ext cx="127000" cy="9525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0800" y="5105400"/>
            <a:ext cx="8890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NEXT VALUE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19304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1000" y="17907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career has moved across…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19304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1000" y="17907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career has moved across…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0226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51000" y="28829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Across those chapters, I kept being asked to…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19304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1000" y="17907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career has moved across…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0226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51000" y="28829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Across those chapters, I kept being asked to…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4114800"/>
            <a:ext cx="38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1000" y="39751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That is why I am now focused on…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32000"/>
            <a:ext cx="10160000" cy="1250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 NOT INVENT</a:t>
            </a:r>
            <a:br/>
            <a:r>
              <a:rPr sz="4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PERFECT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8481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191000"/>
            <a:ext cx="101600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Name the constraint, experiment or redirection.</a:t>
            </a:r>
          </a:p>
          <a:p>
            <a:pPr algn="l">
              <a:lnSpc>
                <a:spcPct val="132000"/>
              </a:lnSpc>
              <a:spcBef>
                <a:spcPts val="900"/>
              </a:spcBef>
            </a:pPr>
            <a:r>
              <a:rPr sz="23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Explain what became clearer.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8542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8000" y="17780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Can a stranger hear why the next move follows?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035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8542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8000" y="17780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Can a stranger hear why the next move follows?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035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845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8000" y="29083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Does it show ability — not only interest?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7338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8542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8000" y="17780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Can a stranger hear why the next move follows?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035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845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8000" y="29083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Does it show ability — not only interest?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7338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4114800"/>
            <a:ext cx="63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000" y="4038600"/>
            <a:ext cx="952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there evidence behind each verb?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62200"/>
            <a:ext cx="9525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FREE CAREER EVIDENCE STARTER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3175000"/>
            <a:ext cx="1905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3530600"/>
            <a:ext cx="9525000" cy="46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ONE ACCOMPLISHMENT → ONE PORTABLE PROOF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381500"/>
            <a:ext cx="9906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temidayoafonja.com/career-evidence-starter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5080000"/>
            <a:ext cx="64135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5875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006600"/>
            <a:ext cx="5969000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Should I Make</a:t>
            </a:r>
            <a:br/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 Internal Move?</a:t>
            </a:r>
            <a:br/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3 Questions to Decide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4025900"/>
            <a:ext cx="1524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356100"/>
            <a:ext cx="596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1" i="0">
                <a:solidFill>
                  <a:srgbClr val="3E506B"/>
                </a:solidFill>
                <a:latin typeface="Montserrat"/>
                <a:ea typeface="Montserrat"/>
                <a:cs typeface="Montserrat"/>
              </a:rPr>
              <a:t>Playlist: Career Portability: Career Pivots,</a:t>
            </a:r>
            <a:br/>
            <a:r>
              <a:rPr sz="1900" b="1" i="0">
                <a:solidFill>
                  <a:srgbClr val="3E506B"/>
                </a:solidFill>
                <a:latin typeface="Montserrat"/>
                <a:ea typeface="Montserrat"/>
                <a:cs typeface="Montserrat"/>
              </a:rPr>
              <a:t>Internal Moves &amp;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