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0:35 to 2:35.</a:t>
            </a:r>
          </a:p>
          <a:p/>
          <a:p>
            <a:r>
              <a:t>Begin full screen on Temidayo. This is the first teaching visual and it</a:t>
            </a:r>
          </a:p>
          <a:p>
            <a:r>
              <a:t>appears only after the viewer payoff and the early proof beat.</a:t>
            </a:r>
          </a:p>
          <a:p/>
          <a:p>
            <a:r>
              <a:t>Reveal one chapter at a time as the path is narrated, then hold the full path</a:t>
            </a:r>
          </a:p>
          <a:p>
            <a:r>
              <a:t>while the recurring work underneath is described.</a:t>
            </a:r>
          </a:p>
          <a:p/>
          <a:p>
            <a:r>
              <a:t>The footer lands last, on the complete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1:05.</a:t>
            </a:r>
          </a:p>
          <a:p/>
          <a:p>
            <a:r>
              <a:t>Two-column comparison. Chronology first, on its own, while the point about</a:t>
            </a:r>
          </a:p>
          <a:p>
            <a:r>
              <a:t>giving someone the chronology is made.</a:t>
            </a:r>
          </a:p>
          <a:p/>
          <a:p>
            <a:r>
              <a:t>Bring PORTABILITY in second and let it carry the weight. It is the half the</a:t>
            </a:r>
          </a:p>
          <a:p>
            <a:r>
              <a:t>listener is not being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2:35 to 3:35.</a:t>
            </a:r>
          </a:p>
          <a:p/>
          <a:p>
            <a:r>
              <a:t>Section break. Hold briefly, then return to presenter.</a:t>
            </a:r>
          </a:p>
          <a:p/>
          <a:p>
            <a:r>
              <a:t>The point being carried: orient the listener, do not defend every decision or</a:t>
            </a:r>
          </a:p>
          <a:p>
            <a:r>
              <a:t>recite every position. Enough chronology to establish the shape of the path,</a:t>
            </a:r>
          </a:p>
          <a:p>
            <a:r>
              <a:t>short enough that there is room left to explain what the chapters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3:35 to 5:10.</a:t>
            </a:r>
          </a:p>
          <a:p/>
          <a:p>
            <a:r>
              <a:t>Reveal the verbs one at a time as they are named. Verbs reveal portability</a:t>
            </a:r>
          </a:p>
          <a:p>
            <a:r>
              <a:t>where titles, industries and internal terminology create separation.</a:t>
            </a:r>
          </a:p>
          <a:p/>
          <a:p>
            <a:r>
              <a:t>The question lands last, after all four verbs are on screen.</a:t>
            </a:r>
          </a:p>
          <a:p/>
          <a:p>
            <a:r>
              <a:t>Each verb needs evidence. A portable capability is not a word you like; it is</a:t>
            </a:r>
          </a:p>
          <a:p>
            <a:r>
              <a:t>something your work repeatedly required you to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4:00.</a:t>
            </a:r>
          </a:p>
          <a:p/>
          <a:p>
            <a:r>
              <a:t>State one: the three nouns as they normally arrive, at full weight.</a:t>
            </a:r>
          </a:p>
          <a:p/>
          <a:p>
            <a:r>
              <a:t>State two: mute the noun list and bring the question forward. The nouns stay</a:t>
            </a:r>
          </a:p>
          <a:p>
            <a:r>
              <a:t>on screen, dimmed, so the viewer sees what is being set aside rather than</a:t>
            </a:r>
          </a:p>
          <a:p>
            <a:r>
              <a:t>watching it disappear.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5:10 to 6:45.</a:t>
            </a:r>
          </a:p>
          <a:p/>
          <a:p>
            <a:r>
              <a:t>Simple directional build, one stage at a time.</a:t>
            </a:r>
          </a:p>
          <a:p/>
          <a:p>
            <a:r>
              <a:t>The third part is to explain why the work you want next follows from what you</a:t>
            </a:r>
          </a:p>
          <a:p>
            <a:r>
              <a:t>have already built. This is the shape of that argument, nothing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5:30.</a:t>
            </a:r>
          </a:p>
          <a:p/>
          <a:p>
            <a:r>
              <a:t>Reveal one sentence stem at a time.</a:t>
            </a:r>
          </a:p>
          <a:p/>
          <a:p>
            <a:r>
              <a:t>This is an editing frame, not a script to memorise. It keeps the speaker from</a:t>
            </a:r>
          </a:p>
          <a:p>
            <a:r>
              <a:t>spending three minutes on chronology and ten seconds on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6:45 to 7:35.</a:t>
            </a:r>
          </a:p>
          <a:p/>
          <a:p>
            <a:r>
              <a:t>Use this slide full screen briefly, then return to Temidayo.</a:t>
            </a:r>
          </a:p>
          <a:p/>
          <a:p>
            <a:r>
              <a:t>Coherence is not the same as claiming every move was strategic. A truthful</a:t>
            </a:r>
          </a:p>
          <a:p>
            <a:r>
              <a:t>explanation can include interruption and redirection. The goal is not to make</a:t>
            </a:r>
          </a:p>
          <a:p>
            <a:r>
              <a:t>the career look linear. The goal is to make the formation legible.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8:05.</a:t>
            </a:r>
          </a:p>
          <a:p/>
          <a:p>
            <a:r>
              <a:t>Progressive reveal with a brief pause between questions so each one can be</a:t>
            </a:r>
          </a:p>
          <a:p>
            <a:r>
              <a:t>answered before the next arrives.</a:t>
            </a:r>
          </a:p>
          <a:p/>
          <a:p>
            <a:r>
              <a:t>If the answer to any of them is no, the career may not be the problem. The</a:t>
            </a:r>
          </a:p>
          <a:p>
            <a:r>
              <a:t>explanation may still be carrying too much chronology and not enough</a:t>
            </a:r>
          </a:p>
          <a:p>
            <a:r>
              <a:t>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8:38.</a:t>
            </a:r>
          </a:p>
          <a:p/>
          <a:p>
            <a:r>
              <a:t>Simple CTA card. No competing offer on screen.</a:t>
            </a:r>
          </a:p>
          <a:p/>
          <a:p>
            <a:r>
              <a:t>Keep the Proof does not decide the next move. It preserves what will be needed</a:t>
            </a:r>
          </a:p>
          <a:p>
            <a:r>
              <a:t>to explain the value once the context changes.</a:t>
            </a:r>
          </a:p>
          <a:p/>
          <a:p>
            <a:r>
              <a:t>ROUTE CHECK: temidayoafonja.com/keep-the-proof must resolve before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final 15 to 20 seconds.</a:t>
            </a:r>
          </a:p>
          <a:p/>
          <a:p>
            <a:r>
              <a:t>Watch next: Should I Make an Internal Move? 3 Questions to Decide.</a:t>
            </a:r>
          </a:p>
          <a:p/>
          <a:p>
            <a:r>
              <a:t>All content is held left of x=1130 so the right side stays clear for YouTube</a:t>
            </a:r>
          </a:p>
          <a:p>
            <a:r>
              <a:t>end-screen elements.</a:t>
            </a:r>
          </a:p>
          <a:p/>
          <a:p>
            <a:r>
              <a:t>Closing line: your career does not need to look linear to be coherent, but you</a:t>
            </a:r>
          </a:p>
          <a:p>
            <a:r>
              <a:t>do have to make the continuity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800" y="14732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93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317625" y="22796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0800" y="24638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0099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317625" y="32702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0800" y="34544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0005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317625" y="42608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0800" y="44450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ENTERPRISE TRANSFORMATION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800" y="54356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0800" y="5715000"/>
            <a:ext cx="990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TITLES CHANGED. THE CAPABILITY KEPT ACCUMULATING.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6500" y="2730500"/>
            <a:ext cx="4191000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CHRONOLOGY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6500" y="3314700"/>
            <a:ext cx="10795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3644900"/>
            <a:ext cx="4191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you have been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4750" y="2159000"/>
            <a:ext cx="5080000" cy="2413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26250" y="2730500"/>
            <a:ext cx="4191000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PORTABILITY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26250" y="3314700"/>
            <a:ext cx="107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26250" y="3644900"/>
            <a:ext cx="4191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traveled with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THE CHAPTERS — BRIEFLY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2984500"/>
            <a:ext cx="990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Roles • Functions •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594100"/>
            <a:ext cx="7620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898900"/>
            <a:ext cx="9906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sentence, not a defense.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FIND THE REPEATED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124200"/>
            <a:ext cx="1054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NOTICE • TRANSLATE • BUILD • DECIDE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4191000"/>
            <a:ext cx="7620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4521200"/>
            <a:ext cx="1016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did people repeatedly trust you to carry?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AFBC"/>
                </a:solidFill>
                <a:latin typeface="Montserrat"/>
                <a:ea typeface="Montserrat"/>
                <a:cs typeface="Montserrat"/>
              </a:rPr>
              <a:t>JOB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2479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AFBC"/>
                </a:solidFill>
                <a:latin typeface="Montserrat"/>
                <a:ea typeface="Montserrat"/>
                <a:cs typeface="Montserrat"/>
              </a:rPr>
              <a:t>COMPANY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083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AFBC"/>
                </a:solidFill>
                <a:latin typeface="Montserrat"/>
                <a:ea typeface="Montserrat"/>
                <a:cs typeface="Montserrat"/>
              </a:rPr>
              <a:t>INDUSTRY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3810000"/>
            <a:ext cx="889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4191000"/>
            <a:ext cx="10287000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you notice, decide, solve,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influence or change?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EXPLAIN THE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800" y="32512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PAST CHAPTERS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59200"/>
            <a:ext cx="19050" cy="2349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317625" y="39941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0800" y="41783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REPEATED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686300"/>
            <a:ext cx="19050" cy="2349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0800000">
            <a:off x="1317625" y="49212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0800" y="51054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NEXT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19304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1000" y="17907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career has moved across…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0226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51000" y="28829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Across those chapters, I kept being asked 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41148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1000" y="39751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That is why I am now focused on…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32000"/>
            <a:ext cx="10160000" cy="1250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 INVENT</a:t>
            </a:r>
            <a:br/>
            <a:r>
              <a:rPr sz="4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PERFECT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8481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191000"/>
            <a:ext cx="101600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Name the constraint, experiment or redirection.</a:t>
            </a:r>
          </a:p>
          <a:p>
            <a:pPr algn="l">
              <a:lnSpc>
                <a:spcPct val="132000"/>
              </a:lnSpc>
              <a:spcBef>
                <a:spcPts val="900"/>
              </a:spcBef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Explain what became clearer.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8542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000" y="17780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Can a stranger hear why the next move follows?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035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845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8000" y="29083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Does it show ability — not only interest?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338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1148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40386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there evidence behind each verb?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6220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KEEP THE PROOF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31750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3530600"/>
            <a:ext cx="9525000" cy="46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A 60-Minute Career Evidence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81500"/>
            <a:ext cx="9906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5080000"/>
            <a:ext cx="64135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006600"/>
            <a:ext cx="5969000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Should I Make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 Internal Move?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3 Questions to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025900"/>
            <a:ext cx="1524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356100"/>
            <a:ext cx="596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Playlist: Career Portability: Career Pivots,</a:t>
            </a:r>
            <a:br/>
            <a:r>
              <a:rPr sz="19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Internal Moves &amp;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