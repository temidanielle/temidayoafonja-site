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0:25.</a:t>
            </a:r>
          </a:p>
          <a:p/>
          <a:p>
            <a:r>
              <a:t>Begin full screen on Temidayo. This is the first teaching visual and it lands</a:t>
            </a:r>
          </a:p>
          <a:p>
            <a:r>
              <a:t>only after the opening promise.</a:t>
            </a:r>
          </a:p>
          <a:p/>
          <a:p>
            <a:r>
              <a:t>State one holds the main statement. Reveal the second line after the first</a:t>
            </a:r>
          </a:p>
          <a:p>
            <a:r>
              <a:t>statement has been made.</a:t>
            </a:r>
          </a:p>
          <a:p/>
          <a:p>
            <a:r>
              <a:t>The not-equal sign is drawn rather than typeset: no brand font contains that</a:t>
            </a:r>
          </a:p>
          <a:p>
            <a:r>
              <a:t>glyph.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0:25.</a:t>
            </a:r>
          </a:p>
          <a:p/>
          <a:p>
            <a:r>
              <a:t>Begin full screen on Temidayo. This is the first teaching visual and it lands</a:t>
            </a:r>
          </a:p>
          <a:p>
            <a:r>
              <a:t>only after the opening promise.</a:t>
            </a:r>
          </a:p>
          <a:p/>
          <a:p>
            <a:r>
              <a:t>State one holds the main statement. Reveal the second line after the first</a:t>
            </a:r>
          </a:p>
          <a:p>
            <a:r>
              <a:t>statement has been made.</a:t>
            </a:r>
          </a:p>
          <a:p/>
          <a:p>
            <a:r>
              <a:t>The not-equal sign is drawn rather than typeset: no brand font contains that</a:t>
            </a:r>
          </a:p>
          <a:p>
            <a:r>
              <a:t>glyph.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0:38.</a:t>
            </a:r>
          </a:p>
          <a:p/>
          <a:p>
            <a:r>
              <a:t>Reveal one question at a time as each is named. These are the three tests the</a:t>
            </a:r>
          </a:p>
          <a:p>
            <a:r>
              <a:t>whole video runs on, so let each land before the next arrives.</a:t>
            </a:r>
          </a:p>
          <a:p/>
          <a:p>
            <a:r>
              <a:t>Do not put the answers here. The questions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0:38.</a:t>
            </a:r>
          </a:p>
          <a:p/>
          <a:p>
            <a:r>
              <a:t>Reveal one question at a time as each is named. These are the three tests the</a:t>
            </a:r>
          </a:p>
          <a:p>
            <a:r>
              <a:t>whole video runs on, so let each land before the next arrives.</a:t>
            </a:r>
          </a:p>
          <a:p/>
          <a:p>
            <a:r>
              <a:t>Do not put the answers here. The questions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0:38.</a:t>
            </a:r>
          </a:p>
          <a:p/>
          <a:p>
            <a:r>
              <a:t>Reveal one question at a time as each is named. These are the three tests the</a:t>
            </a:r>
          </a:p>
          <a:p>
            <a:r>
              <a:t>whole video runs on, so let each land before the next arrives.</a:t>
            </a:r>
          </a:p>
          <a:p/>
          <a:p>
            <a:r>
              <a:t>Do not put the answers here. The questions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 to 4:40.</a:t>
            </a:r>
          </a:p>
          <a:p/>
          <a:p>
            <a:r>
              <a:t>Section break. Hold briefly, then return to presenter.</a:t>
            </a:r>
          </a:p>
          <a:p/>
          <a:p>
            <a:r>
              <a:t>The point being carried: do not begin with the title. Ask what will actually be</a:t>
            </a:r>
          </a:p>
          <a:p>
            <a:r>
              <a:t>different on an ordinary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Reveal one line at a time as each is named.</a:t>
            </a:r>
          </a:p>
          <a:p/>
          <a:p>
            <a:r>
              <a:t>These are the four things to look for before calling a move real access. If</a:t>
            </a:r>
          </a:p>
          <a:p>
            <a:r>
              <a:t>none of them can be named, the first answer may be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Reveal one line at a time as each is named.</a:t>
            </a:r>
          </a:p>
          <a:p/>
          <a:p>
            <a:r>
              <a:t>These are the four things to look for before calling a move real access. If</a:t>
            </a:r>
          </a:p>
          <a:p>
            <a:r>
              <a:t>none of them can be named, the first answer may be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Reveal one line at a time as each is named.</a:t>
            </a:r>
          </a:p>
          <a:p/>
          <a:p>
            <a:r>
              <a:t>These are the four things to look for before calling a move real access. If</a:t>
            </a:r>
          </a:p>
          <a:p>
            <a:r>
              <a:t>none of them can be named, the first answer may be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Reveal one line at a time as each is named.</a:t>
            </a:r>
          </a:p>
          <a:p/>
          <a:p>
            <a:r>
              <a:t>These are the four things to look for before calling a move real access. If</a:t>
            </a:r>
          </a:p>
          <a:p>
            <a:r>
              <a:t>none of them can be named, the first answer may be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4:40 to 6:45.</a:t>
            </a:r>
          </a:p>
          <a:p/>
          <a:p>
            <a:r>
              <a:t>Section break.</a:t>
            </a:r>
          </a:p>
          <a:p/>
          <a:p>
            <a:r>
              <a:t>This is where more responsibility can be misleading. More volume is not more</a:t>
            </a:r>
          </a:p>
          <a:p>
            <a:r>
              <a:t>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5:05.</a:t>
            </a:r>
          </a:p>
          <a:p/>
          <a:p>
            <a:r>
              <a:t>Show MORE TASKS first, on its own, while the point about volume is made.</a:t>
            </a:r>
          </a:p>
          <a:p/>
          <a:p>
            <a:r>
              <a:t>Then contrast with MORE JUDGMENT and let it carry the weight. Neither example</a:t>
            </a:r>
          </a:p>
          <a:p>
            <a:r>
              <a:t>makes the operational task unimportant. The distinction is what the work is</a:t>
            </a:r>
          </a:p>
          <a:p>
            <a:r>
              <a:t>forming.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5:05.</a:t>
            </a:r>
          </a:p>
          <a:p/>
          <a:p>
            <a:r>
              <a:t>Show MORE TASKS first, on its own, while the point about volume is made.</a:t>
            </a:r>
          </a:p>
          <a:p/>
          <a:p>
            <a:r>
              <a:t>Then contrast with MORE JUDGMENT and let it carry the weight. Neither example</a:t>
            </a:r>
          </a:p>
          <a:p>
            <a:r>
              <a:t>makes the operational task unimportant. The distinction is what the work is</a:t>
            </a:r>
          </a:p>
          <a:p>
            <a:r>
              <a:t>forming.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6:45 to 8:50.</a:t>
            </a:r>
          </a:p>
          <a:p/>
          <a:p>
            <a:r>
              <a:t>Section break.</a:t>
            </a:r>
          </a:p>
          <a:p/>
          <a:p>
            <a:r>
              <a:t>Internal credibility can be powerful inside one company and almost invisible</a:t>
            </a:r>
          </a:p>
          <a:p>
            <a:r>
              <a:t>outside it. Portable evidence does not mean taking confidential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7:30.</a:t>
            </a:r>
          </a:p>
          <a:p/>
          <a:p>
            <a:r>
              <a:t>Reveal Result, Judgment and Range sequentially.</a:t>
            </a:r>
          </a:p>
          <a:p/>
          <a:p>
            <a:r>
              <a:t>A move becomes more portable when it creates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7:30.</a:t>
            </a:r>
          </a:p>
          <a:p/>
          <a:p>
            <a:r>
              <a:t>Reveal Result, Judgment and Range sequentially.</a:t>
            </a:r>
          </a:p>
          <a:p/>
          <a:p>
            <a:r>
              <a:t>A move becomes more portable when it creates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7:30.</a:t>
            </a:r>
          </a:p>
          <a:p/>
          <a:p>
            <a:r>
              <a:t>Reveal Result, Judgment and Range sequentially.</a:t>
            </a:r>
          </a:p>
          <a:p/>
          <a:p>
            <a:r>
              <a:t>A move becomes more portable when it creates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8:50.</a:t>
            </a:r>
          </a:p>
          <a:p/>
          <a:p>
            <a:r>
              <a:t>Reveal rows one at a time.</a:t>
            </a:r>
          </a:p>
          <a:p/>
          <a:p>
            <a:r>
              <a:t>Two yeses is not a rejection. Identify the missing dimension and investigate</a:t>
            </a:r>
          </a:p>
          <a:p>
            <a:r>
              <a:t>whether it can be designed into the move.</a:t>
            </a:r>
          </a:p>
          <a:p/>
          <a:p>
            <a:r>
              <a:t>Zero or one yes may still be the right choice for pay, flexibility, stability</a:t>
            </a:r>
          </a:p>
          <a:p>
            <a:r>
              <a:t>or a better manager. Just not a formation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8:50.</a:t>
            </a:r>
          </a:p>
          <a:p/>
          <a:p>
            <a:r>
              <a:t>Reveal rows one at a time.</a:t>
            </a:r>
          </a:p>
          <a:p/>
          <a:p>
            <a:r>
              <a:t>Two yeses is not a rejection. Identify the missing dimension and investigate</a:t>
            </a:r>
          </a:p>
          <a:p>
            <a:r>
              <a:t>whether it can be designed into the move.</a:t>
            </a:r>
          </a:p>
          <a:p/>
          <a:p>
            <a:r>
              <a:t>Zero or one yes may still be the right choice for pay, flexibility, stability</a:t>
            </a:r>
          </a:p>
          <a:p>
            <a:r>
              <a:t>or a better manager. Just not a formation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8:50.</a:t>
            </a:r>
          </a:p>
          <a:p/>
          <a:p>
            <a:r>
              <a:t>Reveal rows one at a time.</a:t>
            </a:r>
          </a:p>
          <a:p/>
          <a:p>
            <a:r>
              <a:t>Two yeses is not a rejection. Identify the missing dimension and investigate</a:t>
            </a:r>
          </a:p>
          <a:p>
            <a:r>
              <a:t>whether it can be designed into the move.</a:t>
            </a:r>
          </a:p>
          <a:p/>
          <a:p>
            <a:r>
              <a:t>Zero or one yes may still be the right choice for pay, flexibility, stability</a:t>
            </a:r>
          </a:p>
          <a:p>
            <a:r>
              <a:t>or a better manager. Just not a formation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9:30.</a:t>
            </a:r>
          </a:p>
          <a:p/>
          <a:p>
            <a:r>
              <a:t>Progressive reveal, one prompt at a time.</a:t>
            </a:r>
          </a:p>
          <a:p/>
          <a:p>
            <a:r>
              <a:t>These are for the internal hiring conversation. Listen for concrete work, not</a:t>
            </a:r>
          </a:p>
          <a:p>
            <a:r>
              <a:t>encouraging adjectives.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9:30.</a:t>
            </a:r>
          </a:p>
          <a:p/>
          <a:p>
            <a:r>
              <a:t>Progressive reveal, one prompt at a time.</a:t>
            </a:r>
          </a:p>
          <a:p/>
          <a:p>
            <a:r>
              <a:t>These are for the internal hiring conversation. Listen for concrete work, not</a:t>
            </a:r>
          </a:p>
          <a:p>
            <a:r>
              <a:t>encouraging adjectives.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9:30.</a:t>
            </a:r>
          </a:p>
          <a:p/>
          <a:p>
            <a:r>
              <a:t>Progressive reveal, one prompt at a time.</a:t>
            </a:r>
          </a:p>
          <a:p/>
          <a:p>
            <a:r>
              <a:t>These are for the internal hiring conversation. Listen for concrete work, not</a:t>
            </a:r>
          </a:p>
          <a:p>
            <a:r>
              <a:t>encouraging adjectives.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11:20.</a:t>
            </a:r>
          </a:p>
          <a:p/>
          <a:p>
            <a:r>
              <a:t>Simple CTA card. No competing offer on screen. Do not add Keep the Proof or the</a:t>
            </a:r>
          </a:p>
          <a:p>
            <a:r>
              <a:t>Capability Formation Field Kit.</a:t>
            </a:r>
          </a:p>
          <a:p/>
          <a:p>
            <a:r>
              <a:t>PUBLICATION GATE: temidayoafonja.com/career-decisions is not live yet. The page</a:t>
            </a:r>
          </a:p>
          <a:p>
            <a:r>
              <a:t>must exist before Video 5 is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final 15 to 20 seconds.</a:t>
            </a:r>
          </a:p>
          <a:p/>
          <a:p>
            <a:r>
              <a:t>All content is held left of x=1130 so the right side stays clear for YouTube</a:t>
            </a:r>
          </a:p>
          <a:p>
            <a:r>
              <a:t>end-screen elements.</a:t>
            </a:r>
          </a:p>
          <a:p/>
          <a:p>
            <a:r>
              <a:t>Closing line: you may not need to leave, but you do need different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906000" cy="161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DIFFERENT EMPLOYER</a:t>
            </a:r>
            <a:br/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NOT THE ONLY WAY TO</a:t>
            </a:r>
            <a:br/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ACCESS DIFFERENT 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906000" cy="161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DIFFERENT EMPLOYER</a:t>
            </a:r>
            <a:br/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NOT THE ONLY WAY TO</a:t>
            </a:r>
            <a:br/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ACCESS DIFFERENT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3815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775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 i="0" spc="13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INTERNAL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3100" y="4851400"/>
            <a:ext cx="279400" cy="444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3100" y="4935220"/>
            <a:ext cx="279400" cy="444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320000">
            <a:off x="4600575" y="4756404"/>
            <a:ext cx="44450" cy="29337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0000" y="4775200"/>
            <a:ext cx="6350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 i="0" spc="13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AUTOMATIC GROWTH.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6256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15875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THE WORK CHANGE?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4384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6256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15875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THE WORK CHANGE?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4384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464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5000" y="29083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YOUR JUDGMENT EXPAND?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592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6256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15875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THE WORK CHANGE?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4384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464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5000" y="29083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YOUR JUDGMENT EXPAND?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592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2672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42291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THE EVIDENCE TRAVEL?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10668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8415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171700"/>
            <a:ext cx="10160000" cy="488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WILL THE WORK CHANGE?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530600"/>
            <a:ext cx="10541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will be different on an ordinary Monday?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7145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63700" y="1498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PROBLEMS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7145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63700" y="1498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PROBLEMS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63700" y="25019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SYSTEMS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7145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63700" y="1498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PROBLEMS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63700" y="25019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7211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63700" y="35052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STAKEHOLDERS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7145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63700" y="1498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PROBLEMS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63700" y="25019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7211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63700" y="35052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STAKEHOLDERS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7244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3700" y="45085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CONTEXT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10668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8415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1717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WILL YOUR JUDGMENT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EXPAND?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530600"/>
            <a:ext cx="10541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will you notice, weigh, recommend or own?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8500" y="2540000"/>
            <a:ext cx="5016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MORE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98500" y="31115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8500" y="3441700"/>
            <a:ext cx="5080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Volume • Coordination • Absorption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8500" y="2540000"/>
            <a:ext cx="5016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MORE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98500" y="31115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8500" y="3441700"/>
            <a:ext cx="5080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Volume • Coordination • Absorption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5500" y="2006600"/>
            <a:ext cx="6096000" cy="2565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54750" y="2540000"/>
            <a:ext cx="552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JUDGMENT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254750" y="3111500"/>
            <a:ext cx="107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54750" y="3441700"/>
            <a:ext cx="55245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Interpretation • Tradeoffs • Consequence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10668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8415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1717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WILL THE EVIDENCE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TRAVEL?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530600"/>
            <a:ext cx="10541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Can you explain the work beyond internal language?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8000" y="1651000"/>
            <a:ext cx="6921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244B78"/>
                </a:solidFill>
                <a:latin typeface="DM Sans"/>
                <a:ea typeface="DM Sans"/>
                <a:cs typeface="DM Sans"/>
              </a:rPr>
              <a:t>What changed?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36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8000" y="1651000"/>
            <a:ext cx="6921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244B78"/>
                </a:solidFill>
                <a:latin typeface="DM Sans"/>
                <a:ea typeface="DM Sans"/>
                <a:cs typeface="DM Sans"/>
              </a:rPr>
              <a:t>What changed?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36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940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18000" y="2857500"/>
            <a:ext cx="6921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244B78"/>
                </a:solidFill>
                <a:latin typeface="DM Sans"/>
                <a:ea typeface="DM Sans"/>
                <a:cs typeface="DM Sans"/>
              </a:rPr>
              <a:t>What did you notice or decide?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8000" y="1651000"/>
            <a:ext cx="6921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244B78"/>
                </a:solidFill>
                <a:latin typeface="DM Sans"/>
                <a:ea typeface="DM Sans"/>
                <a:cs typeface="DM Sans"/>
              </a:rPr>
              <a:t>What changed?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36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940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18000" y="2857500"/>
            <a:ext cx="6921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244B78"/>
                </a:solidFill>
                <a:latin typeface="DM Sans"/>
                <a:ea typeface="DM Sans"/>
                <a:cs typeface="DM Sans"/>
              </a:rPr>
              <a:t>What did you notice or decide?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0005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8000" y="4064000"/>
            <a:ext cx="6921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244B78"/>
                </a:solidFill>
                <a:latin typeface="DM Sans"/>
                <a:ea typeface="DM Sans"/>
                <a:cs typeface="DM Sans"/>
              </a:rPr>
              <a:t>What new context can you now handle?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6637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 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3500" y="17018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STRONG GROWTH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5019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6637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 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3500" y="17018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STRONG GROWTH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5019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9718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73500" y="30099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INVESTIGATE OR NEGOTIATE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8100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6637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 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3500" y="17018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STRONG GROWTH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5019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9718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73500" y="30099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INVESTIGATE OR NEGOTIATE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8100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2799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0-1 YES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3500" y="43180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MOVEMENT, NOT MUCH FORMATION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27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6383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will I own in the first six months?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146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27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6383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will I own in the first six months?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146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337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844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Which decisions belong to this role?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211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27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6383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will I own in the first six months?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146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337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844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Which decisions belong to this role?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211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140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0513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How will success be measured?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95500"/>
            <a:ext cx="10160000" cy="1225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CAREER DECISION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 CHECK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5941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3949700"/>
            <a:ext cx="9906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A free next step for an active stay,</a:t>
            </a:r>
            <a:br/>
            <a:r>
              <a:rPr sz="24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internal-move or leave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5080000"/>
            <a:ext cx="9906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temidayoafonja.com/career-decisions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06600"/>
            <a:ext cx="5969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ARE YOU GROWING—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OR JUST BEING GIVEN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MORE WORK?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356100"/>
            <a:ext cx="5969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Playlist: Career Portability: Career Pivots,</a:t>
            </a:r>
            <a:br/>
            <a:r>
              <a:rPr sz="22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