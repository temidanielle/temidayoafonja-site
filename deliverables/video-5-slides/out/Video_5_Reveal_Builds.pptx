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2 — main slide 1.</a:t>
            </a:r>
          </a:p>
          <a:p>
            <a:r>
              <a:t>Timing: approximately 0:38.</a:t>
            </a:r>
          </a:p>
          <a:p>
            <a:r>
              <a:t>Do NOT open on this slide. Begin full-screen on Temidayo and let the opening land: doing well and browsing job adverts anyway, the assumption underneath it, the reframe, and the offer.</a:t>
            </a:r>
          </a:p>
          <a:p>
            <a:r>
              <a:t>Then this slide carries the proof.</a:t>
            </a:r>
          </a:p>
          <a:p>
            <a:r>
              <a:t>FACTUAL BOUNDARY, exact: about six months after Temidayo came back from maternity leave in one chapter of her career, her scope expanded beyond the original box of the role. The meaningful part was being trusted with DIFFERENT work, not more of the same. No employer, assignment, result, promotion, metric or conversation. NO maternity or baby imagery — the proof is her saying what happened.</a:t>
            </a:r>
          </a:p>
          <a:p>
            <a:r>
              <a:t>"More landed on me. That part is easy to describe. But that is not the part that mattered." Stay on her face for it.</a:t>
            </a:r>
          </a:p>
          <a:p>
            <a:r>
              <a:t>State one holds the main statement; reveal INTERNAL MOVE ≠ AUTOMATIC GROWTH after it. The not-equal sign is drawn, not typeset — no brand font has the glyph.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2 — main slide 1.</a:t>
            </a:r>
          </a:p>
          <a:p>
            <a:r>
              <a:t>Timing: approximately 0:38.</a:t>
            </a:r>
          </a:p>
          <a:p>
            <a:r>
              <a:t>Do NOT open on this slide. Begin full-screen on Temidayo and let the opening land: doing well and browsing job adverts anyway, the assumption underneath it, the reframe, and the offer.</a:t>
            </a:r>
          </a:p>
          <a:p>
            <a:r>
              <a:t>Then this slide carries the proof.</a:t>
            </a:r>
          </a:p>
          <a:p>
            <a:r>
              <a:t>FACTUAL BOUNDARY, exact: about six months after Temidayo came back from maternity leave in one chapter of her career, her scope expanded beyond the original box of the role. The meaningful part was being trusted with DIFFERENT work, not more of the same. No employer, assignment, result, promotion, metric or conversation. NO maternity or baby imagery — the proof is her saying what happened.</a:t>
            </a:r>
          </a:p>
          <a:p>
            <a:r>
              <a:t>"More landed on me. That part is easy to describe. But that is not the part that mattered." Stay on her face for it.</a:t>
            </a:r>
          </a:p>
          <a:p>
            <a:r>
              <a:t>State one holds the main statement; reveal INTERNAL MOVE ≠ AUTOMATIC GROWTH after it. The not-equal sign is drawn, not typeset — no brand font has the glyph.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3 — main slide 2.</a:t>
            </a:r>
          </a:p>
          <a:p>
            <a:r>
              <a:t>Timing: approximately 1:18.</a:t>
            </a:r>
          </a:p>
          <a:p>
            <a:r>
              <a:t>The channel line and the three questions.</a:t>
            </a:r>
          </a:p>
          <a:p>
            <a:r>
              <a:t>Reveal one question at a time. These are the only memory device in the video — no acronym, no second framework, and CAR belongs to Video 6.</a:t>
            </a:r>
          </a:p>
          <a:p>
            <a:r>
              <a:t>Close on the reframe: the point is not whether you moved, it is whether the move increased what you can carry afterwards.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3 — main slide 2.</a:t>
            </a:r>
          </a:p>
          <a:p>
            <a:r>
              <a:t>Timing: approximately 1:18.</a:t>
            </a:r>
          </a:p>
          <a:p>
            <a:r>
              <a:t>The channel line and the three questions.</a:t>
            </a:r>
          </a:p>
          <a:p>
            <a:r>
              <a:t>Reveal one question at a time. These are the only memory device in the video — no acronym, no second framework, and CAR belongs to Video 6.</a:t>
            </a:r>
          </a:p>
          <a:p>
            <a:r>
              <a:t>Close on the reframe: the point is not whether you moved, it is whether the move increased what you can carry afterwards.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3 — main slide 2.</a:t>
            </a:r>
          </a:p>
          <a:p>
            <a:r>
              <a:t>Timing: approximately 1:18.</a:t>
            </a:r>
          </a:p>
          <a:p>
            <a:r>
              <a:t>The channel line and the three questions.</a:t>
            </a:r>
          </a:p>
          <a:p>
            <a:r>
              <a:t>Reveal one question at a time. These are the only memory device in the video — no acronym, no second framework, and CAR belongs to Video 6.</a:t>
            </a:r>
          </a:p>
          <a:p>
            <a:r>
              <a:t>Close on the reframe: the point is not whether you moved, it is whether the move increased what you can carry afterwards.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3.</a:t>
            </a:r>
          </a:p>
          <a:p>
            <a:r>
              <a:t>Timing: approximately 1:49, holding to about 2:24.</a:t>
            </a:r>
          </a:p>
          <a:p>
            <a:r>
              <a:t>Section break, then straight into the first question.</a:t>
            </a:r>
          </a:p>
          <a:p>
            <a:r>
              <a:t>The instruction is vivid and specific: picture an ordinary Monday four months in, not the announcement and not the first week. Keep that framing — it is what stops the viewer answering about the title.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4 — main slide 4.</a:t>
            </a:r>
          </a:p>
          <a:p>
            <a:r>
              <a:t>Timing: approximately 2:24.</a:t>
            </a:r>
          </a:p>
          <a:p>
            <a:r>
              <a:t>Reveal the four access variables one at a time.</a:t>
            </a:r>
          </a:p>
          <a:p>
            <a:r>
              <a:t>Not all four are required. Familiarity is named as an advantage before it is named as a risk — keep that order, it is what makes the section fair.</a:t>
            </a:r>
          </a:p>
          <a:p>
            <a:r>
              <a:t>At about 3:20 comes the organisational beat, and it is the most delicate thing in the video: the people who value you most may be the ones least able to imagine you doing something else, because every time you were excellent in one shape you made that shape more convincing. "That is not them being unfair." Do not let an edit turn this into a grievance.</a:t>
            </a:r>
          </a:p>
          <a:p>
            <a:r>
              <a:t>Then the questions to ask, then the limit: a move that does not change the work can still be right. "I just do not want you calling it development when it is relief. Both are allowed." Do not cut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4 — main slide 4.</a:t>
            </a:r>
          </a:p>
          <a:p>
            <a:r>
              <a:t>Timing: approximately 2:24.</a:t>
            </a:r>
          </a:p>
          <a:p>
            <a:r>
              <a:t>Reveal the four access variables one at a time.</a:t>
            </a:r>
          </a:p>
          <a:p>
            <a:r>
              <a:t>Not all four are required. Familiarity is named as an advantage before it is named as a risk — keep that order, it is what makes the section fair.</a:t>
            </a:r>
          </a:p>
          <a:p>
            <a:r>
              <a:t>At about 3:20 comes the organisational beat, and it is the most delicate thing in the video: the people who value you most may be the ones least able to imagine you doing something else, because every time you were excellent in one shape you made that shape more convincing. "That is not them being unfair." Do not let an edit turn this into a grievance.</a:t>
            </a:r>
          </a:p>
          <a:p>
            <a:r>
              <a:t>Then the questions to ask, then the limit: a move that does not change the work can still be right. "I just do not want you calling it development when it is relief. Both are allowed." Do not cut that.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4 — main slide 4.</a:t>
            </a:r>
          </a:p>
          <a:p>
            <a:r>
              <a:t>Timing: approximately 2:24.</a:t>
            </a:r>
          </a:p>
          <a:p>
            <a:r>
              <a:t>Reveal the four access variables one at a time.</a:t>
            </a:r>
          </a:p>
          <a:p>
            <a:r>
              <a:t>Not all four are required. Familiarity is named as an advantage before it is named as a risk — keep that order, it is what makes the section fair.</a:t>
            </a:r>
          </a:p>
          <a:p>
            <a:r>
              <a:t>At about 3:20 comes the organisational beat, and it is the most delicate thing in the video: the people who value you most may be the ones least able to imagine you doing something else, because every time you were excellent in one shape you made that shape more convincing. "That is not them being unfair." Do not let an edit turn this into a grievance.</a:t>
            </a:r>
          </a:p>
          <a:p>
            <a:r>
              <a:t>Then the questions to ask, then the limit: a move that does not change the work can still be right. "I just do not want you calling it development when it is relief. Both are allowed." Do not cut that.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4 of 4 — main slide 4.</a:t>
            </a:r>
          </a:p>
          <a:p>
            <a:r>
              <a:t>Timing: approximately 2:24.</a:t>
            </a:r>
          </a:p>
          <a:p>
            <a:r>
              <a:t>Reveal the four access variables one at a time.</a:t>
            </a:r>
          </a:p>
          <a:p>
            <a:r>
              <a:t>Not all four are required. Familiarity is named as an advantage before it is named as a risk — keep that order, it is what makes the section fair.</a:t>
            </a:r>
          </a:p>
          <a:p>
            <a:r>
              <a:t>At about 3:20 comes the organisational beat, and it is the most delicate thing in the video: the people who value you most may be the ones least able to imagine you doing something else, because every time you were excellent in one shape you made that shape more convincing. "That is not them being unfair." Do not let an edit turn this into a grievance.</a:t>
            </a:r>
          </a:p>
          <a:p>
            <a:r>
              <a:t>Then the questions to ask, then the limit: a move that does not change the work can still be right. "I just do not want you calling it development when it is relief. Both are allowed." Do not cut that.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5.</a:t>
            </a:r>
          </a:p>
          <a:p>
            <a:r>
              <a:t>Timing: approximately 4:33, holding to about 4:41.</a:t>
            </a:r>
          </a:p>
          <a:p>
            <a:r>
              <a:t>Section break. Hold briefly, then back to presenter.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2 — main slide 6.</a:t>
            </a:r>
          </a:p>
          <a:p>
            <a:r>
              <a:t>Timing: approximately 4:41.</a:t>
            </a:r>
          </a:p>
          <a:p>
            <a:r>
              <a:t>Show MORE TASKS alone first, then bring up MORE JUDGMENT.</a:t>
            </a:r>
          </a:p>
          <a:p>
            <a:r>
              <a:t>The authority point matters as much as the contrast: accountability without influence is "exposure without ownership, and a well-known way for capable people to end up looking worse than they are."</a:t>
            </a:r>
          </a:p>
          <a:p>
            <a:r>
              <a:t>Then the three questions to ask the hiring manager, and the closing test — if the clearest answer is "you will have more to manage", keep asking.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2 — main slide 6.</a:t>
            </a:r>
          </a:p>
          <a:p>
            <a:r>
              <a:t>Timing: approximately 4:41.</a:t>
            </a:r>
          </a:p>
          <a:p>
            <a:r>
              <a:t>Show MORE TASKS alone first, then bring up MORE JUDGMENT.</a:t>
            </a:r>
          </a:p>
          <a:p>
            <a:r>
              <a:t>The authority point matters as much as the contrast: accountability without influence is "exposure without ownership, and a well-known way for capable people to end up looking worse than they are."</a:t>
            </a:r>
          </a:p>
          <a:p>
            <a:r>
              <a:t>Then the three questions to ask the hiring manager, and the closing test — if the clearest answer is "you will have more to manage", keep asking.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7.</a:t>
            </a:r>
          </a:p>
          <a:p>
            <a:r>
              <a:t>Timing: approximately 6:45, holding to about 7:09.</a:t>
            </a:r>
          </a:p>
          <a:p>
            <a:r>
              <a:t>Section break.</a:t>
            </a:r>
          </a:p>
          <a:p>
            <a:r>
              <a:t>Credibility inside a company does not automatically make sense outside it. The people around the viewer watched it happen; someone else did not.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3 — main slide 8.</a:t>
            </a:r>
          </a:p>
          <a:p>
            <a:r>
              <a:t>Timing: approximately 7:09.</a:t>
            </a:r>
          </a:p>
          <a:p>
            <a:r>
              <a:t>Reveal Result, Judgment and Range in order.</a:t>
            </a:r>
          </a:p>
          <a:p>
            <a:r>
              <a:t>The target sentence is the one to protect: "I moved into a new context, I was trusted to make this kind of call, and here is what was different because of it." That is what a portable answer sounds like.</a:t>
            </a:r>
          </a:p>
          <a:p>
            <a:r>
              <a:t>Close on the translation test — if you cannot say what the role could prove, you do not yet know what it will build.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3 — main slide 8.</a:t>
            </a:r>
          </a:p>
          <a:p>
            <a:r>
              <a:t>Timing: approximately 7:09.</a:t>
            </a:r>
          </a:p>
          <a:p>
            <a:r>
              <a:t>Reveal Result, Judgment and Range in order.</a:t>
            </a:r>
          </a:p>
          <a:p>
            <a:r>
              <a:t>The target sentence is the one to protect: "I moved into a new context, I was trusted to make this kind of call, and here is what was different because of it." That is what a portable answer sounds like.</a:t>
            </a:r>
          </a:p>
          <a:p>
            <a:r>
              <a:t>Close on the translation test — if you cannot say what the role could prove, you do not yet know what it will build.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3 — main slide 8.</a:t>
            </a:r>
          </a:p>
          <a:p>
            <a:r>
              <a:t>Timing: approximately 7:09.</a:t>
            </a:r>
          </a:p>
          <a:p>
            <a:r>
              <a:t>Reveal Result, Judgment and Range in order.</a:t>
            </a:r>
          </a:p>
          <a:p>
            <a:r>
              <a:t>The target sentence is the one to protect: "I moved into a new context, I was trusted to make this kind of call, and here is what was different because of it." That is what a portable answer sounds like.</a:t>
            </a:r>
          </a:p>
          <a:p>
            <a:r>
              <a:t>Close on the translation test — if you cannot say what the role could prove, you do not yet know what it will build.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3 — main slide 9.</a:t>
            </a:r>
          </a:p>
          <a:p>
            <a:r>
              <a:t>Timing: approximately 8:08.</a:t>
            </a:r>
          </a:p>
          <a:p>
            <a:r>
              <a:t>Reveal the rows one at a time. Do NOT gamify this — no scorecard treatment, no tally graphics.</a:t>
            </a:r>
          </a:p>
          <a:p>
            <a:r>
              <a:t>Two yeses is not a rejection; it is something specific to negotiate before accepting.</a:t>
            </a:r>
          </a:p>
          <a:p>
            <a:r>
              <a:t>Zero or one is not a verdict either. Better pay, better hours, a better manager, stability while life is complicated — all real reasons. "Just name the trade honestly. You do not have to call every useful move growth."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3 — main slide 9.</a:t>
            </a:r>
          </a:p>
          <a:p>
            <a:r>
              <a:t>Timing: approximately 8:08.</a:t>
            </a:r>
          </a:p>
          <a:p>
            <a:r>
              <a:t>Reveal the rows one at a time. Do NOT gamify this — no scorecard treatment, no tally graphics.</a:t>
            </a:r>
          </a:p>
          <a:p>
            <a:r>
              <a:t>Two yeses is not a rejection; it is something specific to negotiate before accepting.</a:t>
            </a:r>
          </a:p>
          <a:p>
            <a:r>
              <a:t>Zero or one is not a verdict either. Better pay, better hours, a better manager, stability while life is complicated — all real reasons. "Just name the trade honestly. You do not have to call every useful move growth."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3 — main slide 9.</a:t>
            </a:r>
          </a:p>
          <a:p>
            <a:r>
              <a:t>Timing: approximately 8:08.</a:t>
            </a:r>
          </a:p>
          <a:p>
            <a:r>
              <a:t>Reveal the rows one at a time. Do NOT gamify this — no scorecard treatment, no tally graphics.</a:t>
            </a:r>
          </a:p>
          <a:p>
            <a:r>
              <a:t>Two yeses is not a rejection; it is something specific to negotiate before accepting.</a:t>
            </a:r>
          </a:p>
          <a:p>
            <a:r>
              <a:t>Zero or one is not a verdict either. Better pay, better hours, a better manager, stability while life is complicated — all real reasons. "Just name the trade honestly. You do not have to call every useful move growth."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3 — main slide 10.</a:t>
            </a:r>
          </a:p>
          <a:p>
            <a:r>
              <a:t>Timing: approximately 9:08.</a:t>
            </a:r>
          </a:p>
          <a:p>
            <a:r>
              <a:t>Progressive reveal, one prompt at a time. Then Temidayo carries a long stretch on camera — no new slide for any of it.</a:t>
            </a:r>
          </a:p>
          <a:p>
            <a:r>
              <a:t>What the answers say about the organisation. Being capable and still landing in a badly designed role. The same three questions applied to an external offer. When an internal move will not fix the problem.</a:t>
            </a:r>
          </a:p>
          <a:p>
            <a:r>
              <a:t>THE SAFETY BOUNDARY sits here and is not optional: if health or safety is at risk, or the viewer is dealing with harassment or discrimination, they do not need a mobility strategy — they need to protect themselves and get proper support. Deliver it plainly, on camera, with captions. Not fine print.</a:t>
            </a:r>
          </a:p>
          <a:p>
            <a:r>
              <a:t>Then the life factors: pay, caregiving, location, immigration status, energy, timing.</a:t>
            </a:r>
          </a:p>
          <a:p>
            <a:r>
              <a:t>IDENTITY EXIT, at about 11:06: "I want you to be able to read any opportunity — inside or outside — for what it will actually build in you… Once you can do that, you stop needing anyone to tell you whether an opportunity is good. You can see it yourself."</a:t>
            </a:r>
          </a:p>
          <a:p>
            <a:r>
              <a:t>That last sentence is the point of the video. If the edit runs long, cut something else.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3 — main slide 10.</a:t>
            </a:r>
          </a:p>
          <a:p>
            <a:r>
              <a:t>Timing: approximately 9:08.</a:t>
            </a:r>
          </a:p>
          <a:p>
            <a:r>
              <a:t>Progressive reveal, one prompt at a time. Then Temidayo carries a long stretch on camera — no new slide for any of it.</a:t>
            </a:r>
          </a:p>
          <a:p>
            <a:r>
              <a:t>What the answers say about the organisation. Being capable and still landing in a badly designed role. The same three questions applied to an external offer. When an internal move will not fix the problem.</a:t>
            </a:r>
          </a:p>
          <a:p>
            <a:r>
              <a:t>THE SAFETY BOUNDARY sits here and is not optional: if health or safety is at risk, or the viewer is dealing with harassment or discrimination, they do not need a mobility strategy — they need to protect themselves and get proper support. Deliver it plainly, on camera, with captions. Not fine print.</a:t>
            </a:r>
          </a:p>
          <a:p>
            <a:r>
              <a:t>Then the life factors: pay, caregiving, location, immigration status, energy, timing.</a:t>
            </a:r>
          </a:p>
          <a:p>
            <a:r>
              <a:t>IDENTITY EXIT, at about 11:06: "I want you to be able to read any opportunity — inside or outside — for what it will actually build in you… Once you can do that, you stop needing anyone to tell you whether an opportunity is good. You can see it yourself."</a:t>
            </a:r>
          </a:p>
          <a:p>
            <a:r>
              <a:t>That last sentence is the point of the video. If the edit runs long, cut something else.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3 — main slide 10.</a:t>
            </a:r>
          </a:p>
          <a:p>
            <a:r>
              <a:t>Timing: approximately 9:08.</a:t>
            </a:r>
          </a:p>
          <a:p>
            <a:r>
              <a:t>Progressive reveal, one prompt at a time. Then Temidayo carries a long stretch on camera — no new slide for any of it.</a:t>
            </a:r>
          </a:p>
          <a:p>
            <a:r>
              <a:t>What the answers say about the organisation. Being capable and still landing in a badly designed role. The same three questions applied to an external offer. When an internal move will not fix the problem.</a:t>
            </a:r>
          </a:p>
          <a:p>
            <a:r>
              <a:t>THE SAFETY BOUNDARY sits here and is not optional: if health or safety is at risk, or the viewer is dealing with harassment or discrimination, they do not need a mobility strategy — they need to protect themselves and get proper support. Deliver it plainly, on camera, with captions. Not fine print.</a:t>
            </a:r>
          </a:p>
          <a:p>
            <a:r>
              <a:t>Then the life factors: pay, caregiving, location, immigration status, energy, timing.</a:t>
            </a:r>
          </a:p>
          <a:p>
            <a:r>
              <a:t>IDENTITY EXIT, at about 11:06: "I want you to be able to read any opportunity — inside or outside — for what it will actually build in you… Once you can do that, you stop needing anyone to tell you whether an opportunity is good. You can see it yourself."</a:t>
            </a:r>
          </a:p>
          <a:p>
            <a:r>
              <a:t>That last sentence is the point of the video. If the edit runs long, cut something else.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11.</a:t>
            </a:r>
          </a:p>
          <a:p>
            <a:r>
              <a:t>Timing: approximately 11:33.</a:t>
            </a:r>
          </a:p>
          <a:p>
            <a:r>
              <a:t>Calm and brief. The only invitation in the video, and it is the Career Decision Evidence Check — not the Field Kit, not Keep the Proof, not the Starter.</a:t>
            </a:r>
          </a:p>
          <a:p>
            <a:r>
              <a:t>It lands AFTER the identity bridge. Keep that order.</a:t>
            </a:r>
          </a:p>
          <a:p>
            <a:r>
              <a:t>The one-sentence exercise comes first, then the offer: "I made the Career Decision Evidence Check to help you organise the evidence behind that choice." Offered, not announced.</a:t>
            </a:r>
          </a:p>
          <a:p>
            <a:r>
              <a:t>CTA PRODUCTION GATE: SATISFIED. Retain one signed-out link check in the final upload SOP.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12.</a:t>
            </a:r>
          </a:p>
          <a:p>
            <a:r>
              <a:t>Timing: approximately 12:01 to the end, about 12:26.</a:t>
            </a:r>
          </a:p>
          <a:p>
            <a:r>
              <a:t>All content is held left of x=1130 so the right side stays clear for the YouTube end-screen element.</a:t>
            </a:r>
          </a:p>
          <a:p>
            <a:r>
              <a:t>Watch next is Video 6, Are You Growing—or Just Being Given More Work? Use direct end-screen routing once Video 6 is public; before that, the Career Portability playlist. Do not leave Subscribe as the only end-screen element.</a:t>
            </a:r>
          </a:p>
          <a:p>
            <a:r>
              <a:t>Closing lines: "You may not need to leave. But the next move should increase what you can carry." Stay on her for both.</a:t>
            </a:r>
          </a:p>
          <a:p>
            <a:r>
              <a:t>Hold the final frame for at least 12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905000"/>
            <a:ext cx="9906000" cy="1612900"/>
          </a:xfrm>
          <a:prstGeom prst="rect">
            <a:avLst/>
          </a:prstGeom>
          <a:noFill/>
        </p:spPr>
        <p:txBody>
          <a:bodyPr wrap="square" lIns="0" rIns="0" tIns="0" bIns="0" anchor="t">
            <a:spAutoFit/>
          </a:bodyPr>
          <a:lstStyle/>
          <a:p>
            <a:pPr algn="l">
              <a:lnSpc>
                <a:spcPct val="114000"/>
              </a:lnSpc>
            </a:pPr>
            <a:r>
              <a:rPr sz="3600" b="1" i="0">
                <a:solidFill>
                  <a:srgbClr val="F5F1E8"/>
                </a:solidFill>
                <a:latin typeface="Montserrat"/>
                <a:ea typeface="Montserrat"/>
                <a:cs typeface="Montserrat"/>
              </a:rPr>
              <a:t>A DIFFERENT EMPLOYER</a:t>
            </a:r>
            <a:br/>
            <a:r>
              <a:rPr sz="3600" b="1" i="0">
                <a:solidFill>
                  <a:srgbClr val="F5F1E8"/>
                </a:solidFill>
                <a:latin typeface="Montserrat"/>
                <a:ea typeface="Montserrat"/>
                <a:cs typeface="Montserrat"/>
              </a:rPr>
              <a:t>IS NOT THE ONLY WAY TO</a:t>
            </a:r>
            <a:br/>
            <a:r>
              <a:rPr sz="3600" b="1" i="0">
                <a:solidFill>
                  <a:srgbClr val="F5F1E8"/>
                </a:solidFill>
                <a:latin typeface="Montserrat"/>
                <a:ea typeface="Montserrat"/>
                <a:cs typeface="Montserrat"/>
              </a:rPr>
              <a:t>ACCESS DIFFERENT 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905000"/>
            <a:ext cx="9906000" cy="1612900"/>
          </a:xfrm>
          <a:prstGeom prst="rect">
            <a:avLst/>
          </a:prstGeom>
          <a:noFill/>
        </p:spPr>
        <p:txBody>
          <a:bodyPr wrap="square" lIns="0" rIns="0" tIns="0" bIns="0" anchor="t">
            <a:spAutoFit/>
          </a:bodyPr>
          <a:lstStyle/>
          <a:p>
            <a:pPr algn="l">
              <a:lnSpc>
                <a:spcPct val="114000"/>
              </a:lnSpc>
            </a:pPr>
            <a:r>
              <a:rPr sz="3600" b="1" i="0">
                <a:solidFill>
                  <a:srgbClr val="F5F1E8"/>
                </a:solidFill>
                <a:latin typeface="Montserrat"/>
                <a:ea typeface="Montserrat"/>
                <a:cs typeface="Montserrat"/>
              </a:rPr>
              <a:t>A DIFFERENT EMPLOYER</a:t>
            </a:r>
            <a:br/>
            <a:r>
              <a:rPr sz="3600" b="1" i="0">
                <a:solidFill>
                  <a:srgbClr val="F5F1E8"/>
                </a:solidFill>
                <a:latin typeface="Montserrat"/>
                <a:ea typeface="Montserrat"/>
                <a:cs typeface="Montserrat"/>
              </a:rPr>
              <a:t>IS NOT THE ONLY WAY TO</a:t>
            </a:r>
            <a:br/>
            <a:r>
              <a:rPr sz="3600" b="1" i="0">
                <a:solidFill>
                  <a:srgbClr val="F5F1E8"/>
                </a:solidFill>
                <a:latin typeface="Montserrat"/>
                <a:ea typeface="Montserrat"/>
                <a:cs typeface="Montserrat"/>
              </a:rPr>
              <a:t>ACCESS DIFFERENT WORK.</a:t>
            </a:r>
          </a:p>
        </p:txBody>
      </p:sp>
      <p:sp>
        <p:nvSpPr>
          <p:cNvPr id="8" name="Rectangle 7"/>
          <p:cNvSpPr/>
          <p:nvPr/>
        </p:nvSpPr>
        <p:spPr>
          <a:xfrm>
            <a:off x="1016000" y="4381500"/>
            <a:ext cx="1905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4775200"/>
            <a:ext cx="4826000" cy="406400"/>
          </a:xfrm>
          <a:prstGeom prst="rect">
            <a:avLst/>
          </a:prstGeom>
          <a:noFill/>
        </p:spPr>
        <p:txBody>
          <a:bodyPr wrap="square" lIns="0" rIns="0" tIns="0" bIns="0" anchor="t">
            <a:spAutoFit/>
          </a:bodyPr>
          <a:lstStyle/>
          <a:p>
            <a:pPr algn="l">
              <a:lnSpc>
                <a:spcPct val="112000"/>
              </a:lnSpc>
            </a:pPr>
            <a:r>
              <a:rPr sz="2500" b="1" i="0" spc="130">
                <a:solidFill>
                  <a:srgbClr val="F5F1E8"/>
                </a:solidFill>
                <a:latin typeface="Montserrat"/>
                <a:ea typeface="Montserrat"/>
                <a:cs typeface="Montserrat"/>
              </a:rPr>
              <a:t>INTERNAL MOVE</a:t>
            </a:r>
          </a:p>
        </p:txBody>
      </p:sp>
      <p:sp>
        <p:nvSpPr>
          <p:cNvPr id="10" name="Rectangle 9"/>
          <p:cNvSpPr/>
          <p:nvPr/>
        </p:nvSpPr>
        <p:spPr>
          <a:xfrm>
            <a:off x="4483100" y="4851400"/>
            <a:ext cx="279400" cy="444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3100" y="4935220"/>
            <a:ext cx="279400" cy="444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1320000">
            <a:off x="4600575" y="4756404"/>
            <a:ext cx="44450" cy="29337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80000" y="4775200"/>
            <a:ext cx="6350000" cy="406400"/>
          </a:xfrm>
          <a:prstGeom prst="rect">
            <a:avLst/>
          </a:prstGeom>
          <a:noFill/>
        </p:spPr>
        <p:txBody>
          <a:bodyPr wrap="square" lIns="0" rIns="0" tIns="0" bIns="0" anchor="t">
            <a:spAutoFit/>
          </a:bodyPr>
          <a:lstStyle/>
          <a:p>
            <a:pPr algn="l">
              <a:lnSpc>
                <a:spcPct val="112000"/>
              </a:lnSpc>
            </a:pPr>
            <a:r>
              <a:rPr sz="2500" b="1" i="0" spc="130">
                <a:solidFill>
                  <a:srgbClr val="F5F1E8"/>
                </a:solidFill>
                <a:latin typeface="Montserrat"/>
                <a:ea typeface="Montserrat"/>
                <a:cs typeface="Montserrat"/>
              </a:rPr>
              <a:t>AUTOMATIC GROWTH.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625600"/>
            <a:ext cx="635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1</a:t>
            </a:r>
          </a:p>
        </p:txBody>
      </p:sp>
      <p:sp>
        <p:nvSpPr>
          <p:cNvPr id="3" name="TextBox 2"/>
          <p:cNvSpPr txBox="1"/>
          <p:nvPr/>
        </p:nvSpPr>
        <p:spPr>
          <a:xfrm>
            <a:off x="1905000" y="1587500"/>
            <a:ext cx="9525000" cy="457200"/>
          </a:xfrm>
          <a:prstGeom prst="rect">
            <a:avLst/>
          </a:prstGeom>
          <a:noFill/>
        </p:spPr>
        <p:txBody>
          <a:bodyPr wrap="square" lIns="0" rIns="0" tIns="0" bIns="0" anchor="t">
            <a:spAutoFit/>
          </a:bodyPr>
          <a:lstStyle/>
          <a:p>
            <a:pPr algn="l">
              <a:lnSpc>
                <a:spcPct val="110000"/>
              </a:lnSpc>
            </a:pPr>
            <a:r>
              <a:rPr sz="2900" b="1" i="0">
                <a:solidFill>
                  <a:srgbClr val="0F2346"/>
                </a:solidFill>
                <a:latin typeface="Montserrat"/>
                <a:ea typeface="Montserrat"/>
                <a:cs typeface="Montserrat"/>
              </a:rPr>
              <a:t>WILL THE WORK CHANGE?</a:t>
            </a:r>
          </a:p>
        </p:txBody>
      </p:sp>
      <p:sp>
        <p:nvSpPr>
          <p:cNvPr id="4" name="Rectangle 3"/>
          <p:cNvSpPr/>
          <p:nvPr/>
        </p:nvSpPr>
        <p:spPr>
          <a:xfrm>
            <a:off x="1016000" y="24384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625600"/>
            <a:ext cx="635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1</a:t>
            </a:r>
          </a:p>
        </p:txBody>
      </p:sp>
      <p:sp>
        <p:nvSpPr>
          <p:cNvPr id="3" name="TextBox 2"/>
          <p:cNvSpPr txBox="1"/>
          <p:nvPr/>
        </p:nvSpPr>
        <p:spPr>
          <a:xfrm>
            <a:off x="1905000" y="1587500"/>
            <a:ext cx="9525000" cy="457200"/>
          </a:xfrm>
          <a:prstGeom prst="rect">
            <a:avLst/>
          </a:prstGeom>
          <a:noFill/>
        </p:spPr>
        <p:txBody>
          <a:bodyPr wrap="square" lIns="0" rIns="0" tIns="0" bIns="0" anchor="t">
            <a:spAutoFit/>
          </a:bodyPr>
          <a:lstStyle/>
          <a:p>
            <a:pPr algn="l">
              <a:lnSpc>
                <a:spcPct val="110000"/>
              </a:lnSpc>
            </a:pPr>
            <a:r>
              <a:rPr sz="2900" b="1" i="0">
                <a:solidFill>
                  <a:srgbClr val="0F2346"/>
                </a:solidFill>
                <a:latin typeface="Montserrat"/>
                <a:ea typeface="Montserrat"/>
                <a:cs typeface="Montserrat"/>
              </a:rPr>
              <a:t>WILL THE WORK CHANGE?</a:t>
            </a:r>
          </a:p>
        </p:txBody>
      </p:sp>
      <p:sp>
        <p:nvSpPr>
          <p:cNvPr id="4" name="Rectangle 3"/>
          <p:cNvSpPr/>
          <p:nvPr/>
        </p:nvSpPr>
        <p:spPr>
          <a:xfrm>
            <a:off x="1016000" y="24384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946400"/>
            <a:ext cx="635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2</a:t>
            </a:r>
          </a:p>
        </p:txBody>
      </p:sp>
      <p:sp>
        <p:nvSpPr>
          <p:cNvPr id="6" name="TextBox 5"/>
          <p:cNvSpPr txBox="1"/>
          <p:nvPr/>
        </p:nvSpPr>
        <p:spPr>
          <a:xfrm>
            <a:off x="1905000" y="2908300"/>
            <a:ext cx="9525000" cy="457200"/>
          </a:xfrm>
          <a:prstGeom prst="rect">
            <a:avLst/>
          </a:prstGeom>
          <a:noFill/>
        </p:spPr>
        <p:txBody>
          <a:bodyPr wrap="square" lIns="0" rIns="0" tIns="0" bIns="0" anchor="t">
            <a:spAutoFit/>
          </a:bodyPr>
          <a:lstStyle/>
          <a:p>
            <a:pPr algn="l">
              <a:lnSpc>
                <a:spcPct val="110000"/>
              </a:lnSpc>
            </a:pPr>
            <a:r>
              <a:rPr sz="2900" b="1" i="0">
                <a:solidFill>
                  <a:srgbClr val="0F2346"/>
                </a:solidFill>
                <a:latin typeface="Montserrat"/>
                <a:ea typeface="Montserrat"/>
                <a:cs typeface="Montserrat"/>
              </a:rPr>
              <a:t>WILL YOUR JUDGMENT EXPAND?</a:t>
            </a:r>
          </a:p>
        </p:txBody>
      </p:sp>
      <p:sp>
        <p:nvSpPr>
          <p:cNvPr id="7" name="Rectangle 6"/>
          <p:cNvSpPr/>
          <p:nvPr/>
        </p:nvSpPr>
        <p:spPr>
          <a:xfrm>
            <a:off x="1016000" y="37592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625600"/>
            <a:ext cx="635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1</a:t>
            </a:r>
          </a:p>
        </p:txBody>
      </p:sp>
      <p:sp>
        <p:nvSpPr>
          <p:cNvPr id="3" name="TextBox 2"/>
          <p:cNvSpPr txBox="1"/>
          <p:nvPr/>
        </p:nvSpPr>
        <p:spPr>
          <a:xfrm>
            <a:off x="1905000" y="1587500"/>
            <a:ext cx="9525000" cy="457200"/>
          </a:xfrm>
          <a:prstGeom prst="rect">
            <a:avLst/>
          </a:prstGeom>
          <a:noFill/>
        </p:spPr>
        <p:txBody>
          <a:bodyPr wrap="square" lIns="0" rIns="0" tIns="0" bIns="0" anchor="t">
            <a:spAutoFit/>
          </a:bodyPr>
          <a:lstStyle/>
          <a:p>
            <a:pPr algn="l">
              <a:lnSpc>
                <a:spcPct val="110000"/>
              </a:lnSpc>
            </a:pPr>
            <a:r>
              <a:rPr sz="2900" b="1" i="0">
                <a:solidFill>
                  <a:srgbClr val="0F2346"/>
                </a:solidFill>
                <a:latin typeface="Montserrat"/>
                <a:ea typeface="Montserrat"/>
                <a:cs typeface="Montserrat"/>
              </a:rPr>
              <a:t>WILL THE WORK CHANGE?</a:t>
            </a:r>
          </a:p>
        </p:txBody>
      </p:sp>
      <p:sp>
        <p:nvSpPr>
          <p:cNvPr id="4" name="Rectangle 3"/>
          <p:cNvSpPr/>
          <p:nvPr/>
        </p:nvSpPr>
        <p:spPr>
          <a:xfrm>
            <a:off x="1016000" y="24384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946400"/>
            <a:ext cx="635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2</a:t>
            </a:r>
          </a:p>
        </p:txBody>
      </p:sp>
      <p:sp>
        <p:nvSpPr>
          <p:cNvPr id="6" name="TextBox 5"/>
          <p:cNvSpPr txBox="1"/>
          <p:nvPr/>
        </p:nvSpPr>
        <p:spPr>
          <a:xfrm>
            <a:off x="1905000" y="2908300"/>
            <a:ext cx="9525000" cy="457200"/>
          </a:xfrm>
          <a:prstGeom prst="rect">
            <a:avLst/>
          </a:prstGeom>
          <a:noFill/>
        </p:spPr>
        <p:txBody>
          <a:bodyPr wrap="square" lIns="0" rIns="0" tIns="0" bIns="0" anchor="t">
            <a:spAutoFit/>
          </a:bodyPr>
          <a:lstStyle/>
          <a:p>
            <a:pPr algn="l">
              <a:lnSpc>
                <a:spcPct val="110000"/>
              </a:lnSpc>
            </a:pPr>
            <a:r>
              <a:rPr sz="2900" b="1" i="0">
                <a:solidFill>
                  <a:srgbClr val="0F2346"/>
                </a:solidFill>
                <a:latin typeface="Montserrat"/>
                <a:ea typeface="Montserrat"/>
                <a:cs typeface="Montserrat"/>
              </a:rPr>
              <a:t>WILL YOUR JUDGMENT EXPAND?</a:t>
            </a:r>
          </a:p>
        </p:txBody>
      </p:sp>
      <p:sp>
        <p:nvSpPr>
          <p:cNvPr id="7" name="Rectangle 6"/>
          <p:cNvSpPr/>
          <p:nvPr/>
        </p:nvSpPr>
        <p:spPr>
          <a:xfrm>
            <a:off x="1016000" y="37592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4267200"/>
            <a:ext cx="635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3</a:t>
            </a:r>
          </a:p>
        </p:txBody>
      </p:sp>
      <p:sp>
        <p:nvSpPr>
          <p:cNvPr id="9" name="TextBox 8"/>
          <p:cNvSpPr txBox="1"/>
          <p:nvPr/>
        </p:nvSpPr>
        <p:spPr>
          <a:xfrm>
            <a:off x="1905000" y="4229100"/>
            <a:ext cx="9525000" cy="457200"/>
          </a:xfrm>
          <a:prstGeom prst="rect">
            <a:avLst/>
          </a:prstGeom>
          <a:noFill/>
        </p:spPr>
        <p:txBody>
          <a:bodyPr wrap="square" lIns="0" rIns="0" tIns="0" bIns="0" anchor="t">
            <a:spAutoFit/>
          </a:bodyPr>
          <a:lstStyle/>
          <a:p>
            <a:pPr algn="l">
              <a:lnSpc>
                <a:spcPct val="110000"/>
              </a:lnSpc>
            </a:pPr>
            <a:r>
              <a:rPr sz="2900" b="1" i="0">
                <a:solidFill>
                  <a:srgbClr val="0F2346"/>
                </a:solidFill>
                <a:latin typeface="Montserrat"/>
                <a:ea typeface="Montserrat"/>
                <a:cs typeface="Montserrat"/>
              </a:rPr>
              <a:t>WILL THE EVIDENCE TRAVEL?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3600" y="1066800"/>
            <a:ext cx="1270000" cy="609600"/>
          </a:xfrm>
          <a:prstGeom prst="rect">
            <a:avLst/>
          </a:prstGeom>
          <a:noFill/>
        </p:spPr>
        <p:txBody>
          <a:bodyPr wrap="square" lIns="0" rIns="0" tIns="0" bIns="0" anchor="t">
            <a:spAutoFit/>
          </a:bodyPr>
          <a:lstStyle/>
          <a:p>
            <a:pPr algn="l">
              <a:lnSpc>
                <a:spcPct val="100000"/>
              </a:lnSpc>
            </a:pPr>
            <a:r>
              <a:rPr sz="4400" b="1" i="0">
                <a:solidFill>
                  <a:srgbClr val="C9A84C"/>
                </a:solidFill>
                <a:latin typeface="Montserrat"/>
                <a:ea typeface="Montserrat"/>
                <a:cs typeface="Montserrat"/>
              </a:rPr>
              <a:t>1</a:t>
            </a:r>
          </a:p>
        </p:txBody>
      </p:sp>
      <p:sp>
        <p:nvSpPr>
          <p:cNvPr id="4" name="Rectangle 3"/>
          <p:cNvSpPr/>
          <p:nvPr/>
        </p:nvSpPr>
        <p:spPr>
          <a:xfrm>
            <a:off x="863600" y="1841500"/>
            <a:ext cx="5842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2171700"/>
            <a:ext cx="10160000" cy="48895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WILL THE WORK CHANGE?</a:t>
            </a:r>
          </a:p>
        </p:txBody>
      </p:sp>
      <p:sp>
        <p:nvSpPr>
          <p:cNvPr id="6" name="TextBox 5"/>
          <p:cNvSpPr txBox="1"/>
          <p:nvPr/>
        </p:nvSpPr>
        <p:spPr>
          <a:xfrm>
            <a:off x="863600" y="3530600"/>
            <a:ext cx="10541000" cy="482600"/>
          </a:xfrm>
          <a:prstGeom prst="rect">
            <a:avLst/>
          </a:prstGeom>
          <a:noFill/>
        </p:spPr>
        <p:txBody>
          <a:bodyPr wrap="square" lIns="0" rIns="0" tIns="0" bIns="0" anchor="t">
            <a:spAutoFit/>
          </a:bodyPr>
          <a:lstStyle/>
          <a:p>
            <a:pPr algn="l">
              <a:lnSpc>
                <a:spcPct val="130000"/>
              </a:lnSpc>
            </a:pPr>
            <a:r>
              <a:rPr sz="2600" b="0" i="0">
                <a:solidFill>
                  <a:srgbClr val="F5F1E8"/>
                </a:solidFill>
                <a:latin typeface="DM Sans"/>
                <a:ea typeface="DM Sans"/>
                <a:cs typeface="DM Sans"/>
              </a:rPr>
              <a:t>What will be different on an ordinary Monday?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1016000" y="17145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63700" y="14986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PROBLEMS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1016000" y="17145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63700" y="14986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PROBLEMS</a:t>
            </a:r>
          </a:p>
        </p:txBody>
      </p:sp>
      <p:sp>
        <p:nvSpPr>
          <p:cNvPr id="4" name="Rectangle 3"/>
          <p:cNvSpPr/>
          <p:nvPr/>
        </p:nvSpPr>
        <p:spPr>
          <a:xfrm>
            <a:off x="1016000" y="27178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63700" y="25019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SYSTEMS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1016000" y="17145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63700" y="14986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PROBLEMS</a:t>
            </a:r>
          </a:p>
        </p:txBody>
      </p:sp>
      <p:sp>
        <p:nvSpPr>
          <p:cNvPr id="4" name="Rectangle 3"/>
          <p:cNvSpPr/>
          <p:nvPr/>
        </p:nvSpPr>
        <p:spPr>
          <a:xfrm>
            <a:off x="1016000" y="27178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63700" y="25019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SYSTEMS</a:t>
            </a:r>
          </a:p>
        </p:txBody>
      </p:sp>
      <p:sp>
        <p:nvSpPr>
          <p:cNvPr id="6" name="Rectangle 5"/>
          <p:cNvSpPr/>
          <p:nvPr/>
        </p:nvSpPr>
        <p:spPr>
          <a:xfrm>
            <a:off x="1016000" y="37211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63700" y="35052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STAKEHOLDERS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1016000" y="17145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63700" y="14986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PROBLEMS</a:t>
            </a:r>
          </a:p>
        </p:txBody>
      </p:sp>
      <p:sp>
        <p:nvSpPr>
          <p:cNvPr id="4" name="Rectangle 3"/>
          <p:cNvSpPr/>
          <p:nvPr/>
        </p:nvSpPr>
        <p:spPr>
          <a:xfrm>
            <a:off x="1016000" y="27178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63700" y="25019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SYSTEMS</a:t>
            </a:r>
          </a:p>
        </p:txBody>
      </p:sp>
      <p:sp>
        <p:nvSpPr>
          <p:cNvPr id="6" name="Rectangle 5"/>
          <p:cNvSpPr/>
          <p:nvPr/>
        </p:nvSpPr>
        <p:spPr>
          <a:xfrm>
            <a:off x="1016000" y="37211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63700" y="35052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STAKEHOLDERS</a:t>
            </a:r>
          </a:p>
        </p:txBody>
      </p:sp>
      <p:sp>
        <p:nvSpPr>
          <p:cNvPr id="8" name="Rectangle 7"/>
          <p:cNvSpPr/>
          <p:nvPr/>
        </p:nvSpPr>
        <p:spPr>
          <a:xfrm>
            <a:off x="1016000" y="4724400"/>
            <a:ext cx="3556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3700" y="4508500"/>
            <a:ext cx="9525000" cy="463550"/>
          </a:xfrm>
          <a:prstGeom prst="rect">
            <a:avLst/>
          </a:prstGeom>
          <a:noFill/>
        </p:spPr>
        <p:txBody>
          <a:bodyPr wrap="square" lIns="0" rIns="0" tIns="0" bIns="0" anchor="t">
            <a:spAutoFit/>
          </a:bodyPr>
          <a:lstStyle/>
          <a:p>
            <a:pPr algn="l">
              <a:lnSpc>
                <a:spcPct val="105000"/>
              </a:lnSpc>
            </a:pPr>
            <a:r>
              <a:rPr sz="3100" b="1" i="0">
                <a:solidFill>
                  <a:srgbClr val="0F2346"/>
                </a:solidFill>
                <a:latin typeface="Montserrat"/>
                <a:ea typeface="Montserrat"/>
                <a:cs typeface="Montserrat"/>
              </a:rPr>
              <a:t>NEW CONTEXT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3600" y="1066800"/>
            <a:ext cx="1270000" cy="609600"/>
          </a:xfrm>
          <a:prstGeom prst="rect">
            <a:avLst/>
          </a:prstGeom>
          <a:noFill/>
        </p:spPr>
        <p:txBody>
          <a:bodyPr wrap="square" lIns="0" rIns="0" tIns="0" bIns="0" anchor="t">
            <a:spAutoFit/>
          </a:bodyPr>
          <a:lstStyle/>
          <a:p>
            <a:pPr algn="l">
              <a:lnSpc>
                <a:spcPct val="100000"/>
              </a:lnSpc>
            </a:pPr>
            <a:r>
              <a:rPr sz="4400" b="1" i="0">
                <a:solidFill>
                  <a:srgbClr val="C9A84C"/>
                </a:solidFill>
                <a:latin typeface="Montserrat"/>
                <a:ea typeface="Montserrat"/>
                <a:cs typeface="Montserrat"/>
              </a:rPr>
              <a:t>2</a:t>
            </a:r>
          </a:p>
        </p:txBody>
      </p:sp>
      <p:sp>
        <p:nvSpPr>
          <p:cNvPr id="4" name="Rectangle 3"/>
          <p:cNvSpPr/>
          <p:nvPr/>
        </p:nvSpPr>
        <p:spPr>
          <a:xfrm>
            <a:off x="863600" y="1841500"/>
            <a:ext cx="5842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2171700"/>
            <a:ext cx="10160000" cy="93345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WILL YOUR JUDGMENT</a:t>
            </a:r>
            <a:br/>
            <a:r>
              <a:rPr sz="3100" b="1" i="0">
                <a:solidFill>
                  <a:srgbClr val="F5F1E8"/>
                </a:solidFill>
                <a:latin typeface="Montserrat"/>
                <a:ea typeface="Montserrat"/>
                <a:cs typeface="Montserrat"/>
              </a:rPr>
              <a:t>EXPAND?</a:t>
            </a:r>
          </a:p>
        </p:txBody>
      </p:sp>
      <p:sp>
        <p:nvSpPr>
          <p:cNvPr id="6" name="TextBox 5"/>
          <p:cNvSpPr txBox="1"/>
          <p:nvPr/>
        </p:nvSpPr>
        <p:spPr>
          <a:xfrm>
            <a:off x="863600" y="3530600"/>
            <a:ext cx="10541000" cy="482600"/>
          </a:xfrm>
          <a:prstGeom prst="rect">
            <a:avLst/>
          </a:prstGeom>
          <a:noFill/>
        </p:spPr>
        <p:txBody>
          <a:bodyPr wrap="square" lIns="0" rIns="0" tIns="0" bIns="0" anchor="t">
            <a:spAutoFit/>
          </a:bodyPr>
          <a:lstStyle/>
          <a:p>
            <a:pPr algn="l">
              <a:lnSpc>
                <a:spcPct val="130000"/>
              </a:lnSpc>
            </a:pPr>
            <a:r>
              <a:rPr sz="2600" b="0" i="0">
                <a:solidFill>
                  <a:srgbClr val="F5F1E8"/>
                </a:solidFill>
                <a:latin typeface="DM Sans"/>
                <a:ea typeface="DM Sans"/>
                <a:cs typeface="DM Sans"/>
              </a:rPr>
              <a:t>What will you notice, weigh, recommend or 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98500" y="2540000"/>
            <a:ext cx="5016500" cy="412750"/>
          </a:xfrm>
          <a:prstGeom prst="rect">
            <a:avLst/>
          </a:prstGeom>
          <a:noFill/>
        </p:spPr>
        <p:txBody>
          <a:bodyPr wrap="square" lIns="0" rIns="0" tIns="0" bIns="0" anchor="t">
            <a:spAutoFit/>
          </a:bodyPr>
          <a:lstStyle/>
          <a:p>
            <a:pPr algn="l">
              <a:lnSpc>
                <a:spcPct val="105000"/>
              </a:lnSpc>
            </a:pPr>
            <a:r>
              <a:rPr sz="2700" b="1" i="0">
                <a:solidFill>
                  <a:srgbClr val="0F2346"/>
                </a:solidFill>
                <a:latin typeface="Montserrat"/>
                <a:ea typeface="Montserrat"/>
                <a:cs typeface="Montserrat"/>
              </a:rPr>
              <a:t>MORE TASKS</a:t>
            </a:r>
          </a:p>
        </p:txBody>
      </p:sp>
      <p:sp>
        <p:nvSpPr>
          <p:cNvPr id="3" name="Rectangle 2"/>
          <p:cNvSpPr/>
          <p:nvPr/>
        </p:nvSpPr>
        <p:spPr>
          <a:xfrm>
            <a:off x="698500" y="3111500"/>
            <a:ext cx="10795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8500" y="3441700"/>
            <a:ext cx="5080000" cy="425450"/>
          </a:xfrm>
          <a:prstGeom prst="rect">
            <a:avLst/>
          </a:prstGeom>
          <a:noFill/>
        </p:spPr>
        <p:txBody>
          <a:bodyPr wrap="square" lIns="0" rIns="0" tIns="0" bIns="0" anchor="t">
            <a:spAutoFit/>
          </a:bodyPr>
          <a:lstStyle/>
          <a:p>
            <a:pPr algn="l">
              <a:lnSpc>
                <a:spcPct val="134000"/>
              </a:lnSpc>
            </a:pPr>
            <a:r>
              <a:rPr sz="2200" b="0" i="0">
                <a:solidFill>
                  <a:srgbClr val="5A6B82"/>
                </a:solidFill>
                <a:latin typeface="DM Sans"/>
                <a:ea typeface="DM Sans"/>
                <a:cs typeface="DM Sans"/>
              </a:rPr>
              <a:t>Volume • Coordination • Absorption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98500" y="2540000"/>
            <a:ext cx="5016500" cy="412750"/>
          </a:xfrm>
          <a:prstGeom prst="rect">
            <a:avLst/>
          </a:prstGeom>
          <a:noFill/>
        </p:spPr>
        <p:txBody>
          <a:bodyPr wrap="square" lIns="0" rIns="0" tIns="0" bIns="0" anchor="t">
            <a:spAutoFit/>
          </a:bodyPr>
          <a:lstStyle/>
          <a:p>
            <a:pPr algn="l">
              <a:lnSpc>
                <a:spcPct val="105000"/>
              </a:lnSpc>
            </a:pPr>
            <a:r>
              <a:rPr sz="2700" b="1" i="0">
                <a:solidFill>
                  <a:srgbClr val="0F2346"/>
                </a:solidFill>
                <a:latin typeface="Montserrat"/>
                <a:ea typeface="Montserrat"/>
                <a:cs typeface="Montserrat"/>
              </a:rPr>
              <a:t>MORE TASKS</a:t>
            </a:r>
          </a:p>
        </p:txBody>
      </p:sp>
      <p:sp>
        <p:nvSpPr>
          <p:cNvPr id="3" name="Rectangle 2"/>
          <p:cNvSpPr/>
          <p:nvPr/>
        </p:nvSpPr>
        <p:spPr>
          <a:xfrm>
            <a:off x="698500" y="3111500"/>
            <a:ext cx="10795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8500" y="3441700"/>
            <a:ext cx="5080000" cy="425450"/>
          </a:xfrm>
          <a:prstGeom prst="rect">
            <a:avLst/>
          </a:prstGeom>
          <a:noFill/>
        </p:spPr>
        <p:txBody>
          <a:bodyPr wrap="square" lIns="0" rIns="0" tIns="0" bIns="0" anchor="t">
            <a:spAutoFit/>
          </a:bodyPr>
          <a:lstStyle/>
          <a:p>
            <a:pPr algn="l">
              <a:lnSpc>
                <a:spcPct val="134000"/>
              </a:lnSpc>
            </a:pPr>
            <a:r>
              <a:rPr sz="2200" b="0" i="0">
                <a:solidFill>
                  <a:srgbClr val="5A6B82"/>
                </a:solidFill>
                <a:latin typeface="DM Sans"/>
                <a:ea typeface="DM Sans"/>
                <a:cs typeface="DM Sans"/>
              </a:rPr>
              <a:t>Volume • Coordination • Absorption</a:t>
            </a:r>
          </a:p>
        </p:txBody>
      </p:sp>
      <p:sp>
        <p:nvSpPr>
          <p:cNvPr id="5" name="Rectangle 4"/>
          <p:cNvSpPr/>
          <p:nvPr/>
        </p:nvSpPr>
        <p:spPr>
          <a:xfrm>
            <a:off x="5905500" y="2006600"/>
            <a:ext cx="6096000" cy="25654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54750" y="2540000"/>
            <a:ext cx="5524500" cy="412750"/>
          </a:xfrm>
          <a:prstGeom prst="rect">
            <a:avLst/>
          </a:prstGeom>
          <a:noFill/>
        </p:spPr>
        <p:txBody>
          <a:bodyPr wrap="square" lIns="0" rIns="0" tIns="0" bIns="0" anchor="t">
            <a:spAutoFit/>
          </a:bodyPr>
          <a:lstStyle/>
          <a:p>
            <a:pPr algn="l">
              <a:lnSpc>
                <a:spcPct val="105000"/>
              </a:lnSpc>
            </a:pPr>
            <a:r>
              <a:rPr sz="2700" b="1" i="0">
                <a:solidFill>
                  <a:srgbClr val="F5F1E8"/>
                </a:solidFill>
                <a:latin typeface="Montserrat"/>
                <a:ea typeface="Montserrat"/>
                <a:cs typeface="Montserrat"/>
              </a:rPr>
              <a:t>MORE JUDGMENT</a:t>
            </a:r>
          </a:p>
        </p:txBody>
      </p:sp>
      <p:sp>
        <p:nvSpPr>
          <p:cNvPr id="7" name="Rectangle 6"/>
          <p:cNvSpPr/>
          <p:nvPr/>
        </p:nvSpPr>
        <p:spPr>
          <a:xfrm>
            <a:off x="6254750" y="3111500"/>
            <a:ext cx="10795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54750" y="3441700"/>
            <a:ext cx="5524500" cy="425450"/>
          </a:xfrm>
          <a:prstGeom prst="rect">
            <a:avLst/>
          </a:prstGeom>
          <a:noFill/>
        </p:spPr>
        <p:txBody>
          <a:bodyPr wrap="square" lIns="0" rIns="0" tIns="0" bIns="0" anchor="t">
            <a:spAutoFit/>
          </a:bodyPr>
          <a:lstStyle/>
          <a:p>
            <a:pPr algn="l">
              <a:lnSpc>
                <a:spcPct val="134000"/>
              </a:lnSpc>
            </a:pPr>
            <a:r>
              <a:rPr sz="2200" b="0" i="0">
                <a:solidFill>
                  <a:srgbClr val="F5F1E8"/>
                </a:solidFill>
                <a:latin typeface="DM Sans"/>
                <a:ea typeface="DM Sans"/>
                <a:cs typeface="DM Sans"/>
              </a:rPr>
              <a:t>Interpretation • Tradeoffs • Consequence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3600" y="1066800"/>
            <a:ext cx="1270000" cy="609600"/>
          </a:xfrm>
          <a:prstGeom prst="rect">
            <a:avLst/>
          </a:prstGeom>
          <a:noFill/>
        </p:spPr>
        <p:txBody>
          <a:bodyPr wrap="square" lIns="0" rIns="0" tIns="0" bIns="0" anchor="t">
            <a:spAutoFit/>
          </a:bodyPr>
          <a:lstStyle/>
          <a:p>
            <a:pPr algn="l">
              <a:lnSpc>
                <a:spcPct val="100000"/>
              </a:lnSpc>
            </a:pPr>
            <a:r>
              <a:rPr sz="4400" b="1" i="0">
                <a:solidFill>
                  <a:srgbClr val="C9A84C"/>
                </a:solidFill>
                <a:latin typeface="Montserrat"/>
                <a:ea typeface="Montserrat"/>
                <a:cs typeface="Montserrat"/>
              </a:rPr>
              <a:t>3</a:t>
            </a:r>
          </a:p>
        </p:txBody>
      </p:sp>
      <p:sp>
        <p:nvSpPr>
          <p:cNvPr id="4" name="Rectangle 3"/>
          <p:cNvSpPr/>
          <p:nvPr/>
        </p:nvSpPr>
        <p:spPr>
          <a:xfrm>
            <a:off x="863600" y="1841500"/>
            <a:ext cx="5842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2171700"/>
            <a:ext cx="10160000" cy="93345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WILL THE EVIDENCE</a:t>
            </a:r>
            <a:br/>
            <a:r>
              <a:rPr sz="3100" b="1" i="0">
                <a:solidFill>
                  <a:srgbClr val="F5F1E8"/>
                </a:solidFill>
                <a:latin typeface="Montserrat"/>
                <a:ea typeface="Montserrat"/>
                <a:cs typeface="Montserrat"/>
              </a:rPr>
              <a:t>TRAVEL?</a:t>
            </a:r>
          </a:p>
        </p:txBody>
      </p:sp>
      <p:sp>
        <p:nvSpPr>
          <p:cNvPr id="6" name="TextBox 5"/>
          <p:cNvSpPr txBox="1"/>
          <p:nvPr/>
        </p:nvSpPr>
        <p:spPr>
          <a:xfrm>
            <a:off x="863600" y="3530600"/>
            <a:ext cx="10541000" cy="482600"/>
          </a:xfrm>
          <a:prstGeom prst="rect">
            <a:avLst/>
          </a:prstGeom>
          <a:noFill/>
        </p:spPr>
        <p:txBody>
          <a:bodyPr wrap="square" lIns="0" rIns="0" tIns="0" bIns="0" anchor="t">
            <a:spAutoFit/>
          </a:bodyPr>
          <a:lstStyle/>
          <a:p>
            <a:pPr algn="l">
              <a:lnSpc>
                <a:spcPct val="130000"/>
              </a:lnSpc>
            </a:pPr>
            <a:r>
              <a:rPr sz="2600" b="0" i="0">
                <a:solidFill>
                  <a:srgbClr val="F5F1E8"/>
                </a:solidFill>
                <a:latin typeface="DM Sans"/>
                <a:ea typeface="DM Sans"/>
                <a:cs typeface="DM Sans"/>
              </a:rPr>
              <a:t>Can you explain the work beyond internal language?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587500"/>
            <a:ext cx="3175000" cy="400050"/>
          </a:xfrm>
          <a:prstGeom prst="rect">
            <a:avLst/>
          </a:prstGeom>
          <a:noFill/>
        </p:spPr>
        <p:txBody>
          <a:bodyPr wrap="square" lIns="0" rIns="0" tIns="0" bIns="0" anchor="t">
            <a:spAutoFit/>
          </a:bodyPr>
          <a:lstStyle/>
          <a:p>
            <a:pPr algn="l">
              <a:lnSpc>
                <a:spcPct val="105000"/>
              </a:lnSpc>
            </a:pPr>
            <a:r>
              <a:rPr sz="2600" b="1" i="0">
                <a:solidFill>
                  <a:srgbClr val="0F2346"/>
                </a:solidFill>
                <a:latin typeface="Montserrat"/>
                <a:ea typeface="Montserrat"/>
                <a:cs typeface="Montserrat"/>
              </a:rPr>
              <a:t>RESULT</a:t>
            </a:r>
          </a:p>
        </p:txBody>
      </p:sp>
      <p:sp>
        <p:nvSpPr>
          <p:cNvPr id="3" name="TextBox 2"/>
          <p:cNvSpPr txBox="1"/>
          <p:nvPr/>
        </p:nvSpPr>
        <p:spPr>
          <a:xfrm>
            <a:off x="4318000" y="1651000"/>
            <a:ext cx="6921500" cy="444500"/>
          </a:xfrm>
          <a:prstGeom prst="rect">
            <a:avLst/>
          </a:prstGeom>
          <a:noFill/>
        </p:spPr>
        <p:txBody>
          <a:bodyPr wrap="square" lIns="0" rIns="0" tIns="0" bIns="0" anchor="t">
            <a:spAutoFit/>
          </a:bodyPr>
          <a:lstStyle/>
          <a:p>
            <a:pPr algn="l">
              <a:lnSpc>
                <a:spcPct val="130000"/>
              </a:lnSpc>
            </a:pPr>
            <a:r>
              <a:rPr sz="2400" b="0" i="0">
                <a:solidFill>
                  <a:srgbClr val="244B78"/>
                </a:solidFill>
                <a:latin typeface="DM Sans"/>
                <a:ea typeface="DM Sans"/>
                <a:cs typeface="DM Sans"/>
              </a:rPr>
              <a:t>What changed?</a:t>
            </a:r>
          </a:p>
        </p:txBody>
      </p:sp>
      <p:sp>
        <p:nvSpPr>
          <p:cNvPr id="4" name="Rectangle 3"/>
          <p:cNvSpPr/>
          <p:nvPr/>
        </p:nvSpPr>
        <p:spPr>
          <a:xfrm>
            <a:off x="1016000" y="23368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587500"/>
            <a:ext cx="3175000" cy="400050"/>
          </a:xfrm>
          <a:prstGeom prst="rect">
            <a:avLst/>
          </a:prstGeom>
          <a:noFill/>
        </p:spPr>
        <p:txBody>
          <a:bodyPr wrap="square" lIns="0" rIns="0" tIns="0" bIns="0" anchor="t">
            <a:spAutoFit/>
          </a:bodyPr>
          <a:lstStyle/>
          <a:p>
            <a:pPr algn="l">
              <a:lnSpc>
                <a:spcPct val="105000"/>
              </a:lnSpc>
            </a:pPr>
            <a:r>
              <a:rPr sz="2600" b="1" i="0">
                <a:solidFill>
                  <a:srgbClr val="0F2346"/>
                </a:solidFill>
                <a:latin typeface="Montserrat"/>
                <a:ea typeface="Montserrat"/>
                <a:cs typeface="Montserrat"/>
              </a:rPr>
              <a:t>RESULT</a:t>
            </a:r>
          </a:p>
        </p:txBody>
      </p:sp>
      <p:sp>
        <p:nvSpPr>
          <p:cNvPr id="3" name="TextBox 2"/>
          <p:cNvSpPr txBox="1"/>
          <p:nvPr/>
        </p:nvSpPr>
        <p:spPr>
          <a:xfrm>
            <a:off x="4318000" y="1651000"/>
            <a:ext cx="6921500" cy="444500"/>
          </a:xfrm>
          <a:prstGeom prst="rect">
            <a:avLst/>
          </a:prstGeom>
          <a:noFill/>
        </p:spPr>
        <p:txBody>
          <a:bodyPr wrap="square" lIns="0" rIns="0" tIns="0" bIns="0" anchor="t">
            <a:spAutoFit/>
          </a:bodyPr>
          <a:lstStyle/>
          <a:p>
            <a:pPr algn="l">
              <a:lnSpc>
                <a:spcPct val="130000"/>
              </a:lnSpc>
            </a:pPr>
            <a:r>
              <a:rPr sz="2400" b="0" i="0">
                <a:solidFill>
                  <a:srgbClr val="244B78"/>
                </a:solidFill>
                <a:latin typeface="DM Sans"/>
                <a:ea typeface="DM Sans"/>
                <a:cs typeface="DM Sans"/>
              </a:rPr>
              <a:t>What changed?</a:t>
            </a:r>
          </a:p>
        </p:txBody>
      </p:sp>
      <p:sp>
        <p:nvSpPr>
          <p:cNvPr id="4" name="Rectangle 3"/>
          <p:cNvSpPr/>
          <p:nvPr/>
        </p:nvSpPr>
        <p:spPr>
          <a:xfrm>
            <a:off x="1016000" y="23368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794000"/>
            <a:ext cx="3175000" cy="400050"/>
          </a:xfrm>
          <a:prstGeom prst="rect">
            <a:avLst/>
          </a:prstGeom>
          <a:noFill/>
        </p:spPr>
        <p:txBody>
          <a:bodyPr wrap="square" lIns="0" rIns="0" tIns="0" bIns="0" anchor="t">
            <a:spAutoFit/>
          </a:bodyPr>
          <a:lstStyle/>
          <a:p>
            <a:pPr algn="l">
              <a:lnSpc>
                <a:spcPct val="105000"/>
              </a:lnSpc>
            </a:pPr>
            <a:r>
              <a:rPr sz="2600" b="1" i="0">
                <a:solidFill>
                  <a:srgbClr val="0F2346"/>
                </a:solidFill>
                <a:latin typeface="Montserrat"/>
                <a:ea typeface="Montserrat"/>
                <a:cs typeface="Montserrat"/>
              </a:rPr>
              <a:t>JUDGMENT</a:t>
            </a:r>
          </a:p>
        </p:txBody>
      </p:sp>
      <p:sp>
        <p:nvSpPr>
          <p:cNvPr id="6" name="TextBox 5"/>
          <p:cNvSpPr txBox="1"/>
          <p:nvPr/>
        </p:nvSpPr>
        <p:spPr>
          <a:xfrm>
            <a:off x="4318000" y="2857500"/>
            <a:ext cx="6921500" cy="444500"/>
          </a:xfrm>
          <a:prstGeom prst="rect">
            <a:avLst/>
          </a:prstGeom>
          <a:noFill/>
        </p:spPr>
        <p:txBody>
          <a:bodyPr wrap="square" lIns="0" rIns="0" tIns="0" bIns="0" anchor="t">
            <a:spAutoFit/>
          </a:bodyPr>
          <a:lstStyle/>
          <a:p>
            <a:pPr algn="l">
              <a:lnSpc>
                <a:spcPct val="130000"/>
              </a:lnSpc>
            </a:pPr>
            <a:r>
              <a:rPr sz="2400" b="0" i="0">
                <a:solidFill>
                  <a:srgbClr val="244B78"/>
                </a:solidFill>
                <a:latin typeface="DM Sans"/>
                <a:ea typeface="DM Sans"/>
                <a:cs typeface="DM Sans"/>
              </a:rPr>
              <a:t>What did you notice or decide?</a:t>
            </a:r>
          </a:p>
        </p:txBody>
      </p:sp>
      <p:sp>
        <p:nvSpPr>
          <p:cNvPr id="7" name="Rectangle 6"/>
          <p:cNvSpPr/>
          <p:nvPr/>
        </p:nvSpPr>
        <p:spPr>
          <a:xfrm>
            <a:off x="1016000" y="35433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587500"/>
            <a:ext cx="3175000" cy="400050"/>
          </a:xfrm>
          <a:prstGeom prst="rect">
            <a:avLst/>
          </a:prstGeom>
          <a:noFill/>
        </p:spPr>
        <p:txBody>
          <a:bodyPr wrap="square" lIns="0" rIns="0" tIns="0" bIns="0" anchor="t">
            <a:spAutoFit/>
          </a:bodyPr>
          <a:lstStyle/>
          <a:p>
            <a:pPr algn="l">
              <a:lnSpc>
                <a:spcPct val="105000"/>
              </a:lnSpc>
            </a:pPr>
            <a:r>
              <a:rPr sz="2600" b="1" i="0">
                <a:solidFill>
                  <a:srgbClr val="0F2346"/>
                </a:solidFill>
                <a:latin typeface="Montserrat"/>
                <a:ea typeface="Montserrat"/>
                <a:cs typeface="Montserrat"/>
              </a:rPr>
              <a:t>RESULT</a:t>
            </a:r>
          </a:p>
        </p:txBody>
      </p:sp>
      <p:sp>
        <p:nvSpPr>
          <p:cNvPr id="3" name="TextBox 2"/>
          <p:cNvSpPr txBox="1"/>
          <p:nvPr/>
        </p:nvSpPr>
        <p:spPr>
          <a:xfrm>
            <a:off x="4318000" y="1651000"/>
            <a:ext cx="6921500" cy="444500"/>
          </a:xfrm>
          <a:prstGeom prst="rect">
            <a:avLst/>
          </a:prstGeom>
          <a:noFill/>
        </p:spPr>
        <p:txBody>
          <a:bodyPr wrap="square" lIns="0" rIns="0" tIns="0" bIns="0" anchor="t">
            <a:spAutoFit/>
          </a:bodyPr>
          <a:lstStyle/>
          <a:p>
            <a:pPr algn="l">
              <a:lnSpc>
                <a:spcPct val="130000"/>
              </a:lnSpc>
            </a:pPr>
            <a:r>
              <a:rPr sz="2400" b="0" i="0">
                <a:solidFill>
                  <a:srgbClr val="244B78"/>
                </a:solidFill>
                <a:latin typeface="DM Sans"/>
                <a:ea typeface="DM Sans"/>
                <a:cs typeface="DM Sans"/>
              </a:rPr>
              <a:t>What changed?</a:t>
            </a:r>
          </a:p>
        </p:txBody>
      </p:sp>
      <p:sp>
        <p:nvSpPr>
          <p:cNvPr id="4" name="Rectangle 3"/>
          <p:cNvSpPr/>
          <p:nvPr/>
        </p:nvSpPr>
        <p:spPr>
          <a:xfrm>
            <a:off x="1016000" y="23368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794000"/>
            <a:ext cx="3175000" cy="400050"/>
          </a:xfrm>
          <a:prstGeom prst="rect">
            <a:avLst/>
          </a:prstGeom>
          <a:noFill/>
        </p:spPr>
        <p:txBody>
          <a:bodyPr wrap="square" lIns="0" rIns="0" tIns="0" bIns="0" anchor="t">
            <a:spAutoFit/>
          </a:bodyPr>
          <a:lstStyle/>
          <a:p>
            <a:pPr algn="l">
              <a:lnSpc>
                <a:spcPct val="105000"/>
              </a:lnSpc>
            </a:pPr>
            <a:r>
              <a:rPr sz="2600" b="1" i="0">
                <a:solidFill>
                  <a:srgbClr val="0F2346"/>
                </a:solidFill>
                <a:latin typeface="Montserrat"/>
                <a:ea typeface="Montserrat"/>
                <a:cs typeface="Montserrat"/>
              </a:rPr>
              <a:t>JUDGMENT</a:t>
            </a:r>
          </a:p>
        </p:txBody>
      </p:sp>
      <p:sp>
        <p:nvSpPr>
          <p:cNvPr id="6" name="TextBox 5"/>
          <p:cNvSpPr txBox="1"/>
          <p:nvPr/>
        </p:nvSpPr>
        <p:spPr>
          <a:xfrm>
            <a:off x="4318000" y="2857500"/>
            <a:ext cx="6921500" cy="444500"/>
          </a:xfrm>
          <a:prstGeom prst="rect">
            <a:avLst/>
          </a:prstGeom>
          <a:noFill/>
        </p:spPr>
        <p:txBody>
          <a:bodyPr wrap="square" lIns="0" rIns="0" tIns="0" bIns="0" anchor="t">
            <a:spAutoFit/>
          </a:bodyPr>
          <a:lstStyle/>
          <a:p>
            <a:pPr algn="l">
              <a:lnSpc>
                <a:spcPct val="130000"/>
              </a:lnSpc>
            </a:pPr>
            <a:r>
              <a:rPr sz="2400" b="0" i="0">
                <a:solidFill>
                  <a:srgbClr val="244B78"/>
                </a:solidFill>
                <a:latin typeface="DM Sans"/>
                <a:ea typeface="DM Sans"/>
                <a:cs typeface="DM Sans"/>
              </a:rPr>
              <a:t>What did you notice or decide?</a:t>
            </a:r>
          </a:p>
        </p:txBody>
      </p:sp>
      <p:sp>
        <p:nvSpPr>
          <p:cNvPr id="7" name="Rectangle 6"/>
          <p:cNvSpPr/>
          <p:nvPr/>
        </p:nvSpPr>
        <p:spPr>
          <a:xfrm>
            <a:off x="1016000" y="35433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4000500"/>
            <a:ext cx="3175000" cy="400050"/>
          </a:xfrm>
          <a:prstGeom prst="rect">
            <a:avLst/>
          </a:prstGeom>
          <a:noFill/>
        </p:spPr>
        <p:txBody>
          <a:bodyPr wrap="square" lIns="0" rIns="0" tIns="0" bIns="0" anchor="t">
            <a:spAutoFit/>
          </a:bodyPr>
          <a:lstStyle/>
          <a:p>
            <a:pPr algn="l">
              <a:lnSpc>
                <a:spcPct val="105000"/>
              </a:lnSpc>
            </a:pPr>
            <a:r>
              <a:rPr sz="2600" b="1" i="0">
                <a:solidFill>
                  <a:srgbClr val="0F2346"/>
                </a:solidFill>
                <a:latin typeface="Montserrat"/>
                <a:ea typeface="Montserrat"/>
                <a:cs typeface="Montserrat"/>
              </a:rPr>
              <a:t>RANGE</a:t>
            </a:r>
          </a:p>
        </p:txBody>
      </p:sp>
      <p:sp>
        <p:nvSpPr>
          <p:cNvPr id="9" name="TextBox 8"/>
          <p:cNvSpPr txBox="1"/>
          <p:nvPr/>
        </p:nvSpPr>
        <p:spPr>
          <a:xfrm>
            <a:off x="4318000" y="4064000"/>
            <a:ext cx="6921500" cy="444500"/>
          </a:xfrm>
          <a:prstGeom prst="rect">
            <a:avLst/>
          </a:prstGeom>
          <a:noFill/>
        </p:spPr>
        <p:txBody>
          <a:bodyPr wrap="square" lIns="0" rIns="0" tIns="0" bIns="0" anchor="t">
            <a:spAutoFit/>
          </a:bodyPr>
          <a:lstStyle/>
          <a:p>
            <a:pPr algn="l">
              <a:lnSpc>
                <a:spcPct val="130000"/>
              </a:lnSpc>
            </a:pPr>
            <a:r>
              <a:rPr sz="2400" b="0" i="0">
                <a:solidFill>
                  <a:srgbClr val="244B78"/>
                </a:solidFill>
                <a:latin typeface="DM Sans"/>
                <a:ea typeface="DM Sans"/>
                <a:cs typeface="DM Sans"/>
              </a:rPr>
              <a:t>What new context can you now handle?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663700"/>
            <a:ext cx="2413000" cy="425450"/>
          </a:xfrm>
          <a:prstGeom prst="rect">
            <a:avLst/>
          </a:prstGeom>
          <a:noFill/>
        </p:spPr>
        <p:txBody>
          <a:bodyPr wrap="square" lIns="0" rIns="0" tIns="0" bIns="0" anchor="t">
            <a:spAutoFit/>
          </a:bodyPr>
          <a:lstStyle/>
          <a:p>
            <a:pPr algn="l">
              <a:lnSpc>
                <a:spcPct val="105000"/>
              </a:lnSpc>
            </a:pPr>
            <a:r>
              <a:rPr sz="2800" b="1" i="0">
                <a:solidFill>
                  <a:srgbClr val="C9A84C"/>
                </a:solidFill>
                <a:latin typeface="Montserrat"/>
                <a:ea typeface="Montserrat"/>
                <a:cs typeface="Montserrat"/>
              </a:rPr>
              <a:t>3 YES</a:t>
            </a:r>
          </a:p>
        </p:txBody>
      </p:sp>
      <p:sp>
        <p:nvSpPr>
          <p:cNvPr id="4" name="TextBox 3"/>
          <p:cNvSpPr txBox="1"/>
          <p:nvPr/>
        </p:nvSpPr>
        <p:spPr>
          <a:xfrm>
            <a:off x="3873500" y="1701800"/>
            <a:ext cx="7493000" cy="387350"/>
          </a:xfrm>
          <a:prstGeom prst="rect">
            <a:avLst/>
          </a:prstGeom>
          <a:noFill/>
        </p:spPr>
        <p:txBody>
          <a:bodyPr wrap="square" lIns="0" rIns="0" tIns="0" bIns="0" anchor="t">
            <a:spAutoFit/>
          </a:bodyPr>
          <a:lstStyle/>
          <a:p>
            <a:pPr algn="l">
              <a:lnSpc>
                <a:spcPct val="110000"/>
              </a:lnSpc>
            </a:pPr>
            <a:r>
              <a:rPr sz="2400" b="1" i="0">
                <a:solidFill>
                  <a:srgbClr val="F5F1E8"/>
                </a:solidFill>
                <a:latin typeface="Montserrat"/>
                <a:ea typeface="Montserrat"/>
                <a:cs typeface="Montserrat"/>
              </a:rPr>
              <a:t>STRONG GROWTH CASE</a:t>
            </a:r>
          </a:p>
        </p:txBody>
      </p:sp>
      <p:sp>
        <p:nvSpPr>
          <p:cNvPr id="5" name="Rectangle 4"/>
          <p:cNvSpPr/>
          <p:nvPr/>
        </p:nvSpPr>
        <p:spPr>
          <a:xfrm>
            <a:off x="1016000" y="2501900"/>
            <a:ext cx="10160000" cy="12700"/>
          </a:xfrm>
          <a:prstGeom prst="rect">
            <a:avLst/>
          </a:prstGeom>
          <a:solidFill>
            <a:srgbClr val="63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663700"/>
            <a:ext cx="2413000" cy="425450"/>
          </a:xfrm>
          <a:prstGeom prst="rect">
            <a:avLst/>
          </a:prstGeom>
          <a:noFill/>
        </p:spPr>
        <p:txBody>
          <a:bodyPr wrap="square" lIns="0" rIns="0" tIns="0" bIns="0" anchor="t">
            <a:spAutoFit/>
          </a:bodyPr>
          <a:lstStyle/>
          <a:p>
            <a:pPr algn="l">
              <a:lnSpc>
                <a:spcPct val="105000"/>
              </a:lnSpc>
            </a:pPr>
            <a:r>
              <a:rPr sz="2800" b="1" i="0">
                <a:solidFill>
                  <a:srgbClr val="C9A84C"/>
                </a:solidFill>
                <a:latin typeface="Montserrat"/>
                <a:ea typeface="Montserrat"/>
                <a:cs typeface="Montserrat"/>
              </a:rPr>
              <a:t>3 YES</a:t>
            </a:r>
          </a:p>
        </p:txBody>
      </p:sp>
      <p:sp>
        <p:nvSpPr>
          <p:cNvPr id="4" name="TextBox 3"/>
          <p:cNvSpPr txBox="1"/>
          <p:nvPr/>
        </p:nvSpPr>
        <p:spPr>
          <a:xfrm>
            <a:off x="3873500" y="1701800"/>
            <a:ext cx="7493000" cy="387350"/>
          </a:xfrm>
          <a:prstGeom prst="rect">
            <a:avLst/>
          </a:prstGeom>
          <a:noFill/>
        </p:spPr>
        <p:txBody>
          <a:bodyPr wrap="square" lIns="0" rIns="0" tIns="0" bIns="0" anchor="t">
            <a:spAutoFit/>
          </a:bodyPr>
          <a:lstStyle/>
          <a:p>
            <a:pPr algn="l">
              <a:lnSpc>
                <a:spcPct val="110000"/>
              </a:lnSpc>
            </a:pPr>
            <a:r>
              <a:rPr sz="2400" b="1" i="0">
                <a:solidFill>
                  <a:srgbClr val="F5F1E8"/>
                </a:solidFill>
                <a:latin typeface="Montserrat"/>
                <a:ea typeface="Montserrat"/>
                <a:cs typeface="Montserrat"/>
              </a:rPr>
              <a:t>STRONG GROWTH CASE</a:t>
            </a:r>
          </a:p>
        </p:txBody>
      </p:sp>
      <p:sp>
        <p:nvSpPr>
          <p:cNvPr id="5" name="Rectangle 4"/>
          <p:cNvSpPr/>
          <p:nvPr/>
        </p:nvSpPr>
        <p:spPr>
          <a:xfrm>
            <a:off x="1016000" y="2501900"/>
            <a:ext cx="10160000" cy="12700"/>
          </a:xfrm>
          <a:prstGeom prst="rect">
            <a:avLst/>
          </a:prstGeom>
          <a:solidFill>
            <a:srgbClr val="63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971800"/>
            <a:ext cx="2413000" cy="425450"/>
          </a:xfrm>
          <a:prstGeom prst="rect">
            <a:avLst/>
          </a:prstGeom>
          <a:noFill/>
        </p:spPr>
        <p:txBody>
          <a:bodyPr wrap="square" lIns="0" rIns="0" tIns="0" bIns="0" anchor="t">
            <a:spAutoFit/>
          </a:bodyPr>
          <a:lstStyle/>
          <a:p>
            <a:pPr algn="l">
              <a:lnSpc>
                <a:spcPct val="105000"/>
              </a:lnSpc>
            </a:pPr>
            <a:r>
              <a:rPr sz="2800" b="1" i="0">
                <a:solidFill>
                  <a:srgbClr val="C9A84C"/>
                </a:solidFill>
                <a:latin typeface="Montserrat"/>
                <a:ea typeface="Montserrat"/>
                <a:cs typeface="Montserrat"/>
              </a:rPr>
              <a:t>2 YES</a:t>
            </a:r>
          </a:p>
        </p:txBody>
      </p:sp>
      <p:sp>
        <p:nvSpPr>
          <p:cNvPr id="7" name="TextBox 6"/>
          <p:cNvSpPr txBox="1"/>
          <p:nvPr/>
        </p:nvSpPr>
        <p:spPr>
          <a:xfrm>
            <a:off x="3873500" y="3009900"/>
            <a:ext cx="7493000" cy="387350"/>
          </a:xfrm>
          <a:prstGeom prst="rect">
            <a:avLst/>
          </a:prstGeom>
          <a:noFill/>
        </p:spPr>
        <p:txBody>
          <a:bodyPr wrap="square" lIns="0" rIns="0" tIns="0" bIns="0" anchor="t">
            <a:spAutoFit/>
          </a:bodyPr>
          <a:lstStyle/>
          <a:p>
            <a:pPr algn="l">
              <a:lnSpc>
                <a:spcPct val="110000"/>
              </a:lnSpc>
            </a:pPr>
            <a:r>
              <a:rPr sz="2400" b="1" i="0">
                <a:solidFill>
                  <a:srgbClr val="F5F1E8"/>
                </a:solidFill>
                <a:latin typeface="Montserrat"/>
                <a:ea typeface="Montserrat"/>
                <a:cs typeface="Montserrat"/>
              </a:rPr>
              <a:t>INVESTIGATE OR NEGOTIATE</a:t>
            </a:r>
          </a:p>
        </p:txBody>
      </p:sp>
      <p:sp>
        <p:nvSpPr>
          <p:cNvPr id="8" name="Rectangle 7"/>
          <p:cNvSpPr/>
          <p:nvPr/>
        </p:nvSpPr>
        <p:spPr>
          <a:xfrm>
            <a:off x="1016000" y="3810000"/>
            <a:ext cx="10160000" cy="12700"/>
          </a:xfrm>
          <a:prstGeom prst="rect">
            <a:avLst/>
          </a:prstGeom>
          <a:solidFill>
            <a:srgbClr val="63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663700"/>
            <a:ext cx="2413000" cy="425450"/>
          </a:xfrm>
          <a:prstGeom prst="rect">
            <a:avLst/>
          </a:prstGeom>
          <a:noFill/>
        </p:spPr>
        <p:txBody>
          <a:bodyPr wrap="square" lIns="0" rIns="0" tIns="0" bIns="0" anchor="t">
            <a:spAutoFit/>
          </a:bodyPr>
          <a:lstStyle/>
          <a:p>
            <a:pPr algn="l">
              <a:lnSpc>
                <a:spcPct val="105000"/>
              </a:lnSpc>
            </a:pPr>
            <a:r>
              <a:rPr sz="2800" b="1" i="0">
                <a:solidFill>
                  <a:srgbClr val="C9A84C"/>
                </a:solidFill>
                <a:latin typeface="Montserrat"/>
                <a:ea typeface="Montserrat"/>
                <a:cs typeface="Montserrat"/>
              </a:rPr>
              <a:t>3 YES</a:t>
            </a:r>
          </a:p>
        </p:txBody>
      </p:sp>
      <p:sp>
        <p:nvSpPr>
          <p:cNvPr id="4" name="TextBox 3"/>
          <p:cNvSpPr txBox="1"/>
          <p:nvPr/>
        </p:nvSpPr>
        <p:spPr>
          <a:xfrm>
            <a:off x="3873500" y="1701800"/>
            <a:ext cx="7493000" cy="387350"/>
          </a:xfrm>
          <a:prstGeom prst="rect">
            <a:avLst/>
          </a:prstGeom>
          <a:noFill/>
        </p:spPr>
        <p:txBody>
          <a:bodyPr wrap="square" lIns="0" rIns="0" tIns="0" bIns="0" anchor="t">
            <a:spAutoFit/>
          </a:bodyPr>
          <a:lstStyle/>
          <a:p>
            <a:pPr algn="l">
              <a:lnSpc>
                <a:spcPct val="110000"/>
              </a:lnSpc>
            </a:pPr>
            <a:r>
              <a:rPr sz="2400" b="1" i="0">
                <a:solidFill>
                  <a:srgbClr val="F5F1E8"/>
                </a:solidFill>
                <a:latin typeface="Montserrat"/>
                <a:ea typeface="Montserrat"/>
                <a:cs typeface="Montserrat"/>
              </a:rPr>
              <a:t>STRONG GROWTH CASE</a:t>
            </a:r>
          </a:p>
        </p:txBody>
      </p:sp>
      <p:sp>
        <p:nvSpPr>
          <p:cNvPr id="5" name="Rectangle 4"/>
          <p:cNvSpPr/>
          <p:nvPr/>
        </p:nvSpPr>
        <p:spPr>
          <a:xfrm>
            <a:off x="1016000" y="2501900"/>
            <a:ext cx="10160000" cy="12700"/>
          </a:xfrm>
          <a:prstGeom prst="rect">
            <a:avLst/>
          </a:prstGeom>
          <a:solidFill>
            <a:srgbClr val="63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971800"/>
            <a:ext cx="2413000" cy="425450"/>
          </a:xfrm>
          <a:prstGeom prst="rect">
            <a:avLst/>
          </a:prstGeom>
          <a:noFill/>
        </p:spPr>
        <p:txBody>
          <a:bodyPr wrap="square" lIns="0" rIns="0" tIns="0" bIns="0" anchor="t">
            <a:spAutoFit/>
          </a:bodyPr>
          <a:lstStyle/>
          <a:p>
            <a:pPr algn="l">
              <a:lnSpc>
                <a:spcPct val="105000"/>
              </a:lnSpc>
            </a:pPr>
            <a:r>
              <a:rPr sz="2800" b="1" i="0">
                <a:solidFill>
                  <a:srgbClr val="C9A84C"/>
                </a:solidFill>
                <a:latin typeface="Montserrat"/>
                <a:ea typeface="Montserrat"/>
                <a:cs typeface="Montserrat"/>
              </a:rPr>
              <a:t>2 YES</a:t>
            </a:r>
          </a:p>
        </p:txBody>
      </p:sp>
      <p:sp>
        <p:nvSpPr>
          <p:cNvPr id="7" name="TextBox 6"/>
          <p:cNvSpPr txBox="1"/>
          <p:nvPr/>
        </p:nvSpPr>
        <p:spPr>
          <a:xfrm>
            <a:off x="3873500" y="3009900"/>
            <a:ext cx="7493000" cy="387350"/>
          </a:xfrm>
          <a:prstGeom prst="rect">
            <a:avLst/>
          </a:prstGeom>
          <a:noFill/>
        </p:spPr>
        <p:txBody>
          <a:bodyPr wrap="square" lIns="0" rIns="0" tIns="0" bIns="0" anchor="t">
            <a:spAutoFit/>
          </a:bodyPr>
          <a:lstStyle/>
          <a:p>
            <a:pPr algn="l">
              <a:lnSpc>
                <a:spcPct val="110000"/>
              </a:lnSpc>
            </a:pPr>
            <a:r>
              <a:rPr sz="2400" b="1" i="0">
                <a:solidFill>
                  <a:srgbClr val="F5F1E8"/>
                </a:solidFill>
                <a:latin typeface="Montserrat"/>
                <a:ea typeface="Montserrat"/>
                <a:cs typeface="Montserrat"/>
              </a:rPr>
              <a:t>INVESTIGATE OR NEGOTIATE</a:t>
            </a:r>
          </a:p>
        </p:txBody>
      </p:sp>
      <p:sp>
        <p:nvSpPr>
          <p:cNvPr id="8" name="Rectangle 7"/>
          <p:cNvSpPr/>
          <p:nvPr/>
        </p:nvSpPr>
        <p:spPr>
          <a:xfrm>
            <a:off x="1016000" y="3810000"/>
            <a:ext cx="10160000" cy="12700"/>
          </a:xfrm>
          <a:prstGeom prst="rect">
            <a:avLst/>
          </a:prstGeom>
          <a:solidFill>
            <a:srgbClr val="63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4279900"/>
            <a:ext cx="2413000" cy="425450"/>
          </a:xfrm>
          <a:prstGeom prst="rect">
            <a:avLst/>
          </a:prstGeom>
          <a:noFill/>
        </p:spPr>
        <p:txBody>
          <a:bodyPr wrap="square" lIns="0" rIns="0" tIns="0" bIns="0" anchor="t">
            <a:spAutoFit/>
          </a:bodyPr>
          <a:lstStyle/>
          <a:p>
            <a:pPr algn="l">
              <a:lnSpc>
                <a:spcPct val="105000"/>
              </a:lnSpc>
            </a:pPr>
            <a:r>
              <a:rPr sz="2800" b="1" i="0">
                <a:solidFill>
                  <a:srgbClr val="C9A84C"/>
                </a:solidFill>
                <a:latin typeface="Montserrat"/>
                <a:ea typeface="Montserrat"/>
                <a:cs typeface="Montserrat"/>
              </a:rPr>
              <a:t>0-1 YES</a:t>
            </a:r>
          </a:p>
        </p:txBody>
      </p:sp>
      <p:sp>
        <p:nvSpPr>
          <p:cNvPr id="10" name="TextBox 9"/>
          <p:cNvSpPr txBox="1"/>
          <p:nvPr/>
        </p:nvSpPr>
        <p:spPr>
          <a:xfrm>
            <a:off x="3873500" y="4318000"/>
            <a:ext cx="7493000" cy="387350"/>
          </a:xfrm>
          <a:prstGeom prst="rect">
            <a:avLst/>
          </a:prstGeom>
          <a:noFill/>
        </p:spPr>
        <p:txBody>
          <a:bodyPr wrap="square" lIns="0" rIns="0" tIns="0" bIns="0" anchor="t">
            <a:spAutoFit/>
          </a:bodyPr>
          <a:lstStyle/>
          <a:p>
            <a:pPr algn="l">
              <a:lnSpc>
                <a:spcPct val="110000"/>
              </a:lnSpc>
            </a:pPr>
            <a:r>
              <a:rPr sz="2400" b="1" i="0">
                <a:solidFill>
                  <a:srgbClr val="F5F1E8"/>
                </a:solidFill>
                <a:latin typeface="Montserrat"/>
                <a:ea typeface="Montserrat"/>
                <a:cs typeface="Montserrat"/>
              </a:rPr>
              <a:t>MOVEMENT, NOT MUCH FORMATION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727200"/>
            <a:ext cx="635000" cy="2413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3" name="TextBox 2"/>
          <p:cNvSpPr txBox="1"/>
          <p:nvPr/>
        </p:nvSpPr>
        <p:spPr>
          <a:xfrm>
            <a:off x="1828800" y="1638300"/>
            <a:ext cx="9525000" cy="419100"/>
          </a:xfrm>
          <a:prstGeom prst="rect">
            <a:avLst/>
          </a:prstGeom>
          <a:noFill/>
        </p:spPr>
        <p:txBody>
          <a:bodyPr wrap="square" lIns="0" rIns="0" tIns="0" bIns="0" anchor="t">
            <a:spAutoFit/>
          </a:bodyPr>
          <a:lstStyle/>
          <a:p>
            <a:pPr algn="l">
              <a:lnSpc>
                <a:spcPct val="120000"/>
              </a:lnSpc>
            </a:pPr>
            <a:r>
              <a:rPr sz="2400" b="1" i="0">
                <a:solidFill>
                  <a:srgbClr val="0F2346"/>
                </a:solidFill>
                <a:latin typeface="Montserrat"/>
                <a:ea typeface="Montserrat"/>
                <a:cs typeface="Montserrat"/>
              </a:rPr>
              <a:t>What problems will I own in the first six months?</a:t>
            </a:r>
          </a:p>
        </p:txBody>
      </p:sp>
      <p:sp>
        <p:nvSpPr>
          <p:cNvPr id="4" name="Rectangle 3"/>
          <p:cNvSpPr/>
          <p:nvPr/>
        </p:nvSpPr>
        <p:spPr>
          <a:xfrm>
            <a:off x="1016000" y="25146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727200"/>
            <a:ext cx="635000" cy="2413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3" name="TextBox 2"/>
          <p:cNvSpPr txBox="1"/>
          <p:nvPr/>
        </p:nvSpPr>
        <p:spPr>
          <a:xfrm>
            <a:off x="1828800" y="1638300"/>
            <a:ext cx="9525000" cy="419100"/>
          </a:xfrm>
          <a:prstGeom prst="rect">
            <a:avLst/>
          </a:prstGeom>
          <a:noFill/>
        </p:spPr>
        <p:txBody>
          <a:bodyPr wrap="square" lIns="0" rIns="0" tIns="0" bIns="0" anchor="t">
            <a:spAutoFit/>
          </a:bodyPr>
          <a:lstStyle/>
          <a:p>
            <a:pPr algn="l">
              <a:lnSpc>
                <a:spcPct val="120000"/>
              </a:lnSpc>
            </a:pPr>
            <a:r>
              <a:rPr sz="2400" b="1" i="0">
                <a:solidFill>
                  <a:srgbClr val="0F2346"/>
                </a:solidFill>
                <a:latin typeface="Montserrat"/>
                <a:ea typeface="Montserrat"/>
                <a:cs typeface="Montserrat"/>
              </a:rPr>
              <a:t>What problems will I own in the first six months?</a:t>
            </a:r>
          </a:p>
        </p:txBody>
      </p:sp>
      <p:sp>
        <p:nvSpPr>
          <p:cNvPr id="4" name="Rectangle 3"/>
          <p:cNvSpPr/>
          <p:nvPr/>
        </p:nvSpPr>
        <p:spPr>
          <a:xfrm>
            <a:off x="1016000" y="25146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933700"/>
            <a:ext cx="635000" cy="2413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6" name="TextBox 5"/>
          <p:cNvSpPr txBox="1"/>
          <p:nvPr/>
        </p:nvSpPr>
        <p:spPr>
          <a:xfrm>
            <a:off x="1828800" y="2844800"/>
            <a:ext cx="9525000" cy="419100"/>
          </a:xfrm>
          <a:prstGeom prst="rect">
            <a:avLst/>
          </a:prstGeom>
          <a:noFill/>
        </p:spPr>
        <p:txBody>
          <a:bodyPr wrap="square" lIns="0" rIns="0" tIns="0" bIns="0" anchor="t">
            <a:spAutoFit/>
          </a:bodyPr>
          <a:lstStyle/>
          <a:p>
            <a:pPr algn="l">
              <a:lnSpc>
                <a:spcPct val="120000"/>
              </a:lnSpc>
            </a:pPr>
            <a:r>
              <a:rPr sz="2400" b="1" i="0">
                <a:solidFill>
                  <a:srgbClr val="0F2346"/>
                </a:solidFill>
                <a:latin typeface="Montserrat"/>
                <a:ea typeface="Montserrat"/>
                <a:cs typeface="Montserrat"/>
              </a:rPr>
              <a:t>Which decisions belong to this role?</a:t>
            </a:r>
          </a:p>
        </p:txBody>
      </p:sp>
      <p:sp>
        <p:nvSpPr>
          <p:cNvPr id="7" name="Rectangle 6"/>
          <p:cNvSpPr/>
          <p:nvPr/>
        </p:nvSpPr>
        <p:spPr>
          <a:xfrm>
            <a:off x="1016000" y="37211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727200"/>
            <a:ext cx="635000" cy="2413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3" name="TextBox 2"/>
          <p:cNvSpPr txBox="1"/>
          <p:nvPr/>
        </p:nvSpPr>
        <p:spPr>
          <a:xfrm>
            <a:off x="1828800" y="1638300"/>
            <a:ext cx="9525000" cy="419100"/>
          </a:xfrm>
          <a:prstGeom prst="rect">
            <a:avLst/>
          </a:prstGeom>
          <a:noFill/>
        </p:spPr>
        <p:txBody>
          <a:bodyPr wrap="square" lIns="0" rIns="0" tIns="0" bIns="0" anchor="t">
            <a:spAutoFit/>
          </a:bodyPr>
          <a:lstStyle/>
          <a:p>
            <a:pPr algn="l">
              <a:lnSpc>
                <a:spcPct val="120000"/>
              </a:lnSpc>
            </a:pPr>
            <a:r>
              <a:rPr sz="2400" b="1" i="0">
                <a:solidFill>
                  <a:srgbClr val="0F2346"/>
                </a:solidFill>
                <a:latin typeface="Montserrat"/>
                <a:ea typeface="Montserrat"/>
                <a:cs typeface="Montserrat"/>
              </a:rPr>
              <a:t>What problems will I own in the first six months?</a:t>
            </a:r>
          </a:p>
        </p:txBody>
      </p:sp>
      <p:sp>
        <p:nvSpPr>
          <p:cNvPr id="4" name="Rectangle 3"/>
          <p:cNvSpPr/>
          <p:nvPr/>
        </p:nvSpPr>
        <p:spPr>
          <a:xfrm>
            <a:off x="1016000" y="25146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933700"/>
            <a:ext cx="635000" cy="2413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6" name="TextBox 5"/>
          <p:cNvSpPr txBox="1"/>
          <p:nvPr/>
        </p:nvSpPr>
        <p:spPr>
          <a:xfrm>
            <a:off x="1828800" y="2844800"/>
            <a:ext cx="9525000" cy="419100"/>
          </a:xfrm>
          <a:prstGeom prst="rect">
            <a:avLst/>
          </a:prstGeom>
          <a:noFill/>
        </p:spPr>
        <p:txBody>
          <a:bodyPr wrap="square" lIns="0" rIns="0" tIns="0" bIns="0" anchor="t">
            <a:spAutoFit/>
          </a:bodyPr>
          <a:lstStyle/>
          <a:p>
            <a:pPr algn="l">
              <a:lnSpc>
                <a:spcPct val="120000"/>
              </a:lnSpc>
            </a:pPr>
            <a:r>
              <a:rPr sz="2400" b="1" i="0">
                <a:solidFill>
                  <a:srgbClr val="0F2346"/>
                </a:solidFill>
                <a:latin typeface="Montserrat"/>
                <a:ea typeface="Montserrat"/>
                <a:cs typeface="Montserrat"/>
              </a:rPr>
              <a:t>Which decisions belong to this role?</a:t>
            </a:r>
          </a:p>
        </p:txBody>
      </p:sp>
      <p:sp>
        <p:nvSpPr>
          <p:cNvPr id="7" name="Rectangle 6"/>
          <p:cNvSpPr/>
          <p:nvPr/>
        </p:nvSpPr>
        <p:spPr>
          <a:xfrm>
            <a:off x="1016000" y="37211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4140200"/>
            <a:ext cx="635000" cy="2413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03</a:t>
            </a:r>
          </a:p>
        </p:txBody>
      </p:sp>
      <p:sp>
        <p:nvSpPr>
          <p:cNvPr id="9" name="TextBox 8"/>
          <p:cNvSpPr txBox="1"/>
          <p:nvPr/>
        </p:nvSpPr>
        <p:spPr>
          <a:xfrm>
            <a:off x="1828800" y="4051300"/>
            <a:ext cx="9525000" cy="419100"/>
          </a:xfrm>
          <a:prstGeom prst="rect">
            <a:avLst/>
          </a:prstGeom>
          <a:noFill/>
        </p:spPr>
        <p:txBody>
          <a:bodyPr wrap="square" lIns="0" rIns="0" tIns="0" bIns="0" anchor="t">
            <a:spAutoFit/>
          </a:bodyPr>
          <a:lstStyle/>
          <a:p>
            <a:pPr algn="l">
              <a:lnSpc>
                <a:spcPct val="120000"/>
              </a:lnSpc>
            </a:pPr>
            <a:r>
              <a:rPr sz="2400" b="1" i="0">
                <a:solidFill>
                  <a:srgbClr val="0F2346"/>
                </a:solidFill>
                <a:latin typeface="Montserrat"/>
                <a:ea typeface="Montserrat"/>
                <a:cs typeface="Montserrat"/>
              </a:rPr>
              <a:t>How will success be measured?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095500"/>
            <a:ext cx="10160000" cy="1225550"/>
          </a:xfrm>
          <a:prstGeom prst="rect">
            <a:avLst/>
          </a:prstGeom>
          <a:noFill/>
        </p:spPr>
        <p:txBody>
          <a:bodyPr wrap="square" lIns="0" rIns="0" tIns="0" bIns="0" anchor="t">
            <a:spAutoFit/>
          </a:bodyPr>
          <a:lstStyle/>
          <a:p>
            <a:pPr algn="l">
              <a:lnSpc>
                <a:spcPct val="110000"/>
              </a:lnSpc>
            </a:pPr>
            <a:r>
              <a:rPr sz="4200" b="1" i="0">
                <a:solidFill>
                  <a:srgbClr val="F5F1E8"/>
                </a:solidFill>
                <a:latin typeface="Montserrat"/>
                <a:ea typeface="Montserrat"/>
                <a:cs typeface="Montserrat"/>
              </a:rPr>
              <a:t>CAREER DECISION</a:t>
            </a:r>
            <a:br/>
            <a:r>
              <a:rPr sz="4200" b="1" i="0">
                <a:solidFill>
                  <a:srgbClr val="F5F1E8"/>
                </a:solidFill>
                <a:latin typeface="Montserrat"/>
                <a:ea typeface="Montserrat"/>
                <a:cs typeface="Montserrat"/>
              </a:rPr>
              <a:t>EVIDENCE CHECK</a:t>
            </a:r>
          </a:p>
        </p:txBody>
      </p:sp>
      <p:sp>
        <p:nvSpPr>
          <p:cNvPr id="8" name="Rectangle 7"/>
          <p:cNvSpPr/>
          <p:nvPr/>
        </p:nvSpPr>
        <p:spPr>
          <a:xfrm>
            <a:off x="1016000" y="3594100"/>
            <a:ext cx="1905000" cy="3175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3949700"/>
            <a:ext cx="9906000" cy="844550"/>
          </a:xfrm>
          <a:prstGeom prst="rect">
            <a:avLst/>
          </a:prstGeom>
          <a:noFill/>
        </p:spPr>
        <p:txBody>
          <a:bodyPr wrap="square" lIns="0" rIns="0" tIns="0" bIns="0" anchor="t">
            <a:spAutoFit/>
          </a:bodyPr>
          <a:lstStyle/>
          <a:p>
            <a:pPr algn="l">
              <a:lnSpc>
                <a:spcPct val="130000"/>
              </a:lnSpc>
            </a:pPr>
            <a:r>
              <a:rPr sz="2400" b="0" i="0">
                <a:solidFill>
                  <a:srgbClr val="F5F1E8"/>
                </a:solidFill>
                <a:latin typeface="DM Sans"/>
                <a:ea typeface="DM Sans"/>
                <a:cs typeface="DM Sans"/>
              </a:rPr>
              <a:t>A free next step for an active stay,</a:t>
            </a:r>
            <a:br/>
            <a:r>
              <a:rPr sz="2400" b="0" i="0">
                <a:solidFill>
                  <a:srgbClr val="F5F1E8"/>
                </a:solidFill>
                <a:latin typeface="DM Sans"/>
                <a:ea typeface="DM Sans"/>
                <a:cs typeface="DM Sans"/>
              </a:rPr>
              <a:t>internal-move or leave decision</a:t>
            </a:r>
          </a:p>
        </p:txBody>
      </p:sp>
      <p:sp>
        <p:nvSpPr>
          <p:cNvPr id="10" name="TextBox 9"/>
          <p:cNvSpPr txBox="1"/>
          <p:nvPr/>
        </p:nvSpPr>
        <p:spPr>
          <a:xfrm>
            <a:off x="1016000" y="5080000"/>
            <a:ext cx="9906000" cy="482600"/>
          </a:xfrm>
          <a:prstGeom prst="rect">
            <a:avLst/>
          </a:prstGeom>
          <a:noFill/>
        </p:spPr>
        <p:txBody>
          <a:bodyPr wrap="square" lIns="0" rIns="0" tIns="0" bIns="0" anchor="t">
            <a:spAutoFit/>
          </a:bodyPr>
          <a:lstStyle/>
          <a:p>
            <a:pPr algn="l">
              <a:lnSpc>
                <a:spcPct val="115000"/>
              </a:lnSpc>
            </a:pPr>
            <a:r>
              <a:rPr sz="2800" b="1" i="0">
                <a:solidFill>
                  <a:srgbClr val="C9A84C"/>
                </a:solidFill>
                <a:latin typeface="Montserrat"/>
                <a:ea typeface="Montserrat"/>
                <a:cs typeface="Montserrat"/>
              </a:rPr>
              <a:t>temidayoafonja.com/career-decisions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587500"/>
            <a:ext cx="5715000" cy="2159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WATCH NEXT</a:t>
            </a:r>
          </a:p>
        </p:txBody>
      </p:sp>
      <p:sp>
        <p:nvSpPr>
          <p:cNvPr id="3" name="TextBox 2"/>
          <p:cNvSpPr txBox="1"/>
          <p:nvPr/>
        </p:nvSpPr>
        <p:spPr>
          <a:xfrm>
            <a:off x="1016000" y="2006600"/>
            <a:ext cx="5969000" cy="1422400"/>
          </a:xfrm>
          <a:prstGeom prst="rect">
            <a:avLst/>
          </a:prstGeom>
          <a:noFill/>
        </p:spPr>
        <p:txBody>
          <a:bodyPr wrap="square" lIns="0" rIns="0" tIns="0" bIns="0" anchor="t">
            <a:spAutoFit/>
          </a:bodyPr>
          <a:lstStyle/>
          <a:p>
            <a:pPr algn="l">
              <a:lnSpc>
                <a:spcPct val="116000"/>
              </a:lnSpc>
            </a:pPr>
            <a:r>
              <a:rPr sz="3100" b="1" i="0">
                <a:solidFill>
                  <a:srgbClr val="0F2346"/>
                </a:solidFill>
                <a:latin typeface="Montserrat"/>
                <a:ea typeface="Montserrat"/>
                <a:cs typeface="Montserrat"/>
              </a:rPr>
              <a:t>ARE YOU GROWING—</a:t>
            </a:r>
            <a:br/>
            <a:r>
              <a:rPr sz="3100" b="1" i="0">
                <a:solidFill>
                  <a:srgbClr val="0F2346"/>
                </a:solidFill>
                <a:latin typeface="Montserrat"/>
                <a:ea typeface="Montserrat"/>
                <a:cs typeface="Montserrat"/>
              </a:rPr>
              <a:t>OR JUST BEING GIVEN</a:t>
            </a:r>
            <a:br/>
            <a:r>
              <a:rPr sz="3100" b="1" i="0">
                <a:solidFill>
                  <a:srgbClr val="0F2346"/>
                </a:solidFill>
                <a:latin typeface="Montserrat"/>
                <a:ea typeface="Montserrat"/>
                <a:cs typeface="Montserrat"/>
              </a:rPr>
              <a:t>MORE WORK?</a:t>
            </a:r>
          </a:p>
        </p:txBody>
      </p:sp>
      <p:sp>
        <p:nvSpPr>
          <p:cNvPr id="4" name="Rectangle 3"/>
          <p:cNvSpPr/>
          <p:nvPr/>
        </p:nvSpPr>
        <p:spPr>
          <a:xfrm>
            <a:off x="1016000" y="4025900"/>
            <a:ext cx="1524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4356100"/>
            <a:ext cx="5969000" cy="787400"/>
          </a:xfrm>
          <a:prstGeom prst="rect">
            <a:avLst/>
          </a:prstGeom>
          <a:noFill/>
        </p:spPr>
        <p:txBody>
          <a:bodyPr wrap="square" lIns="0" rIns="0" tIns="0" bIns="0" anchor="t">
            <a:spAutoFit/>
          </a:bodyPr>
          <a:lstStyle/>
          <a:p>
            <a:pPr algn="l">
              <a:lnSpc>
                <a:spcPct val="132000"/>
              </a:lnSpc>
            </a:pPr>
            <a:r>
              <a:rPr sz="2200" b="1" i="0">
                <a:solidFill>
                  <a:srgbClr val="3E506B"/>
                </a:solidFill>
                <a:latin typeface="Montserrat"/>
                <a:ea typeface="Montserrat"/>
                <a:cs typeface="Montserrat"/>
              </a:rPr>
              <a:t>Playlist: Career Portability: Career Pivots,</a:t>
            </a:r>
            <a:br/>
            <a:r>
              <a:rPr sz="2200" b="1" i="0">
                <a:solidFill>
                  <a:srgbClr val="3E506B"/>
                </a:solidFill>
                <a:latin typeface="Montserrat"/>
                <a:ea typeface="Montserrat"/>
                <a:cs typeface="Montserrat"/>
              </a:rPr>
              <a:t>Internal Moves &amp;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