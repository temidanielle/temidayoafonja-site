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0:38.</a:t>
            </a:r>
          </a:p>
          <a:p>
            <a:r>
              <a:t>Bring this up only after the H.I.T. opening has fully landed: the hook, SAME COMPANY / DIFFERENT WORK, the maternity-return proof and the three questions.</a:t>
            </a:r>
          </a:p>
          <a:p>
            <a:r>
              <a:t>State one holds the main statement. Reveal the INTERNAL MOVE ≠ AUTOMATIC GROWTH line after the first statement has been made.</a:t>
            </a:r>
          </a:p>
          <a:p>
            <a:r>
              <a:t>The not-equal sign is drawn rather than typeset: no brand font contains that glyph.</a:t>
            </a:r>
          </a:p>
          <a:p>
            <a:r>
              <a:t>Hold through the organizational turn that follows — an internal move is also a decision the organization is making about what it will trust this person to do next. That passage is carried by Temidayo on camera, not by a new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1:58.</a:t>
            </a:r>
          </a:p>
          <a:p>
            <a:r>
              <a:t>Reveal one question at a time as each is named. These are the three tests the whole video runs on, so let each land before the next arrives.</a:t>
            </a:r>
          </a:p>
          <a:p>
            <a:r>
              <a:t>Do not put the answers here. The questions alone.</a:t>
            </a:r>
          </a:p>
          <a:p>
            <a:r>
              <a:t>Do not add an acronym or a second framework. The three questions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2:14, holding to about 2:38.</a:t>
            </a:r>
          </a:p>
          <a:p>
            <a:r>
              <a:t>Section break. Hold briefly, then return to presenter.</a:t>
            </a:r>
          </a:p>
          <a:p>
            <a:r>
              <a:t>The point being carried: do not begin with the title. Ask what will actually be different on an ordinary Monday.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2:38.</a:t>
            </a:r>
          </a:p>
          <a:p>
            <a:r>
              <a:t>Reveal one line at a time as each is named.</a:t>
            </a:r>
          </a:p>
          <a:p>
            <a:r>
              <a:t>These are the four things to look for before calling a move real access. If none of them can be named, the first answer may be no.</a:t>
            </a:r>
          </a:p>
          <a:p>
            <a:r>
              <a:t>Stay on this slide through the recognition passage: familiarity can hide a weak move, and sometimes the organizational problem is not capability but recognition. Do not build a new graphic for it and do not imply discrimination or deliberate resistance.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4:32, holding to about 4:39.</a:t>
            </a:r>
          </a:p>
          <a:p>
            <a:r>
              <a:t>Section break.</a:t>
            </a:r>
          </a:p>
          <a:p>
            <a:r>
              <a:t>This is where more responsibility can be misleading. More volume is not more judgment.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4:39.</a:t>
            </a:r>
          </a:p>
          <a:p>
            <a:r>
              <a:t>Show MORE TASKS first, on its own, while the point about volume is made.</a:t>
            </a:r>
          </a:p>
          <a:p>
            <a:r>
              <a:t>Then contrast with MORE JUDGMENT and let it carry the weight. Neither example makes the operational task unimportant. The distinction is what the work is forming.</a:t>
            </a:r>
          </a:p>
          <a:p>
            <a:r>
              <a:t>Hold long enough to cover the authority point and the organizational line: a stretch opportunity is developmental when the person is trusted with more judgment, not simply handed more volume.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6:40, holding to about 7:00.</a:t>
            </a:r>
          </a:p>
          <a:p>
            <a:r>
              <a:t>Section break.</a:t>
            </a:r>
          </a:p>
          <a:p>
            <a:r>
              <a:t>Internal credibility can be powerful inside one company and surprisingly difficult to explain outside it. Portable evidence does not mean taking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7:00.</a:t>
            </a:r>
          </a:p>
          <a:p>
            <a:r>
              <a:t>Reveal Result, Judgment and Range sequentially.</a:t>
            </a:r>
          </a:p>
          <a:p>
            <a:r>
              <a:t>A move becomes more portable when it creates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8:00.</a:t>
            </a:r>
          </a:p>
          <a:p>
            <a:r>
              <a:t>Reveal rows one at a time. Do not gamify the read.</a:t>
            </a:r>
          </a:p>
          <a:p>
            <a:r>
              <a:t>Two yeses is not a rejection. Identify the missing dimension and investigate whether it can be designed into the move.</a:t>
            </a:r>
          </a:p>
          <a:p>
            <a:r>
              <a:t>Zero or one yes may still be the right choice for pay, flexibility, stability, benefits or a better manager. Just not a formation case.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9:00.</a:t>
            </a:r>
          </a:p>
          <a:p>
            <a:r>
              <a:t>Progressive reveal, one prompt at a time.</a:t>
            </a:r>
          </a:p>
          <a:p>
            <a:r>
              <a:t>These are for the internal hiring conversation. Listen for concrete work, not encouraging adjectives.</a:t>
            </a:r>
          </a:p>
          <a:p>
            <a:r>
              <a:t>Stay with this slide through the organizational read and the limits section: what the answers say about the opportunity's design, why an internal move can fail even when the person is capable, the same three questions applied to an external offer, and the health, safety, harassment, discrimination, caregiving, location, immigration, energy and timing boundaries. Presenter carries all of it; no new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11:17.</a:t>
            </a:r>
          </a:p>
          <a:p>
            <a:r>
              <a:t>Simple CTA card. No competing offer on screen. Do not add Keep the Proof, the Capability Formation Field Kit or the Career Evidence Starter.</a:t>
            </a:r>
          </a:p>
          <a:p>
            <a:r>
              <a:t>CTA PRODUCTION GATE: SATISFIED. temidayoafonja.com/career-decisions is live and the core production journey has been verified. Video 5 is not blocked on it. Retain one normal signed-out link check in the final upload SOP.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11:45 to the end, about 12:09.</a:t>
            </a:r>
          </a:p>
          <a:p>
            <a:r>
              <a:t>All content is held left of x=1130 so the right side stays clear for YouTube end-screen elements.</a:t>
            </a:r>
          </a:p>
          <a:p>
            <a:r>
              <a:t>Watch next is Video 6, Are You Growing—or Just Being Given More Work? Use direct end-screen routing once Video 6 is public; before that, the Career Portability playlist. Do not leave Subscribe as the only end-screen element.</a:t>
            </a:r>
          </a:p>
          <a:p>
            <a:r>
              <a:t>Closing lines: you may not need to leave, but the next move should increase what you can carry.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
        <p:nvSpPr>
          <p:cNvPr id="8" name="Rectangle 7"/>
          <p:cNvSpPr/>
          <p:nvPr/>
        </p:nvSpPr>
        <p:spPr>
          <a:xfrm>
            <a:off x="1016000" y="43815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775200"/>
            <a:ext cx="4826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INTERNAL MOVE</a:t>
            </a:r>
          </a:p>
        </p:txBody>
      </p:sp>
      <p:sp>
        <p:nvSpPr>
          <p:cNvPr id="10" name="Rectangle 9"/>
          <p:cNvSpPr/>
          <p:nvPr/>
        </p:nvSpPr>
        <p:spPr>
          <a:xfrm>
            <a:off x="4483100" y="485140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3100" y="493522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1320000">
            <a:off x="4600575" y="4756404"/>
            <a:ext cx="44450" cy="29337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0000" y="4775200"/>
            <a:ext cx="6350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AUTOMATIC GROWTH.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2672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9" name="TextBox 8"/>
          <p:cNvSpPr txBox="1"/>
          <p:nvPr/>
        </p:nvSpPr>
        <p:spPr>
          <a:xfrm>
            <a:off x="1905000" y="42291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EVIDENCE TRAVEL?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4889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WORK CHANGE?</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be different on an ordinary Monday?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
        <p:nvSpPr>
          <p:cNvPr id="8" name="Rectangle 7"/>
          <p:cNvSpPr/>
          <p:nvPr/>
        </p:nvSpPr>
        <p:spPr>
          <a:xfrm>
            <a:off x="1016000" y="47244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3700" y="45085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CONTEXT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YOUR JUDGMENT</a:t>
            </a:r>
            <a:br/>
            <a:r>
              <a:rPr sz="3100" b="1" i="0">
                <a:solidFill>
                  <a:srgbClr val="F5F1E8"/>
                </a:solidFill>
                <a:latin typeface="Montserrat"/>
                <a:ea typeface="Montserrat"/>
                <a:cs typeface="Montserrat"/>
              </a:rPr>
              <a:t>EXPAND?</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you notice, weigh, recommend or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
        <p:nvSpPr>
          <p:cNvPr id="5" name="Rectangle 4"/>
          <p:cNvSpPr/>
          <p:nvPr/>
        </p:nvSpPr>
        <p:spPr>
          <a:xfrm>
            <a:off x="5905500" y="2006600"/>
            <a:ext cx="6096000" cy="2565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54750" y="2540000"/>
            <a:ext cx="5524500" cy="412750"/>
          </a:xfrm>
          <a:prstGeom prst="rect">
            <a:avLst/>
          </a:prstGeom>
          <a:noFill/>
        </p:spPr>
        <p:txBody>
          <a:bodyPr wrap="square" lIns="0" rIns="0" tIns="0" bIns="0" anchor="t">
            <a:spAutoFit/>
          </a:bodyPr>
          <a:lstStyle/>
          <a:p>
            <a:pPr algn="l">
              <a:lnSpc>
                <a:spcPct val="105000"/>
              </a:lnSpc>
            </a:pPr>
            <a:r>
              <a:rPr sz="2700" b="1" i="0">
                <a:solidFill>
                  <a:srgbClr val="F5F1E8"/>
                </a:solidFill>
                <a:latin typeface="Montserrat"/>
                <a:ea typeface="Montserrat"/>
                <a:cs typeface="Montserrat"/>
              </a:rPr>
              <a:t>MORE JUDGMENT</a:t>
            </a:r>
          </a:p>
        </p:txBody>
      </p:sp>
      <p:sp>
        <p:nvSpPr>
          <p:cNvPr id="7" name="Rectangle 6"/>
          <p:cNvSpPr/>
          <p:nvPr/>
        </p:nvSpPr>
        <p:spPr>
          <a:xfrm>
            <a:off x="6254750" y="31115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54750" y="3441700"/>
            <a:ext cx="5524500" cy="425450"/>
          </a:xfrm>
          <a:prstGeom prst="rect">
            <a:avLst/>
          </a:prstGeom>
          <a:noFill/>
        </p:spPr>
        <p:txBody>
          <a:bodyPr wrap="square" lIns="0" rIns="0" tIns="0" bIns="0" anchor="t">
            <a:spAutoFit/>
          </a:bodyPr>
          <a:lstStyle/>
          <a:p>
            <a:pPr algn="l">
              <a:lnSpc>
                <a:spcPct val="134000"/>
              </a:lnSpc>
            </a:pPr>
            <a:r>
              <a:rPr sz="2200" b="0" i="0">
                <a:solidFill>
                  <a:srgbClr val="F5F1E8"/>
                </a:solidFill>
                <a:latin typeface="DM Sans"/>
                <a:ea typeface="DM Sans"/>
                <a:cs typeface="DM Sans"/>
              </a:rPr>
              <a:t>Interpretation • Tradeoffs • Consequence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EVIDENCE</a:t>
            </a:r>
            <a:br/>
            <a:r>
              <a:rPr sz="3100" b="1" i="0">
                <a:solidFill>
                  <a:srgbClr val="F5F1E8"/>
                </a:solidFill>
                <a:latin typeface="Montserrat"/>
                <a:ea typeface="Montserrat"/>
                <a:cs typeface="Montserrat"/>
              </a:rPr>
              <a:t>TRAVEL?</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Can you explain the work beyond internal language?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000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RANGE</a:t>
            </a:r>
          </a:p>
        </p:txBody>
      </p:sp>
      <p:sp>
        <p:nvSpPr>
          <p:cNvPr id="9" name="TextBox 8"/>
          <p:cNvSpPr txBox="1"/>
          <p:nvPr/>
        </p:nvSpPr>
        <p:spPr>
          <a:xfrm>
            <a:off x="4318000" y="4064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new context can you now handle?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2799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0-1 YES</a:t>
            </a:r>
          </a:p>
        </p:txBody>
      </p:sp>
      <p:sp>
        <p:nvSpPr>
          <p:cNvPr id="10" name="TextBox 9"/>
          <p:cNvSpPr txBox="1"/>
          <p:nvPr/>
        </p:nvSpPr>
        <p:spPr>
          <a:xfrm>
            <a:off x="3873500" y="43180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MOVEMENT, NOT MUCH FORMATION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40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828800" y="4051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How will success be measured?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10160000" cy="1225550"/>
          </a:xfrm>
          <a:prstGeom prst="rect">
            <a:avLst/>
          </a:prstGeom>
          <a:noFill/>
        </p:spPr>
        <p:txBody>
          <a:bodyPr wrap="square" lIns="0" rIns="0" tIns="0" bIns="0" anchor="t">
            <a:spAutoFit/>
          </a:bodyPr>
          <a:lstStyle/>
          <a:p>
            <a:pPr algn="l">
              <a:lnSpc>
                <a:spcPct val="110000"/>
              </a:lnSpc>
            </a:pPr>
            <a:r>
              <a:rPr sz="4200" b="1" i="0">
                <a:solidFill>
                  <a:srgbClr val="F5F1E8"/>
                </a:solidFill>
                <a:latin typeface="Montserrat"/>
                <a:ea typeface="Montserrat"/>
                <a:cs typeface="Montserrat"/>
              </a:rPr>
              <a:t>CAREER DECISION</a:t>
            </a:r>
            <a:br/>
            <a:r>
              <a:rPr sz="4200" b="1" i="0">
                <a:solidFill>
                  <a:srgbClr val="F5F1E8"/>
                </a:solidFill>
                <a:latin typeface="Montserrat"/>
                <a:ea typeface="Montserrat"/>
                <a:cs typeface="Montserrat"/>
              </a:rPr>
              <a:t>EVIDENCE CHECK</a:t>
            </a:r>
          </a:p>
        </p:txBody>
      </p:sp>
      <p:sp>
        <p:nvSpPr>
          <p:cNvPr id="8" name="Rectangle 7"/>
          <p:cNvSpPr/>
          <p:nvPr/>
        </p:nvSpPr>
        <p:spPr>
          <a:xfrm>
            <a:off x="1016000" y="35941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949700"/>
            <a:ext cx="9906000" cy="844550"/>
          </a:xfrm>
          <a:prstGeom prst="rect">
            <a:avLst/>
          </a:prstGeom>
          <a:noFill/>
        </p:spPr>
        <p:txBody>
          <a:bodyPr wrap="square" lIns="0" rIns="0" tIns="0" bIns="0" anchor="t">
            <a:spAutoFit/>
          </a:bodyPr>
          <a:lstStyle/>
          <a:p>
            <a:pPr algn="l">
              <a:lnSpc>
                <a:spcPct val="130000"/>
              </a:lnSpc>
            </a:pPr>
            <a:r>
              <a:rPr sz="2400" b="0" i="0">
                <a:solidFill>
                  <a:srgbClr val="F5F1E8"/>
                </a:solidFill>
                <a:latin typeface="DM Sans"/>
                <a:ea typeface="DM Sans"/>
                <a:cs typeface="DM Sans"/>
              </a:rPr>
              <a:t>A free next step for an active stay,</a:t>
            </a:r>
            <a:br/>
            <a:r>
              <a:rPr sz="2400" b="0" i="0">
                <a:solidFill>
                  <a:srgbClr val="F5F1E8"/>
                </a:solidFill>
                <a:latin typeface="DM Sans"/>
                <a:ea typeface="DM Sans"/>
                <a:cs typeface="DM Sans"/>
              </a:rPr>
              <a:t>internal-move or leave decision</a:t>
            </a:r>
          </a:p>
        </p:txBody>
      </p:sp>
      <p:sp>
        <p:nvSpPr>
          <p:cNvPr id="10" name="TextBox 9"/>
          <p:cNvSpPr txBox="1"/>
          <p:nvPr/>
        </p:nvSpPr>
        <p:spPr>
          <a:xfrm>
            <a:off x="1016000" y="5080000"/>
            <a:ext cx="9906000" cy="482600"/>
          </a:xfrm>
          <a:prstGeom prst="rect">
            <a:avLst/>
          </a:prstGeom>
          <a:noFill/>
        </p:spPr>
        <p:txBody>
          <a:bodyPr wrap="square" lIns="0" rIns="0" tIns="0" bIns="0" anchor="t">
            <a:spAutoFit/>
          </a:bodyPr>
          <a:lstStyle/>
          <a:p>
            <a:pPr algn="l">
              <a:lnSpc>
                <a:spcPct val="115000"/>
              </a:lnSpc>
            </a:pPr>
            <a:r>
              <a:rPr sz="2800" b="1" i="0">
                <a:solidFill>
                  <a:srgbClr val="C9A84C"/>
                </a:solidFill>
                <a:latin typeface="Montserrat"/>
                <a:ea typeface="Montserrat"/>
                <a:cs typeface="Montserrat"/>
              </a:rPr>
              <a:t>temidayoafonja.com/career-decisions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ARE YOU GROWING—</a:t>
            </a:r>
            <a:br/>
            <a:r>
              <a:rPr sz="3100" b="1" i="0">
                <a:solidFill>
                  <a:srgbClr val="0F2346"/>
                </a:solidFill>
                <a:latin typeface="Montserrat"/>
                <a:ea typeface="Montserrat"/>
                <a:cs typeface="Montserrat"/>
              </a:rPr>
              <a:t>OR JUST BEING GIVEN</a:t>
            </a:r>
            <a:br/>
            <a:r>
              <a:rPr sz="3100" b="1" i="0">
                <a:solidFill>
                  <a:srgbClr val="0F2346"/>
                </a:solidFill>
                <a:latin typeface="Montserrat"/>
                <a:ea typeface="Montserrat"/>
                <a:cs typeface="Montserrat"/>
              </a:rPr>
              <a:t>MORE WORK?</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787400"/>
          </a:xfrm>
          <a:prstGeom prst="rect">
            <a:avLst/>
          </a:prstGeom>
          <a:noFill/>
        </p:spPr>
        <p:txBody>
          <a:bodyPr wrap="square" lIns="0" rIns="0" tIns="0" bIns="0" anchor="t">
            <a:spAutoFit/>
          </a:bodyPr>
          <a:lstStyle/>
          <a:p>
            <a:pPr algn="l">
              <a:lnSpc>
                <a:spcPct val="132000"/>
              </a:lnSpc>
            </a:pPr>
            <a:r>
              <a:rPr sz="2200" b="1" i="0">
                <a:solidFill>
                  <a:srgbClr val="3E506B"/>
                </a:solidFill>
                <a:latin typeface="Montserrat"/>
                <a:ea typeface="Montserrat"/>
                <a:cs typeface="Montserrat"/>
              </a:rPr>
              <a:t>Playlist: Career Portability: Career Pivots,</a:t>
            </a:r>
            <a:br/>
            <a:r>
              <a:rPr sz="22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