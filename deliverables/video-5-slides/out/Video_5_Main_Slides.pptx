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1:31.</a:t>
            </a:r>
          </a:p>
          <a:p>
            <a:r>
              <a:t>Slide 1 — Core Distinction.</a:t>
            </a:r>
          </a:p>
          <a:p>
            <a:r>
              <a:t>Cue — the line that lands on this slide: “I’m Temidayo Afonja.”</a:t>
            </a:r>
          </a:p>
          <a:p>
            <a:r>
              <a:t>Do NOT open on this slide. Begin full screen on Temidayo and let the whole opening land: the viewer's question, the refusal to answer it generally, the promise of three questions, and then the maternity-return proof at about 0:24.</a:t>
            </a:r>
          </a:p>
          <a:p>
            <a:r>
              <a:t>FACTUAL BOUNDARY, exact: about six months after Temidayo came back from maternity leave, in one chapter of her career, her scope expanded beyond the original box of the role. The meaningful part was being trusted with DIFFERENT work, not more of the same. No employer, assignment, result, promotion, metric or conversation.</a:t>
            </a:r>
          </a:p>
          <a:p>
            <a:r>
              <a:t>NO MATERNITY OR BABY IMAGERY of any kind. The proof is her saying what happened.</a:t>
            </a:r>
          </a:p>
          <a:p>
            <a:r>
              <a:t>“I did not see that clearly at the time. I noticed the load first, the way most of us do.” That is the relearning beat, and it is what keeps the story from sounding like hindsight wisdom. Keep it.</a:t>
            </a:r>
          </a:p>
          <a:p>
            <a:r>
              <a:t>State one holds the main statement; reveal INTERNAL MOVE ≠ AUTOMATIC GROWTH after it. The not-equal sign is drawn, not typeset — no brand font has the glyph.</a:t>
            </a:r>
          </a:p>
          <a:p>
            <a:r>
              <a:t>Reveal states: 2. Reveal frame 1–2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2:23.</a:t>
            </a:r>
          </a:p>
          <a:p>
            <a:r>
              <a:t>Slide 2 — The Three Questions.</a:t>
            </a:r>
          </a:p>
          <a:p>
            <a:r>
              <a:t>Cue — the line that lands on this slide: “Will the work change? Will your judgment expand? And will the evidence travel?.”</a:t>
            </a:r>
          </a:p>
          <a:p>
            <a:r>
              <a:t>The three questions reveal one at a time. These are the only memory device in the video — no acronym, no second framework, and CAR belongs to Video 6.</a:t>
            </a:r>
          </a:p>
          <a:p>
            <a:r>
              <a:t>Reveal states: 3. Reveal frame 3–5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2:32.</a:t>
            </a:r>
          </a:p>
          <a:p>
            <a:r>
              <a:t>Slide 3 — 1 — Will the Work Change?.</a:t>
            </a:r>
          </a:p>
          <a:p>
            <a:r>
              <a:t>Cue — the line that lands on this slide: “The first question is whether the work itself will actually change.”</a:t>
            </a:r>
          </a:p>
          <a:p>
            <a:r>
              <a:t>Section break only.</a:t>
            </a:r>
          </a:p>
          <a:p>
            <a:r>
              <a:t>Single state. Reveal frame 6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2:36.</a:t>
            </a:r>
          </a:p>
          <a:p>
            <a:r>
              <a:t>Slide 4 — Access Test.</a:t>
            </a:r>
          </a:p>
          <a:p>
            <a:r>
              <a:t>Cue — the line that lands on this slide: “And I do not mean the job description.”</a:t>
            </a:r>
          </a:p>
          <a:p>
            <a:r>
              <a:t>The four access variables reveal one at a time, in the order spoken.</a:t>
            </a:r>
          </a:p>
          <a:p>
            <a:r>
              <a:t>“A job description can tell you the broad role. It may not tell you what an ordinary Monday will actually ask of you.” Keep the bounded form — the script does not claim job descriptions are written to be inaccurate.</a:t>
            </a:r>
          </a:p>
          <a:p>
            <a:r>
              <a:t>The permission beat matters: taking more of the same work can still be the right call this year, as long as the viewer takes it knowing what it is. Do not edit this into a warning.</a:t>
            </a:r>
          </a:p>
          <a:p>
            <a:r>
              <a:t>Her own line closes the slide — what changed was the kind of problem reaching her, not the volume. Bounded exactly as above.</a:t>
            </a:r>
          </a:p>
          <a:p>
            <a:r>
              <a:t>Reveal states: 4. Reveal frame 7–10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3:51.</a:t>
            </a:r>
          </a:p>
          <a:p>
            <a:r>
              <a:t>Slide 5 — 2 — Will Your Judgment Expand?.</a:t>
            </a:r>
          </a:p>
          <a:p>
            <a:r>
              <a:t>Cue — the line that lands on this slide: “The second question is whether your judgment will expand.”</a:t>
            </a:r>
          </a:p>
          <a:p>
            <a:r>
              <a:t>Section break only.</a:t>
            </a:r>
          </a:p>
          <a:p>
            <a:r>
              <a:t>Single state. Reveal frame 11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3:55.</a:t>
            </a:r>
          </a:p>
          <a:p>
            <a:r>
              <a:t>Slide 6 — More Tasks / More Judgment.</a:t>
            </a:r>
          </a:p>
          <a:p>
            <a:r>
              <a:t>Cue — the line that lands on this slide: “This is the one most of us never ask, because it is hard to see from outside a role.”</a:t>
            </a:r>
          </a:p>
          <a:p>
            <a:r>
              <a:t>MORE TASKS beside MORE JUDGMENT. Reveal both, then hold.</a:t>
            </a:r>
          </a:p>
          <a:p>
            <a:r>
              <a:t>“Not what you will do. What you will decide.” This is the test. Give it room.</a:t>
            </a:r>
          </a:p>
          <a:p>
            <a:r>
              <a:t>THE ORGANIZATIONAL LAYER is on this slide: the people who value you most may still see you through the role they already know you for. Deliver it as description, not grievance — “That is not disloyalty. It is how organizations remember people.”</a:t>
            </a:r>
          </a:p>
          <a:p>
            <a:r>
              <a:t>Then it is translated straight back to the viewer: the story people inside an organization tell about you can lag behind what you are actually ready to do now, and closing that gap is maintenance, not self-promotion. Do not cut the translation — without it the section becomes an HR observation. Note the bounded form: “can lag”, with no timescale attached.</a:t>
            </a:r>
          </a:p>
          <a:p>
            <a:r>
              <a:t>Reveal states: 2. Reveal frame 12–13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5:36.</a:t>
            </a:r>
          </a:p>
          <a:p>
            <a:r>
              <a:t>Slide 7 — 3 — Will the Evidence Travel?.</a:t>
            </a:r>
          </a:p>
          <a:p>
            <a:r>
              <a:t>Cue — the line that lands on this slide: “The third question is whether the evidence will travel.”</a:t>
            </a:r>
          </a:p>
          <a:p>
            <a:r>
              <a:t>Section break only.</a:t>
            </a:r>
          </a:p>
          <a:p>
            <a:r>
              <a:t>Single state. Reveal frame 14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5:39.</a:t>
            </a:r>
          </a:p>
          <a:p>
            <a:r>
              <a:t>Slide 8 — Result / Judgment / Range.</a:t>
            </a:r>
          </a:p>
          <a:p>
            <a:r>
              <a:t>Cue — the line that lands on this slide: “In eighteen months, when this move is finished, what will you be able to show for it?.”</a:t>
            </a:r>
          </a:p>
          <a:p>
            <a:r>
              <a:t>RESULT / JUDGMENT / RANGE. Reveal one at a time.</a:t>
            </a:r>
          </a:p>
          <a:p>
            <a:r>
              <a:t>The honest limit in this section is narrow and must stay narrow: internal moves can be especially easy to describe only in internal language, so if the outcome only makes sense to people inside the company it has to be translated before the viewer assumes the evidence will travel. It is NOT a claim that internal work is generally illegible. Keep it — it is the one place the video argues against its own thumbnail, which is what makes it trustworthy.</a:t>
            </a:r>
          </a:p>
          <a:p>
            <a:r>
              <a:t>Reveal states: 3. Reveal frame 15–17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6:30.</a:t>
            </a:r>
          </a:p>
          <a:p>
            <a:r>
              <a:t>Slide 9 — Decision Read.</a:t>
            </a:r>
          </a:p>
          <a:p>
            <a:r>
              <a:t>Cue — the line that lands on this slide: “So read the three together.”</a:t>
            </a:r>
          </a:p>
          <a:p>
            <a:r>
              <a:t>The 3 / 2 / 0–1 read. Never gamified, never scored, no progress bar.</a:t>
            </a:r>
          </a:p>
          <a:p>
            <a:r>
              <a:t>“One or none is not automatically a no.” Keep that sentence — without it the read becomes a verdict.</a:t>
            </a:r>
          </a:p>
          <a:p>
            <a:r>
              <a:t>The limits paragraph follows: pay, manager, commute, family, tiredness. Any one of them can outweigh all three questions. Do not cut it.</a:t>
            </a:r>
          </a:p>
          <a:p>
            <a:r>
              <a:t>The closing instruction is easy to lose in an edit: run these three on the role you are in right now, not only when somebody offers you something.</a:t>
            </a:r>
          </a:p>
          <a:p>
            <a:r>
              <a:t>Reveal states: 3. Reveal frame 18–20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7:44.</a:t>
            </a:r>
          </a:p>
          <a:p>
            <a:r>
              <a:t>Slide 10 — Conversation Prompts.</a:t>
            </a:r>
          </a:p>
          <a:p>
            <a:r>
              <a:t>Cue — the line that lands on this slide: “If you want to take this into a conversation, here is how I would ask.”</a:t>
            </a:r>
          </a:p>
          <a:p>
            <a:r>
              <a:t>The three conversation prompts reveal one at a time.</a:t>
            </a:r>
          </a:p>
          <a:p>
            <a:r>
              <a:t>“Those are not demanding questions.” The reassurance is doing real work for a viewer who is nervous about asking. Keep it.</a:t>
            </a:r>
          </a:p>
          <a:p>
            <a:r>
              <a:t>THE IDENTITY EXIT sits at the end of this slide: reading every opportunity for what it will actually build in you, and not needing a title to tell you whether a year was worth it. It is the point of the video. If the edit runs long, cut something else.</a:t>
            </a:r>
          </a:p>
          <a:p>
            <a:r>
              <a:t>Reveal states: 3. Reveal frame 21–23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8:43.</a:t>
            </a:r>
          </a:p>
          <a:p>
            <a:r>
              <a:t>Slide 11 — Career Decision Evidence Check.</a:t>
            </a:r>
          </a:p>
          <a:p>
            <a:r>
              <a:t>Cue — the line that lands on this slide: “If you want a structured way to do this, I made the Career Decision Evidence Check.”</a:t>
            </a:r>
          </a:p>
          <a:p>
            <a:r>
              <a:t>One CTA in this video. Do not add CAR, the Career Evidence 3 Cs, the Field Kit, Keep the Proof or the Career Evidence Starter.</a:t>
            </a:r>
          </a:p>
          <a:p>
            <a:r>
              <a:t>Offered, not announced. CTA production gate: SATISFIED — retain one signed-out link check in the upload SOP.</a:t>
            </a:r>
          </a:p>
          <a:p>
            <a:r>
              <a:t>Single state. Reveal frame 24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9:04.</a:t>
            </a:r>
          </a:p>
          <a:p>
            <a:r>
              <a:t>Slide 12 — Watch Next.</a:t>
            </a:r>
          </a:p>
          <a:p>
            <a:r>
              <a:t>Cue — the line that lands on this slide: “And there is a version of this question that turns up without any move at all.”</a:t>
            </a:r>
          </a:p>
          <a:p>
            <a:r>
              <a:t>The Video 6 route. Card reads “Are You Growing—or Just Being Given More Work?”.</a:t>
            </a:r>
          </a:p>
          <a:p>
            <a:r>
              <a:t>Sign off clean on the last two lines. No music sting.</a:t>
            </a:r>
          </a:p>
          <a:p>
            <a:r>
              <a:t>Single state. Reveal frame 25 in the build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91800" y="66040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15650" y="660400"/>
            <a:ext cx="254000" cy="2540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59180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1565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1905000"/>
            <a:ext cx="9906000" cy="1612900"/>
          </a:xfrm>
          <a:prstGeom prst="rect">
            <a:avLst/>
          </a:prstGeom>
          <a:noFill/>
        </p:spPr>
        <p:txBody>
          <a:bodyPr wrap="square" lIns="0" rIns="0" tIns="0" bIns="0" anchor="t">
            <a:spAutoFit/>
          </a:bodyPr>
          <a:lstStyle/>
          <a:p>
            <a:pPr algn="l">
              <a:lnSpc>
                <a:spcPct val="114000"/>
              </a:lnSpc>
            </a:pPr>
            <a:r>
              <a:rPr sz="3600" b="1" i="0">
                <a:solidFill>
                  <a:srgbClr val="F5F1E8"/>
                </a:solidFill>
                <a:latin typeface="Montserrat"/>
                <a:ea typeface="Montserrat"/>
                <a:cs typeface="Montserrat"/>
              </a:rPr>
              <a:t>A DIFFERENT EMPLOYER</a:t>
            </a:r>
            <a:br/>
            <a:r>
              <a:rPr sz="3600" b="1" i="0">
                <a:solidFill>
                  <a:srgbClr val="F5F1E8"/>
                </a:solidFill>
                <a:latin typeface="Montserrat"/>
                <a:ea typeface="Montserrat"/>
                <a:cs typeface="Montserrat"/>
              </a:rPr>
              <a:t>IS NOT THE ONLY WAY TO</a:t>
            </a:r>
            <a:br/>
            <a:r>
              <a:rPr sz="3600" b="1" i="0">
                <a:solidFill>
                  <a:srgbClr val="F5F1E8"/>
                </a:solidFill>
                <a:latin typeface="Montserrat"/>
                <a:ea typeface="Montserrat"/>
                <a:cs typeface="Montserrat"/>
              </a:rPr>
              <a:t>ACCESS DIFFERENT WORK.</a:t>
            </a:r>
          </a:p>
        </p:txBody>
      </p:sp>
      <p:sp>
        <p:nvSpPr>
          <p:cNvPr id="8" name="Rectangle 7"/>
          <p:cNvSpPr/>
          <p:nvPr/>
        </p:nvSpPr>
        <p:spPr>
          <a:xfrm>
            <a:off x="1016000" y="4381500"/>
            <a:ext cx="1905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4775200"/>
            <a:ext cx="4826000" cy="406400"/>
          </a:xfrm>
          <a:prstGeom prst="rect">
            <a:avLst/>
          </a:prstGeom>
          <a:noFill/>
        </p:spPr>
        <p:txBody>
          <a:bodyPr wrap="square" lIns="0" rIns="0" tIns="0" bIns="0" anchor="t">
            <a:spAutoFit/>
          </a:bodyPr>
          <a:lstStyle/>
          <a:p>
            <a:pPr algn="l">
              <a:lnSpc>
                <a:spcPct val="112000"/>
              </a:lnSpc>
            </a:pPr>
            <a:r>
              <a:rPr sz="2500" b="1" i="0" spc="130">
                <a:solidFill>
                  <a:srgbClr val="F5F1E8"/>
                </a:solidFill>
                <a:latin typeface="Montserrat"/>
                <a:ea typeface="Montserrat"/>
                <a:cs typeface="Montserrat"/>
              </a:rPr>
              <a:t>INTERNAL MOVE</a:t>
            </a:r>
          </a:p>
        </p:txBody>
      </p:sp>
      <p:sp>
        <p:nvSpPr>
          <p:cNvPr id="10" name="Rectangle 9"/>
          <p:cNvSpPr/>
          <p:nvPr/>
        </p:nvSpPr>
        <p:spPr>
          <a:xfrm>
            <a:off x="4483100" y="4851400"/>
            <a:ext cx="279400" cy="444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3100" y="4935220"/>
            <a:ext cx="279400" cy="444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1320000">
            <a:off x="4600575" y="4756404"/>
            <a:ext cx="44450" cy="29337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80000" y="4775200"/>
            <a:ext cx="6350000" cy="406400"/>
          </a:xfrm>
          <a:prstGeom prst="rect">
            <a:avLst/>
          </a:prstGeom>
          <a:noFill/>
        </p:spPr>
        <p:txBody>
          <a:bodyPr wrap="square" lIns="0" rIns="0" tIns="0" bIns="0" anchor="t">
            <a:spAutoFit/>
          </a:bodyPr>
          <a:lstStyle/>
          <a:p>
            <a:pPr algn="l">
              <a:lnSpc>
                <a:spcPct val="112000"/>
              </a:lnSpc>
            </a:pPr>
            <a:r>
              <a:rPr sz="2500" b="1" i="0" spc="130">
                <a:solidFill>
                  <a:srgbClr val="F5F1E8"/>
                </a:solidFill>
                <a:latin typeface="Montserrat"/>
                <a:ea typeface="Montserrat"/>
                <a:cs typeface="Montserrat"/>
              </a:rPr>
              <a:t>AUTOMATIC GROWTH.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625600"/>
            <a:ext cx="635000" cy="342900"/>
          </a:xfrm>
          <a:prstGeom prst="rect">
            <a:avLst/>
          </a:prstGeom>
          <a:noFill/>
        </p:spPr>
        <p:txBody>
          <a:bodyPr wrap="square" lIns="0" rIns="0" tIns="0" bIns="0" anchor="t">
            <a:spAutoFit/>
          </a:bodyPr>
          <a:lstStyle/>
          <a:p>
            <a:pPr algn="l">
              <a:lnSpc>
                <a:spcPct val="100000"/>
              </a:lnSpc>
            </a:pPr>
            <a:r>
              <a:rPr sz="2300" b="1" i="0">
                <a:solidFill>
                  <a:srgbClr val="C9A84C"/>
                </a:solidFill>
                <a:latin typeface="Montserrat"/>
                <a:ea typeface="Montserrat"/>
                <a:cs typeface="Montserrat"/>
              </a:rPr>
              <a:t>1</a:t>
            </a:r>
          </a:p>
        </p:txBody>
      </p:sp>
      <p:sp>
        <p:nvSpPr>
          <p:cNvPr id="3" name="TextBox 2"/>
          <p:cNvSpPr txBox="1"/>
          <p:nvPr/>
        </p:nvSpPr>
        <p:spPr>
          <a:xfrm>
            <a:off x="1905000" y="1587500"/>
            <a:ext cx="9525000" cy="457200"/>
          </a:xfrm>
          <a:prstGeom prst="rect">
            <a:avLst/>
          </a:prstGeom>
          <a:noFill/>
        </p:spPr>
        <p:txBody>
          <a:bodyPr wrap="square" lIns="0" rIns="0" tIns="0" bIns="0" anchor="t">
            <a:spAutoFit/>
          </a:bodyPr>
          <a:lstStyle/>
          <a:p>
            <a:pPr algn="l">
              <a:lnSpc>
                <a:spcPct val="110000"/>
              </a:lnSpc>
            </a:pPr>
            <a:r>
              <a:rPr sz="2900" b="1" i="0">
                <a:solidFill>
                  <a:srgbClr val="0F2346"/>
                </a:solidFill>
                <a:latin typeface="Montserrat"/>
                <a:ea typeface="Montserrat"/>
                <a:cs typeface="Montserrat"/>
              </a:rPr>
              <a:t>WILL THE WORK CHANGE?</a:t>
            </a:r>
          </a:p>
        </p:txBody>
      </p:sp>
      <p:sp>
        <p:nvSpPr>
          <p:cNvPr id="4" name="Rectangle 3"/>
          <p:cNvSpPr/>
          <p:nvPr/>
        </p:nvSpPr>
        <p:spPr>
          <a:xfrm>
            <a:off x="1016000" y="24384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946400"/>
            <a:ext cx="635000" cy="342900"/>
          </a:xfrm>
          <a:prstGeom prst="rect">
            <a:avLst/>
          </a:prstGeom>
          <a:noFill/>
        </p:spPr>
        <p:txBody>
          <a:bodyPr wrap="square" lIns="0" rIns="0" tIns="0" bIns="0" anchor="t">
            <a:spAutoFit/>
          </a:bodyPr>
          <a:lstStyle/>
          <a:p>
            <a:pPr algn="l">
              <a:lnSpc>
                <a:spcPct val="100000"/>
              </a:lnSpc>
            </a:pPr>
            <a:r>
              <a:rPr sz="2300" b="1" i="0">
                <a:solidFill>
                  <a:srgbClr val="C9A84C"/>
                </a:solidFill>
                <a:latin typeface="Montserrat"/>
                <a:ea typeface="Montserrat"/>
                <a:cs typeface="Montserrat"/>
              </a:rPr>
              <a:t>2</a:t>
            </a:r>
          </a:p>
        </p:txBody>
      </p:sp>
      <p:sp>
        <p:nvSpPr>
          <p:cNvPr id="6" name="TextBox 5"/>
          <p:cNvSpPr txBox="1"/>
          <p:nvPr/>
        </p:nvSpPr>
        <p:spPr>
          <a:xfrm>
            <a:off x="1905000" y="2908300"/>
            <a:ext cx="9525000" cy="457200"/>
          </a:xfrm>
          <a:prstGeom prst="rect">
            <a:avLst/>
          </a:prstGeom>
          <a:noFill/>
        </p:spPr>
        <p:txBody>
          <a:bodyPr wrap="square" lIns="0" rIns="0" tIns="0" bIns="0" anchor="t">
            <a:spAutoFit/>
          </a:bodyPr>
          <a:lstStyle/>
          <a:p>
            <a:pPr algn="l">
              <a:lnSpc>
                <a:spcPct val="110000"/>
              </a:lnSpc>
            </a:pPr>
            <a:r>
              <a:rPr sz="2900" b="1" i="0">
                <a:solidFill>
                  <a:srgbClr val="0F2346"/>
                </a:solidFill>
                <a:latin typeface="Montserrat"/>
                <a:ea typeface="Montserrat"/>
                <a:cs typeface="Montserrat"/>
              </a:rPr>
              <a:t>WILL YOUR JUDGMENT EXPAND?</a:t>
            </a:r>
          </a:p>
        </p:txBody>
      </p:sp>
      <p:sp>
        <p:nvSpPr>
          <p:cNvPr id="7" name="Rectangle 6"/>
          <p:cNvSpPr/>
          <p:nvPr/>
        </p:nvSpPr>
        <p:spPr>
          <a:xfrm>
            <a:off x="1016000" y="37592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6000" y="4267200"/>
            <a:ext cx="635000" cy="342900"/>
          </a:xfrm>
          <a:prstGeom prst="rect">
            <a:avLst/>
          </a:prstGeom>
          <a:noFill/>
        </p:spPr>
        <p:txBody>
          <a:bodyPr wrap="square" lIns="0" rIns="0" tIns="0" bIns="0" anchor="t">
            <a:spAutoFit/>
          </a:bodyPr>
          <a:lstStyle/>
          <a:p>
            <a:pPr algn="l">
              <a:lnSpc>
                <a:spcPct val="100000"/>
              </a:lnSpc>
            </a:pPr>
            <a:r>
              <a:rPr sz="2300" b="1" i="0">
                <a:solidFill>
                  <a:srgbClr val="C9A84C"/>
                </a:solidFill>
                <a:latin typeface="Montserrat"/>
                <a:ea typeface="Montserrat"/>
                <a:cs typeface="Montserrat"/>
              </a:rPr>
              <a:t>3</a:t>
            </a:r>
          </a:p>
        </p:txBody>
      </p:sp>
      <p:sp>
        <p:nvSpPr>
          <p:cNvPr id="9" name="TextBox 8"/>
          <p:cNvSpPr txBox="1"/>
          <p:nvPr/>
        </p:nvSpPr>
        <p:spPr>
          <a:xfrm>
            <a:off x="1905000" y="4229100"/>
            <a:ext cx="9525000" cy="457200"/>
          </a:xfrm>
          <a:prstGeom prst="rect">
            <a:avLst/>
          </a:prstGeom>
          <a:noFill/>
        </p:spPr>
        <p:txBody>
          <a:bodyPr wrap="square" lIns="0" rIns="0" tIns="0" bIns="0" anchor="t">
            <a:spAutoFit/>
          </a:bodyPr>
          <a:lstStyle/>
          <a:p>
            <a:pPr algn="l">
              <a:lnSpc>
                <a:spcPct val="110000"/>
              </a:lnSpc>
            </a:pPr>
            <a:r>
              <a:rPr sz="2900" b="1" i="0">
                <a:solidFill>
                  <a:srgbClr val="0F2346"/>
                </a:solidFill>
                <a:latin typeface="Montserrat"/>
                <a:ea typeface="Montserrat"/>
                <a:cs typeface="Montserrat"/>
              </a:rPr>
              <a:t>WILL THE EVIDENCE TRAVEL?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3600" y="1066800"/>
            <a:ext cx="1270000" cy="609600"/>
          </a:xfrm>
          <a:prstGeom prst="rect">
            <a:avLst/>
          </a:prstGeom>
          <a:noFill/>
        </p:spPr>
        <p:txBody>
          <a:bodyPr wrap="square" lIns="0" rIns="0" tIns="0" bIns="0" anchor="t">
            <a:spAutoFit/>
          </a:bodyPr>
          <a:lstStyle/>
          <a:p>
            <a:pPr algn="l">
              <a:lnSpc>
                <a:spcPct val="100000"/>
              </a:lnSpc>
            </a:pPr>
            <a:r>
              <a:rPr sz="4400" b="1" i="0">
                <a:solidFill>
                  <a:srgbClr val="C9A84C"/>
                </a:solidFill>
                <a:latin typeface="Montserrat"/>
                <a:ea typeface="Montserrat"/>
                <a:cs typeface="Montserrat"/>
              </a:rPr>
              <a:t>1</a:t>
            </a:r>
          </a:p>
        </p:txBody>
      </p:sp>
      <p:sp>
        <p:nvSpPr>
          <p:cNvPr id="4" name="Rectangle 3"/>
          <p:cNvSpPr/>
          <p:nvPr/>
        </p:nvSpPr>
        <p:spPr>
          <a:xfrm>
            <a:off x="863600" y="1841500"/>
            <a:ext cx="5842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3600" y="2171700"/>
            <a:ext cx="10160000" cy="488950"/>
          </a:xfrm>
          <a:prstGeom prst="rect">
            <a:avLst/>
          </a:prstGeom>
          <a:noFill/>
        </p:spPr>
        <p:txBody>
          <a:bodyPr wrap="square" lIns="0" rIns="0" tIns="0" bIns="0" anchor="t">
            <a:spAutoFit/>
          </a:bodyPr>
          <a:lstStyle/>
          <a:p>
            <a:pPr algn="l">
              <a:lnSpc>
                <a:spcPct val="112000"/>
              </a:lnSpc>
            </a:pPr>
            <a:r>
              <a:rPr sz="3100" b="1" i="0">
                <a:solidFill>
                  <a:srgbClr val="F5F1E8"/>
                </a:solidFill>
                <a:latin typeface="Montserrat"/>
                <a:ea typeface="Montserrat"/>
                <a:cs typeface="Montserrat"/>
              </a:rPr>
              <a:t>WILL THE WORK CHANGE?</a:t>
            </a:r>
          </a:p>
        </p:txBody>
      </p:sp>
      <p:sp>
        <p:nvSpPr>
          <p:cNvPr id="6" name="TextBox 5"/>
          <p:cNvSpPr txBox="1"/>
          <p:nvPr/>
        </p:nvSpPr>
        <p:spPr>
          <a:xfrm>
            <a:off x="863600" y="3530600"/>
            <a:ext cx="10541000" cy="482600"/>
          </a:xfrm>
          <a:prstGeom prst="rect">
            <a:avLst/>
          </a:prstGeom>
          <a:noFill/>
        </p:spPr>
        <p:txBody>
          <a:bodyPr wrap="square" lIns="0" rIns="0" tIns="0" bIns="0" anchor="t">
            <a:spAutoFit/>
          </a:bodyPr>
          <a:lstStyle/>
          <a:p>
            <a:pPr algn="l">
              <a:lnSpc>
                <a:spcPct val="130000"/>
              </a:lnSpc>
            </a:pPr>
            <a:r>
              <a:rPr sz="2600" b="0" i="0">
                <a:solidFill>
                  <a:srgbClr val="F5F1E8"/>
                </a:solidFill>
                <a:latin typeface="DM Sans"/>
                <a:ea typeface="DM Sans"/>
                <a:cs typeface="DM Sans"/>
              </a:rPr>
              <a:t>What will be different on an ordinary Monday?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1016000" y="1714500"/>
            <a:ext cx="355600" cy="317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63700" y="1498600"/>
            <a:ext cx="9525000" cy="463550"/>
          </a:xfrm>
          <a:prstGeom prst="rect">
            <a:avLst/>
          </a:prstGeom>
          <a:noFill/>
        </p:spPr>
        <p:txBody>
          <a:bodyPr wrap="square" lIns="0" rIns="0" tIns="0" bIns="0" anchor="t">
            <a:spAutoFit/>
          </a:bodyPr>
          <a:lstStyle/>
          <a:p>
            <a:pPr algn="l">
              <a:lnSpc>
                <a:spcPct val="105000"/>
              </a:lnSpc>
            </a:pPr>
            <a:r>
              <a:rPr sz="3100" b="1" i="0">
                <a:solidFill>
                  <a:srgbClr val="0F2346"/>
                </a:solidFill>
                <a:latin typeface="Montserrat"/>
                <a:ea typeface="Montserrat"/>
                <a:cs typeface="Montserrat"/>
              </a:rPr>
              <a:t>NEW PROBLEMS</a:t>
            </a:r>
          </a:p>
        </p:txBody>
      </p:sp>
      <p:sp>
        <p:nvSpPr>
          <p:cNvPr id="4" name="Rectangle 3"/>
          <p:cNvSpPr/>
          <p:nvPr/>
        </p:nvSpPr>
        <p:spPr>
          <a:xfrm>
            <a:off x="1016000" y="2717800"/>
            <a:ext cx="355600" cy="317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63700" y="2501900"/>
            <a:ext cx="9525000" cy="463550"/>
          </a:xfrm>
          <a:prstGeom prst="rect">
            <a:avLst/>
          </a:prstGeom>
          <a:noFill/>
        </p:spPr>
        <p:txBody>
          <a:bodyPr wrap="square" lIns="0" rIns="0" tIns="0" bIns="0" anchor="t">
            <a:spAutoFit/>
          </a:bodyPr>
          <a:lstStyle/>
          <a:p>
            <a:pPr algn="l">
              <a:lnSpc>
                <a:spcPct val="105000"/>
              </a:lnSpc>
            </a:pPr>
            <a:r>
              <a:rPr sz="3100" b="1" i="0">
                <a:solidFill>
                  <a:srgbClr val="0F2346"/>
                </a:solidFill>
                <a:latin typeface="Montserrat"/>
                <a:ea typeface="Montserrat"/>
                <a:cs typeface="Montserrat"/>
              </a:rPr>
              <a:t>NEW SYSTEMS</a:t>
            </a:r>
          </a:p>
        </p:txBody>
      </p:sp>
      <p:sp>
        <p:nvSpPr>
          <p:cNvPr id="6" name="Rectangle 5"/>
          <p:cNvSpPr/>
          <p:nvPr/>
        </p:nvSpPr>
        <p:spPr>
          <a:xfrm>
            <a:off x="1016000" y="3721100"/>
            <a:ext cx="355600" cy="317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63700" y="3505200"/>
            <a:ext cx="9525000" cy="463550"/>
          </a:xfrm>
          <a:prstGeom prst="rect">
            <a:avLst/>
          </a:prstGeom>
          <a:noFill/>
        </p:spPr>
        <p:txBody>
          <a:bodyPr wrap="square" lIns="0" rIns="0" tIns="0" bIns="0" anchor="t">
            <a:spAutoFit/>
          </a:bodyPr>
          <a:lstStyle/>
          <a:p>
            <a:pPr algn="l">
              <a:lnSpc>
                <a:spcPct val="105000"/>
              </a:lnSpc>
            </a:pPr>
            <a:r>
              <a:rPr sz="3100" b="1" i="0">
                <a:solidFill>
                  <a:srgbClr val="0F2346"/>
                </a:solidFill>
                <a:latin typeface="Montserrat"/>
                <a:ea typeface="Montserrat"/>
                <a:cs typeface="Montserrat"/>
              </a:rPr>
              <a:t>NEW STAKEHOLDERS</a:t>
            </a:r>
          </a:p>
        </p:txBody>
      </p:sp>
      <p:sp>
        <p:nvSpPr>
          <p:cNvPr id="8" name="Rectangle 7"/>
          <p:cNvSpPr/>
          <p:nvPr/>
        </p:nvSpPr>
        <p:spPr>
          <a:xfrm>
            <a:off x="1016000" y="4724400"/>
            <a:ext cx="355600" cy="317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3700" y="4508500"/>
            <a:ext cx="9525000" cy="463550"/>
          </a:xfrm>
          <a:prstGeom prst="rect">
            <a:avLst/>
          </a:prstGeom>
          <a:noFill/>
        </p:spPr>
        <p:txBody>
          <a:bodyPr wrap="square" lIns="0" rIns="0" tIns="0" bIns="0" anchor="t">
            <a:spAutoFit/>
          </a:bodyPr>
          <a:lstStyle/>
          <a:p>
            <a:pPr algn="l">
              <a:lnSpc>
                <a:spcPct val="105000"/>
              </a:lnSpc>
            </a:pPr>
            <a:r>
              <a:rPr sz="3100" b="1" i="0">
                <a:solidFill>
                  <a:srgbClr val="0F2346"/>
                </a:solidFill>
                <a:latin typeface="Montserrat"/>
                <a:ea typeface="Montserrat"/>
                <a:cs typeface="Montserrat"/>
              </a:rPr>
              <a:t>NEW CONTEXT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3600" y="1066800"/>
            <a:ext cx="1270000" cy="609600"/>
          </a:xfrm>
          <a:prstGeom prst="rect">
            <a:avLst/>
          </a:prstGeom>
          <a:noFill/>
        </p:spPr>
        <p:txBody>
          <a:bodyPr wrap="square" lIns="0" rIns="0" tIns="0" bIns="0" anchor="t">
            <a:spAutoFit/>
          </a:bodyPr>
          <a:lstStyle/>
          <a:p>
            <a:pPr algn="l">
              <a:lnSpc>
                <a:spcPct val="100000"/>
              </a:lnSpc>
            </a:pPr>
            <a:r>
              <a:rPr sz="4400" b="1" i="0">
                <a:solidFill>
                  <a:srgbClr val="C9A84C"/>
                </a:solidFill>
                <a:latin typeface="Montserrat"/>
                <a:ea typeface="Montserrat"/>
                <a:cs typeface="Montserrat"/>
              </a:rPr>
              <a:t>2</a:t>
            </a:r>
          </a:p>
        </p:txBody>
      </p:sp>
      <p:sp>
        <p:nvSpPr>
          <p:cNvPr id="4" name="Rectangle 3"/>
          <p:cNvSpPr/>
          <p:nvPr/>
        </p:nvSpPr>
        <p:spPr>
          <a:xfrm>
            <a:off x="863600" y="1841500"/>
            <a:ext cx="5842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3600" y="2171700"/>
            <a:ext cx="10160000" cy="933450"/>
          </a:xfrm>
          <a:prstGeom prst="rect">
            <a:avLst/>
          </a:prstGeom>
          <a:noFill/>
        </p:spPr>
        <p:txBody>
          <a:bodyPr wrap="square" lIns="0" rIns="0" tIns="0" bIns="0" anchor="t">
            <a:spAutoFit/>
          </a:bodyPr>
          <a:lstStyle/>
          <a:p>
            <a:pPr algn="l">
              <a:lnSpc>
                <a:spcPct val="112000"/>
              </a:lnSpc>
            </a:pPr>
            <a:r>
              <a:rPr sz="3100" b="1" i="0">
                <a:solidFill>
                  <a:srgbClr val="F5F1E8"/>
                </a:solidFill>
                <a:latin typeface="Montserrat"/>
                <a:ea typeface="Montserrat"/>
                <a:cs typeface="Montserrat"/>
              </a:rPr>
              <a:t>WILL YOUR JUDGMENT</a:t>
            </a:r>
            <a:br/>
            <a:r>
              <a:rPr sz="3100" b="1" i="0">
                <a:solidFill>
                  <a:srgbClr val="F5F1E8"/>
                </a:solidFill>
                <a:latin typeface="Montserrat"/>
                <a:ea typeface="Montserrat"/>
                <a:cs typeface="Montserrat"/>
              </a:rPr>
              <a:t>EXPAND?</a:t>
            </a:r>
          </a:p>
        </p:txBody>
      </p:sp>
      <p:sp>
        <p:nvSpPr>
          <p:cNvPr id="6" name="TextBox 5"/>
          <p:cNvSpPr txBox="1"/>
          <p:nvPr/>
        </p:nvSpPr>
        <p:spPr>
          <a:xfrm>
            <a:off x="863600" y="3530600"/>
            <a:ext cx="10541000" cy="482600"/>
          </a:xfrm>
          <a:prstGeom prst="rect">
            <a:avLst/>
          </a:prstGeom>
          <a:noFill/>
        </p:spPr>
        <p:txBody>
          <a:bodyPr wrap="square" lIns="0" rIns="0" tIns="0" bIns="0" anchor="t">
            <a:spAutoFit/>
          </a:bodyPr>
          <a:lstStyle/>
          <a:p>
            <a:pPr algn="l">
              <a:lnSpc>
                <a:spcPct val="130000"/>
              </a:lnSpc>
            </a:pPr>
            <a:r>
              <a:rPr sz="2600" b="0" i="0">
                <a:solidFill>
                  <a:srgbClr val="F5F1E8"/>
                </a:solidFill>
                <a:latin typeface="DM Sans"/>
                <a:ea typeface="DM Sans"/>
                <a:cs typeface="DM Sans"/>
              </a:rPr>
              <a:t>What will you notice, weigh, recommend or own?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698500" y="2540000"/>
            <a:ext cx="5016500" cy="412750"/>
          </a:xfrm>
          <a:prstGeom prst="rect">
            <a:avLst/>
          </a:prstGeom>
          <a:noFill/>
        </p:spPr>
        <p:txBody>
          <a:bodyPr wrap="square" lIns="0" rIns="0" tIns="0" bIns="0" anchor="t">
            <a:spAutoFit/>
          </a:bodyPr>
          <a:lstStyle/>
          <a:p>
            <a:pPr algn="l">
              <a:lnSpc>
                <a:spcPct val="105000"/>
              </a:lnSpc>
            </a:pPr>
            <a:r>
              <a:rPr sz="2700" b="1" i="0">
                <a:solidFill>
                  <a:srgbClr val="0F2346"/>
                </a:solidFill>
                <a:latin typeface="Montserrat"/>
                <a:ea typeface="Montserrat"/>
                <a:cs typeface="Montserrat"/>
              </a:rPr>
              <a:t>MORE TASKS</a:t>
            </a:r>
          </a:p>
        </p:txBody>
      </p:sp>
      <p:sp>
        <p:nvSpPr>
          <p:cNvPr id="3" name="Rectangle 2"/>
          <p:cNvSpPr/>
          <p:nvPr/>
        </p:nvSpPr>
        <p:spPr>
          <a:xfrm>
            <a:off x="698500" y="3111500"/>
            <a:ext cx="1079500" cy="254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8500" y="3441700"/>
            <a:ext cx="5080000" cy="425450"/>
          </a:xfrm>
          <a:prstGeom prst="rect">
            <a:avLst/>
          </a:prstGeom>
          <a:noFill/>
        </p:spPr>
        <p:txBody>
          <a:bodyPr wrap="square" lIns="0" rIns="0" tIns="0" bIns="0" anchor="t">
            <a:spAutoFit/>
          </a:bodyPr>
          <a:lstStyle/>
          <a:p>
            <a:pPr algn="l">
              <a:lnSpc>
                <a:spcPct val="134000"/>
              </a:lnSpc>
            </a:pPr>
            <a:r>
              <a:rPr sz="2200" b="0" i="0">
                <a:solidFill>
                  <a:srgbClr val="5A6B82"/>
                </a:solidFill>
                <a:latin typeface="DM Sans"/>
                <a:ea typeface="DM Sans"/>
                <a:cs typeface="DM Sans"/>
              </a:rPr>
              <a:t>Volume • Coordination • Absorption</a:t>
            </a:r>
          </a:p>
        </p:txBody>
      </p:sp>
      <p:sp>
        <p:nvSpPr>
          <p:cNvPr id="5" name="Rectangle 4"/>
          <p:cNvSpPr/>
          <p:nvPr/>
        </p:nvSpPr>
        <p:spPr>
          <a:xfrm>
            <a:off x="5905500" y="2006600"/>
            <a:ext cx="6096000" cy="2565400"/>
          </a:xfrm>
          <a:prstGeom prst="rect">
            <a:avLst/>
          </a:prstGeom>
          <a:solidFill>
            <a:srgbClr val="0F2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54750" y="2540000"/>
            <a:ext cx="5524500" cy="412750"/>
          </a:xfrm>
          <a:prstGeom prst="rect">
            <a:avLst/>
          </a:prstGeom>
          <a:noFill/>
        </p:spPr>
        <p:txBody>
          <a:bodyPr wrap="square" lIns="0" rIns="0" tIns="0" bIns="0" anchor="t">
            <a:spAutoFit/>
          </a:bodyPr>
          <a:lstStyle/>
          <a:p>
            <a:pPr algn="l">
              <a:lnSpc>
                <a:spcPct val="105000"/>
              </a:lnSpc>
            </a:pPr>
            <a:r>
              <a:rPr sz="2700" b="1" i="0">
                <a:solidFill>
                  <a:srgbClr val="F5F1E8"/>
                </a:solidFill>
                <a:latin typeface="Montserrat"/>
                <a:ea typeface="Montserrat"/>
                <a:cs typeface="Montserrat"/>
              </a:rPr>
              <a:t>MORE JUDGMENT</a:t>
            </a:r>
          </a:p>
        </p:txBody>
      </p:sp>
      <p:sp>
        <p:nvSpPr>
          <p:cNvPr id="7" name="Rectangle 6"/>
          <p:cNvSpPr/>
          <p:nvPr/>
        </p:nvSpPr>
        <p:spPr>
          <a:xfrm>
            <a:off x="6254750" y="3111500"/>
            <a:ext cx="10795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54750" y="3441700"/>
            <a:ext cx="5524500" cy="425450"/>
          </a:xfrm>
          <a:prstGeom prst="rect">
            <a:avLst/>
          </a:prstGeom>
          <a:noFill/>
        </p:spPr>
        <p:txBody>
          <a:bodyPr wrap="square" lIns="0" rIns="0" tIns="0" bIns="0" anchor="t">
            <a:spAutoFit/>
          </a:bodyPr>
          <a:lstStyle/>
          <a:p>
            <a:pPr algn="l">
              <a:lnSpc>
                <a:spcPct val="134000"/>
              </a:lnSpc>
            </a:pPr>
            <a:r>
              <a:rPr sz="2200" b="0" i="0">
                <a:solidFill>
                  <a:srgbClr val="F5F1E8"/>
                </a:solidFill>
                <a:latin typeface="DM Sans"/>
                <a:ea typeface="DM Sans"/>
                <a:cs typeface="DM Sans"/>
              </a:rPr>
              <a:t>Interpretation • Tradeoffs • Consequence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3600" y="1066800"/>
            <a:ext cx="1270000" cy="609600"/>
          </a:xfrm>
          <a:prstGeom prst="rect">
            <a:avLst/>
          </a:prstGeom>
          <a:noFill/>
        </p:spPr>
        <p:txBody>
          <a:bodyPr wrap="square" lIns="0" rIns="0" tIns="0" bIns="0" anchor="t">
            <a:spAutoFit/>
          </a:bodyPr>
          <a:lstStyle/>
          <a:p>
            <a:pPr algn="l">
              <a:lnSpc>
                <a:spcPct val="100000"/>
              </a:lnSpc>
            </a:pPr>
            <a:r>
              <a:rPr sz="4400" b="1" i="0">
                <a:solidFill>
                  <a:srgbClr val="C9A84C"/>
                </a:solidFill>
                <a:latin typeface="Montserrat"/>
                <a:ea typeface="Montserrat"/>
                <a:cs typeface="Montserrat"/>
              </a:rPr>
              <a:t>3</a:t>
            </a:r>
          </a:p>
        </p:txBody>
      </p:sp>
      <p:sp>
        <p:nvSpPr>
          <p:cNvPr id="4" name="Rectangle 3"/>
          <p:cNvSpPr/>
          <p:nvPr/>
        </p:nvSpPr>
        <p:spPr>
          <a:xfrm>
            <a:off x="863600" y="1841500"/>
            <a:ext cx="5842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3600" y="2171700"/>
            <a:ext cx="10160000" cy="933450"/>
          </a:xfrm>
          <a:prstGeom prst="rect">
            <a:avLst/>
          </a:prstGeom>
          <a:noFill/>
        </p:spPr>
        <p:txBody>
          <a:bodyPr wrap="square" lIns="0" rIns="0" tIns="0" bIns="0" anchor="t">
            <a:spAutoFit/>
          </a:bodyPr>
          <a:lstStyle/>
          <a:p>
            <a:pPr algn="l">
              <a:lnSpc>
                <a:spcPct val="112000"/>
              </a:lnSpc>
            </a:pPr>
            <a:r>
              <a:rPr sz="3100" b="1" i="0">
                <a:solidFill>
                  <a:srgbClr val="F5F1E8"/>
                </a:solidFill>
                <a:latin typeface="Montserrat"/>
                <a:ea typeface="Montserrat"/>
                <a:cs typeface="Montserrat"/>
              </a:rPr>
              <a:t>WILL THE EVIDENCE</a:t>
            </a:r>
            <a:br/>
            <a:r>
              <a:rPr sz="3100" b="1" i="0">
                <a:solidFill>
                  <a:srgbClr val="F5F1E8"/>
                </a:solidFill>
                <a:latin typeface="Montserrat"/>
                <a:ea typeface="Montserrat"/>
                <a:cs typeface="Montserrat"/>
              </a:rPr>
              <a:t>TRAVEL?</a:t>
            </a:r>
          </a:p>
        </p:txBody>
      </p:sp>
      <p:sp>
        <p:nvSpPr>
          <p:cNvPr id="6" name="TextBox 5"/>
          <p:cNvSpPr txBox="1"/>
          <p:nvPr/>
        </p:nvSpPr>
        <p:spPr>
          <a:xfrm>
            <a:off x="863600" y="3530600"/>
            <a:ext cx="10541000" cy="482600"/>
          </a:xfrm>
          <a:prstGeom prst="rect">
            <a:avLst/>
          </a:prstGeom>
          <a:noFill/>
        </p:spPr>
        <p:txBody>
          <a:bodyPr wrap="square" lIns="0" rIns="0" tIns="0" bIns="0" anchor="t">
            <a:spAutoFit/>
          </a:bodyPr>
          <a:lstStyle/>
          <a:p>
            <a:pPr algn="l">
              <a:lnSpc>
                <a:spcPct val="130000"/>
              </a:lnSpc>
            </a:pPr>
            <a:r>
              <a:rPr sz="2600" b="0" i="0">
                <a:solidFill>
                  <a:srgbClr val="F5F1E8"/>
                </a:solidFill>
                <a:latin typeface="DM Sans"/>
                <a:ea typeface="DM Sans"/>
                <a:cs typeface="DM Sans"/>
              </a:rPr>
              <a:t>Can you explain the work beyond internal language?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587500"/>
            <a:ext cx="3175000" cy="400050"/>
          </a:xfrm>
          <a:prstGeom prst="rect">
            <a:avLst/>
          </a:prstGeom>
          <a:noFill/>
        </p:spPr>
        <p:txBody>
          <a:bodyPr wrap="square" lIns="0" rIns="0" tIns="0" bIns="0" anchor="t">
            <a:spAutoFit/>
          </a:bodyPr>
          <a:lstStyle/>
          <a:p>
            <a:pPr algn="l">
              <a:lnSpc>
                <a:spcPct val="105000"/>
              </a:lnSpc>
            </a:pPr>
            <a:r>
              <a:rPr sz="2600" b="1" i="0">
                <a:solidFill>
                  <a:srgbClr val="0F2346"/>
                </a:solidFill>
                <a:latin typeface="Montserrat"/>
                <a:ea typeface="Montserrat"/>
                <a:cs typeface="Montserrat"/>
              </a:rPr>
              <a:t>RESULT</a:t>
            </a:r>
          </a:p>
        </p:txBody>
      </p:sp>
      <p:sp>
        <p:nvSpPr>
          <p:cNvPr id="3" name="TextBox 2"/>
          <p:cNvSpPr txBox="1"/>
          <p:nvPr/>
        </p:nvSpPr>
        <p:spPr>
          <a:xfrm>
            <a:off x="4318000" y="1651000"/>
            <a:ext cx="6921500" cy="444500"/>
          </a:xfrm>
          <a:prstGeom prst="rect">
            <a:avLst/>
          </a:prstGeom>
          <a:noFill/>
        </p:spPr>
        <p:txBody>
          <a:bodyPr wrap="square" lIns="0" rIns="0" tIns="0" bIns="0" anchor="t">
            <a:spAutoFit/>
          </a:bodyPr>
          <a:lstStyle/>
          <a:p>
            <a:pPr algn="l">
              <a:lnSpc>
                <a:spcPct val="130000"/>
              </a:lnSpc>
            </a:pPr>
            <a:r>
              <a:rPr sz="2400" b="0" i="0">
                <a:solidFill>
                  <a:srgbClr val="244B78"/>
                </a:solidFill>
                <a:latin typeface="DM Sans"/>
                <a:ea typeface="DM Sans"/>
                <a:cs typeface="DM Sans"/>
              </a:rPr>
              <a:t>What changed?</a:t>
            </a:r>
          </a:p>
        </p:txBody>
      </p:sp>
      <p:sp>
        <p:nvSpPr>
          <p:cNvPr id="4" name="Rectangle 3"/>
          <p:cNvSpPr/>
          <p:nvPr/>
        </p:nvSpPr>
        <p:spPr>
          <a:xfrm>
            <a:off x="1016000" y="23368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794000"/>
            <a:ext cx="3175000" cy="400050"/>
          </a:xfrm>
          <a:prstGeom prst="rect">
            <a:avLst/>
          </a:prstGeom>
          <a:noFill/>
        </p:spPr>
        <p:txBody>
          <a:bodyPr wrap="square" lIns="0" rIns="0" tIns="0" bIns="0" anchor="t">
            <a:spAutoFit/>
          </a:bodyPr>
          <a:lstStyle/>
          <a:p>
            <a:pPr algn="l">
              <a:lnSpc>
                <a:spcPct val="105000"/>
              </a:lnSpc>
            </a:pPr>
            <a:r>
              <a:rPr sz="2600" b="1" i="0">
                <a:solidFill>
                  <a:srgbClr val="0F2346"/>
                </a:solidFill>
                <a:latin typeface="Montserrat"/>
                <a:ea typeface="Montserrat"/>
                <a:cs typeface="Montserrat"/>
              </a:rPr>
              <a:t>JUDGMENT</a:t>
            </a:r>
          </a:p>
        </p:txBody>
      </p:sp>
      <p:sp>
        <p:nvSpPr>
          <p:cNvPr id="6" name="TextBox 5"/>
          <p:cNvSpPr txBox="1"/>
          <p:nvPr/>
        </p:nvSpPr>
        <p:spPr>
          <a:xfrm>
            <a:off x="4318000" y="2857500"/>
            <a:ext cx="6921500" cy="444500"/>
          </a:xfrm>
          <a:prstGeom prst="rect">
            <a:avLst/>
          </a:prstGeom>
          <a:noFill/>
        </p:spPr>
        <p:txBody>
          <a:bodyPr wrap="square" lIns="0" rIns="0" tIns="0" bIns="0" anchor="t">
            <a:spAutoFit/>
          </a:bodyPr>
          <a:lstStyle/>
          <a:p>
            <a:pPr algn="l">
              <a:lnSpc>
                <a:spcPct val="130000"/>
              </a:lnSpc>
            </a:pPr>
            <a:r>
              <a:rPr sz="2400" b="0" i="0">
                <a:solidFill>
                  <a:srgbClr val="244B78"/>
                </a:solidFill>
                <a:latin typeface="DM Sans"/>
                <a:ea typeface="DM Sans"/>
                <a:cs typeface="DM Sans"/>
              </a:rPr>
              <a:t>What did you notice or decide?</a:t>
            </a:r>
          </a:p>
        </p:txBody>
      </p:sp>
      <p:sp>
        <p:nvSpPr>
          <p:cNvPr id="7" name="Rectangle 6"/>
          <p:cNvSpPr/>
          <p:nvPr/>
        </p:nvSpPr>
        <p:spPr>
          <a:xfrm>
            <a:off x="1016000" y="35433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6000" y="4000500"/>
            <a:ext cx="3175000" cy="400050"/>
          </a:xfrm>
          <a:prstGeom prst="rect">
            <a:avLst/>
          </a:prstGeom>
          <a:noFill/>
        </p:spPr>
        <p:txBody>
          <a:bodyPr wrap="square" lIns="0" rIns="0" tIns="0" bIns="0" anchor="t">
            <a:spAutoFit/>
          </a:bodyPr>
          <a:lstStyle/>
          <a:p>
            <a:pPr algn="l">
              <a:lnSpc>
                <a:spcPct val="105000"/>
              </a:lnSpc>
            </a:pPr>
            <a:r>
              <a:rPr sz="2600" b="1" i="0">
                <a:solidFill>
                  <a:srgbClr val="0F2346"/>
                </a:solidFill>
                <a:latin typeface="Montserrat"/>
                <a:ea typeface="Montserrat"/>
                <a:cs typeface="Montserrat"/>
              </a:rPr>
              <a:t>RANGE</a:t>
            </a:r>
          </a:p>
        </p:txBody>
      </p:sp>
      <p:sp>
        <p:nvSpPr>
          <p:cNvPr id="9" name="TextBox 8"/>
          <p:cNvSpPr txBox="1"/>
          <p:nvPr/>
        </p:nvSpPr>
        <p:spPr>
          <a:xfrm>
            <a:off x="4318000" y="4064000"/>
            <a:ext cx="6921500" cy="444500"/>
          </a:xfrm>
          <a:prstGeom prst="rect">
            <a:avLst/>
          </a:prstGeom>
          <a:noFill/>
        </p:spPr>
        <p:txBody>
          <a:bodyPr wrap="square" lIns="0" rIns="0" tIns="0" bIns="0" anchor="t">
            <a:spAutoFit/>
          </a:bodyPr>
          <a:lstStyle/>
          <a:p>
            <a:pPr algn="l">
              <a:lnSpc>
                <a:spcPct val="130000"/>
              </a:lnSpc>
            </a:pPr>
            <a:r>
              <a:rPr sz="2400" b="0" i="0">
                <a:solidFill>
                  <a:srgbClr val="244B78"/>
                </a:solidFill>
                <a:latin typeface="DM Sans"/>
                <a:ea typeface="DM Sans"/>
                <a:cs typeface="DM Sans"/>
              </a:rPr>
              <a:t>What new context can you now handle?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663700"/>
            <a:ext cx="2413000" cy="425450"/>
          </a:xfrm>
          <a:prstGeom prst="rect">
            <a:avLst/>
          </a:prstGeom>
          <a:noFill/>
        </p:spPr>
        <p:txBody>
          <a:bodyPr wrap="square" lIns="0" rIns="0" tIns="0" bIns="0" anchor="t">
            <a:spAutoFit/>
          </a:bodyPr>
          <a:lstStyle/>
          <a:p>
            <a:pPr algn="l">
              <a:lnSpc>
                <a:spcPct val="105000"/>
              </a:lnSpc>
            </a:pPr>
            <a:r>
              <a:rPr sz="2800" b="1" i="0">
                <a:solidFill>
                  <a:srgbClr val="C9A84C"/>
                </a:solidFill>
                <a:latin typeface="Montserrat"/>
                <a:ea typeface="Montserrat"/>
                <a:cs typeface="Montserrat"/>
              </a:rPr>
              <a:t>3 YES</a:t>
            </a:r>
          </a:p>
        </p:txBody>
      </p:sp>
      <p:sp>
        <p:nvSpPr>
          <p:cNvPr id="4" name="TextBox 3"/>
          <p:cNvSpPr txBox="1"/>
          <p:nvPr/>
        </p:nvSpPr>
        <p:spPr>
          <a:xfrm>
            <a:off x="3873500" y="1701800"/>
            <a:ext cx="7493000" cy="387350"/>
          </a:xfrm>
          <a:prstGeom prst="rect">
            <a:avLst/>
          </a:prstGeom>
          <a:noFill/>
        </p:spPr>
        <p:txBody>
          <a:bodyPr wrap="square" lIns="0" rIns="0" tIns="0" bIns="0" anchor="t">
            <a:spAutoFit/>
          </a:bodyPr>
          <a:lstStyle/>
          <a:p>
            <a:pPr algn="l">
              <a:lnSpc>
                <a:spcPct val="110000"/>
              </a:lnSpc>
            </a:pPr>
            <a:r>
              <a:rPr sz="2400" b="1" i="0">
                <a:solidFill>
                  <a:srgbClr val="F5F1E8"/>
                </a:solidFill>
                <a:latin typeface="Montserrat"/>
                <a:ea typeface="Montserrat"/>
                <a:cs typeface="Montserrat"/>
              </a:rPr>
              <a:t>STRONG GROWTH CASE</a:t>
            </a:r>
          </a:p>
        </p:txBody>
      </p:sp>
      <p:sp>
        <p:nvSpPr>
          <p:cNvPr id="5" name="Rectangle 4"/>
          <p:cNvSpPr/>
          <p:nvPr/>
        </p:nvSpPr>
        <p:spPr>
          <a:xfrm>
            <a:off x="1016000" y="2501900"/>
            <a:ext cx="10160000" cy="12700"/>
          </a:xfrm>
          <a:prstGeom prst="rect">
            <a:avLst/>
          </a:prstGeom>
          <a:solidFill>
            <a:srgbClr val="637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6000" y="2971800"/>
            <a:ext cx="2413000" cy="425450"/>
          </a:xfrm>
          <a:prstGeom prst="rect">
            <a:avLst/>
          </a:prstGeom>
          <a:noFill/>
        </p:spPr>
        <p:txBody>
          <a:bodyPr wrap="square" lIns="0" rIns="0" tIns="0" bIns="0" anchor="t">
            <a:spAutoFit/>
          </a:bodyPr>
          <a:lstStyle/>
          <a:p>
            <a:pPr algn="l">
              <a:lnSpc>
                <a:spcPct val="105000"/>
              </a:lnSpc>
            </a:pPr>
            <a:r>
              <a:rPr sz="2800" b="1" i="0">
                <a:solidFill>
                  <a:srgbClr val="C9A84C"/>
                </a:solidFill>
                <a:latin typeface="Montserrat"/>
                <a:ea typeface="Montserrat"/>
                <a:cs typeface="Montserrat"/>
              </a:rPr>
              <a:t>2 YES</a:t>
            </a:r>
          </a:p>
        </p:txBody>
      </p:sp>
      <p:sp>
        <p:nvSpPr>
          <p:cNvPr id="7" name="TextBox 6"/>
          <p:cNvSpPr txBox="1"/>
          <p:nvPr/>
        </p:nvSpPr>
        <p:spPr>
          <a:xfrm>
            <a:off x="3873500" y="3009900"/>
            <a:ext cx="7493000" cy="387350"/>
          </a:xfrm>
          <a:prstGeom prst="rect">
            <a:avLst/>
          </a:prstGeom>
          <a:noFill/>
        </p:spPr>
        <p:txBody>
          <a:bodyPr wrap="square" lIns="0" rIns="0" tIns="0" bIns="0" anchor="t">
            <a:spAutoFit/>
          </a:bodyPr>
          <a:lstStyle/>
          <a:p>
            <a:pPr algn="l">
              <a:lnSpc>
                <a:spcPct val="110000"/>
              </a:lnSpc>
            </a:pPr>
            <a:r>
              <a:rPr sz="2400" b="1" i="0">
                <a:solidFill>
                  <a:srgbClr val="F5F1E8"/>
                </a:solidFill>
                <a:latin typeface="Montserrat"/>
                <a:ea typeface="Montserrat"/>
                <a:cs typeface="Montserrat"/>
              </a:rPr>
              <a:t>INVESTIGATE OR NEGOTIATE</a:t>
            </a:r>
          </a:p>
        </p:txBody>
      </p:sp>
      <p:sp>
        <p:nvSpPr>
          <p:cNvPr id="8" name="Rectangle 7"/>
          <p:cNvSpPr/>
          <p:nvPr/>
        </p:nvSpPr>
        <p:spPr>
          <a:xfrm>
            <a:off x="1016000" y="3810000"/>
            <a:ext cx="10160000" cy="12700"/>
          </a:xfrm>
          <a:prstGeom prst="rect">
            <a:avLst/>
          </a:prstGeom>
          <a:solidFill>
            <a:srgbClr val="637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4279900"/>
            <a:ext cx="2413000" cy="425450"/>
          </a:xfrm>
          <a:prstGeom prst="rect">
            <a:avLst/>
          </a:prstGeom>
          <a:noFill/>
        </p:spPr>
        <p:txBody>
          <a:bodyPr wrap="square" lIns="0" rIns="0" tIns="0" bIns="0" anchor="t">
            <a:spAutoFit/>
          </a:bodyPr>
          <a:lstStyle/>
          <a:p>
            <a:pPr algn="l">
              <a:lnSpc>
                <a:spcPct val="105000"/>
              </a:lnSpc>
            </a:pPr>
            <a:r>
              <a:rPr sz="2800" b="1" i="0">
                <a:solidFill>
                  <a:srgbClr val="C9A84C"/>
                </a:solidFill>
                <a:latin typeface="Montserrat"/>
                <a:ea typeface="Montserrat"/>
                <a:cs typeface="Montserrat"/>
              </a:rPr>
              <a:t>0-1 YES</a:t>
            </a:r>
          </a:p>
        </p:txBody>
      </p:sp>
      <p:sp>
        <p:nvSpPr>
          <p:cNvPr id="10" name="TextBox 9"/>
          <p:cNvSpPr txBox="1"/>
          <p:nvPr/>
        </p:nvSpPr>
        <p:spPr>
          <a:xfrm>
            <a:off x="3873500" y="4318000"/>
            <a:ext cx="7493000" cy="387350"/>
          </a:xfrm>
          <a:prstGeom prst="rect">
            <a:avLst/>
          </a:prstGeom>
          <a:noFill/>
        </p:spPr>
        <p:txBody>
          <a:bodyPr wrap="square" lIns="0" rIns="0" tIns="0" bIns="0" anchor="t">
            <a:spAutoFit/>
          </a:bodyPr>
          <a:lstStyle/>
          <a:p>
            <a:pPr algn="l">
              <a:lnSpc>
                <a:spcPct val="110000"/>
              </a:lnSpc>
            </a:pPr>
            <a:r>
              <a:rPr sz="2400" b="1" i="0">
                <a:solidFill>
                  <a:srgbClr val="F5F1E8"/>
                </a:solidFill>
                <a:latin typeface="Montserrat"/>
                <a:ea typeface="Montserrat"/>
                <a:cs typeface="Montserrat"/>
              </a:rPr>
              <a:t>MOVEMENT, NOT MUCH FORMATION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727200"/>
            <a:ext cx="635000" cy="2413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01</a:t>
            </a:r>
          </a:p>
        </p:txBody>
      </p:sp>
      <p:sp>
        <p:nvSpPr>
          <p:cNvPr id="3" name="TextBox 2"/>
          <p:cNvSpPr txBox="1"/>
          <p:nvPr/>
        </p:nvSpPr>
        <p:spPr>
          <a:xfrm>
            <a:off x="1828800" y="1638300"/>
            <a:ext cx="9525000" cy="419100"/>
          </a:xfrm>
          <a:prstGeom prst="rect">
            <a:avLst/>
          </a:prstGeom>
          <a:noFill/>
        </p:spPr>
        <p:txBody>
          <a:bodyPr wrap="square" lIns="0" rIns="0" tIns="0" bIns="0" anchor="t">
            <a:spAutoFit/>
          </a:bodyPr>
          <a:lstStyle/>
          <a:p>
            <a:pPr algn="l">
              <a:lnSpc>
                <a:spcPct val="120000"/>
              </a:lnSpc>
            </a:pPr>
            <a:r>
              <a:rPr sz="2400" b="1" i="0">
                <a:solidFill>
                  <a:srgbClr val="0F2346"/>
                </a:solidFill>
                <a:latin typeface="Montserrat"/>
                <a:ea typeface="Montserrat"/>
                <a:cs typeface="Montserrat"/>
              </a:rPr>
              <a:t>What problems will I own in the first six months?</a:t>
            </a:r>
          </a:p>
        </p:txBody>
      </p:sp>
      <p:sp>
        <p:nvSpPr>
          <p:cNvPr id="4" name="Rectangle 3"/>
          <p:cNvSpPr/>
          <p:nvPr/>
        </p:nvSpPr>
        <p:spPr>
          <a:xfrm>
            <a:off x="1016000" y="25146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933700"/>
            <a:ext cx="635000" cy="2413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02</a:t>
            </a:r>
          </a:p>
        </p:txBody>
      </p:sp>
      <p:sp>
        <p:nvSpPr>
          <p:cNvPr id="6" name="TextBox 5"/>
          <p:cNvSpPr txBox="1"/>
          <p:nvPr/>
        </p:nvSpPr>
        <p:spPr>
          <a:xfrm>
            <a:off x="1828800" y="2844800"/>
            <a:ext cx="9525000" cy="419100"/>
          </a:xfrm>
          <a:prstGeom prst="rect">
            <a:avLst/>
          </a:prstGeom>
          <a:noFill/>
        </p:spPr>
        <p:txBody>
          <a:bodyPr wrap="square" lIns="0" rIns="0" tIns="0" bIns="0" anchor="t">
            <a:spAutoFit/>
          </a:bodyPr>
          <a:lstStyle/>
          <a:p>
            <a:pPr algn="l">
              <a:lnSpc>
                <a:spcPct val="120000"/>
              </a:lnSpc>
            </a:pPr>
            <a:r>
              <a:rPr sz="2400" b="1" i="0">
                <a:solidFill>
                  <a:srgbClr val="0F2346"/>
                </a:solidFill>
                <a:latin typeface="Montserrat"/>
                <a:ea typeface="Montserrat"/>
                <a:cs typeface="Montserrat"/>
              </a:rPr>
              <a:t>Which decisions belong to this role?</a:t>
            </a:r>
          </a:p>
        </p:txBody>
      </p:sp>
      <p:sp>
        <p:nvSpPr>
          <p:cNvPr id="7" name="Rectangle 6"/>
          <p:cNvSpPr/>
          <p:nvPr/>
        </p:nvSpPr>
        <p:spPr>
          <a:xfrm>
            <a:off x="1016000" y="37211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6000" y="4140200"/>
            <a:ext cx="635000" cy="2413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03</a:t>
            </a:r>
          </a:p>
        </p:txBody>
      </p:sp>
      <p:sp>
        <p:nvSpPr>
          <p:cNvPr id="9" name="TextBox 8"/>
          <p:cNvSpPr txBox="1"/>
          <p:nvPr/>
        </p:nvSpPr>
        <p:spPr>
          <a:xfrm>
            <a:off x="1828800" y="4051300"/>
            <a:ext cx="9525000" cy="419100"/>
          </a:xfrm>
          <a:prstGeom prst="rect">
            <a:avLst/>
          </a:prstGeom>
          <a:noFill/>
        </p:spPr>
        <p:txBody>
          <a:bodyPr wrap="square" lIns="0" rIns="0" tIns="0" bIns="0" anchor="t">
            <a:spAutoFit/>
          </a:bodyPr>
          <a:lstStyle/>
          <a:p>
            <a:pPr algn="l">
              <a:lnSpc>
                <a:spcPct val="120000"/>
              </a:lnSpc>
            </a:pPr>
            <a:r>
              <a:rPr sz="2400" b="1" i="0">
                <a:solidFill>
                  <a:srgbClr val="0F2346"/>
                </a:solidFill>
                <a:latin typeface="Montserrat"/>
                <a:ea typeface="Montserrat"/>
                <a:cs typeface="Montserrat"/>
              </a:rPr>
              <a:t>How will success be measured?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91800" y="66040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15650" y="660400"/>
            <a:ext cx="254000" cy="2540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59180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1565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2095500"/>
            <a:ext cx="10160000" cy="1225550"/>
          </a:xfrm>
          <a:prstGeom prst="rect">
            <a:avLst/>
          </a:prstGeom>
          <a:noFill/>
        </p:spPr>
        <p:txBody>
          <a:bodyPr wrap="square" lIns="0" rIns="0" tIns="0" bIns="0" anchor="t">
            <a:spAutoFit/>
          </a:bodyPr>
          <a:lstStyle/>
          <a:p>
            <a:pPr algn="l">
              <a:lnSpc>
                <a:spcPct val="110000"/>
              </a:lnSpc>
            </a:pPr>
            <a:r>
              <a:rPr sz="4200" b="1" i="0">
                <a:solidFill>
                  <a:srgbClr val="F5F1E8"/>
                </a:solidFill>
                <a:latin typeface="Montserrat"/>
                <a:ea typeface="Montserrat"/>
                <a:cs typeface="Montserrat"/>
              </a:rPr>
              <a:t>CAREER DECISION</a:t>
            </a:r>
            <a:br/>
            <a:r>
              <a:rPr sz="4200" b="1" i="0">
                <a:solidFill>
                  <a:srgbClr val="F5F1E8"/>
                </a:solidFill>
                <a:latin typeface="Montserrat"/>
                <a:ea typeface="Montserrat"/>
                <a:cs typeface="Montserrat"/>
              </a:rPr>
              <a:t>EVIDENCE CHECK</a:t>
            </a:r>
          </a:p>
        </p:txBody>
      </p:sp>
      <p:sp>
        <p:nvSpPr>
          <p:cNvPr id="8" name="Rectangle 7"/>
          <p:cNvSpPr/>
          <p:nvPr/>
        </p:nvSpPr>
        <p:spPr>
          <a:xfrm>
            <a:off x="1016000" y="3594100"/>
            <a:ext cx="1905000" cy="317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3949700"/>
            <a:ext cx="9906000" cy="844550"/>
          </a:xfrm>
          <a:prstGeom prst="rect">
            <a:avLst/>
          </a:prstGeom>
          <a:noFill/>
        </p:spPr>
        <p:txBody>
          <a:bodyPr wrap="square" lIns="0" rIns="0" tIns="0" bIns="0" anchor="t">
            <a:spAutoFit/>
          </a:bodyPr>
          <a:lstStyle/>
          <a:p>
            <a:pPr algn="l">
              <a:lnSpc>
                <a:spcPct val="130000"/>
              </a:lnSpc>
            </a:pPr>
            <a:r>
              <a:rPr sz="2400" b="0" i="0">
                <a:solidFill>
                  <a:srgbClr val="F5F1E8"/>
                </a:solidFill>
                <a:latin typeface="DM Sans"/>
                <a:ea typeface="DM Sans"/>
                <a:cs typeface="DM Sans"/>
              </a:rPr>
              <a:t>A free next step for an active stay,</a:t>
            </a:r>
            <a:br/>
            <a:r>
              <a:rPr sz="2400" b="0" i="0">
                <a:solidFill>
                  <a:srgbClr val="F5F1E8"/>
                </a:solidFill>
                <a:latin typeface="DM Sans"/>
                <a:ea typeface="DM Sans"/>
                <a:cs typeface="DM Sans"/>
              </a:rPr>
              <a:t>internal-move or leave decision</a:t>
            </a:r>
          </a:p>
        </p:txBody>
      </p:sp>
      <p:sp>
        <p:nvSpPr>
          <p:cNvPr id="10" name="TextBox 9"/>
          <p:cNvSpPr txBox="1"/>
          <p:nvPr/>
        </p:nvSpPr>
        <p:spPr>
          <a:xfrm>
            <a:off x="1016000" y="5080000"/>
            <a:ext cx="9906000" cy="482600"/>
          </a:xfrm>
          <a:prstGeom prst="rect">
            <a:avLst/>
          </a:prstGeom>
          <a:noFill/>
        </p:spPr>
        <p:txBody>
          <a:bodyPr wrap="square" lIns="0" rIns="0" tIns="0" bIns="0" anchor="t">
            <a:spAutoFit/>
          </a:bodyPr>
          <a:lstStyle/>
          <a:p>
            <a:pPr algn="l">
              <a:lnSpc>
                <a:spcPct val="115000"/>
              </a:lnSpc>
            </a:pPr>
            <a:r>
              <a:rPr sz="2800" b="1" i="0">
                <a:solidFill>
                  <a:srgbClr val="C9A84C"/>
                </a:solidFill>
                <a:latin typeface="Montserrat"/>
                <a:ea typeface="Montserrat"/>
                <a:cs typeface="Montserrat"/>
              </a:rPr>
              <a:t>temidayoafonja.com/career-decisions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587500"/>
            <a:ext cx="5715000" cy="2159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WATCH NEXT</a:t>
            </a:r>
          </a:p>
        </p:txBody>
      </p:sp>
      <p:sp>
        <p:nvSpPr>
          <p:cNvPr id="3" name="TextBox 2"/>
          <p:cNvSpPr txBox="1"/>
          <p:nvPr/>
        </p:nvSpPr>
        <p:spPr>
          <a:xfrm>
            <a:off x="1016000" y="2006600"/>
            <a:ext cx="5969000" cy="1422400"/>
          </a:xfrm>
          <a:prstGeom prst="rect">
            <a:avLst/>
          </a:prstGeom>
          <a:noFill/>
        </p:spPr>
        <p:txBody>
          <a:bodyPr wrap="square" lIns="0" rIns="0" tIns="0" bIns="0" anchor="t">
            <a:spAutoFit/>
          </a:bodyPr>
          <a:lstStyle/>
          <a:p>
            <a:pPr algn="l">
              <a:lnSpc>
                <a:spcPct val="116000"/>
              </a:lnSpc>
            </a:pPr>
            <a:r>
              <a:rPr sz="3100" b="1" i="0">
                <a:solidFill>
                  <a:srgbClr val="0F2346"/>
                </a:solidFill>
                <a:latin typeface="Montserrat"/>
                <a:ea typeface="Montserrat"/>
                <a:cs typeface="Montserrat"/>
              </a:rPr>
              <a:t>ARE YOU GROWING—</a:t>
            </a:r>
            <a:br/>
            <a:r>
              <a:rPr sz="3100" b="1" i="0">
                <a:solidFill>
                  <a:srgbClr val="0F2346"/>
                </a:solidFill>
                <a:latin typeface="Montserrat"/>
                <a:ea typeface="Montserrat"/>
                <a:cs typeface="Montserrat"/>
              </a:rPr>
              <a:t>OR JUST BEING GIVEN</a:t>
            </a:r>
            <a:br/>
            <a:r>
              <a:rPr sz="3100" b="1" i="0">
                <a:solidFill>
                  <a:srgbClr val="0F2346"/>
                </a:solidFill>
                <a:latin typeface="Montserrat"/>
                <a:ea typeface="Montserrat"/>
                <a:cs typeface="Montserrat"/>
              </a:rPr>
              <a:t>MORE WORK?</a:t>
            </a:r>
          </a:p>
        </p:txBody>
      </p:sp>
      <p:sp>
        <p:nvSpPr>
          <p:cNvPr id="4" name="Rectangle 3"/>
          <p:cNvSpPr/>
          <p:nvPr/>
        </p:nvSpPr>
        <p:spPr>
          <a:xfrm>
            <a:off x="1016000" y="4025900"/>
            <a:ext cx="1524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4356100"/>
            <a:ext cx="5969000" cy="787400"/>
          </a:xfrm>
          <a:prstGeom prst="rect">
            <a:avLst/>
          </a:prstGeom>
          <a:noFill/>
        </p:spPr>
        <p:txBody>
          <a:bodyPr wrap="square" lIns="0" rIns="0" tIns="0" bIns="0" anchor="t">
            <a:spAutoFit/>
          </a:bodyPr>
          <a:lstStyle/>
          <a:p>
            <a:pPr algn="l">
              <a:lnSpc>
                <a:spcPct val="132000"/>
              </a:lnSpc>
            </a:pPr>
            <a:r>
              <a:rPr sz="2200" b="1" i="0">
                <a:solidFill>
                  <a:srgbClr val="3E506B"/>
                </a:solidFill>
                <a:latin typeface="Montserrat"/>
                <a:ea typeface="Montserrat"/>
                <a:cs typeface="Montserrat"/>
              </a:rPr>
              <a:t>Playlist: Career Portability: Career Pivots,</a:t>
            </a:r>
            <a:br/>
            <a:r>
              <a:rPr sz="2200" b="1" i="0">
                <a:solidFill>
                  <a:srgbClr val="3E506B"/>
                </a:solidFill>
                <a:latin typeface="Montserrat"/>
                <a:ea typeface="Montserrat"/>
                <a:cs typeface="Montserrat"/>
              </a:rPr>
              <a:t>Internal Moves &amp; Growth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