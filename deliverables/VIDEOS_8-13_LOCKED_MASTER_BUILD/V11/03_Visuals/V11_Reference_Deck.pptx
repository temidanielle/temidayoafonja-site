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V11_MG01_Can_We_Reduce_The_Team.png  (MG01)</a:t>
            </a:r>
          </a:p>
          <a:p/>
          <a:p>
            <a:r>
              <a:t>Mode: TRUE FULL SCREEN</a:t>
            </a:r>
          </a:p>
          <a:p/>
          <a:p>
            <a:r>
              <a:t>On screen: DOES THIS MEAN WE CAN REDUCE THE TEAM?</a:t>
            </a:r>
          </a:p>
          <a:p/>
          <a:p>
            <a:r>
              <a:t>Trigger: “Does this mean we can reduce the team?”</a:t>
            </a:r>
          </a:p>
          <a:p/>
          <a:p>
            <a:r>
              <a:t>Purpose: The stakes, in the manager's own words, inside the first thirty seconds.</a:t>
            </a:r>
          </a:p>
          <a:p>
            <a:r>
              <a:t>Hold: 7 to 8 seconds.</a:t>
            </a:r>
          </a:p>
          <a:p>
            <a:r>
              <a:t>Exit: Cut back to camera for the reframe.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V11_MG02_The_Headline_Rate.png  (MG02)</a:t>
            </a:r>
          </a:p>
          <a:p/>
          <a:p>
            <a:r>
              <a:t>Mode: TRUE FULL SCREEN</a:t>
            </a:r>
          </a:p>
          <a:p/>
          <a:p>
            <a:r>
              <a:t>On screen: PERIOD 1: 60 of 100, 60% / PERIOD 2: 80 of 100, 80% / an increase of 20 percentage points</a:t>
            </a:r>
          </a:p>
          <a:p/>
          <a:p>
            <a:r>
              <a:t>Trigger: Sixty percent to eighty percent.</a:t>
            </a:r>
          </a:p>
          <a:p/>
          <a:p>
            <a:r>
              <a:t>Purpose: Shows the number that looks like an improvement, before the mix is separated out.</a:t>
            </a:r>
          </a:p>
          <a:p>
            <a:r>
              <a:t>Hold: 9 to 10 seconds.</a:t>
            </a:r>
          </a:p>
          <a:p>
            <a:r>
              <a:t>Exit: Cut back to camera for the separation into categories.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V11_MG03_The_Mix_Changed.png  (MG03)</a:t>
            </a:r>
          </a:p>
          <a:p/>
          <a:p>
            <a:r>
              <a:t>Mode: TRUE FULL SCREEN</a:t>
            </a:r>
          </a:p>
          <a:p/>
          <a:p>
            <a:r>
              <a:t>On screen: ROUTINE 90% both periods / COMPLEX 40% both periods / THE MIX: routine went from 40% of cases to 80%</a:t>
            </a:r>
          </a:p>
          <a:p/>
          <a:p>
            <a:r>
              <a:t>Trigger: What changed was the mix. The second period had far more routine cases and fewer complex ones.</a:t>
            </a:r>
          </a:p>
          <a:p/>
          <a:p>
            <a:r>
              <a:t>Purpose: The whole point of the demonstration, in one frame.</a:t>
            </a:r>
          </a:p>
          <a:p>
            <a:r>
              <a:t>Hold: 11 to 12 seconds. Do not rush this one.</a:t>
            </a:r>
          </a:p>
          <a:p>
            <a:r>
              <a:t>Exit: Cut back to camera for the AI-assisted summary passage.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V11_MG04_Produce_Interpret_Decide.png  (MG04)</a:t>
            </a:r>
          </a:p>
          <a:p/>
          <a:p>
            <a:r>
              <a:t>Mode: TRUE FULL SCREEN</a:t>
            </a:r>
          </a:p>
          <a:p/>
          <a:p>
            <a:r>
              <a:t>On screen: PRODUCE / INTERPRET / DECIDE / and verify across all three</a:t>
            </a:r>
          </a:p>
          <a:p/>
          <a:p>
            <a:r>
              <a:t>Trigger: Produce. Interpret. Decide.</a:t>
            </a:r>
          </a:p>
          <a:p/>
          <a:p>
            <a:r>
              <a:t>Purpose: The hero framework. Returns briefly at each section change.</a:t>
            </a:r>
          </a:p>
          <a:p>
            <a:r>
              <a:t>Hold: 9 to 11 seconds first time, 3 seconds on each return.</a:t>
            </a:r>
          </a:p>
          <a:p>
            <a:r>
              <a:t>Exit: Cut back to camera.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V11_MG05_What_It_Does_Not_Establish.png  (MG05)</a:t>
            </a:r>
          </a:p>
          <a:p/>
          <a:p>
            <a:r>
              <a:t>Mode: TRUE FULL SCREEN</a:t>
            </a:r>
          </a:p>
          <a:p/>
          <a:p>
            <a:r>
              <a:t>On screen: IT SUPPORTS: the rate rose while the mix shifted / IT DOES NOT ESTABLISH: that removing experienced staff would preserve the result</a:t>
            </a:r>
          </a:p>
          <a:p/>
          <a:p>
            <a:r>
              <a:t>Trigger: It means this evidence does not settle that decision.</a:t>
            </a:r>
          </a:p>
          <a:p/>
          <a:p>
            <a:r>
              <a:t>Purpose: The boundary between a useful analysis and a consequential decision.</a:t>
            </a:r>
          </a:p>
          <a:p>
            <a:r>
              <a:t>Hold: 11 to 12 seconds. Both columns are full sentences.</a:t>
            </a:r>
          </a:p>
          <a:p>
            <a:r>
              <a:t>Exit: Cut back to camera for the questions to investigate.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V11_MG06_Who_Owns_The_Consequence.png  (MG06)</a:t>
            </a:r>
          </a:p>
          <a:p/>
          <a:p>
            <a:r>
              <a:t>Mode: TRUE FULL SCREEN</a:t>
            </a:r>
          </a:p>
          <a:p/>
          <a:p>
            <a:r>
              <a:t>On screen: Who is authorized? / Which risks? / What alternatives? / What would trigger a review? / Who will monitor after?</a:t>
            </a:r>
          </a:p>
          <a:p/>
          <a:p>
            <a:r>
              <a:t>Trigger: It is a decision process.</a:t>
            </a:r>
          </a:p>
          <a:p/>
          <a:p>
            <a:r>
              <a:t>Purpose: Turns the manager's question into an organizational responsibility rather than a better report.</a:t>
            </a:r>
          </a:p>
          <a:p>
            <a:r>
              <a:t>Hold: 11 to 12 seconds. Five questions need real reading time.</a:t>
            </a:r>
          </a:p>
          <a:p>
            <a:r>
              <a:t>Exit: Cut back to camera for the do-not-take-responsibility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V11_MG07_Map_Your_Role.png  (MG07)</a:t>
            </a:r>
          </a:p>
          <a:p/>
          <a:p>
            <a:r>
              <a:t>Mode: TRUE FULL SCREEN</a:t>
            </a:r>
          </a:p>
          <a:p/>
          <a:p>
            <a:r>
              <a:t>On screen: PRODUCE / INTERPRET / DECIDE, each with its verification question</a:t>
            </a:r>
          </a:p>
          <a:p/>
          <a:p>
            <a:r>
              <a:t>Trigger: Then put a verification question under each.</a:t>
            </a:r>
          </a:p>
          <a:p/>
          <a:p>
            <a:r>
              <a:t>Purpose: The deliverable. What the viewer builds after watching.</a:t>
            </a:r>
          </a:p>
          <a:p>
            <a:r>
              <a:t>Hold: 11 to 13 seconds. This is the screenshot frame.</a:t>
            </a:r>
          </a:p>
          <a:p>
            <a:r>
              <a:t>Exit: Cut back to camera for the honest-map passage.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V11_RESOURCE_Field_Kit.png  (RES)</a:t>
            </a:r>
          </a:p>
          <a:p/>
          <a:p>
            <a:r>
              <a:t>Mode: TRUE FULL SCREEN</a:t>
            </a:r>
          </a:p>
          <a:p/>
          <a:p>
            <a:r>
              <a:t>On screen: CAPABILITY FORMATION FIELD KIT / temidayoafonja.com/fieldkit</a:t>
            </a:r>
          </a:p>
          <a:p/>
          <a:p>
            <a:r>
              <a:t>Trigger: The Capability Formation Field Kit is linked below for a broader read of what your current work is building and where your options may be expanding or narrowing.</a:t>
            </a:r>
          </a:p>
          <a:p/>
          <a:p>
            <a:r>
              <a:t>Purpose: The single resource route.</a:t>
            </a:r>
          </a:p>
          <a:p>
            <a:r>
              <a:t>Hold: 8 to 9 seconds.</a:t>
            </a:r>
          </a:p>
          <a:p>
            <a:r>
              <a:t>Exit: Cut back to camera for the closing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V11_WATCH_NEXT_Cant_Quit_Yet.png  (WN)</a:t>
            </a:r>
          </a:p>
          <a:p/>
          <a:p>
            <a:r>
              <a:t>Mode: TRUE FULL SCREEN, FINAL</a:t>
            </a:r>
          </a:p>
          <a:p/>
          <a:p>
            <a:r>
              <a:t>On screen: WATCH NEXT: WHAT TO DO WHEN YOU CAN’T QUIT YOUR JOB YET</a:t>
            </a:r>
          </a:p>
          <a:p/>
          <a:p>
            <a:r>
              <a:t>Trigger: Watch “What to Do When You Can’t Quit Your Job Yet” next.</a:t>
            </a:r>
          </a:p>
          <a:p/>
          <a:p>
            <a:r>
              <a:t>Purpose: Final visual. Right of frame kept clear for the end-screen element.</a:t>
            </a:r>
          </a:p>
          <a:p>
            <a:r>
              <a:t>Hold: 10 to 14 seconds, through the final spoken line and the closing hold.</a:t>
            </a:r>
          </a:p>
          <a:p>
            <a:r>
              <a:t>Exit: NONE. Final visual. No camera return, no outro.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45192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“DOES THIS MEAN WE</a:t>
            </a:r>
            <a:br/>
            <a:r>
              <a:rPr sz="3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CAN REDUCE THE TEAM?”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" y="382505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That is the moment the job changes.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721231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9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The headline looks better.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682367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898267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PERIOD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445129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60 of 100 met the target.  60%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2682367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0000" y="2898267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PERIOD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0" y="3445129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80 of 100 met the target.  80%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4664329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An increase of 20 percentage points.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6000" y="952500"/>
            <a:ext cx="10160000" cy="38735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1100" y="1041400"/>
            <a:ext cx="9829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 spc="15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SYNTHETIC DATA  ·  PREPARED AI-ASSISTED EXAMPLE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90855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The rates did not move. The mix did.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" y="2862072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ROUTINE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53000" y="2798572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90% in both periods.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507740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COMPLEX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53000" y="3444240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40% in both periods.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4153408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MIX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53000" y="4089908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Routine went from 40% of cases to 80%.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952500"/>
            <a:ext cx="10160000" cy="38735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1100" y="1041400"/>
            <a:ext cx="9829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 spc="15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SYNTHETIC DATA  ·  PREPARED AI-ASSISTED EXAMPLE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988693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4200" y="1912493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PRODUCE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783205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4200" y="2707005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INTERPRET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577717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4200" y="3501517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DECIDE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435729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And verify across all three.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609217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3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the summary supports, and what it does not.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954401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3170301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IT SUPPORTS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659251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The rate rose while the mix shifted toward the higher-rate category.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2954401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0000" y="3170301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IT DOES NOT ESTABLISH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0" y="3659251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That removing experienced staff would preserve the result.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4776343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This evidence does not settle that decision.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6000" y="952500"/>
            <a:ext cx="10160000" cy="38735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1100" y="1041400"/>
            <a:ext cx="9829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 spc="15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SYNTHETIC DATA  ·  PREPARED AI-ASSISTED EXAMPLE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THREE | DECIDE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138680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4200" y="2062480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Who is authorized to make the change?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705608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4200" y="2629408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Which risks must be accepted or reduced?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272536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4200" y="3196336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alternatives are available?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3839464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54200" y="3763264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would trigger a review or reversal?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6000" y="4406392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54200" y="4330192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Who will monitor what happens after?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MAP ONE RECURRING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5875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8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Three columns, one verification question each.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2386584"/>
            <a:ext cx="3302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PRODUCE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9000" y="2335784"/>
            <a:ext cx="6477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2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can an approved tool help produce?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951988"/>
            <a:ext cx="3302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INTERPRET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9000" y="2901188"/>
            <a:ext cx="6477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2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must be established before anyone relies on it?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3841496"/>
            <a:ext cx="3302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DECIDE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9000" y="3790696"/>
            <a:ext cx="6477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2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decision does it inform, and who owns it?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480720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Not your whole profession. One output.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6000" y="99060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9050" y="990600"/>
            <a:ext cx="215900" cy="2159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905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03606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CAPABILITY FORMATION FIELD 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45516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 broader read of what</a:t>
            </a:r>
            <a:br/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your work is building.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91668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Not an AI certification and not a job-security prediction.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4633976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6000" y="493877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temidayoafonja.com/fieldkit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245868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626868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957068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to Do When</a:t>
            </a:r>
            <a:br/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You Can’t Quit</a:t>
            </a:r>
            <a:br/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Your Job Yet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