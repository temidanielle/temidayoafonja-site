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0:30.</a:t>
            </a:r>
          </a:p>
          <a:p/>
          <a:p>
            <a:r>
              <a:t>First visual after the hook. Begin full screen on Temidayo; this lands only</a:t>
            </a:r>
          </a:p>
          <a:p>
            <a:r>
              <a:t>after the opening distinction and viewer promise.</a:t>
            </a:r>
          </a:p>
          <a:p/>
          <a:p>
            <a:r>
              <a:t>Reveal the first two statements together, then the final distinction.</a:t>
            </a:r>
          </a:p>
          <a:p/>
          <a:p>
            <a:r>
              <a:t>The not-equal sign is drawn rather than typeset: no brand font contains that</a:t>
            </a:r>
          </a:p>
          <a:p>
            <a:r>
              <a:t>glyph.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1:15.</a:t>
            </a:r>
          </a:p>
          <a:p/>
          <a:p>
            <a:r>
              <a:t>Reveal MORE WORK first, on its own, while the point about volume is made.</a:t>
            </a:r>
          </a:p>
          <a:p/>
          <a:p>
            <a:r>
              <a:t>Then the navy band brings REAL GROWTH in underneath and lets it carry the</a:t>
            </a:r>
          </a:p>
          <a:p>
            <a:r>
              <a:t>weight. Stacked rather than side by side, so this reads differently from the</a:t>
            </a:r>
          </a:p>
          <a:p>
            <a:r>
              <a:t>Video 5 comparison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2:20.</a:t>
            </a:r>
          </a:p>
          <a:p/>
          <a:p>
            <a:r>
              <a:t>Reveal one test at a time, then hold the complete list.</a:t>
            </a:r>
          </a:p>
          <a:p/>
          <a:p>
            <a:r>
              <a:t>Complexity, authority, return. These are the three the rest of the video runs</a:t>
            </a:r>
          </a:p>
          <a:p>
            <a:r>
              <a:t>on, so let each land before the next arrives.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2:20 to 4:35.</a:t>
            </a:r>
          </a:p>
          <a:p/>
          <a:p>
            <a:r>
              <a:t>State one holds the left side alone: more units of the same problem.</a:t>
            </a:r>
          </a:p>
          <a:p/>
          <a:p>
            <a:r>
              <a:t>State two mutes the left, brings "versus" forward and lands the right side at</a:t>
            </a:r>
          </a:p>
          <a:p>
            <a:r>
              <a:t>full weight. The right side carries the stronger visual weight, as specified.</a:t>
            </a:r>
          </a:p>
          <a:p/>
          <a:p>
            <a:r>
              <a:t>Repetition can build speed and reliability. It does not expand range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4:00.</a:t>
            </a:r>
          </a:p>
          <a:p/>
          <a:p>
            <a:r>
              <a:t>Brief full-screen question. Hold it, then return to Temidayo.</a:t>
            </a:r>
          </a:p>
          <a:p/>
          <a:p>
            <a:r>
              <a:t>If the only answer is that you can do more of the same thing, that is capacity</a:t>
            </a:r>
          </a:p>
          <a:p>
            <a:r>
              <a:t>use. Do not automatically call it career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4:35 to 6:55.</a:t>
            </a:r>
          </a:p>
          <a:p/>
          <a:p>
            <a:r>
              <a:t>Two-part reveal. Accountability first, then authority.</a:t>
            </a:r>
          </a:p>
          <a:p/>
          <a:p>
            <a:r>
              <a:t>Definitions are held large enough for phone viewing. These do not always expand</a:t>
            </a:r>
          </a:p>
          <a:p>
            <a:r>
              <a:t>together, and that gap is the whole point of the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6:20.</a:t>
            </a:r>
          </a:p>
          <a:p/>
          <a:p>
            <a:r>
              <a:t>Restrained navy statement slide. No red treatment, no warning symbol; the</a:t>
            </a:r>
          </a:p>
          <a:p>
            <a:r>
              <a:t>weight comes from the type and the gold, nothing else.</a:t>
            </a:r>
          </a:p>
          <a:p/>
          <a:p>
            <a:r>
              <a:t>Exposure can be useful. Sustained accountability without growing decision</a:t>
            </a:r>
          </a:p>
          <a:p>
            <a:r>
              <a:t>rights is not a development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6:55 to 9:10.</a:t>
            </a:r>
          </a:p>
          <a:p/>
          <a:p>
            <a:r>
              <a:t>Reveal the three returns sequentially as each is defined.</a:t>
            </a:r>
          </a:p>
          <a:p/>
          <a:p>
            <a:r>
              <a:t>Capability, evidence, recognition. Some worthwhile assignments will be stronger</a:t>
            </a:r>
          </a:p>
          <a:p>
            <a:r>
              <a:t>in one than another; the question is whether the return is real and whether the</a:t>
            </a:r>
          </a:p>
          <a:p>
            <a:r>
              <a:t>time boundary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9:10 to 10:20.</a:t>
            </a:r>
          </a:p>
          <a:p/>
          <a:p>
            <a:r>
              <a:t>Clear vertical separation between the two readings.</a:t>
            </a:r>
          </a:p>
          <a:p/>
          <a:p>
            <a:r>
              <a:t>The lower result is deliberately not punitive or alarmist: cream-dim on navy,</a:t>
            </a:r>
          </a:p>
          <a:p>
            <a:r>
              <a:t>a muted rule, no red. More load may be acceptable for a short season. It just</a:t>
            </a:r>
          </a:p>
          <a:p>
            <a:r>
              <a:t>needs a boundary and a review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10:20 to 11:15.</a:t>
            </a:r>
          </a:p>
          <a:p/>
          <a:p>
            <a:r>
              <a:t>Reveal the three questions one at a time.</a:t>
            </a:r>
          </a:p>
          <a:p/>
          <a:p>
            <a:r>
              <a:t>This is a stronger conversation than saying only that there is too much work.</a:t>
            </a:r>
          </a:p>
          <a:p>
            <a:r>
              <a:t>It discusses priorities, authority, support and recognition using the actual</a:t>
            </a:r>
          </a:p>
          <a:p>
            <a:r>
              <a:t>design of the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11:15 to 11:45.</a:t>
            </a:r>
          </a:p>
          <a:p/>
          <a:p>
            <a:r>
              <a:t>Simple CTA card. No competing offer and no QR code. This is the only CTA in the</a:t>
            </a:r>
          </a:p>
          <a:p>
            <a:r>
              <a:t>video: no Career Decision Evidence Check, no Keep the Proof, no book or</a:t>
            </a:r>
          </a:p>
          <a:p>
            <a:r>
              <a:t>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final 15 to 20 seconds.</a:t>
            </a:r>
          </a:p>
          <a:p/>
          <a:p>
            <a:r>
              <a:t>Routes to Video 7, How to Prove the Value of Work That Had No Blueprint.</a:t>
            </a:r>
          </a:p>
          <a:p/>
          <a:p>
            <a:r>
              <a:t>All content is held left of x=1130 so the right side stays clear for YouTube</a:t>
            </a:r>
          </a:p>
          <a:p>
            <a:r>
              <a:t>end-screen elements.</a:t>
            </a:r>
          </a:p>
          <a:p/>
          <a:p>
            <a:r>
              <a:t>Closing line: more work can be part of growth, but it is not proof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816100"/>
            <a:ext cx="10033000" cy="1035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RESPONSIBILITY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CAN MEAN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175000"/>
            <a:ext cx="10033000" cy="1035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IT CAN ALSO MEAN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 ABSORB MORE.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610100"/>
            <a:ext cx="1905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5003800"/>
            <a:ext cx="3937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 spc="12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BUSIER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70200" y="5080000"/>
            <a:ext cx="279400" cy="444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0200" y="5163820"/>
            <a:ext cx="279400" cy="444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320000">
            <a:off x="2987675" y="4985004"/>
            <a:ext cx="44450" cy="29337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2500" y="50038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 spc="12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MORE CAPABLE.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33350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MORE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1955800"/>
            <a:ext cx="1270000" cy="254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286000"/>
            <a:ext cx="1016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Volume • coordination • availability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175000"/>
            <a:ext cx="12192000" cy="2286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6000" y="355600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REAL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4178300"/>
            <a:ext cx="1270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4508500"/>
            <a:ext cx="1016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Complexity • judgment • portable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1384300"/>
            <a:ext cx="698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1358900"/>
            <a:ext cx="9334500" cy="831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DID THE PROBLEM BECOME</a:t>
            </a:r>
            <a:br/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MORE COMPLEX?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0" y="2603500"/>
            <a:ext cx="10287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2933700"/>
            <a:ext cx="698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2908300"/>
            <a:ext cx="9334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DID YOUR AUTHORITY EXPAND?</a:t>
            </a:r>
          </a:p>
        </p:txBody>
      </p:sp>
      <p:sp>
        <p:nvSpPr>
          <p:cNvPr id="8" name="Rectangle 7"/>
          <p:cNvSpPr/>
          <p:nvPr/>
        </p:nvSpPr>
        <p:spPr>
          <a:xfrm>
            <a:off x="952500" y="4152900"/>
            <a:ext cx="10287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4483100"/>
            <a:ext cx="698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4457700"/>
            <a:ext cx="9334500" cy="831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RETURN DID THE</a:t>
            </a:r>
            <a:br/>
            <a:r>
              <a:rPr sz="27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WORK CREATE?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870200"/>
            <a:ext cx="495300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600" b="1" i="0">
                <a:solidFill>
                  <a:srgbClr val="8E98A8"/>
                </a:solidFill>
                <a:latin typeface="Montserrat"/>
                <a:ea typeface="Montserrat"/>
                <a:cs typeface="Montserrat"/>
              </a:rPr>
              <a:t>MORE UNITS</a:t>
            </a:r>
            <a:br/>
            <a:r>
              <a:rPr sz="2600" b="1" i="0">
                <a:solidFill>
                  <a:srgbClr val="8E98A8"/>
                </a:solidFill>
                <a:latin typeface="Montserrat"/>
                <a:ea typeface="Montserrat"/>
                <a:cs typeface="Montserrat"/>
              </a:rPr>
              <a:t>OF THE SAME</a:t>
            </a:r>
            <a:br/>
            <a:r>
              <a:rPr sz="2600" b="1" i="0">
                <a:solidFill>
                  <a:srgbClr val="8E98A8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08700" y="3314700"/>
            <a:ext cx="1143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C9A84C"/>
                </a:solidFill>
                <a:latin typeface="DM Sans"/>
                <a:ea typeface="DM Sans"/>
                <a:cs typeface="DM Sans"/>
              </a:rPr>
              <a:t>versus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02500" y="2514600"/>
            <a:ext cx="3937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02500" y="2819400"/>
            <a:ext cx="4064000" cy="1289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VARIABLES •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AMBIGUITY •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TRADEOFFS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324100"/>
            <a:ext cx="10160000" cy="1758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YOU DO NOW</a:t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YOU COULD NOT</a:t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CREDIBLY DO BEFORE?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4787900"/>
            <a:ext cx="1905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90500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590800"/>
            <a:ext cx="1016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answer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276600"/>
            <a:ext cx="10160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3746500"/>
            <a:ext cx="10160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432300"/>
            <a:ext cx="1016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you can influence or decide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95500"/>
            <a:ext cx="10160000" cy="1149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ACCOUNTABILITY</a:t>
            </a:r>
            <a:br/>
            <a:r>
              <a:rPr sz="3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746500"/>
            <a:ext cx="1905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140200"/>
            <a:ext cx="10160000" cy="933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IS A WARNING—NOT A</a:t>
            </a:r>
            <a:br/>
            <a:r>
              <a:rPr sz="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DEVELOPMENT PLAN.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498600"/>
            <a:ext cx="101600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DID THE WORK RETURN?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133600"/>
            <a:ext cx="1524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768600"/>
            <a:ext cx="5715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5000" y="2730500"/>
            <a:ext cx="93345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543300"/>
            <a:ext cx="102235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975100"/>
            <a:ext cx="5715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3937000"/>
            <a:ext cx="93345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749800"/>
            <a:ext cx="102235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5181600"/>
            <a:ext cx="5715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143500"/>
            <a:ext cx="9334500" cy="450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RECOGNITION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587500"/>
            <a:ext cx="10160000" cy="38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COMPLEXITY ↑  AUTHORITY ↑  RETURN ↑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159000"/>
            <a:ext cx="1270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89200"/>
            <a:ext cx="10160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REAL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3670300"/>
            <a:ext cx="10160000" cy="1270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102100"/>
            <a:ext cx="10160000" cy="387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VOLUME ↑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4673600"/>
            <a:ext cx="1270000" cy="31750"/>
          </a:xfrm>
          <a:prstGeom prst="rect">
            <a:avLst/>
          </a:prstGeom>
          <a:solidFill>
            <a:srgbClr val="637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5003800"/>
            <a:ext cx="10160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MORE 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435100"/>
            <a:ext cx="10287000" cy="844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ASK BEFORE THE SCOPE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EXPANDS AGAIN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6000" y="2540000"/>
            <a:ext cx="1524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6000" y="3276600"/>
            <a:ext cx="330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38300" y="30861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should come off my plate?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4203700"/>
            <a:ext cx="330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38300" y="40132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Which decisions belong to me?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5130800"/>
            <a:ext cx="3302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4940300"/>
            <a:ext cx="965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How and when will this scope be reviewed?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95500"/>
            <a:ext cx="10160000" cy="1225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CAPABILITY FORMATION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FIELD 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6000" y="3594100"/>
            <a:ext cx="1905000" cy="3175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6000" y="4000500"/>
            <a:ext cx="9906000" cy="46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0" i="0">
                <a:solidFill>
                  <a:srgbClr val="F5F1E8"/>
                </a:solidFill>
                <a:latin typeface="DM Sans"/>
                <a:ea typeface="DM Sans"/>
                <a:cs typeface="DM Sans"/>
              </a:rPr>
              <a:t>What is your work building in you?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965700"/>
            <a:ext cx="9906000" cy="520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temidayoafonja.com/fieldkit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5875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006600"/>
            <a:ext cx="59690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HOW TO PROVE THE</a:t>
            </a:r>
            <a:br/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VALUE OF WORK</a:t>
            </a:r>
            <a:br/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THAT HAD NO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4025900"/>
            <a:ext cx="1524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4356100"/>
            <a:ext cx="5969000" cy="78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200" b="1" i="0">
                <a:solidFill>
                  <a:srgbClr val="3E506B"/>
                </a:solidFill>
                <a:latin typeface="Montserrat"/>
                <a:ea typeface="Montserrat"/>
                <a:cs typeface="Montserrat"/>
              </a:rPr>
              <a:t>Playlist: Career Portability: Career Pivots,</a:t>
            </a:r>
            <a:br/>
            <a:r>
              <a:rPr sz="2200" b="1" i="0">
                <a:solidFill>
                  <a:srgbClr val="3E506B"/>
                </a:solidFill>
                <a:latin typeface="Montserrat"/>
                <a:ea typeface="Montserrat"/>
                <a:cs typeface="Montserrat"/>
              </a:rPr>
              <a:t>Internal Moves &amp;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