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approximately 0:30.</a:t>
            </a:r>
          </a:p>
          <a:p/>
          <a:p>
            <a:r>
              <a:t>First visual after the hook. Begin full screen on Temidayo; this lands only</a:t>
            </a:r>
          </a:p>
          <a:p>
            <a:r>
              <a:t>after the opening distinction and viewer promise.</a:t>
            </a:r>
          </a:p>
          <a:p/>
          <a:p>
            <a:r>
              <a:t>Reveal the first two statements together, then the final distinction.</a:t>
            </a:r>
          </a:p>
          <a:p/>
          <a:p>
            <a:r>
              <a:t>The not-equal sign is drawn rather than typeset: no brand font contains that</a:t>
            </a:r>
          </a:p>
          <a:p>
            <a:r>
              <a:t>glyph.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approximately 0:30.</a:t>
            </a:r>
          </a:p>
          <a:p/>
          <a:p>
            <a:r>
              <a:t>First visual after the hook. Begin full screen on Temidayo; this lands only</a:t>
            </a:r>
          </a:p>
          <a:p>
            <a:r>
              <a:t>after the opening distinction and viewer promise.</a:t>
            </a:r>
          </a:p>
          <a:p/>
          <a:p>
            <a:r>
              <a:t>Reveal the first two statements together, then the final distinction.</a:t>
            </a:r>
          </a:p>
          <a:p/>
          <a:p>
            <a:r>
              <a:t>The not-equal sign is drawn rather than typeset: no brand font contains that</a:t>
            </a:r>
          </a:p>
          <a:p>
            <a:r>
              <a:t>glyph.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approximately 1:15.</a:t>
            </a:r>
          </a:p>
          <a:p/>
          <a:p>
            <a:r>
              <a:t>Reveal MORE WORK first, on its own, while the point about volume is made.</a:t>
            </a:r>
          </a:p>
          <a:p/>
          <a:p>
            <a:r>
              <a:t>Then the navy band brings REAL GROWTH in underneath and lets it carry the</a:t>
            </a:r>
          </a:p>
          <a:p>
            <a:r>
              <a:t>weight. Stacked rather than side by side, so this reads differently from the</a:t>
            </a:r>
          </a:p>
          <a:p>
            <a:r>
              <a:t>Video 5 comparison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approximately 1:15.</a:t>
            </a:r>
          </a:p>
          <a:p/>
          <a:p>
            <a:r>
              <a:t>Reveal MORE WORK first, on its own, while the point about volume is made.</a:t>
            </a:r>
          </a:p>
          <a:p/>
          <a:p>
            <a:r>
              <a:t>Then the navy band brings REAL GROWTH in underneath and lets it carry the</a:t>
            </a:r>
          </a:p>
          <a:p>
            <a:r>
              <a:t>weight. Stacked rather than side by side, so this reads differently from the</a:t>
            </a:r>
          </a:p>
          <a:p>
            <a:r>
              <a:t>Video 5 comparison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approximately 2:20.</a:t>
            </a:r>
          </a:p>
          <a:p/>
          <a:p>
            <a:r>
              <a:t>Reveal one test at a time, then hold the complete list.</a:t>
            </a:r>
          </a:p>
          <a:p/>
          <a:p>
            <a:r>
              <a:t>Complexity, authority, return. These are the three the rest of the video runs</a:t>
            </a:r>
          </a:p>
          <a:p>
            <a:r>
              <a:t>on, so let each land before the next arrives.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approximately 2:20.</a:t>
            </a:r>
          </a:p>
          <a:p/>
          <a:p>
            <a:r>
              <a:t>Reveal one test at a time, then hold the complete list.</a:t>
            </a:r>
          </a:p>
          <a:p/>
          <a:p>
            <a:r>
              <a:t>Complexity, authority, return. These are the three the rest of the video runs</a:t>
            </a:r>
          </a:p>
          <a:p>
            <a:r>
              <a:t>on, so let each land before the next arrives.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approximately 2:20.</a:t>
            </a:r>
          </a:p>
          <a:p/>
          <a:p>
            <a:r>
              <a:t>Reveal one test at a time, then hold the complete list.</a:t>
            </a:r>
          </a:p>
          <a:p/>
          <a:p>
            <a:r>
              <a:t>Complexity, authority, return. These are the three the rest of the video runs</a:t>
            </a:r>
          </a:p>
          <a:p>
            <a:r>
              <a:t>on, so let each land before the next arrives.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approximately 2:20 to 4:35.</a:t>
            </a:r>
          </a:p>
          <a:p/>
          <a:p>
            <a:r>
              <a:t>State one holds the left side alone: more units of the same problem.</a:t>
            </a:r>
          </a:p>
          <a:p/>
          <a:p>
            <a:r>
              <a:t>State two mutes the left, brings "versus" forward and lands the right side at</a:t>
            </a:r>
          </a:p>
          <a:p>
            <a:r>
              <a:t>full weight. The right side carries the stronger visual weight, as specified.</a:t>
            </a:r>
          </a:p>
          <a:p/>
          <a:p>
            <a:r>
              <a:t>Repetition can build speed and reliability. It does not expand range forever.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approximately 2:20 to 4:35.</a:t>
            </a:r>
          </a:p>
          <a:p/>
          <a:p>
            <a:r>
              <a:t>State one holds the left side alone: more units of the same problem.</a:t>
            </a:r>
          </a:p>
          <a:p/>
          <a:p>
            <a:r>
              <a:t>State two mutes the left, brings "versus" forward and lands the right side at</a:t>
            </a:r>
          </a:p>
          <a:p>
            <a:r>
              <a:t>full weight. The right side carries the stronger visual weight, as specified.</a:t>
            </a:r>
          </a:p>
          <a:p/>
          <a:p>
            <a:r>
              <a:t>Repetition can build speed and reliability. It does not expand range forever.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approximately 4:00.</a:t>
            </a:r>
          </a:p>
          <a:p/>
          <a:p>
            <a:r>
              <a:t>Brief full-screen question. Hold it, then return to Temidayo.</a:t>
            </a:r>
          </a:p>
          <a:p/>
          <a:p>
            <a:r>
              <a:t>If the only answer is that you can do more of the same thing, that is capacity</a:t>
            </a:r>
          </a:p>
          <a:p>
            <a:r>
              <a:t>use. Do not automatically call it career growth.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approximately 4:35 to 6:55.</a:t>
            </a:r>
          </a:p>
          <a:p/>
          <a:p>
            <a:r>
              <a:t>Two-part reveal. Accountability first, then authority.</a:t>
            </a:r>
          </a:p>
          <a:p/>
          <a:p>
            <a:r>
              <a:t>Definitions are held large enough for phone viewing. These do not always expand</a:t>
            </a:r>
          </a:p>
          <a:p>
            <a:r>
              <a:t>together, and that gap is the whole point of the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approximately 4:35 to 6:55.</a:t>
            </a:r>
          </a:p>
          <a:p/>
          <a:p>
            <a:r>
              <a:t>Two-part reveal. Accountability first, then authority.</a:t>
            </a:r>
          </a:p>
          <a:p/>
          <a:p>
            <a:r>
              <a:t>Definitions are held large enough for phone viewing. These do not always expand</a:t>
            </a:r>
          </a:p>
          <a:p>
            <a:r>
              <a:t>together, and that gap is the whole point of the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approximately 6:20.</a:t>
            </a:r>
          </a:p>
          <a:p/>
          <a:p>
            <a:r>
              <a:t>Restrained navy statement slide. No red treatment, no warning symbol; the</a:t>
            </a:r>
          </a:p>
          <a:p>
            <a:r>
              <a:t>weight comes from the type and the gold, nothing else.</a:t>
            </a:r>
          </a:p>
          <a:p/>
          <a:p>
            <a:r>
              <a:t>Exposure can be useful. Sustained accountability without growing decision</a:t>
            </a:r>
          </a:p>
          <a:p>
            <a:r>
              <a:t>rights is not a development plan.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approximately 6:55 to 9:10.</a:t>
            </a:r>
          </a:p>
          <a:p/>
          <a:p>
            <a:r>
              <a:t>Reveal the three returns sequentially as each is defined.</a:t>
            </a:r>
          </a:p>
          <a:p/>
          <a:p>
            <a:r>
              <a:t>Capability, evidence, recognition. Some worthwhile assignments will be stronger</a:t>
            </a:r>
          </a:p>
          <a:p>
            <a:r>
              <a:t>in one than another; the question is whether the return is real and whether the</a:t>
            </a:r>
          </a:p>
          <a:p>
            <a:r>
              <a:t>time boundary is clear.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approximately 6:55 to 9:10.</a:t>
            </a:r>
          </a:p>
          <a:p/>
          <a:p>
            <a:r>
              <a:t>Reveal the three returns sequentially as each is defined.</a:t>
            </a:r>
          </a:p>
          <a:p/>
          <a:p>
            <a:r>
              <a:t>Capability, evidence, recognition. Some worthwhile assignments will be stronger</a:t>
            </a:r>
          </a:p>
          <a:p>
            <a:r>
              <a:t>in one than another; the question is whether the return is real and whether the</a:t>
            </a:r>
          </a:p>
          <a:p>
            <a:r>
              <a:t>time boundary is clear.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approximately 6:55 to 9:10.</a:t>
            </a:r>
          </a:p>
          <a:p/>
          <a:p>
            <a:r>
              <a:t>Reveal the three returns sequentially as each is defined.</a:t>
            </a:r>
          </a:p>
          <a:p/>
          <a:p>
            <a:r>
              <a:t>Capability, evidence, recognition. Some worthwhile assignments will be stronger</a:t>
            </a:r>
          </a:p>
          <a:p>
            <a:r>
              <a:t>in one than another; the question is whether the return is real and whether the</a:t>
            </a:r>
          </a:p>
          <a:p>
            <a:r>
              <a:t>time boundary is clear.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approximately 9:10 to 10:20.</a:t>
            </a:r>
          </a:p>
          <a:p/>
          <a:p>
            <a:r>
              <a:t>Clear vertical separation between the two readings.</a:t>
            </a:r>
          </a:p>
          <a:p/>
          <a:p>
            <a:r>
              <a:t>The lower result is deliberately not punitive or alarmist: cream-dim on navy,</a:t>
            </a:r>
          </a:p>
          <a:p>
            <a:r>
              <a:t>a muted rule, no red. More load may be acceptable for a short season. It just</a:t>
            </a:r>
          </a:p>
          <a:p>
            <a:r>
              <a:t>needs a boundary and a review date.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approximately 9:10 to 10:20.</a:t>
            </a:r>
          </a:p>
          <a:p/>
          <a:p>
            <a:r>
              <a:t>Clear vertical separation between the two readings.</a:t>
            </a:r>
          </a:p>
          <a:p/>
          <a:p>
            <a:r>
              <a:t>The lower result is deliberately not punitive or alarmist: cream-dim on navy,</a:t>
            </a:r>
          </a:p>
          <a:p>
            <a:r>
              <a:t>a muted rule, no red. More load may be acceptable for a short season. It just</a:t>
            </a:r>
          </a:p>
          <a:p>
            <a:r>
              <a:t>needs a boundary and a review date.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approximately 10:20 to 11:15.</a:t>
            </a:r>
          </a:p>
          <a:p/>
          <a:p>
            <a:r>
              <a:t>Reveal the three questions one at a time.</a:t>
            </a:r>
          </a:p>
          <a:p/>
          <a:p>
            <a:r>
              <a:t>This is a stronger conversation than saying only that there is too much work.</a:t>
            </a:r>
          </a:p>
          <a:p>
            <a:r>
              <a:t>It discusses priorities, authority, support and recognition using the actual</a:t>
            </a:r>
          </a:p>
          <a:p>
            <a:r>
              <a:t>design of the role.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approximately 10:20 to 11:15.</a:t>
            </a:r>
          </a:p>
          <a:p/>
          <a:p>
            <a:r>
              <a:t>Reveal the three questions one at a time.</a:t>
            </a:r>
          </a:p>
          <a:p/>
          <a:p>
            <a:r>
              <a:t>This is a stronger conversation than saying only that there is too much work.</a:t>
            </a:r>
          </a:p>
          <a:p>
            <a:r>
              <a:t>It discusses priorities, authority, support and recognition using the actual</a:t>
            </a:r>
          </a:p>
          <a:p>
            <a:r>
              <a:t>design of the role.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approximately 10:20 to 11:15.</a:t>
            </a:r>
          </a:p>
          <a:p/>
          <a:p>
            <a:r>
              <a:t>Reveal the three questions one at a time.</a:t>
            </a:r>
          </a:p>
          <a:p/>
          <a:p>
            <a:r>
              <a:t>This is a stronger conversation than saying only that there is too much work.</a:t>
            </a:r>
          </a:p>
          <a:p>
            <a:r>
              <a:t>It discusses priorities, authority, support and recognition using the actual</a:t>
            </a:r>
          </a:p>
          <a:p>
            <a:r>
              <a:t>design of the role.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approximately 11:15 to 11:45.</a:t>
            </a:r>
          </a:p>
          <a:p/>
          <a:p>
            <a:r>
              <a:t>Simple CTA card. No competing offer and no QR code. This is the only CTA in the</a:t>
            </a:r>
          </a:p>
          <a:p>
            <a:r>
              <a:t>video: no Career Decision Evidence Check, no Keep the Proof, no book or</a:t>
            </a:r>
          </a:p>
          <a:p>
            <a:r>
              <a:t>workshop.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final 15 to 20 seconds.</a:t>
            </a:r>
          </a:p>
          <a:p/>
          <a:p>
            <a:r>
              <a:t>Routes to Video 7, How to Prove the Value of Work That Had No Blueprint.</a:t>
            </a:r>
          </a:p>
          <a:p/>
          <a:p>
            <a:r>
              <a:t>All content is held left of x=1130 so the right side stays clear for YouTube</a:t>
            </a:r>
          </a:p>
          <a:p>
            <a:r>
              <a:t>end-screen elements.</a:t>
            </a:r>
          </a:p>
          <a:p/>
          <a:p>
            <a:r>
              <a:t>Closing line: more work can be part of growth, but it is not proof of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3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55600" y="355600"/>
            <a:ext cx="11480800" cy="6146800"/>
          </a:xfrm>
          <a:prstGeom prst="rect">
            <a:avLst/>
          </a:prstGeom>
          <a:noFill/>
          <a:ln w="1270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591800" y="660400"/>
            <a:ext cx="254000" cy="254000"/>
          </a:xfrm>
          <a:prstGeom prst="rect">
            <a:avLst/>
          </a:prstGeom>
          <a:noFill/>
          <a:ln w="190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15650" y="660400"/>
            <a:ext cx="254000" cy="254000"/>
          </a:xfrm>
          <a:prstGeom prst="rect">
            <a:avLst/>
          </a:prstGeom>
          <a:solidFill>
            <a:srgbClr val="C14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591800" y="984250"/>
            <a:ext cx="254000" cy="254000"/>
          </a:xfrm>
          <a:prstGeom prst="rect">
            <a:avLst/>
          </a:prstGeom>
          <a:noFill/>
          <a:ln w="190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915650" y="984250"/>
            <a:ext cx="254000" cy="254000"/>
          </a:xfrm>
          <a:prstGeom prst="rect">
            <a:avLst/>
          </a:prstGeom>
          <a:noFill/>
          <a:ln w="190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6000" y="1816100"/>
            <a:ext cx="10033000" cy="1035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34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MORE RESPONSIBILITY</a:t>
            </a:r>
            <a:br/>
            <a:r>
              <a:rPr sz="34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CAN MEAN GROWTH.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6000" y="3175000"/>
            <a:ext cx="10033000" cy="1035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34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IT CAN ALSO MEAN</a:t>
            </a:r>
            <a:br/>
            <a:r>
              <a:rPr sz="34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YOU ABSORB MORE.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3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55600" y="355600"/>
            <a:ext cx="11480800" cy="6146800"/>
          </a:xfrm>
          <a:prstGeom prst="rect">
            <a:avLst/>
          </a:prstGeom>
          <a:noFill/>
          <a:ln w="1270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591800" y="660400"/>
            <a:ext cx="254000" cy="254000"/>
          </a:xfrm>
          <a:prstGeom prst="rect">
            <a:avLst/>
          </a:prstGeom>
          <a:noFill/>
          <a:ln w="190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15650" y="660400"/>
            <a:ext cx="254000" cy="254000"/>
          </a:xfrm>
          <a:prstGeom prst="rect">
            <a:avLst/>
          </a:prstGeom>
          <a:solidFill>
            <a:srgbClr val="C14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591800" y="984250"/>
            <a:ext cx="254000" cy="254000"/>
          </a:xfrm>
          <a:prstGeom prst="rect">
            <a:avLst/>
          </a:prstGeom>
          <a:noFill/>
          <a:ln w="190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915650" y="984250"/>
            <a:ext cx="254000" cy="254000"/>
          </a:xfrm>
          <a:prstGeom prst="rect">
            <a:avLst/>
          </a:prstGeom>
          <a:noFill/>
          <a:ln w="190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6000" y="1816100"/>
            <a:ext cx="10033000" cy="1035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34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MORE RESPONSIBILITY</a:t>
            </a:r>
            <a:br/>
            <a:r>
              <a:rPr sz="34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CAN MEAN GROWTH.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6000" y="3175000"/>
            <a:ext cx="10033000" cy="1035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34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IT CAN ALSO MEAN</a:t>
            </a:r>
            <a:br/>
            <a:r>
              <a:rPr sz="34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YOU ABSORB MORE.</a:t>
            </a:r>
          </a:p>
        </p:txBody>
      </p:sp>
      <p:sp>
        <p:nvSpPr>
          <p:cNvPr id="9" name="Rectangle 8"/>
          <p:cNvSpPr/>
          <p:nvPr/>
        </p:nvSpPr>
        <p:spPr>
          <a:xfrm>
            <a:off x="1016000" y="4610100"/>
            <a:ext cx="1905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6000" y="5003800"/>
            <a:ext cx="3937000" cy="431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700" b="1" i="0" spc="12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BUSIER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70200" y="5080000"/>
            <a:ext cx="279400" cy="4445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870200" y="5163820"/>
            <a:ext cx="279400" cy="4445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1320000">
            <a:off x="2987675" y="4985004"/>
            <a:ext cx="44450" cy="29337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92500" y="5003800"/>
            <a:ext cx="7620000" cy="431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700" b="1" i="0" spc="12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MORE CAPABLE.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16000" y="1333500"/>
            <a:ext cx="101600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MORE 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1016000" y="1955800"/>
            <a:ext cx="1270000" cy="25400"/>
          </a:xfrm>
          <a:prstGeom prst="rect">
            <a:avLst/>
          </a:prstGeom>
          <a:solidFill>
            <a:srgbClr val="E2D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16000" y="2286000"/>
            <a:ext cx="10160000" cy="431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3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Volume • coordination • availability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16000" y="1333500"/>
            <a:ext cx="101600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MORE 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1016000" y="1955800"/>
            <a:ext cx="1270000" cy="25400"/>
          </a:xfrm>
          <a:prstGeom prst="rect">
            <a:avLst/>
          </a:prstGeom>
          <a:solidFill>
            <a:srgbClr val="E2D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16000" y="2286000"/>
            <a:ext cx="10160000" cy="431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3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Volume • coordination • availability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3175000"/>
            <a:ext cx="12192000" cy="2286000"/>
          </a:xfrm>
          <a:prstGeom prst="rect">
            <a:avLst/>
          </a:prstGeom>
          <a:solidFill>
            <a:srgbClr val="0F23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6000" y="3556000"/>
            <a:ext cx="101600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REAL GROWTH</a:t>
            </a:r>
          </a:p>
        </p:txBody>
      </p:sp>
      <p:sp>
        <p:nvSpPr>
          <p:cNvPr id="7" name="Rectangle 6"/>
          <p:cNvSpPr/>
          <p:nvPr/>
        </p:nvSpPr>
        <p:spPr>
          <a:xfrm>
            <a:off x="1016000" y="4178300"/>
            <a:ext cx="1270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16000" y="4508500"/>
            <a:ext cx="10160000" cy="431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300" b="0" i="0">
                <a:solidFill>
                  <a:srgbClr val="F5F1E8"/>
                </a:solidFill>
                <a:latin typeface="DM Sans"/>
                <a:ea typeface="DM Sans"/>
                <a:cs typeface="DM Sans"/>
              </a:rPr>
              <a:t>Complexity • judgment • portable evidence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3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55600" y="355600"/>
            <a:ext cx="11480800" cy="6146800"/>
          </a:xfrm>
          <a:prstGeom prst="rect">
            <a:avLst/>
          </a:prstGeom>
          <a:noFill/>
          <a:ln w="1270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52500" y="1384300"/>
            <a:ext cx="698500" cy="355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05000" y="1358900"/>
            <a:ext cx="9334500" cy="831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7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DID THE PROBLEM BECOME</a:t>
            </a:r>
            <a:br/>
            <a:r>
              <a:rPr sz="27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MORE COMPLEX?</a:t>
            </a:r>
          </a:p>
        </p:txBody>
      </p:sp>
      <p:sp>
        <p:nvSpPr>
          <p:cNvPr id="5" name="Rectangle 4"/>
          <p:cNvSpPr/>
          <p:nvPr/>
        </p:nvSpPr>
        <p:spPr>
          <a:xfrm>
            <a:off x="952500" y="2603500"/>
            <a:ext cx="10287000" cy="12700"/>
          </a:xfrm>
          <a:prstGeom prst="rect">
            <a:avLst/>
          </a:prstGeom>
          <a:solidFill>
            <a:srgbClr val="637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3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55600" y="355600"/>
            <a:ext cx="11480800" cy="6146800"/>
          </a:xfrm>
          <a:prstGeom prst="rect">
            <a:avLst/>
          </a:prstGeom>
          <a:noFill/>
          <a:ln w="1270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52500" y="1384300"/>
            <a:ext cx="698500" cy="355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05000" y="1358900"/>
            <a:ext cx="9334500" cy="831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7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DID THE PROBLEM BECOME</a:t>
            </a:r>
            <a:br/>
            <a:r>
              <a:rPr sz="27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MORE COMPLEX?</a:t>
            </a:r>
          </a:p>
        </p:txBody>
      </p:sp>
      <p:sp>
        <p:nvSpPr>
          <p:cNvPr id="5" name="Rectangle 4"/>
          <p:cNvSpPr/>
          <p:nvPr/>
        </p:nvSpPr>
        <p:spPr>
          <a:xfrm>
            <a:off x="952500" y="2603500"/>
            <a:ext cx="10287000" cy="12700"/>
          </a:xfrm>
          <a:prstGeom prst="rect">
            <a:avLst/>
          </a:prstGeom>
          <a:solidFill>
            <a:srgbClr val="637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52500" y="2933700"/>
            <a:ext cx="698500" cy="355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05000" y="2908300"/>
            <a:ext cx="9334500" cy="44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7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DID YOUR AUTHORITY EXPAND?</a:t>
            </a:r>
          </a:p>
        </p:txBody>
      </p:sp>
      <p:sp>
        <p:nvSpPr>
          <p:cNvPr id="8" name="Rectangle 7"/>
          <p:cNvSpPr/>
          <p:nvPr/>
        </p:nvSpPr>
        <p:spPr>
          <a:xfrm>
            <a:off x="952500" y="4152900"/>
            <a:ext cx="10287000" cy="12700"/>
          </a:xfrm>
          <a:prstGeom prst="rect">
            <a:avLst/>
          </a:prstGeom>
          <a:solidFill>
            <a:srgbClr val="637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3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55600" y="355600"/>
            <a:ext cx="11480800" cy="6146800"/>
          </a:xfrm>
          <a:prstGeom prst="rect">
            <a:avLst/>
          </a:prstGeom>
          <a:noFill/>
          <a:ln w="1270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52500" y="1384300"/>
            <a:ext cx="698500" cy="355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05000" y="1358900"/>
            <a:ext cx="9334500" cy="831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7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DID THE PROBLEM BECOME</a:t>
            </a:r>
            <a:br/>
            <a:r>
              <a:rPr sz="27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MORE COMPLEX?</a:t>
            </a:r>
          </a:p>
        </p:txBody>
      </p:sp>
      <p:sp>
        <p:nvSpPr>
          <p:cNvPr id="5" name="Rectangle 4"/>
          <p:cNvSpPr/>
          <p:nvPr/>
        </p:nvSpPr>
        <p:spPr>
          <a:xfrm>
            <a:off x="952500" y="2603500"/>
            <a:ext cx="10287000" cy="12700"/>
          </a:xfrm>
          <a:prstGeom prst="rect">
            <a:avLst/>
          </a:prstGeom>
          <a:solidFill>
            <a:srgbClr val="637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52500" y="2933700"/>
            <a:ext cx="698500" cy="355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05000" y="2908300"/>
            <a:ext cx="9334500" cy="44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7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DID YOUR AUTHORITY EXPAND?</a:t>
            </a:r>
          </a:p>
        </p:txBody>
      </p:sp>
      <p:sp>
        <p:nvSpPr>
          <p:cNvPr id="8" name="Rectangle 7"/>
          <p:cNvSpPr/>
          <p:nvPr/>
        </p:nvSpPr>
        <p:spPr>
          <a:xfrm>
            <a:off x="952500" y="4152900"/>
            <a:ext cx="10287000" cy="12700"/>
          </a:xfrm>
          <a:prstGeom prst="rect">
            <a:avLst/>
          </a:prstGeom>
          <a:solidFill>
            <a:srgbClr val="637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2500" y="4483100"/>
            <a:ext cx="698500" cy="355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4457700"/>
            <a:ext cx="9334500" cy="831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7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WHAT RETURN DID THE</a:t>
            </a:r>
            <a:br/>
            <a:r>
              <a:rPr sz="27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WORK CREATE?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16000" y="2870200"/>
            <a:ext cx="4953000" cy="1200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26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MORE UNITS</a:t>
            </a:r>
            <a:br/>
            <a:r>
              <a:rPr sz="26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OF THE SAME</a:t>
            </a:r>
            <a:br/>
            <a:r>
              <a:rPr sz="26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PROBLEM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16000" y="2870200"/>
            <a:ext cx="4953000" cy="1200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2600" b="1" i="0">
                <a:solidFill>
                  <a:srgbClr val="8E98A8"/>
                </a:solidFill>
                <a:latin typeface="Montserrat"/>
                <a:ea typeface="Montserrat"/>
                <a:cs typeface="Montserrat"/>
              </a:rPr>
              <a:t>MORE UNITS</a:t>
            </a:r>
            <a:br/>
            <a:r>
              <a:rPr sz="2600" b="1" i="0">
                <a:solidFill>
                  <a:srgbClr val="8E98A8"/>
                </a:solidFill>
                <a:latin typeface="Montserrat"/>
                <a:ea typeface="Montserrat"/>
                <a:cs typeface="Montserrat"/>
              </a:rPr>
              <a:t>OF THE SAME</a:t>
            </a:r>
            <a:br/>
            <a:r>
              <a:rPr sz="2600" b="1" i="0">
                <a:solidFill>
                  <a:srgbClr val="8E98A8"/>
                </a:solidFill>
                <a:latin typeface="Montserrat"/>
                <a:ea typeface="Montserrat"/>
                <a:cs typeface="Montserrat"/>
              </a:rPr>
              <a:t>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08700" y="3314700"/>
            <a:ext cx="1143000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0" i="0">
                <a:solidFill>
                  <a:srgbClr val="C9A84C"/>
                </a:solidFill>
                <a:latin typeface="DM Sans"/>
                <a:ea typeface="DM Sans"/>
                <a:cs typeface="DM Sans"/>
              </a:rPr>
              <a:t>versus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02500" y="2514600"/>
            <a:ext cx="3937000" cy="3175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02500" y="2819400"/>
            <a:ext cx="4064000" cy="1289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28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NEW VARIABLES •</a:t>
            </a:r>
            <a:br/>
            <a:r>
              <a:rPr sz="28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AMBIGUITY •</a:t>
            </a:r>
            <a:br/>
            <a:r>
              <a:rPr sz="28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TRADEOFFS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3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55600" y="355600"/>
            <a:ext cx="11480800" cy="6146800"/>
          </a:xfrm>
          <a:prstGeom prst="rect">
            <a:avLst/>
          </a:prstGeom>
          <a:noFill/>
          <a:ln w="1270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2324100"/>
            <a:ext cx="10160000" cy="1758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38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WHAT CAN YOU DO NOW</a:t>
            </a:r>
            <a:br/>
            <a:r>
              <a:rPr sz="38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THAT YOU COULD NOT</a:t>
            </a:r>
            <a:br/>
            <a:r>
              <a:rPr sz="38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CREDIBLY DO BEFORE?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4787900"/>
            <a:ext cx="1905000" cy="3175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16000" y="1905000"/>
            <a:ext cx="101600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ACCOUNTABILITY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6000" y="2590800"/>
            <a:ext cx="10160000" cy="44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What you answer for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3276600"/>
            <a:ext cx="10160000" cy="12700"/>
          </a:xfrm>
          <a:prstGeom prst="rect">
            <a:avLst/>
          </a:prstGeom>
          <a:solidFill>
            <a:srgbClr val="E2D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16000" y="1905000"/>
            <a:ext cx="101600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ACCOUNTABILITY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6000" y="2590800"/>
            <a:ext cx="10160000" cy="44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What you answer for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3276600"/>
            <a:ext cx="10160000" cy="12700"/>
          </a:xfrm>
          <a:prstGeom prst="rect">
            <a:avLst/>
          </a:prstGeom>
          <a:solidFill>
            <a:srgbClr val="E2D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6000" y="3746500"/>
            <a:ext cx="101600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AUTHORITY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6000" y="4432300"/>
            <a:ext cx="10160000" cy="44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What you can influence or decide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3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55600" y="355600"/>
            <a:ext cx="11480800" cy="6146800"/>
          </a:xfrm>
          <a:prstGeom prst="rect">
            <a:avLst/>
          </a:prstGeom>
          <a:noFill/>
          <a:ln w="1270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2095500"/>
            <a:ext cx="10160000" cy="1149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38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ACCOUNTABILITY</a:t>
            </a:r>
            <a:br/>
            <a:r>
              <a:rPr sz="38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WITHOUT AUTHORITY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3746500"/>
            <a:ext cx="1905000" cy="3175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6000" y="4140200"/>
            <a:ext cx="10160000" cy="933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30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IS A WARNING—NOT A</a:t>
            </a:r>
            <a:br/>
            <a:r>
              <a:rPr sz="30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DEVELOPMENT PLAN.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16000" y="1498600"/>
            <a:ext cx="10160000" cy="450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9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WHAT DID THE WORK RETURN?</a:t>
            </a:r>
          </a:p>
        </p:txBody>
      </p:sp>
      <p:sp>
        <p:nvSpPr>
          <p:cNvPr id="3" name="Rectangle 2"/>
          <p:cNvSpPr/>
          <p:nvPr/>
        </p:nvSpPr>
        <p:spPr>
          <a:xfrm>
            <a:off x="1016000" y="2133600"/>
            <a:ext cx="1524000" cy="3175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16000" y="2768600"/>
            <a:ext cx="571500" cy="241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05000" y="2730500"/>
            <a:ext cx="9334500" cy="450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CAPABILITY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1016000" y="3543300"/>
            <a:ext cx="10223500" cy="12700"/>
          </a:xfrm>
          <a:prstGeom prst="rect">
            <a:avLst/>
          </a:prstGeom>
          <a:solidFill>
            <a:srgbClr val="E2D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16000" y="1498600"/>
            <a:ext cx="10160000" cy="450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9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WHAT DID THE WORK RETURN?</a:t>
            </a:r>
          </a:p>
        </p:txBody>
      </p:sp>
      <p:sp>
        <p:nvSpPr>
          <p:cNvPr id="3" name="Rectangle 2"/>
          <p:cNvSpPr/>
          <p:nvPr/>
        </p:nvSpPr>
        <p:spPr>
          <a:xfrm>
            <a:off x="1016000" y="2133600"/>
            <a:ext cx="1524000" cy="3175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16000" y="2768600"/>
            <a:ext cx="571500" cy="241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05000" y="2730500"/>
            <a:ext cx="9334500" cy="450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CAPABILITY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1016000" y="3543300"/>
            <a:ext cx="10223500" cy="12700"/>
          </a:xfrm>
          <a:prstGeom prst="rect">
            <a:avLst/>
          </a:prstGeom>
          <a:solidFill>
            <a:srgbClr val="E2D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6000" y="3975100"/>
            <a:ext cx="571500" cy="241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5000" y="3937000"/>
            <a:ext cx="9334500" cy="450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EVIDENCE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1016000" y="4749800"/>
            <a:ext cx="10223500" cy="12700"/>
          </a:xfrm>
          <a:prstGeom prst="rect">
            <a:avLst/>
          </a:prstGeom>
          <a:solidFill>
            <a:srgbClr val="E2D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16000" y="1498600"/>
            <a:ext cx="10160000" cy="450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9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WHAT DID THE WORK RETURN?</a:t>
            </a:r>
          </a:p>
        </p:txBody>
      </p:sp>
      <p:sp>
        <p:nvSpPr>
          <p:cNvPr id="3" name="Rectangle 2"/>
          <p:cNvSpPr/>
          <p:nvPr/>
        </p:nvSpPr>
        <p:spPr>
          <a:xfrm>
            <a:off x="1016000" y="2133600"/>
            <a:ext cx="1524000" cy="3175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16000" y="2768600"/>
            <a:ext cx="571500" cy="241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05000" y="2730500"/>
            <a:ext cx="9334500" cy="450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CAPABILITY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1016000" y="3543300"/>
            <a:ext cx="10223500" cy="12700"/>
          </a:xfrm>
          <a:prstGeom prst="rect">
            <a:avLst/>
          </a:prstGeom>
          <a:solidFill>
            <a:srgbClr val="E2D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6000" y="3975100"/>
            <a:ext cx="571500" cy="241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5000" y="3937000"/>
            <a:ext cx="9334500" cy="450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EVIDENCE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1016000" y="4749800"/>
            <a:ext cx="10223500" cy="12700"/>
          </a:xfrm>
          <a:prstGeom prst="rect">
            <a:avLst/>
          </a:prstGeom>
          <a:solidFill>
            <a:srgbClr val="E2D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6000" y="5181600"/>
            <a:ext cx="571500" cy="241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05000" y="5143500"/>
            <a:ext cx="9334500" cy="450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RECOGNITION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3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55600" y="355600"/>
            <a:ext cx="11480800" cy="6146800"/>
          </a:xfrm>
          <a:prstGeom prst="rect">
            <a:avLst/>
          </a:prstGeom>
          <a:noFill/>
          <a:ln w="1270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587500"/>
            <a:ext cx="10160000" cy="387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COMPLEXITY ↑  AUTHORITY ↑  RETURN ↑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2159000"/>
            <a:ext cx="1270000" cy="3175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6000" y="2489200"/>
            <a:ext cx="10160000" cy="55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REAL GROWTH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3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55600" y="355600"/>
            <a:ext cx="11480800" cy="6146800"/>
          </a:xfrm>
          <a:prstGeom prst="rect">
            <a:avLst/>
          </a:prstGeom>
          <a:noFill/>
          <a:ln w="1270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587500"/>
            <a:ext cx="10160000" cy="387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COMPLEXITY ↑  AUTHORITY ↑  RETURN ↑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2159000"/>
            <a:ext cx="1270000" cy="3175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6000" y="2489200"/>
            <a:ext cx="10160000" cy="55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REAL GROWTH</a:t>
            </a:r>
          </a:p>
        </p:txBody>
      </p:sp>
      <p:sp>
        <p:nvSpPr>
          <p:cNvPr id="6" name="Rectangle 5"/>
          <p:cNvSpPr/>
          <p:nvPr/>
        </p:nvSpPr>
        <p:spPr>
          <a:xfrm>
            <a:off x="1016000" y="3670300"/>
            <a:ext cx="10160000" cy="12700"/>
          </a:xfrm>
          <a:prstGeom prst="rect">
            <a:avLst/>
          </a:prstGeom>
          <a:solidFill>
            <a:srgbClr val="637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6000" y="4102100"/>
            <a:ext cx="10160000" cy="387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VOLUME ↑ ONLY</a:t>
            </a:r>
          </a:p>
        </p:txBody>
      </p:sp>
      <p:sp>
        <p:nvSpPr>
          <p:cNvPr id="8" name="Rectangle 7"/>
          <p:cNvSpPr/>
          <p:nvPr/>
        </p:nvSpPr>
        <p:spPr>
          <a:xfrm>
            <a:off x="1016000" y="4673600"/>
            <a:ext cx="1270000" cy="31750"/>
          </a:xfrm>
          <a:prstGeom prst="rect">
            <a:avLst/>
          </a:prstGeom>
          <a:solidFill>
            <a:srgbClr val="637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16000" y="5003800"/>
            <a:ext cx="10160000" cy="55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1" i="0">
                <a:solidFill>
                  <a:srgbClr val="B9C3D2"/>
                </a:solidFill>
                <a:latin typeface="Montserrat"/>
                <a:ea typeface="Montserrat"/>
                <a:cs typeface="Montserrat"/>
              </a:rPr>
              <a:t>MORE LOAD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16000" y="1435100"/>
            <a:ext cx="10287000" cy="844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8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ASK BEFORE THE SCOPE</a:t>
            </a:r>
            <a:br/>
            <a:r>
              <a:rPr sz="28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EXPANDS AGAIN</a:t>
            </a:r>
          </a:p>
        </p:txBody>
      </p:sp>
      <p:sp>
        <p:nvSpPr>
          <p:cNvPr id="3" name="Rectangle 2"/>
          <p:cNvSpPr/>
          <p:nvPr/>
        </p:nvSpPr>
        <p:spPr>
          <a:xfrm>
            <a:off x="1016000" y="2540000"/>
            <a:ext cx="1524000" cy="3175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16000" y="3276600"/>
            <a:ext cx="3302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38300" y="3086100"/>
            <a:ext cx="96520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What should come off my plate?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16000" y="1435100"/>
            <a:ext cx="10287000" cy="844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8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ASK BEFORE THE SCOPE</a:t>
            </a:r>
            <a:br/>
            <a:r>
              <a:rPr sz="28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EXPANDS AGAIN</a:t>
            </a:r>
          </a:p>
        </p:txBody>
      </p:sp>
      <p:sp>
        <p:nvSpPr>
          <p:cNvPr id="3" name="Rectangle 2"/>
          <p:cNvSpPr/>
          <p:nvPr/>
        </p:nvSpPr>
        <p:spPr>
          <a:xfrm>
            <a:off x="1016000" y="2540000"/>
            <a:ext cx="1524000" cy="3175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16000" y="3276600"/>
            <a:ext cx="3302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38300" y="3086100"/>
            <a:ext cx="96520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What should come off my plate?</a:t>
            </a:r>
          </a:p>
        </p:txBody>
      </p:sp>
      <p:sp>
        <p:nvSpPr>
          <p:cNvPr id="6" name="Rectangle 5"/>
          <p:cNvSpPr/>
          <p:nvPr/>
        </p:nvSpPr>
        <p:spPr>
          <a:xfrm>
            <a:off x="1016000" y="4203700"/>
            <a:ext cx="3302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38300" y="4013200"/>
            <a:ext cx="96520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Which decisions belong to me?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16000" y="1435100"/>
            <a:ext cx="10287000" cy="844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8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ASK BEFORE THE SCOPE</a:t>
            </a:r>
            <a:br/>
            <a:r>
              <a:rPr sz="28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EXPANDS AGAIN</a:t>
            </a:r>
          </a:p>
        </p:txBody>
      </p:sp>
      <p:sp>
        <p:nvSpPr>
          <p:cNvPr id="3" name="Rectangle 2"/>
          <p:cNvSpPr/>
          <p:nvPr/>
        </p:nvSpPr>
        <p:spPr>
          <a:xfrm>
            <a:off x="1016000" y="2540000"/>
            <a:ext cx="1524000" cy="3175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16000" y="3276600"/>
            <a:ext cx="3302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38300" y="3086100"/>
            <a:ext cx="96520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What should come off my plate?</a:t>
            </a:r>
          </a:p>
        </p:txBody>
      </p:sp>
      <p:sp>
        <p:nvSpPr>
          <p:cNvPr id="6" name="Rectangle 5"/>
          <p:cNvSpPr/>
          <p:nvPr/>
        </p:nvSpPr>
        <p:spPr>
          <a:xfrm>
            <a:off x="1016000" y="4203700"/>
            <a:ext cx="3302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38300" y="4013200"/>
            <a:ext cx="96520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Which decisions belong to me?</a:t>
            </a:r>
          </a:p>
        </p:txBody>
      </p:sp>
      <p:sp>
        <p:nvSpPr>
          <p:cNvPr id="8" name="Rectangle 7"/>
          <p:cNvSpPr/>
          <p:nvPr/>
        </p:nvSpPr>
        <p:spPr>
          <a:xfrm>
            <a:off x="1016000" y="5130800"/>
            <a:ext cx="3302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38300" y="4940300"/>
            <a:ext cx="96520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How and when will this scope be reviewed?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3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55600" y="355600"/>
            <a:ext cx="11480800" cy="6146800"/>
          </a:xfrm>
          <a:prstGeom prst="rect">
            <a:avLst/>
          </a:prstGeom>
          <a:noFill/>
          <a:ln w="1270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591800" y="660400"/>
            <a:ext cx="254000" cy="254000"/>
          </a:xfrm>
          <a:prstGeom prst="rect">
            <a:avLst/>
          </a:prstGeom>
          <a:noFill/>
          <a:ln w="190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15650" y="660400"/>
            <a:ext cx="254000" cy="254000"/>
          </a:xfrm>
          <a:prstGeom prst="rect">
            <a:avLst/>
          </a:prstGeom>
          <a:solidFill>
            <a:srgbClr val="C14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591800" y="984250"/>
            <a:ext cx="254000" cy="254000"/>
          </a:xfrm>
          <a:prstGeom prst="rect">
            <a:avLst/>
          </a:prstGeom>
          <a:noFill/>
          <a:ln w="190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915650" y="984250"/>
            <a:ext cx="254000" cy="254000"/>
          </a:xfrm>
          <a:prstGeom prst="rect">
            <a:avLst/>
          </a:prstGeom>
          <a:noFill/>
          <a:ln w="190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6000" y="2095500"/>
            <a:ext cx="10160000" cy="1225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2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CAPABILITY FORMATION</a:t>
            </a:r>
            <a:br/>
            <a:r>
              <a:rPr sz="42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FIELD KIT</a:t>
            </a:r>
          </a:p>
        </p:txBody>
      </p:sp>
      <p:sp>
        <p:nvSpPr>
          <p:cNvPr id="8" name="Rectangle 7"/>
          <p:cNvSpPr/>
          <p:nvPr/>
        </p:nvSpPr>
        <p:spPr>
          <a:xfrm>
            <a:off x="1016000" y="3594100"/>
            <a:ext cx="1905000" cy="3175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16000" y="4000500"/>
            <a:ext cx="9906000" cy="463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0" i="0">
                <a:solidFill>
                  <a:srgbClr val="F5F1E8"/>
                </a:solidFill>
                <a:latin typeface="DM Sans"/>
                <a:ea typeface="DM Sans"/>
                <a:cs typeface="DM Sans"/>
              </a:rPr>
              <a:t>What is your work building in you?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6000" y="4965700"/>
            <a:ext cx="9906000" cy="520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temidayoafonja.com/fieldkit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16000" y="1587500"/>
            <a:ext cx="5715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2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WATCH 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6000" y="2006600"/>
            <a:ext cx="5969000" cy="1333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29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HOW TO PROVE THE</a:t>
            </a:r>
            <a:br/>
            <a:r>
              <a:rPr sz="29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VALUE OF WORK</a:t>
            </a:r>
            <a:br/>
            <a:r>
              <a:rPr sz="29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THAT HAD NO BLUEPRINT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4025900"/>
            <a:ext cx="1524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6000" y="4356100"/>
            <a:ext cx="5969000" cy="787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200" b="1" i="0">
                <a:solidFill>
                  <a:srgbClr val="3E506B"/>
                </a:solidFill>
                <a:latin typeface="Montserrat"/>
                <a:ea typeface="Montserrat"/>
                <a:cs typeface="Montserrat"/>
              </a:rPr>
              <a:t>Playlist: Career Portability: Career Pivots,</a:t>
            </a:r>
            <a:br/>
            <a:r>
              <a:rPr sz="2200" b="1" i="0">
                <a:solidFill>
                  <a:srgbClr val="3E506B"/>
                </a:solidFill>
                <a:latin typeface="Montserrat"/>
                <a:ea typeface="Montserrat"/>
                <a:cs typeface="Montserrat"/>
              </a:rPr>
              <a:t>Internal Moves &amp; Growth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