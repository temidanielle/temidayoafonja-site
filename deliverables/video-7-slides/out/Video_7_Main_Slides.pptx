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0:35.</a:t>
            </a:r>
          </a:p>
          <a:p/>
          <a:p>
            <a:r>
              <a:t>First visual after the hook. Begin full screen on Temidayo; this lands only</a:t>
            </a:r>
          </a:p>
          <a:p>
            <a:r>
              <a:t>after the opening distinction and the viewer promise.</a:t>
            </a:r>
          </a:p>
          <a:p/>
          <a:p>
            <a:r>
              <a:t>Reveal the first statement, hold it, then bring in the payoff line. Do not rush</a:t>
            </a:r>
          </a:p>
          <a:p>
            <a:r>
              <a:t>the gap — the second line is the thesis of the whole video.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1:25.</a:t>
            </a:r>
          </a:p>
          <a:p/>
          <a:p>
            <a:r>
              <a:t>Reveal the cream half first — this is the rule the viewer already lives inside.</a:t>
            </a:r>
          </a:p>
          <a:p>
            <a:r>
              <a:t>Bring the navy band in on "you are the before."</a:t>
            </a:r>
          </a:p>
          <a:p/>
          <a:p>
            <a:r>
              <a:t>The point is diagnostic, not consoling: the work is not invisible because she</a:t>
            </a:r>
          </a:p>
          <a:p>
            <a:r>
              <a:t>was quiet. Keep the delivery level.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2:10.</a:t>
            </a:r>
          </a:p>
          <a:p/>
          <a:p>
            <a:r>
              <a:t>One move per beat. Say the move, let it land, then advance.</a:t>
            </a:r>
          </a:p>
          <a:p/>
          <a:p>
            <a:r>
              <a:t>This slide returns as the spine of the video — slides 4, 6 and 8 each open one</a:t>
            </a:r>
          </a:p>
          <a:p>
            <a:r>
              <a:t>of these three. Do not paraphrase the wording here; it is repeated verbatim</a:t>
            </a:r>
          </a:p>
          <a:p>
            <a:r>
              <a:t>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2:35.</a:t>
            </a:r>
          </a:p>
          <a:p/>
          <a:p>
            <a:r>
              <a:t>The distinction in the reveal is the whole move. "What it was like" is a story;</a:t>
            </a:r>
          </a:p>
          <a:p>
            <a:r>
              <a:t>"what was missing" is a baseline.</a:t>
            </a:r>
          </a:p>
          <a:p/>
          <a:p>
            <a:r>
              <a:t>Hold on the second line. This is the step most viewers skip.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3:05.</a:t>
            </a:r>
          </a:p>
          <a:p/>
          <a:p>
            <a:r>
              <a:t>Left column first, then the right. Read them as questions she is asking the</a:t>
            </a:r>
          </a:p>
          <a:p>
            <a:r>
              <a:t>viewer, not as a list to get through.</a:t>
            </a:r>
          </a:p>
          <a:p/>
          <a:p>
            <a:r>
              <a:t>Follow the slide with the spoken example about three channels and no one</a:t>
            </a:r>
          </a:p>
          <a:p>
            <a:r>
              <a:t>reconciling them — the specificity is what makes the checklist usable.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4:30.</a:t>
            </a:r>
          </a:p>
          <a:p/>
          <a:p>
            <a:r>
              <a:t>The tracker, the programme, the playbook — those are the output. The band is</a:t>
            </a:r>
          </a:p>
          <a:p>
            <a:r>
              <a:t>what sat underneath it.</a:t>
            </a:r>
          </a:p>
          <a:p/>
          <a:p>
            <a:r>
              <a:t>The last line is the definition of a capability and is repeated in the CTA</a:t>
            </a:r>
          </a:p>
          <a:p>
            <a:r>
              <a:t>block. Keep the wording exact.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5:40.</a:t>
            </a:r>
          </a:p>
          <a:p/>
          <a:p>
            <a:r>
              <a:t>One state, no build. The idea does not benefit from being taken apart.</a:t>
            </a:r>
          </a:p>
          <a:p/>
          <a:p>
            <a:r>
              <a:t>This is the slide that separates the video from personal-branding advice: a</a:t>
            </a:r>
          </a:p>
          <a:p>
            <a:r>
              <a:t>record of thinking, not a claim about herself.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6:30.</a:t>
            </a:r>
          </a:p>
          <a:p/>
          <a:p>
            <a:r>
              <a:t>One band per beat, in order. Do not reveal all three at once — the point is</a:t>
            </a:r>
          </a:p>
          <a:p>
            <a:r>
              <a:t>that the list is longer than the viewer expects.</a:t>
            </a:r>
          </a:p>
          <a:p/>
          <a:p>
            <a:r>
              <a:t>None of these is a percentage. That is deliberate and is stated out loud in the</a:t>
            </a:r>
          </a:p>
          <a:p>
            <a:r>
              <a:t>next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8:35.</a:t>
            </a:r>
          </a:p>
          <a:p/>
          <a:p>
            <a:r>
              <a:t>The quoted line is an example of defensible evidence, not a claim about</a:t>
            </a:r>
          </a:p>
          <a:p>
            <a:r>
              <a:t>Temidayo. Read it as an example.</a:t>
            </a:r>
          </a:p>
          <a:p/>
          <a:p>
            <a:r>
              <a:t>The second state is the permitted-evidence boundary and is not optional — it</a:t>
            </a:r>
          </a:p>
          <a:p>
            <a:r>
              <a:t>must appear on screen while she says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9:20.</a:t>
            </a:r>
          </a:p>
          <a:p/>
          <a:p>
            <a:r>
              <a:t>One row per paragraph, revealed as she names it.</a:t>
            </a:r>
          </a:p>
          <a:p/>
          <a:p>
            <a:r>
              <a:t>The sequence marks are drawn shapes, not typed characters: no brand font</a:t>
            </a:r>
          </a:p>
          <a:p>
            <a:r>
              <a:t>contains that glyph. They stay editable in the PPTX.</a:t>
            </a:r>
          </a:p>
          <a:p/>
          <a:p>
            <a:r>
              <a:t>Say the instruction plainly — three short paragraphs, written this week, while</a:t>
            </a:r>
          </a:p>
          <a:p>
            <a:r>
              <a:t>the detail is still recoverable.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9:55.</a:t>
            </a:r>
          </a:p>
          <a:p/>
          <a:p>
            <a:r>
              <a:t>One offer only. No competing route on this slide and none in this block of the</a:t>
            </a:r>
          </a:p>
          <a:p>
            <a:r>
              <a:t>script.</a:t>
            </a:r>
          </a:p>
          <a:p/>
          <a:p>
            <a:r>
              <a:t>Hold the URL on screen for the full CTA. It also belongs in the first two lines</a:t>
            </a:r>
          </a:p>
          <a:p>
            <a:r>
              <a:t>of the description and in the pinned comment.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10:25.</a:t>
            </a:r>
          </a:p>
          <a:p/>
          <a:p>
            <a:r>
              <a:t>Everything sits left of x=1130. The right third is reserved for the YouTube</a:t>
            </a:r>
          </a:p>
          <a:p>
            <a:r>
              <a:t>end-screen element and must stay empty.</a:t>
            </a:r>
          </a:p>
          <a:p/>
          <a:p>
            <a:r>
              <a:t>Route to the single video if it has published by the time Video 7 goes live;</a:t>
            </a:r>
          </a:p>
          <a:p>
            <a:r>
              <a:t>otherwise point at the Career Portability playlist. The playlist line is on the</a:t>
            </a:r>
          </a:p>
          <a:p>
            <a:r>
              <a:t>slide either way, so no re-render is needed to switch.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591800" y="66040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15650" y="660400"/>
            <a:ext cx="254000" cy="2540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80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1565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1905000"/>
            <a:ext cx="9017000" cy="1066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35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YOU WERE NOT</a:t>
            </a:r>
            <a:br/>
            <a:r>
              <a:rPr sz="35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IMPROVING SOMETHING.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6000" y="3759200"/>
            <a:ext cx="1905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6000" y="4191000"/>
            <a:ext cx="9017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3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YOU WERE THE BEFORE.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0668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WHY THE WORK GOES QUIET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473200"/>
            <a:ext cx="10160000" cy="901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MOST WORKPLACE EVIDENCE</a:t>
            </a:r>
            <a:br/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IS COMPARATIVE.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565400"/>
            <a:ext cx="1270000" cy="254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857500"/>
            <a:ext cx="1016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 baseline moved. A number improved. A cycle time dropped.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3657600"/>
            <a:ext cx="12192000" cy="32004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4102100"/>
            <a:ext cx="10160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FOUNDATIONAL WORK HAS NO PRIOR STATE.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6000" y="5029200"/>
            <a:ext cx="1270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6000" y="5321300"/>
            <a:ext cx="101600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0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The instrument that would have recorded it</a:t>
            </a:r>
            <a:br/>
            <a:r>
              <a:rPr sz="20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did not exist yet.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9525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THE THREE MOVES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828800"/>
            <a:ext cx="76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32000" y="1854200"/>
            <a:ext cx="9144000" cy="41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RECONSTRUCT THE BEFORE</a:t>
            </a:r>
          </a:p>
        </p:txBody>
      </p:sp>
      <p:sp>
        <p:nvSpPr>
          <p:cNvPr id="5" name="Rectangle 4"/>
          <p:cNvSpPr/>
          <p:nvPr/>
        </p:nvSpPr>
        <p:spPr>
          <a:xfrm>
            <a:off x="2032000" y="2514600"/>
            <a:ext cx="8255000" cy="1905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3302000"/>
            <a:ext cx="76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32000" y="3327400"/>
            <a:ext cx="9144000" cy="41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NAME WHAT YOU BUILT</a:t>
            </a:r>
          </a:p>
        </p:txBody>
      </p:sp>
      <p:sp>
        <p:nvSpPr>
          <p:cNvPr id="8" name="Rectangle 7"/>
          <p:cNvSpPr/>
          <p:nvPr/>
        </p:nvSpPr>
        <p:spPr>
          <a:xfrm>
            <a:off x="2032000" y="3987800"/>
            <a:ext cx="8255000" cy="1905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6000" y="4775200"/>
            <a:ext cx="76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32000" y="4800600"/>
            <a:ext cx="9144000" cy="41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SHOW WHAT IT RETURNED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32000" y="5461000"/>
            <a:ext cx="8255000" cy="1905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0668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524000"/>
            <a:ext cx="10160000" cy="927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DOCUMENT THE ABSENCE</a:t>
            </a:r>
            <a:br/>
            <a:r>
              <a:rPr sz="3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YOU WALKED INTO.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3225800"/>
            <a:ext cx="1270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3594100"/>
            <a:ext cx="9525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1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Not the state of the world when you arrived.</a:t>
            </a:r>
          </a:p>
          <a:p>
            <a:pPr algn="l">
              <a:lnSpc>
                <a:spcPct val="134000"/>
              </a:lnSpc>
              <a:spcBef>
                <a:spcPts val="700"/>
              </a:spcBef>
            </a:pPr>
            <a:r>
              <a:rPr sz="2100" b="0" i="0">
                <a:solidFill>
                  <a:srgbClr val="0F2346"/>
                </a:solidFill>
                <a:latin typeface="DM Sans"/>
                <a:ea typeface="DM Sans"/>
                <a:cs typeface="DM Sans"/>
              </a:rPr>
              <a:t>What was missing from 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990600"/>
            <a:ext cx="10160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DID NOT EXIST?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6000" y="1638300"/>
            <a:ext cx="1270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6000" y="2209800"/>
            <a:ext cx="48260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No owner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6000" y="2705100"/>
            <a:ext cx="4445000" cy="127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3022600"/>
            <a:ext cx="48260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No system</a:t>
            </a:r>
          </a:p>
        </p:txBody>
      </p:sp>
      <p:sp>
        <p:nvSpPr>
          <p:cNvPr id="7" name="Rectangle 6"/>
          <p:cNvSpPr/>
          <p:nvPr/>
        </p:nvSpPr>
        <p:spPr>
          <a:xfrm>
            <a:off x="1016000" y="3517900"/>
            <a:ext cx="4445000" cy="127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6000" y="3835400"/>
            <a:ext cx="48260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No shared language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6000" y="4330700"/>
            <a:ext cx="4445000" cy="127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6000" y="4648200"/>
            <a:ext cx="48260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No baseline anyone trusted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16000" y="5143500"/>
            <a:ext cx="4445000" cy="127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7000" y="2209800"/>
            <a:ext cx="48260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No decision process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77000" y="2705100"/>
            <a:ext cx="4445000" cy="127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7000" y="3022600"/>
            <a:ext cx="48260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No relationships across functions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77000" y="3517900"/>
            <a:ext cx="4445000" cy="127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7000" y="3835400"/>
            <a:ext cx="48260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No standard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77000" y="4330700"/>
            <a:ext cx="4445000" cy="127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7000" y="4648200"/>
            <a:ext cx="48260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No repeatable method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77000" y="5143500"/>
            <a:ext cx="4445000" cy="127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0668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TWO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524000"/>
            <a:ext cx="10160000" cy="927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THE OUTPUT IS THE</a:t>
            </a:r>
            <a:br/>
            <a:r>
              <a:rPr sz="3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SMALLEST PART.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3657600"/>
            <a:ext cx="12192000" cy="32004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4165600"/>
            <a:ext cx="10160000" cy="882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DEFINITIONS   ·   RELATIONSHIPS   ·   DECISIONS</a:t>
            </a:r>
          </a:p>
          <a:p>
            <a:pPr algn="l">
              <a:lnSpc>
                <a:spcPct val="118000"/>
              </a:lnSpc>
              <a:spcBef>
                <a:spcPts val="1100"/>
              </a:spcBef>
            </a:pPr>
            <a:r>
              <a:rPr sz="23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ALIGNMENT   ·   REPEATABLE CAPABILITY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6000" y="5461000"/>
            <a:ext cx="1270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5727700"/>
            <a:ext cx="10160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What the organisation can do now that it could not do before.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701800"/>
            <a:ext cx="10287000" cy="14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31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JUDGMENT IS THE PART</a:t>
            </a:r>
            <a:br/>
            <a:r>
              <a:rPr sz="31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THAT DOES NOT TRANSFER</a:t>
            </a:r>
            <a:br/>
            <a:r>
              <a:rPr sz="31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INTO A SLIDE.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6000" y="4191000"/>
            <a:ext cx="1905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6000" y="4610100"/>
            <a:ext cx="10287000" cy="787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200" b="0" i="0">
                <a:solidFill>
                  <a:srgbClr val="C9A84C"/>
                </a:solidFill>
                <a:latin typeface="DM Sans"/>
                <a:ea typeface="DM Sans"/>
                <a:cs typeface="DM Sans"/>
              </a:rPr>
              <a:t>Name the choice. Name the alternative you rejected.</a:t>
            </a:r>
            <a:br/>
            <a:r>
              <a:rPr sz="2200" b="0" i="0">
                <a:solidFill>
                  <a:srgbClr val="C9A84C"/>
                </a:solidFill>
                <a:latin typeface="DM Sans"/>
                <a:ea typeface="DM Sans"/>
                <a:cs typeface="DM Sans"/>
              </a:rPr>
              <a:t>Name the reason.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9525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THREE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371600"/>
            <a:ext cx="10160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IS DIFFERENT NOW?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044700"/>
            <a:ext cx="1270000" cy="254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2565400"/>
            <a:ext cx="10160000" cy="952500"/>
          </a:xfrm>
          <a:prstGeom prst="rect">
            <a:avLst/>
          </a:prstGeom>
          <a:noFill/>
          <a:ln w="1905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20800" y="2857500"/>
            <a:ext cx="9652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ADOPTION   ·   CONTINUED USE   ·   BETTER DECISIONS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1016000" y="3771900"/>
            <a:ext cx="10160000" cy="952500"/>
          </a:xfrm>
          <a:prstGeom prst="rect">
            <a:avLst/>
          </a:prstGeom>
          <a:noFill/>
          <a:ln w="1905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20800" y="4064000"/>
            <a:ext cx="9652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REDUCED AMBIGUITY   ·   REPEATABILITY   ·   RECOGNITION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6000" y="4978400"/>
            <a:ext cx="10160000" cy="952500"/>
          </a:xfrm>
          <a:prstGeom prst="rect">
            <a:avLst/>
          </a:prstGeom>
          <a:noFill/>
          <a:ln w="1905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20800" y="5270500"/>
            <a:ext cx="9652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A CLEAN HANDOFF   ·   A CAPABILITY THAT REMAINED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320800"/>
            <a:ext cx="1028700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 NUMBER YOU CANNOT DEFEND</a:t>
            </a:r>
            <a:br/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IS WORSE THAN NO NUMBER.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6000" y="2692400"/>
            <a:ext cx="1905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6000" y="3048000"/>
            <a:ext cx="10287000" cy="755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100" b="0" i="0">
                <a:solidFill>
                  <a:srgbClr val="C9A84C"/>
                </a:solidFill>
                <a:latin typeface="DM Sans"/>
                <a:ea typeface="DM Sans"/>
                <a:cs typeface="DM Sans"/>
              </a:rPr>
              <a:t>“Used by every team in the region for two years</a:t>
            </a:r>
            <a:br/>
            <a:r>
              <a:rPr sz="2100" b="0" i="0">
                <a:solidFill>
                  <a:srgbClr val="C9A84C"/>
                </a:solidFill>
                <a:latin typeface="DM Sans"/>
                <a:ea typeface="DM Sans"/>
                <a:cs typeface="DM Sans"/>
              </a:rPr>
              <a:t>after I left it.”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6000" y="4470400"/>
            <a:ext cx="10160000" cy="254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48006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WHAT YOU MAY KEEP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5194300"/>
            <a:ext cx="10287000" cy="939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Outcomes, decisions, what you learned, non-confidential</a:t>
            </a:r>
            <a:br/>
            <a:r>
              <a:rPr sz="18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examples in your own words. Not documents, not data,</a:t>
            </a:r>
            <a:br/>
            <a:r>
              <a:rPr sz="18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not anything employer-owned.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0668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THREE PARAGRAPHS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879600"/>
            <a:ext cx="33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 spc="10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BEFORE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45000" y="1930400"/>
            <a:ext cx="6731000" cy="374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What did not exist.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6000" y="2654300"/>
            <a:ext cx="10160000" cy="1905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sosceles Triangle 5"/>
          <p:cNvSpPr/>
          <p:nvPr/>
        </p:nvSpPr>
        <p:spPr>
          <a:xfrm rot="10800000">
            <a:off x="1016000" y="2882900"/>
            <a:ext cx="190500" cy="118110"/>
          </a:xfrm>
          <a:prstGeom prst="triangl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3327400"/>
            <a:ext cx="33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 spc="10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BUILD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45000" y="3378200"/>
            <a:ext cx="6731000" cy="374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What you created underneath the output.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6000" y="4102100"/>
            <a:ext cx="10160000" cy="1905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 rot="10800000">
            <a:off x="1016000" y="4330700"/>
            <a:ext cx="190500" cy="118110"/>
          </a:xfrm>
          <a:prstGeom prst="triangl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6000" y="4775200"/>
            <a:ext cx="33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 spc="10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45000" y="4826000"/>
            <a:ext cx="6731000" cy="374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What is different now—and how someone else could tell.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16000" y="5549900"/>
            <a:ext cx="10160000" cy="1905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591800" y="66040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15650" y="660400"/>
            <a:ext cx="254000" cy="2540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80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1565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1905000"/>
            <a:ext cx="762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KEEP THE PROOF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349500"/>
            <a:ext cx="9017000" cy="990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3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 60-MINUTE CAREER</a:t>
            </a:r>
            <a:br/>
            <a:r>
              <a:rPr sz="33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EVIDENCE SYSTEM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6000" y="3937000"/>
            <a:ext cx="1905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6000" y="4330700"/>
            <a:ext cx="9017000" cy="71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Reconstruct the before. Name what you built.</a:t>
            </a:r>
            <a:br/>
            <a:r>
              <a:rPr sz="20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Record what it returned.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" y="5435600"/>
            <a:ext cx="901700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temidayoafonja.com/keep-the-proof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498600"/>
            <a:ext cx="5715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WATCH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943100"/>
            <a:ext cx="5715000" cy="1581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6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HOW TO EXPLAIN A</a:t>
            </a:r>
            <a:br/>
            <a:r>
              <a:rPr sz="26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NONLINEAR CAREER</a:t>
            </a:r>
            <a:br/>
            <a:r>
              <a:rPr sz="26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WITHOUT LOOKING</a:t>
            </a:r>
            <a:br/>
            <a:r>
              <a:rPr sz="26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UNFOCUSED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4635500"/>
            <a:ext cx="1651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4991100"/>
            <a:ext cx="5715000" cy="60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0" i="0">
                <a:solidFill>
                  <a:srgbClr val="3E506B"/>
                </a:solidFill>
                <a:latin typeface="DM Sans"/>
                <a:ea typeface="DM Sans"/>
                <a:cs typeface="DM Sans"/>
              </a:rPr>
              <a:t>Career Portability: Career Pivots,</a:t>
            </a:r>
            <a:br/>
            <a:r>
              <a:rPr sz="1700" b="0" i="0">
                <a:solidFill>
                  <a:srgbClr val="3E506B"/>
                </a:solidFill>
                <a:latin typeface="DM Sans"/>
                <a:ea typeface="DM Sans"/>
                <a:cs typeface="DM Sans"/>
              </a:rPr>
              <a:t>Internal Moves &amp; Growth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