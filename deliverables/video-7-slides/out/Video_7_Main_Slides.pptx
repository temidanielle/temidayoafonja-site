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payoff line. Do not rush</a:t>
            </a:r>
          </a:p>
          <a:p>
            <a:r>
              <a:t>the gap — the second line is the thesis of the whole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1:25.</a:t>
            </a:r>
          </a:p>
          <a:p/>
          <a:p>
            <a:r>
              <a:t>Reveal the cream half first — this is the rule the viewer already lives inside.</a:t>
            </a:r>
          </a:p>
          <a:p>
            <a:r>
              <a:t>Bring the navy band in on "you are the before."</a:t>
            </a:r>
          </a:p>
          <a:p/>
          <a:p>
            <a:r>
              <a:t>The point is diagnostic, not consoling: the work is not invisible because she</a:t>
            </a:r>
          </a:p>
          <a:p>
            <a:r>
              <a:t>was quiet. Keep the delivery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2:35.</a:t>
            </a:r>
          </a:p>
          <a:p/>
          <a:p>
            <a:r>
              <a:t>The distinction in the reveal is the whole move. "What it was like" is a story;</a:t>
            </a:r>
          </a:p>
          <a:p>
            <a:r>
              <a:t>"what was missing" is a baseline.</a:t>
            </a:r>
          </a:p>
          <a:p/>
          <a:p>
            <a:r>
              <a:t>Hold on the second line. This is the step most viewers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Left column first, then the right. Read them as questions she is asking the</a:t>
            </a:r>
          </a:p>
          <a:p>
            <a:r>
              <a:t>viewer, not as a list to get through.</a:t>
            </a:r>
          </a:p>
          <a:p/>
          <a:p>
            <a:r>
              <a:t>Follow the slide with the spoken example about three channels and no one</a:t>
            </a:r>
          </a:p>
          <a:p>
            <a:r>
              <a:t>reconciling them — the specificity is what makes the checklist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4:30.</a:t>
            </a:r>
          </a:p>
          <a:p/>
          <a:p>
            <a:r>
              <a:t>The tracker, the programme, the playbook — those are the output. The band is</a:t>
            </a:r>
          </a:p>
          <a:p>
            <a:r>
              <a:t>what sat underneath it.</a:t>
            </a:r>
          </a:p>
          <a:p/>
          <a:p>
            <a:r>
              <a:t>The last line is the definition of a capability and is repeated in the CTA</a:t>
            </a:r>
          </a:p>
          <a:p>
            <a:r>
              <a:t>block. Keep the wording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One state, no build. The idea does not benefit from being taken apart.</a:t>
            </a:r>
          </a:p>
          <a:p/>
          <a:p>
            <a:r>
              <a:t>This is the slide that separates the video from personal-branding advice: a</a:t>
            </a:r>
          </a:p>
          <a:p>
            <a:r>
              <a:t>record of thinking, not a claim about herself.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The gold line is an instruction to the viewer, not a claim about Temidayo or</a:t>
            </a:r>
          </a:p>
          <a:p>
            <a:r>
              <a:t>about any specific piece of work. Deliver it as guidance.</a:t>
            </a:r>
          </a:p>
          <a:p/>
          <a:p>
            <a:r>
              <a:t>The second state is the permitted-evidence boundary and is not optional — it</a:t>
            </a:r>
          </a:p>
          <a:p>
            <a:r>
              <a:t>must appear on screen while she says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9:55.</a:t>
            </a:r>
          </a:p>
          <a:p/>
          <a:p>
            <a:r>
              <a:t>One offer only. No competing route on this slide and none in this block of the</a:t>
            </a:r>
          </a:p>
          <a:p>
            <a:r>
              <a:t>script.</a:t>
            </a:r>
          </a:p>
          <a:p/>
          <a:p>
            <a:r>
              <a:t>Hold the URL on screen for the full CTA. It also belongs in the first two lines</a:t>
            </a:r>
          </a:p>
          <a:p>
            <a:r>
              <a:t>of the description and in the pinned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10:25.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Route to the single video if it has published by the time Video 7 goes live;</a:t>
            </a:r>
          </a:p>
          <a:p>
            <a:r>
              <a:t>otherwise point at the Career Portability playlist. The playlist line is on the</a:t>
            </a:r>
          </a:p>
          <a:p>
            <a:r>
              <a:t>slide either way, so no re-render is needed to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017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BUILDING WHILE OPERATING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7592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191000"/>
            <a:ext cx="9017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INFRASTRUCTURE</a:t>
            </a:r>
            <a:br/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WAS STILL MATURING.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WHY THE WORK GOES QUIET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732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MOST WORKPLACE EVIDENCE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COMPARATIVE.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5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baseline moved. A number improved. A cycle time dropped.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102100"/>
            <a:ext cx="1016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FOUNDATIONAL WORK HAS NO PRIOR STATE.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029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321300"/>
            <a:ext cx="10160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instrument that would have recorded it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did not exist yet.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2000" y="33274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WHAT YOU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39878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7752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2000" y="48006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SHOW WHAT IT RETURNED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2000" y="54610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RECONSTRUCT THE STARTING CONDITION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2258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5941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was incomplete, inconsistent or difficult before the work?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90600"/>
            <a:ext cx="10160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WAS STILL MATURING?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63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098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Change-management infrastructure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0226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Operating-model governance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8354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Organizational-effectiveness mechanisms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482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Leadership enablement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22098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Performance rhythms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7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0" y="30226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Onboarding infrastructure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7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0" y="3835400"/>
            <a:ext cx="5358384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Cross-functional integration / governance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7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OUTPUT IS THE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SMALLEST PART.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65600"/>
            <a:ext cx="10160000" cy="882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DEFINITIONS   ·   RELATIONSHIPS   ·   DECISIONS</a:t>
            </a:r>
          </a:p>
          <a:p>
            <a:pPr algn="l">
              <a:lnSpc>
                <a:spcPct val="118000"/>
              </a:lnSpc>
              <a:spcBef>
                <a:spcPts val="1100"/>
              </a:spcBef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ALIGNMENT   ·   REPEATABLE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5461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7277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organisation can do now that it could not do before.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01800"/>
            <a:ext cx="1028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JUDGMENT IS THE PART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DOES NOT TRANSFER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INTO A SLIDE.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4191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4610100"/>
            <a:ext cx="10287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choice. Name the alternative you rejected.</a:t>
            </a:r>
            <a:br/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reason.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719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40640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REDUCED AMBIGUITY   ·   REPEATABILITY   ·   RECOGNITION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978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5270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CLEAN HANDOFF   ·   A CAPABILITY THAT REMAINED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20800"/>
            <a:ext cx="10287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NUMBER YOU CANNOT DEFEND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WORSE THAN NO NUMBER.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6924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3022600"/>
            <a:ext cx="10287000" cy="81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CONTINUED USE IS EVIDENCE.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Who still used it after the handoff—and for how long?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4470400"/>
            <a:ext cx="10160000" cy="254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8006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YOU MAY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5194300"/>
            <a:ext cx="10287000" cy="939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Outcomes, decisions, what you learned, non-confidential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examples in your own words. Not documents, not data,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anything employer-owned.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not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3274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33782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created underneath the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1021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16000" y="43307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7752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5000" y="48260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is different now—and how someone else could tell.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5499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KEEP THE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49500"/>
            <a:ext cx="90170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60-MINUTE CAREER</a:t>
            </a:r>
            <a:br/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937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330700"/>
            <a:ext cx="90170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Reconstruct the before. Name what you built.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Record what it returned.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986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943100"/>
            <a:ext cx="5715000" cy="158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EXPLAIN YOUR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6355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991100"/>
            <a:ext cx="5715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Career Portability: Career Pivots,</a:t>
            </a:r>
            <a:br/>
            <a:r>
              <a:rPr sz="1700" b="0" i="0">
                <a:solidFill>
                  <a:srgbClr val="8E9CB2"/>
                </a:solidFill>
                <a:latin typeface="DM Sans"/>
                <a:ea typeface="DM Sans"/>
                <a:cs typeface="DM Sans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