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0:35.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the viewer promise.</a:t>
            </a:r>
          </a:p>
          <a:p/>
          <a:p>
            <a:r>
              <a:t>Reveal the first statement, hold it, then bring in the payoff line. Do not rush</a:t>
            </a:r>
          </a:p>
          <a:p>
            <a:r>
              <a:t>the gap — the second line is the thesis of the whole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1:25.</a:t>
            </a:r>
          </a:p>
          <a:p/>
          <a:p>
            <a:r>
              <a:t>Reveal the cream half first — this is the rule the viewer already lives inside.</a:t>
            </a:r>
          </a:p>
          <a:p>
            <a:r>
              <a:t>Bring the navy band in on "you are the before."</a:t>
            </a:r>
          </a:p>
          <a:p/>
          <a:p>
            <a:r>
              <a:t>The point is diagnostic, not consoling: the work is not invisible because she</a:t>
            </a:r>
          </a:p>
          <a:p>
            <a:r>
              <a:t>was quiet. Keep the delivery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2:10.</a:t>
            </a:r>
          </a:p>
          <a:p/>
          <a:p>
            <a:r>
              <a:t>One move per beat. Say the move, let it land, then advance.</a:t>
            </a:r>
          </a:p>
          <a:p/>
          <a:p>
            <a:r>
              <a:t>This slide returns as the spine of the video — slides 4, 6 and 8 each open one</a:t>
            </a:r>
          </a:p>
          <a:p>
            <a:r>
              <a:t>of these three. Do not paraphrase the wording here; it is repeated verbatim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2:35.</a:t>
            </a:r>
          </a:p>
          <a:p/>
          <a:p>
            <a:r>
              <a:t>The distinction in the reveal is the whole move. "What it was like" is a story;</a:t>
            </a:r>
          </a:p>
          <a:p>
            <a:r>
              <a:t>"what was missing" is a baseline.</a:t>
            </a:r>
          </a:p>
          <a:p/>
          <a:p>
            <a:r>
              <a:t>Hold on the second line. This is the step most viewers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3:05.</a:t>
            </a:r>
          </a:p>
          <a:p/>
          <a:p>
            <a:r>
              <a:t>Left column first, then the right. Read them as questions she is asking the</a:t>
            </a:r>
          </a:p>
          <a:p>
            <a:r>
              <a:t>viewer, not as a list to get through.</a:t>
            </a:r>
          </a:p>
          <a:p/>
          <a:p>
            <a:r>
              <a:t>Follow the slide with the spoken example about three channels and no one</a:t>
            </a:r>
          </a:p>
          <a:p>
            <a:r>
              <a:t>reconciling them — the specificity is what makes the checklist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4:30.</a:t>
            </a:r>
          </a:p>
          <a:p/>
          <a:p>
            <a:r>
              <a:t>The tracker, the programme, the playbook — those are the output. The band is</a:t>
            </a:r>
          </a:p>
          <a:p>
            <a:r>
              <a:t>what sat underneath it.</a:t>
            </a:r>
          </a:p>
          <a:p/>
          <a:p>
            <a:r>
              <a:t>The last line is the definition of a capability and is repeated in the CTA</a:t>
            </a:r>
          </a:p>
          <a:p>
            <a:r>
              <a:t>block. Keep the wording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5:40.</a:t>
            </a:r>
          </a:p>
          <a:p/>
          <a:p>
            <a:r>
              <a:t>One state, no build. The idea does not benefit from being taken apart.</a:t>
            </a:r>
          </a:p>
          <a:p/>
          <a:p>
            <a:r>
              <a:t>This is the slide that separates the video from personal-branding advice: a</a:t>
            </a:r>
          </a:p>
          <a:p>
            <a:r>
              <a:t>record of thinking, not a claim about herself.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6:30.</a:t>
            </a:r>
          </a:p>
          <a:p/>
          <a:p>
            <a:r>
              <a:t>One band per beat, in order. Do not reveal all three at once — the point is</a:t>
            </a:r>
          </a:p>
          <a:p>
            <a:r>
              <a:t>that the list is longer than the viewer expects.</a:t>
            </a:r>
          </a:p>
          <a:p/>
          <a:p>
            <a:r>
              <a:t>None of these is a percentage. That is deliberate and is stated out loud in the</a:t>
            </a:r>
          </a:p>
          <a:p>
            <a:r>
              <a:t>next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8:35.</a:t>
            </a:r>
          </a:p>
          <a:p/>
          <a:p>
            <a:r>
              <a:t>The gold line is an instruction to the viewer, not a claim about Temidayo or</a:t>
            </a:r>
          </a:p>
          <a:p>
            <a:r>
              <a:t>about any specific piece of work. Deliver it as guidance.</a:t>
            </a:r>
          </a:p>
          <a:p/>
          <a:p>
            <a:r>
              <a:t>The second state is the permitted-evidence boundary and is not optional — it</a:t>
            </a:r>
          </a:p>
          <a:p>
            <a:r>
              <a:t>must appear on screen while she says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9:20.</a:t>
            </a:r>
          </a:p>
          <a:p/>
          <a:p>
            <a:r>
              <a:t>One row per paragraph, revealed as she names it.</a:t>
            </a:r>
          </a:p>
          <a:p/>
          <a:p>
            <a:r>
              <a:t>The sequence marks are drawn shapes, not typed characters: no brand font</a:t>
            </a:r>
          </a:p>
          <a:p>
            <a:r>
              <a:t>contains that glyph. They stay editable in the PPTX.</a:t>
            </a:r>
          </a:p>
          <a:p/>
          <a:p>
            <a:r>
              <a:t>Say the instruction plainly — three short paragraphs, written this week, while</a:t>
            </a:r>
          </a:p>
          <a:p>
            <a:r>
              <a:t>the detail is still 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9:55.</a:t>
            </a:r>
          </a:p>
          <a:p/>
          <a:p>
            <a:r>
              <a:t>One offer only. No competing route on this slide and none in this block of the</a:t>
            </a:r>
          </a:p>
          <a:p>
            <a:r>
              <a:t>script.</a:t>
            </a:r>
          </a:p>
          <a:p/>
          <a:p>
            <a:r>
              <a:t>Hold the URL on screen for the full CTA. It also belongs in the first two lines</a:t>
            </a:r>
          </a:p>
          <a:p>
            <a:r>
              <a:t>of the description and in the pinned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10:25.</a:t>
            </a:r>
          </a:p>
          <a:p/>
          <a:p>
            <a:r>
              <a:t>Everything sits left of x=1130. The right third is reserved for the YouTube</a:t>
            </a:r>
          </a:p>
          <a:p>
            <a:r>
              <a:t>end-screen element and must stay empty.</a:t>
            </a:r>
          </a:p>
          <a:p/>
          <a:p>
            <a:r>
              <a:t>Route to the single video if it has published by the time Video 7 goes live;</a:t>
            </a:r>
          </a:p>
          <a:p>
            <a:r>
              <a:t>otherwise point at the Career Portability playlist. The playlist line is on the</a:t>
            </a:r>
          </a:p>
          <a:p>
            <a:r>
              <a:t>slide either way, so no re-render is needed to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9017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WERE NOT</a:t>
            </a:r>
            <a:br/>
            <a:r>
              <a:rPr sz="35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IMPROVING SOMETHING.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7592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191000"/>
            <a:ext cx="9017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 WERE THE BEFORE.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WHY THE WORK GOES QUIET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473200"/>
            <a:ext cx="10160000" cy="901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MOST WORKPLACE EVIDENCE</a:t>
            </a:r>
            <a:br/>
            <a:r>
              <a:rPr sz="31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COMPARATIVE.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5654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575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baseline moved. A number improved. A cycle time dropped.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102100"/>
            <a:ext cx="1016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FOUNDATIONAL WORK HAS NO PRIOR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50292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5321300"/>
            <a:ext cx="10160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instrument that would have recorded it</a:t>
            </a:r>
            <a:br/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did not exist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288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0" y="18542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RECONSTRUCT THE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2000" y="25146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2000" y="33274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WHAT YOU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39878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7752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2000" y="4800600"/>
            <a:ext cx="9144000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SHOW WHAT IT RETURNED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2000" y="5461000"/>
            <a:ext cx="8255000" cy="1905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DOCUMENT THE ABSENCE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 WALKED INTO.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2258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594100"/>
            <a:ext cx="952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Not the state of the world when you arrived.</a:t>
            </a:r>
          </a:p>
          <a:p>
            <a:pPr algn="l">
              <a:lnSpc>
                <a:spcPct val="134000"/>
              </a:lnSpc>
              <a:spcBef>
                <a:spcPts val="700"/>
              </a:spcBef>
            </a:pPr>
            <a:r>
              <a:rPr sz="2100" b="0" i="0">
                <a:solidFill>
                  <a:srgbClr val="0F2346"/>
                </a:solidFill>
                <a:latin typeface="DM Sans"/>
                <a:ea typeface="DM Sans"/>
                <a:cs typeface="DM Sans"/>
              </a:rPr>
              <a:t>What was missing from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90600"/>
            <a:ext cx="1016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DID NOT EXIST?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6383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098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7051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0226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5179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8354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shared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3307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6482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baseline anyone trusted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51435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0" y="22098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decision process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0" y="27051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30226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relationships across 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0" y="35179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0" y="38354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7000" y="43307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0" y="46482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No repeatable method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5143500"/>
            <a:ext cx="4445000" cy="127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524000"/>
            <a:ext cx="10160000" cy="9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OUTPUT IS THE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SMALLEST PART.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65600"/>
            <a:ext cx="10160000" cy="882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DEFINITIONS   ·   RELATIONSHIPS   ·   DECISIONS</a:t>
            </a:r>
          </a:p>
          <a:p>
            <a:pPr algn="l">
              <a:lnSpc>
                <a:spcPct val="118000"/>
              </a:lnSpc>
              <a:spcBef>
                <a:spcPts val="1100"/>
              </a:spcBef>
            </a:pPr>
            <a:r>
              <a:rPr sz="2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ALIGNMENT   ·   REPEATABLE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54610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5727700"/>
            <a:ext cx="10160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the organisation can do now that it could not do before.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701800"/>
            <a:ext cx="10287000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JUDGMENT IS THE PART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DOES NOT TRANSFER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INTO A SLIDE.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41910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4610100"/>
            <a:ext cx="10287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Name the choice. Name the alternative you rejected.</a:t>
            </a:r>
            <a:br/>
            <a:r>
              <a:rPr sz="22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Name the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9525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3716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IS DIFFERENT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447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565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0800" y="2857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ADOPTION   ·   CONTINUED USE   ·   BETTER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719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40640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REDUCED AMBIGUITY   ·   REPEATABILITY   ·   RECOGNITION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978400"/>
            <a:ext cx="10160000" cy="952500"/>
          </a:xfrm>
          <a:prstGeom prst="rect">
            <a:avLst/>
          </a:prstGeom>
          <a:noFill/>
          <a:ln w="1905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0800" y="5270500"/>
            <a:ext cx="9652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 CLEAN HANDOFF   ·   A CAPABILITY THAT REMAINED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20800"/>
            <a:ext cx="102870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NUMBER YOU CANNOT DEFEND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WORSE THAN NO NUMBER.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6924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3022600"/>
            <a:ext cx="10287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CONTINUED USE IS EVIDENCE.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Who still used it after the handoff—and for how long?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4470400"/>
            <a:ext cx="10160000" cy="25400"/>
          </a:xfrm>
          <a:prstGeom prst="rect">
            <a:avLst/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48006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YOU MAY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5194300"/>
            <a:ext cx="1028700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Outcomes, decisions, what you learned, non-confidential</a:t>
            </a:r>
            <a:br/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examples in your own words. Not documents, not data,</a:t>
            </a:r>
            <a:br/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anything employer-owned.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668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THREE PARAGRAPHS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8796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0" y="19304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did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6000" y="26543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016000" y="28829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3274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33782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created underneath the output.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1021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016000" y="4330700"/>
            <a:ext cx="190500" cy="118110"/>
          </a:xfrm>
          <a:prstGeom prst="triangl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775200"/>
            <a:ext cx="33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4826000"/>
            <a:ext cx="6731000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is different now—and how someone else could tell.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6000" y="5549900"/>
            <a:ext cx="10160000" cy="1905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349500"/>
            <a:ext cx="90170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60-MINUTE CAREER</a:t>
            </a:r>
            <a:br/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39370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330700"/>
            <a:ext cx="9017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Reconstruct the before. Name what you built.</a:t>
            </a:r>
            <a:br/>
            <a:r>
              <a:rPr sz="20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Record what it returned.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435600"/>
            <a:ext cx="9017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943100"/>
            <a:ext cx="5715000" cy="158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EXPLAIN A</a:t>
            </a:r>
            <a:br/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NONLINEAR CAREER</a:t>
            </a:r>
            <a:br/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LOOKING</a:t>
            </a:r>
            <a:br/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UNFOCUSED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635500"/>
            <a:ext cx="1651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991100"/>
            <a:ext cx="5715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i="0">
                <a:solidFill>
                  <a:srgbClr val="8E9CB2"/>
                </a:solidFill>
                <a:latin typeface="DM Sans"/>
                <a:ea typeface="DM Sans"/>
                <a:cs typeface="DM Sans"/>
              </a:rPr>
              <a:t>Career Portability: Career Pivots,</a:t>
            </a:r>
            <a:br/>
            <a:r>
              <a:rPr sz="1700" b="0" i="0">
                <a:solidFill>
                  <a:srgbClr val="8E9CB2"/>
                </a:solidFill>
                <a:latin typeface="DM Sans"/>
                <a:ea typeface="DM Sans"/>
                <a:cs typeface="DM Sans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