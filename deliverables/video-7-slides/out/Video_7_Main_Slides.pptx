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payoff line. Do not rush</a:t>
            </a:r>
          </a:p>
          <a:p>
            <a:r>
              <a:t>the gap — the second line is the thesis of the whole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1:25.</a:t>
            </a:r>
          </a:p>
          <a:p/>
          <a:p>
            <a:r>
              <a:t>Reveal the cream half first — this is the rule the viewer already lives inside.</a:t>
            </a:r>
          </a:p>
          <a:p>
            <a:r>
              <a:t>Bring the navy band in on "you are the before."</a:t>
            </a:r>
          </a:p>
          <a:p/>
          <a:p>
            <a:r>
              <a:t>The point is diagnostic, not consoling: the work is not invisible because she</a:t>
            </a:r>
          </a:p>
          <a:p>
            <a:r>
              <a:t>was quiet. Keep the delivery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2:10.</a:t>
            </a:r>
          </a:p>
          <a:p/>
          <a:p>
            <a:r>
              <a:t>One move per beat. Say the move, let it land, then advance.</a:t>
            </a:r>
          </a:p>
          <a:p/>
          <a:p>
            <a:r>
              <a:t>This slide returns as the spine of the video — slides 4, 6 and 8 each open one</a:t>
            </a:r>
          </a:p>
          <a:p>
            <a:r>
              <a:t>of these three. Do not paraphrase the wording here; it is repeated verbatim</a:t>
            </a:r>
          </a:p>
          <a:p>
            <a:r>
              <a:t>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2:35.</a:t>
            </a:r>
          </a:p>
          <a:p/>
          <a:p>
            <a:r>
              <a:t>The distinction in the reveal is the whole move. "What it was like" is a story;</a:t>
            </a:r>
          </a:p>
          <a:p>
            <a:r>
              <a:t>"what was missing" is a baseline.</a:t>
            </a:r>
          </a:p>
          <a:p/>
          <a:p>
            <a:r>
              <a:t>Hold on the second line. This is the step most viewers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Left column first, then the right. Read them as questions she is asking the</a:t>
            </a:r>
          </a:p>
          <a:p>
            <a:r>
              <a:t>viewer, not as a list to get through.</a:t>
            </a:r>
          </a:p>
          <a:p/>
          <a:p>
            <a:r>
              <a:t>Follow the slide with the spoken example about three channels and no one</a:t>
            </a:r>
          </a:p>
          <a:p>
            <a:r>
              <a:t>reconciling them — the specificity is what makes the checklist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4:30.</a:t>
            </a:r>
          </a:p>
          <a:p/>
          <a:p>
            <a:r>
              <a:t>The tracker, the programme, the playbook — those are the output. The band is</a:t>
            </a:r>
          </a:p>
          <a:p>
            <a:r>
              <a:t>what sat underneath it.</a:t>
            </a:r>
          </a:p>
          <a:p/>
          <a:p>
            <a:r>
              <a:t>The last line is the definition of a capability and is repeated in the CTA</a:t>
            </a:r>
          </a:p>
          <a:p>
            <a:r>
              <a:t>block. Keep the wording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5:40.</a:t>
            </a:r>
          </a:p>
          <a:p/>
          <a:p>
            <a:r>
              <a:t>One state, no build. The idea does not benefit from being taken apart.</a:t>
            </a:r>
          </a:p>
          <a:p/>
          <a:p>
            <a:r>
              <a:t>This is the slide that separates the video from personal-branding advice: a</a:t>
            </a:r>
          </a:p>
          <a:p>
            <a:r>
              <a:t>record of thinking, not a claim about herself.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6:30.</a:t>
            </a:r>
          </a:p>
          <a:p/>
          <a:p>
            <a:r>
              <a:t>One band per beat, in order. Do not reveal all three at once — the point is</a:t>
            </a:r>
          </a:p>
          <a:p>
            <a:r>
              <a:t>that the list is longer than the viewer expects.</a:t>
            </a:r>
          </a:p>
          <a:p/>
          <a:p>
            <a:r>
              <a:t>None of these is a percentage. That is deliberate and is stated out loud in the</a:t>
            </a:r>
          </a:p>
          <a:p>
            <a:r>
              <a:t>next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The gold line is an instruction to the viewer, not a claim about Temidayo or</a:t>
            </a:r>
          </a:p>
          <a:p>
            <a:r>
              <a:t>about any specific piece of work. Deliver it as guidance.</a:t>
            </a:r>
          </a:p>
          <a:p/>
          <a:p>
            <a:r>
              <a:t>The second state is the permitted-evidence boundary and is not optional — it</a:t>
            </a:r>
          </a:p>
          <a:p>
            <a:r>
              <a:t>must appear on screen while she says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9:20.</a:t>
            </a:r>
          </a:p>
          <a:p/>
          <a:p>
            <a:r>
              <a:t>One row per paragraph, revealed as she names it.</a:t>
            </a:r>
          </a:p>
          <a:p/>
          <a:p>
            <a:r>
              <a:t>The sequence marks are drawn shapes, not typed characters: no brand font</a:t>
            </a:r>
          </a:p>
          <a:p>
            <a:r>
              <a:t>contains that glyph. They stay editable in the PPTX.</a:t>
            </a:r>
          </a:p>
          <a:p/>
          <a:p>
            <a:r>
              <a:t>Say the instruction plainly — three short paragraphs, written this week, while</a:t>
            </a:r>
          </a:p>
          <a:p>
            <a:r>
              <a:t>the detail is still 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9:55.</a:t>
            </a:r>
          </a:p>
          <a:p/>
          <a:p>
            <a:r>
              <a:t>One offer only. No competing route on this slide and none in this block of the</a:t>
            </a:r>
          </a:p>
          <a:p>
            <a:r>
              <a:t>script.</a:t>
            </a:r>
          </a:p>
          <a:p/>
          <a:p>
            <a:r>
              <a:t>Hold the URL on screen for the full CTA. It also belongs in the first two lines</a:t>
            </a:r>
          </a:p>
          <a:p>
            <a:r>
              <a:t>of the description and in the pinned comment.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10:25.</a:t>
            </a:r>
          </a:p>
          <a:p/>
          <a:p>
            <a:r>
              <a:t>Everything sits left of x=1130. The right third is reserved for the YouTube</a:t>
            </a:r>
          </a:p>
          <a:p>
            <a:r>
              <a:t>end-screen element and must stay empty.</a:t>
            </a:r>
          </a:p>
          <a:p/>
          <a:p>
            <a:r>
              <a:t>Route to the single video if it has published by the time Video 7 goes live;</a:t>
            </a:r>
          </a:p>
          <a:p>
            <a:r>
              <a:t>otherwise point at the Career Portability playlist. The playlist line is on the</a:t>
            </a:r>
          </a:p>
          <a:p>
            <a:r>
              <a:t>slide either way, so no re-render is needed to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9017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BUILDING WHILE OPERATING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7592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191000"/>
            <a:ext cx="9017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INFRASTRUCTURE</a:t>
            </a:r>
            <a:br/>
            <a:r>
              <a:rPr sz="3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WAS STILL MATURING.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WHY THE WORK GOES QUIET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73200"/>
            <a:ext cx="10160000" cy="901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MOST WORKPLACE EVIDENCE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COMPARATIVE.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654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575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baseline moved. A number improved. A cycle time dropped.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657600"/>
            <a:ext cx="12192000" cy="3200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4102100"/>
            <a:ext cx="1016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FOUNDATIONAL WORK CAN BE HARD TO SEE.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50292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5321300"/>
            <a:ext cx="10160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Sometimes the mechanism that would have recorded it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was still maturing.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288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2000" y="18542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RECONSTRUCT THE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32000" y="25146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32000" y="33274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WHAT YOU BUILT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39878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7752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2000" y="48006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SHOW WHAT IT RETURNED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2000" y="54610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RECONSTRUCT THE STARTING CONDITION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2258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594100"/>
            <a:ext cx="9525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was incomplete, inconsistent or difficult before the work?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90600"/>
            <a:ext cx="10160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WAS STILL MATURING?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6383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2098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Change-management infrastructure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0226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Operating-model governance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8354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Organizational-effectiveness mechanisms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6482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Leadership enablement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1435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22098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Performance rhythms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77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0" y="30226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Onboarding infrastructure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7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0" y="38354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Cross-functional integration / governance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77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OUTPUT IS THE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SMALLEST PART.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2000" cy="3200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165600"/>
            <a:ext cx="10160000" cy="882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DEFINITIONS   ·   RELATIONSHIPS   ·   DECISIONS</a:t>
            </a:r>
          </a:p>
          <a:p>
            <a:pPr algn="l">
              <a:lnSpc>
                <a:spcPct val="118000"/>
              </a:lnSpc>
              <a:spcBef>
                <a:spcPts val="1100"/>
              </a:spcBef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ALIGNMENT   ·   REPEATABLE 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54610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7277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the organisation can do now that it could not do before.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01800"/>
            <a:ext cx="10287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JUDGMENT IS THE PART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DOES NOT TRANSFER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INTO A SLIDE.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4191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4610100"/>
            <a:ext cx="10287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Name the choice. Name the alternative you rejected.</a:t>
            </a:r>
            <a:br/>
            <a:r>
              <a:rPr sz="22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Name the reason.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16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IS DIFFERENT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447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565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0800" y="2857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ADOPTION   ·   CONTINUED USE   ·   BETTER 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719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0800" y="40640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REDUCED AMBIGUITY   ·   REPEATABILITY   ·   RECOGNITION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978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5270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 CLEAN HANDOFF   ·   A CAPABILITY THAT REMAINED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320800"/>
            <a:ext cx="102870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NUMBER YOU CANNOT DEFEND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WORSE THAN NO NUMBER.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6924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3022600"/>
            <a:ext cx="10287000" cy="81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CONTINUED USE IS EVIDENCE.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Who still used it after the handoff—and for how long?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4470400"/>
            <a:ext cx="10160000" cy="254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8006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YOU MAY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5194300"/>
            <a:ext cx="10287000" cy="939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Outcomes, decisions, what you learned, non-confidential</a:t>
            </a:r>
            <a:br/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examples in your own words. Not documents, not data,</a:t>
            </a:r>
            <a:br/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not anything employer-owned.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THREE PARAGRAPHS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796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0" y="19304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was incomplete, inconsistent,</a:t>
            </a:r>
            <a:br/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or difficult before the work?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543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0800000">
            <a:off x="1016000" y="28829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3274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0" y="33782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did you help put in place,</a:t>
            </a:r>
            <a:br/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improve, or make more usable?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1021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016000" y="43307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7752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5000" y="48260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changed afterward because of the work?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6000" y="55499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762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KEEP THE PROOF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349500"/>
            <a:ext cx="90170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60-MINUTE CAREER</a:t>
            </a:r>
            <a:br/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EVIDENCE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3937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330700"/>
            <a:ext cx="90170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Reconstruct the before. Name what you built.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Record what it returned.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5435600"/>
            <a:ext cx="9017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temidayoafonja.com/keep-the-proof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498600"/>
            <a:ext cx="571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943100"/>
            <a:ext cx="5715000" cy="1581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EXPLAIN YOUR</a:t>
            </a:r>
            <a:br/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CAREER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635500"/>
            <a:ext cx="165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991100"/>
            <a:ext cx="5715000" cy="60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 i="0">
                <a:solidFill>
                  <a:srgbClr val="8E9CB2"/>
                </a:solidFill>
                <a:latin typeface="DM Sans"/>
                <a:ea typeface="DM Sans"/>
                <a:cs typeface="DM Sans"/>
              </a:rPr>
              <a:t>Career Portability: Career Pivots,</a:t>
            </a:r>
            <a:br/>
            <a:r>
              <a:rPr sz="1700" b="0" i="0">
                <a:solidFill>
                  <a:srgbClr val="8E9CB2"/>
                </a:solidFill>
                <a:latin typeface="DM Sans"/>
                <a:ea typeface="DM Sans"/>
                <a:cs typeface="DM Sans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