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1.</a:t>
            </a:r>
          </a:p>
          <a:p>
            <a:r>
              <a:t>Timing: approximately 0:37 to 0:55.</a:t>
            </a:r>
          </a:p>
          <a:p>
            <a:r>
              <a:t>Do NOT open on this slide. Begin full-screen on Temidayo and let the opening land first: the hook, the three-check promise, her own perspective on documented performance and talent systems, and the safety line.</a:t>
            </a:r>
          </a:p>
          <a:p>
            <a:r>
              <a:t>Bring the title up under the channel line: "I'm Temidayo Afonja. I help experienced professionals understand what they can carry from their work into whatever comes next, without assuming they have to start from zero. And that is what I want to help you do before you hand in your notice."</a:t>
            </a:r>
          </a:p>
          <a:p>
            <a:r>
              <a:t>That second sentence is the turn from positioning to relationship. Stay on her face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2.</a:t>
            </a:r>
          </a:p>
          <a:p>
            <a:r>
              <a:t>Timing: approximately 0:55.</a:t>
            </a:r>
          </a:p>
          <a:p>
            <a:r>
              <a:t>Speak from ideas, calmly. The point is timing, not fear.</a:t>
            </a:r>
          </a:p>
          <a:p>
            <a:r>
              <a:t>STATE THE SAFETY BOUNDARY OUT LOUD, IN FULL, AND DO NOT SOFTEN IT:</a:t>
            </a:r>
          </a:p>
          <a:p>
            <a:r>
              <a:t>"If your health or safety is at risk, or you are dealing with harassment, discrimination or another urgent threat, nothing in this video is a reason to delay leaving. Act on that first."</a:t>
            </a:r>
          </a:p>
          <a:p>
            <a:r>
              <a:t>Deliver it humanely and directly. It is not a legal disclaimer and must not be edited to look like one — no fine print, no red alarm graphic, no cutaway.</a:t>
            </a:r>
          </a:p>
          <a:p>
            <a:r>
              <a:t>Then return to the viewer who has time to think, and say plainly that the rest of the video is for them.</a:t>
            </a:r>
          </a:p>
          <a:p>
            <a:r>
              <a:t>The closing beat of this section is addressed straight at the viewer: "I am not trying to make you hesitate. I am trying to make sure you do not leave the meaning of your own experience behind."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3.</a:t>
            </a:r>
          </a:p>
          <a:p>
            <a:r>
              <a:t>Timing: approximately 2:01, holding to about 2:04.</a:t>
            </a:r>
          </a:p>
          <a:p>
            <a:r>
              <a:t>Section card. Hold briefly, then return to presenter.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4 — main slide 4.</a:t>
            </a:r>
          </a:p>
          <a:p>
            <a:r>
              <a:t>Timing: approximately 2:04.</a:t>
            </a:r>
          </a:p>
          <a:p>
            <a:r>
              <a:t>Reveal the left column two items at a time, then bring up the boundary column.</a:t>
            </a:r>
          </a:p>
          <a:p>
            <a:r>
              <a:t>Say the boundary plainly. Confidential information, customer data, employee data, proprietary documents and anything the employer owns stay with the employer. Preserving your record does not mean taking their material.</a:t>
            </a:r>
          </a:p>
          <a:p>
            <a:r>
              <a:t>The test to say out loud: if you do not have the right to keep it, do not take it.</a:t>
            </a:r>
          </a:p>
          <a:p>
            <a:r>
              <a:t>Then give the shape of the record itself, spoken, not on the slide: the starting condition, what you decided or influenced, what changed, and what permitted evidence supports that result.</a:t>
            </a:r>
          </a:p>
          <a:p>
            <a:r>
              <a:t>Nothing here needs a screenshot of an employer system. Close on the reassurance that a filing cabinet is not the goal — enough context to explain the work six months later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4 — main slide 4.</a:t>
            </a:r>
          </a:p>
          <a:p>
            <a:r>
              <a:t>Timing: approximately 2:04.</a:t>
            </a:r>
          </a:p>
          <a:p>
            <a:r>
              <a:t>Reveal the left column two items at a time, then bring up the boundary column.</a:t>
            </a:r>
          </a:p>
          <a:p>
            <a:r>
              <a:t>Say the boundary plainly. Confidential information, customer data, employee data, proprietary documents and anything the employer owns stay with the employer. Preserving your record does not mean taking their material.</a:t>
            </a:r>
          </a:p>
          <a:p>
            <a:r>
              <a:t>The test to say out loud: if you do not have the right to keep it, do not take it.</a:t>
            </a:r>
          </a:p>
          <a:p>
            <a:r>
              <a:t>Then give the shape of the record itself, spoken, not on the slide: the starting condition, what you decided or influenced, what changed, and what permitted evidence supports that result.</a:t>
            </a:r>
          </a:p>
          <a:p>
            <a:r>
              <a:t>Nothing here needs a screenshot of an employer system. Close on the reassurance that a filing cabinet is not the goal — enough context to explain the work six months later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4 — main slide 4.</a:t>
            </a:r>
          </a:p>
          <a:p>
            <a:r>
              <a:t>Timing: approximately 2:04.</a:t>
            </a:r>
          </a:p>
          <a:p>
            <a:r>
              <a:t>Reveal the left column two items at a time, then bring up the boundary column.</a:t>
            </a:r>
          </a:p>
          <a:p>
            <a:r>
              <a:t>Say the boundary plainly. Confidential information, customer data, employee data, proprietary documents and anything the employer owns stay with the employer. Preserving your record does not mean taking their material.</a:t>
            </a:r>
          </a:p>
          <a:p>
            <a:r>
              <a:t>The test to say out loud: if you do not have the right to keep it, do not take it.</a:t>
            </a:r>
          </a:p>
          <a:p>
            <a:r>
              <a:t>Then give the shape of the record itself, spoken, not on the slide: the starting condition, what you decided or influenced, what changed, and what permitted evidence supports that result.</a:t>
            </a:r>
          </a:p>
          <a:p>
            <a:r>
              <a:t>Nothing here needs a screenshot of an employer system. Close on the reassurance that a filing cabinet is not the goal — enough context to explain the work six months later 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4 of 4 — main slide 4.</a:t>
            </a:r>
          </a:p>
          <a:p>
            <a:r>
              <a:t>Timing: approximately 2:04.</a:t>
            </a:r>
          </a:p>
          <a:p>
            <a:r>
              <a:t>Reveal the left column two items at a time, then bring up the boundary column.</a:t>
            </a:r>
          </a:p>
          <a:p>
            <a:r>
              <a:t>Say the boundary plainly. Confidential information, customer data, employee data, proprietary documents and anything the employer owns stay with the employer. Preserving your record does not mean taking their material.</a:t>
            </a:r>
          </a:p>
          <a:p>
            <a:r>
              <a:t>The test to say out loud: if you do not have the right to keep it, do not take it.</a:t>
            </a:r>
          </a:p>
          <a:p>
            <a:r>
              <a:t>Then give the shape of the record itself, spoken, not on the slide: the starting condition, what you decided or influenced, what changed, and what permitted evidence supports that result.</a:t>
            </a:r>
          </a:p>
          <a:p>
            <a:r>
              <a:t>Nothing here needs a screenshot of an employer system. Close on the reassurance that a filing cabinet is not the goal — enough context to explain the work six months later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5.</a:t>
            </a:r>
          </a:p>
          <a:p>
            <a:r>
              <a:t>Timing: approximately 3:07, holding to about 3:12.</a:t>
            </a:r>
          </a:p>
          <a:p>
            <a:r>
              <a:t>Section card. Hold briefly, then return to presenter.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5 — main slide 6.</a:t>
            </a:r>
          </a:p>
          <a:p>
            <a:r>
              <a:t>Timing: approximately 3:12.</a:t>
            </a:r>
          </a:p>
          <a:p>
            <a:r>
              <a:t>Reveal the four prompts one at a time as each is named.</a:t>
            </a:r>
          </a:p>
          <a:p>
            <a:r>
              <a:t>Note the direct-address framing in v3.0: Temidayo says "Say you tell me: 'I reduced the amount of time an internal process took.' That gives me an outcome." She is standing in as the listener across the table, and the example is then turned back on the viewer — "what you may have actually learned to do was…". Keep her on camera through that exchange so it reads as a conversation, not a case study.</a:t>
            </a:r>
          </a:p>
          <a:p>
            <a:r>
              <a:t>The example stays generic. No employer, client, system, metric or result.</a:t>
            </a:r>
          </a:p>
          <a:p>
            <a:r>
              <a:t>Close on the two questions she hands the viewer: what did your work prove you can now do, and where else could that be useful?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5 — main slide 6.</a:t>
            </a:r>
          </a:p>
          <a:p>
            <a:r>
              <a:t>Timing: approximately 3:12.</a:t>
            </a:r>
          </a:p>
          <a:p>
            <a:r>
              <a:t>Reveal the four prompts one at a time as each is named.</a:t>
            </a:r>
          </a:p>
          <a:p>
            <a:r>
              <a:t>Note the direct-address framing in v3.0: Temidayo says "Say you tell me: 'I reduced the amount of time an internal process took.' That gives me an outcome." She is standing in as the listener across the table, and the example is then turned back on the viewer — "what you may have actually learned to do was…". Keep her on camera through that exchange so it reads as a conversation, not a case study.</a:t>
            </a:r>
          </a:p>
          <a:p>
            <a:r>
              <a:t>The example stays generic. No employer, client, system, metric or result.</a:t>
            </a:r>
          </a:p>
          <a:p>
            <a:r>
              <a:t>Close on the two questions she hands the viewer: what did your work prove you can now do, and where else could that be useful?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5 — main slide 6.</a:t>
            </a:r>
          </a:p>
          <a:p>
            <a:r>
              <a:t>Timing: approximately 3:12.</a:t>
            </a:r>
          </a:p>
          <a:p>
            <a:r>
              <a:t>Reveal the four prompts one at a time as each is named.</a:t>
            </a:r>
          </a:p>
          <a:p>
            <a:r>
              <a:t>Note the direct-address framing in v3.0: Temidayo says "Say you tell me: 'I reduced the amount of time an internal process took.' That gives me an outcome." She is standing in as the listener across the table, and the example is then turned back on the viewer — "what you may have actually learned to do was…". Keep her on camera through that exchange so it reads as a conversation, not a case study.</a:t>
            </a:r>
          </a:p>
          <a:p>
            <a:r>
              <a:t>The example stays generic. No employer, client, system, metric or result.</a:t>
            </a:r>
          </a:p>
          <a:p>
            <a:r>
              <a:t>Close on the two questions she hands the viewer: what did your work prove you can now do, and where else could that be useful?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4 of 5 — main slide 6.</a:t>
            </a:r>
          </a:p>
          <a:p>
            <a:r>
              <a:t>Timing: approximately 3:12.</a:t>
            </a:r>
          </a:p>
          <a:p>
            <a:r>
              <a:t>Reveal the four prompts one at a time as each is named.</a:t>
            </a:r>
          </a:p>
          <a:p>
            <a:r>
              <a:t>Note the direct-address framing in v3.0: Temidayo says "Say you tell me: 'I reduced the amount of time an internal process took.' That gives me an outcome." She is standing in as the listener across the table, and the example is then turned back on the viewer — "what you may have actually learned to do was…". Keep her on camera through that exchange so it reads as a conversation, not a case study.</a:t>
            </a:r>
          </a:p>
          <a:p>
            <a:r>
              <a:t>The example stays generic. No employer, client, system, metric or result.</a:t>
            </a:r>
          </a:p>
          <a:p>
            <a:r>
              <a:t>Close on the two questions she hands the viewer: what did your work prove you can now do, and where else could that be useful?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5 of 5 — main slide 6.</a:t>
            </a:r>
          </a:p>
          <a:p>
            <a:r>
              <a:t>Timing: approximately 3:12.</a:t>
            </a:r>
          </a:p>
          <a:p>
            <a:r>
              <a:t>Reveal the four prompts one at a time as each is named.</a:t>
            </a:r>
          </a:p>
          <a:p>
            <a:r>
              <a:t>Note the direct-address framing in v3.0: Temidayo says "Say you tell me: 'I reduced the amount of time an internal process took.' That gives me an outcome." She is standing in as the listener across the table, and the example is then turned back on the viewer — "what you may have actually learned to do was…". Keep her on camera through that exchange so it reads as a conversation, not a case study.</a:t>
            </a:r>
          </a:p>
          <a:p>
            <a:r>
              <a:t>The example stays generic. No employer, client, system, metric or result.</a:t>
            </a:r>
          </a:p>
          <a:p>
            <a:r>
              <a:t>Close on the two questions she hands the viewer: what did your work prove you can now do, and where else could that be useful?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7.</a:t>
            </a:r>
          </a:p>
          <a:p>
            <a:r>
              <a:t>Timing: approximately 4:23, holding to about 4:27.</a:t>
            </a:r>
          </a:p>
          <a:p>
            <a:r>
              <a:t>Section card. Hold briefly, then return to presenter.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4 — main slide 8.</a:t>
            </a:r>
          </a:p>
          <a:p>
            <a:r>
              <a:t>Timing: approximately 4:27.</a:t>
            </a:r>
          </a:p>
          <a:p>
            <a:r>
              <a:t>Reveal the two halves, then the three questions.</a:t>
            </a:r>
          </a:p>
          <a:p>
            <a:r>
              <a:t>The two kinds of reset both need room. A deliberate learning curve can be a very good decision; the risk is repeating the same work behind a new logo.</a:t>
            </a:r>
          </a:p>
          <a:p>
            <a:r>
              <a:t>"A new employer is not automatically a new direction for you." Let that land.</a:t>
            </a:r>
          </a:p>
          <a:p>
            <a:r>
              <a:t>Nothing here should read as discouragement from leaving.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4 — main slide 8.</a:t>
            </a:r>
          </a:p>
          <a:p>
            <a:r>
              <a:t>Timing: approximately 4:27.</a:t>
            </a:r>
          </a:p>
          <a:p>
            <a:r>
              <a:t>Reveal the two halves, then the three questions.</a:t>
            </a:r>
          </a:p>
          <a:p>
            <a:r>
              <a:t>The two kinds of reset both need room. A deliberate learning curve can be a very good decision; the risk is repeating the same work behind a new logo.</a:t>
            </a:r>
          </a:p>
          <a:p>
            <a:r>
              <a:t>"A new employer is not automatically a new direction for you." Let that land.</a:t>
            </a:r>
          </a:p>
          <a:p>
            <a:r>
              <a:t>Nothing here should read as discouragement from leaving.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4 — main slide 8.</a:t>
            </a:r>
          </a:p>
          <a:p>
            <a:r>
              <a:t>Timing: approximately 4:27.</a:t>
            </a:r>
          </a:p>
          <a:p>
            <a:r>
              <a:t>Reveal the two halves, then the three questions.</a:t>
            </a:r>
          </a:p>
          <a:p>
            <a:r>
              <a:t>The two kinds of reset both need room. A deliberate learning curve can be a very good decision; the risk is repeating the same work behind a new logo.</a:t>
            </a:r>
          </a:p>
          <a:p>
            <a:r>
              <a:t>"A new employer is not automatically a new direction for you." Let that land.</a:t>
            </a:r>
          </a:p>
          <a:p>
            <a:r>
              <a:t>Nothing here should read as discouragement from leaving.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4 of 4 — main slide 8.</a:t>
            </a:r>
          </a:p>
          <a:p>
            <a:r>
              <a:t>Timing: approximately 4:27.</a:t>
            </a:r>
          </a:p>
          <a:p>
            <a:r>
              <a:t>Reveal the two halves, then the three questions.</a:t>
            </a:r>
          </a:p>
          <a:p>
            <a:r>
              <a:t>The two kinds of reset both need room. A deliberate learning curve can be a very good decision; the risk is repeating the same work behind a new logo.</a:t>
            </a:r>
          </a:p>
          <a:p>
            <a:r>
              <a:t>"A new employer is not automatically a new direction for you." Let that land.</a:t>
            </a:r>
          </a:p>
          <a:p>
            <a:r>
              <a:t>Nothing here should read as discouragement from leaving.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9.</a:t>
            </a:r>
          </a:p>
          <a:p>
            <a:r>
              <a:t>Timing: approximately 5:32.</a:t>
            </a:r>
          </a:p>
          <a:p>
            <a:r>
              <a:t>The consolidation card. Reveal the three in order.</a:t>
            </a:r>
          </a:p>
          <a:p>
            <a:r>
              <a:t>"In that order. Not because leaving is wrong." That qualifier is load-bearing — this video is not three reasons to stay. Do not cut it.</a:t>
            </a:r>
          </a:p>
          <a:p>
            <a:r>
              <a:t>Do not add a fourth item, an acronym or a slogan. The three checks are the only memory device in this video.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3 — main slide 10.</a:t>
            </a:r>
          </a:p>
          <a:p>
            <a:r>
              <a:t>Timing: approximately 5:51.</a:t>
            </a:r>
          </a:p>
          <a:p>
            <a:r>
              <a:t>Reveal one direction at a time. Keep it provisional. Temidayo is not diagnosing the viewer and not telling them which direction is correct.</a:t>
            </a:r>
          </a:p>
          <a:p>
            <a:r>
              <a:t>Real constraints stay in: pay, benefits, caregiving and timing legitimately affect when someone moves.</a:t>
            </a:r>
          </a:p>
          <a:p>
            <a:r>
              <a:t>Say the line as written, in its v3.0 form: "I am not trying to make your decision slow. I am trying to make it legible to you."</a:t>
            </a:r>
          </a:p>
          <a:p>
            <a:r>
              <a:t>The safety boundary is repeated here, briefly and plainly: a harmful situation does not need a bridge plan. Do not cut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3 — main slide 10.</a:t>
            </a:r>
          </a:p>
          <a:p>
            <a:r>
              <a:t>Timing: approximately 5:51.</a:t>
            </a:r>
          </a:p>
          <a:p>
            <a:r>
              <a:t>Reveal one direction at a time. Keep it provisional. Temidayo is not diagnosing the viewer and not telling them which direction is correct.</a:t>
            </a:r>
          </a:p>
          <a:p>
            <a:r>
              <a:t>Real constraints stay in: pay, benefits, caregiving and timing legitimately affect when someone moves.</a:t>
            </a:r>
          </a:p>
          <a:p>
            <a:r>
              <a:t>Say the line as written, in its v3.0 form: "I am not trying to make your decision slow. I am trying to make it legible to you."</a:t>
            </a:r>
          </a:p>
          <a:p>
            <a:r>
              <a:t>The safety boundary is repeated here, briefly and plainly: a harmful situation does not need a bridge plan. Do not cut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3 — main slide 10.</a:t>
            </a:r>
          </a:p>
          <a:p>
            <a:r>
              <a:t>Timing: approximately 5:51.</a:t>
            </a:r>
          </a:p>
          <a:p>
            <a:r>
              <a:t>Reveal one direction at a time. Keep it provisional. Temidayo is not diagnosing the viewer and not telling them which direction is correct.</a:t>
            </a:r>
          </a:p>
          <a:p>
            <a:r>
              <a:t>Real constraints stay in: pay, benefits, caregiving and timing legitimately affect when someone moves.</a:t>
            </a:r>
          </a:p>
          <a:p>
            <a:r>
              <a:t>Say the line as written, in its v3.0 form: "I am not trying to make your decision slow. I am trying to make it legible to you."</a:t>
            </a:r>
          </a:p>
          <a:p>
            <a:r>
              <a:t>The safety boundary is repeated here, briefly and plainly: a harmful situation does not need a bridge plan. Do not cut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3 — main slide 11.</a:t>
            </a:r>
          </a:p>
          <a:p>
            <a:r>
              <a:t>Timing: approximately 7:07.</a:t>
            </a:r>
          </a:p>
          <a:p>
            <a:r>
              <a:t>Reveal the three questions one at a time.</a:t>
            </a:r>
          </a:p>
          <a:p>
            <a:r>
              <a:t>The instruction is concrete and directed at the viewer: do not keep the answers only in your head, write them down.</a:t>
            </a:r>
          </a:p>
          <a:p>
            <a:r>
              <a:t>Close on the three sentences she wants them to be able to say — what I handled, what I became able to do, what I need next. Stay on Temidayo for those.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3 — main slide 11.</a:t>
            </a:r>
          </a:p>
          <a:p>
            <a:r>
              <a:t>Timing: approximately 7:07.</a:t>
            </a:r>
          </a:p>
          <a:p>
            <a:r>
              <a:t>Reveal the three questions one at a time.</a:t>
            </a:r>
          </a:p>
          <a:p>
            <a:r>
              <a:t>The instruction is concrete and directed at the viewer: do not keep the answers only in your head, write them down.</a:t>
            </a:r>
          </a:p>
          <a:p>
            <a:r>
              <a:t>Close on the three sentences she wants them to be able to say — what I handled, what I became able to do, what I need next. Stay on Temidayo for those.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3 — main slide 11.</a:t>
            </a:r>
          </a:p>
          <a:p>
            <a:r>
              <a:t>Timing: approximately 7:07.</a:t>
            </a:r>
          </a:p>
          <a:p>
            <a:r>
              <a:t>Reveal the three questions one at a time.</a:t>
            </a:r>
          </a:p>
          <a:p>
            <a:r>
              <a:t>The instruction is concrete and directed at the viewer: do not keep the answers only in your head, write them down.</a:t>
            </a:r>
          </a:p>
          <a:p>
            <a:r>
              <a:t>Close on the three sentences she wants them to be able to say — what I handled, what I became able to do, what I need next. Stay on Temidayo for those.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12.</a:t>
            </a:r>
          </a:p>
          <a:p>
            <a:r>
              <a:t>Timing: approximately 7:50.</a:t>
            </a:r>
          </a:p>
          <a:p>
            <a:r>
              <a:t>Calm and brief. This is the only invitation in the video, and it is the Career Decision Evidence Check — not the Field Kit, not Keep the Proof, not the Career Evidence Starter.</a:t>
            </a:r>
          </a:p>
          <a:p>
            <a:r>
              <a:t>Note the v3.0 phrasing: "that is what I made the Career Decision Evidence Check for." It is offered, not announced. Keep it that way.</a:t>
            </a:r>
          </a:p>
          <a:p>
            <a:r>
              <a:t>CTA PRODUCTION GATE: SATISFIED. The page is live. One signed-out production check is still required before Video 3 is uploaded or scheduled: confirm it loads for a visitor who is not signed in and is not holding a preview link.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13.</a:t>
            </a:r>
          </a:p>
          <a:p>
            <a:r>
              <a:t>Timing: approximately 8:14 to the end, about 8:37.</a:t>
            </a:r>
          </a:p>
          <a:p>
            <a:r>
              <a:t>If the move changes role, function, employer or industry, this is the video that answers what carries across. The card reads "How to Change Jobs Without Starting Your Career Over", which is the locked Video 1 title and matches what Temidayo says.</a:t>
            </a:r>
          </a:p>
          <a:p>
            <a:r>
              <a:t>Closing line: "Because leaving one job should not require you to erase everything your work has already built in you."</a:t>
            </a:r>
          </a:p>
          <a:p>
            <a:r>
              <a:t>Do not summarize this video again.</a:t>
            </a:r>
          </a:p>
          <a:p>
            <a:r>
              <a:t>The right side of the frame is left open for the YouTube linked-video end-screen element. Hold the final frame for at least 12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933700"/>
            <a:ext cx="8890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VIDEO THREE  ·  CAPABILITY FORMATION</a:t>
            </a:r>
          </a:p>
        </p:txBody>
      </p:sp>
      <p:sp>
        <p:nvSpPr>
          <p:cNvPr id="9" name="TextBox 8"/>
          <p:cNvSpPr txBox="1"/>
          <p:nvPr/>
        </p:nvSpPr>
        <p:spPr>
          <a:xfrm>
            <a:off x="863600" y="3302000"/>
            <a:ext cx="9906000" cy="1270000"/>
          </a:xfrm>
          <a:prstGeom prst="rect">
            <a:avLst/>
          </a:prstGeom>
          <a:noFill/>
        </p:spPr>
        <p:txBody>
          <a:bodyPr wrap="square" lIns="0" rIns="0" tIns="0" bIns="0" anchor="t">
            <a:spAutoFit/>
          </a:bodyPr>
          <a:lstStyle/>
          <a:p>
            <a:pPr algn="l">
              <a:lnSpc>
                <a:spcPct val="108000"/>
              </a:lnSpc>
            </a:pPr>
            <a:r>
              <a:rPr sz="4800" b="1" i="0">
                <a:solidFill>
                  <a:srgbClr val="F5F1E8"/>
                </a:solidFill>
                <a:latin typeface="Montserrat"/>
                <a:ea typeface="Montserrat"/>
                <a:cs typeface="Montserrat"/>
              </a:rPr>
              <a:t>3 Things to Do</a:t>
            </a:r>
            <a:br/>
            <a:r>
              <a:rPr sz="4800" b="1" i="0">
                <a:solidFill>
                  <a:srgbClr val="F5F1E8"/>
                </a:solidFill>
                <a:latin typeface="Montserrat"/>
                <a:ea typeface="Montserrat"/>
                <a:cs typeface="Montserrat"/>
              </a:rPr>
              <a:t>Before Quitting</a:t>
            </a:r>
            <a:br/>
            <a:r>
              <a:rPr sz="4800" b="1" i="0">
                <a:solidFill>
                  <a:srgbClr val="F5F1E8"/>
                </a:solidFill>
                <a:latin typeface="Montserrat"/>
                <a:ea typeface="Montserrat"/>
                <a:cs typeface="Montserrat"/>
              </a:rPr>
              <a:t>Your Job</a:t>
            </a:r>
          </a:p>
        </p:txBody>
      </p:sp>
      <p:sp>
        <p:nvSpPr>
          <p:cNvPr id="10" name="Rectangle 9"/>
          <p:cNvSpPr/>
          <p:nvPr/>
        </p:nvSpPr>
        <p:spPr>
          <a:xfrm>
            <a:off x="863600" y="5651500"/>
            <a:ext cx="1397000" cy="381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3600" y="5905500"/>
            <a:ext cx="7620000" cy="1270000"/>
          </a:xfrm>
          <a:prstGeom prst="rect">
            <a:avLst/>
          </a:prstGeom>
          <a:noFill/>
        </p:spPr>
        <p:txBody>
          <a:bodyPr wrap="square" lIns="0" rIns="0" tIns="0" bIns="0" anchor="t">
            <a:spAutoFit/>
          </a:bodyPr>
          <a:lstStyle/>
          <a:p>
            <a:pPr algn="l">
              <a:lnSpc>
                <a:spcPct val="112000"/>
              </a:lnSpc>
            </a:pPr>
            <a:r>
              <a:rPr sz="1200" b="1" i="0" spc="200">
                <a:solidFill>
                  <a:srgbClr val="B9C3D2"/>
                </a:solidFill>
                <a:latin typeface="Montserrat"/>
                <a:ea typeface="Montserrat"/>
                <a:cs typeface="Montserrat"/>
              </a:rPr>
              <a:t>Temidayo Afonja  ·  temidayoafonja.com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BEFORE YOU RESIGN</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Once you leave,</a:t>
            </a:r>
            <a:br/>
            <a:r>
              <a:rPr sz="3000" b="1" i="0">
                <a:solidFill>
                  <a:srgbClr val="0F2346"/>
                </a:solidFill>
                <a:latin typeface="Montserrat"/>
                <a:ea typeface="Montserrat"/>
                <a:cs typeface="Montserrat"/>
              </a:rPr>
              <a:t>access changes.</a:t>
            </a:r>
          </a:p>
        </p:txBody>
      </p:sp>
      <p:sp>
        <p:nvSpPr>
          <p:cNvPr id="5" name="TextBox 4"/>
          <p:cNvSpPr txBox="1"/>
          <p:nvPr/>
        </p:nvSpPr>
        <p:spPr>
          <a:xfrm>
            <a:off x="762000" y="3251200"/>
            <a:ext cx="9906000" cy="1270000"/>
          </a:xfrm>
          <a:prstGeom prst="rect">
            <a:avLst/>
          </a:prstGeom>
          <a:noFill/>
        </p:spPr>
        <p:txBody>
          <a:bodyPr wrap="square" lIns="0" rIns="0" tIns="0" bIns="0" anchor="t">
            <a:spAutoFit/>
          </a:bodyPr>
          <a:lstStyle/>
          <a:p>
            <a:pPr algn="l">
              <a:lnSpc>
                <a:spcPct val="135000"/>
              </a:lnSpc>
            </a:pPr>
            <a:r>
              <a:rPr sz="1700" b="0" i="0">
                <a:solidFill>
                  <a:srgbClr val="5A6B82"/>
                </a:solidFill>
                <a:latin typeface="DM Sans"/>
                <a:ea typeface="DM Sans"/>
                <a:cs typeface="DM Sans"/>
              </a:rPr>
              <a:t>Evidence, systems and people can become harder to reach.</a:t>
            </a:r>
          </a:p>
        </p:txBody>
      </p:sp>
      <p:sp>
        <p:nvSpPr>
          <p:cNvPr id="6" name="Rectangle 5"/>
          <p:cNvSpPr/>
          <p:nvPr/>
        </p:nvSpPr>
        <p:spPr>
          <a:xfrm>
            <a:off x="762000" y="4191000"/>
            <a:ext cx="1143000" cy="254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4483100"/>
            <a:ext cx="9906000" cy="1270000"/>
          </a:xfrm>
          <a:prstGeom prst="rect">
            <a:avLst/>
          </a:prstGeom>
          <a:noFill/>
        </p:spPr>
        <p:txBody>
          <a:bodyPr wrap="square" lIns="0" rIns="0" tIns="0" bIns="0" anchor="t">
            <a:spAutoFit/>
          </a:bodyPr>
          <a:lstStyle/>
          <a:p>
            <a:pPr algn="l">
              <a:lnSpc>
                <a:spcPct val="138000"/>
              </a:lnSpc>
            </a:pPr>
            <a:r>
              <a:rPr sz="1500" b="1" i="0">
                <a:solidFill>
                  <a:srgbClr val="0F2346"/>
                </a:solidFill>
                <a:latin typeface="Montserrat"/>
                <a:ea typeface="Montserrat"/>
                <a:cs typeface="Montserrat"/>
              </a:rPr>
              <a:t>If your health or safety is at risk, or you are facing harassment or</a:t>
            </a:r>
            <a:br/>
            <a:r>
              <a:rPr sz="1500" b="1" i="0">
                <a:solidFill>
                  <a:srgbClr val="0F2346"/>
                </a:solidFill>
                <a:latin typeface="Montserrat"/>
                <a:ea typeface="Montserrat"/>
                <a:cs typeface="Montserrat"/>
              </a:rPr>
              <a:t>discrimination, this is not a reason to wait.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870200"/>
            <a:ext cx="8890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THREE CHECKS BEFORE YOU RESIGN</a:t>
            </a:r>
          </a:p>
        </p:txBody>
      </p:sp>
      <p:sp>
        <p:nvSpPr>
          <p:cNvPr id="4" name="TextBox 3"/>
          <p:cNvSpPr txBox="1"/>
          <p:nvPr/>
        </p:nvSpPr>
        <p:spPr>
          <a:xfrm>
            <a:off x="762000" y="3175000"/>
            <a:ext cx="2540000" cy="1270000"/>
          </a:xfrm>
          <a:prstGeom prst="rect">
            <a:avLst/>
          </a:prstGeom>
          <a:noFill/>
        </p:spPr>
        <p:txBody>
          <a:bodyPr wrap="square" lIns="0" rIns="0" tIns="0" bIns="0" anchor="t">
            <a:spAutoFit/>
          </a:bodyPr>
          <a:lstStyle/>
          <a:p>
            <a:pPr algn="l">
              <a:lnSpc>
                <a:spcPct val="100000"/>
              </a:lnSpc>
            </a:pPr>
            <a:r>
              <a:rPr sz="8000" b="1" i="0">
                <a:solidFill>
                  <a:srgbClr val="C9A84C"/>
                </a:solidFill>
                <a:latin typeface="Montserrat"/>
                <a:ea typeface="Montserrat"/>
                <a:cs typeface="Montserrat"/>
              </a:rPr>
              <a:t>01</a:t>
            </a:r>
          </a:p>
        </p:txBody>
      </p:sp>
      <p:sp>
        <p:nvSpPr>
          <p:cNvPr id="5" name="TextBox 4"/>
          <p:cNvSpPr txBox="1"/>
          <p:nvPr/>
        </p:nvSpPr>
        <p:spPr>
          <a:xfrm>
            <a:off x="762000" y="4381500"/>
            <a:ext cx="9525000" cy="1270000"/>
          </a:xfrm>
          <a:prstGeom prst="rect">
            <a:avLst/>
          </a:prstGeom>
          <a:noFill/>
        </p:spPr>
        <p:txBody>
          <a:bodyPr wrap="square" lIns="0" rIns="0" tIns="0" bIns="0" anchor="t">
            <a:spAutoFit/>
          </a:bodyPr>
          <a:lstStyle/>
          <a:p>
            <a:pPr algn="l">
              <a:lnSpc>
                <a:spcPct val="114000"/>
              </a:lnSpc>
            </a:pPr>
            <a:r>
              <a:rPr sz="3800" b="1" i="0">
                <a:solidFill>
                  <a:srgbClr val="0F2346"/>
                </a:solidFill>
                <a:latin typeface="Montserrat"/>
                <a:ea typeface="Montserrat"/>
                <a:cs typeface="Montserrat"/>
              </a:rPr>
              <a:t>Preserve the</a:t>
            </a:r>
            <a:br/>
            <a:r>
              <a:rPr sz="3800" b="1" i="0">
                <a:solidFill>
                  <a:srgbClr val="0F2346"/>
                </a:solidFill>
                <a:latin typeface="Montserrat"/>
                <a:ea typeface="Montserrat"/>
                <a:cs typeface="Montserrat"/>
              </a:rPr>
              <a:t>evidence</a:t>
            </a:r>
          </a:p>
        </p:txBody>
      </p:sp>
      <p:sp>
        <p:nvSpPr>
          <p:cNvPr id="6" name="TextBox 5"/>
          <p:cNvSpPr txBox="1"/>
          <p:nvPr/>
        </p:nvSpPr>
        <p:spPr>
          <a:xfrm>
            <a:off x="762000" y="5715000"/>
            <a:ext cx="9525000" cy="1270000"/>
          </a:xfrm>
          <a:prstGeom prst="rect">
            <a:avLst/>
          </a:prstGeom>
          <a:noFill/>
        </p:spPr>
        <p:txBody>
          <a:bodyPr wrap="square" lIns="0" rIns="0" tIns="0" bIns="0" anchor="t">
            <a:spAutoFit/>
          </a:bodyPr>
          <a:lstStyle/>
          <a:p>
            <a:pPr algn="l">
              <a:lnSpc>
                <a:spcPct val="130000"/>
              </a:lnSpc>
            </a:pPr>
            <a:r>
              <a:rPr sz="1500" b="0" i="0">
                <a:solidFill>
                  <a:srgbClr val="5A6B82"/>
                </a:solidFill>
                <a:latin typeface="DM Sans"/>
                <a:ea typeface="DM Sans"/>
                <a:cs typeface="DM Sans"/>
              </a:rPr>
              <a:t>Keep what is yours to keep.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ONE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Preserve the evidence.</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Keep only what you are entitled to keep.</a:t>
            </a:r>
          </a:p>
        </p:txBody>
      </p:sp>
      <p:sp>
        <p:nvSpPr>
          <p:cNvPr id="6" name="Rectangle 5"/>
          <p:cNvSpPr/>
          <p:nvPr/>
        </p:nvSpPr>
        <p:spPr>
          <a:xfrm>
            <a:off x="762000" y="3149600"/>
            <a:ext cx="5207000" cy="31115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149600"/>
            <a:ext cx="5207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429000"/>
            <a:ext cx="4699000" cy="1270000"/>
          </a:xfrm>
          <a:prstGeom prst="rect">
            <a:avLst/>
          </a:prstGeom>
          <a:noFill/>
        </p:spPr>
        <p:txBody>
          <a:bodyPr wrap="square" lIns="0" rIns="0" tIns="0" bIns="0" anchor="t">
            <a:spAutoFit/>
          </a:bodyPr>
          <a:lstStyle/>
          <a:p>
            <a:pPr algn="l">
              <a:lnSpc>
                <a:spcPct val="112000"/>
              </a:lnSpc>
            </a:pPr>
            <a:r>
              <a:rPr sz="1200" b="1" i="0" spc="200">
                <a:solidFill>
                  <a:srgbClr val="C9A84C"/>
                </a:solidFill>
                <a:latin typeface="Montserrat"/>
                <a:ea typeface="Montserrat"/>
                <a:cs typeface="Montserrat"/>
              </a:rPr>
              <a:t>Yours to keep</a:t>
            </a:r>
          </a:p>
        </p:txBody>
      </p:sp>
      <p:sp>
        <p:nvSpPr>
          <p:cNvPr id="9" name="TextBox 8"/>
          <p:cNvSpPr txBox="1"/>
          <p:nvPr/>
        </p:nvSpPr>
        <p:spPr>
          <a:xfrm>
            <a:off x="1041400" y="3784600"/>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Your own performance reviews</a:t>
            </a:r>
          </a:p>
        </p:txBody>
      </p:sp>
      <p:sp>
        <p:nvSpPr>
          <p:cNvPr id="10" name="TextBox 9"/>
          <p:cNvSpPr txBox="1"/>
          <p:nvPr/>
        </p:nvSpPr>
        <p:spPr>
          <a:xfrm>
            <a:off x="1041400" y="4086098"/>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Recognition you received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ONE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Preserve the evidence.</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Keep only what you are entitled to keep.</a:t>
            </a:r>
          </a:p>
        </p:txBody>
      </p:sp>
      <p:sp>
        <p:nvSpPr>
          <p:cNvPr id="6" name="Rectangle 5"/>
          <p:cNvSpPr/>
          <p:nvPr/>
        </p:nvSpPr>
        <p:spPr>
          <a:xfrm>
            <a:off x="762000" y="3149600"/>
            <a:ext cx="5207000" cy="31115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149600"/>
            <a:ext cx="5207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429000"/>
            <a:ext cx="4699000" cy="1270000"/>
          </a:xfrm>
          <a:prstGeom prst="rect">
            <a:avLst/>
          </a:prstGeom>
          <a:noFill/>
        </p:spPr>
        <p:txBody>
          <a:bodyPr wrap="square" lIns="0" rIns="0" tIns="0" bIns="0" anchor="t">
            <a:spAutoFit/>
          </a:bodyPr>
          <a:lstStyle/>
          <a:p>
            <a:pPr algn="l">
              <a:lnSpc>
                <a:spcPct val="112000"/>
              </a:lnSpc>
            </a:pPr>
            <a:r>
              <a:rPr sz="1200" b="1" i="0" spc="200">
                <a:solidFill>
                  <a:srgbClr val="C9A84C"/>
                </a:solidFill>
                <a:latin typeface="Montserrat"/>
                <a:ea typeface="Montserrat"/>
                <a:cs typeface="Montserrat"/>
              </a:rPr>
              <a:t>Yours to keep</a:t>
            </a:r>
          </a:p>
        </p:txBody>
      </p:sp>
      <p:sp>
        <p:nvSpPr>
          <p:cNvPr id="9" name="TextBox 8"/>
          <p:cNvSpPr txBox="1"/>
          <p:nvPr/>
        </p:nvSpPr>
        <p:spPr>
          <a:xfrm>
            <a:off x="1041400" y="3784600"/>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Your own performance reviews</a:t>
            </a:r>
          </a:p>
        </p:txBody>
      </p:sp>
      <p:sp>
        <p:nvSpPr>
          <p:cNvPr id="10" name="TextBox 9"/>
          <p:cNvSpPr txBox="1"/>
          <p:nvPr/>
        </p:nvSpPr>
        <p:spPr>
          <a:xfrm>
            <a:off x="1041400" y="4086098"/>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Recognition you received</a:t>
            </a:r>
          </a:p>
        </p:txBody>
      </p:sp>
      <p:sp>
        <p:nvSpPr>
          <p:cNvPr id="11" name="TextBox 10"/>
          <p:cNvSpPr txBox="1"/>
          <p:nvPr/>
        </p:nvSpPr>
        <p:spPr>
          <a:xfrm>
            <a:off x="1041400" y="4387596"/>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Nonconfidential metrics already</a:t>
            </a:r>
            <a:br/>
            <a:r>
              <a:rPr sz="1350" b="1" i="0">
                <a:solidFill>
                  <a:srgbClr val="0F2346"/>
                </a:solidFill>
                <a:latin typeface="Montserrat"/>
                <a:ea typeface="Montserrat"/>
                <a:cs typeface="Montserrat"/>
              </a:rPr>
              <a:t>shared with you</a:t>
            </a:r>
          </a:p>
        </p:txBody>
      </p:sp>
      <p:sp>
        <p:nvSpPr>
          <p:cNvPr id="12" name="TextBox 11"/>
          <p:cNvSpPr txBox="1"/>
          <p:nvPr/>
        </p:nvSpPr>
        <p:spPr>
          <a:xfrm>
            <a:off x="1041400" y="4901692"/>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Project dates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ONE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Preserve the evidence.</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Keep only what you are entitled to keep.</a:t>
            </a:r>
          </a:p>
        </p:txBody>
      </p:sp>
      <p:sp>
        <p:nvSpPr>
          <p:cNvPr id="6" name="Rectangle 5"/>
          <p:cNvSpPr/>
          <p:nvPr/>
        </p:nvSpPr>
        <p:spPr>
          <a:xfrm>
            <a:off x="762000" y="3149600"/>
            <a:ext cx="5207000" cy="31115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149600"/>
            <a:ext cx="5207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429000"/>
            <a:ext cx="4699000" cy="1270000"/>
          </a:xfrm>
          <a:prstGeom prst="rect">
            <a:avLst/>
          </a:prstGeom>
          <a:noFill/>
        </p:spPr>
        <p:txBody>
          <a:bodyPr wrap="square" lIns="0" rIns="0" tIns="0" bIns="0" anchor="t">
            <a:spAutoFit/>
          </a:bodyPr>
          <a:lstStyle/>
          <a:p>
            <a:pPr algn="l">
              <a:lnSpc>
                <a:spcPct val="112000"/>
              </a:lnSpc>
            </a:pPr>
            <a:r>
              <a:rPr sz="1200" b="1" i="0" spc="200">
                <a:solidFill>
                  <a:srgbClr val="C9A84C"/>
                </a:solidFill>
                <a:latin typeface="Montserrat"/>
                <a:ea typeface="Montserrat"/>
                <a:cs typeface="Montserrat"/>
              </a:rPr>
              <a:t>Yours to keep</a:t>
            </a:r>
          </a:p>
        </p:txBody>
      </p:sp>
      <p:sp>
        <p:nvSpPr>
          <p:cNvPr id="9" name="TextBox 8"/>
          <p:cNvSpPr txBox="1"/>
          <p:nvPr/>
        </p:nvSpPr>
        <p:spPr>
          <a:xfrm>
            <a:off x="1041400" y="3784600"/>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Your own performance reviews</a:t>
            </a:r>
          </a:p>
        </p:txBody>
      </p:sp>
      <p:sp>
        <p:nvSpPr>
          <p:cNvPr id="10" name="TextBox 9"/>
          <p:cNvSpPr txBox="1"/>
          <p:nvPr/>
        </p:nvSpPr>
        <p:spPr>
          <a:xfrm>
            <a:off x="1041400" y="4086098"/>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Recognition you received</a:t>
            </a:r>
          </a:p>
        </p:txBody>
      </p:sp>
      <p:sp>
        <p:nvSpPr>
          <p:cNvPr id="11" name="TextBox 10"/>
          <p:cNvSpPr txBox="1"/>
          <p:nvPr/>
        </p:nvSpPr>
        <p:spPr>
          <a:xfrm>
            <a:off x="1041400" y="4387596"/>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Nonconfidential metrics already</a:t>
            </a:r>
            <a:br/>
            <a:r>
              <a:rPr sz="1350" b="1" i="0">
                <a:solidFill>
                  <a:srgbClr val="0F2346"/>
                </a:solidFill>
                <a:latin typeface="Montserrat"/>
                <a:ea typeface="Montserrat"/>
                <a:cs typeface="Montserrat"/>
              </a:rPr>
              <a:t>shared with you</a:t>
            </a:r>
          </a:p>
        </p:txBody>
      </p:sp>
      <p:sp>
        <p:nvSpPr>
          <p:cNvPr id="12" name="TextBox 11"/>
          <p:cNvSpPr txBox="1"/>
          <p:nvPr/>
        </p:nvSpPr>
        <p:spPr>
          <a:xfrm>
            <a:off x="1041400" y="4901692"/>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Project dates</a:t>
            </a:r>
          </a:p>
        </p:txBody>
      </p:sp>
      <p:sp>
        <p:nvSpPr>
          <p:cNvPr id="13" name="TextBox 12"/>
          <p:cNvSpPr txBox="1"/>
          <p:nvPr/>
        </p:nvSpPr>
        <p:spPr>
          <a:xfrm>
            <a:off x="1041400" y="5203190"/>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Scope of responsibility</a:t>
            </a:r>
          </a:p>
        </p:txBody>
      </p:sp>
      <p:sp>
        <p:nvSpPr>
          <p:cNvPr id="14" name="TextBox 13"/>
          <p:cNvSpPr txBox="1"/>
          <p:nvPr/>
        </p:nvSpPr>
        <p:spPr>
          <a:xfrm>
            <a:off x="1041400" y="5504688"/>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Permitted notes on decisions or</a:t>
            </a:r>
            <a:br/>
            <a:r>
              <a:rPr sz="1350" b="1" i="0">
                <a:solidFill>
                  <a:srgbClr val="0F2346"/>
                </a:solidFill>
                <a:latin typeface="Montserrat"/>
                <a:ea typeface="Montserrat"/>
                <a:cs typeface="Montserrat"/>
              </a:rPr>
              <a:t>problems you helped resolve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ONE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Preserve the evidence.</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Keep only what you are entitled to keep.</a:t>
            </a:r>
          </a:p>
        </p:txBody>
      </p:sp>
      <p:sp>
        <p:nvSpPr>
          <p:cNvPr id="6" name="Rectangle 5"/>
          <p:cNvSpPr/>
          <p:nvPr/>
        </p:nvSpPr>
        <p:spPr>
          <a:xfrm>
            <a:off x="762000" y="3149600"/>
            <a:ext cx="5207000" cy="31115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149600"/>
            <a:ext cx="5207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429000"/>
            <a:ext cx="4699000" cy="1270000"/>
          </a:xfrm>
          <a:prstGeom prst="rect">
            <a:avLst/>
          </a:prstGeom>
          <a:noFill/>
        </p:spPr>
        <p:txBody>
          <a:bodyPr wrap="square" lIns="0" rIns="0" tIns="0" bIns="0" anchor="t">
            <a:spAutoFit/>
          </a:bodyPr>
          <a:lstStyle/>
          <a:p>
            <a:pPr algn="l">
              <a:lnSpc>
                <a:spcPct val="112000"/>
              </a:lnSpc>
            </a:pPr>
            <a:r>
              <a:rPr sz="1200" b="1" i="0" spc="200">
                <a:solidFill>
                  <a:srgbClr val="C9A84C"/>
                </a:solidFill>
                <a:latin typeface="Montserrat"/>
                <a:ea typeface="Montserrat"/>
                <a:cs typeface="Montserrat"/>
              </a:rPr>
              <a:t>Yours to keep</a:t>
            </a:r>
          </a:p>
        </p:txBody>
      </p:sp>
      <p:sp>
        <p:nvSpPr>
          <p:cNvPr id="9" name="TextBox 8"/>
          <p:cNvSpPr txBox="1"/>
          <p:nvPr/>
        </p:nvSpPr>
        <p:spPr>
          <a:xfrm>
            <a:off x="1041400" y="3784600"/>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Your own performance reviews</a:t>
            </a:r>
          </a:p>
        </p:txBody>
      </p:sp>
      <p:sp>
        <p:nvSpPr>
          <p:cNvPr id="10" name="TextBox 9"/>
          <p:cNvSpPr txBox="1"/>
          <p:nvPr/>
        </p:nvSpPr>
        <p:spPr>
          <a:xfrm>
            <a:off x="1041400" y="4086098"/>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Recognition you received</a:t>
            </a:r>
          </a:p>
        </p:txBody>
      </p:sp>
      <p:sp>
        <p:nvSpPr>
          <p:cNvPr id="11" name="TextBox 10"/>
          <p:cNvSpPr txBox="1"/>
          <p:nvPr/>
        </p:nvSpPr>
        <p:spPr>
          <a:xfrm>
            <a:off x="1041400" y="4387596"/>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Nonconfidential metrics already</a:t>
            </a:r>
            <a:br/>
            <a:r>
              <a:rPr sz="1350" b="1" i="0">
                <a:solidFill>
                  <a:srgbClr val="0F2346"/>
                </a:solidFill>
                <a:latin typeface="Montserrat"/>
                <a:ea typeface="Montserrat"/>
                <a:cs typeface="Montserrat"/>
              </a:rPr>
              <a:t>shared with you</a:t>
            </a:r>
          </a:p>
        </p:txBody>
      </p:sp>
      <p:sp>
        <p:nvSpPr>
          <p:cNvPr id="12" name="TextBox 11"/>
          <p:cNvSpPr txBox="1"/>
          <p:nvPr/>
        </p:nvSpPr>
        <p:spPr>
          <a:xfrm>
            <a:off x="1041400" y="4901692"/>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Project dates</a:t>
            </a:r>
          </a:p>
        </p:txBody>
      </p:sp>
      <p:sp>
        <p:nvSpPr>
          <p:cNvPr id="13" name="TextBox 12"/>
          <p:cNvSpPr txBox="1"/>
          <p:nvPr/>
        </p:nvSpPr>
        <p:spPr>
          <a:xfrm>
            <a:off x="1041400" y="5203190"/>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Scope of responsibility</a:t>
            </a:r>
          </a:p>
        </p:txBody>
      </p:sp>
      <p:sp>
        <p:nvSpPr>
          <p:cNvPr id="14" name="TextBox 13"/>
          <p:cNvSpPr txBox="1"/>
          <p:nvPr/>
        </p:nvSpPr>
        <p:spPr>
          <a:xfrm>
            <a:off x="1041400" y="5504688"/>
            <a:ext cx="4699000" cy="1270000"/>
          </a:xfrm>
          <a:prstGeom prst="rect">
            <a:avLst/>
          </a:prstGeom>
          <a:noFill/>
        </p:spPr>
        <p:txBody>
          <a:bodyPr wrap="square" lIns="0" rIns="0" tIns="0" bIns="0" anchor="t">
            <a:spAutoFit/>
          </a:bodyPr>
          <a:lstStyle/>
          <a:p>
            <a:pPr algn="l">
              <a:lnSpc>
                <a:spcPct val="124000"/>
              </a:lnSpc>
            </a:pPr>
            <a:r>
              <a:rPr sz="1350" b="1" i="0">
                <a:solidFill>
                  <a:srgbClr val="0F2346"/>
                </a:solidFill>
                <a:latin typeface="Montserrat"/>
                <a:ea typeface="Montserrat"/>
                <a:cs typeface="Montserrat"/>
              </a:rPr>
              <a:t>Permitted notes on decisions or</a:t>
            </a:r>
            <a:br/>
            <a:r>
              <a:rPr sz="1350" b="1" i="0">
                <a:solidFill>
                  <a:srgbClr val="0F2346"/>
                </a:solidFill>
                <a:latin typeface="Montserrat"/>
                <a:ea typeface="Montserrat"/>
                <a:cs typeface="Montserrat"/>
              </a:rPr>
              <a:t>problems you helped resolve</a:t>
            </a:r>
          </a:p>
        </p:txBody>
      </p:sp>
      <p:sp>
        <p:nvSpPr>
          <p:cNvPr id="15" name="Rectangle 14"/>
          <p:cNvSpPr/>
          <p:nvPr/>
        </p:nvSpPr>
        <p:spPr>
          <a:xfrm>
            <a:off x="6223000" y="3149600"/>
            <a:ext cx="5207000" cy="31115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3000" y="3149600"/>
            <a:ext cx="5207000" cy="508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02400" y="3429000"/>
            <a:ext cx="4699000" cy="1270000"/>
          </a:xfrm>
          <a:prstGeom prst="rect">
            <a:avLst/>
          </a:prstGeom>
          <a:noFill/>
        </p:spPr>
        <p:txBody>
          <a:bodyPr wrap="square" lIns="0" rIns="0" tIns="0" bIns="0" anchor="t">
            <a:spAutoFit/>
          </a:bodyPr>
          <a:lstStyle/>
          <a:p>
            <a:pPr algn="l">
              <a:lnSpc>
                <a:spcPct val="112000"/>
              </a:lnSpc>
            </a:pPr>
            <a:r>
              <a:rPr sz="1200" b="1" i="0" spc="200">
                <a:solidFill>
                  <a:srgbClr val="C1440E"/>
                </a:solidFill>
                <a:latin typeface="Montserrat"/>
                <a:ea typeface="Montserrat"/>
                <a:cs typeface="Montserrat"/>
              </a:rPr>
              <a:t>Not yours to take</a:t>
            </a:r>
          </a:p>
        </p:txBody>
      </p:sp>
      <p:sp>
        <p:nvSpPr>
          <p:cNvPr id="18" name="TextBox 17"/>
          <p:cNvSpPr txBox="1"/>
          <p:nvPr/>
        </p:nvSpPr>
        <p:spPr>
          <a:xfrm>
            <a:off x="6502400" y="3784600"/>
            <a:ext cx="4699000" cy="1270000"/>
          </a:xfrm>
          <a:prstGeom prst="rect">
            <a:avLst/>
          </a:prstGeom>
          <a:noFill/>
        </p:spPr>
        <p:txBody>
          <a:bodyPr wrap="square" lIns="0" rIns="0" tIns="0" bIns="0" anchor="t">
            <a:spAutoFit/>
          </a:bodyPr>
          <a:lstStyle/>
          <a:p>
            <a:pPr algn="l">
              <a:lnSpc>
                <a:spcPct val="124000"/>
              </a:lnSpc>
            </a:pPr>
            <a:r>
              <a:rPr sz="1350" b="1" i="0">
                <a:solidFill>
                  <a:srgbClr val="5A6B82"/>
                </a:solidFill>
                <a:latin typeface="Montserrat"/>
                <a:ea typeface="Montserrat"/>
                <a:cs typeface="Montserrat"/>
              </a:rPr>
              <a:t>Confidential information</a:t>
            </a:r>
          </a:p>
        </p:txBody>
      </p:sp>
      <p:sp>
        <p:nvSpPr>
          <p:cNvPr id="19" name="TextBox 18"/>
          <p:cNvSpPr txBox="1"/>
          <p:nvPr/>
        </p:nvSpPr>
        <p:spPr>
          <a:xfrm>
            <a:off x="6502400" y="4086098"/>
            <a:ext cx="4699000" cy="1270000"/>
          </a:xfrm>
          <a:prstGeom prst="rect">
            <a:avLst/>
          </a:prstGeom>
          <a:noFill/>
        </p:spPr>
        <p:txBody>
          <a:bodyPr wrap="square" lIns="0" rIns="0" tIns="0" bIns="0" anchor="t">
            <a:spAutoFit/>
          </a:bodyPr>
          <a:lstStyle/>
          <a:p>
            <a:pPr algn="l">
              <a:lnSpc>
                <a:spcPct val="124000"/>
              </a:lnSpc>
            </a:pPr>
            <a:r>
              <a:rPr sz="1350" b="1" i="0">
                <a:solidFill>
                  <a:srgbClr val="5A6B82"/>
                </a:solidFill>
                <a:latin typeface="Montserrat"/>
                <a:ea typeface="Montserrat"/>
                <a:cs typeface="Montserrat"/>
              </a:rPr>
              <a:t>Customer data</a:t>
            </a:r>
          </a:p>
        </p:txBody>
      </p:sp>
      <p:sp>
        <p:nvSpPr>
          <p:cNvPr id="20" name="TextBox 19"/>
          <p:cNvSpPr txBox="1"/>
          <p:nvPr/>
        </p:nvSpPr>
        <p:spPr>
          <a:xfrm>
            <a:off x="6502400" y="4387596"/>
            <a:ext cx="4699000" cy="1270000"/>
          </a:xfrm>
          <a:prstGeom prst="rect">
            <a:avLst/>
          </a:prstGeom>
          <a:noFill/>
        </p:spPr>
        <p:txBody>
          <a:bodyPr wrap="square" lIns="0" rIns="0" tIns="0" bIns="0" anchor="t">
            <a:spAutoFit/>
          </a:bodyPr>
          <a:lstStyle/>
          <a:p>
            <a:pPr algn="l">
              <a:lnSpc>
                <a:spcPct val="124000"/>
              </a:lnSpc>
            </a:pPr>
            <a:r>
              <a:rPr sz="1350" b="1" i="0">
                <a:solidFill>
                  <a:srgbClr val="5A6B82"/>
                </a:solidFill>
                <a:latin typeface="Montserrat"/>
                <a:ea typeface="Montserrat"/>
                <a:cs typeface="Montserrat"/>
              </a:rPr>
              <a:t>Employee data</a:t>
            </a:r>
          </a:p>
        </p:txBody>
      </p:sp>
      <p:sp>
        <p:nvSpPr>
          <p:cNvPr id="21" name="TextBox 20"/>
          <p:cNvSpPr txBox="1"/>
          <p:nvPr/>
        </p:nvSpPr>
        <p:spPr>
          <a:xfrm>
            <a:off x="6502400" y="4689094"/>
            <a:ext cx="4699000" cy="1270000"/>
          </a:xfrm>
          <a:prstGeom prst="rect">
            <a:avLst/>
          </a:prstGeom>
          <a:noFill/>
        </p:spPr>
        <p:txBody>
          <a:bodyPr wrap="square" lIns="0" rIns="0" tIns="0" bIns="0" anchor="t">
            <a:spAutoFit/>
          </a:bodyPr>
          <a:lstStyle/>
          <a:p>
            <a:pPr algn="l">
              <a:lnSpc>
                <a:spcPct val="124000"/>
              </a:lnSpc>
            </a:pPr>
            <a:r>
              <a:rPr sz="1350" b="1" i="0">
                <a:solidFill>
                  <a:srgbClr val="5A6B82"/>
                </a:solidFill>
                <a:latin typeface="Montserrat"/>
                <a:ea typeface="Montserrat"/>
                <a:cs typeface="Montserrat"/>
              </a:rPr>
              <a:t>Proprietary documents</a:t>
            </a:r>
          </a:p>
        </p:txBody>
      </p:sp>
      <p:sp>
        <p:nvSpPr>
          <p:cNvPr id="22" name="TextBox 21"/>
          <p:cNvSpPr txBox="1"/>
          <p:nvPr/>
        </p:nvSpPr>
        <p:spPr>
          <a:xfrm>
            <a:off x="6502400" y="4990592"/>
            <a:ext cx="4699000" cy="1270000"/>
          </a:xfrm>
          <a:prstGeom prst="rect">
            <a:avLst/>
          </a:prstGeom>
          <a:noFill/>
        </p:spPr>
        <p:txBody>
          <a:bodyPr wrap="square" lIns="0" rIns="0" tIns="0" bIns="0" anchor="t">
            <a:spAutoFit/>
          </a:bodyPr>
          <a:lstStyle/>
          <a:p>
            <a:pPr algn="l">
              <a:lnSpc>
                <a:spcPct val="124000"/>
              </a:lnSpc>
            </a:pPr>
            <a:r>
              <a:rPr sz="1350" b="1" i="0">
                <a:solidFill>
                  <a:srgbClr val="5A6B82"/>
                </a:solidFill>
                <a:latin typeface="Montserrat"/>
                <a:ea typeface="Montserrat"/>
                <a:cs typeface="Montserrat"/>
              </a:rPr>
              <a:t>Anything employer-owned you have</a:t>
            </a:r>
            <a:br/>
            <a:r>
              <a:rPr sz="1350" b="1" i="0">
                <a:solidFill>
                  <a:srgbClr val="5A6B82"/>
                </a:solidFill>
                <a:latin typeface="Montserrat"/>
                <a:ea typeface="Montserrat"/>
                <a:cs typeface="Montserrat"/>
              </a:rPr>
              <a:t>no right to keep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870200"/>
            <a:ext cx="8890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THREE CHECKS BEFORE YOU RESIGN</a:t>
            </a:r>
          </a:p>
        </p:txBody>
      </p:sp>
      <p:sp>
        <p:nvSpPr>
          <p:cNvPr id="4" name="TextBox 3"/>
          <p:cNvSpPr txBox="1"/>
          <p:nvPr/>
        </p:nvSpPr>
        <p:spPr>
          <a:xfrm>
            <a:off x="762000" y="3175000"/>
            <a:ext cx="2540000" cy="1270000"/>
          </a:xfrm>
          <a:prstGeom prst="rect">
            <a:avLst/>
          </a:prstGeom>
          <a:noFill/>
        </p:spPr>
        <p:txBody>
          <a:bodyPr wrap="square" lIns="0" rIns="0" tIns="0" bIns="0" anchor="t">
            <a:spAutoFit/>
          </a:bodyPr>
          <a:lstStyle/>
          <a:p>
            <a:pPr algn="l">
              <a:lnSpc>
                <a:spcPct val="100000"/>
              </a:lnSpc>
            </a:pPr>
            <a:r>
              <a:rPr sz="8000" b="1" i="0">
                <a:solidFill>
                  <a:srgbClr val="C9A84C"/>
                </a:solidFill>
                <a:latin typeface="Montserrat"/>
                <a:ea typeface="Montserrat"/>
                <a:cs typeface="Montserrat"/>
              </a:rPr>
              <a:t>02</a:t>
            </a:r>
          </a:p>
        </p:txBody>
      </p:sp>
      <p:sp>
        <p:nvSpPr>
          <p:cNvPr id="5" name="TextBox 4"/>
          <p:cNvSpPr txBox="1"/>
          <p:nvPr/>
        </p:nvSpPr>
        <p:spPr>
          <a:xfrm>
            <a:off x="762000" y="4381500"/>
            <a:ext cx="9525000" cy="1270000"/>
          </a:xfrm>
          <a:prstGeom prst="rect">
            <a:avLst/>
          </a:prstGeom>
          <a:noFill/>
        </p:spPr>
        <p:txBody>
          <a:bodyPr wrap="square" lIns="0" rIns="0" tIns="0" bIns="0" anchor="t">
            <a:spAutoFit/>
          </a:bodyPr>
          <a:lstStyle/>
          <a:p>
            <a:pPr algn="l">
              <a:lnSpc>
                <a:spcPct val="114000"/>
              </a:lnSpc>
            </a:pPr>
            <a:r>
              <a:rPr sz="3800" b="1" i="0">
                <a:solidFill>
                  <a:srgbClr val="0F2346"/>
                </a:solidFill>
                <a:latin typeface="Montserrat"/>
                <a:ea typeface="Montserrat"/>
                <a:cs typeface="Montserrat"/>
              </a:rPr>
              <a:t>Name what</a:t>
            </a:r>
            <a:br/>
            <a:r>
              <a:rPr sz="3800" b="1" i="0">
                <a:solidFill>
                  <a:srgbClr val="0F2346"/>
                </a:solidFill>
                <a:latin typeface="Montserrat"/>
                <a:ea typeface="Montserrat"/>
                <a:cs typeface="Montserrat"/>
              </a:rPr>
              <a:t>the work built</a:t>
            </a:r>
          </a:p>
        </p:txBody>
      </p:sp>
      <p:sp>
        <p:nvSpPr>
          <p:cNvPr id="6" name="TextBox 5"/>
          <p:cNvSpPr txBox="1"/>
          <p:nvPr/>
        </p:nvSpPr>
        <p:spPr>
          <a:xfrm>
            <a:off x="762000" y="5715000"/>
            <a:ext cx="9525000" cy="1270000"/>
          </a:xfrm>
          <a:prstGeom prst="rect">
            <a:avLst/>
          </a:prstGeom>
          <a:noFill/>
        </p:spPr>
        <p:txBody>
          <a:bodyPr wrap="square" lIns="0" rIns="0" tIns="0" bIns="0" anchor="t">
            <a:spAutoFit/>
          </a:bodyPr>
          <a:lstStyle/>
          <a:p>
            <a:pPr algn="l">
              <a:lnSpc>
                <a:spcPct val="130000"/>
              </a:lnSpc>
            </a:pPr>
            <a:r>
              <a:rPr sz="1500" b="0" i="0">
                <a:solidFill>
                  <a:srgbClr val="5A6B82"/>
                </a:solidFill>
                <a:latin typeface="DM Sans"/>
                <a:ea typeface="DM Sans"/>
                <a:cs typeface="DM Sans"/>
              </a:rPr>
              <a:t>An achievement is useful when you understand what it proves.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TWO</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Name what the work built.</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A resume bullet does not automatically show what you can do.</a:t>
            </a:r>
          </a:p>
        </p:txBody>
      </p:sp>
      <p:sp>
        <p:nvSpPr>
          <p:cNvPr id="6" name="Rectangle 5"/>
          <p:cNvSpPr/>
          <p:nvPr/>
        </p:nvSpPr>
        <p:spPr>
          <a:xfrm>
            <a:off x="762000" y="3086100"/>
            <a:ext cx="10668000" cy="25146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086100"/>
            <a:ext cx="10668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3528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Problem</a:t>
            </a:r>
          </a:p>
        </p:txBody>
      </p:sp>
      <p:sp>
        <p:nvSpPr>
          <p:cNvPr id="9" name="TextBox 8"/>
          <p:cNvSpPr txBox="1"/>
          <p:nvPr/>
        </p:nvSpPr>
        <p:spPr>
          <a:xfrm>
            <a:off x="3175000" y="33147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problem was being solved?</a:t>
            </a:r>
          </a:p>
        </p:txBody>
      </p:sp>
      <p:sp>
        <p:nvSpPr>
          <p:cNvPr id="10" name="Rectangle 9"/>
          <p:cNvSpPr/>
          <p:nvPr/>
        </p:nvSpPr>
        <p:spPr>
          <a:xfrm>
            <a:off x="1041400" y="37465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TWO</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Name what the work built.</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A resume bullet does not automatically show what you can do.</a:t>
            </a:r>
          </a:p>
        </p:txBody>
      </p:sp>
      <p:sp>
        <p:nvSpPr>
          <p:cNvPr id="6" name="Rectangle 5"/>
          <p:cNvSpPr/>
          <p:nvPr/>
        </p:nvSpPr>
        <p:spPr>
          <a:xfrm>
            <a:off x="762000" y="3086100"/>
            <a:ext cx="10668000" cy="25146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086100"/>
            <a:ext cx="10668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3528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Problem</a:t>
            </a:r>
          </a:p>
        </p:txBody>
      </p:sp>
      <p:sp>
        <p:nvSpPr>
          <p:cNvPr id="9" name="TextBox 8"/>
          <p:cNvSpPr txBox="1"/>
          <p:nvPr/>
        </p:nvSpPr>
        <p:spPr>
          <a:xfrm>
            <a:off x="3175000" y="33147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problem was being solved?</a:t>
            </a:r>
          </a:p>
        </p:txBody>
      </p:sp>
      <p:sp>
        <p:nvSpPr>
          <p:cNvPr id="10" name="Rectangle 9"/>
          <p:cNvSpPr/>
          <p:nvPr/>
        </p:nvSpPr>
        <p:spPr>
          <a:xfrm>
            <a:off x="1041400" y="37465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1400" y="39243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Constraint</a:t>
            </a:r>
          </a:p>
        </p:txBody>
      </p:sp>
      <p:sp>
        <p:nvSpPr>
          <p:cNvPr id="12" name="TextBox 11"/>
          <p:cNvSpPr txBox="1"/>
          <p:nvPr/>
        </p:nvSpPr>
        <p:spPr>
          <a:xfrm>
            <a:off x="3175000" y="38862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made the situation difficult?</a:t>
            </a:r>
          </a:p>
        </p:txBody>
      </p:sp>
      <p:sp>
        <p:nvSpPr>
          <p:cNvPr id="13" name="Rectangle 12"/>
          <p:cNvSpPr/>
          <p:nvPr/>
        </p:nvSpPr>
        <p:spPr>
          <a:xfrm>
            <a:off x="1041400" y="43180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TWO</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Name what the work built.</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A resume bullet does not automatically show what you can do.</a:t>
            </a:r>
          </a:p>
        </p:txBody>
      </p:sp>
      <p:sp>
        <p:nvSpPr>
          <p:cNvPr id="6" name="Rectangle 5"/>
          <p:cNvSpPr/>
          <p:nvPr/>
        </p:nvSpPr>
        <p:spPr>
          <a:xfrm>
            <a:off x="762000" y="3086100"/>
            <a:ext cx="10668000" cy="25146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086100"/>
            <a:ext cx="10668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3528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Problem</a:t>
            </a:r>
          </a:p>
        </p:txBody>
      </p:sp>
      <p:sp>
        <p:nvSpPr>
          <p:cNvPr id="9" name="TextBox 8"/>
          <p:cNvSpPr txBox="1"/>
          <p:nvPr/>
        </p:nvSpPr>
        <p:spPr>
          <a:xfrm>
            <a:off x="3175000" y="33147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problem was being solved?</a:t>
            </a:r>
          </a:p>
        </p:txBody>
      </p:sp>
      <p:sp>
        <p:nvSpPr>
          <p:cNvPr id="10" name="Rectangle 9"/>
          <p:cNvSpPr/>
          <p:nvPr/>
        </p:nvSpPr>
        <p:spPr>
          <a:xfrm>
            <a:off x="1041400" y="37465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1400" y="39243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Constraint</a:t>
            </a:r>
          </a:p>
        </p:txBody>
      </p:sp>
      <p:sp>
        <p:nvSpPr>
          <p:cNvPr id="12" name="TextBox 11"/>
          <p:cNvSpPr txBox="1"/>
          <p:nvPr/>
        </p:nvSpPr>
        <p:spPr>
          <a:xfrm>
            <a:off x="3175000" y="38862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made the situation difficult?</a:t>
            </a:r>
          </a:p>
        </p:txBody>
      </p:sp>
      <p:sp>
        <p:nvSpPr>
          <p:cNvPr id="13" name="Rectangle 12"/>
          <p:cNvSpPr/>
          <p:nvPr/>
        </p:nvSpPr>
        <p:spPr>
          <a:xfrm>
            <a:off x="1041400" y="43180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1400" y="44958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Judgment</a:t>
            </a:r>
          </a:p>
        </p:txBody>
      </p:sp>
      <p:sp>
        <p:nvSpPr>
          <p:cNvPr id="15" name="TextBox 14"/>
          <p:cNvSpPr txBox="1"/>
          <p:nvPr/>
        </p:nvSpPr>
        <p:spPr>
          <a:xfrm>
            <a:off x="3175000" y="44577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did I notice, decide, interpret or influence?</a:t>
            </a:r>
          </a:p>
        </p:txBody>
      </p:sp>
      <p:sp>
        <p:nvSpPr>
          <p:cNvPr id="16" name="Rectangle 15"/>
          <p:cNvSpPr/>
          <p:nvPr/>
        </p:nvSpPr>
        <p:spPr>
          <a:xfrm>
            <a:off x="1041400" y="48895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TWO</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Name what the work built.</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A resume bullet does not automatically show what you can do.</a:t>
            </a:r>
          </a:p>
        </p:txBody>
      </p:sp>
      <p:sp>
        <p:nvSpPr>
          <p:cNvPr id="6" name="Rectangle 5"/>
          <p:cNvSpPr/>
          <p:nvPr/>
        </p:nvSpPr>
        <p:spPr>
          <a:xfrm>
            <a:off x="762000" y="3086100"/>
            <a:ext cx="10668000" cy="25146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086100"/>
            <a:ext cx="10668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3528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Problem</a:t>
            </a:r>
          </a:p>
        </p:txBody>
      </p:sp>
      <p:sp>
        <p:nvSpPr>
          <p:cNvPr id="9" name="TextBox 8"/>
          <p:cNvSpPr txBox="1"/>
          <p:nvPr/>
        </p:nvSpPr>
        <p:spPr>
          <a:xfrm>
            <a:off x="3175000" y="33147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problem was being solved?</a:t>
            </a:r>
          </a:p>
        </p:txBody>
      </p:sp>
      <p:sp>
        <p:nvSpPr>
          <p:cNvPr id="10" name="Rectangle 9"/>
          <p:cNvSpPr/>
          <p:nvPr/>
        </p:nvSpPr>
        <p:spPr>
          <a:xfrm>
            <a:off x="1041400" y="37465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1400" y="39243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Constraint</a:t>
            </a:r>
          </a:p>
        </p:txBody>
      </p:sp>
      <p:sp>
        <p:nvSpPr>
          <p:cNvPr id="12" name="TextBox 11"/>
          <p:cNvSpPr txBox="1"/>
          <p:nvPr/>
        </p:nvSpPr>
        <p:spPr>
          <a:xfrm>
            <a:off x="3175000" y="38862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made the situation difficult?</a:t>
            </a:r>
          </a:p>
        </p:txBody>
      </p:sp>
      <p:sp>
        <p:nvSpPr>
          <p:cNvPr id="13" name="Rectangle 12"/>
          <p:cNvSpPr/>
          <p:nvPr/>
        </p:nvSpPr>
        <p:spPr>
          <a:xfrm>
            <a:off x="1041400" y="43180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1400" y="44958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Judgment</a:t>
            </a:r>
          </a:p>
        </p:txBody>
      </p:sp>
      <p:sp>
        <p:nvSpPr>
          <p:cNvPr id="15" name="TextBox 14"/>
          <p:cNvSpPr txBox="1"/>
          <p:nvPr/>
        </p:nvSpPr>
        <p:spPr>
          <a:xfrm>
            <a:off x="3175000" y="44577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did I notice, decide, interpret or influence?</a:t>
            </a:r>
          </a:p>
        </p:txBody>
      </p:sp>
      <p:sp>
        <p:nvSpPr>
          <p:cNvPr id="16" name="Rectangle 15"/>
          <p:cNvSpPr/>
          <p:nvPr/>
        </p:nvSpPr>
        <p:spPr>
          <a:xfrm>
            <a:off x="1041400" y="48895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1400" y="50673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Outcome</a:t>
            </a:r>
          </a:p>
        </p:txBody>
      </p:sp>
      <p:sp>
        <p:nvSpPr>
          <p:cNvPr id="18" name="TextBox 17"/>
          <p:cNvSpPr txBox="1"/>
          <p:nvPr/>
        </p:nvSpPr>
        <p:spPr>
          <a:xfrm>
            <a:off x="3175000" y="50292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changed or was prevented?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TWO</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Name what the work built.</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A resume bullet does not automatically show what you can do.</a:t>
            </a:r>
          </a:p>
        </p:txBody>
      </p:sp>
      <p:sp>
        <p:nvSpPr>
          <p:cNvPr id="6" name="Rectangle 5"/>
          <p:cNvSpPr/>
          <p:nvPr/>
        </p:nvSpPr>
        <p:spPr>
          <a:xfrm>
            <a:off x="762000" y="3086100"/>
            <a:ext cx="10668000" cy="25146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086100"/>
            <a:ext cx="10668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3528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Problem</a:t>
            </a:r>
          </a:p>
        </p:txBody>
      </p:sp>
      <p:sp>
        <p:nvSpPr>
          <p:cNvPr id="9" name="TextBox 8"/>
          <p:cNvSpPr txBox="1"/>
          <p:nvPr/>
        </p:nvSpPr>
        <p:spPr>
          <a:xfrm>
            <a:off x="3175000" y="33147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problem was being solved?</a:t>
            </a:r>
          </a:p>
        </p:txBody>
      </p:sp>
      <p:sp>
        <p:nvSpPr>
          <p:cNvPr id="10" name="Rectangle 9"/>
          <p:cNvSpPr/>
          <p:nvPr/>
        </p:nvSpPr>
        <p:spPr>
          <a:xfrm>
            <a:off x="1041400" y="37465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1400" y="39243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Constraint</a:t>
            </a:r>
          </a:p>
        </p:txBody>
      </p:sp>
      <p:sp>
        <p:nvSpPr>
          <p:cNvPr id="12" name="TextBox 11"/>
          <p:cNvSpPr txBox="1"/>
          <p:nvPr/>
        </p:nvSpPr>
        <p:spPr>
          <a:xfrm>
            <a:off x="3175000" y="38862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made the situation difficult?</a:t>
            </a:r>
          </a:p>
        </p:txBody>
      </p:sp>
      <p:sp>
        <p:nvSpPr>
          <p:cNvPr id="13" name="Rectangle 12"/>
          <p:cNvSpPr/>
          <p:nvPr/>
        </p:nvSpPr>
        <p:spPr>
          <a:xfrm>
            <a:off x="1041400" y="43180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1400" y="44958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Judgment</a:t>
            </a:r>
          </a:p>
        </p:txBody>
      </p:sp>
      <p:sp>
        <p:nvSpPr>
          <p:cNvPr id="15" name="TextBox 14"/>
          <p:cNvSpPr txBox="1"/>
          <p:nvPr/>
        </p:nvSpPr>
        <p:spPr>
          <a:xfrm>
            <a:off x="3175000" y="44577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did I notice, decide, interpret or influence?</a:t>
            </a:r>
          </a:p>
        </p:txBody>
      </p:sp>
      <p:sp>
        <p:nvSpPr>
          <p:cNvPr id="16" name="Rectangle 15"/>
          <p:cNvSpPr/>
          <p:nvPr/>
        </p:nvSpPr>
        <p:spPr>
          <a:xfrm>
            <a:off x="1041400" y="4889500"/>
            <a:ext cx="93726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1400" y="5067300"/>
            <a:ext cx="2032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Outcome</a:t>
            </a:r>
          </a:p>
        </p:txBody>
      </p:sp>
      <p:sp>
        <p:nvSpPr>
          <p:cNvPr id="18" name="TextBox 17"/>
          <p:cNvSpPr txBox="1"/>
          <p:nvPr/>
        </p:nvSpPr>
        <p:spPr>
          <a:xfrm>
            <a:off x="3175000" y="5029200"/>
            <a:ext cx="8001000" cy="1270000"/>
          </a:xfrm>
          <a:prstGeom prst="rect">
            <a:avLst/>
          </a:prstGeom>
          <a:noFill/>
        </p:spPr>
        <p:txBody>
          <a:bodyPr wrap="square" lIns="0" rIns="0" tIns="0" bIns="0" anchor="t">
            <a:spAutoFit/>
          </a:bodyPr>
          <a:lstStyle/>
          <a:p>
            <a:pPr algn="l">
              <a:lnSpc>
                <a:spcPct val="126000"/>
              </a:lnSpc>
            </a:pPr>
            <a:r>
              <a:rPr sz="1800" b="1" i="0">
                <a:solidFill>
                  <a:srgbClr val="0F2346"/>
                </a:solidFill>
                <a:latin typeface="Montserrat"/>
                <a:ea typeface="Montserrat"/>
                <a:cs typeface="Montserrat"/>
              </a:rPr>
              <a:t>What changed or was prevented?</a:t>
            </a:r>
          </a:p>
        </p:txBody>
      </p:sp>
      <p:sp>
        <p:nvSpPr>
          <p:cNvPr id="19" name="TextBox 18"/>
          <p:cNvSpPr txBox="1"/>
          <p:nvPr/>
        </p:nvSpPr>
        <p:spPr>
          <a:xfrm>
            <a:off x="762000" y="5880100"/>
            <a:ext cx="10668000" cy="1270000"/>
          </a:xfrm>
          <a:prstGeom prst="rect">
            <a:avLst/>
          </a:prstGeom>
          <a:noFill/>
        </p:spPr>
        <p:txBody>
          <a:bodyPr wrap="square" lIns="0" rIns="0" tIns="0" bIns="0" anchor="t">
            <a:spAutoFit/>
          </a:bodyPr>
          <a:lstStyle/>
          <a:p>
            <a:pPr algn="l">
              <a:lnSpc>
                <a:spcPct val="130000"/>
              </a:lnSpc>
            </a:pPr>
            <a:r>
              <a:rPr sz="1600" b="1" i="0">
                <a:solidFill>
                  <a:srgbClr val="244B78"/>
                </a:solidFill>
                <a:latin typeface="Montserrat"/>
                <a:ea typeface="Montserrat"/>
                <a:cs typeface="Montserrat"/>
              </a:rPr>
              <a:t>Then ask: where else could that combination matter?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870200"/>
            <a:ext cx="8890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THREE CHECKS BEFORE YOU RESIGN</a:t>
            </a:r>
          </a:p>
        </p:txBody>
      </p:sp>
      <p:sp>
        <p:nvSpPr>
          <p:cNvPr id="4" name="TextBox 3"/>
          <p:cNvSpPr txBox="1"/>
          <p:nvPr/>
        </p:nvSpPr>
        <p:spPr>
          <a:xfrm>
            <a:off x="762000" y="3175000"/>
            <a:ext cx="2540000" cy="1270000"/>
          </a:xfrm>
          <a:prstGeom prst="rect">
            <a:avLst/>
          </a:prstGeom>
          <a:noFill/>
        </p:spPr>
        <p:txBody>
          <a:bodyPr wrap="square" lIns="0" rIns="0" tIns="0" bIns="0" anchor="t">
            <a:spAutoFit/>
          </a:bodyPr>
          <a:lstStyle/>
          <a:p>
            <a:pPr algn="l">
              <a:lnSpc>
                <a:spcPct val="100000"/>
              </a:lnSpc>
            </a:pPr>
            <a:r>
              <a:rPr sz="8000" b="1" i="0">
                <a:solidFill>
                  <a:srgbClr val="C9A84C"/>
                </a:solidFill>
                <a:latin typeface="Montserrat"/>
                <a:ea typeface="Montserrat"/>
                <a:cs typeface="Montserrat"/>
              </a:rPr>
              <a:t>03</a:t>
            </a:r>
          </a:p>
        </p:txBody>
      </p:sp>
      <p:sp>
        <p:nvSpPr>
          <p:cNvPr id="5" name="TextBox 4"/>
          <p:cNvSpPr txBox="1"/>
          <p:nvPr/>
        </p:nvSpPr>
        <p:spPr>
          <a:xfrm>
            <a:off x="762000" y="4381500"/>
            <a:ext cx="9525000" cy="1270000"/>
          </a:xfrm>
          <a:prstGeom prst="rect">
            <a:avLst/>
          </a:prstGeom>
          <a:noFill/>
        </p:spPr>
        <p:txBody>
          <a:bodyPr wrap="square" lIns="0" rIns="0" tIns="0" bIns="0" anchor="t">
            <a:spAutoFit/>
          </a:bodyPr>
          <a:lstStyle/>
          <a:p>
            <a:pPr algn="l">
              <a:lnSpc>
                <a:spcPct val="114000"/>
              </a:lnSpc>
            </a:pPr>
            <a:r>
              <a:rPr sz="3800" b="1" i="0">
                <a:solidFill>
                  <a:srgbClr val="0F2346"/>
                </a:solidFill>
                <a:latin typeface="Montserrat"/>
                <a:ea typeface="Montserrat"/>
                <a:cs typeface="Montserrat"/>
              </a:rPr>
              <a:t>Test the</a:t>
            </a:r>
            <a:br/>
            <a:r>
              <a:rPr sz="3800" b="1" i="0">
                <a:solidFill>
                  <a:srgbClr val="0F2346"/>
                </a:solidFill>
                <a:latin typeface="Montserrat"/>
                <a:ea typeface="Montserrat"/>
                <a:cs typeface="Montserrat"/>
              </a:rPr>
              <a:t>next move</a:t>
            </a:r>
          </a:p>
        </p:txBody>
      </p:sp>
      <p:sp>
        <p:nvSpPr>
          <p:cNvPr id="6" name="TextBox 5"/>
          <p:cNvSpPr txBox="1"/>
          <p:nvPr/>
        </p:nvSpPr>
        <p:spPr>
          <a:xfrm>
            <a:off x="762000" y="5715000"/>
            <a:ext cx="9525000" cy="1270000"/>
          </a:xfrm>
          <a:prstGeom prst="rect">
            <a:avLst/>
          </a:prstGeom>
          <a:noFill/>
        </p:spPr>
        <p:txBody>
          <a:bodyPr wrap="square" lIns="0" rIns="0" tIns="0" bIns="0" anchor="t">
            <a:spAutoFit/>
          </a:bodyPr>
          <a:lstStyle/>
          <a:p>
            <a:pPr algn="l">
              <a:lnSpc>
                <a:spcPct val="130000"/>
              </a:lnSpc>
            </a:pPr>
            <a:r>
              <a:rPr sz="1500" b="0" i="0">
                <a:solidFill>
                  <a:srgbClr val="5A6B82"/>
                </a:solidFill>
                <a:latin typeface="DM Sans"/>
                <a:ea typeface="DM Sans"/>
                <a:cs typeface="DM Sans"/>
              </a:rPr>
              <a:t>Look for overlap between what is proven and what must still grow.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THREE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Test the next move.</a:t>
            </a:r>
          </a:p>
        </p:txBody>
      </p:sp>
      <p:sp>
        <p:nvSpPr>
          <p:cNvPr id="5" name="TextBox 4"/>
          <p:cNvSpPr txBox="1"/>
          <p:nvPr/>
        </p:nvSpPr>
        <p:spPr>
          <a:xfrm>
            <a:off x="4191000" y="1778000"/>
            <a:ext cx="7366000" cy="1270000"/>
          </a:xfrm>
          <a:prstGeom prst="rect">
            <a:avLst/>
          </a:prstGeom>
          <a:noFill/>
        </p:spPr>
        <p:txBody>
          <a:bodyPr wrap="square" lIns="0" rIns="0" tIns="0" bIns="0" anchor="t">
            <a:spAutoFit/>
          </a:bodyPr>
          <a:lstStyle/>
          <a:p>
            <a:pPr algn="l">
              <a:lnSpc>
                <a:spcPct val="132000"/>
              </a:lnSpc>
            </a:pPr>
            <a:r>
              <a:rPr sz="1500" b="0" i="0">
                <a:solidFill>
                  <a:srgbClr val="B9C3D2"/>
                </a:solidFill>
                <a:latin typeface="DM Sans"/>
                <a:ea typeface="DM Sans"/>
                <a:cs typeface="DM Sans"/>
              </a:rPr>
              <a:t>A strong move does two things at once.</a:t>
            </a:r>
          </a:p>
        </p:txBody>
      </p:sp>
      <p:sp>
        <p:nvSpPr>
          <p:cNvPr id="6" name="TextBox 5"/>
          <p:cNvSpPr txBox="1"/>
          <p:nvPr/>
        </p:nvSpPr>
        <p:spPr>
          <a:xfrm>
            <a:off x="762000" y="3175000"/>
            <a:ext cx="4953000" cy="1270000"/>
          </a:xfrm>
          <a:prstGeom prst="rect">
            <a:avLst/>
          </a:prstGeom>
          <a:noFill/>
        </p:spPr>
        <p:txBody>
          <a:bodyPr wrap="square" lIns="0" rIns="0" tIns="0" bIns="0" anchor="t">
            <a:spAutoFit/>
          </a:bodyPr>
          <a:lstStyle/>
          <a:p>
            <a:pPr algn="l">
              <a:lnSpc>
                <a:spcPct val="114000"/>
              </a:lnSpc>
            </a:pPr>
            <a:r>
              <a:rPr sz="2900" b="1" i="0">
                <a:solidFill>
                  <a:srgbClr val="C9A84C"/>
                </a:solidFill>
                <a:latin typeface="Montserrat"/>
                <a:ea typeface="Montserrat"/>
                <a:cs typeface="Montserrat"/>
              </a:rPr>
              <a:t>Uses something</a:t>
            </a:r>
            <a:br/>
            <a:r>
              <a:rPr sz="2900" b="1" i="0">
                <a:solidFill>
                  <a:srgbClr val="C9A84C"/>
                </a:solidFill>
                <a:latin typeface="Montserrat"/>
                <a:ea typeface="Montserrat"/>
                <a:cs typeface="Montserrat"/>
              </a:rPr>
              <a:t>proven</a:t>
            </a:r>
          </a:p>
        </p:txBody>
      </p:sp>
      <p:sp>
        <p:nvSpPr>
          <p:cNvPr id="7" name="Rectangle 6"/>
          <p:cNvSpPr/>
          <p:nvPr/>
        </p:nvSpPr>
        <p:spPr>
          <a:xfrm>
            <a:off x="6083300" y="3149600"/>
            <a:ext cx="19050" cy="952500"/>
          </a:xfrm>
          <a:prstGeom prst="rect">
            <a:avLst/>
          </a:prstGeom>
          <a:solidFill>
            <a:srgbClr val="B9C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0" y="3175000"/>
            <a:ext cx="4953000" cy="1270000"/>
          </a:xfrm>
          <a:prstGeom prst="rect">
            <a:avLst/>
          </a:prstGeom>
          <a:noFill/>
        </p:spPr>
        <p:txBody>
          <a:bodyPr wrap="square" lIns="0" rIns="0" tIns="0" bIns="0" anchor="t">
            <a:spAutoFit/>
          </a:bodyPr>
          <a:lstStyle/>
          <a:p>
            <a:pPr algn="l">
              <a:lnSpc>
                <a:spcPct val="114000"/>
              </a:lnSpc>
            </a:pPr>
            <a:r>
              <a:rPr sz="2900" b="1" i="0">
                <a:solidFill>
                  <a:srgbClr val="F5F1E8"/>
                </a:solidFill>
                <a:latin typeface="Montserrat"/>
                <a:ea typeface="Montserrat"/>
                <a:cs typeface="Montserrat"/>
              </a:rPr>
              <a:t>Builds something</a:t>
            </a:r>
            <a:br/>
            <a:r>
              <a:rPr sz="2900" b="1" i="0">
                <a:solidFill>
                  <a:srgbClr val="F5F1E8"/>
                </a:solidFill>
                <a:latin typeface="Montserrat"/>
                <a:ea typeface="Montserrat"/>
                <a:cs typeface="Montserrat"/>
              </a:rPr>
              <a:t>new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THREE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Test the next move.</a:t>
            </a:r>
          </a:p>
        </p:txBody>
      </p:sp>
      <p:sp>
        <p:nvSpPr>
          <p:cNvPr id="5" name="TextBox 4"/>
          <p:cNvSpPr txBox="1"/>
          <p:nvPr/>
        </p:nvSpPr>
        <p:spPr>
          <a:xfrm>
            <a:off x="4191000" y="1778000"/>
            <a:ext cx="7366000" cy="1270000"/>
          </a:xfrm>
          <a:prstGeom prst="rect">
            <a:avLst/>
          </a:prstGeom>
          <a:noFill/>
        </p:spPr>
        <p:txBody>
          <a:bodyPr wrap="square" lIns="0" rIns="0" tIns="0" bIns="0" anchor="t">
            <a:spAutoFit/>
          </a:bodyPr>
          <a:lstStyle/>
          <a:p>
            <a:pPr algn="l">
              <a:lnSpc>
                <a:spcPct val="132000"/>
              </a:lnSpc>
            </a:pPr>
            <a:r>
              <a:rPr sz="1500" b="0" i="0">
                <a:solidFill>
                  <a:srgbClr val="B9C3D2"/>
                </a:solidFill>
                <a:latin typeface="DM Sans"/>
                <a:ea typeface="DM Sans"/>
                <a:cs typeface="DM Sans"/>
              </a:rPr>
              <a:t>A strong move does two things at once.</a:t>
            </a:r>
          </a:p>
        </p:txBody>
      </p:sp>
      <p:sp>
        <p:nvSpPr>
          <p:cNvPr id="6" name="TextBox 5"/>
          <p:cNvSpPr txBox="1"/>
          <p:nvPr/>
        </p:nvSpPr>
        <p:spPr>
          <a:xfrm>
            <a:off x="762000" y="3175000"/>
            <a:ext cx="4953000" cy="1270000"/>
          </a:xfrm>
          <a:prstGeom prst="rect">
            <a:avLst/>
          </a:prstGeom>
          <a:noFill/>
        </p:spPr>
        <p:txBody>
          <a:bodyPr wrap="square" lIns="0" rIns="0" tIns="0" bIns="0" anchor="t">
            <a:spAutoFit/>
          </a:bodyPr>
          <a:lstStyle/>
          <a:p>
            <a:pPr algn="l">
              <a:lnSpc>
                <a:spcPct val="114000"/>
              </a:lnSpc>
            </a:pPr>
            <a:r>
              <a:rPr sz="2900" b="1" i="0">
                <a:solidFill>
                  <a:srgbClr val="C9A84C"/>
                </a:solidFill>
                <a:latin typeface="Montserrat"/>
                <a:ea typeface="Montserrat"/>
                <a:cs typeface="Montserrat"/>
              </a:rPr>
              <a:t>Uses something</a:t>
            </a:r>
            <a:br/>
            <a:r>
              <a:rPr sz="2900" b="1" i="0">
                <a:solidFill>
                  <a:srgbClr val="C9A84C"/>
                </a:solidFill>
                <a:latin typeface="Montserrat"/>
                <a:ea typeface="Montserrat"/>
                <a:cs typeface="Montserrat"/>
              </a:rPr>
              <a:t>proven</a:t>
            </a:r>
          </a:p>
        </p:txBody>
      </p:sp>
      <p:sp>
        <p:nvSpPr>
          <p:cNvPr id="7" name="Rectangle 6"/>
          <p:cNvSpPr/>
          <p:nvPr/>
        </p:nvSpPr>
        <p:spPr>
          <a:xfrm>
            <a:off x="6083300" y="3149600"/>
            <a:ext cx="19050" cy="952500"/>
          </a:xfrm>
          <a:prstGeom prst="rect">
            <a:avLst/>
          </a:prstGeom>
          <a:solidFill>
            <a:srgbClr val="B9C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0" y="3175000"/>
            <a:ext cx="4953000" cy="1270000"/>
          </a:xfrm>
          <a:prstGeom prst="rect">
            <a:avLst/>
          </a:prstGeom>
          <a:noFill/>
        </p:spPr>
        <p:txBody>
          <a:bodyPr wrap="square" lIns="0" rIns="0" tIns="0" bIns="0" anchor="t">
            <a:spAutoFit/>
          </a:bodyPr>
          <a:lstStyle/>
          <a:p>
            <a:pPr algn="l">
              <a:lnSpc>
                <a:spcPct val="114000"/>
              </a:lnSpc>
            </a:pPr>
            <a:r>
              <a:rPr sz="2900" b="1" i="0">
                <a:solidFill>
                  <a:srgbClr val="F5F1E8"/>
                </a:solidFill>
                <a:latin typeface="Montserrat"/>
                <a:ea typeface="Montserrat"/>
                <a:cs typeface="Montserrat"/>
              </a:rPr>
              <a:t>Builds something</a:t>
            </a:r>
            <a:br/>
            <a:r>
              <a:rPr sz="2900" b="1" i="0">
                <a:solidFill>
                  <a:srgbClr val="F5F1E8"/>
                </a:solidFill>
                <a:latin typeface="Montserrat"/>
                <a:ea typeface="Montserrat"/>
                <a:cs typeface="Montserrat"/>
              </a:rPr>
              <a:t>new</a:t>
            </a:r>
          </a:p>
        </p:txBody>
      </p:sp>
      <p:sp>
        <p:nvSpPr>
          <p:cNvPr id="9" name="TextBox 8"/>
          <p:cNvSpPr txBox="1"/>
          <p:nvPr/>
        </p:nvSpPr>
        <p:spPr>
          <a:xfrm>
            <a:off x="762000" y="46482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01</a:t>
            </a:r>
          </a:p>
        </p:txBody>
      </p:sp>
      <p:sp>
        <p:nvSpPr>
          <p:cNvPr id="10" name="TextBox 9"/>
          <p:cNvSpPr txBox="1"/>
          <p:nvPr/>
        </p:nvSpPr>
        <p:spPr>
          <a:xfrm>
            <a:off x="1524000" y="4635500"/>
            <a:ext cx="10033000" cy="1270000"/>
          </a:xfrm>
          <a:prstGeom prst="rect">
            <a:avLst/>
          </a:prstGeom>
          <a:noFill/>
        </p:spPr>
        <p:txBody>
          <a:bodyPr wrap="square" lIns="0" rIns="0" tIns="0" bIns="0" anchor="t">
            <a:spAutoFit/>
          </a:bodyPr>
          <a:lstStyle/>
          <a:p>
            <a:pPr algn="l">
              <a:lnSpc>
                <a:spcPct val="120000"/>
              </a:lnSpc>
            </a:pPr>
            <a:r>
              <a:rPr sz="1700" b="1" i="0">
                <a:solidFill>
                  <a:srgbClr val="F5F1E8"/>
                </a:solidFill>
                <a:latin typeface="Montserrat"/>
                <a:ea typeface="Montserrat"/>
                <a:cs typeface="Montserrat"/>
              </a:rPr>
              <a:t>What will this next role allow me to carry?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THREE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Test the next move.</a:t>
            </a:r>
          </a:p>
        </p:txBody>
      </p:sp>
      <p:sp>
        <p:nvSpPr>
          <p:cNvPr id="5" name="TextBox 4"/>
          <p:cNvSpPr txBox="1"/>
          <p:nvPr/>
        </p:nvSpPr>
        <p:spPr>
          <a:xfrm>
            <a:off x="4191000" y="1778000"/>
            <a:ext cx="7366000" cy="1270000"/>
          </a:xfrm>
          <a:prstGeom prst="rect">
            <a:avLst/>
          </a:prstGeom>
          <a:noFill/>
        </p:spPr>
        <p:txBody>
          <a:bodyPr wrap="square" lIns="0" rIns="0" tIns="0" bIns="0" anchor="t">
            <a:spAutoFit/>
          </a:bodyPr>
          <a:lstStyle/>
          <a:p>
            <a:pPr algn="l">
              <a:lnSpc>
                <a:spcPct val="132000"/>
              </a:lnSpc>
            </a:pPr>
            <a:r>
              <a:rPr sz="1500" b="0" i="0">
                <a:solidFill>
                  <a:srgbClr val="B9C3D2"/>
                </a:solidFill>
                <a:latin typeface="DM Sans"/>
                <a:ea typeface="DM Sans"/>
                <a:cs typeface="DM Sans"/>
              </a:rPr>
              <a:t>A strong move does two things at once.</a:t>
            </a:r>
          </a:p>
        </p:txBody>
      </p:sp>
      <p:sp>
        <p:nvSpPr>
          <p:cNvPr id="6" name="TextBox 5"/>
          <p:cNvSpPr txBox="1"/>
          <p:nvPr/>
        </p:nvSpPr>
        <p:spPr>
          <a:xfrm>
            <a:off x="762000" y="3175000"/>
            <a:ext cx="4953000" cy="1270000"/>
          </a:xfrm>
          <a:prstGeom prst="rect">
            <a:avLst/>
          </a:prstGeom>
          <a:noFill/>
        </p:spPr>
        <p:txBody>
          <a:bodyPr wrap="square" lIns="0" rIns="0" tIns="0" bIns="0" anchor="t">
            <a:spAutoFit/>
          </a:bodyPr>
          <a:lstStyle/>
          <a:p>
            <a:pPr algn="l">
              <a:lnSpc>
                <a:spcPct val="114000"/>
              </a:lnSpc>
            </a:pPr>
            <a:r>
              <a:rPr sz="2900" b="1" i="0">
                <a:solidFill>
                  <a:srgbClr val="C9A84C"/>
                </a:solidFill>
                <a:latin typeface="Montserrat"/>
                <a:ea typeface="Montserrat"/>
                <a:cs typeface="Montserrat"/>
              </a:rPr>
              <a:t>Uses something</a:t>
            </a:r>
            <a:br/>
            <a:r>
              <a:rPr sz="2900" b="1" i="0">
                <a:solidFill>
                  <a:srgbClr val="C9A84C"/>
                </a:solidFill>
                <a:latin typeface="Montserrat"/>
                <a:ea typeface="Montserrat"/>
                <a:cs typeface="Montserrat"/>
              </a:rPr>
              <a:t>proven</a:t>
            </a:r>
          </a:p>
        </p:txBody>
      </p:sp>
      <p:sp>
        <p:nvSpPr>
          <p:cNvPr id="7" name="Rectangle 6"/>
          <p:cNvSpPr/>
          <p:nvPr/>
        </p:nvSpPr>
        <p:spPr>
          <a:xfrm>
            <a:off x="6083300" y="3149600"/>
            <a:ext cx="19050" cy="952500"/>
          </a:xfrm>
          <a:prstGeom prst="rect">
            <a:avLst/>
          </a:prstGeom>
          <a:solidFill>
            <a:srgbClr val="B9C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0" y="3175000"/>
            <a:ext cx="4953000" cy="1270000"/>
          </a:xfrm>
          <a:prstGeom prst="rect">
            <a:avLst/>
          </a:prstGeom>
          <a:noFill/>
        </p:spPr>
        <p:txBody>
          <a:bodyPr wrap="square" lIns="0" rIns="0" tIns="0" bIns="0" anchor="t">
            <a:spAutoFit/>
          </a:bodyPr>
          <a:lstStyle/>
          <a:p>
            <a:pPr algn="l">
              <a:lnSpc>
                <a:spcPct val="114000"/>
              </a:lnSpc>
            </a:pPr>
            <a:r>
              <a:rPr sz="2900" b="1" i="0">
                <a:solidFill>
                  <a:srgbClr val="F5F1E8"/>
                </a:solidFill>
                <a:latin typeface="Montserrat"/>
                <a:ea typeface="Montserrat"/>
                <a:cs typeface="Montserrat"/>
              </a:rPr>
              <a:t>Builds something</a:t>
            </a:r>
            <a:br/>
            <a:r>
              <a:rPr sz="2900" b="1" i="0">
                <a:solidFill>
                  <a:srgbClr val="F5F1E8"/>
                </a:solidFill>
                <a:latin typeface="Montserrat"/>
                <a:ea typeface="Montserrat"/>
                <a:cs typeface="Montserrat"/>
              </a:rPr>
              <a:t>new</a:t>
            </a:r>
          </a:p>
        </p:txBody>
      </p:sp>
      <p:sp>
        <p:nvSpPr>
          <p:cNvPr id="9" name="TextBox 8"/>
          <p:cNvSpPr txBox="1"/>
          <p:nvPr/>
        </p:nvSpPr>
        <p:spPr>
          <a:xfrm>
            <a:off x="762000" y="46482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01</a:t>
            </a:r>
          </a:p>
        </p:txBody>
      </p:sp>
      <p:sp>
        <p:nvSpPr>
          <p:cNvPr id="10" name="TextBox 9"/>
          <p:cNvSpPr txBox="1"/>
          <p:nvPr/>
        </p:nvSpPr>
        <p:spPr>
          <a:xfrm>
            <a:off x="1524000" y="4635500"/>
            <a:ext cx="10033000" cy="1270000"/>
          </a:xfrm>
          <a:prstGeom prst="rect">
            <a:avLst/>
          </a:prstGeom>
          <a:noFill/>
        </p:spPr>
        <p:txBody>
          <a:bodyPr wrap="square" lIns="0" rIns="0" tIns="0" bIns="0" anchor="t">
            <a:spAutoFit/>
          </a:bodyPr>
          <a:lstStyle/>
          <a:p>
            <a:pPr algn="l">
              <a:lnSpc>
                <a:spcPct val="120000"/>
              </a:lnSpc>
            </a:pPr>
            <a:r>
              <a:rPr sz="1700" b="1" i="0">
                <a:solidFill>
                  <a:srgbClr val="F5F1E8"/>
                </a:solidFill>
                <a:latin typeface="Montserrat"/>
                <a:ea typeface="Montserrat"/>
                <a:cs typeface="Montserrat"/>
              </a:rPr>
              <a:t>What will this next role allow me to carry?</a:t>
            </a:r>
          </a:p>
        </p:txBody>
      </p:sp>
      <p:sp>
        <p:nvSpPr>
          <p:cNvPr id="11" name="TextBox 10"/>
          <p:cNvSpPr txBox="1"/>
          <p:nvPr/>
        </p:nvSpPr>
        <p:spPr>
          <a:xfrm>
            <a:off x="762000" y="51435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02</a:t>
            </a:r>
          </a:p>
        </p:txBody>
      </p:sp>
      <p:sp>
        <p:nvSpPr>
          <p:cNvPr id="12" name="TextBox 11"/>
          <p:cNvSpPr txBox="1"/>
          <p:nvPr/>
        </p:nvSpPr>
        <p:spPr>
          <a:xfrm>
            <a:off x="1524000" y="5130800"/>
            <a:ext cx="10033000" cy="1270000"/>
          </a:xfrm>
          <a:prstGeom prst="rect">
            <a:avLst/>
          </a:prstGeom>
          <a:noFill/>
        </p:spPr>
        <p:txBody>
          <a:bodyPr wrap="square" lIns="0" rIns="0" tIns="0" bIns="0" anchor="t">
            <a:spAutoFit/>
          </a:bodyPr>
          <a:lstStyle/>
          <a:p>
            <a:pPr algn="l">
              <a:lnSpc>
                <a:spcPct val="120000"/>
              </a:lnSpc>
            </a:pPr>
            <a:r>
              <a:rPr sz="1700" b="1" i="0">
                <a:solidFill>
                  <a:srgbClr val="F5F1E8"/>
                </a:solidFill>
                <a:latin typeface="Montserrat"/>
                <a:ea typeface="Montserrat"/>
                <a:cs typeface="Montserrat"/>
              </a:rPr>
              <a:t>What new judgment, exposure or responsibility will it force me to develop?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CHECK THREE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Test the next move.</a:t>
            </a:r>
          </a:p>
        </p:txBody>
      </p:sp>
      <p:sp>
        <p:nvSpPr>
          <p:cNvPr id="5" name="TextBox 4"/>
          <p:cNvSpPr txBox="1"/>
          <p:nvPr/>
        </p:nvSpPr>
        <p:spPr>
          <a:xfrm>
            <a:off x="4191000" y="1778000"/>
            <a:ext cx="7366000" cy="1270000"/>
          </a:xfrm>
          <a:prstGeom prst="rect">
            <a:avLst/>
          </a:prstGeom>
          <a:noFill/>
        </p:spPr>
        <p:txBody>
          <a:bodyPr wrap="square" lIns="0" rIns="0" tIns="0" bIns="0" anchor="t">
            <a:spAutoFit/>
          </a:bodyPr>
          <a:lstStyle/>
          <a:p>
            <a:pPr algn="l">
              <a:lnSpc>
                <a:spcPct val="132000"/>
              </a:lnSpc>
            </a:pPr>
            <a:r>
              <a:rPr sz="1500" b="0" i="0">
                <a:solidFill>
                  <a:srgbClr val="B9C3D2"/>
                </a:solidFill>
                <a:latin typeface="DM Sans"/>
                <a:ea typeface="DM Sans"/>
                <a:cs typeface="DM Sans"/>
              </a:rPr>
              <a:t>A strong move does two things at once.</a:t>
            </a:r>
          </a:p>
        </p:txBody>
      </p:sp>
      <p:sp>
        <p:nvSpPr>
          <p:cNvPr id="6" name="TextBox 5"/>
          <p:cNvSpPr txBox="1"/>
          <p:nvPr/>
        </p:nvSpPr>
        <p:spPr>
          <a:xfrm>
            <a:off x="762000" y="3175000"/>
            <a:ext cx="4953000" cy="1270000"/>
          </a:xfrm>
          <a:prstGeom prst="rect">
            <a:avLst/>
          </a:prstGeom>
          <a:noFill/>
        </p:spPr>
        <p:txBody>
          <a:bodyPr wrap="square" lIns="0" rIns="0" tIns="0" bIns="0" anchor="t">
            <a:spAutoFit/>
          </a:bodyPr>
          <a:lstStyle/>
          <a:p>
            <a:pPr algn="l">
              <a:lnSpc>
                <a:spcPct val="114000"/>
              </a:lnSpc>
            </a:pPr>
            <a:r>
              <a:rPr sz="2900" b="1" i="0">
                <a:solidFill>
                  <a:srgbClr val="C9A84C"/>
                </a:solidFill>
                <a:latin typeface="Montserrat"/>
                <a:ea typeface="Montserrat"/>
                <a:cs typeface="Montserrat"/>
              </a:rPr>
              <a:t>Uses something</a:t>
            </a:r>
            <a:br/>
            <a:r>
              <a:rPr sz="2900" b="1" i="0">
                <a:solidFill>
                  <a:srgbClr val="C9A84C"/>
                </a:solidFill>
                <a:latin typeface="Montserrat"/>
                <a:ea typeface="Montserrat"/>
                <a:cs typeface="Montserrat"/>
              </a:rPr>
              <a:t>proven</a:t>
            </a:r>
          </a:p>
        </p:txBody>
      </p:sp>
      <p:sp>
        <p:nvSpPr>
          <p:cNvPr id="7" name="Rectangle 6"/>
          <p:cNvSpPr/>
          <p:nvPr/>
        </p:nvSpPr>
        <p:spPr>
          <a:xfrm>
            <a:off x="6083300" y="3149600"/>
            <a:ext cx="19050" cy="952500"/>
          </a:xfrm>
          <a:prstGeom prst="rect">
            <a:avLst/>
          </a:prstGeom>
          <a:solidFill>
            <a:srgbClr val="B9C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0" y="3175000"/>
            <a:ext cx="4953000" cy="1270000"/>
          </a:xfrm>
          <a:prstGeom prst="rect">
            <a:avLst/>
          </a:prstGeom>
          <a:noFill/>
        </p:spPr>
        <p:txBody>
          <a:bodyPr wrap="square" lIns="0" rIns="0" tIns="0" bIns="0" anchor="t">
            <a:spAutoFit/>
          </a:bodyPr>
          <a:lstStyle/>
          <a:p>
            <a:pPr algn="l">
              <a:lnSpc>
                <a:spcPct val="114000"/>
              </a:lnSpc>
            </a:pPr>
            <a:r>
              <a:rPr sz="2900" b="1" i="0">
                <a:solidFill>
                  <a:srgbClr val="F5F1E8"/>
                </a:solidFill>
                <a:latin typeface="Montserrat"/>
                <a:ea typeface="Montserrat"/>
                <a:cs typeface="Montserrat"/>
              </a:rPr>
              <a:t>Builds something</a:t>
            </a:r>
            <a:br/>
            <a:r>
              <a:rPr sz="2900" b="1" i="0">
                <a:solidFill>
                  <a:srgbClr val="F5F1E8"/>
                </a:solidFill>
                <a:latin typeface="Montserrat"/>
                <a:ea typeface="Montserrat"/>
                <a:cs typeface="Montserrat"/>
              </a:rPr>
              <a:t>new</a:t>
            </a:r>
          </a:p>
        </p:txBody>
      </p:sp>
      <p:sp>
        <p:nvSpPr>
          <p:cNvPr id="9" name="TextBox 8"/>
          <p:cNvSpPr txBox="1"/>
          <p:nvPr/>
        </p:nvSpPr>
        <p:spPr>
          <a:xfrm>
            <a:off x="762000" y="46482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01</a:t>
            </a:r>
          </a:p>
        </p:txBody>
      </p:sp>
      <p:sp>
        <p:nvSpPr>
          <p:cNvPr id="10" name="TextBox 9"/>
          <p:cNvSpPr txBox="1"/>
          <p:nvPr/>
        </p:nvSpPr>
        <p:spPr>
          <a:xfrm>
            <a:off x="1524000" y="4635500"/>
            <a:ext cx="10033000" cy="1270000"/>
          </a:xfrm>
          <a:prstGeom prst="rect">
            <a:avLst/>
          </a:prstGeom>
          <a:noFill/>
        </p:spPr>
        <p:txBody>
          <a:bodyPr wrap="square" lIns="0" rIns="0" tIns="0" bIns="0" anchor="t">
            <a:spAutoFit/>
          </a:bodyPr>
          <a:lstStyle/>
          <a:p>
            <a:pPr algn="l">
              <a:lnSpc>
                <a:spcPct val="120000"/>
              </a:lnSpc>
            </a:pPr>
            <a:r>
              <a:rPr sz="1700" b="1" i="0">
                <a:solidFill>
                  <a:srgbClr val="F5F1E8"/>
                </a:solidFill>
                <a:latin typeface="Montserrat"/>
                <a:ea typeface="Montserrat"/>
                <a:cs typeface="Montserrat"/>
              </a:rPr>
              <a:t>What will this next role allow me to carry?</a:t>
            </a:r>
          </a:p>
        </p:txBody>
      </p:sp>
      <p:sp>
        <p:nvSpPr>
          <p:cNvPr id="11" name="TextBox 10"/>
          <p:cNvSpPr txBox="1"/>
          <p:nvPr/>
        </p:nvSpPr>
        <p:spPr>
          <a:xfrm>
            <a:off x="762000" y="51435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02</a:t>
            </a:r>
          </a:p>
        </p:txBody>
      </p:sp>
      <p:sp>
        <p:nvSpPr>
          <p:cNvPr id="12" name="TextBox 11"/>
          <p:cNvSpPr txBox="1"/>
          <p:nvPr/>
        </p:nvSpPr>
        <p:spPr>
          <a:xfrm>
            <a:off x="1524000" y="5130800"/>
            <a:ext cx="10033000" cy="1270000"/>
          </a:xfrm>
          <a:prstGeom prst="rect">
            <a:avLst/>
          </a:prstGeom>
          <a:noFill/>
        </p:spPr>
        <p:txBody>
          <a:bodyPr wrap="square" lIns="0" rIns="0" tIns="0" bIns="0" anchor="t">
            <a:spAutoFit/>
          </a:bodyPr>
          <a:lstStyle/>
          <a:p>
            <a:pPr algn="l">
              <a:lnSpc>
                <a:spcPct val="120000"/>
              </a:lnSpc>
            </a:pPr>
            <a:r>
              <a:rPr sz="1700" b="1" i="0">
                <a:solidFill>
                  <a:srgbClr val="F5F1E8"/>
                </a:solidFill>
                <a:latin typeface="Montserrat"/>
                <a:ea typeface="Montserrat"/>
                <a:cs typeface="Montserrat"/>
              </a:rPr>
              <a:t>What new judgment, exposure or responsibility will it force me to develop?</a:t>
            </a:r>
          </a:p>
        </p:txBody>
      </p:sp>
      <p:sp>
        <p:nvSpPr>
          <p:cNvPr id="13" name="TextBox 12"/>
          <p:cNvSpPr txBox="1"/>
          <p:nvPr/>
        </p:nvSpPr>
        <p:spPr>
          <a:xfrm>
            <a:off x="762000" y="56388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03</a:t>
            </a:r>
          </a:p>
        </p:txBody>
      </p:sp>
      <p:sp>
        <p:nvSpPr>
          <p:cNvPr id="14" name="TextBox 13"/>
          <p:cNvSpPr txBox="1"/>
          <p:nvPr/>
        </p:nvSpPr>
        <p:spPr>
          <a:xfrm>
            <a:off x="1524000" y="5626100"/>
            <a:ext cx="10033000" cy="1270000"/>
          </a:xfrm>
          <a:prstGeom prst="rect">
            <a:avLst/>
          </a:prstGeom>
          <a:noFill/>
        </p:spPr>
        <p:txBody>
          <a:bodyPr wrap="square" lIns="0" rIns="0" tIns="0" bIns="0" anchor="t">
            <a:spAutoFit/>
          </a:bodyPr>
          <a:lstStyle/>
          <a:p>
            <a:pPr algn="l">
              <a:lnSpc>
                <a:spcPct val="120000"/>
              </a:lnSpc>
            </a:pPr>
            <a:r>
              <a:rPr sz="1700" b="1" i="0">
                <a:solidFill>
                  <a:srgbClr val="F5F1E8"/>
                </a:solidFill>
                <a:latin typeface="Montserrat"/>
                <a:ea typeface="Montserrat"/>
                <a:cs typeface="Montserrat"/>
              </a:rPr>
              <a:t>What will I be able to do after a year that I cannot do now?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THE THREE CHECKS</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2700" b="1" i="0">
                <a:solidFill>
                  <a:srgbClr val="0F2346"/>
                </a:solidFill>
                <a:latin typeface="Montserrat"/>
                <a:ea typeface="Montserrat"/>
                <a:cs typeface="Montserrat"/>
              </a:rPr>
              <a:t>Take them in order,</a:t>
            </a:r>
            <a:br/>
            <a:r>
              <a:rPr sz="2700" b="1" i="0">
                <a:solidFill>
                  <a:srgbClr val="0F2346"/>
                </a:solidFill>
                <a:latin typeface="Montserrat"/>
                <a:ea typeface="Montserrat"/>
                <a:cs typeface="Montserrat"/>
              </a:rPr>
              <a:t>before you resign.</a:t>
            </a:r>
          </a:p>
        </p:txBody>
      </p:sp>
      <p:sp>
        <p:nvSpPr>
          <p:cNvPr id="5" name="Rectangle 4"/>
          <p:cNvSpPr/>
          <p:nvPr/>
        </p:nvSpPr>
        <p:spPr>
          <a:xfrm>
            <a:off x="762000" y="3302000"/>
            <a:ext cx="3492500" cy="26670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62000" y="3302000"/>
            <a:ext cx="34925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1400" y="3594100"/>
            <a:ext cx="2921000" cy="1270000"/>
          </a:xfrm>
          <a:prstGeom prst="rect">
            <a:avLst/>
          </a:prstGeom>
          <a:noFill/>
        </p:spPr>
        <p:txBody>
          <a:bodyPr wrap="square" lIns="0" rIns="0" tIns="0" bIns="0" anchor="t">
            <a:spAutoFit/>
          </a:bodyPr>
          <a:lstStyle/>
          <a:p>
            <a:pPr algn="l">
              <a:lnSpc>
                <a:spcPct val="100000"/>
              </a:lnSpc>
            </a:pPr>
            <a:r>
              <a:rPr sz="3800" b="1" i="0">
                <a:solidFill>
                  <a:srgbClr val="C9A84C"/>
                </a:solidFill>
                <a:latin typeface="Montserrat"/>
                <a:ea typeface="Montserrat"/>
                <a:cs typeface="Montserrat"/>
              </a:rPr>
              <a:t>01</a:t>
            </a:r>
          </a:p>
        </p:txBody>
      </p:sp>
      <p:sp>
        <p:nvSpPr>
          <p:cNvPr id="8" name="TextBox 7"/>
          <p:cNvSpPr txBox="1"/>
          <p:nvPr/>
        </p:nvSpPr>
        <p:spPr>
          <a:xfrm>
            <a:off x="1041400" y="4445000"/>
            <a:ext cx="2984500" cy="1270000"/>
          </a:xfrm>
          <a:prstGeom prst="rect">
            <a:avLst/>
          </a:prstGeom>
          <a:noFill/>
        </p:spPr>
        <p:txBody>
          <a:bodyPr wrap="square" lIns="0" rIns="0" tIns="0" bIns="0" anchor="t">
            <a:spAutoFit/>
          </a:bodyPr>
          <a:lstStyle/>
          <a:p>
            <a:pPr algn="l">
              <a:lnSpc>
                <a:spcPct val="124000"/>
              </a:lnSpc>
            </a:pPr>
            <a:r>
              <a:rPr sz="1800" b="1" i="0">
                <a:solidFill>
                  <a:srgbClr val="0F2346"/>
                </a:solidFill>
                <a:latin typeface="Montserrat"/>
                <a:ea typeface="Montserrat"/>
                <a:cs typeface="Montserrat"/>
              </a:rPr>
              <a:t>Preserve the</a:t>
            </a:r>
            <a:br/>
            <a:r>
              <a:rPr sz="1800" b="1" i="0">
                <a:solidFill>
                  <a:srgbClr val="0F2346"/>
                </a:solidFill>
                <a:latin typeface="Montserrat"/>
                <a:ea typeface="Montserrat"/>
                <a:cs typeface="Montserrat"/>
              </a:rPr>
              <a:t>evidence</a:t>
            </a:r>
          </a:p>
        </p:txBody>
      </p:sp>
      <p:sp>
        <p:nvSpPr>
          <p:cNvPr id="9" name="Rectangle 8"/>
          <p:cNvSpPr/>
          <p:nvPr/>
        </p:nvSpPr>
        <p:spPr>
          <a:xfrm>
            <a:off x="4413250" y="3302000"/>
            <a:ext cx="3492500" cy="26670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13250" y="3302000"/>
            <a:ext cx="34925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92650" y="3594100"/>
            <a:ext cx="2921000" cy="1270000"/>
          </a:xfrm>
          <a:prstGeom prst="rect">
            <a:avLst/>
          </a:prstGeom>
          <a:noFill/>
        </p:spPr>
        <p:txBody>
          <a:bodyPr wrap="square" lIns="0" rIns="0" tIns="0" bIns="0" anchor="t">
            <a:spAutoFit/>
          </a:bodyPr>
          <a:lstStyle/>
          <a:p>
            <a:pPr algn="l">
              <a:lnSpc>
                <a:spcPct val="100000"/>
              </a:lnSpc>
            </a:pPr>
            <a:r>
              <a:rPr sz="3800" b="1" i="0">
                <a:solidFill>
                  <a:srgbClr val="C9A84C"/>
                </a:solidFill>
                <a:latin typeface="Montserrat"/>
                <a:ea typeface="Montserrat"/>
                <a:cs typeface="Montserrat"/>
              </a:rPr>
              <a:t>02</a:t>
            </a:r>
          </a:p>
        </p:txBody>
      </p:sp>
      <p:sp>
        <p:nvSpPr>
          <p:cNvPr id="12" name="TextBox 11"/>
          <p:cNvSpPr txBox="1"/>
          <p:nvPr/>
        </p:nvSpPr>
        <p:spPr>
          <a:xfrm>
            <a:off x="4692650" y="4445000"/>
            <a:ext cx="2984500" cy="1270000"/>
          </a:xfrm>
          <a:prstGeom prst="rect">
            <a:avLst/>
          </a:prstGeom>
          <a:noFill/>
        </p:spPr>
        <p:txBody>
          <a:bodyPr wrap="square" lIns="0" rIns="0" tIns="0" bIns="0" anchor="t">
            <a:spAutoFit/>
          </a:bodyPr>
          <a:lstStyle/>
          <a:p>
            <a:pPr algn="l">
              <a:lnSpc>
                <a:spcPct val="124000"/>
              </a:lnSpc>
            </a:pPr>
            <a:r>
              <a:rPr sz="1800" b="1" i="0">
                <a:solidFill>
                  <a:srgbClr val="0F2346"/>
                </a:solidFill>
                <a:latin typeface="Montserrat"/>
                <a:ea typeface="Montserrat"/>
                <a:cs typeface="Montserrat"/>
              </a:rPr>
              <a:t>Name what</a:t>
            </a:r>
            <a:br/>
            <a:r>
              <a:rPr sz="1800" b="1" i="0">
                <a:solidFill>
                  <a:srgbClr val="0F2346"/>
                </a:solidFill>
                <a:latin typeface="Montserrat"/>
                <a:ea typeface="Montserrat"/>
                <a:cs typeface="Montserrat"/>
              </a:rPr>
              <a:t>the work built</a:t>
            </a:r>
          </a:p>
        </p:txBody>
      </p:sp>
      <p:sp>
        <p:nvSpPr>
          <p:cNvPr id="13" name="Rectangle 12"/>
          <p:cNvSpPr/>
          <p:nvPr/>
        </p:nvSpPr>
        <p:spPr>
          <a:xfrm>
            <a:off x="8064500" y="3302000"/>
            <a:ext cx="3492500" cy="26670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4500" y="3302000"/>
            <a:ext cx="34925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3900" y="3594100"/>
            <a:ext cx="2921000" cy="1270000"/>
          </a:xfrm>
          <a:prstGeom prst="rect">
            <a:avLst/>
          </a:prstGeom>
          <a:noFill/>
        </p:spPr>
        <p:txBody>
          <a:bodyPr wrap="square" lIns="0" rIns="0" tIns="0" bIns="0" anchor="t">
            <a:spAutoFit/>
          </a:bodyPr>
          <a:lstStyle/>
          <a:p>
            <a:pPr algn="l">
              <a:lnSpc>
                <a:spcPct val="100000"/>
              </a:lnSpc>
            </a:pPr>
            <a:r>
              <a:rPr sz="3800" b="1" i="0">
                <a:solidFill>
                  <a:srgbClr val="C9A84C"/>
                </a:solidFill>
                <a:latin typeface="Montserrat"/>
                <a:ea typeface="Montserrat"/>
                <a:cs typeface="Montserrat"/>
              </a:rPr>
              <a:t>03</a:t>
            </a:r>
          </a:p>
        </p:txBody>
      </p:sp>
      <p:sp>
        <p:nvSpPr>
          <p:cNvPr id="16" name="TextBox 15"/>
          <p:cNvSpPr txBox="1"/>
          <p:nvPr/>
        </p:nvSpPr>
        <p:spPr>
          <a:xfrm>
            <a:off x="8343900" y="4445000"/>
            <a:ext cx="2984500" cy="1270000"/>
          </a:xfrm>
          <a:prstGeom prst="rect">
            <a:avLst/>
          </a:prstGeom>
          <a:noFill/>
        </p:spPr>
        <p:txBody>
          <a:bodyPr wrap="square" lIns="0" rIns="0" tIns="0" bIns="0" anchor="t">
            <a:spAutoFit/>
          </a:bodyPr>
          <a:lstStyle/>
          <a:p>
            <a:pPr algn="l">
              <a:lnSpc>
                <a:spcPct val="124000"/>
              </a:lnSpc>
            </a:pPr>
            <a:r>
              <a:rPr sz="1800" b="1" i="0">
                <a:solidFill>
                  <a:srgbClr val="0F2346"/>
                </a:solidFill>
                <a:latin typeface="Montserrat"/>
                <a:ea typeface="Montserrat"/>
                <a:cs typeface="Montserrat"/>
              </a:rPr>
              <a:t>Test the</a:t>
            </a:r>
            <a:br/>
            <a:r>
              <a:rPr sz="1800" b="1" i="0">
                <a:solidFill>
                  <a:srgbClr val="0F2346"/>
                </a:solidFill>
                <a:latin typeface="Montserrat"/>
                <a:ea typeface="Montserrat"/>
                <a:cs typeface="Montserrat"/>
              </a:rPr>
              <a:t>next move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READING THE EVIDENCE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2700" b="1" i="0">
                <a:solidFill>
                  <a:srgbClr val="0F2346"/>
                </a:solidFill>
                <a:latin typeface="Montserrat"/>
                <a:ea typeface="Montserrat"/>
                <a:cs typeface="Montserrat"/>
              </a:rPr>
              <a:t>Three directions the</a:t>
            </a:r>
            <a:br/>
            <a:r>
              <a:rPr sz="2700" b="1" i="0">
                <a:solidFill>
                  <a:srgbClr val="0F2346"/>
                </a:solidFill>
                <a:latin typeface="Montserrat"/>
                <a:ea typeface="Montserrat"/>
                <a:cs typeface="Montserrat"/>
              </a:rPr>
              <a:t>evidence can point.</a:t>
            </a:r>
          </a:p>
        </p:txBody>
      </p:sp>
      <p:sp>
        <p:nvSpPr>
          <p:cNvPr id="5" name="TextBox 4"/>
          <p:cNvSpPr txBox="1"/>
          <p:nvPr/>
        </p:nvSpPr>
        <p:spPr>
          <a:xfrm>
            <a:off x="4191000" y="208788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The point is not to make the decision slow.</a:t>
            </a:r>
            <a:br/>
            <a:r>
              <a:rPr sz="1600" b="0" i="0">
                <a:solidFill>
                  <a:srgbClr val="5A6B82"/>
                </a:solidFill>
                <a:latin typeface="DM Sans"/>
                <a:ea typeface="DM Sans"/>
                <a:cs typeface="DM Sans"/>
              </a:rPr>
              <a:t>The point is to make it legible.</a:t>
            </a:r>
          </a:p>
        </p:txBody>
      </p:sp>
      <p:sp>
        <p:nvSpPr>
          <p:cNvPr id="6" name="TextBox 5"/>
          <p:cNvSpPr txBox="1"/>
          <p:nvPr/>
        </p:nvSpPr>
        <p:spPr>
          <a:xfrm>
            <a:off x="762000" y="3454400"/>
            <a:ext cx="2540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Leave</a:t>
            </a:r>
          </a:p>
        </p:txBody>
      </p:sp>
      <p:sp>
        <p:nvSpPr>
          <p:cNvPr id="7" name="TextBox 6"/>
          <p:cNvSpPr txBox="1"/>
          <p:nvPr/>
        </p:nvSpPr>
        <p:spPr>
          <a:xfrm>
            <a:off x="3556000" y="3429000"/>
            <a:ext cx="7874000" cy="1270000"/>
          </a:xfrm>
          <a:prstGeom prst="rect">
            <a:avLst/>
          </a:prstGeom>
          <a:noFill/>
        </p:spPr>
        <p:txBody>
          <a:bodyPr wrap="square" lIns="0" rIns="0" tIns="0" bIns="0" anchor="t">
            <a:spAutoFit/>
          </a:bodyPr>
          <a:lstStyle/>
          <a:p>
            <a:pPr algn="l">
              <a:lnSpc>
                <a:spcPct val="130000"/>
              </a:lnSpc>
            </a:pPr>
            <a:r>
              <a:rPr sz="1600" b="1" i="0">
                <a:solidFill>
                  <a:srgbClr val="0F2346"/>
                </a:solidFill>
                <a:latin typeface="Montserrat"/>
                <a:ea typeface="Montserrat"/>
                <a:cs typeface="Montserrat"/>
              </a:rPr>
              <a:t>The evidence says leaving is right, and you are ready.</a:t>
            </a:r>
          </a:p>
        </p:txBody>
      </p:sp>
      <p:sp>
        <p:nvSpPr>
          <p:cNvPr id="8" name="Rectangle 7"/>
          <p:cNvSpPr/>
          <p:nvPr/>
        </p:nvSpPr>
        <p:spPr>
          <a:xfrm>
            <a:off x="762000" y="383286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READING THE EVIDENCE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2700" b="1" i="0">
                <a:solidFill>
                  <a:srgbClr val="0F2346"/>
                </a:solidFill>
                <a:latin typeface="Montserrat"/>
                <a:ea typeface="Montserrat"/>
                <a:cs typeface="Montserrat"/>
              </a:rPr>
              <a:t>Three directions the</a:t>
            </a:r>
            <a:br/>
            <a:r>
              <a:rPr sz="2700" b="1" i="0">
                <a:solidFill>
                  <a:srgbClr val="0F2346"/>
                </a:solidFill>
                <a:latin typeface="Montserrat"/>
                <a:ea typeface="Montserrat"/>
                <a:cs typeface="Montserrat"/>
              </a:rPr>
              <a:t>evidence can point.</a:t>
            </a:r>
          </a:p>
        </p:txBody>
      </p:sp>
      <p:sp>
        <p:nvSpPr>
          <p:cNvPr id="5" name="TextBox 4"/>
          <p:cNvSpPr txBox="1"/>
          <p:nvPr/>
        </p:nvSpPr>
        <p:spPr>
          <a:xfrm>
            <a:off x="4191000" y="208788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The point is not to make the decision slow.</a:t>
            </a:r>
            <a:br/>
            <a:r>
              <a:rPr sz="1600" b="0" i="0">
                <a:solidFill>
                  <a:srgbClr val="5A6B82"/>
                </a:solidFill>
                <a:latin typeface="DM Sans"/>
                <a:ea typeface="DM Sans"/>
                <a:cs typeface="DM Sans"/>
              </a:rPr>
              <a:t>The point is to make it legible.</a:t>
            </a:r>
          </a:p>
        </p:txBody>
      </p:sp>
      <p:sp>
        <p:nvSpPr>
          <p:cNvPr id="6" name="TextBox 5"/>
          <p:cNvSpPr txBox="1"/>
          <p:nvPr/>
        </p:nvSpPr>
        <p:spPr>
          <a:xfrm>
            <a:off x="762000" y="3454400"/>
            <a:ext cx="2540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Leave</a:t>
            </a:r>
          </a:p>
        </p:txBody>
      </p:sp>
      <p:sp>
        <p:nvSpPr>
          <p:cNvPr id="7" name="TextBox 6"/>
          <p:cNvSpPr txBox="1"/>
          <p:nvPr/>
        </p:nvSpPr>
        <p:spPr>
          <a:xfrm>
            <a:off x="3556000" y="3429000"/>
            <a:ext cx="7874000" cy="1270000"/>
          </a:xfrm>
          <a:prstGeom prst="rect">
            <a:avLst/>
          </a:prstGeom>
          <a:noFill/>
        </p:spPr>
        <p:txBody>
          <a:bodyPr wrap="square" lIns="0" rIns="0" tIns="0" bIns="0" anchor="t">
            <a:spAutoFit/>
          </a:bodyPr>
          <a:lstStyle/>
          <a:p>
            <a:pPr algn="l">
              <a:lnSpc>
                <a:spcPct val="130000"/>
              </a:lnSpc>
            </a:pPr>
            <a:r>
              <a:rPr sz="1600" b="1" i="0">
                <a:solidFill>
                  <a:srgbClr val="0F2346"/>
                </a:solidFill>
                <a:latin typeface="Montserrat"/>
                <a:ea typeface="Montserrat"/>
                <a:cs typeface="Montserrat"/>
              </a:rPr>
              <a:t>The evidence says leaving is right, and you are ready.</a:t>
            </a:r>
          </a:p>
        </p:txBody>
      </p:sp>
      <p:sp>
        <p:nvSpPr>
          <p:cNvPr id="8" name="Rectangle 7"/>
          <p:cNvSpPr/>
          <p:nvPr/>
        </p:nvSpPr>
        <p:spPr>
          <a:xfrm>
            <a:off x="762000" y="383286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4124960"/>
            <a:ext cx="2540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Reposition inside</a:t>
            </a:r>
          </a:p>
        </p:txBody>
      </p:sp>
      <p:sp>
        <p:nvSpPr>
          <p:cNvPr id="10" name="TextBox 9"/>
          <p:cNvSpPr txBox="1"/>
          <p:nvPr/>
        </p:nvSpPr>
        <p:spPr>
          <a:xfrm>
            <a:off x="3556000" y="4099560"/>
            <a:ext cx="7874000" cy="1270000"/>
          </a:xfrm>
          <a:prstGeom prst="rect">
            <a:avLst/>
          </a:prstGeom>
          <a:noFill/>
        </p:spPr>
        <p:txBody>
          <a:bodyPr wrap="square" lIns="0" rIns="0" tIns="0" bIns="0" anchor="t">
            <a:spAutoFit/>
          </a:bodyPr>
          <a:lstStyle/>
          <a:p>
            <a:pPr algn="l">
              <a:lnSpc>
                <a:spcPct val="130000"/>
              </a:lnSpc>
            </a:pPr>
            <a:r>
              <a:rPr sz="1600" b="1" i="0">
                <a:solidFill>
                  <a:srgbClr val="0F2346"/>
                </a:solidFill>
                <a:latin typeface="Montserrat"/>
                <a:ea typeface="Montserrat"/>
                <a:cs typeface="Montserrat"/>
              </a:rPr>
              <a:t>Another role, project or scope change could restore</a:t>
            </a:r>
            <a:br/>
            <a:r>
              <a:rPr sz="1600" b="1" i="0">
                <a:solidFill>
                  <a:srgbClr val="0F2346"/>
                </a:solidFill>
                <a:latin typeface="Montserrat"/>
                <a:ea typeface="Montserrat"/>
                <a:cs typeface="Montserrat"/>
              </a:rPr>
              <a:t>growth without an immediate exit.</a:t>
            </a:r>
          </a:p>
        </p:txBody>
      </p:sp>
      <p:sp>
        <p:nvSpPr>
          <p:cNvPr id="11" name="Rectangle 10"/>
          <p:cNvSpPr/>
          <p:nvPr/>
        </p:nvSpPr>
        <p:spPr>
          <a:xfrm>
            <a:off x="762000" y="476758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READING THE EVIDENCE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2700" b="1" i="0">
                <a:solidFill>
                  <a:srgbClr val="0F2346"/>
                </a:solidFill>
                <a:latin typeface="Montserrat"/>
                <a:ea typeface="Montserrat"/>
                <a:cs typeface="Montserrat"/>
              </a:rPr>
              <a:t>Three directions the</a:t>
            </a:r>
            <a:br/>
            <a:r>
              <a:rPr sz="2700" b="1" i="0">
                <a:solidFill>
                  <a:srgbClr val="0F2346"/>
                </a:solidFill>
                <a:latin typeface="Montserrat"/>
                <a:ea typeface="Montserrat"/>
                <a:cs typeface="Montserrat"/>
              </a:rPr>
              <a:t>evidence can point.</a:t>
            </a:r>
          </a:p>
        </p:txBody>
      </p:sp>
      <p:sp>
        <p:nvSpPr>
          <p:cNvPr id="5" name="TextBox 4"/>
          <p:cNvSpPr txBox="1"/>
          <p:nvPr/>
        </p:nvSpPr>
        <p:spPr>
          <a:xfrm>
            <a:off x="4191000" y="208788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The point is not to make the decision slow.</a:t>
            </a:r>
            <a:br/>
            <a:r>
              <a:rPr sz="1600" b="0" i="0">
                <a:solidFill>
                  <a:srgbClr val="5A6B82"/>
                </a:solidFill>
                <a:latin typeface="DM Sans"/>
                <a:ea typeface="DM Sans"/>
                <a:cs typeface="DM Sans"/>
              </a:rPr>
              <a:t>The point is to make it legible.</a:t>
            </a:r>
          </a:p>
        </p:txBody>
      </p:sp>
      <p:sp>
        <p:nvSpPr>
          <p:cNvPr id="6" name="TextBox 5"/>
          <p:cNvSpPr txBox="1"/>
          <p:nvPr/>
        </p:nvSpPr>
        <p:spPr>
          <a:xfrm>
            <a:off x="762000" y="3454400"/>
            <a:ext cx="2540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Leave</a:t>
            </a:r>
          </a:p>
        </p:txBody>
      </p:sp>
      <p:sp>
        <p:nvSpPr>
          <p:cNvPr id="7" name="TextBox 6"/>
          <p:cNvSpPr txBox="1"/>
          <p:nvPr/>
        </p:nvSpPr>
        <p:spPr>
          <a:xfrm>
            <a:off x="3556000" y="3429000"/>
            <a:ext cx="7874000" cy="1270000"/>
          </a:xfrm>
          <a:prstGeom prst="rect">
            <a:avLst/>
          </a:prstGeom>
          <a:noFill/>
        </p:spPr>
        <p:txBody>
          <a:bodyPr wrap="square" lIns="0" rIns="0" tIns="0" bIns="0" anchor="t">
            <a:spAutoFit/>
          </a:bodyPr>
          <a:lstStyle/>
          <a:p>
            <a:pPr algn="l">
              <a:lnSpc>
                <a:spcPct val="130000"/>
              </a:lnSpc>
            </a:pPr>
            <a:r>
              <a:rPr sz="1600" b="1" i="0">
                <a:solidFill>
                  <a:srgbClr val="0F2346"/>
                </a:solidFill>
                <a:latin typeface="Montserrat"/>
                <a:ea typeface="Montserrat"/>
                <a:cs typeface="Montserrat"/>
              </a:rPr>
              <a:t>The evidence says leaving is right, and you are ready.</a:t>
            </a:r>
          </a:p>
        </p:txBody>
      </p:sp>
      <p:sp>
        <p:nvSpPr>
          <p:cNvPr id="8" name="Rectangle 7"/>
          <p:cNvSpPr/>
          <p:nvPr/>
        </p:nvSpPr>
        <p:spPr>
          <a:xfrm>
            <a:off x="762000" y="383286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4124960"/>
            <a:ext cx="2540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Reposition inside</a:t>
            </a:r>
          </a:p>
        </p:txBody>
      </p:sp>
      <p:sp>
        <p:nvSpPr>
          <p:cNvPr id="10" name="TextBox 9"/>
          <p:cNvSpPr txBox="1"/>
          <p:nvPr/>
        </p:nvSpPr>
        <p:spPr>
          <a:xfrm>
            <a:off x="3556000" y="4099560"/>
            <a:ext cx="7874000" cy="1270000"/>
          </a:xfrm>
          <a:prstGeom prst="rect">
            <a:avLst/>
          </a:prstGeom>
          <a:noFill/>
        </p:spPr>
        <p:txBody>
          <a:bodyPr wrap="square" lIns="0" rIns="0" tIns="0" bIns="0" anchor="t">
            <a:spAutoFit/>
          </a:bodyPr>
          <a:lstStyle/>
          <a:p>
            <a:pPr algn="l">
              <a:lnSpc>
                <a:spcPct val="130000"/>
              </a:lnSpc>
            </a:pPr>
            <a:r>
              <a:rPr sz="1600" b="1" i="0">
                <a:solidFill>
                  <a:srgbClr val="0F2346"/>
                </a:solidFill>
                <a:latin typeface="Montserrat"/>
                <a:ea typeface="Montserrat"/>
                <a:cs typeface="Montserrat"/>
              </a:rPr>
              <a:t>Another role, project or scope change could restore</a:t>
            </a:r>
            <a:br/>
            <a:r>
              <a:rPr sz="1600" b="1" i="0">
                <a:solidFill>
                  <a:srgbClr val="0F2346"/>
                </a:solidFill>
                <a:latin typeface="Montserrat"/>
                <a:ea typeface="Montserrat"/>
                <a:cs typeface="Montserrat"/>
              </a:rPr>
              <a:t>growth without an immediate exit.</a:t>
            </a:r>
          </a:p>
        </p:txBody>
      </p:sp>
      <p:sp>
        <p:nvSpPr>
          <p:cNvPr id="11" name="Rectangle 10"/>
          <p:cNvSpPr/>
          <p:nvPr/>
        </p:nvSpPr>
        <p:spPr>
          <a:xfrm>
            <a:off x="762000" y="476758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5059680"/>
            <a:ext cx="2540000" cy="1270000"/>
          </a:xfrm>
          <a:prstGeom prst="rect">
            <a:avLst/>
          </a:prstGeom>
          <a:noFill/>
        </p:spPr>
        <p:txBody>
          <a:bodyPr wrap="square" lIns="0" rIns="0" tIns="0" bIns="0" anchor="t">
            <a:spAutoFit/>
          </a:bodyPr>
          <a:lstStyle/>
          <a:p>
            <a:pPr algn="l">
              <a:lnSpc>
                <a:spcPct val="112000"/>
              </a:lnSpc>
            </a:pPr>
            <a:r>
              <a:rPr sz="1300" b="1" i="0" spc="200">
                <a:solidFill>
                  <a:srgbClr val="C9A84C"/>
                </a:solidFill>
                <a:latin typeface="Montserrat"/>
                <a:ea typeface="Montserrat"/>
                <a:cs typeface="Montserrat"/>
              </a:rPr>
              <a:t>Build a bridge</a:t>
            </a:r>
          </a:p>
        </p:txBody>
      </p:sp>
      <p:sp>
        <p:nvSpPr>
          <p:cNvPr id="13" name="TextBox 12"/>
          <p:cNvSpPr txBox="1"/>
          <p:nvPr/>
        </p:nvSpPr>
        <p:spPr>
          <a:xfrm>
            <a:off x="3556000" y="5034280"/>
            <a:ext cx="7874000" cy="1270000"/>
          </a:xfrm>
          <a:prstGeom prst="rect">
            <a:avLst/>
          </a:prstGeom>
          <a:noFill/>
        </p:spPr>
        <p:txBody>
          <a:bodyPr wrap="square" lIns="0" rIns="0" tIns="0" bIns="0" anchor="t">
            <a:spAutoFit/>
          </a:bodyPr>
          <a:lstStyle/>
          <a:p>
            <a:pPr algn="l">
              <a:lnSpc>
                <a:spcPct val="130000"/>
              </a:lnSpc>
            </a:pPr>
            <a:r>
              <a:rPr sz="1600" b="1" i="0">
                <a:solidFill>
                  <a:srgbClr val="0F2346"/>
                </a:solidFill>
                <a:latin typeface="Montserrat"/>
                <a:ea typeface="Montserrat"/>
                <a:cs typeface="Montserrat"/>
              </a:rPr>
              <a:t>You need something first: a credential, outside-context</a:t>
            </a:r>
            <a:br/>
            <a:r>
              <a:rPr sz="1600" b="1" i="0">
                <a:solidFill>
                  <a:srgbClr val="0F2346"/>
                </a:solidFill>
                <a:latin typeface="Montserrat"/>
                <a:ea typeface="Montserrat"/>
                <a:cs typeface="Montserrat"/>
              </a:rPr>
              <a:t>evidence, financial runway, or a clearer translation of</a:t>
            </a:r>
            <a:br/>
            <a:r>
              <a:rPr sz="1600" b="1" i="0">
                <a:solidFill>
                  <a:srgbClr val="0F2346"/>
                </a:solidFill>
                <a:latin typeface="Montserrat"/>
                <a:ea typeface="Montserrat"/>
                <a:cs typeface="Montserrat"/>
              </a:rPr>
              <a:t>what your experience can do elsewhere.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BEFORE YOU RESIGN</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Answer these three</a:t>
            </a:r>
            <a:br/>
            <a:r>
              <a:rPr sz="3000" b="1" i="0">
                <a:solidFill>
                  <a:srgbClr val="F5F1E8"/>
                </a:solidFill>
                <a:latin typeface="Montserrat"/>
                <a:ea typeface="Montserrat"/>
                <a:cs typeface="Montserrat"/>
              </a:rPr>
              <a:t>first.</a:t>
            </a:r>
          </a:p>
        </p:txBody>
      </p:sp>
      <p:sp>
        <p:nvSpPr>
          <p:cNvPr id="5" name="TextBox 4"/>
          <p:cNvSpPr txBox="1"/>
          <p:nvPr/>
        </p:nvSpPr>
        <p:spPr>
          <a:xfrm>
            <a:off x="762000" y="34417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6" name="TextBox 5"/>
          <p:cNvSpPr txBox="1"/>
          <p:nvPr/>
        </p:nvSpPr>
        <p:spPr>
          <a:xfrm>
            <a:off x="1524000" y="3403600"/>
            <a:ext cx="9906000" cy="1270000"/>
          </a:xfrm>
          <a:prstGeom prst="rect">
            <a:avLst/>
          </a:prstGeom>
          <a:noFill/>
        </p:spPr>
        <p:txBody>
          <a:bodyPr wrap="square" lIns="0" rIns="0" tIns="0" bIns="0" anchor="t">
            <a:spAutoFit/>
          </a:bodyPr>
          <a:lstStyle/>
          <a:p>
            <a:pPr algn="l">
              <a:lnSpc>
                <a:spcPct val="120000"/>
              </a:lnSpc>
            </a:pPr>
            <a:r>
              <a:rPr sz="2200" b="1" i="0">
                <a:solidFill>
                  <a:srgbClr val="F5F1E8"/>
                </a:solidFill>
                <a:latin typeface="Montserrat"/>
                <a:ea typeface="Montserrat"/>
                <a:cs typeface="Montserrat"/>
              </a:rPr>
              <a:t>What evidence do I need to preserve now?</a:t>
            </a:r>
          </a:p>
        </p:txBody>
      </p:sp>
      <p:sp>
        <p:nvSpPr>
          <p:cNvPr id="7" name="Rectangle 6"/>
          <p:cNvSpPr/>
          <p:nvPr/>
        </p:nvSpPr>
        <p:spPr>
          <a:xfrm>
            <a:off x="762000" y="3942080"/>
            <a:ext cx="10668000" cy="127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BEFORE YOU RESIGN</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Answer these three</a:t>
            </a:r>
            <a:br/>
            <a:r>
              <a:rPr sz="3000" b="1" i="0">
                <a:solidFill>
                  <a:srgbClr val="F5F1E8"/>
                </a:solidFill>
                <a:latin typeface="Montserrat"/>
                <a:ea typeface="Montserrat"/>
                <a:cs typeface="Montserrat"/>
              </a:rPr>
              <a:t>first.</a:t>
            </a:r>
          </a:p>
        </p:txBody>
      </p:sp>
      <p:sp>
        <p:nvSpPr>
          <p:cNvPr id="5" name="TextBox 4"/>
          <p:cNvSpPr txBox="1"/>
          <p:nvPr/>
        </p:nvSpPr>
        <p:spPr>
          <a:xfrm>
            <a:off x="762000" y="34417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6" name="TextBox 5"/>
          <p:cNvSpPr txBox="1"/>
          <p:nvPr/>
        </p:nvSpPr>
        <p:spPr>
          <a:xfrm>
            <a:off x="1524000" y="3403600"/>
            <a:ext cx="9906000" cy="1270000"/>
          </a:xfrm>
          <a:prstGeom prst="rect">
            <a:avLst/>
          </a:prstGeom>
          <a:noFill/>
        </p:spPr>
        <p:txBody>
          <a:bodyPr wrap="square" lIns="0" rIns="0" tIns="0" bIns="0" anchor="t">
            <a:spAutoFit/>
          </a:bodyPr>
          <a:lstStyle/>
          <a:p>
            <a:pPr algn="l">
              <a:lnSpc>
                <a:spcPct val="120000"/>
              </a:lnSpc>
            </a:pPr>
            <a:r>
              <a:rPr sz="2200" b="1" i="0">
                <a:solidFill>
                  <a:srgbClr val="F5F1E8"/>
                </a:solidFill>
                <a:latin typeface="Montserrat"/>
                <a:ea typeface="Montserrat"/>
                <a:cs typeface="Montserrat"/>
              </a:rPr>
              <a:t>What evidence do I need to preserve now?</a:t>
            </a:r>
          </a:p>
        </p:txBody>
      </p:sp>
      <p:sp>
        <p:nvSpPr>
          <p:cNvPr id="7" name="Rectangle 6"/>
          <p:cNvSpPr/>
          <p:nvPr/>
        </p:nvSpPr>
        <p:spPr>
          <a:xfrm>
            <a:off x="762000" y="3942080"/>
            <a:ext cx="10668000" cy="127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25958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9" name="TextBox 8"/>
          <p:cNvSpPr txBox="1"/>
          <p:nvPr/>
        </p:nvSpPr>
        <p:spPr>
          <a:xfrm>
            <a:off x="1524000" y="4221480"/>
            <a:ext cx="9906000" cy="1270000"/>
          </a:xfrm>
          <a:prstGeom prst="rect">
            <a:avLst/>
          </a:prstGeom>
          <a:noFill/>
        </p:spPr>
        <p:txBody>
          <a:bodyPr wrap="square" lIns="0" rIns="0" tIns="0" bIns="0" anchor="t">
            <a:spAutoFit/>
          </a:bodyPr>
          <a:lstStyle/>
          <a:p>
            <a:pPr algn="l">
              <a:lnSpc>
                <a:spcPct val="120000"/>
              </a:lnSpc>
            </a:pPr>
            <a:r>
              <a:rPr sz="2200" b="1" i="0">
                <a:solidFill>
                  <a:srgbClr val="F5F1E8"/>
                </a:solidFill>
                <a:latin typeface="Montserrat"/>
                <a:ea typeface="Montserrat"/>
                <a:cs typeface="Montserrat"/>
              </a:rPr>
              <a:t>What does my strongest evidence show I can do?</a:t>
            </a:r>
          </a:p>
        </p:txBody>
      </p:sp>
      <p:sp>
        <p:nvSpPr>
          <p:cNvPr id="10" name="Rectangle 9"/>
          <p:cNvSpPr/>
          <p:nvPr/>
        </p:nvSpPr>
        <p:spPr>
          <a:xfrm>
            <a:off x="762000" y="4759960"/>
            <a:ext cx="10668000" cy="127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BEFORE YOU RESIGN</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Answer these three</a:t>
            </a:r>
            <a:br/>
            <a:r>
              <a:rPr sz="3000" b="1" i="0">
                <a:solidFill>
                  <a:srgbClr val="F5F1E8"/>
                </a:solidFill>
                <a:latin typeface="Montserrat"/>
                <a:ea typeface="Montserrat"/>
                <a:cs typeface="Montserrat"/>
              </a:rPr>
              <a:t>first.</a:t>
            </a:r>
          </a:p>
        </p:txBody>
      </p:sp>
      <p:sp>
        <p:nvSpPr>
          <p:cNvPr id="5" name="TextBox 4"/>
          <p:cNvSpPr txBox="1"/>
          <p:nvPr/>
        </p:nvSpPr>
        <p:spPr>
          <a:xfrm>
            <a:off x="762000" y="34417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6" name="TextBox 5"/>
          <p:cNvSpPr txBox="1"/>
          <p:nvPr/>
        </p:nvSpPr>
        <p:spPr>
          <a:xfrm>
            <a:off x="1524000" y="3403600"/>
            <a:ext cx="9906000" cy="1270000"/>
          </a:xfrm>
          <a:prstGeom prst="rect">
            <a:avLst/>
          </a:prstGeom>
          <a:noFill/>
        </p:spPr>
        <p:txBody>
          <a:bodyPr wrap="square" lIns="0" rIns="0" tIns="0" bIns="0" anchor="t">
            <a:spAutoFit/>
          </a:bodyPr>
          <a:lstStyle/>
          <a:p>
            <a:pPr algn="l">
              <a:lnSpc>
                <a:spcPct val="120000"/>
              </a:lnSpc>
            </a:pPr>
            <a:r>
              <a:rPr sz="2200" b="1" i="0">
                <a:solidFill>
                  <a:srgbClr val="F5F1E8"/>
                </a:solidFill>
                <a:latin typeface="Montserrat"/>
                <a:ea typeface="Montserrat"/>
                <a:cs typeface="Montserrat"/>
              </a:rPr>
              <a:t>What evidence do I need to preserve now?</a:t>
            </a:r>
          </a:p>
        </p:txBody>
      </p:sp>
      <p:sp>
        <p:nvSpPr>
          <p:cNvPr id="7" name="Rectangle 6"/>
          <p:cNvSpPr/>
          <p:nvPr/>
        </p:nvSpPr>
        <p:spPr>
          <a:xfrm>
            <a:off x="762000" y="3942080"/>
            <a:ext cx="10668000" cy="127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25958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9" name="TextBox 8"/>
          <p:cNvSpPr txBox="1"/>
          <p:nvPr/>
        </p:nvSpPr>
        <p:spPr>
          <a:xfrm>
            <a:off x="1524000" y="4221480"/>
            <a:ext cx="9906000" cy="1270000"/>
          </a:xfrm>
          <a:prstGeom prst="rect">
            <a:avLst/>
          </a:prstGeom>
          <a:noFill/>
        </p:spPr>
        <p:txBody>
          <a:bodyPr wrap="square" lIns="0" rIns="0" tIns="0" bIns="0" anchor="t">
            <a:spAutoFit/>
          </a:bodyPr>
          <a:lstStyle/>
          <a:p>
            <a:pPr algn="l">
              <a:lnSpc>
                <a:spcPct val="120000"/>
              </a:lnSpc>
            </a:pPr>
            <a:r>
              <a:rPr sz="2200" b="1" i="0">
                <a:solidFill>
                  <a:srgbClr val="F5F1E8"/>
                </a:solidFill>
                <a:latin typeface="Montserrat"/>
                <a:ea typeface="Montserrat"/>
                <a:cs typeface="Montserrat"/>
              </a:rPr>
              <a:t>What does my strongest evidence show I can do?</a:t>
            </a:r>
          </a:p>
        </p:txBody>
      </p:sp>
      <p:sp>
        <p:nvSpPr>
          <p:cNvPr id="10" name="Rectangle 9"/>
          <p:cNvSpPr/>
          <p:nvPr/>
        </p:nvSpPr>
        <p:spPr>
          <a:xfrm>
            <a:off x="762000" y="4759960"/>
            <a:ext cx="10668000" cy="127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507746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03</a:t>
            </a:r>
          </a:p>
        </p:txBody>
      </p:sp>
      <p:sp>
        <p:nvSpPr>
          <p:cNvPr id="12" name="TextBox 11"/>
          <p:cNvSpPr txBox="1"/>
          <p:nvPr/>
        </p:nvSpPr>
        <p:spPr>
          <a:xfrm>
            <a:off x="1524000" y="5039360"/>
            <a:ext cx="9906000" cy="1270000"/>
          </a:xfrm>
          <a:prstGeom prst="rect">
            <a:avLst/>
          </a:prstGeom>
          <a:noFill/>
        </p:spPr>
        <p:txBody>
          <a:bodyPr wrap="square" lIns="0" rIns="0" tIns="0" bIns="0" anchor="t">
            <a:spAutoFit/>
          </a:bodyPr>
          <a:lstStyle/>
          <a:p>
            <a:pPr algn="l">
              <a:lnSpc>
                <a:spcPct val="120000"/>
              </a:lnSpc>
            </a:pPr>
            <a:r>
              <a:rPr sz="2200" b="1" i="0">
                <a:solidFill>
                  <a:srgbClr val="F5F1E8"/>
                </a:solidFill>
                <a:latin typeface="Montserrat"/>
                <a:ea typeface="Montserrat"/>
                <a:cs typeface="Montserrat"/>
              </a:rPr>
              <a:t>What must the next move use and build?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CAREER DECISION EVIDENCE CHECK</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2000"/>
              </a:lnSpc>
            </a:pPr>
            <a:r>
              <a:rPr sz="2700" b="1" i="0">
                <a:solidFill>
                  <a:srgbClr val="0F2346"/>
                </a:solidFill>
                <a:latin typeface="Montserrat"/>
                <a:ea typeface="Montserrat"/>
                <a:cs typeface="Montserrat"/>
              </a:rPr>
              <a:t>Before you make the move,</a:t>
            </a:r>
            <a:br/>
            <a:r>
              <a:rPr sz="2700" b="1" i="0">
                <a:solidFill>
                  <a:srgbClr val="0F2346"/>
                </a:solidFill>
                <a:latin typeface="Montserrat"/>
                <a:ea typeface="Montserrat"/>
                <a:cs typeface="Montserrat"/>
              </a:rPr>
              <a:t>read what the work has built.</a:t>
            </a:r>
          </a:p>
        </p:txBody>
      </p:sp>
      <p:sp>
        <p:nvSpPr>
          <p:cNvPr id="5" name="Rectangle 4"/>
          <p:cNvSpPr/>
          <p:nvPr/>
        </p:nvSpPr>
        <p:spPr>
          <a:xfrm>
            <a:off x="762000" y="3810000"/>
            <a:ext cx="1270000" cy="254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62000" y="4445000"/>
            <a:ext cx="5715000" cy="6096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4445000"/>
            <a:ext cx="5715000" cy="609600"/>
          </a:xfrm>
          <a:prstGeom prst="rect">
            <a:avLst/>
          </a:prstGeom>
          <a:noFill/>
        </p:spPr>
        <p:txBody>
          <a:bodyPr wrap="square" lIns="0" rIns="0" tIns="0" bIns="0" anchor="ctr">
            <a:spAutoFit/>
          </a:bodyPr>
          <a:lstStyle/>
          <a:p>
            <a:pPr algn="ctr">
              <a:lnSpc>
                <a:spcPct val="112000"/>
              </a:lnSpc>
            </a:pPr>
            <a:r>
              <a:rPr sz="2000" b="1" i="0">
                <a:solidFill>
                  <a:srgbClr val="F5F1E8"/>
                </a:solidFill>
                <a:latin typeface="Montserrat"/>
                <a:ea typeface="Montserrat"/>
                <a:cs typeface="Montserrat"/>
              </a:rPr>
              <a:t>temidayoafonja.com/career-decisions</a:t>
            </a:r>
          </a:p>
        </p:txBody>
      </p:sp>
      <p:sp>
        <p:nvSpPr>
          <p:cNvPr id="8" name="Rectangle 7"/>
          <p:cNvSpPr/>
          <p:nvPr/>
        </p:nvSpPr>
        <p:spPr>
          <a:xfrm>
            <a:off x="10591800" y="4445000"/>
            <a:ext cx="279400" cy="2794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47400" y="4445000"/>
            <a:ext cx="279400" cy="2794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591800" y="4800600"/>
            <a:ext cx="279400" cy="2794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47400" y="4800600"/>
            <a:ext cx="279400" cy="2794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933700"/>
            <a:ext cx="5715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WATCH NEXT</a:t>
            </a:r>
          </a:p>
        </p:txBody>
      </p:sp>
      <p:sp>
        <p:nvSpPr>
          <p:cNvPr id="4" name="TextBox 3"/>
          <p:cNvSpPr txBox="1"/>
          <p:nvPr/>
        </p:nvSpPr>
        <p:spPr>
          <a:xfrm>
            <a:off x="762000" y="3276600"/>
            <a:ext cx="6223000" cy="1270000"/>
          </a:xfrm>
          <a:prstGeom prst="rect">
            <a:avLst/>
          </a:prstGeom>
          <a:noFill/>
        </p:spPr>
        <p:txBody>
          <a:bodyPr wrap="square" lIns="0" rIns="0" tIns="0" bIns="0" anchor="t">
            <a:spAutoFit/>
          </a:bodyPr>
          <a:lstStyle/>
          <a:p>
            <a:pPr algn="l">
              <a:lnSpc>
                <a:spcPct val="112000"/>
              </a:lnSpc>
            </a:pPr>
            <a:r>
              <a:rPr sz="3700" b="1" i="0">
                <a:solidFill>
                  <a:srgbClr val="F5F1E8"/>
                </a:solidFill>
                <a:latin typeface="Montserrat"/>
                <a:ea typeface="Montserrat"/>
                <a:cs typeface="Montserrat"/>
              </a:rPr>
              <a:t>How to Change Jobs</a:t>
            </a:r>
            <a:br/>
            <a:r>
              <a:rPr sz="3700" b="1" i="0">
                <a:solidFill>
                  <a:srgbClr val="F5F1E8"/>
                </a:solidFill>
                <a:latin typeface="Montserrat"/>
                <a:ea typeface="Montserrat"/>
                <a:cs typeface="Montserrat"/>
              </a:rPr>
              <a:t>Without Starting</a:t>
            </a:r>
            <a:br/>
            <a:r>
              <a:rPr sz="3700" b="1" i="0">
                <a:solidFill>
                  <a:srgbClr val="F5F1E8"/>
                </a:solidFill>
                <a:latin typeface="Montserrat"/>
                <a:ea typeface="Montserrat"/>
                <a:cs typeface="Montserrat"/>
              </a:rPr>
              <a:t>Your Career Over</a:t>
            </a:r>
          </a:p>
        </p:txBody>
      </p:sp>
      <p:sp>
        <p:nvSpPr>
          <p:cNvPr id="5" name="Rectangle 4"/>
          <p:cNvSpPr/>
          <p:nvPr/>
        </p:nvSpPr>
        <p:spPr>
          <a:xfrm>
            <a:off x="762000" y="5232400"/>
            <a:ext cx="1270000" cy="381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871200" y="5892800"/>
            <a:ext cx="203200" cy="2032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131550" y="5892800"/>
            <a:ext cx="203200" cy="2032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871200" y="6153150"/>
            <a:ext cx="203200" cy="2032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131550" y="6153150"/>
            <a:ext cx="203200" cy="2032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