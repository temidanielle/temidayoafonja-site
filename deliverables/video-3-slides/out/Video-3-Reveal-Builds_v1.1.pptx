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0:36.</a:t>
            </a:r>
          </a:p>
          <a:p>
            <a:r>
              <a:t>Slide 1 — Title.</a:t>
            </a:r>
          </a:p>
          <a:p>
            <a:r>
              <a:t>Cue — the line that lands on this slide: “I’m Temidayo Afonja.”</a:t>
            </a:r>
          </a:p>
          <a:p>
            <a:r>
              <a:t>Do NOT open on this slide. Begin full screen on Temidayo. The opening is four beats: “You may already know”, the description of where the viewer actually is, the refusal to argue for staying, and the three things.</a:t>
            </a:r>
          </a:p>
          <a:p>
            <a:r>
              <a:t>Bring the title card in only on “I’m Temidayo Afonja.”</a:t>
            </a:r>
          </a:p>
          <a:p>
            <a:r>
              <a:t>SAFETY BOUNDARY, IN FULL, ON THIS SLIDE: if health or safety is at risk, or the viewer is facing harassment or discrimination, nothing here is a reason to wait. Deliver it plainly on camera with captions. It is not a legal disclaimer and must not be styled as one. Do not soften it, shorten it, move it later or cut it.</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1:36.</a:t>
            </a:r>
          </a:p>
          <a:p>
            <a:r>
              <a:t>Slide 2 — Once You Leave, Access Changes.</a:t>
            </a:r>
          </a:p>
          <a:p>
            <a:r>
              <a:t>Cue — the line that lands on this slide: “Here is the practical thing that most of us find out too late.”</a:t>
            </a:r>
          </a:p>
          <a:p>
            <a:r>
              <a:t>The access-changes card. Reveal the losses one at a time as she names them.</a:t>
            </a:r>
          </a:p>
          <a:p>
            <a:r>
              <a:t>THE BRIDGE: “I once accepted a job offer that an acquisition rescinded before I ever got to start.” One sentence, and that is all. VIDEO 1 OWNS THE FULL STORY. No driving Uber, no Deloitte, no recruiter, no dates in this video.</a:t>
            </a:r>
          </a:p>
          <a:p>
            <a:r>
              <a:t>THE BRIDGE MUST NOT BE MISREAD. Temidayo did not quit that role. The very next line — “Your situation is different in one important way. You may be the one doing the choosing.” — must stay adjacent to it. Nothing in the edit may frame the rescinded role as an example of choosing to leave.</a:t>
            </a:r>
          </a:p>
          <a:p>
            <a:r>
              <a:t>Calm, not ominous. No countdown, no alarm motif, no exit-door imagery.</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2:41.</a:t>
            </a:r>
          </a:p>
          <a:p>
            <a:r>
              <a:t>Slide 3 — 01 Preserve the Evidence.</a:t>
            </a:r>
          </a:p>
          <a:p>
            <a:r>
              <a:t>Cue — the line that lands on this slide: “So the first thing is to preserve the evidence.”</a:t>
            </a:r>
          </a:p>
          <a:p>
            <a:r>
              <a:t>Section break only. The three checks do not arrive until about 2:41.</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4:19.</a:t>
            </a:r>
          </a:p>
          <a:p>
            <a:r>
              <a:t>Slide 5 — 02 Name What Your Work Built.</a:t>
            </a:r>
          </a:p>
          <a:p>
            <a:r>
              <a:t>Cue — the line that lands on this slide: “The second thing is to name what your work built.”</a:t>
            </a:r>
          </a:p>
          <a:p>
            <a:r>
              <a:t>Section break only.</a:t>
            </a:r>
          </a:p>
          <a:p>
            <a:r>
              <a:t>Single state. Reveal frame 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5 — main slide 6.</a:t>
            </a:r>
          </a:p>
          <a:p>
            <a:r>
              <a:t>Timing: approximately 4:23.</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5 — main slide 6.</a:t>
            </a:r>
          </a:p>
          <a:p>
            <a:r>
              <a:t>Timing: approximately 4:23.</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5 — main slide 6.</a:t>
            </a:r>
          </a:p>
          <a:p>
            <a:r>
              <a:t>Timing: approximately 4:23.</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5 — main slide 6.</a:t>
            </a:r>
          </a:p>
          <a:p>
            <a:r>
              <a:t>Timing: approximately 4:23.</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5 of 5 — main slide 6.</a:t>
            </a:r>
          </a:p>
          <a:p>
            <a:r>
              <a:t>Timing: approximately 4:23.</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5:37.</a:t>
            </a:r>
          </a:p>
          <a:p>
            <a:r>
              <a:t>Slide 7 — 03 Test the Next Move.</a:t>
            </a:r>
          </a:p>
          <a:p>
            <a:r>
              <a:t>Cue — the line that lands on this slide: “The third thing is to test the next move.”</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5:40.</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5:40.</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5:40.</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5:40.</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6:57.</a:t>
            </a:r>
          </a:p>
          <a:p>
            <a:r>
              <a:t>Slide 9 — The Three Checks.</a:t>
            </a:r>
          </a:p>
          <a:p>
            <a:r>
              <a:t>Cue — the line that lands on this slide: “So those are the three.”</a:t>
            </a:r>
          </a:p>
          <a:p>
            <a:r>
              <a:t>The three checks together on screen for the first time. Short slide.</a:t>
            </a:r>
          </a:p>
          <a:p>
            <a:r>
              <a:t>Single state. Reveal frame 19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11.</a:t>
            </a:r>
          </a:p>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11.</a:t>
            </a:r>
          </a:p>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11.</a:t>
            </a:r>
          </a:p>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8:40.</a:t>
            </a:r>
          </a:p>
          <a:p>
            <a:r>
              <a:t>Slide 12 — Career Decision Evidence Check.</a:t>
            </a:r>
          </a:p>
          <a:p>
            <a:r>
              <a:t>Cue — the line that lands on this slide: “If you want help doing this properly, I made the Career Decision Evidence Check.”</a:t>
            </a:r>
          </a:p>
          <a:p>
            <a:r>
              <a:t>One CTA in this video. Do not add the Field Kit, Keep the Proof or the Career Evidence Starter.</a:t>
            </a:r>
          </a:p>
          <a:p>
            <a:r>
              <a:t>CTA production gate: SATISFIED. The page is live. Retain one signed-out link check in the upload SOP before this video is scheduled.</a:t>
            </a:r>
          </a:p>
          <a:p>
            <a:r>
              <a:t>Single state. Reveal frame 26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8:59.</a:t>
            </a:r>
          </a:p>
          <a:p>
            <a:r>
              <a:t>Slide 13 — Watch Next.</a:t>
            </a:r>
          </a:p>
          <a:p>
            <a:r>
              <a:t>Cue — the line that lands on this slide: “And whichever way this goes, there is one more thing worth watching.”</a:t>
            </a:r>
          </a:p>
          <a:p>
            <a:r>
              <a:t>The Video 1 route. Card reads “How to Change Jobs Without Starting Your Career Over”.</a:t>
            </a:r>
          </a:p>
          <a:p>
            <a:r>
              <a:t>The reference here — “what happened when a role I had accepted disappeared before I started it” — is the only forward pointer to the full story. Do not extend it.</a:t>
            </a:r>
          </a:p>
          <a:p>
            <a:r>
              <a:t>Sign off clean on the last two lines.</a:t>
            </a:r>
          </a:p>
          <a:p>
            <a:r>
              <a:t>Single state. Reveal frame 27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THREE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4800" b="1" i="0">
                <a:solidFill>
                  <a:srgbClr val="F5F1E8"/>
                </a:solidFill>
                <a:latin typeface="Montserrat"/>
                <a:ea typeface="Montserrat"/>
                <a:cs typeface="Montserrat"/>
              </a:rPr>
              <a:t>3 Things to Do</a:t>
            </a:r>
            <a:br/>
            <a:r>
              <a:rPr sz="4800" b="1" i="0">
                <a:solidFill>
                  <a:srgbClr val="F5F1E8"/>
                </a:solidFill>
                <a:latin typeface="Montserrat"/>
                <a:ea typeface="Montserrat"/>
                <a:cs typeface="Montserrat"/>
              </a:rPr>
              <a:t>Before Quitting</a:t>
            </a:r>
            <a:br/>
            <a:r>
              <a:rPr sz="4800" b="1" i="0">
                <a:solidFill>
                  <a:srgbClr val="F5F1E8"/>
                </a:solidFill>
                <a:latin typeface="Montserrat"/>
                <a:ea typeface="Montserrat"/>
                <a:cs typeface="Montserrat"/>
              </a:rPr>
              <a:t>Your Job</a:t>
            </a:r>
          </a:p>
        </p:txBody>
      </p:sp>
      <p:sp>
        <p:nvSpPr>
          <p:cNvPr id="10" name="Rectangle 9"/>
          <p:cNvSpPr/>
          <p:nvPr/>
        </p:nvSpPr>
        <p:spPr>
          <a:xfrm>
            <a:off x="863600" y="56515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055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Once you leave,</a:t>
            </a:r>
            <a:br/>
            <a:r>
              <a:rPr sz="3000" b="1" i="0">
                <a:solidFill>
                  <a:srgbClr val="0F2346"/>
                </a:solidFill>
                <a:latin typeface="Montserrat"/>
                <a:ea typeface="Montserrat"/>
                <a:cs typeface="Montserrat"/>
              </a:rPr>
              <a:t>access changes.</a:t>
            </a:r>
          </a:p>
        </p:txBody>
      </p:sp>
      <p:sp>
        <p:nvSpPr>
          <p:cNvPr id="5" name="TextBox 4"/>
          <p:cNvSpPr txBox="1"/>
          <p:nvPr/>
        </p:nvSpPr>
        <p:spPr>
          <a:xfrm>
            <a:off x="762000" y="3251200"/>
            <a:ext cx="9906000" cy="1270000"/>
          </a:xfrm>
          <a:prstGeom prst="rect">
            <a:avLst/>
          </a:prstGeom>
          <a:noFill/>
        </p:spPr>
        <p:txBody>
          <a:bodyPr wrap="square" lIns="0" rIns="0" tIns="0" bIns="0" anchor="t">
            <a:spAutoFit/>
          </a:bodyPr>
          <a:lstStyle/>
          <a:p>
            <a:pPr algn="l">
              <a:lnSpc>
                <a:spcPct val="135000"/>
              </a:lnSpc>
            </a:pPr>
            <a:r>
              <a:rPr sz="1700" b="0" i="0">
                <a:solidFill>
                  <a:srgbClr val="5A6B82"/>
                </a:solidFill>
                <a:latin typeface="DM Sans"/>
                <a:ea typeface="DM Sans"/>
                <a:cs typeface="DM Sans"/>
              </a:rPr>
              <a:t>Evidence, systems and people can become harder to reach.</a:t>
            </a:r>
          </a:p>
        </p:txBody>
      </p:sp>
      <p:sp>
        <p:nvSpPr>
          <p:cNvPr id="6" name="Rectangle 5"/>
          <p:cNvSpPr/>
          <p:nvPr/>
        </p:nvSpPr>
        <p:spPr>
          <a:xfrm>
            <a:off x="762000" y="4191000"/>
            <a:ext cx="1143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83100"/>
            <a:ext cx="9906000" cy="1270000"/>
          </a:xfrm>
          <a:prstGeom prst="rect">
            <a:avLst/>
          </a:prstGeom>
          <a:noFill/>
        </p:spPr>
        <p:txBody>
          <a:bodyPr wrap="square" lIns="0" rIns="0" tIns="0" bIns="0" anchor="t">
            <a:spAutoFit/>
          </a:bodyPr>
          <a:lstStyle/>
          <a:p>
            <a:pPr algn="l">
              <a:lnSpc>
                <a:spcPct val="138000"/>
              </a:lnSpc>
            </a:pPr>
            <a:r>
              <a:rPr sz="1500" b="1" i="0">
                <a:solidFill>
                  <a:srgbClr val="0F2346"/>
                </a:solidFill>
                <a:latin typeface="Montserrat"/>
                <a:ea typeface="Montserrat"/>
                <a:cs typeface="Montserrat"/>
              </a:rPr>
              <a:t>If your health or safety is at risk, or you are facing harassment or</a:t>
            </a:r>
            <a:br/>
            <a:r>
              <a:rPr sz="1500" b="1" i="0">
                <a:solidFill>
                  <a:srgbClr val="0F2346"/>
                </a:solidFill>
                <a:latin typeface="Montserrat"/>
                <a:ea typeface="Montserrat"/>
                <a:cs typeface="Montserrat"/>
              </a:rPr>
              <a:t>discrimination, this is not a reason to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Preserve the</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Keep what is yours to keep.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
        <p:nvSpPr>
          <p:cNvPr id="15" name="Rectangle 14"/>
          <p:cNvSpPr/>
          <p:nvPr/>
        </p:nvSpPr>
        <p:spPr>
          <a:xfrm>
            <a:off x="6223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3000" y="3149600"/>
            <a:ext cx="5207000" cy="508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2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1440E"/>
                </a:solidFill>
                <a:latin typeface="Montserrat"/>
                <a:ea typeface="Montserrat"/>
                <a:cs typeface="Montserrat"/>
              </a:rPr>
              <a:t>Not yours to take</a:t>
            </a:r>
          </a:p>
        </p:txBody>
      </p:sp>
      <p:sp>
        <p:nvSpPr>
          <p:cNvPr id="18" name="TextBox 17"/>
          <p:cNvSpPr txBox="1"/>
          <p:nvPr/>
        </p:nvSpPr>
        <p:spPr>
          <a:xfrm>
            <a:off x="6502400" y="3784600"/>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Confidential information</a:t>
            </a:r>
          </a:p>
        </p:txBody>
      </p:sp>
      <p:sp>
        <p:nvSpPr>
          <p:cNvPr id="19" name="TextBox 18"/>
          <p:cNvSpPr txBox="1"/>
          <p:nvPr/>
        </p:nvSpPr>
        <p:spPr>
          <a:xfrm>
            <a:off x="6502400" y="4086098"/>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Customer data</a:t>
            </a:r>
          </a:p>
        </p:txBody>
      </p:sp>
      <p:sp>
        <p:nvSpPr>
          <p:cNvPr id="20" name="TextBox 19"/>
          <p:cNvSpPr txBox="1"/>
          <p:nvPr/>
        </p:nvSpPr>
        <p:spPr>
          <a:xfrm>
            <a:off x="6502400" y="4387596"/>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Employee data</a:t>
            </a:r>
          </a:p>
        </p:txBody>
      </p:sp>
      <p:sp>
        <p:nvSpPr>
          <p:cNvPr id="21" name="TextBox 20"/>
          <p:cNvSpPr txBox="1"/>
          <p:nvPr/>
        </p:nvSpPr>
        <p:spPr>
          <a:xfrm>
            <a:off x="6502400" y="4689094"/>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Proprietary documents</a:t>
            </a:r>
          </a:p>
        </p:txBody>
      </p:sp>
      <p:sp>
        <p:nvSpPr>
          <p:cNvPr id="22" name="TextBox 21"/>
          <p:cNvSpPr txBox="1"/>
          <p:nvPr/>
        </p:nvSpPr>
        <p:spPr>
          <a:xfrm>
            <a:off x="6502400" y="4990592"/>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Anything employer-owned you have</a:t>
            </a:r>
            <a:br/>
            <a:r>
              <a:rPr sz="1350" b="1" i="0">
                <a:solidFill>
                  <a:srgbClr val="5A6B82"/>
                </a:solidFill>
                <a:latin typeface="Montserrat"/>
                <a:ea typeface="Montserrat"/>
                <a:cs typeface="Montserrat"/>
              </a:rPr>
              <a:t>no right to keep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Name what</a:t>
            </a:r>
            <a:br/>
            <a:r>
              <a:rPr sz="3800" b="1" i="0">
                <a:solidFill>
                  <a:srgbClr val="0F2346"/>
                </a:solidFill>
                <a:latin typeface="Montserrat"/>
                <a:ea typeface="Montserrat"/>
                <a:cs typeface="Montserrat"/>
              </a:rPr>
              <a:t>the work built</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An achievement is useful when you understand what it proves.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
        <p:nvSpPr>
          <p:cNvPr id="19" name="TextBox 18"/>
          <p:cNvSpPr txBox="1"/>
          <p:nvPr/>
        </p:nvSpPr>
        <p:spPr>
          <a:xfrm>
            <a:off x="762000" y="5880100"/>
            <a:ext cx="10668000" cy="1270000"/>
          </a:xfrm>
          <a:prstGeom prst="rect">
            <a:avLst/>
          </a:prstGeom>
          <a:noFill/>
        </p:spPr>
        <p:txBody>
          <a:bodyPr wrap="square" lIns="0" rIns="0" tIns="0" bIns="0" anchor="t">
            <a:spAutoFit/>
          </a:bodyPr>
          <a:lstStyle/>
          <a:p>
            <a:pPr algn="l">
              <a:lnSpc>
                <a:spcPct val="130000"/>
              </a:lnSpc>
            </a:pPr>
            <a:r>
              <a:rPr sz="1600" b="1" i="0">
                <a:solidFill>
                  <a:srgbClr val="244B78"/>
                </a:solidFill>
                <a:latin typeface="Montserrat"/>
                <a:ea typeface="Montserrat"/>
                <a:cs typeface="Montserrat"/>
              </a:rPr>
              <a:t>Then ask: where else could that combination matter?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Test the</a:t>
            </a:r>
            <a:br/>
            <a:r>
              <a:rPr sz="3800" b="1" i="0">
                <a:solidFill>
                  <a:srgbClr val="0F2346"/>
                </a:solidFill>
                <a:latin typeface="Montserrat"/>
                <a:ea typeface="Montserrat"/>
                <a:cs typeface="Montserrat"/>
              </a:rPr>
              <a:t>next move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Look for overlap between what is proven and what must still grow.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
        <p:nvSpPr>
          <p:cNvPr id="13" name="TextBox 12"/>
          <p:cNvSpPr txBox="1"/>
          <p:nvPr/>
        </p:nvSpPr>
        <p:spPr>
          <a:xfrm>
            <a:off x="762000" y="56388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6261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I be able to do after a year that I cannot do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CHECKS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Take them in order,</a:t>
            </a:r>
            <a:br/>
            <a:r>
              <a:rPr sz="2700" b="1" i="0">
                <a:solidFill>
                  <a:srgbClr val="0F2346"/>
                </a:solidFill>
                <a:latin typeface="Montserrat"/>
                <a:ea typeface="Montserrat"/>
                <a:cs typeface="Montserrat"/>
              </a:rPr>
              <a:t>before you resign.</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Preserve the</a:t>
            </a:r>
            <a:br/>
            <a:r>
              <a:rPr sz="1800" b="1" i="0">
                <a:solidFill>
                  <a:srgbClr val="0F2346"/>
                </a:solidFill>
                <a:latin typeface="Montserrat"/>
                <a:ea typeface="Montserrat"/>
                <a:cs typeface="Montserrat"/>
              </a:rPr>
              <a:t>evidence</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Name what</a:t>
            </a:r>
            <a:br/>
            <a:r>
              <a:rPr sz="1800" b="1" i="0">
                <a:solidFill>
                  <a:srgbClr val="0F2346"/>
                </a:solidFill>
                <a:latin typeface="Montserrat"/>
                <a:ea typeface="Montserrat"/>
                <a:cs typeface="Montserrat"/>
              </a:rPr>
              <a:t>the work built</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Test the</a:t>
            </a:r>
            <a:br/>
            <a:r>
              <a:rPr sz="1800" b="1" i="0">
                <a:solidFill>
                  <a:srgbClr val="0F2346"/>
                </a:solidFill>
                <a:latin typeface="Montserrat"/>
                <a:ea typeface="Montserrat"/>
                <a:cs typeface="Montserrat"/>
              </a:rPr>
              <a:t>next move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05968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Build a bridge</a:t>
            </a:r>
          </a:p>
        </p:txBody>
      </p:sp>
      <p:sp>
        <p:nvSpPr>
          <p:cNvPr id="13" name="TextBox 12"/>
          <p:cNvSpPr txBox="1"/>
          <p:nvPr/>
        </p:nvSpPr>
        <p:spPr>
          <a:xfrm>
            <a:off x="3556000" y="503428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You need something first: a credential, outside-context</a:t>
            </a:r>
            <a:br/>
            <a:r>
              <a:rPr sz="1600" b="1" i="0">
                <a:solidFill>
                  <a:srgbClr val="0F2346"/>
                </a:solidFill>
                <a:latin typeface="Montserrat"/>
                <a:ea typeface="Montserrat"/>
                <a:cs typeface="Montserrat"/>
              </a:rPr>
              <a:t>evidence, financial runway, or a clearer translation of</a:t>
            </a:r>
            <a:br/>
            <a:r>
              <a:rPr sz="1600" b="1" i="0">
                <a:solidFill>
                  <a:srgbClr val="0F2346"/>
                </a:solidFill>
                <a:latin typeface="Montserrat"/>
                <a:ea typeface="Montserrat"/>
                <a:cs typeface="Montserrat"/>
              </a:rPr>
              <a:t>what your experience can do elsewhere.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0774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2" name="TextBox 11"/>
          <p:cNvSpPr txBox="1"/>
          <p:nvPr/>
        </p:nvSpPr>
        <p:spPr>
          <a:xfrm>
            <a:off x="1524000" y="50393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must the next move use and build?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CAREER DECISION EVIDENCE CHECK</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Before you make the move,</a:t>
            </a:r>
            <a:br/>
            <a:r>
              <a:rPr sz="2700" b="1" i="0">
                <a:solidFill>
                  <a:srgbClr val="0F2346"/>
                </a:solidFill>
                <a:latin typeface="Montserrat"/>
                <a:ea typeface="Montserrat"/>
                <a:cs typeface="Montserrat"/>
              </a:rPr>
              <a:t>read what the work has built.</a:t>
            </a:r>
          </a:p>
        </p:txBody>
      </p:sp>
      <p:sp>
        <p:nvSpPr>
          <p:cNvPr id="5" name="Rectangle 4"/>
          <p:cNvSpPr/>
          <p:nvPr/>
        </p:nvSpPr>
        <p:spPr>
          <a:xfrm>
            <a:off x="762000" y="3810000"/>
            <a:ext cx="1270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4445000"/>
            <a:ext cx="5715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45000"/>
            <a:ext cx="5715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temidayoafonja.com/career-decisions</a:t>
            </a:r>
          </a:p>
        </p:txBody>
      </p:sp>
      <p:sp>
        <p:nvSpPr>
          <p:cNvPr id="8" name="Rectangle 7"/>
          <p:cNvSpPr/>
          <p:nvPr/>
        </p:nvSpPr>
        <p:spPr>
          <a:xfrm>
            <a:off x="10591800" y="44450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47400" y="4445000"/>
            <a:ext cx="279400" cy="279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918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474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223000" cy="1270000"/>
          </a:xfrm>
          <a:prstGeom prst="rect">
            <a:avLst/>
          </a:prstGeom>
          <a:noFill/>
        </p:spPr>
        <p:txBody>
          <a:bodyPr wrap="square" lIns="0" rIns="0" tIns="0" bIns="0" anchor="t">
            <a:spAutoFit/>
          </a:bodyPr>
          <a:lstStyle/>
          <a:p>
            <a:pPr algn="l">
              <a:lnSpc>
                <a:spcPct val="112000"/>
              </a:lnSpc>
            </a:pPr>
            <a:r>
              <a:rPr sz="3700" b="1" i="0">
                <a:solidFill>
                  <a:srgbClr val="F5F1E8"/>
                </a:solidFill>
                <a:latin typeface="Montserrat"/>
                <a:ea typeface="Montserrat"/>
                <a:cs typeface="Montserrat"/>
              </a:rPr>
              <a:t>How to Change Jobs</a:t>
            </a:r>
            <a:br/>
            <a:r>
              <a:rPr sz="3700" b="1" i="0">
                <a:solidFill>
                  <a:srgbClr val="F5F1E8"/>
                </a:solidFill>
                <a:latin typeface="Montserrat"/>
                <a:ea typeface="Montserrat"/>
                <a:cs typeface="Montserrat"/>
              </a:rPr>
              <a:t>Without Starting</a:t>
            </a:r>
            <a:br/>
            <a:r>
              <a:rPr sz="3700" b="1" i="0">
                <a:solidFill>
                  <a:srgbClr val="F5F1E8"/>
                </a:solidFill>
                <a:latin typeface="Montserrat"/>
                <a:ea typeface="Montserrat"/>
                <a:cs typeface="Montserrat"/>
              </a:rPr>
              <a:t>Your Career Over</a:t>
            </a:r>
          </a:p>
        </p:txBody>
      </p:sp>
      <p:sp>
        <p:nvSpPr>
          <p:cNvPr id="5" name="Rectangle 4"/>
          <p:cNvSpPr/>
          <p:nvPr/>
        </p:nvSpPr>
        <p:spPr>
          <a:xfrm>
            <a:off x="762000" y="52324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