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0:39.</a:t>
            </a:r>
          </a:p>
          <a:p>
            <a:r>
              <a:t>Slide 1 — Title.</a:t>
            </a:r>
          </a:p>
          <a:p>
            <a:r>
              <a:t>Cue — the line that lands on this slide: “I’m Temidayo Afonja.”</a:t>
            </a:r>
          </a:p>
          <a:p>
            <a:r>
              <a:t>Do NOT open on this slide. Begin full screen on Temidayo. The opening is four beats: “You may already know”, the description of where the viewer actually is, the refusal to argue for staying, and the three things.</a:t>
            </a:r>
          </a:p>
          <a:p>
            <a:r>
              <a:t>Bring the title card in only on “I’m Temidayo Afonja.”</a:t>
            </a:r>
          </a:p>
          <a:p>
            <a:r>
              <a:t>SAFETY BOUNDARY, IN FULL, ON THIS SLIDE: if health or safety is at risk, or the viewer is facing harassment or discrimination, nothing here is a reason to wait. Deliver it plainly on camera with captions. It is not a legal disclaimer and must not be styled as one. Do not soften it, shorten it, move it later or cut it.</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1:38.</a:t>
            </a:r>
          </a:p>
          <a:p>
            <a:r>
              <a:t>Slide 2 — Once You Leave, Access Changes.</a:t>
            </a:r>
          </a:p>
          <a:p>
            <a:r>
              <a:t>Cue — the line that lands on this slide: “Here is the practical thing that most of us find out too late.”</a:t>
            </a:r>
          </a:p>
          <a:p>
            <a:r>
              <a:t>The access-changes card. Reveal the losses one at a time as she names them.</a:t>
            </a:r>
          </a:p>
          <a:p>
            <a:r>
              <a:t>THE BRIDGE: “I once accepted a job offer that an acquisition rescinded before I ever got to start.” One sentence, and that is all. VIDEO 1 OWNS THE FULL STORY. No driving Uber, no Deloitte, no recruiter, no dates in this video.</a:t>
            </a:r>
          </a:p>
          <a:p>
            <a:r>
              <a:t>THE BRIDGE MUST NOT BE MISREAD. Temidayo did not quit that role. The very next line — “Your situation is different in one important way. You may be the one doing the choosing.” — must stay adjacent to it. Nothing in the edit may frame the rescinded role as an example of choosing to leave.</a:t>
            </a:r>
          </a:p>
          <a:p>
            <a:r>
              <a:t>Calm, not ominous. No countdown, no alarm motif, no exit-door imagery.</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2:42.</a:t>
            </a:r>
          </a:p>
          <a:p>
            <a:r>
              <a:t>Slide 3 — 01 Preserve the Evidence.</a:t>
            </a:r>
          </a:p>
          <a:p>
            <a:r>
              <a:t>Cue — the line that lands on this slide: “So the first thing is to preserve the evidence.”</a:t>
            </a:r>
          </a:p>
          <a:p>
            <a:r>
              <a:t>Section break only. The three checks do not arrive until about 2:41.</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4.</a:t>
            </a:r>
          </a:p>
          <a:p>
            <a:r>
              <a:t>Timing: approximately 2:45.</a:t>
            </a:r>
          </a:p>
          <a:p>
            <a:r>
              <a:t>Slide 4 — What to Keep / What Not to Take.</a:t>
            </a:r>
          </a:p>
          <a:p>
            <a:r>
              <a:t>Cue — the line that lands on this slide: “And I have to be precise here, because this is the part that gets misread in both directions.”</a:t>
            </a:r>
          </a:p>
          <a:p>
            <a:r>
              <a:t>Two columns: what is yours to keep beside what is not. Reveal the keep side first, then the do-not-take side.</a:t>
            </a:r>
          </a:p>
          <a:p>
            <a:r>
              <a:t>EVIDENCE BOUNDARY — the reason this slide exists. No client material, no employee data, no internal documents, decks, code, models or files, nothing confidential or proprietary, nothing the contract covers. “If you have to think about whether a document is yours, it is not yours.”</a:t>
            </a:r>
          </a:p>
          <a:p>
            <a:r>
              <a:t>Nothing in the visual treatment may suggest copying, exporting or removing employer material.</a:t>
            </a:r>
          </a:p>
          <a:p>
            <a:r>
              <a:t>The second half is the other error: concluding there is nothing to keep. Keep both halves.</a:t>
            </a:r>
          </a:p>
          <a:p>
            <a:r>
              <a:t>Reveal states: 4. Reveal frame 4–7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4.</a:t>
            </a:r>
          </a:p>
          <a:p>
            <a:r>
              <a:t>Timing: approximately 2:45.</a:t>
            </a:r>
          </a:p>
          <a:p>
            <a:r>
              <a:t>Slide 4 — What to Keep / What Not to Take.</a:t>
            </a:r>
          </a:p>
          <a:p>
            <a:r>
              <a:t>Cue — the line that lands on this slide: “And I have to be precise here, because this is the part that gets misread in both directions.”</a:t>
            </a:r>
          </a:p>
          <a:p>
            <a:r>
              <a:t>Two columns: what is yours to keep beside what is not. Reveal the keep side first, then the do-not-take side.</a:t>
            </a:r>
          </a:p>
          <a:p>
            <a:r>
              <a:t>EVIDENCE BOUNDARY — the reason this slide exists. No client material, no employee data, no internal documents, decks, code, models or files, nothing confidential or proprietary, nothing the contract covers. “If you have to think about whether a document is yours, it is not yours.”</a:t>
            </a:r>
          </a:p>
          <a:p>
            <a:r>
              <a:t>Nothing in the visual treatment may suggest copying, exporting or removing employer material.</a:t>
            </a:r>
          </a:p>
          <a:p>
            <a:r>
              <a:t>The second half is the other error: concluding there is nothing to keep. Keep both halves.</a:t>
            </a:r>
          </a:p>
          <a:p>
            <a:r>
              <a:t>Reveal states: 4. Reveal frame 4–7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4.</a:t>
            </a:r>
          </a:p>
          <a:p>
            <a:r>
              <a:t>Timing: approximately 2:45.</a:t>
            </a:r>
          </a:p>
          <a:p>
            <a:r>
              <a:t>Slide 4 — What to Keep / What Not to Take.</a:t>
            </a:r>
          </a:p>
          <a:p>
            <a:r>
              <a:t>Cue — the line that lands on this slide: “And I have to be precise here, because this is the part that gets misread in both directions.”</a:t>
            </a:r>
          </a:p>
          <a:p>
            <a:r>
              <a:t>Two columns: what is yours to keep beside what is not. Reveal the keep side first, then the do-not-take side.</a:t>
            </a:r>
          </a:p>
          <a:p>
            <a:r>
              <a:t>EVIDENCE BOUNDARY — the reason this slide exists. No client material, no employee data, no internal documents, decks, code, models or files, nothing confidential or proprietary, nothing the contract covers. “If you have to think about whether a document is yours, it is not yours.”</a:t>
            </a:r>
          </a:p>
          <a:p>
            <a:r>
              <a:t>Nothing in the visual treatment may suggest copying, exporting or removing employer material.</a:t>
            </a:r>
          </a:p>
          <a:p>
            <a:r>
              <a:t>The second half is the other error: concluding there is nothing to keep. Keep both halves.</a:t>
            </a:r>
          </a:p>
          <a:p>
            <a:r>
              <a:t>Reveal states: 4. Reveal frame 4–7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4.</a:t>
            </a:r>
          </a:p>
          <a:p>
            <a:r>
              <a:t>Timing: approximately 2:45.</a:t>
            </a:r>
          </a:p>
          <a:p>
            <a:r>
              <a:t>Slide 4 — What to Keep / What Not to Take.</a:t>
            </a:r>
          </a:p>
          <a:p>
            <a:r>
              <a:t>Cue — the line that lands on this slide: “And I have to be precise here, because this is the part that gets misread in both directions.”</a:t>
            </a:r>
          </a:p>
          <a:p>
            <a:r>
              <a:t>Two columns: what is yours to keep beside what is not. Reveal the keep side first, then the do-not-take side.</a:t>
            </a:r>
          </a:p>
          <a:p>
            <a:r>
              <a:t>EVIDENCE BOUNDARY — the reason this slide exists. No client material, no employee data, no internal documents, decks, code, models or files, nothing confidential or proprietary, nothing the contract covers. “If you have to think about whether a document is yours, it is not yours.”</a:t>
            </a:r>
          </a:p>
          <a:p>
            <a:r>
              <a:t>Nothing in the visual treatment may suggest copying, exporting or removing employer material.</a:t>
            </a:r>
          </a:p>
          <a:p>
            <a:r>
              <a:t>The second half is the other error: concluding there is nothing to keep. Keep both halves.</a:t>
            </a:r>
          </a:p>
          <a:p>
            <a:r>
              <a:t>Reveal states: 4. Reveal frame 4–7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4:19.</a:t>
            </a:r>
          </a:p>
          <a:p>
            <a:r>
              <a:t>Slide 5 — 02 Name What Your Work Built.</a:t>
            </a:r>
          </a:p>
          <a:p>
            <a:r>
              <a:t>Cue — the line that lands on this slide: “The second thing is to name what your work built.”</a:t>
            </a:r>
          </a:p>
          <a:p>
            <a:r>
              <a:t>Section break only.</a:t>
            </a:r>
          </a:p>
          <a:p>
            <a:r>
              <a:t>Single state. Reveal frame 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5 — main slide 6.</a:t>
            </a:r>
          </a:p>
          <a:p>
            <a:r>
              <a:t>Timing: approximately 4:24.</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5 — main slide 6.</a:t>
            </a:r>
          </a:p>
          <a:p>
            <a:r>
              <a:t>Timing: approximately 4:24.</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5 — main slide 6.</a:t>
            </a:r>
          </a:p>
          <a:p>
            <a:r>
              <a:t>Timing: approximately 4:24.</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5 — main slide 6.</a:t>
            </a:r>
          </a:p>
          <a:p>
            <a:r>
              <a:t>Timing: approximately 4:24.</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5 of 5 — main slide 6.</a:t>
            </a:r>
          </a:p>
          <a:p>
            <a:r>
              <a:t>Timing: approximately 4:24.</a:t>
            </a:r>
          </a:p>
          <a:p>
            <a:r>
              <a:t>Slide 6 — Problem / Constraint / Judgment / Outcome.</a:t>
            </a:r>
          </a:p>
          <a:p>
            <a:r>
              <a:t>Cue — the line that lands on this slide: “Most of us leave a job carrying a list of tasks and a feeling.”</a:t>
            </a:r>
          </a:p>
          <a:p>
            <a:r>
              <a:t>The four prompts reveal one at a time.</a:t>
            </a:r>
          </a:p>
          <a:p>
            <a:r>
              <a:t>Judgment is the third prompt and the one that gets left out. “Anybody can describe a project. Almost nobody describes the judgment they used inside it.” Give it room.</a:t>
            </a:r>
          </a:p>
          <a:p>
            <a:r>
              <a:t>The precision paragraph is a factual boundary in disguise: claim what you can support, name the measure that moved and not a bigger one, say you led it with your team. Keep it.</a:t>
            </a:r>
          </a:p>
          <a:p>
            <a:r>
              <a:t>Reveal states: 5. Reveal frame 9–13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5:37.</a:t>
            </a:r>
          </a:p>
          <a:p>
            <a:r>
              <a:t>Slide 7 — 03 Test the Next Move.</a:t>
            </a:r>
          </a:p>
          <a:p>
            <a:r>
              <a:t>Cue — the line that lands on this slide: “The third thing is to test the next move.”</a:t>
            </a:r>
          </a:p>
          <a:p>
            <a:r>
              <a:t>Section break only.</a:t>
            </a:r>
          </a:p>
          <a:p>
            <a:r>
              <a:t>Single state. Reveal frame 14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8.</a:t>
            </a:r>
          </a:p>
          <a:p>
            <a:r>
              <a:t>Timing: approximately 5:41.</a:t>
            </a:r>
          </a:p>
          <a:p>
            <a:r>
              <a:t>Slide 8 — Uses Something Proven / Builds Something New.</a:t>
            </a:r>
          </a:p>
          <a:p>
            <a:r>
              <a:t>Cue — the line that lands on this slide: “Hold whatever you are considering — a new employer, a new function, working for yourself, or nothing yet — up against two questions.”</a:t>
            </a:r>
          </a:p>
          <a:p>
            <a:r>
              <a:t>Two questions, revealed one at a time, then held together.</a:t>
            </a:r>
          </a:p>
          <a:p>
            <a:r>
              <a:t>Restarts are not framed as failures anywhere. “Restarts are sometimes exactly right. You just want to choose one, rather than land in one.”</a:t>
            </a:r>
          </a:p>
          <a:p>
            <a:r>
              <a:t>The limit paragraph closes the slide: this does not tell the viewer whether to go, and it knows nothing about money, family, health or visas. Do not cut it.</a:t>
            </a:r>
          </a:p>
          <a:p>
            <a:r>
              <a:t>Reveal states: 4. Reveal frame 15–18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8.</a:t>
            </a:r>
          </a:p>
          <a:p>
            <a:r>
              <a:t>Timing: approximately 5:41.</a:t>
            </a:r>
          </a:p>
          <a:p>
            <a:r>
              <a:t>Slide 8 — Uses Something Proven / Builds Something New.</a:t>
            </a:r>
          </a:p>
          <a:p>
            <a:r>
              <a:t>Cue — the line that lands on this slide: “Hold whatever you are considering — a new employer, a new function, working for yourself, or nothing yet — up against two questions.”</a:t>
            </a:r>
          </a:p>
          <a:p>
            <a:r>
              <a:t>Two questions, revealed one at a time, then held together.</a:t>
            </a:r>
          </a:p>
          <a:p>
            <a:r>
              <a:t>Restarts are not framed as failures anywhere. “Restarts are sometimes exactly right. You just want to choose one, rather than land in one.”</a:t>
            </a:r>
          </a:p>
          <a:p>
            <a:r>
              <a:t>The limit paragraph closes the slide: this does not tell the viewer whether to go, and it knows nothing about money, family, health or visas. Do not cut it.</a:t>
            </a:r>
          </a:p>
          <a:p>
            <a:r>
              <a:t>Reveal states: 4. Reveal frame 15–18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8.</a:t>
            </a:r>
          </a:p>
          <a:p>
            <a:r>
              <a:t>Timing: approximately 5:41.</a:t>
            </a:r>
          </a:p>
          <a:p>
            <a:r>
              <a:t>Slide 8 — Uses Something Proven / Builds Something New.</a:t>
            </a:r>
          </a:p>
          <a:p>
            <a:r>
              <a:t>Cue — the line that lands on this slide: “Hold whatever you are considering — a new employer, a new function, working for yourself, or nothing yet — up against two questions.”</a:t>
            </a:r>
          </a:p>
          <a:p>
            <a:r>
              <a:t>Two questions, revealed one at a time, then held together.</a:t>
            </a:r>
          </a:p>
          <a:p>
            <a:r>
              <a:t>Restarts are not framed as failures anywhere. “Restarts are sometimes exactly right. You just want to choose one, rather than land in one.”</a:t>
            </a:r>
          </a:p>
          <a:p>
            <a:r>
              <a:t>The limit paragraph closes the slide: this does not tell the viewer whether to go, and it knows nothing about money, family, health or visas. Do not cut it.</a:t>
            </a:r>
          </a:p>
          <a:p>
            <a:r>
              <a:t>Reveal states: 4. Reveal frame 15–18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8.</a:t>
            </a:r>
          </a:p>
          <a:p>
            <a:r>
              <a:t>Timing: approximately 5:41.</a:t>
            </a:r>
          </a:p>
          <a:p>
            <a:r>
              <a:t>Slide 8 — Uses Something Proven / Builds Something New.</a:t>
            </a:r>
          </a:p>
          <a:p>
            <a:r>
              <a:t>Cue — the line that lands on this slide: “Hold whatever you are considering — a new employer, a new function, working for yourself, or nothing yet — up against two questions.”</a:t>
            </a:r>
          </a:p>
          <a:p>
            <a:r>
              <a:t>Two questions, revealed one at a time, then held together.</a:t>
            </a:r>
          </a:p>
          <a:p>
            <a:r>
              <a:t>Restarts are not framed as failures anywhere. “Restarts are sometimes exactly right. You just want to choose one, rather than land in one.”</a:t>
            </a:r>
          </a:p>
          <a:p>
            <a:r>
              <a:t>The limit paragraph closes the slide: this does not tell the viewer whether to go, and it knows nothing about money, family, health or visas. Do not cut it.</a:t>
            </a:r>
          </a:p>
          <a:p>
            <a:r>
              <a:t>Reveal states: 4. Reveal frame 15–18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9.</a:t>
            </a:r>
          </a:p>
          <a:p>
            <a:r>
              <a:t>Timing: approximately 6:57.</a:t>
            </a:r>
          </a:p>
          <a:p>
            <a:r>
              <a:t>Slide 9 — The Three Checks.</a:t>
            </a:r>
          </a:p>
          <a:p>
            <a:r>
              <a:t>Cue — the line that lands on this slide: “So those are the three.”</a:t>
            </a:r>
          </a:p>
          <a:p>
            <a:r>
              <a:t>The three checks together on screen for the first time. Short slide.</a:t>
            </a:r>
          </a:p>
          <a:p>
            <a:r>
              <a:t>Single state. Reveal frame 19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10.</a:t>
            </a:r>
          </a:p>
          <a:p>
            <a:r>
              <a:t>Timing: approximately 7:04.</a:t>
            </a:r>
          </a:p>
          <a:p>
            <a:r>
              <a:t>Slide 10 — Decision Reading.</a:t>
            </a:r>
          </a:p>
          <a:p>
            <a:r>
              <a:t>Cue — the line that lands on this slide: “And here is how they tend to read.”</a:t>
            </a:r>
          </a:p>
          <a:p>
            <a:r>
              <a:t>The three directions reveal one at a time.</a:t>
            </a:r>
          </a:p>
          <a:p>
            <a:r>
              <a:t>None of the three reads as “stay”. If an edit makes the third read as a reason to stay, it is the wrong edit — the script says explicitly that it does not mean stay.</a:t>
            </a:r>
          </a:p>
          <a:p>
            <a:r>
              <a:t>Calm delivery. This is a reading, not a diagnosis.</a:t>
            </a:r>
          </a:p>
          <a:p>
            <a:r>
              <a:t>Reveal states: 3. Reveal frame 20–22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10.</a:t>
            </a:r>
          </a:p>
          <a:p>
            <a:r>
              <a:t>Timing: approximately 7:04.</a:t>
            </a:r>
          </a:p>
          <a:p>
            <a:r>
              <a:t>Slide 10 — Decision Reading.</a:t>
            </a:r>
          </a:p>
          <a:p>
            <a:r>
              <a:t>Cue — the line that lands on this slide: “And here is how they tend to read.”</a:t>
            </a:r>
          </a:p>
          <a:p>
            <a:r>
              <a:t>The three directions reveal one at a time.</a:t>
            </a:r>
          </a:p>
          <a:p>
            <a:r>
              <a:t>None of the three reads as “stay”. If an edit makes the third read as a reason to stay, it is the wrong edit — the script says explicitly that it does not mean stay.</a:t>
            </a:r>
          </a:p>
          <a:p>
            <a:r>
              <a:t>Calm delivery. This is a reading, not a diagnosis.</a:t>
            </a:r>
          </a:p>
          <a:p>
            <a:r>
              <a:t>Reveal states: 3. Reveal frame 20–22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10.</a:t>
            </a:r>
          </a:p>
          <a:p>
            <a:r>
              <a:t>Timing: approximately 7:04.</a:t>
            </a:r>
          </a:p>
          <a:p>
            <a:r>
              <a:t>Slide 10 — Decision Reading.</a:t>
            </a:r>
          </a:p>
          <a:p>
            <a:r>
              <a:t>Cue — the line that lands on this slide: “And here is how they tend to read.”</a:t>
            </a:r>
          </a:p>
          <a:p>
            <a:r>
              <a:t>The three directions reveal one at a time.</a:t>
            </a:r>
          </a:p>
          <a:p>
            <a:r>
              <a:t>None of the three reads as “stay”. If an edit makes the third read as a reason to stay, it is the wrong edit — the script says explicitly that it does not mean stay.</a:t>
            </a:r>
          </a:p>
          <a:p>
            <a:r>
              <a:t>Calm delivery. This is a reading, not a diagnosis.</a:t>
            </a:r>
          </a:p>
          <a:p>
            <a:r>
              <a:t>Reveal states: 3. Reveal frame 20–22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11.</a:t>
            </a:r>
          </a:p>
          <a:p>
            <a:r>
              <a:t>Timing: approximately 7:45.</a:t>
            </a:r>
          </a:p>
          <a:p>
            <a:r>
              <a:t>Slide 11 — Before You Resign.</a:t>
            </a:r>
          </a:p>
          <a:p>
            <a:r>
              <a:t>Cue — the line that lands on this slide: “I said at the start that I was not going to try to talk you into staying, and I meant it.”</a:t>
            </a:r>
          </a:p>
          <a:p>
            <a:r>
              <a:t>“I said at the start that I was not going to try to talk you into staying, and I meant it.” Return to it deliberately.</a:t>
            </a:r>
          </a:p>
          <a:p>
            <a:r>
              <a:t>Then the cost of leaving with only the ending: the last quarter, the last manager, the last conversation.</a:t>
            </a:r>
          </a:p>
          <a:p>
            <a:r>
              <a:t>THE IDENTITY EXIT sits at the end of this slide: walking out knowing what the chapter built, what evidence supports it, and what the next move needs to use and to build. It is the point of the video. If the edit runs long, cut something else.</a:t>
            </a:r>
          </a:p>
          <a:p>
            <a:r>
              <a:t>Reveal states: 3. Reveal frame 23–25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11.</a:t>
            </a:r>
          </a:p>
          <a:p>
            <a:r>
              <a:t>Timing: approximately 7:45.</a:t>
            </a:r>
          </a:p>
          <a:p>
            <a:r>
              <a:t>Slide 11 — Before You Resign.</a:t>
            </a:r>
          </a:p>
          <a:p>
            <a:r>
              <a:t>Cue — the line that lands on this slide: “I said at the start that I was not going to try to talk you into staying, and I meant it.”</a:t>
            </a:r>
          </a:p>
          <a:p>
            <a:r>
              <a:t>“I said at the start that I was not going to try to talk you into staying, and I meant it.” Return to it deliberately.</a:t>
            </a:r>
          </a:p>
          <a:p>
            <a:r>
              <a:t>Then the cost of leaving with only the ending: the last quarter, the last manager, the last conversation.</a:t>
            </a:r>
          </a:p>
          <a:p>
            <a:r>
              <a:t>THE IDENTITY EXIT sits at the end of this slide: walking out knowing what the chapter built, what evidence supports it, and what the next move needs to use and to build. It is the point of the video. If the edit runs long, cut something else.</a:t>
            </a:r>
          </a:p>
          <a:p>
            <a:r>
              <a:t>Reveal states: 3. Reveal frame 23–25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11.</a:t>
            </a:r>
          </a:p>
          <a:p>
            <a:r>
              <a:t>Timing: approximately 7:45.</a:t>
            </a:r>
          </a:p>
          <a:p>
            <a:r>
              <a:t>Slide 11 — Before You Resign.</a:t>
            </a:r>
          </a:p>
          <a:p>
            <a:r>
              <a:t>Cue — the line that lands on this slide: “I said at the start that I was not going to try to talk you into staying, and I meant it.”</a:t>
            </a:r>
          </a:p>
          <a:p>
            <a:r>
              <a:t>“I said at the start that I was not going to try to talk you into staying, and I meant it.” Return to it deliberately.</a:t>
            </a:r>
          </a:p>
          <a:p>
            <a:r>
              <a:t>Then the cost of leaving with only the ending: the last quarter, the last manager, the last conversation.</a:t>
            </a:r>
          </a:p>
          <a:p>
            <a:r>
              <a:t>THE IDENTITY EXIT sits at the end of this slide: walking out knowing what the chapter built, what evidence supports it, and what the next move needs to use and to build. It is the point of the video. If the edit runs long, cut something else.</a:t>
            </a:r>
          </a:p>
          <a:p>
            <a:r>
              <a:t>Reveal states: 3. Reveal frame 23–25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8:40.</a:t>
            </a:r>
          </a:p>
          <a:p>
            <a:r>
              <a:t>Slide 12 — Career Decision Evidence Check.</a:t>
            </a:r>
          </a:p>
          <a:p>
            <a:r>
              <a:t>Cue — the line that lands on this slide: “If you want help doing this properly, I made the Career Decision Evidence Check.”</a:t>
            </a:r>
          </a:p>
          <a:p>
            <a:r>
              <a:t>One CTA in this video. Do not add the Field Kit, Keep the Proof or the Career Evidence Starter.</a:t>
            </a:r>
          </a:p>
          <a:p>
            <a:r>
              <a:t>CTA production gate: SATISFIED. The page is live. Retain one signed-out link check in the upload SOP before this video is scheduled.</a:t>
            </a:r>
          </a:p>
          <a:p>
            <a:r>
              <a:t>Single state. Reveal frame 26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9:00.</a:t>
            </a:r>
          </a:p>
          <a:p>
            <a:r>
              <a:t>Slide 13 — Watch Next.</a:t>
            </a:r>
          </a:p>
          <a:p>
            <a:r>
              <a:t>Cue — the line that lands on this slide: “And whichever way this goes, there is one more thing worth watching.”</a:t>
            </a:r>
          </a:p>
          <a:p>
            <a:r>
              <a:t>The Video 1 route. Card reads “How to Change Jobs Without Starting Your Career Over”.</a:t>
            </a:r>
          </a:p>
          <a:p>
            <a:r>
              <a:t>The reference here — “what happened when a role I had accepted disappeared before I started it” — is the only forward pointer to the full story. Do not extend it.</a:t>
            </a:r>
          </a:p>
          <a:p>
            <a:r>
              <a:t>Sign off clean on the last two lines.</a:t>
            </a:r>
          </a:p>
          <a:p>
            <a:r>
              <a:t>Single state. Reveal frame 27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THREE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4800" b="1" i="0">
                <a:solidFill>
                  <a:srgbClr val="F5F1E8"/>
                </a:solidFill>
                <a:latin typeface="Montserrat"/>
                <a:ea typeface="Montserrat"/>
                <a:cs typeface="Montserrat"/>
              </a:rPr>
              <a:t>3 Things to Do</a:t>
            </a:r>
            <a:br/>
            <a:r>
              <a:rPr sz="4800" b="1" i="0">
                <a:solidFill>
                  <a:srgbClr val="F5F1E8"/>
                </a:solidFill>
                <a:latin typeface="Montserrat"/>
                <a:ea typeface="Montserrat"/>
                <a:cs typeface="Montserrat"/>
              </a:rPr>
              <a:t>Before Quitting</a:t>
            </a:r>
            <a:br/>
            <a:r>
              <a:rPr sz="4800" b="1" i="0">
                <a:solidFill>
                  <a:srgbClr val="F5F1E8"/>
                </a:solidFill>
                <a:latin typeface="Montserrat"/>
                <a:ea typeface="Montserrat"/>
                <a:cs typeface="Montserrat"/>
              </a:rPr>
              <a:t>Your Job</a:t>
            </a:r>
          </a:p>
        </p:txBody>
      </p:sp>
      <p:sp>
        <p:nvSpPr>
          <p:cNvPr id="10" name="Rectangle 9"/>
          <p:cNvSpPr/>
          <p:nvPr/>
        </p:nvSpPr>
        <p:spPr>
          <a:xfrm>
            <a:off x="863600" y="56515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055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Once you leave,</a:t>
            </a:r>
            <a:br/>
            <a:r>
              <a:rPr sz="3000" b="1" i="0">
                <a:solidFill>
                  <a:srgbClr val="0F2346"/>
                </a:solidFill>
                <a:latin typeface="Montserrat"/>
                <a:ea typeface="Montserrat"/>
                <a:cs typeface="Montserrat"/>
              </a:rPr>
              <a:t>access changes.</a:t>
            </a:r>
          </a:p>
        </p:txBody>
      </p:sp>
      <p:sp>
        <p:nvSpPr>
          <p:cNvPr id="5" name="TextBox 4"/>
          <p:cNvSpPr txBox="1"/>
          <p:nvPr/>
        </p:nvSpPr>
        <p:spPr>
          <a:xfrm>
            <a:off x="762000" y="3251200"/>
            <a:ext cx="9906000" cy="1270000"/>
          </a:xfrm>
          <a:prstGeom prst="rect">
            <a:avLst/>
          </a:prstGeom>
          <a:noFill/>
        </p:spPr>
        <p:txBody>
          <a:bodyPr wrap="square" lIns="0" rIns="0" tIns="0" bIns="0" anchor="t">
            <a:spAutoFit/>
          </a:bodyPr>
          <a:lstStyle/>
          <a:p>
            <a:pPr algn="l">
              <a:lnSpc>
                <a:spcPct val="135000"/>
              </a:lnSpc>
            </a:pPr>
            <a:r>
              <a:rPr sz="1700" b="0" i="0">
                <a:solidFill>
                  <a:srgbClr val="5A6B82"/>
                </a:solidFill>
                <a:latin typeface="DM Sans"/>
                <a:ea typeface="DM Sans"/>
                <a:cs typeface="DM Sans"/>
              </a:rPr>
              <a:t>Evidence, systems and people can become harder to reach.</a:t>
            </a:r>
          </a:p>
        </p:txBody>
      </p:sp>
      <p:sp>
        <p:nvSpPr>
          <p:cNvPr id="6" name="Rectangle 5"/>
          <p:cNvSpPr/>
          <p:nvPr/>
        </p:nvSpPr>
        <p:spPr>
          <a:xfrm>
            <a:off x="762000" y="4191000"/>
            <a:ext cx="1143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83100"/>
            <a:ext cx="9906000" cy="1270000"/>
          </a:xfrm>
          <a:prstGeom prst="rect">
            <a:avLst/>
          </a:prstGeom>
          <a:noFill/>
        </p:spPr>
        <p:txBody>
          <a:bodyPr wrap="square" lIns="0" rIns="0" tIns="0" bIns="0" anchor="t">
            <a:spAutoFit/>
          </a:bodyPr>
          <a:lstStyle/>
          <a:p>
            <a:pPr algn="l">
              <a:lnSpc>
                <a:spcPct val="138000"/>
              </a:lnSpc>
            </a:pPr>
            <a:r>
              <a:rPr sz="1500" b="1" i="0">
                <a:solidFill>
                  <a:srgbClr val="0F2346"/>
                </a:solidFill>
                <a:latin typeface="Montserrat"/>
                <a:ea typeface="Montserrat"/>
                <a:cs typeface="Montserrat"/>
              </a:rPr>
              <a:t>If your health or safety is at risk, or you are facing harassment or</a:t>
            </a:r>
            <a:br/>
            <a:r>
              <a:rPr sz="1500" b="1" i="0">
                <a:solidFill>
                  <a:srgbClr val="0F2346"/>
                </a:solidFill>
                <a:latin typeface="Montserrat"/>
                <a:ea typeface="Montserrat"/>
                <a:cs typeface="Montserrat"/>
              </a:rPr>
              <a:t>discrimination, this is not a reason to wait.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Preserve the</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Keep what is yours to keep.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
        <p:nvSpPr>
          <p:cNvPr id="13" name="TextBox 12"/>
          <p:cNvSpPr txBox="1"/>
          <p:nvPr/>
        </p:nvSpPr>
        <p:spPr>
          <a:xfrm>
            <a:off x="1041400" y="520319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Scope of responsibility</a:t>
            </a:r>
          </a:p>
        </p:txBody>
      </p:sp>
      <p:sp>
        <p:nvSpPr>
          <p:cNvPr id="14" name="TextBox 13"/>
          <p:cNvSpPr txBox="1"/>
          <p:nvPr/>
        </p:nvSpPr>
        <p:spPr>
          <a:xfrm>
            <a:off x="1041400" y="550468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Permitted notes on decisions or</a:t>
            </a:r>
            <a:br/>
            <a:r>
              <a:rPr sz="1350" b="1" i="0">
                <a:solidFill>
                  <a:srgbClr val="0F2346"/>
                </a:solidFill>
                <a:latin typeface="Montserrat"/>
                <a:ea typeface="Montserrat"/>
                <a:cs typeface="Montserrat"/>
              </a:rPr>
              <a:t>problems you helped resolve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Preserve the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Keep only what you are entitled to keep.</a:t>
            </a:r>
          </a:p>
        </p:txBody>
      </p:sp>
      <p:sp>
        <p:nvSpPr>
          <p:cNvPr id="6" name="Rectangle 5"/>
          <p:cNvSpPr/>
          <p:nvPr/>
        </p:nvSpPr>
        <p:spPr>
          <a:xfrm>
            <a:off x="762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149600"/>
            <a:ext cx="5207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9A84C"/>
                </a:solidFill>
                <a:latin typeface="Montserrat"/>
                <a:ea typeface="Montserrat"/>
                <a:cs typeface="Montserrat"/>
              </a:rPr>
              <a:t>Yours to keep</a:t>
            </a:r>
          </a:p>
        </p:txBody>
      </p:sp>
      <p:sp>
        <p:nvSpPr>
          <p:cNvPr id="9" name="TextBox 8"/>
          <p:cNvSpPr txBox="1"/>
          <p:nvPr/>
        </p:nvSpPr>
        <p:spPr>
          <a:xfrm>
            <a:off x="1041400" y="378460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Your own performance reviews</a:t>
            </a:r>
          </a:p>
        </p:txBody>
      </p:sp>
      <p:sp>
        <p:nvSpPr>
          <p:cNvPr id="10" name="TextBox 9"/>
          <p:cNvSpPr txBox="1"/>
          <p:nvPr/>
        </p:nvSpPr>
        <p:spPr>
          <a:xfrm>
            <a:off x="1041400" y="408609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Recognition you received</a:t>
            </a:r>
          </a:p>
        </p:txBody>
      </p:sp>
      <p:sp>
        <p:nvSpPr>
          <p:cNvPr id="11" name="TextBox 10"/>
          <p:cNvSpPr txBox="1"/>
          <p:nvPr/>
        </p:nvSpPr>
        <p:spPr>
          <a:xfrm>
            <a:off x="1041400" y="4387596"/>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Nonconfidential metrics already</a:t>
            </a:r>
            <a:br/>
            <a:r>
              <a:rPr sz="1350" b="1" i="0">
                <a:solidFill>
                  <a:srgbClr val="0F2346"/>
                </a:solidFill>
                <a:latin typeface="Montserrat"/>
                <a:ea typeface="Montserrat"/>
                <a:cs typeface="Montserrat"/>
              </a:rPr>
              <a:t>shared with you</a:t>
            </a:r>
          </a:p>
        </p:txBody>
      </p:sp>
      <p:sp>
        <p:nvSpPr>
          <p:cNvPr id="12" name="TextBox 11"/>
          <p:cNvSpPr txBox="1"/>
          <p:nvPr/>
        </p:nvSpPr>
        <p:spPr>
          <a:xfrm>
            <a:off x="1041400" y="4901692"/>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Project dates</a:t>
            </a:r>
          </a:p>
        </p:txBody>
      </p:sp>
      <p:sp>
        <p:nvSpPr>
          <p:cNvPr id="13" name="TextBox 12"/>
          <p:cNvSpPr txBox="1"/>
          <p:nvPr/>
        </p:nvSpPr>
        <p:spPr>
          <a:xfrm>
            <a:off x="1041400" y="5203190"/>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Scope of responsibility</a:t>
            </a:r>
          </a:p>
        </p:txBody>
      </p:sp>
      <p:sp>
        <p:nvSpPr>
          <p:cNvPr id="14" name="TextBox 13"/>
          <p:cNvSpPr txBox="1"/>
          <p:nvPr/>
        </p:nvSpPr>
        <p:spPr>
          <a:xfrm>
            <a:off x="1041400" y="5504688"/>
            <a:ext cx="4699000" cy="1270000"/>
          </a:xfrm>
          <a:prstGeom prst="rect">
            <a:avLst/>
          </a:prstGeom>
          <a:noFill/>
        </p:spPr>
        <p:txBody>
          <a:bodyPr wrap="square" lIns="0" rIns="0" tIns="0" bIns="0" anchor="t">
            <a:spAutoFit/>
          </a:bodyPr>
          <a:lstStyle/>
          <a:p>
            <a:pPr algn="l">
              <a:lnSpc>
                <a:spcPct val="124000"/>
              </a:lnSpc>
            </a:pPr>
            <a:r>
              <a:rPr sz="1350" b="1" i="0">
                <a:solidFill>
                  <a:srgbClr val="0F2346"/>
                </a:solidFill>
                <a:latin typeface="Montserrat"/>
                <a:ea typeface="Montserrat"/>
                <a:cs typeface="Montserrat"/>
              </a:rPr>
              <a:t>Permitted notes on decisions or</a:t>
            </a:r>
            <a:br/>
            <a:r>
              <a:rPr sz="1350" b="1" i="0">
                <a:solidFill>
                  <a:srgbClr val="0F2346"/>
                </a:solidFill>
                <a:latin typeface="Montserrat"/>
                <a:ea typeface="Montserrat"/>
                <a:cs typeface="Montserrat"/>
              </a:rPr>
              <a:t>problems you helped resolve</a:t>
            </a:r>
          </a:p>
        </p:txBody>
      </p:sp>
      <p:sp>
        <p:nvSpPr>
          <p:cNvPr id="15" name="Rectangle 14"/>
          <p:cNvSpPr/>
          <p:nvPr/>
        </p:nvSpPr>
        <p:spPr>
          <a:xfrm>
            <a:off x="6223000" y="3149600"/>
            <a:ext cx="5207000" cy="31115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23000" y="3149600"/>
            <a:ext cx="5207000" cy="508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02400" y="3429000"/>
            <a:ext cx="4699000" cy="1270000"/>
          </a:xfrm>
          <a:prstGeom prst="rect">
            <a:avLst/>
          </a:prstGeom>
          <a:noFill/>
        </p:spPr>
        <p:txBody>
          <a:bodyPr wrap="square" lIns="0" rIns="0" tIns="0" bIns="0" anchor="t">
            <a:spAutoFit/>
          </a:bodyPr>
          <a:lstStyle/>
          <a:p>
            <a:pPr algn="l">
              <a:lnSpc>
                <a:spcPct val="112000"/>
              </a:lnSpc>
            </a:pPr>
            <a:r>
              <a:rPr sz="1200" b="1" i="0" spc="200">
                <a:solidFill>
                  <a:srgbClr val="C1440E"/>
                </a:solidFill>
                <a:latin typeface="Montserrat"/>
                <a:ea typeface="Montserrat"/>
                <a:cs typeface="Montserrat"/>
              </a:rPr>
              <a:t>Not yours to take</a:t>
            </a:r>
          </a:p>
        </p:txBody>
      </p:sp>
      <p:sp>
        <p:nvSpPr>
          <p:cNvPr id="18" name="TextBox 17"/>
          <p:cNvSpPr txBox="1"/>
          <p:nvPr/>
        </p:nvSpPr>
        <p:spPr>
          <a:xfrm>
            <a:off x="6502400" y="3784600"/>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Confidential information</a:t>
            </a:r>
          </a:p>
        </p:txBody>
      </p:sp>
      <p:sp>
        <p:nvSpPr>
          <p:cNvPr id="19" name="TextBox 18"/>
          <p:cNvSpPr txBox="1"/>
          <p:nvPr/>
        </p:nvSpPr>
        <p:spPr>
          <a:xfrm>
            <a:off x="6502400" y="4086098"/>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Customer data</a:t>
            </a:r>
          </a:p>
        </p:txBody>
      </p:sp>
      <p:sp>
        <p:nvSpPr>
          <p:cNvPr id="20" name="TextBox 19"/>
          <p:cNvSpPr txBox="1"/>
          <p:nvPr/>
        </p:nvSpPr>
        <p:spPr>
          <a:xfrm>
            <a:off x="6502400" y="4387596"/>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Employee data</a:t>
            </a:r>
          </a:p>
        </p:txBody>
      </p:sp>
      <p:sp>
        <p:nvSpPr>
          <p:cNvPr id="21" name="TextBox 20"/>
          <p:cNvSpPr txBox="1"/>
          <p:nvPr/>
        </p:nvSpPr>
        <p:spPr>
          <a:xfrm>
            <a:off x="6502400" y="4689094"/>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Proprietary documents</a:t>
            </a:r>
          </a:p>
        </p:txBody>
      </p:sp>
      <p:sp>
        <p:nvSpPr>
          <p:cNvPr id="22" name="TextBox 21"/>
          <p:cNvSpPr txBox="1"/>
          <p:nvPr/>
        </p:nvSpPr>
        <p:spPr>
          <a:xfrm>
            <a:off x="6502400" y="4990592"/>
            <a:ext cx="4699000" cy="1270000"/>
          </a:xfrm>
          <a:prstGeom prst="rect">
            <a:avLst/>
          </a:prstGeom>
          <a:noFill/>
        </p:spPr>
        <p:txBody>
          <a:bodyPr wrap="square" lIns="0" rIns="0" tIns="0" bIns="0" anchor="t">
            <a:spAutoFit/>
          </a:bodyPr>
          <a:lstStyle/>
          <a:p>
            <a:pPr algn="l">
              <a:lnSpc>
                <a:spcPct val="124000"/>
              </a:lnSpc>
            </a:pPr>
            <a:r>
              <a:rPr sz="1350" b="1" i="0">
                <a:solidFill>
                  <a:srgbClr val="5A6B82"/>
                </a:solidFill>
                <a:latin typeface="Montserrat"/>
                <a:ea typeface="Montserrat"/>
                <a:cs typeface="Montserrat"/>
              </a:rPr>
              <a:t>Anything employer-owned you have</a:t>
            </a:r>
            <a:br/>
            <a:r>
              <a:rPr sz="1350" b="1" i="0">
                <a:solidFill>
                  <a:srgbClr val="5A6B82"/>
                </a:solidFill>
                <a:latin typeface="Montserrat"/>
                <a:ea typeface="Montserrat"/>
                <a:cs typeface="Montserrat"/>
              </a:rPr>
              <a:t>no right to keep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Name what</a:t>
            </a:r>
            <a:br/>
            <a:r>
              <a:rPr sz="3800" b="1" i="0">
                <a:solidFill>
                  <a:srgbClr val="0F2346"/>
                </a:solidFill>
                <a:latin typeface="Montserrat"/>
                <a:ea typeface="Montserrat"/>
                <a:cs typeface="Montserrat"/>
              </a:rPr>
              <a:t>the work built</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An achievement is useful when you understand what it proves.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067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Outcome</a:t>
            </a:r>
          </a:p>
        </p:txBody>
      </p:sp>
      <p:sp>
        <p:nvSpPr>
          <p:cNvPr id="18" name="TextBox 17"/>
          <p:cNvSpPr txBox="1"/>
          <p:nvPr/>
        </p:nvSpPr>
        <p:spPr>
          <a:xfrm>
            <a:off x="3175000" y="5029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changed or was prevented?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Name what the work built.</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resume bullet does not automatically show what you can do.</a:t>
            </a:r>
          </a:p>
        </p:txBody>
      </p:sp>
      <p:sp>
        <p:nvSpPr>
          <p:cNvPr id="6" name="Rectangle 5"/>
          <p:cNvSpPr/>
          <p:nvPr/>
        </p:nvSpPr>
        <p:spPr>
          <a:xfrm>
            <a:off x="762000" y="3086100"/>
            <a:ext cx="10668000" cy="2514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Problem</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problem was being solved?</a:t>
            </a:r>
          </a:p>
        </p:txBody>
      </p:sp>
      <p:sp>
        <p:nvSpPr>
          <p:cNvPr id="10" name="Rectangle 9"/>
          <p:cNvSpPr/>
          <p:nvPr/>
        </p:nvSpPr>
        <p:spPr>
          <a:xfrm>
            <a:off x="1041400" y="3746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24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Constraint</a:t>
            </a:r>
          </a:p>
        </p:txBody>
      </p:sp>
      <p:sp>
        <p:nvSpPr>
          <p:cNvPr id="12" name="TextBox 11"/>
          <p:cNvSpPr txBox="1"/>
          <p:nvPr/>
        </p:nvSpPr>
        <p:spPr>
          <a:xfrm>
            <a:off x="3175000" y="3886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made the situation difficult?</a:t>
            </a:r>
          </a:p>
        </p:txBody>
      </p:sp>
      <p:sp>
        <p:nvSpPr>
          <p:cNvPr id="13" name="Rectangle 12"/>
          <p:cNvSpPr/>
          <p:nvPr/>
        </p:nvSpPr>
        <p:spPr>
          <a:xfrm>
            <a:off x="1041400" y="43180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495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Judgment</a:t>
            </a:r>
          </a:p>
        </p:txBody>
      </p:sp>
      <p:sp>
        <p:nvSpPr>
          <p:cNvPr id="15" name="TextBox 14"/>
          <p:cNvSpPr txBox="1"/>
          <p:nvPr/>
        </p:nvSpPr>
        <p:spPr>
          <a:xfrm>
            <a:off x="3175000" y="4457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did I notice, decide, interpret or influence?</a:t>
            </a:r>
          </a:p>
        </p:txBody>
      </p:sp>
      <p:sp>
        <p:nvSpPr>
          <p:cNvPr id="16" name="Rectangle 15"/>
          <p:cNvSpPr/>
          <p:nvPr/>
        </p:nvSpPr>
        <p:spPr>
          <a:xfrm>
            <a:off x="1041400" y="4889500"/>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0673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Outcome</a:t>
            </a:r>
          </a:p>
        </p:txBody>
      </p:sp>
      <p:sp>
        <p:nvSpPr>
          <p:cNvPr id="18" name="TextBox 17"/>
          <p:cNvSpPr txBox="1"/>
          <p:nvPr/>
        </p:nvSpPr>
        <p:spPr>
          <a:xfrm>
            <a:off x="3175000" y="50292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What changed or was prevented?</a:t>
            </a:r>
          </a:p>
        </p:txBody>
      </p:sp>
      <p:sp>
        <p:nvSpPr>
          <p:cNvPr id="19" name="TextBox 18"/>
          <p:cNvSpPr txBox="1"/>
          <p:nvPr/>
        </p:nvSpPr>
        <p:spPr>
          <a:xfrm>
            <a:off x="762000" y="5880100"/>
            <a:ext cx="10668000" cy="1270000"/>
          </a:xfrm>
          <a:prstGeom prst="rect">
            <a:avLst/>
          </a:prstGeom>
          <a:noFill/>
        </p:spPr>
        <p:txBody>
          <a:bodyPr wrap="square" lIns="0" rIns="0" tIns="0" bIns="0" anchor="t">
            <a:spAutoFit/>
          </a:bodyPr>
          <a:lstStyle/>
          <a:p>
            <a:pPr algn="l">
              <a:lnSpc>
                <a:spcPct val="130000"/>
              </a:lnSpc>
            </a:pPr>
            <a:r>
              <a:rPr sz="1600" b="1" i="0">
                <a:solidFill>
                  <a:srgbClr val="244B78"/>
                </a:solidFill>
                <a:latin typeface="Montserrat"/>
                <a:ea typeface="Montserrat"/>
                <a:cs typeface="Montserrat"/>
              </a:rPr>
              <a:t>Then ask: where else could that combination matter?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CHECKS BEFORE YOU RESIGN</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Test the</a:t>
            </a:r>
            <a:br/>
            <a:r>
              <a:rPr sz="3800" b="1" i="0">
                <a:solidFill>
                  <a:srgbClr val="0F2346"/>
                </a:solidFill>
                <a:latin typeface="Montserrat"/>
                <a:ea typeface="Montserrat"/>
                <a:cs typeface="Montserrat"/>
              </a:rPr>
              <a:t>next move</a:t>
            </a:r>
          </a:p>
        </p:txBody>
      </p:sp>
      <p:sp>
        <p:nvSpPr>
          <p:cNvPr id="6" name="TextBox 5"/>
          <p:cNvSpPr txBox="1"/>
          <p:nvPr/>
        </p:nvSpPr>
        <p:spPr>
          <a:xfrm>
            <a:off x="762000" y="5715000"/>
            <a:ext cx="9525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Look for overlap between what is proven and what must still grow.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
        <p:nvSpPr>
          <p:cNvPr id="11" name="TextBox 10"/>
          <p:cNvSpPr txBox="1"/>
          <p:nvPr/>
        </p:nvSpPr>
        <p:spPr>
          <a:xfrm>
            <a:off x="762000" y="51435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51308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new judgment, exposure or responsibility will it force me to develop?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CHECK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Test the next move.</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A strong move does two things at once.</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4000"/>
              </a:lnSpc>
            </a:pPr>
            <a:r>
              <a:rPr sz="2900" b="1" i="0">
                <a:solidFill>
                  <a:srgbClr val="C9A84C"/>
                </a:solidFill>
                <a:latin typeface="Montserrat"/>
                <a:ea typeface="Montserrat"/>
                <a:cs typeface="Montserrat"/>
              </a:rPr>
              <a:t>Uses something</a:t>
            </a:r>
            <a:br/>
            <a:r>
              <a:rPr sz="2900" b="1" i="0">
                <a:solidFill>
                  <a:srgbClr val="C9A84C"/>
                </a:solidFill>
                <a:latin typeface="Montserrat"/>
                <a:ea typeface="Montserrat"/>
                <a:cs typeface="Montserrat"/>
              </a:rPr>
              <a:t>proven</a:t>
            </a:r>
          </a:p>
        </p:txBody>
      </p:sp>
      <p:sp>
        <p:nvSpPr>
          <p:cNvPr id="7" name="Rectangle 6"/>
          <p:cNvSpPr/>
          <p:nvPr/>
        </p:nvSpPr>
        <p:spPr>
          <a:xfrm>
            <a:off x="6083300" y="3149600"/>
            <a:ext cx="19050" cy="952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4000"/>
              </a:lnSpc>
            </a:pPr>
            <a:r>
              <a:rPr sz="2900" b="1" i="0">
                <a:solidFill>
                  <a:srgbClr val="F5F1E8"/>
                </a:solidFill>
                <a:latin typeface="Montserrat"/>
                <a:ea typeface="Montserrat"/>
                <a:cs typeface="Montserrat"/>
              </a:rPr>
              <a:t>Builds something</a:t>
            </a:r>
            <a:br/>
            <a:r>
              <a:rPr sz="2900" b="1" i="0">
                <a:solidFill>
                  <a:srgbClr val="F5F1E8"/>
                </a:solidFill>
                <a:latin typeface="Montserrat"/>
                <a:ea typeface="Montserrat"/>
                <a:cs typeface="Montserrat"/>
              </a:rPr>
              <a:t>new</a:t>
            </a:r>
          </a:p>
        </p:txBody>
      </p:sp>
      <p:sp>
        <p:nvSpPr>
          <p:cNvPr id="9" name="TextBox 8"/>
          <p:cNvSpPr txBox="1"/>
          <p:nvPr/>
        </p:nvSpPr>
        <p:spPr>
          <a:xfrm>
            <a:off x="762000" y="46482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6355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this next role allow me to carry?</a:t>
            </a:r>
          </a:p>
        </p:txBody>
      </p:sp>
      <p:sp>
        <p:nvSpPr>
          <p:cNvPr id="11" name="TextBox 10"/>
          <p:cNvSpPr txBox="1"/>
          <p:nvPr/>
        </p:nvSpPr>
        <p:spPr>
          <a:xfrm>
            <a:off x="762000" y="51435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51308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new judgment, exposure or responsibility will it force me to develop?</a:t>
            </a:r>
          </a:p>
        </p:txBody>
      </p:sp>
      <p:sp>
        <p:nvSpPr>
          <p:cNvPr id="13" name="TextBox 12"/>
          <p:cNvSpPr txBox="1"/>
          <p:nvPr/>
        </p:nvSpPr>
        <p:spPr>
          <a:xfrm>
            <a:off x="762000" y="56388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626100"/>
            <a:ext cx="10033000" cy="1270000"/>
          </a:xfrm>
          <a:prstGeom prst="rect">
            <a:avLst/>
          </a:prstGeom>
          <a:noFill/>
        </p:spPr>
        <p:txBody>
          <a:bodyPr wrap="square" lIns="0" rIns="0" tIns="0" bIns="0" anchor="t">
            <a:spAutoFit/>
          </a:bodyPr>
          <a:lstStyle/>
          <a:p>
            <a:pPr algn="l">
              <a:lnSpc>
                <a:spcPct val="120000"/>
              </a:lnSpc>
            </a:pPr>
            <a:r>
              <a:rPr sz="1700" b="1" i="0">
                <a:solidFill>
                  <a:srgbClr val="F5F1E8"/>
                </a:solidFill>
                <a:latin typeface="Montserrat"/>
                <a:ea typeface="Montserrat"/>
                <a:cs typeface="Montserrat"/>
              </a:rPr>
              <a:t>What will I be able to do after a year that I cannot do now?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CHECKS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Take them in order,</a:t>
            </a:r>
            <a:br/>
            <a:r>
              <a:rPr sz="2700" b="1" i="0">
                <a:solidFill>
                  <a:srgbClr val="0F2346"/>
                </a:solidFill>
                <a:latin typeface="Montserrat"/>
                <a:ea typeface="Montserrat"/>
                <a:cs typeface="Montserrat"/>
              </a:rPr>
              <a:t>before you resign.</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Preserve the</a:t>
            </a:r>
            <a:br/>
            <a:r>
              <a:rPr sz="1800" b="1" i="0">
                <a:solidFill>
                  <a:srgbClr val="0F2346"/>
                </a:solidFill>
                <a:latin typeface="Montserrat"/>
                <a:ea typeface="Montserrat"/>
                <a:cs typeface="Montserrat"/>
              </a:rPr>
              <a:t>evidence</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Name what</a:t>
            </a:r>
            <a:br/>
            <a:r>
              <a:rPr sz="1800" b="1" i="0">
                <a:solidFill>
                  <a:srgbClr val="0F2346"/>
                </a:solidFill>
                <a:latin typeface="Montserrat"/>
                <a:ea typeface="Montserrat"/>
                <a:cs typeface="Montserrat"/>
              </a:rPr>
              <a:t>the work built</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800" b="1" i="0">
                <a:solidFill>
                  <a:srgbClr val="0F2346"/>
                </a:solidFill>
                <a:latin typeface="Montserrat"/>
                <a:ea typeface="Montserrat"/>
                <a:cs typeface="Montserrat"/>
              </a:rPr>
              <a:t>Test the</a:t>
            </a:r>
            <a:br/>
            <a:r>
              <a:rPr sz="1800" b="1" i="0">
                <a:solidFill>
                  <a:srgbClr val="0F2346"/>
                </a:solidFill>
                <a:latin typeface="Montserrat"/>
                <a:ea typeface="Montserrat"/>
                <a:cs typeface="Montserrat"/>
              </a:rPr>
              <a:t>next move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12496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Reposition inside</a:t>
            </a:r>
          </a:p>
        </p:txBody>
      </p:sp>
      <p:sp>
        <p:nvSpPr>
          <p:cNvPr id="10" name="TextBox 9"/>
          <p:cNvSpPr txBox="1"/>
          <p:nvPr/>
        </p:nvSpPr>
        <p:spPr>
          <a:xfrm>
            <a:off x="3556000" y="409956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Another role, project or scope change could restore</a:t>
            </a:r>
            <a:br/>
            <a:r>
              <a:rPr sz="1600" b="1" i="0">
                <a:solidFill>
                  <a:srgbClr val="0F2346"/>
                </a:solidFill>
                <a:latin typeface="Montserrat"/>
                <a:ea typeface="Montserrat"/>
                <a:cs typeface="Montserrat"/>
              </a:rPr>
              <a:t>growth without an immediate exit.</a:t>
            </a:r>
          </a:p>
        </p:txBody>
      </p:sp>
      <p:sp>
        <p:nvSpPr>
          <p:cNvPr id="11" name="Rectangle 10"/>
          <p:cNvSpPr/>
          <p:nvPr/>
        </p:nvSpPr>
        <p:spPr>
          <a:xfrm>
            <a:off x="762000" y="476758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EVIDENCE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Three directions the</a:t>
            </a:r>
            <a:br/>
            <a:r>
              <a:rPr sz="2700" b="1" i="0">
                <a:solidFill>
                  <a:srgbClr val="0F2346"/>
                </a:solidFill>
                <a:latin typeface="Montserrat"/>
                <a:ea typeface="Montserrat"/>
                <a:cs typeface="Montserrat"/>
              </a:rPr>
              <a:t>evidence can point.</a:t>
            </a:r>
          </a:p>
        </p:txBody>
      </p:sp>
      <p:sp>
        <p:nvSpPr>
          <p:cNvPr id="5" name="TextBox 4"/>
          <p:cNvSpPr txBox="1"/>
          <p:nvPr/>
        </p:nvSpPr>
        <p:spPr>
          <a:xfrm>
            <a:off x="4191000" y="208788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point is not to make the decision slow.</a:t>
            </a:r>
            <a:br/>
            <a:r>
              <a:rPr sz="1600" b="0" i="0">
                <a:solidFill>
                  <a:srgbClr val="5A6B82"/>
                </a:solidFill>
                <a:latin typeface="DM Sans"/>
                <a:ea typeface="DM Sans"/>
                <a:cs typeface="DM Sans"/>
              </a:rPr>
              <a:t>The point is to make it legible.</a:t>
            </a:r>
          </a:p>
        </p:txBody>
      </p:sp>
      <p:sp>
        <p:nvSpPr>
          <p:cNvPr id="6" name="TextBox 5"/>
          <p:cNvSpPr txBox="1"/>
          <p:nvPr/>
        </p:nvSpPr>
        <p:spPr>
          <a:xfrm>
            <a:off x="762000" y="345440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Leave</a:t>
            </a:r>
          </a:p>
        </p:txBody>
      </p:sp>
      <p:sp>
        <p:nvSpPr>
          <p:cNvPr id="7" name="TextBox 6"/>
          <p:cNvSpPr txBox="1"/>
          <p:nvPr/>
        </p:nvSpPr>
        <p:spPr>
          <a:xfrm>
            <a:off x="3556000" y="342900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The evidence says leaving is right, and you are ready.</a:t>
            </a:r>
          </a:p>
        </p:txBody>
      </p:sp>
      <p:sp>
        <p:nvSpPr>
          <p:cNvPr id="8" name="Rectangle 7"/>
          <p:cNvSpPr/>
          <p:nvPr/>
        </p:nvSpPr>
        <p:spPr>
          <a:xfrm>
            <a:off x="762000" y="383286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12496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Reposition inside</a:t>
            </a:r>
          </a:p>
        </p:txBody>
      </p:sp>
      <p:sp>
        <p:nvSpPr>
          <p:cNvPr id="10" name="TextBox 9"/>
          <p:cNvSpPr txBox="1"/>
          <p:nvPr/>
        </p:nvSpPr>
        <p:spPr>
          <a:xfrm>
            <a:off x="3556000" y="409956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Another role, project or scope change could restore</a:t>
            </a:r>
            <a:br/>
            <a:r>
              <a:rPr sz="1600" b="1" i="0">
                <a:solidFill>
                  <a:srgbClr val="0F2346"/>
                </a:solidFill>
                <a:latin typeface="Montserrat"/>
                <a:ea typeface="Montserrat"/>
                <a:cs typeface="Montserrat"/>
              </a:rPr>
              <a:t>growth without an immediate exit.</a:t>
            </a:r>
          </a:p>
        </p:txBody>
      </p:sp>
      <p:sp>
        <p:nvSpPr>
          <p:cNvPr id="11" name="Rectangle 10"/>
          <p:cNvSpPr/>
          <p:nvPr/>
        </p:nvSpPr>
        <p:spPr>
          <a:xfrm>
            <a:off x="762000" y="476758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059680"/>
            <a:ext cx="2540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Build a bridge</a:t>
            </a:r>
          </a:p>
        </p:txBody>
      </p:sp>
      <p:sp>
        <p:nvSpPr>
          <p:cNvPr id="13" name="TextBox 12"/>
          <p:cNvSpPr txBox="1"/>
          <p:nvPr/>
        </p:nvSpPr>
        <p:spPr>
          <a:xfrm>
            <a:off x="3556000" y="5034280"/>
            <a:ext cx="7874000" cy="1270000"/>
          </a:xfrm>
          <a:prstGeom prst="rect">
            <a:avLst/>
          </a:prstGeom>
          <a:noFill/>
        </p:spPr>
        <p:txBody>
          <a:bodyPr wrap="square" lIns="0" rIns="0" tIns="0" bIns="0" anchor="t">
            <a:spAutoFit/>
          </a:bodyPr>
          <a:lstStyle/>
          <a:p>
            <a:pPr algn="l">
              <a:lnSpc>
                <a:spcPct val="130000"/>
              </a:lnSpc>
            </a:pPr>
            <a:r>
              <a:rPr sz="1600" b="1" i="0">
                <a:solidFill>
                  <a:srgbClr val="0F2346"/>
                </a:solidFill>
                <a:latin typeface="Montserrat"/>
                <a:ea typeface="Montserrat"/>
                <a:cs typeface="Montserrat"/>
              </a:rPr>
              <a:t>You need something first: a credential, outside-context</a:t>
            </a:r>
            <a:br/>
            <a:r>
              <a:rPr sz="1600" b="1" i="0">
                <a:solidFill>
                  <a:srgbClr val="0F2346"/>
                </a:solidFill>
                <a:latin typeface="Montserrat"/>
                <a:ea typeface="Montserrat"/>
                <a:cs typeface="Montserrat"/>
              </a:rPr>
              <a:t>evidence, financial runway, or a clearer translation of</a:t>
            </a:r>
            <a:br/>
            <a:r>
              <a:rPr sz="1600" b="1" i="0">
                <a:solidFill>
                  <a:srgbClr val="0F2346"/>
                </a:solidFill>
                <a:latin typeface="Montserrat"/>
                <a:ea typeface="Montserrat"/>
                <a:cs typeface="Montserrat"/>
              </a:rPr>
              <a:t>what your experience can do elsewhere.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95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9" name="TextBox 8"/>
          <p:cNvSpPr txBox="1"/>
          <p:nvPr/>
        </p:nvSpPr>
        <p:spPr>
          <a:xfrm>
            <a:off x="1524000" y="422148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does my strongest evidence show I can do?</a:t>
            </a:r>
          </a:p>
        </p:txBody>
      </p:sp>
      <p:sp>
        <p:nvSpPr>
          <p:cNvPr id="10" name="Rectangle 9"/>
          <p:cNvSpPr/>
          <p:nvPr/>
        </p:nvSpPr>
        <p:spPr>
          <a:xfrm>
            <a:off x="762000" y="475996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RESIGN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Answer these three</a:t>
            </a:r>
            <a:br/>
            <a:r>
              <a:rPr sz="3000" b="1" i="0">
                <a:solidFill>
                  <a:srgbClr val="F5F1E8"/>
                </a:solidFill>
                <a:latin typeface="Montserrat"/>
                <a:ea typeface="Montserrat"/>
                <a:cs typeface="Montserrat"/>
              </a:rPr>
              <a:t>first.</a:t>
            </a:r>
          </a:p>
        </p:txBody>
      </p:sp>
      <p:sp>
        <p:nvSpPr>
          <p:cNvPr id="5" name="TextBox 4"/>
          <p:cNvSpPr txBox="1"/>
          <p:nvPr/>
        </p:nvSpPr>
        <p:spPr>
          <a:xfrm>
            <a:off x="762000" y="34417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6" name="TextBox 5"/>
          <p:cNvSpPr txBox="1"/>
          <p:nvPr/>
        </p:nvSpPr>
        <p:spPr>
          <a:xfrm>
            <a:off x="1524000" y="3403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evidence do I need to preserve now?</a:t>
            </a:r>
          </a:p>
        </p:txBody>
      </p:sp>
      <p:sp>
        <p:nvSpPr>
          <p:cNvPr id="7" name="Rectangle 6"/>
          <p:cNvSpPr/>
          <p:nvPr/>
        </p:nvSpPr>
        <p:spPr>
          <a:xfrm>
            <a:off x="762000" y="394208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95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9" name="TextBox 8"/>
          <p:cNvSpPr txBox="1"/>
          <p:nvPr/>
        </p:nvSpPr>
        <p:spPr>
          <a:xfrm>
            <a:off x="1524000" y="422148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does my strongest evidence show I can do?</a:t>
            </a:r>
          </a:p>
        </p:txBody>
      </p:sp>
      <p:sp>
        <p:nvSpPr>
          <p:cNvPr id="10" name="Rectangle 9"/>
          <p:cNvSpPr/>
          <p:nvPr/>
        </p:nvSpPr>
        <p:spPr>
          <a:xfrm>
            <a:off x="762000" y="475996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0774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2" name="TextBox 11"/>
          <p:cNvSpPr txBox="1"/>
          <p:nvPr/>
        </p:nvSpPr>
        <p:spPr>
          <a:xfrm>
            <a:off x="1524000" y="50393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must the next move use and build?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CAREER DECISION EVIDENCE CHECK</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Before you make the move,</a:t>
            </a:r>
            <a:br/>
            <a:r>
              <a:rPr sz="2700" b="1" i="0">
                <a:solidFill>
                  <a:srgbClr val="0F2346"/>
                </a:solidFill>
                <a:latin typeface="Montserrat"/>
                <a:ea typeface="Montserrat"/>
                <a:cs typeface="Montserrat"/>
              </a:rPr>
              <a:t>read what the work has built.</a:t>
            </a:r>
          </a:p>
        </p:txBody>
      </p:sp>
      <p:sp>
        <p:nvSpPr>
          <p:cNvPr id="5" name="Rectangle 4"/>
          <p:cNvSpPr/>
          <p:nvPr/>
        </p:nvSpPr>
        <p:spPr>
          <a:xfrm>
            <a:off x="762000" y="3810000"/>
            <a:ext cx="1270000" cy="25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4445000"/>
            <a:ext cx="5715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445000"/>
            <a:ext cx="5715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temidayoafonja.com/career-decisions</a:t>
            </a:r>
          </a:p>
        </p:txBody>
      </p:sp>
      <p:sp>
        <p:nvSpPr>
          <p:cNvPr id="8" name="Rectangle 7"/>
          <p:cNvSpPr/>
          <p:nvPr/>
        </p:nvSpPr>
        <p:spPr>
          <a:xfrm>
            <a:off x="10591800" y="44450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947400" y="4445000"/>
            <a:ext cx="279400" cy="2794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5918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947400" y="4800600"/>
            <a:ext cx="279400" cy="2794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223000" cy="1270000"/>
          </a:xfrm>
          <a:prstGeom prst="rect">
            <a:avLst/>
          </a:prstGeom>
          <a:noFill/>
        </p:spPr>
        <p:txBody>
          <a:bodyPr wrap="square" lIns="0" rIns="0" tIns="0" bIns="0" anchor="t">
            <a:spAutoFit/>
          </a:bodyPr>
          <a:lstStyle/>
          <a:p>
            <a:pPr algn="l">
              <a:lnSpc>
                <a:spcPct val="112000"/>
              </a:lnSpc>
            </a:pPr>
            <a:r>
              <a:rPr sz="3700" b="1" i="0">
                <a:solidFill>
                  <a:srgbClr val="F5F1E8"/>
                </a:solidFill>
                <a:latin typeface="Montserrat"/>
                <a:ea typeface="Montserrat"/>
                <a:cs typeface="Montserrat"/>
              </a:rPr>
              <a:t>How to Change Jobs</a:t>
            </a:r>
            <a:br/>
            <a:r>
              <a:rPr sz="3700" b="1" i="0">
                <a:solidFill>
                  <a:srgbClr val="F5F1E8"/>
                </a:solidFill>
                <a:latin typeface="Montserrat"/>
                <a:ea typeface="Montserrat"/>
                <a:cs typeface="Montserrat"/>
              </a:rPr>
              <a:t>Without Starting</a:t>
            </a:r>
            <a:br/>
            <a:r>
              <a:rPr sz="3700" b="1" i="0">
                <a:solidFill>
                  <a:srgbClr val="F5F1E8"/>
                </a:solidFill>
                <a:latin typeface="Montserrat"/>
                <a:ea typeface="Montserrat"/>
                <a:cs typeface="Montserrat"/>
              </a:rPr>
              <a:t>Your Career Over</a:t>
            </a:r>
          </a:p>
        </p:txBody>
      </p:sp>
      <p:sp>
        <p:nvSpPr>
          <p:cNvPr id="5" name="Rectangle 4"/>
          <p:cNvSpPr/>
          <p:nvPr/>
        </p:nvSpPr>
        <p:spPr>
          <a:xfrm>
            <a:off x="762000" y="52324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