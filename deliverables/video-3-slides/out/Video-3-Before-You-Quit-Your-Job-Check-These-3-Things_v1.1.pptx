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0:00-0:50</a:t>
            </a:r>
          </a:p>
          <a:p/>
          <a:p>
            <a:r>
              <a:t>Begin full-screen on Temidayo, not on this slide.</a:t>
            </a:r>
          </a:p>
          <a:p/>
          <a:p>
            <a:r>
              <a:t>Open on the decision the viewer is already carrying: growth has stopped, the</a:t>
            </a:r>
          </a:p>
          <a:p>
            <a:r>
              <a:t>conditions changed, another opportunity appeared, or the role no longer looks</a:t>
            </a:r>
          </a:p>
          <a:p>
            <a:r>
              <a:t>like the right place to stay.</a:t>
            </a:r>
          </a:p>
          <a:p/>
          <a:p>
            <a:r>
              <a:t>Give the payoff before the title appears. By the end they will know what</a:t>
            </a:r>
          </a:p>
          <a:p>
            <a:r>
              <a:t>evidence to preserve before access changes, how to name what the work built,</a:t>
            </a:r>
          </a:p>
          <a:p>
            <a:r>
              <a:t>and how to test whether the next move uses something proven while requiring</a:t>
            </a:r>
          </a:p>
          <a:p>
            <a:r>
              <a:t>something genuinely new.</a:t>
            </a:r>
          </a:p>
          <a:p/>
          <a:p>
            <a:r>
              <a:t>Then the brief channel line, then the title slide.</a:t>
            </a:r>
          </a:p>
          <a:p/>
          <a:p>
            <a:r>
              <a:t>Do not make the opening alarmist and do not talk anyone out of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0:50-1:35</a:t>
            </a:r>
          </a:p>
          <a:p/>
          <a:p>
            <a:r>
              <a:t>Speak from ideas, calmly. The point is timing, not fear. Most of what makes a</a:t>
            </a:r>
          </a:p>
          <a:p>
            <a:r>
              <a:t>career decision legible is easiest to gather while you still have access.</a:t>
            </a:r>
          </a:p>
          <a:p/>
          <a:p>
            <a:r>
              <a:t>State the safety boundary out loud, clearly, and do not soften it:</a:t>
            </a:r>
          </a:p>
          <a:p/>
          <a:p>
            <a:r>
              <a:t>"If your health or safety is at risk, or you are facing harassment,</a:t>
            </a:r>
          </a:p>
          <a:p>
            <a:r>
              <a:t>discrimination or another urgent threat, nothing in this video is a reason to</a:t>
            </a:r>
          </a:p>
          <a:p>
            <a:r>
              <a:t>delay leaving. Please act on that first."</a:t>
            </a:r>
          </a:p>
          <a:p/>
          <a:p>
            <a:r>
              <a:t>Then return to the viewer who has time to think, and say that the rest of the</a:t>
            </a:r>
          </a:p>
          <a:p>
            <a:r>
              <a:t>video is for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1:35-1:43</a:t>
            </a:r>
          </a:p>
          <a:p/>
          <a:p>
            <a:r>
              <a:t>A section break, four to seven seconds. Say: "The first check is to preserve</a:t>
            </a:r>
          </a:p>
          <a:p>
            <a:r>
              <a:t>the evidence."</a:t>
            </a:r>
          </a:p>
          <a:p/>
          <a:p>
            <a:r>
              <a:t>Do not teach it here. The next slide carries it.</a:t>
            </a:r>
          </a:p>
          <a:p/>
          <a:p>
            <a:r>
              <a:t>Only this check is on screen. The second and third come later, each in its own</a:t>
            </a:r>
          </a:p>
          <a:p>
            <a:r>
              <a:t>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1:43-3:15</a:t>
            </a:r>
          </a:p>
          <a:p/>
          <a:p>
            <a:r>
              <a:t>Speak from ideas. Reveal the left column two items at a time, then bring up</a:t>
            </a:r>
          </a:p>
          <a:p>
            <a:r>
              <a:t>the boundary column.</a:t>
            </a:r>
          </a:p>
          <a:p/>
          <a:p>
            <a:r>
              <a:t>Say the boundary plainly. Do not take confidential information, customer data,</a:t>
            </a:r>
          </a:p>
          <a:p>
            <a:r>
              <a:t>employee data, proprietary documents, or anything the employer owns that you</a:t>
            </a:r>
          </a:p>
          <a:p>
            <a:r>
              <a:t>have no right to keep. Preserving your record does not mean taking their</a:t>
            </a:r>
          </a:p>
          <a:p>
            <a:r>
              <a:t>material.</a:t>
            </a:r>
          </a:p>
          <a:p/>
          <a:p>
            <a:r>
              <a:t>The test to say out loud: if you are not entitled to keep it, do not take it.</a:t>
            </a:r>
          </a:p>
          <a:p/>
          <a:p>
            <a:r>
              <a:t>Then give the shape of the record itself, spoken, not on the slide:</a:t>
            </a:r>
          </a:p>
          <a:p/>
          <a:p>
            <a:r>
              <a:t>What changed? What was the starting condition? What did I decide or influence?</a:t>
            </a:r>
          </a:p>
          <a:p>
            <a:r>
              <a:t>Who was affected? What permitted evidence supports the result?</a:t>
            </a:r>
          </a:p>
          <a:p/>
          <a:p>
            <a:r>
              <a:t>Nothing here needs a screenshot of an employer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3:15-3:23</a:t>
            </a:r>
          </a:p>
          <a:p/>
          <a:p>
            <a:r>
              <a:t>A section break, four to seven seconds. Say: "The second check is to name what</a:t>
            </a:r>
          </a:p>
          <a:p>
            <a:r>
              <a:t>the work built."</a:t>
            </a:r>
          </a:p>
          <a:p/>
          <a:p>
            <a:r>
              <a:t>Do not restate the first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3:23-4:55</a:t>
            </a:r>
          </a:p>
          <a:p/>
          <a:p>
            <a:r>
              <a:t>Speak from ideas. Reveal one row at a time, then the closing question.</a:t>
            </a:r>
          </a:p>
          <a:p/>
          <a:p>
            <a:r>
              <a:t>Use the generic example. Someone may have reduced the time an internal process</a:t>
            </a:r>
          </a:p>
          <a:p>
            <a:r>
              <a:t>took. The portable value is usually not the number. It is the ability to</a:t>
            </a:r>
          </a:p>
          <a:p>
            <a:r>
              <a:t>identify where work was getting stuck, align people who owned different parts</a:t>
            </a:r>
          </a:p>
          <a:p>
            <a:r>
              <a:t>of the system, redesign the handoff, and do it without creating a new control</a:t>
            </a:r>
          </a:p>
          <a:p>
            <a:r>
              <a:t>failure.</a:t>
            </a:r>
          </a:p>
          <a:p/>
          <a:p>
            <a:r>
              <a:t>That combination is what another organization can use. Do not invent</a:t>
            </a:r>
          </a:p>
          <a:p>
            <a:r>
              <a:t>statistics; the shape of the judgment is the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4:55-5:03</a:t>
            </a:r>
          </a:p>
          <a:p/>
          <a:p>
            <a:r>
              <a:t>A section break, four to seven seconds. Say: "The third check is to test the</a:t>
            </a:r>
          </a:p>
          <a:p>
            <a:r>
              <a:t>next move."</a:t>
            </a:r>
          </a:p>
          <a:p/>
          <a:p>
            <a:r>
              <a:t>Do not restate the first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5:03-6:30</a:t>
            </a:r>
          </a:p>
          <a:p/>
          <a:p>
            <a:r>
              <a:t>Speak from ideas. Hold the contrast, then reveal the questions one at a time.</a:t>
            </a:r>
          </a:p>
          <a:p/>
          <a:p>
            <a:r>
              <a:t>Two cautions, spoken rather than on the slide.</a:t>
            </a:r>
          </a:p>
          <a:p/>
          <a:p>
            <a:r>
              <a:t>A move that uses nothing you have already developed may impose an unnecessary</a:t>
            </a:r>
          </a:p>
          <a:p>
            <a:r>
              <a:t>reset.</a:t>
            </a:r>
          </a:p>
          <a:p/>
          <a:p>
            <a:r>
              <a:t>And a move that simply repeats the same work at another employer may change</a:t>
            </a:r>
          </a:p>
          <a:p>
            <a:r>
              <a:t>the scenery without changing your position.</a:t>
            </a:r>
          </a:p>
          <a:p/>
          <a:p>
            <a:r>
              <a:t>The move worth making usually does both things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6:30-6:45</a:t>
            </a:r>
          </a:p>
          <a:p/>
          <a:p>
            <a:r>
              <a:t>The first and only moment all three checks appear together.</a:t>
            </a:r>
          </a:p>
          <a:p/>
          <a:p>
            <a:r>
              <a:t>Name them once, in order: preserve the evidence, name what the work built,</a:t>
            </a:r>
          </a:p>
          <a:p>
            <a:r>
              <a:t>test the next move. Do not teach them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6:45-7:45</a:t>
            </a:r>
          </a:p>
          <a:p/>
          <a:p>
            <a:r>
              <a:t>Reveal one direction at a time. Keep this provisional. You are not diagnosing</a:t>
            </a:r>
          </a:p>
          <a:p>
            <a:r>
              <a:t>the viewer and you are not telling them which one is correct.</a:t>
            </a:r>
          </a:p>
          <a:p/>
          <a:p>
            <a:r>
              <a:t>Say the line as written: the point is not to make the decision slow, the point</a:t>
            </a:r>
          </a:p>
          <a:p>
            <a:r>
              <a:t>is to make it legible.</a:t>
            </a:r>
          </a:p>
          <a:p/>
          <a:p>
            <a:r>
              <a:t>If the earlier safety boundary applies to someone watching, repeat it briefly</a:t>
            </a:r>
          </a:p>
          <a:p>
            <a:r>
              <a:t>here. A harmful situation does not need a bridge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7:45-8:35</a:t>
            </a:r>
          </a:p>
          <a:p/>
          <a:p>
            <a:r>
              <a:t>Ask one question at a time and pause after each one. Leave five to seven</a:t>
            </a:r>
          </a:p>
          <a:p>
            <a:r>
              <a:t>seconds of quiet after the third.</a:t>
            </a:r>
          </a:p>
          <a:p/>
          <a:p>
            <a:r>
              <a:t>Tell the viewer they can pause the video here and write the answers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8:35-9:00</a:t>
            </a:r>
          </a:p>
          <a:p/>
          <a:p>
            <a:r>
              <a:t>Calm and brief. This is the only invitation in the video, and it is the Career</a:t>
            </a:r>
          </a:p>
          <a:p>
            <a:r>
              <a:t>Decision Evidence Check, not the Field Kit.</a:t>
            </a:r>
          </a:p>
          <a:p/>
          <a:p>
            <a:r>
              <a:t>Say it plainly: if you want a structured read of the evidence behind the</a:t>
            </a:r>
          </a:p>
          <a:p>
            <a:r>
              <a:t>decision you are weighing, that is what this is for, and it is at</a:t>
            </a:r>
          </a:p>
          <a:p>
            <a:r>
              <a:t>temidayoafonja.com/career-decisions.</a:t>
            </a:r>
          </a:p>
          <a:p/>
          <a:p>
            <a:r>
              <a:t>Before publishing, confirm that route is live and reaches the right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9:00-9:25</a:t>
            </a:r>
          </a:p>
          <a:p/>
          <a:p>
            <a:r>
              <a:t>If the move changes function or industry, this is the video that answers what</a:t>
            </a:r>
          </a:p>
          <a:p>
            <a:r>
              <a:t>carries across.</a:t>
            </a:r>
          </a:p>
          <a:p/>
          <a:p>
            <a:r>
              <a:t>Do not summarize this video again.</a:t>
            </a:r>
          </a:p>
          <a:p/>
          <a:p>
            <a:r>
              <a:t>The right side of the frame is left open for the YouTube linked-video</a:t>
            </a:r>
          </a:p>
          <a:p>
            <a:r>
              <a:t>end-screen element. Hold the final frame for at least 12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91800" y="66040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15650" y="660400"/>
            <a:ext cx="254000" cy="2540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9180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565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3600" y="29337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VIDEO THREE  ·  CAPABILITY 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600" y="33020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Before You Quit</a:t>
            </a:r>
            <a:br/>
            <a:r>
              <a:rPr sz="4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Your Job, Check</a:t>
            </a:r>
            <a:br/>
            <a:r>
              <a:rPr sz="4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These 3 Things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3600" y="5651500"/>
            <a:ext cx="1397000" cy="381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3600" y="5905500"/>
            <a:ext cx="762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B9C3D2"/>
                </a:solidFill>
                <a:latin typeface="Montserrat"/>
                <a:ea typeface="Montserrat"/>
                <a:cs typeface="Montserrat"/>
              </a:rPr>
              <a:t>Temidayo Afonja  ·  temidayoafonja.com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BEFORE YOU RESIGN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Once you leave,</a:t>
            </a:r>
            <a:br/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access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2512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Evidence, systems and people can become harder to reach.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4191000"/>
            <a:ext cx="1143000" cy="254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44831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5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If your health or safety is at risk, or you are facing harassment or</a:t>
            </a:r>
            <a:br/>
            <a:r>
              <a:rPr sz="15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discrimination, this is not a reason to wait.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8702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THREE CHECKS BEFORE YOU RESIGN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175000"/>
            <a:ext cx="254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381500"/>
            <a:ext cx="952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Preserve the</a:t>
            </a:r>
            <a:br/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715000"/>
            <a:ext cx="952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Keep what is yours to keep.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CHECK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Preserve the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526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Keep only what you are entitled to keep.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149600"/>
            <a:ext cx="5207000" cy="311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149600"/>
            <a:ext cx="5207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429000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Yours to keep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1400" y="3784600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Your own performance reviews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1400" y="4086098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Recognition you received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1400" y="4387596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Nonconfidential metrics already</a:t>
            </a:r>
            <a:br/>
            <a:r>
              <a:rPr sz="135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shared with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4901692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Project 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1400" y="5203190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Scope of responsibility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5504688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Permitted notes on decisions or</a:t>
            </a:r>
            <a:br/>
            <a:r>
              <a:rPr sz="135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problems you helped resolve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3000" y="3149600"/>
            <a:ext cx="5207000" cy="311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23000" y="3149600"/>
            <a:ext cx="5207000" cy="508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2400" y="3429000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C1440E"/>
                </a:solidFill>
                <a:latin typeface="Montserrat"/>
                <a:ea typeface="Montserrat"/>
                <a:cs typeface="Montserrat"/>
              </a:rPr>
              <a:t>Not yours to take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2400" y="3784600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Confidential information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2400" y="4086098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Customer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2400" y="4387596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Employee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2400" y="4689094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Proprietary documents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2400" y="4990592"/>
            <a:ext cx="469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Anything employer-owned you have</a:t>
            </a:r>
            <a:br/>
            <a:r>
              <a:rPr sz="1350" b="1" i="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no right to keep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8702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THREE CHECKS BEFORE YOU RESIGN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175000"/>
            <a:ext cx="254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381500"/>
            <a:ext cx="952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Name what</a:t>
            </a:r>
            <a:br/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work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715000"/>
            <a:ext cx="952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An achievement is useful when you understand what it proves.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CHECK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Name what the work built.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526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 resume bullet does not automatically show what you can 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086100"/>
            <a:ext cx="106680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086100"/>
            <a:ext cx="10668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3528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000" y="33147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problem was being solved?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1400" y="3746500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1400" y="39243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Constraint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5000" y="38862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made the situation difficult?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1400" y="4318000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1400" y="44958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Judgment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5000" y="44577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did I notice, decide, interpret or influence?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1400" y="4889500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1400" y="50673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75000" y="50292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changed or was prevented?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5880100"/>
            <a:ext cx="1066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244B78"/>
                </a:solidFill>
                <a:latin typeface="Montserrat"/>
                <a:ea typeface="Montserrat"/>
                <a:cs typeface="Montserrat"/>
              </a:rPr>
              <a:t>Then ask: where else could that combination matter?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8702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THREE CHECKS BEFORE YOU RESIGN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175000"/>
            <a:ext cx="254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381500"/>
            <a:ext cx="952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Test the</a:t>
            </a:r>
            <a:br/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next move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715000"/>
            <a:ext cx="952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Look for overlap between what is proven and what must still grow.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CHECK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Test the next move.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780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A strong move does two things at once.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175000"/>
            <a:ext cx="495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Uses something</a:t>
            </a:r>
            <a:br/>
            <a:r>
              <a:rPr sz="29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proven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3300" y="3149600"/>
            <a:ext cx="19050" cy="952500"/>
          </a:xfrm>
          <a:prstGeom prst="rect">
            <a:avLst/>
          </a:prstGeom>
          <a:solidFill>
            <a:srgbClr val="B9C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7000" y="3175000"/>
            <a:ext cx="495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Builds something</a:t>
            </a:r>
            <a:br/>
            <a:r>
              <a:rPr sz="29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new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6482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4635500"/>
            <a:ext cx="1003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will this next role allow me to carry?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51435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" y="5130800"/>
            <a:ext cx="1003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new judgment, exposure or responsibility will it force me to develop?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56388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" y="5626100"/>
            <a:ext cx="1003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will I be able to do after a year that I cannot do now?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THREE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Take them in order,</a:t>
            </a:r>
            <a:br/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you resign.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302000"/>
            <a:ext cx="3492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3302000"/>
            <a:ext cx="3492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1400" y="3594100"/>
            <a:ext cx="292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1400" y="4445000"/>
            <a:ext cx="2984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Preserve the</a:t>
            </a:r>
            <a:br/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evidence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13250" y="3302000"/>
            <a:ext cx="3492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3250" y="3302000"/>
            <a:ext cx="3492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2650" y="3594100"/>
            <a:ext cx="292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2650" y="4445000"/>
            <a:ext cx="2984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Name what</a:t>
            </a:r>
            <a:br/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work built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4500" y="3302000"/>
            <a:ext cx="3492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4500" y="3302000"/>
            <a:ext cx="3492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3900" y="3594100"/>
            <a:ext cx="292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3900" y="4445000"/>
            <a:ext cx="2984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Test the</a:t>
            </a:r>
            <a:br/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next move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READING THE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Three directions the</a:t>
            </a:r>
            <a:br/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evidence can point.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08788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point is not to make the decision slow.</a:t>
            </a:r>
            <a:br/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point is to make it legible.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454400"/>
            <a:ext cx="254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Leave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56000" y="3429000"/>
            <a:ext cx="787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evidence says leaving is right, and you are ready.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383286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4124960"/>
            <a:ext cx="254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Reposition inside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6000" y="4099560"/>
            <a:ext cx="787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Another role, project or scope change could restore</a:t>
            </a:r>
            <a:br/>
            <a:r>
              <a:rPr sz="16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growth without an immediate exit.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476758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5059680"/>
            <a:ext cx="254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Build a bridge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6000" y="5034280"/>
            <a:ext cx="787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You need something first: a credential, outside-context</a:t>
            </a:r>
            <a:br/>
            <a:r>
              <a:rPr sz="16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evidence, financial runway, or a clearer translation of</a:t>
            </a:r>
            <a:br/>
            <a:r>
              <a:rPr sz="16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your experience can do elsewhere.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BEFORE YOU RESIGN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Answer these three</a:t>
            </a:r>
            <a:br/>
            <a:r>
              <a:rPr sz="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first.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4417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0" y="34036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evidence do I need to preserve now?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394208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425958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" y="422148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does my strongest evidence show I can do?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475996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507746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" y="503936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must the next move use and build?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CAREER DECISION EVIDENCE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you make the move,</a:t>
            </a:r>
            <a:br/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read what the work has built.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810000"/>
            <a:ext cx="1270000" cy="254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4445000"/>
            <a:ext cx="5715000" cy="6096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4445000"/>
            <a:ext cx="57150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temidayoafonja.com/career-decisions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91800" y="4445000"/>
            <a:ext cx="279400" cy="2794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47400" y="4445000"/>
            <a:ext cx="279400" cy="2794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91800" y="4800600"/>
            <a:ext cx="279400" cy="2794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47400" y="4800600"/>
            <a:ext cx="279400" cy="2794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933700"/>
            <a:ext cx="571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276600"/>
            <a:ext cx="622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How to Change Jobs</a:t>
            </a:r>
            <a:br/>
            <a:r>
              <a:rPr sz="3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Without Starting</a:t>
            </a:r>
            <a:br/>
            <a:r>
              <a:rPr sz="3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Your Career 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5232400"/>
            <a:ext cx="1270000" cy="381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871200" y="5892800"/>
            <a:ext cx="203200" cy="2032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131550" y="5892800"/>
            <a:ext cx="203200" cy="2032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71200" y="6153150"/>
            <a:ext cx="203200" cy="2032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131550" y="6153150"/>
            <a:ext cx="203200" cy="2032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