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01_Interesting_Background_Hard_To_Place.png  (V01)</a:t>
            </a:r>
          </a:p>
          <a:p/>
          <a:p>
            <a:r>
              <a:t>Script match: "And sometimes it is the sound of a person who cannot quite place you, buying themselves a second to work out what to do with what you just said."</a:t>
            </a:r>
          </a:p>
          <a:p/>
          <a:p>
            <a:r>
              <a:t>Purpose: Names the recognizable moment and the tension underneath it, without claiming the phrase is always a bad sign.</a:t>
            </a:r>
          </a:p>
          <a:p>
            <a:r>
              <a:t>Mode: Full-screen motion graphic</a:t>
            </a:r>
          </a:p>
          <a:p>
            <a:r>
              <a:t>Hold: 6 to 8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02_Category_Compression.png  (V02)</a:t>
            </a:r>
          </a:p>
          <a:p/>
          <a:p>
            <a:r>
              <a:t>Script match: "When somebody meets your career for the first time, they are not reading it. They are sorting it." through to "the audit person gets filed as an audit person, ten years after the audit."</a:t>
            </a:r>
          </a:p>
          <a:p/>
          <a:p>
            <a:r>
              <a:t>Purpose: Explains the mechanism, so the viewer stops treating this as somebody else's unfairness and starts treating it as information they control.</a:t>
            </a:r>
          </a:p>
          <a:p>
            <a:r>
              <a:t>Mode: Full-screen motion graphic</a:t>
            </a:r>
          </a:p>
          <a:p>
            <a:r>
              <a:t>Hold: 9 to 11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03_The_One_Line_Test.png  (V03)</a:t>
            </a:r>
          </a:p>
          <a:p/>
          <a:p>
            <a:r>
              <a:t>Script match: "It's called the One-Line Test. Claim. Spine. Receipts."</a:t>
            </a:r>
          </a:p>
          <a:p/>
          <a:p>
            <a:r>
              <a:t>Purpose: The one named framework in the video. Everything after this hangs off it.</a:t>
            </a:r>
          </a:p>
          <a:p>
            <a:r>
              <a:t>Mode: Full-screen motion graphic</a:t>
            </a:r>
          </a:p>
          <a:p>
            <a:r>
              <a:t>Hold: 8 to 10 seconds on first appearance, 3 seconds on each return.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04_Claim_Resume_List_Vs_Problem.png  (V04)</a:t>
            </a:r>
          </a:p>
          <a:p/>
          <a:p>
            <a:r>
              <a:t>Script match: "A Claim is not a summary of your resume. Watch what happens when I do that version." through to "You need to know what I'm for."</a:t>
            </a:r>
          </a:p>
          <a:p/>
          <a:p>
            <a:r>
              <a:t>Purpose: The live demonstration. The viewer sees the bad version and the better version side by side, in Temidayo's own career.</a:t>
            </a:r>
          </a:p>
          <a:p>
            <a:r>
              <a:t>Mode: Full-screen motion graphic</a:t>
            </a:r>
          </a:p>
          <a:p>
            <a:r>
              <a:t>Hold: 11 to 13 seconds. This is the longest hold in the video.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05_Spine_Many_Rooms_One_Kind_Of_Work.png  (V05)</a:t>
            </a:r>
          </a:p>
          <a:p/>
          <a:p>
            <a:r>
              <a:t>Script match: "The better question is this. What kept being true about the difficult work people trusted you with?" through the rooms.</a:t>
            </a:r>
          </a:p>
          <a:p/>
          <a:p>
            <a:r>
              <a:t>Purpose: The domains arrive as evidence, out of chronological order, and resolve into one sentence. Narrating them in order would perform the exact problem the video is diagnosing.</a:t>
            </a:r>
          </a:p>
          <a:p>
            <a:r>
              <a:t>Mode: Full-screen motion graphic</a:t>
            </a:r>
          </a:p>
          <a:p>
            <a:r>
              <a:t>Hold: 10 to 12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06_Receipts_Three_Eras.png  (V06)</a:t>
            </a:r>
          </a:p>
          <a:p/>
          <a:p>
            <a:r>
              <a:t>Script match: "A Receipt has to make sense on its own." through the three receipts.</a:t>
            </a:r>
          </a:p>
          <a:p/>
          <a:p>
            <a:r>
              <a:t>Purpose: Proves the Claim with evidence from different eras, and models the scoping language that keeps each one defensible.</a:t>
            </a:r>
          </a:p>
          <a:p>
            <a:r>
              <a:t>Mode: Full-screen motion graphic</a:t>
            </a:r>
          </a:p>
          <a:p>
            <a:r>
              <a:t>Hold: 11 to 13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07_Practical_Test_History_Or_Problem.png  (V07)</a:t>
            </a:r>
          </a:p>
          <a:p/>
          <a:p>
            <a:r>
              <a:t>Script match: "Say this. Can I try one sentence on you? Tell me what you think I actually help with." through both outcomes.</a:t>
            </a:r>
          </a:p>
          <a:p/>
          <a:p>
            <a:r>
              <a:t>Purpose: Hands the viewer an exact sentence to use tonight and a way to read the result.</a:t>
            </a:r>
          </a:p>
          <a:p>
            <a:r>
              <a:t>Mode: Full-screen motion graphic</a:t>
            </a:r>
          </a:p>
          <a:p>
            <a:r>
              <a:t>Hold: 9 to 11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08_Failure_Modes.png  (V08)</a:t>
            </a:r>
          </a:p>
          <a:p/>
          <a:p>
            <a:r>
              <a:t>Script match: "Three reasons a Claim doesn't land, and they get fixed in different ways." through the honest limits.</a:t>
            </a:r>
          </a:p>
          <a:p/>
          <a:p>
            <a:r>
              <a:t>Purpose: Keeps the promise honest and gives the viewer somewhere to go if the exercise does not work first time.</a:t>
            </a:r>
          </a:p>
          <a:p>
            <a:r>
              <a:t>Mode: Full-screen motion graphic</a:t>
            </a:r>
          </a:p>
          <a:p>
            <a:r>
              <a:t>Hold: 9 to 11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09_CTA_Write_Your_Claim_Below.png  (V09)</a:t>
            </a:r>
          </a:p>
          <a:p/>
          <a:p>
            <a:r>
              <a:t>Script match: "And then put it in the comments. I mean that literally. Write your one-line Claim below."</a:t>
            </a:r>
          </a:p>
          <a:p/>
          <a:p>
            <a:r>
              <a:t>Purpose: The single CTA. No product ask anywhere in this video.</a:t>
            </a:r>
          </a:p>
          <a:p>
            <a:r>
              <a:t>Mode: Full screen</a:t>
            </a:r>
          </a:p>
          <a:p>
            <a:r>
              <a:t>Hold: 8 to 10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10_Watch_Next_Change_Jobs.png  (V10)</a:t>
            </a:r>
          </a:p>
          <a:p/>
          <a:p>
            <a:r>
              <a:t>Script match: "Watch How to Change Jobs Without Starting Your Career Over next."</a:t>
            </a:r>
          </a:p>
          <a:p/>
          <a:p>
            <a:r>
              <a:t>Purpose: Final visual. Right of frame kept clear for the YouTube end screen.</a:t>
            </a:r>
          </a:p>
          <a:p>
            <a:r>
              <a:t>Mode: Full screen, final visual</a:t>
            </a:r>
          </a:p>
          <a:p>
            <a:r>
              <a:t>Hold: 10 to 14 seconds, through the outro lines and past the last word.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THE MOMENT</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822831"/>
            <a:ext cx="10160000" cy="1524000"/>
          </a:xfrm>
          <a:prstGeom prst="rect">
            <a:avLst/>
          </a:prstGeom>
          <a:noFill/>
        </p:spPr>
        <p:txBody>
          <a:bodyPr wrap="square" lIns="0" rIns="0" tIns="0" bIns="0" anchor="t">
            <a:spAutoFit/>
          </a:bodyPr>
          <a:lstStyle/>
          <a:p>
            <a:pPr algn="l">
              <a:lnSpc>
                <a:spcPct val="112000"/>
              </a:lnSpc>
            </a:pPr>
            <a:r>
              <a:rPr sz="3600" b="1" i="0">
                <a:solidFill>
                  <a:srgbClr val="F5F1E8"/>
                </a:solidFill>
                <a:latin typeface="Montserrat"/>
                <a:ea typeface="Montserrat"/>
                <a:cs typeface="Montserrat"/>
              </a:rPr>
              <a:t>“Interesting background.”</a:t>
            </a:r>
          </a:p>
        </p:txBody>
      </p:sp>
      <p:sp>
        <p:nvSpPr>
          <p:cNvPr id="6" name="Rectangle 5"/>
          <p:cNvSpPr/>
          <p:nvPr/>
        </p:nvSpPr>
        <p:spPr>
          <a:xfrm>
            <a:off x="1016000" y="2741295"/>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957195"/>
            <a:ext cx="4826000" cy="1524000"/>
          </a:xfrm>
          <a:prstGeom prst="rect">
            <a:avLst/>
          </a:prstGeom>
          <a:noFill/>
        </p:spPr>
        <p:txBody>
          <a:bodyPr wrap="square" lIns="0" rIns="0" tIns="0" bIns="0" anchor="t">
            <a:spAutoFit/>
          </a:bodyPr>
          <a:lstStyle/>
          <a:p>
            <a:pPr algn="l">
              <a:lnSpc>
                <a:spcPct val="114000"/>
              </a:lnSpc>
            </a:pPr>
            <a:r>
              <a:rPr sz="2600" b="1" i="0">
                <a:solidFill>
                  <a:srgbClr val="F5F1E8"/>
                </a:solidFill>
                <a:latin typeface="Montserrat"/>
                <a:ea typeface="Montserrat"/>
                <a:cs typeface="Montserrat"/>
              </a:rPr>
              <a:t>SOMETIMES A COMPLIMENT</a:t>
            </a:r>
          </a:p>
        </p:txBody>
      </p:sp>
      <p:sp>
        <p:nvSpPr>
          <p:cNvPr id="8" name="TextBox 7"/>
          <p:cNvSpPr txBox="1"/>
          <p:nvPr/>
        </p:nvSpPr>
        <p:spPr>
          <a:xfrm>
            <a:off x="1016000" y="3837051"/>
            <a:ext cx="4826000" cy="1524000"/>
          </a:xfrm>
          <a:prstGeom prst="rect">
            <a:avLst/>
          </a:prstGeom>
          <a:noFill/>
        </p:spPr>
        <p:txBody>
          <a:bodyPr wrap="square" lIns="0" rIns="0" tIns="0" bIns="0" anchor="t">
            <a:spAutoFit/>
          </a:bodyPr>
          <a:lstStyle/>
          <a:p>
            <a:pPr algn="l">
              <a:lnSpc>
                <a:spcPct val="134000"/>
              </a:lnSpc>
            </a:pPr>
            <a:r>
              <a:rPr sz="2100" b="0" i="0">
                <a:solidFill>
                  <a:srgbClr val="B9C3D2"/>
                </a:solidFill>
                <a:latin typeface="DM Sans"/>
                <a:ea typeface="DM Sans"/>
                <a:cs typeface="DM Sans"/>
              </a:rPr>
              <a:t>Somebody is genuinely interested.</a:t>
            </a:r>
          </a:p>
        </p:txBody>
      </p:sp>
      <p:sp>
        <p:nvSpPr>
          <p:cNvPr id="9" name="Rectangle 8"/>
          <p:cNvSpPr/>
          <p:nvPr/>
        </p:nvSpPr>
        <p:spPr>
          <a:xfrm>
            <a:off x="6350000" y="2741295"/>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0" y="2957195"/>
            <a:ext cx="4826000" cy="1524000"/>
          </a:xfrm>
          <a:prstGeom prst="rect">
            <a:avLst/>
          </a:prstGeom>
          <a:noFill/>
        </p:spPr>
        <p:txBody>
          <a:bodyPr wrap="square" lIns="0" rIns="0" tIns="0" bIns="0" anchor="t">
            <a:spAutoFit/>
          </a:bodyPr>
          <a:lstStyle/>
          <a:p>
            <a:pPr algn="l">
              <a:lnSpc>
                <a:spcPct val="114000"/>
              </a:lnSpc>
            </a:pPr>
            <a:r>
              <a:rPr sz="2600" b="1" i="0">
                <a:solidFill>
                  <a:srgbClr val="F5F1E8"/>
                </a:solidFill>
                <a:latin typeface="Montserrat"/>
                <a:ea typeface="Montserrat"/>
                <a:cs typeface="Montserrat"/>
              </a:rPr>
              <a:t>SOMETIMES NOT</a:t>
            </a:r>
          </a:p>
        </p:txBody>
      </p:sp>
      <p:sp>
        <p:nvSpPr>
          <p:cNvPr id="11" name="TextBox 10"/>
          <p:cNvSpPr txBox="1"/>
          <p:nvPr/>
        </p:nvSpPr>
        <p:spPr>
          <a:xfrm>
            <a:off x="6350000" y="3460623"/>
            <a:ext cx="4826000" cy="1524000"/>
          </a:xfrm>
          <a:prstGeom prst="rect">
            <a:avLst/>
          </a:prstGeom>
          <a:noFill/>
        </p:spPr>
        <p:txBody>
          <a:bodyPr wrap="square" lIns="0" rIns="0" tIns="0" bIns="0" anchor="t">
            <a:spAutoFit/>
          </a:bodyPr>
          <a:lstStyle/>
          <a:p>
            <a:pPr algn="l">
              <a:lnSpc>
                <a:spcPct val="134000"/>
              </a:lnSpc>
            </a:pPr>
            <a:r>
              <a:rPr sz="2100" b="0" i="0">
                <a:solidFill>
                  <a:srgbClr val="B9C3D2"/>
                </a:solidFill>
                <a:latin typeface="DM Sans"/>
                <a:ea typeface="DM Sans"/>
                <a:cs typeface="DM Sans"/>
              </a:rPr>
              <a:t>Somebody cannot quite place you.</a:t>
            </a:r>
          </a:p>
        </p:txBody>
      </p:sp>
      <p:sp>
        <p:nvSpPr>
          <p:cNvPr id="12" name="TextBox 11"/>
          <p:cNvSpPr txBox="1"/>
          <p:nvPr/>
        </p:nvSpPr>
        <p:spPr>
          <a:xfrm>
            <a:off x="1016000" y="4562729"/>
            <a:ext cx="10160000" cy="1524000"/>
          </a:xfrm>
          <a:prstGeom prst="rect">
            <a:avLst/>
          </a:prstGeom>
          <a:noFill/>
        </p:spPr>
        <p:txBody>
          <a:bodyPr wrap="square" lIns="0" rIns="0" tIns="0" bIns="0" anchor="t">
            <a:spAutoFit/>
          </a:bodyPr>
          <a:lstStyle/>
          <a:p>
            <a:pPr algn="l">
              <a:lnSpc>
                <a:spcPct val="120000"/>
              </a:lnSpc>
            </a:pPr>
            <a:r>
              <a:rPr sz="2100" b="1" i="0">
                <a:solidFill>
                  <a:srgbClr val="C9A84C"/>
                </a:solidFill>
                <a:latin typeface="Montserrat"/>
                <a:ea typeface="Montserrat"/>
                <a:cs typeface="Montserrat"/>
              </a:rPr>
              <a:t>Experienced. Still hard to categorize.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HOW RANGE GETS MISREAD</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761236"/>
            <a:ext cx="10160000" cy="1524000"/>
          </a:xfrm>
          <a:prstGeom prst="rect">
            <a:avLst/>
          </a:prstGeom>
          <a:noFill/>
        </p:spPr>
        <p:txBody>
          <a:bodyPr wrap="square" lIns="0" rIns="0" tIns="0" bIns="0" anchor="t">
            <a:spAutoFit/>
          </a:bodyPr>
          <a:lstStyle/>
          <a:p>
            <a:pPr algn="l">
              <a:lnSpc>
                <a:spcPct val="112000"/>
              </a:lnSpc>
            </a:pPr>
            <a:r>
              <a:rPr sz="3400" b="1" i="0">
                <a:solidFill>
                  <a:srgbClr val="112345"/>
                </a:solidFill>
                <a:latin typeface="Montserrat"/>
                <a:ea typeface="Montserrat"/>
                <a:cs typeface="Montserrat"/>
              </a:rPr>
              <a:t>They are not reading it.</a:t>
            </a:r>
            <a:br/>
            <a:r>
              <a:rPr sz="3400" b="1" i="0">
                <a:solidFill>
                  <a:srgbClr val="112345"/>
                </a:solidFill>
                <a:latin typeface="Montserrat"/>
                <a:ea typeface="Montserrat"/>
                <a:cs typeface="Montserrat"/>
              </a:rPr>
              <a:t>They are sorting it.</a:t>
            </a:r>
          </a:p>
        </p:txBody>
      </p:sp>
      <p:sp>
        <p:nvSpPr>
          <p:cNvPr id="6" name="TextBox 5"/>
          <p:cNvSpPr txBox="1"/>
          <p:nvPr/>
        </p:nvSpPr>
        <p:spPr>
          <a:xfrm>
            <a:off x="1016000" y="3198368"/>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ONE CLEAR CATEGORY</a:t>
            </a:r>
          </a:p>
        </p:txBody>
      </p:sp>
      <p:sp>
        <p:nvSpPr>
          <p:cNvPr id="7" name="TextBox 6"/>
          <p:cNvSpPr txBox="1"/>
          <p:nvPr/>
        </p:nvSpPr>
        <p:spPr>
          <a:xfrm>
            <a:off x="4953000" y="3134868"/>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They find it and move on.</a:t>
            </a:r>
          </a:p>
        </p:txBody>
      </p:sp>
      <p:sp>
        <p:nvSpPr>
          <p:cNvPr id="8" name="TextBox 7"/>
          <p:cNvSpPr txBox="1"/>
          <p:nvPr/>
        </p:nvSpPr>
        <p:spPr>
          <a:xfrm>
            <a:off x="1016000" y="3844036"/>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FIVE POSSIBLE CATEGORIES</a:t>
            </a:r>
          </a:p>
        </p:txBody>
      </p:sp>
      <p:sp>
        <p:nvSpPr>
          <p:cNvPr id="9" name="TextBox 8"/>
          <p:cNvSpPr txBox="1"/>
          <p:nvPr/>
        </p:nvSpPr>
        <p:spPr>
          <a:xfrm>
            <a:off x="4953000" y="3780536"/>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They pick the simplest one.</a:t>
            </a:r>
          </a:p>
        </p:txBody>
      </p:sp>
      <p:sp>
        <p:nvSpPr>
          <p:cNvPr id="10" name="TextBox 9"/>
          <p:cNvSpPr txBox="1"/>
          <p:nvPr/>
        </p:nvSpPr>
        <p:spPr>
          <a:xfrm>
            <a:off x="1016000" y="4654296"/>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THE ONE THEY PICK</a:t>
            </a:r>
          </a:p>
        </p:txBody>
      </p:sp>
      <p:sp>
        <p:nvSpPr>
          <p:cNvPr id="11" name="TextBox 10"/>
          <p:cNvSpPr txBox="1"/>
          <p:nvPr/>
        </p:nvSpPr>
        <p:spPr>
          <a:xfrm>
            <a:off x="4953000" y="4590796"/>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Is smaller than you 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THE ONE-LINE TEST</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151380"/>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01</a:t>
            </a:r>
          </a:p>
        </p:txBody>
      </p:sp>
      <p:sp>
        <p:nvSpPr>
          <p:cNvPr id="6" name="TextBox 5"/>
          <p:cNvSpPr txBox="1"/>
          <p:nvPr/>
        </p:nvSpPr>
        <p:spPr>
          <a:xfrm>
            <a:off x="1854200" y="2075180"/>
            <a:ext cx="9321800" cy="1524000"/>
          </a:xfrm>
          <a:prstGeom prst="rect">
            <a:avLst/>
          </a:prstGeom>
          <a:noFill/>
        </p:spPr>
        <p:txBody>
          <a:bodyPr wrap="square" lIns="0" rIns="0" tIns="0" bIns="0" anchor="t">
            <a:spAutoFit/>
          </a:bodyPr>
          <a:lstStyle/>
          <a:p>
            <a:pPr algn="l">
              <a:lnSpc>
                <a:spcPct val="112000"/>
              </a:lnSpc>
            </a:pPr>
            <a:r>
              <a:rPr sz="2200" b="1" i="0">
                <a:solidFill>
                  <a:srgbClr val="112345"/>
                </a:solidFill>
                <a:latin typeface="Montserrat"/>
                <a:ea typeface="Montserrat"/>
                <a:cs typeface="Montserrat"/>
              </a:rPr>
              <a:t>CLAIM   the problem you are the answer to</a:t>
            </a:r>
          </a:p>
        </p:txBody>
      </p:sp>
      <p:sp>
        <p:nvSpPr>
          <p:cNvPr id="7" name="TextBox 6"/>
          <p:cNvSpPr txBox="1"/>
          <p:nvPr/>
        </p:nvSpPr>
        <p:spPr>
          <a:xfrm>
            <a:off x="1016000" y="2718308"/>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02</a:t>
            </a:r>
          </a:p>
        </p:txBody>
      </p:sp>
      <p:sp>
        <p:nvSpPr>
          <p:cNvPr id="8" name="TextBox 7"/>
          <p:cNvSpPr txBox="1"/>
          <p:nvPr/>
        </p:nvSpPr>
        <p:spPr>
          <a:xfrm>
            <a:off x="1854200" y="2642108"/>
            <a:ext cx="9321800" cy="1524000"/>
          </a:xfrm>
          <a:prstGeom prst="rect">
            <a:avLst/>
          </a:prstGeom>
          <a:noFill/>
        </p:spPr>
        <p:txBody>
          <a:bodyPr wrap="square" lIns="0" rIns="0" tIns="0" bIns="0" anchor="t">
            <a:spAutoFit/>
          </a:bodyPr>
          <a:lstStyle/>
          <a:p>
            <a:pPr algn="l">
              <a:lnSpc>
                <a:spcPct val="112000"/>
              </a:lnSpc>
            </a:pPr>
            <a:r>
              <a:rPr sz="2200" b="1" i="0">
                <a:solidFill>
                  <a:srgbClr val="112345"/>
                </a:solidFill>
                <a:latin typeface="Montserrat"/>
                <a:ea typeface="Montserrat"/>
                <a:cs typeface="Montserrat"/>
              </a:rPr>
              <a:t>SPINE   what kept being true underneath</a:t>
            </a:r>
          </a:p>
        </p:txBody>
      </p:sp>
      <p:sp>
        <p:nvSpPr>
          <p:cNvPr id="9" name="TextBox 8"/>
          <p:cNvSpPr txBox="1"/>
          <p:nvPr/>
        </p:nvSpPr>
        <p:spPr>
          <a:xfrm>
            <a:off x="1016000" y="3285236"/>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03</a:t>
            </a:r>
          </a:p>
        </p:txBody>
      </p:sp>
      <p:sp>
        <p:nvSpPr>
          <p:cNvPr id="10" name="TextBox 9"/>
          <p:cNvSpPr txBox="1"/>
          <p:nvPr/>
        </p:nvSpPr>
        <p:spPr>
          <a:xfrm>
            <a:off x="1854200" y="3209036"/>
            <a:ext cx="9321800" cy="1524000"/>
          </a:xfrm>
          <a:prstGeom prst="rect">
            <a:avLst/>
          </a:prstGeom>
          <a:noFill/>
        </p:spPr>
        <p:txBody>
          <a:bodyPr wrap="square" lIns="0" rIns="0" tIns="0" bIns="0" anchor="t">
            <a:spAutoFit/>
          </a:bodyPr>
          <a:lstStyle/>
          <a:p>
            <a:pPr algn="l">
              <a:lnSpc>
                <a:spcPct val="112000"/>
              </a:lnSpc>
            </a:pPr>
            <a:r>
              <a:rPr sz="2200" b="1" i="0">
                <a:solidFill>
                  <a:srgbClr val="112345"/>
                </a:solidFill>
                <a:latin typeface="Montserrat"/>
                <a:ea typeface="Montserrat"/>
                <a:cs typeface="Montserrat"/>
              </a:rPr>
              <a:t>RECEIPTS   three proofs that stand alone</a:t>
            </a:r>
          </a:p>
        </p:txBody>
      </p:sp>
      <p:sp>
        <p:nvSpPr>
          <p:cNvPr id="11" name="TextBox 10"/>
          <p:cNvSpPr txBox="1"/>
          <p:nvPr/>
        </p:nvSpPr>
        <p:spPr>
          <a:xfrm>
            <a:off x="1016000" y="3915664"/>
            <a:ext cx="10160000" cy="1524000"/>
          </a:xfrm>
          <a:prstGeom prst="rect">
            <a:avLst/>
          </a:prstGeom>
          <a:noFill/>
        </p:spPr>
        <p:txBody>
          <a:bodyPr wrap="square" lIns="0" rIns="0" tIns="0" bIns="0" anchor="t">
            <a:spAutoFit/>
          </a:bodyPr>
          <a:lstStyle/>
          <a:p>
            <a:pPr algn="l">
              <a:lnSpc>
                <a:spcPct val="134000"/>
              </a:lnSpc>
            </a:pPr>
            <a:r>
              <a:rPr sz="2100" b="0" i="0">
                <a:solidFill>
                  <a:srgbClr val="5A6B82"/>
                </a:solidFill>
                <a:latin typeface="DM Sans"/>
                <a:ea typeface="DM Sans"/>
                <a:cs typeface="DM Sans"/>
              </a:rPr>
              <a:t>Claim gets you read. Spine makes you make sense. Receipts make you believable.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PART ONE: THE CLAIM</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653667"/>
            <a:ext cx="10160000" cy="1524000"/>
          </a:xfrm>
          <a:prstGeom prst="rect">
            <a:avLst/>
          </a:prstGeom>
          <a:noFill/>
        </p:spPr>
        <p:txBody>
          <a:bodyPr wrap="square" lIns="0" rIns="0" tIns="0" bIns="0" anchor="t">
            <a:spAutoFit/>
          </a:bodyPr>
          <a:lstStyle/>
          <a:p>
            <a:pPr algn="l">
              <a:lnSpc>
                <a:spcPct val="112000"/>
              </a:lnSpc>
            </a:pPr>
            <a:r>
              <a:rPr sz="3600" b="1" i="0">
                <a:solidFill>
                  <a:srgbClr val="112345"/>
                </a:solidFill>
                <a:latin typeface="Montserrat"/>
                <a:ea typeface="Montserrat"/>
                <a:cs typeface="Montserrat"/>
              </a:rPr>
              <a:t>Not a summary. A problem.</a:t>
            </a:r>
          </a:p>
        </p:txBody>
      </p:sp>
      <p:sp>
        <p:nvSpPr>
          <p:cNvPr id="6" name="Rectangle 5"/>
          <p:cNvSpPr/>
          <p:nvPr/>
        </p:nvSpPr>
        <p:spPr>
          <a:xfrm>
            <a:off x="1016000" y="2572131"/>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788031"/>
            <a:ext cx="4826000" cy="1524000"/>
          </a:xfrm>
          <a:prstGeom prst="rect">
            <a:avLst/>
          </a:prstGeom>
          <a:noFill/>
        </p:spPr>
        <p:txBody>
          <a:bodyPr wrap="square" lIns="0" rIns="0" tIns="0" bIns="0" anchor="t">
            <a:spAutoFit/>
          </a:bodyPr>
          <a:lstStyle/>
          <a:p>
            <a:pPr algn="l">
              <a:lnSpc>
                <a:spcPct val="114000"/>
              </a:lnSpc>
            </a:pPr>
            <a:r>
              <a:rPr sz="2600" b="1" i="0">
                <a:solidFill>
                  <a:srgbClr val="112345"/>
                </a:solidFill>
                <a:latin typeface="Montserrat"/>
                <a:ea typeface="Montserrat"/>
                <a:cs typeface="Montserrat"/>
              </a:rPr>
              <a:t>THE RESUME VERSION</a:t>
            </a:r>
          </a:p>
        </p:txBody>
      </p:sp>
      <p:sp>
        <p:nvSpPr>
          <p:cNvPr id="8" name="TextBox 7"/>
          <p:cNvSpPr txBox="1"/>
          <p:nvPr/>
        </p:nvSpPr>
        <p:spPr>
          <a:xfrm>
            <a:off x="1016000" y="3291459"/>
            <a:ext cx="4826000" cy="1524000"/>
          </a:xfrm>
          <a:prstGeom prst="rect">
            <a:avLst/>
          </a:prstGeom>
          <a:noFill/>
        </p:spPr>
        <p:txBody>
          <a:bodyPr wrap="square" lIns="0" rIns="0" tIns="0" bIns="0" anchor="t">
            <a:spAutoFit/>
          </a:bodyPr>
          <a:lstStyle/>
          <a:p>
            <a:pPr algn="l">
              <a:lnSpc>
                <a:spcPct val="134000"/>
              </a:lnSpc>
            </a:pPr>
            <a:r>
              <a:rPr sz="2100" b="0" i="0">
                <a:solidFill>
                  <a:srgbClr val="5A6B82"/>
                </a:solidFill>
                <a:latin typeface="DM Sans"/>
                <a:ea typeface="DM Sans"/>
                <a:cs typeface="DM Sans"/>
              </a:rPr>
              <a:t>Accounting, audit, IT audit, federal governance, privacy, capability, employee experience.</a:t>
            </a:r>
          </a:p>
        </p:txBody>
      </p:sp>
      <p:sp>
        <p:nvSpPr>
          <p:cNvPr id="9" name="Rectangle 8"/>
          <p:cNvSpPr/>
          <p:nvPr/>
        </p:nvSpPr>
        <p:spPr>
          <a:xfrm>
            <a:off x="6350000" y="2572131"/>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0" y="2788031"/>
            <a:ext cx="4826000" cy="1524000"/>
          </a:xfrm>
          <a:prstGeom prst="rect">
            <a:avLst/>
          </a:prstGeom>
          <a:noFill/>
        </p:spPr>
        <p:txBody>
          <a:bodyPr wrap="square" lIns="0" rIns="0" tIns="0" bIns="0" anchor="t">
            <a:spAutoFit/>
          </a:bodyPr>
          <a:lstStyle/>
          <a:p>
            <a:pPr algn="l">
              <a:lnSpc>
                <a:spcPct val="114000"/>
              </a:lnSpc>
            </a:pPr>
            <a:r>
              <a:rPr sz="2600" b="1" i="0">
                <a:solidFill>
                  <a:srgbClr val="112345"/>
                </a:solidFill>
                <a:latin typeface="Montserrat"/>
                <a:ea typeface="Montserrat"/>
                <a:cs typeface="Montserrat"/>
              </a:rPr>
              <a:t>THE CLAIM</a:t>
            </a:r>
          </a:p>
        </p:txBody>
      </p:sp>
      <p:sp>
        <p:nvSpPr>
          <p:cNvPr id="11" name="TextBox 10"/>
          <p:cNvSpPr txBox="1"/>
          <p:nvPr/>
        </p:nvSpPr>
        <p:spPr>
          <a:xfrm>
            <a:off x="6350000" y="3291459"/>
            <a:ext cx="4826000" cy="1524000"/>
          </a:xfrm>
          <a:prstGeom prst="rect">
            <a:avLst/>
          </a:prstGeom>
          <a:noFill/>
        </p:spPr>
        <p:txBody>
          <a:bodyPr wrap="square" lIns="0" rIns="0" tIns="0" bIns="0" anchor="t">
            <a:spAutoFit/>
          </a:bodyPr>
          <a:lstStyle/>
          <a:p>
            <a:pPr algn="l">
              <a:lnSpc>
                <a:spcPct val="134000"/>
              </a:lnSpc>
            </a:pPr>
            <a:r>
              <a:rPr sz="2100" b="0" i="0">
                <a:solidFill>
                  <a:srgbClr val="5A6B82"/>
                </a:solidFill>
                <a:latin typeface="DM Sans"/>
                <a:ea typeface="DM Sans"/>
                <a:cs typeface="DM Sans"/>
              </a:rPr>
              <a:t>I get brought in when the evidence is incomplete and an important decision still has to be made.</a:t>
            </a:r>
          </a:p>
        </p:txBody>
      </p:sp>
      <p:sp>
        <p:nvSpPr>
          <p:cNvPr id="12" name="TextBox 11"/>
          <p:cNvSpPr txBox="1"/>
          <p:nvPr/>
        </p:nvSpPr>
        <p:spPr>
          <a:xfrm>
            <a:off x="1016000" y="4731893"/>
            <a:ext cx="10160000" cy="1524000"/>
          </a:xfrm>
          <a:prstGeom prst="rect">
            <a:avLst/>
          </a:prstGeom>
          <a:noFill/>
        </p:spPr>
        <p:txBody>
          <a:bodyPr wrap="square" lIns="0" rIns="0" tIns="0" bIns="0" anchor="t">
            <a:spAutoFit/>
          </a:bodyPr>
          <a:lstStyle/>
          <a:p>
            <a:pPr algn="l">
              <a:lnSpc>
                <a:spcPct val="120000"/>
              </a:lnSpc>
            </a:pPr>
            <a:r>
              <a:rPr sz="2100" b="1" i="0">
                <a:solidFill>
                  <a:srgbClr val="C9A84C"/>
                </a:solidFill>
                <a:latin typeface="Montserrat"/>
                <a:ea typeface="Montserrat"/>
                <a:cs typeface="Montserrat"/>
              </a:rPr>
              <a:t>One of these makes the listener sort. One does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PART TWO: THE SPINE</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151380"/>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01</a:t>
            </a:r>
          </a:p>
        </p:txBody>
      </p:sp>
      <p:sp>
        <p:nvSpPr>
          <p:cNvPr id="6" name="TextBox 5"/>
          <p:cNvSpPr txBox="1"/>
          <p:nvPr/>
        </p:nvSpPr>
        <p:spPr>
          <a:xfrm>
            <a:off x="1854200" y="2075180"/>
            <a:ext cx="9321800" cy="1524000"/>
          </a:xfrm>
          <a:prstGeom prst="rect">
            <a:avLst/>
          </a:prstGeom>
          <a:noFill/>
        </p:spPr>
        <p:txBody>
          <a:bodyPr wrap="square" lIns="0" rIns="0" tIns="0" bIns="0" anchor="t">
            <a:spAutoFit/>
          </a:bodyPr>
          <a:lstStyle/>
          <a:p>
            <a:pPr algn="l">
              <a:lnSpc>
                <a:spcPct val="112000"/>
              </a:lnSpc>
            </a:pPr>
            <a:r>
              <a:rPr sz="2200" b="1" i="0">
                <a:solidFill>
                  <a:srgbClr val="F5F1E8"/>
                </a:solidFill>
                <a:latin typeface="Montserrat"/>
                <a:ea typeface="Montserrat"/>
                <a:cs typeface="Montserrat"/>
              </a:rPr>
              <a:t>Audit  ·  Governance  ·  Privacy and cyber</a:t>
            </a:r>
          </a:p>
        </p:txBody>
      </p:sp>
      <p:sp>
        <p:nvSpPr>
          <p:cNvPr id="7" name="TextBox 6"/>
          <p:cNvSpPr txBox="1"/>
          <p:nvPr/>
        </p:nvSpPr>
        <p:spPr>
          <a:xfrm>
            <a:off x="1016000" y="2718308"/>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02</a:t>
            </a:r>
          </a:p>
        </p:txBody>
      </p:sp>
      <p:sp>
        <p:nvSpPr>
          <p:cNvPr id="8" name="TextBox 7"/>
          <p:cNvSpPr txBox="1"/>
          <p:nvPr/>
        </p:nvSpPr>
        <p:spPr>
          <a:xfrm>
            <a:off x="1854200" y="2642108"/>
            <a:ext cx="9321800" cy="1524000"/>
          </a:xfrm>
          <a:prstGeom prst="rect">
            <a:avLst/>
          </a:prstGeom>
          <a:noFill/>
        </p:spPr>
        <p:txBody>
          <a:bodyPr wrap="square" lIns="0" rIns="0" tIns="0" bIns="0" anchor="t">
            <a:spAutoFit/>
          </a:bodyPr>
          <a:lstStyle/>
          <a:p>
            <a:pPr algn="l">
              <a:lnSpc>
                <a:spcPct val="112000"/>
              </a:lnSpc>
            </a:pPr>
            <a:r>
              <a:rPr sz="2200" b="1" i="0">
                <a:solidFill>
                  <a:srgbClr val="F5F1E8"/>
                </a:solidFill>
                <a:latin typeface="Montserrat"/>
                <a:ea typeface="Montserrat"/>
                <a:cs typeface="Montserrat"/>
              </a:rPr>
              <a:t>Consulting  ·  Life sciences</a:t>
            </a:r>
          </a:p>
        </p:txBody>
      </p:sp>
      <p:sp>
        <p:nvSpPr>
          <p:cNvPr id="9" name="TextBox 8"/>
          <p:cNvSpPr txBox="1"/>
          <p:nvPr/>
        </p:nvSpPr>
        <p:spPr>
          <a:xfrm>
            <a:off x="1016000" y="3285236"/>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03</a:t>
            </a:r>
          </a:p>
        </p:txBody>
      </p:sp>
      <p:sp>
        <p:nvSpPr>
          <p:cNvPr id="10" name="TextBox 9"/>
          <p:cNvSpPr txBox="1"/>
          <p:nvPr/>
        </p:nvSpPr>
        <p:spPr>
          <a:xfrm>
            <a:off x="1854200" y="3209036"/>
            <a:ext cx="9321800" cy="1524000"/>
          </a:xfrm>
          <a:prstGeom prst="rect">
            <a:avLst/>
          </a:prstGeom>
          <a:noFill/>
        </p:spPr>
        <p:txBody>
          <a:bodyPr wrap="square" lIns="0" rIns="0" tIns="0" bIns="0" anchor="t">
            <a:spAutoFit/>
          </a:bodyPr>
          <a:lstStyle/>
          <a:p>
            <a:pPr algn="l">
              <a:lnSpc>
                <a:spcPct val="112000"/>
              </a:lnSpc>
            </a:pPr>
            <a:r>
              <a:rPr sz="2200" b="1" i="0">
                <a:solidFill>
                  <a:srgbClr val="F5F1E8"/>
                </a:solidFill>
                <a:latin typeface="Montserrat"/>
                <a:ea typeface="Montserrat"/>
                <a:cs typeface="Montserrat"/>
              </a:rPr>
              <a:t>People strategy  ·  Technology</a:t>
            </a:r>
          </a:p>
        </p:txBody>
      </p:sp>
      <p:sp>
        <p:nvSpPr>
          <p:cNvPr id="11" name="TextBox 10"/>
          <p:cNvSpPr txBox="1"/>
          <p:nvPr/>
        </p:nvSpPr>
        <p:spPr>
          <a:xfrm>
            <a:off x="1016000" y="3915664"/>
            <a:ext cx="10160000" cy="1524000"/>
          </a:xfrm>
          <a:prstGeom prst="rect">
            <a:avLst/>
          </a:prstGeom>
          <a:noFill/>
        </p:spPr>
        <p:txBody>
          <a:bodyPr wrap="square" lIns="0" rIns="0" tIns="0" bIns="0" anchor="t">
            <a:spAutoFit/>
          </a:bodyPr>
          <a:lstStyle/>
          <a:p>
            <a:pPr algn="l">
              <a:lnSpc>
                <a:spcPct val="134000"/>
              </a:lnSpc>
            </a:pPr>
            <a:r>
              <a:rPr sz="2100" b="0" i="0">
                <a:solidFill>
                  <a:srgbClr val="B9C3D2"/>
                </a:solidFill>
                <a:latin typeface="DM Sans"/>
                <a:ea typeface="DM Sans"/>
                <a:cs typeface="DM Sans"/>
              </a:rPr>
              <a:t>Find what the obvious story is missing. Build enough structure that somebody can decide.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PART THREE: RECEIPTS</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587500"/>
            <a:ext cx="10160000" cy="1524000"/>
          </a:xfrm>
          <a:prstGeom prst="rect">
            <a:avLst/>
          </a:prstGeom>
          <a:noFill/>
        </p:spPr>
        <p:txBody>
          <a:bodyPr wrap="square" lIns="0" rIns="0" tIns="0" bIns="0" anchor="t">
            <a:spAutoFit/>
          </a:bodyPr>
          <a:lstStyle/>
          <a:p>
            <a:pPr algn="l">
              <a:lnSpc>
                <a:spcPct val="112000"/>
              </a:lnSpc>
            </a:pPr>
            <a:r>
              <a:rPr sz="3400" b="1" i="0">
                <a:solidFill>
                  <a:srgbClr val="112345"/>
                </a:solidFill>
                <a:latin typeface="Montserrat"/>
                <a:ea typeface="Montserrat"/>
                <a:cs typeface="Montserrat"/>
              </a:rPr>
              <a:t>Three proofs. Each stands alone.</a:t>
            </a:r>
          </a:p>
        </p:txBody>
      </p:sp>
      <p:sp>
        <p:nvSpPr>
          <p:cNvPr id="6" name="TextBox 5"/>
          <p:cNvSpPr txBox="1"/>
          <p:nvPr/>
        </p:nvSpPr>
        <p:spPr>
          <a:xfrm>
            <a:off x="1016000" y="2541016"/>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ENTERPRISE TECHNOLOGY</a:t>
            </a:r>
          </a:p>
        </p:txBody>
      </p:sp>
      <p:sp>
        <p:nvSpPr>
          <p:cNvPr id="7" name="TextBox 6"/>
          <p:cNvSpPr txBox="1"/>
          <p:nvPr/>
        </p:nvSpPr>
        <p:spPr>
          <a:xfrm>
            <a:off x="4953000" y="2477516"/>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Onboarding: one integration measure moved 47 to 75.</a:t>
            </a:r>
          </a:p>
        </p:txBody>
      </p:sp>
      <p:sp>
        <p:nvSpPr>
          <p:cNvPr id="8" name="TextBox 7"/>
          <p:cNvSpPr txBox="1"/>
          <p:nvPr/>
        </p:nvSpPr>
        <p:spPr>
          <a:xfrm>
            <a:off x="1016000" y="3540252"/>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POST-ACQUISITION</a:t>
            </a:r>
          </a:p>
        </p:txBody>
      </p:sp>
      <p:sp>
        <p:nvSpPr>
          <p:cNvPr id="9" name="TextBox 8"/>
          <p:cNvSpPr txBox="1"/>
          <p:nvPr/>
        </p:nvSpPr>
        <p:spPr>
          <a:xfrm>
            <a:off x="4953000" y="3476752"/>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No critical-role departures in the first 90 days.</a:t>
            </a:r>
          </a:p>
        </p:txBody>
      </p:sp>
      <p:sp>
        <p:nvSpPr>
          <p:cNvPr id="10" name="TextBox 9"/>
          <p:cNvSpPr txBox="1"/>
          <p:nvPr/>
        </p:nvSpPr>
        <p:spPr>
          <a:xfrm>
            <a:off x="1016000" y="4539488"/>
            <a:ext cx="3556000" cy="1524000"/>
          </a:xfrm>
          <a:prstGeom prst="rect">
            <a:avLst/>
          </a:prstGeom>
          <a:noFill/>
        </p:spPr>
        <p:txBody>
          <a:bodyPr wrap="square" lIns="0" rIns="0" tIns="0" bIns="0" anchor="t">
            <a:spAutoFit/>
          </a:bodyPr>
          <a:lstStyle/>
          <a:p>
            <a:pPr algn="l">
              <a:lnSpc>
                <a:spcPct val="120000"/>
              </a:lnSpc>
            </a:pPr>
            <a:r>
              <a:rPr sz="1700" b="1" i="0" spc="150">
                <a:solidFill>
                  <a:srgbClr val="C9A84C"/>
                </a:solidFill>
                <a:latin typeface="Montserrat"/>
                <a:ea typeface="Montserrat"/>
                <a:cs typeface="Montserrat"/>
              </a:rPr>
              <a:t>CAPABILITY WORK</a:t>
            </a:r>
          </a:p>
        </p:txBody>
      </p:sp>
      <p:sp>
        <p:nvSpPr>
          <p:cNvPr id="11" name="TextBox 10"/>
          <p:cNvSpPr txBox="1"/>
          <p:nvPr/>
        </p:nvSpPr>
        <p:spPr>
          <a:xfrm>
            <a:off x="4953000" y="4475988"/>
            <a:ext cx="6223000" cy="1524000"/>
          </a:xfrm>
          <a:prstGeom prst="rect">
            <a:avLst/>
          </a:prstGeom>
          <a:noFill/>
        </p:spPr>
        <p:txBody>
          <a:bodyPr wrap="square" lIns="0" rIns="0" tIns="0" bIns="0" anchor="t">
            <a:spAutoFit/>
          </a:bodyPr>
          <a:lstStyle/>
          <a:p>
            <a:pPr algn="l">
              <a:lnSpc>
                <a:spcPct val="116000"/>
              </a:lnSpc>
            </a:pPr>
            <a:r>
              <a:rPr sz="2400" b="1" i="0">
                <a:solidFill>
                  <a:srgbClr val="112345"/>
                </a:solidFill>
                <a:latin typeface="Montserrat"/>
                <a:ea typeface="Montserrat"/>
                <a:cs typeface="Montserrat"/>
              </a:rPr>
              <a:t>1,000+ managers through programs I built or led.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A PRACTICAL TEST</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714500"/>
            <a:ext cx="10160000" cy="1524000"/>
          </a:xfrm>
          <a:prstGeom prst="rect">
            <a:avLst/>
          </a:prstGeom>
          <a:noFill/>
        </p:spPr>
        <p:txBody>
          <a:bodyPr wrap="square" lIns="0" rIns="0" tIns="0" bIns="0" anchor="t">
            <a:spAutoFit/>
          </a:bodyPr>
          <a:lstStyle/>
          <a:p>
            <a:pPr algn="l">
              <a:lnSpc>
                <a:spcPct val="112000"/>
              </a:lnSpc>
            </a:pPr>
            <a:r>
              <a:rPr sz="3400" b="1" i="0">
                <a:solidFill>
                  <a:srgbClr val="112345"/>
                </a:solidFill>
                <a:latin typeface="Montserrat"/>
                <a:ea typeface="Montserrat"/>
                <a:cs typeface="Montserrat"/>
              </a:rPr>
              <a:t>Listen to their next question.</a:t>
            </a:r>
          </a:p>
        </p:txBody>
      </p:sp>
      <p:sp>
        <p:nvSpPr>
          <p:cNvPr id="6" name="Rectangle 5"/>
          <p:cNvSpPr/>
          <p:nvPr/>
        </p:nvSpPr>
        <p:spPr>
          <a:xfrm>
            <a:off x="1016000" y="2604516"/>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820416"/>
            <a:ext cx="4826000" cy="1524000"/>
          </a:xfrm>
          <a:prstGeom prst="rect">
            <a:avLst/>
          </a:prstGeom>
          <a:noFill/>
        </p:spPr>
        <p:txBody>
          <a:bodyPr wrap="square" lIns="0" rIns="0" tIns="0" bIns="0" anchor="t">
            <a:spAutoFit/>
          </a:bodyPr>
          <a:lstStyle/>
          <a:p>
            <a:pPr algn="l">
              <a:lnSpc>
                <a:spcPct val="114000"/>
              </a:lnSpc>
            </a:pPr>
            <a:r>
              <a:rPr sz="2400" b="1" i="0">
                <a:solidFill>
                  <a:srgbClr val="112345"/>
                </a:solidFill>
                <a:latin typeface="Montserrat"/>
                <a:ea typeface="Montserrat"/>
                <a:cs typeface="Montserrat"/>
              </a:rPr>
              <a:t>IF THEY ASK ABOUT YOUR HISTORY</a:t>
            </a:r>
          </a:p>
        </p:txBody>
      </p:sp>
      <p:sp>
        <p:nvSpPr>
          <p:cNvPr id="8" name="TextBox 7"/>
          <p:cNvSpPr txBox="1"/>
          <p:nvPr/>
        </p:nvSpPr>
        <p:spPr>
          <a:xfrm>
            <a:off x="1016000" y="3642360"/>
            <a:ext cx="4826000" cy="1524000"/>
          </a:xfrm>
          <a:prstGeom prst="rect">
            <a:avLst/>
          </a:prstGeom>
          <a:noFill/>
        </p:spPr>
        <p:txBody>
          <a:bodyPr wrap="square" lIns="0" rIns="0" tIns="0" bIns="0" anchor="t">
            <a:spAutoFit/>
          </a:bodyPr>
          <a:lstStyle/>
          <a:p>
            <a:pPr algn="l">
              <a:lnSpc>
                <a:spcPct val="134000"/>
              </a:lnSpc>
            </a:pPr>
            <a:r>
              <a:rPr sz="2000" b="0" i="0">
                <a:solidFill>
                  <a:srgbClr val="5A6B82"/>
                </a:solidFill>
                <a:latin typeface="DM Sans"/>
                <a:ea typeface="DM Sans"/>
                <a:cs typeface="DM Sans"/>
              </a:rPr>
              <a:t>The Claim is still making them decode.</a:t>
            </a:r>
          </a:p>
        </p:txBody>
      </p:sp>
      <p:sp>
        <p:nvSpPr>
          <p:cNvPr id="9" name="Rectangle 8"/>
          <p:cNvSpPr/>
          <p:nvPr/>
        </p:nvSpPr>
        <p:spPr>
          <a:xfrm>
            <a:off x="6350000" y="2604516"/>
            <a:ext cx="4826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0" y="2820416"/>
            <a:ext cx="4826000" cy="1524000"/>
          </a:xfrm>
          <a:prstGeom prst="rect">
            <a:avLst/>
          </a:prstGeom>
          <a:noFill/>
        </p:spPr>
        <p:txBody>
          <a:bodyPr wrap="square" lIns="0" rIns="0" tIns="0" bIns="0" anchor="t">
            <a:spAutoFit/>
          </a:bodyPr>
          <a:lstStyle/>
          <a:p>
            <a:pPr algn="l">
              <a:lnSpc>
                <a:spcPct val="114000"/>
              </a:lnSpc>
            </a:pPr>
            <a:r>
              <a:rPr sz="2400" b="1" i="0">
                <a:solidFill>
                  <a:srgbClr val="112345"/>
                </a:solidFill>
                <a:latin typeface="Montserrat"/>
                <a:ea typeface="Montserrat"/>
                <a:cs typeface="Montserrat"/>
              </a:rPr>
              <a:t>IF THEY ASK ABOUT THE PROBLEM</a:t>
            </a:r>
          </a:p>
        </p:txBody>
      </p:sp>
      <p:sp>
        <p:nvSpPr>
          <p:cNvPr id="11" name="TextBox 10"/>
          <p:cNvSpPr txBox="1"/>
          <p:nvPr/>
        </p:nvSpPr>
        <p:spPr>
          <a:xfrm>
            <a:off x="6350000" y="3642360"/>
            <a:ext cx="4826000" cy="1524000"/>
          </a:xfrm>
          <a:prstGeom prst="rect">
            <a:avLst/>
          </a:prstGeom>
          <a:noFill/>
        </p:spPr>
        <p:txBody>
          <a:bodyPr wrap="square" lIns="0" rIns="0" tIns="0" bIns="0" anchor="t">
            <a:spAutoFit/>
          </a:bodyPr>
          <a:lstStyle/>
          <a:p>
            <a:pPr algn="l">
              <a:lnSpc>
                <a:spcPct val="134000"/>
              </a:lnSpc>
            </a:pPr>
            <a:r>
              <a:rPr sz="2000" b="0" i="0">
                <a:solidFill>
                  <a:srgbClr val="5A6B82"/>
                </a:solidFill>
                <a:latin typeface="DM Sans"/>
                <a:ea typeface="DM Sans"/>
                <a:cs typeface="DM Sans"/>
              </a:rPr>
              <a:t>The Claim is doing its job.</a:t>
            </a:r>
          </a:p>
        </p:txBody>
      </p:sp>
      <p:sp>
        <p:nvSpPr>
          <p:cNvPr id="12" name="TextBox 11"/>
          <p:cNvSpPr txBox="1"/>
          <p:nvPr/>
        </p:nvSpPr>
        <p:spPr>
          <a:xfrm>
            <a:off x="1016000" y="4351020"/>
            <a:ext cx="10160000" cy="1524000"/>
          </a:xfrm>
          <a:prstGeom prst="rect">
            <a:avLst/>
          </a:prstGeom>
          <a:noFill/>
        </p:spPr>
        <p:txBody>
          <a:bodyPr wrap="square" lIns="0" rIns="0" tIns="0" bIns="0" anchor="t">
            <a:spAutoFit/>
          </a:bodyPr>
          <a:lstStyle/>
          <a:p>
            <a:pPr algn="l">
              <a:lnSpc>
                <a:spcPct val="120000"/>
              </a:lnSpc>
            </a:pPr>
            <a:r>
              <a:rPr sz="2100" b="1" i="0">
                <a:solidFill>
                  <a:srgbClr val="C9A84C"/>
                </a:solidFill>
                <a:latin typeface="Montserrat"/>
                <a:ea typeface="Montserrat"/>
                <a:cs typeface="Montserrat"/>
              </a:rPr>
              <a:t>“Can I try one sentence on you? Tell me what you think I actually help with.”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WHEN IT STILL DOES NOT LAND</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138045"/>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01</a:t>
            </a:r>
          </a:p>
        </p:txBody>
      </p:sp>
      <p:sp>
        <p:nvSpPr>
          <p:cNvPr id="6" name="TextBox 5"/>
          <p:cNvSpPr txBox="1"/>
          <p:nvPr/>
        </p:nvSpPr>
        <p:spPr>
          <a:xfrm>
            <a:off x="1854200" y="2061845"/>
            <a:ext cx="9321800" cy="152400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The Claim is too broad</a:t>
            </a:r>
          </a:p>
        </p:txBody>
      </p:sp>
      <p:sp>
        <p:nvSpPr>
          <p:cNvPr id="7" name="TextBox 6"/>
          <p:cNvSpPr txBox="1"/>
          <p:nvPr/>
        </p:nvSpPr>
        <p:spPr>
          <a:xfrm>
            <a:off x="1016000" y="2832989"/>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02</a:t>
            </a:r>
          </a:p>
        </p:txBody>
      </p:sp>
      <p:sp>
        <p:nvSpPr>
          <p:cNvPr id="8" name="TextBox 7"/>
          <p:cNvSpPr txBox="1"/>
          <p:nvPr/>
        </p:nvSpPr>
        <p:spPr>
          <a:xfrm>
            <a:off x="1854200" y="2756789"/>
            <a:ext cx="9321800" cy="152400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The Spine is a trait, not a capability</a:t>
            </a:r>
          </a:p>
        </p:txBody>
      </p:sp>
      <p:sp>
        <p:nvSpPr>
          <p:cNvPr id="9" name="TextBox 8"/>
          <p:cNvSpPr txBox="1"/>
          <p:nvPr/>
        </p:nvSpPr>
        <p:spPr>
          <a:xfrm>
            <a:off x="1016000" y="3527933"/>
            <a:ext cx="698500" cy="1524000"/>
          </a:xfrm>
          <a:prstGeom prst="rect">
            <a:avLst/>
          </a:prstGeom>
          <a:noFill/>
        </p:spPr>
        <p:txBody>
          <a:bodyPr wrap="square" lIns="0" rIns="0" tIns="0" bIns="0" anchor="t">
            <a:spAutoFit/>
          </a:bodyPr>
          <a:lstStyle/>
          <a:p>
            <a:pPr algn="l">
              <a:lnSpc>
                <a:spcPct val="114000"/>
              </a:lnSpc>
            </a:pPr>
            <a:r>
              <a:rPr sz="2000" b="1" i="0" spc="75">
                <a:solidFill>
                  <a:srgbClr val="C9A84C"/>
                </a:solidFill>
                <a:latin typeface="Montserrat"/>
                <a:ea typeface="Montserrat"/>
                <a:cs typeface="Montserrat"/>
              </a:rPr>
              <a:t>03</a:t>
            </a:r>
          </a:p>
        </p:txBody>
      </p:sp>
      <p:sp>
        <p:nvSpPr>
          <p:cNvPr id="10" name="TextBox 9"/>
          <p:cNvSpPr txBox="1"/>
          <p:nvPr/>
        </p:nvSpPr>
        <p:spPr>
          <a:xfrm>
            <a:off x="1854200" y="3451733"/>
            <a:ext cx="9321800" cy="1524000"/>
          </a:xfrm>
          <a:prstGeom prst="rect">
            <a:avLst/>
          </a:prstGeom>
          <a:noFill/>
        </p:spPr>
        <p:txBody>
          <a:bodyPr wrap="square" lIns="0" rIns="0" tIns="0" bIns="0" anchor="t">
            <a:spAutoFit/>
          </a:bodyPr>
          <a:lstStyle/>
          <a:p>
            <a:pPr algn="l">
              <a:lnSpc>
                <a:spcPct val="112000"/>
              </a:lnSpc>
            </a:pPr>
            <a:r>
              <a:rPr sz="3100" b="1" i="0">
                <a:solidFill>
                  <a:srgbClr val="F5F1E8"/>
                </a:solidFill>
                <a:latin typeface="Montserrat"/>
                <a:ea typeface="Montserrat"/>
                <a:cs typeface="Montserrat"/>
              </a:rPr>
              <a:t>The category does not value your range</a:t>
            </a:r>
          </a:p>
        </p:txBody>
      </p:sp>
      <p:sp>
        <p:nvSpPr>
          <p:cNvPr id="11" name="TextBox 10"/>
          <p:cNvSpPr txBox="1"/>
          <p:nvPr/>
        </p:nvSpPr>
        <p:spPr>
          <a:xfrm>
            <a:off x="1016000" y="4286377"/>
            <a:ext cx="10160000" cy="1524000"/>
          </a:xfrm>
          <a:prstGeom prst="rect">
            <a:avLst/>
          </a:prstGeom>
          <a:noFill/>
        </p:spPr>
        <p:txBody>
          <a:bodyPr wrap="square" lIns="0" rIns="0" tIns="0" bIns="0" anchor="t">
            <a:spAutoFit/>
          </a:bodyPr>
          <a:lstStyle/>
          <a:p>
            <a:pPr algn="l">
              <a:lnSpc>
                <a:spcPct val="134000"/>
              </a:lnSpc>
            </a:pPr>
            <a:r>
              <a:rPr sz="2100" b="0" i="0">
                <a:solidFill>
                  <a:srgbClr val="B9C3D2"/>
                </a:solidFill>
                <a:latin typeface="DM Sans"/>
                <a:ea typeface="DM Sans"/>
                <a:cs typeface="DM Sans"/>
              </a:rPr>
              <a:t>None of this erases a weak market, bias, or a real gap in your experience.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066800"/>
            <a:ext cx="10160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ONE THING TO DO</a:t>
            </a:r>
          </a:p>
        </p:txBody>
      </p:sp>
      <p:sp>
        <p:nvSpPr>
          <p:cNvPr id="4" name="Rectangle 3"/>
          <p:cNvSpPr/>
          <p:nvPr/>
        </p:nvSpPr>
        <p:spPr>
          <a:xfrm>
            <a:off x="1016000" y="1422400"/>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469070"/>
            <a:ext cx="10160000" cy="1524000"/>
          </a:xfrm>
          <a:prstGeom prst="rect">
            <a:avLst/>
          </a:prstGeom>
          <a:noFill/>
        </p:spPr>
        <p:txBody>
          <a:bodyPr wrap="square" lIns="0" rIns="0" tIns="0" bIns="0" anchor="t">
            <a:spAutoFit/>
          </a:bodyPr>
          <a:lstStyle/>
          <a:p>
            <a:pPr algn="l">
              <a:lnSpc>
                <a:spcPct val="112000"/>
              </a:lnSpc>
            </a:pPr>
            <a:r>
              <a:rPr sz="3800" b="1" i="0">
                <a:solidFill>
                  <a:srgbClr val="F5F1E8"/>
                </a:solidFill>
                <a:latin typeface="Montserrat"/>
                <a:ea typeface="Montserrat"/>
                <a:cs typeface="Montserrat"/>
              </a:rPr>
              <a:t>Write your one-line Claim</a:t>
            </a:r>
            <a:br/>
            <a:r>
              <a:rPr sz="3800" b="1" i="0">
                <a:solidFill>
                  <a:srgbClr val="F5F1E8"/>
                </a:solidFill>
                <a:latin typeface="Montserrat"/>
                <a:ea typeface="Montserrat"/>
                <a:cs typeface="Montserrat"/>
              </a:rPr>
              <a:t>in the comments.</a:t>
            </a:r>
          </a:p>
        </p:txBody>
      </p:sp>
      <p:sp>
        <p:nvSpPr>
          <p:cNvPr id="6" name="TextBox 5"/>
          <p:cNvSpPr txBox="1"/>
          <p:nvPr/>
        </p:nvSpPr>
        <p:spPr>
          <a:xfrm>
            <a:off x="1016000" y="3842194"/>
            <a:ext cx="10160000" cy="1524000"/>
          </a:xfrm>
          <a:prstGeom prst="rect">
            <a:avLst/>
          </a:prstGeom>
          <a:noFill/>
        </p:spPr>
        <p:txBody>
          <a:bodyPr wrap="square" lIns="0" rIns="0" tIns="0" bIns="0" anchor="t">
            <a:spAutoFit/>
          </a:bodyPr>
          <a:lstStyle/>
          <a:p>
            <a:pPr algn="l">
              <a:lnSpc>
                <a:spcPct val="135000"/>
              </a:lnSpc>
            </a:pPr>
            <a:r>
              <a:rPr sz="2300" b="0" i="0">
                <a:solidFill>
                  <a:srgbClr val="B9C3D2"/>
                </a:solidFill>
                <a:latin typeface="DM Sans"/>
                <a:ea typeface="DM Sans"/>
                <a:cs typeface="DM Sans"/>
              </a:rPr>
              <a:t>What kind of problem are you the answer 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2245868"/>
            <a:ext cx="5461000" cy="1524000"/>
          </a:xfrm>
          <a:prstGeom prst="rect">
            <a:avLst/>
          </a:prstGeom>
          <a:noFill/>
        </p:spPr>
        <p:txBody>
          <a:bodyPr wrap="square" lIns="0" rIns="0" tIns="0" bIns="0" anchor="t">
            <a:spAutoFit/>
          </a:bodyPr>
          <a:lstStyle/>
          <a:p>
            <a:pPr algn="l">
              <a:lnSpc>
                <a:spcPct val="100000"/>
              </a:lnSpc>
            </a:pPr>
            <a:r>
              <a:rPr sz="1500" b="1" i="0" spc="250">
                <a:solidFill>
                  <a:srgbClr val="C9A84C"/>
                </a:solidFill>
                <a:latin typeface="Montserrat"/>
                <a:ea typeface="Montserrat"/>
                <a:cs typeface="Montserrat"/>
              </a:rPr>
              <a:t>WATCH NEXT</a:t>
            </a:r>
          </a:p>
        </p:txBody>
      </p:sp>
      <p:sp>
        <p:nvSpPr>
          <p:cNvPr id="4" name="Rectangle 3"/>
          <p:cNvSpPr/>
          <p:nvPr/>
        </p:nvSpPr>
        <p:spPr>
          <a:xfrm>
            <a:off x="1016000" y="2626868"/>
            <a:ext cx="762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957068"/>
            <a:ext cx="5461000" cy="1524000"/>
          </a:xfrm>
          <a:prstGeom prst="rect">
            <a:avLst/>
          </a:prstGeom>
          <a:noFill/>
        </p:spPr>
        <p:txBody>
          <a:bodyPr wrap="square" lIns="0" rIns="0" tIns="0" bIns="0" anchor="t">
            <a:spAutoFit/>
          </a:bodyPr>
          <a:lstStyle/>
          <a:p>
            <a:pPr algn="l">
              <a:lnSpc>
                <a:spcPct val="116000"/>
              </a:lnSpc>
            </a:pPr>
            <a:r>
              <a:rPr sz="3400" b="1" i="0">
                <a:solidFill>
                  <a:srgbClr val="F5F1E8"/>
                </a:solidFill>
                <a:latin typeface="Montserrat"/>
                <a:ea typeface="Montserrat"/>
                <a:cs typeface="Montserrat"/>
              </a:rPr>
              <a:t>How to Change Jobs</a:t>
            </a:r>
            <a:br/>
            <a:r>
              <a:rPr sz="3400" b="1" i="0">
                <a:solidFill>
                  <a:srgbClr val="F5F1E8"/>
                </a:solidFill>
                <a:latin typeface="Montserrat"/>
                <a:ea typeface="Montserrat"/>
                <a:cs typeface="Montserrat"/>
              </a:rPr>
              <a:t>Without Starting</a:t>
            </a:r>
            <a:br/>
            <a:r>
              <a:rPr sz="3400" b="1" i="0">
                <a:solidFill>
                  <a:srgbClr val="F5F1E8"/>
                </a:solidFill>
                <a:latin typeface="Montserrat"/>
                <a:ea typeface="Montserrat"/>
                <a:cs typeface="Montserrat"/>
              </a:rPr>
              <a:t>Your Career Over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