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0:00-1:00</a:t>
            </a:r>
          </a:p>
          <a:p>
            <a:r>
              <a:rPr sz="1100">
                <a:latin typeface="Arial"/>
              </a:rPr>
              <a:t>WHAT TO SAY: Welcome. This is a 45-minute recognition lesson, not a diagnostic. You are here because something about your current work may deserve a more careful reading.</a:t>
            </a:r>
          </a:p>
          <a:p>
            <a:r>
              <a:rPr sz="1100">
                <a:latin typeface="Arial"/>
              </a:rPr>
              <a:t>WHAT NOT TO SAY: Do not promise a personalized answer. Do not mention pricing. Do not begin with the full framework.</a:t>
            </a:r>
          </a:p>
          <a:p>
            <a:r>
              <a:rPr sz="1100">
                <a:latin typeface="Arial"/>
              </a:rPr>
              <a:t>PARTICIPANT ACTION: None yet. Settling in.</a:t>
            </a:r>
          </a:p>
          <a:p>
            <a:r>
              <a:rPr sz="1100">
                <a:latin typeface="Arial"/>
              </a:rPr>
              <a:t>LIKELY MISUNDERSTANDING: Some may expect a scored assessment today. The boundary slide corrects this in the next 30 seconds.</a:t>
            </a:r>
          </a:p>
          <a:p>
            <a:r>
              <a:rPr sz="1100">
                <a:latin typeface="Arial"/>
              </a:rPr>
              <a:t>TRANSITION LINE: Before we start, one boundary that protects the value of what you're about to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1:00-1:30</a:t>
            </a:r>
          </a:p>
          <a:p>
            <a:r>
              <a:rPr sz="1100">
                <a:latin typeface="Arial"/>
              </a:rPr>
              <a:t>WHAT TO SAY: Read the single boundary statement once, plainly, then move. This lesson will not tell you whether to stay or leave, place you into a Career State, or replace the full Position Read. It will help you recognize three signs worth examining.</a:t>
            </a:r>
          </a:p>
          <a:p>
            <a:r>
              <a:rPr sz="1100">
                <a:latin typeface="Arial"/>
              </a:rPr>
              <a:t>WHAT NOT TO SAY: Do not repeat the boundary again later as a separate slide. State it once here, then teach.</a:t>
            </a:r>
          </a:p>
          <a:p>
            <a:r>
              <a:rPr sz="1100">
                <a:latin typeface="Arial"/>
              </a:rPr>
              <a:t>PARTICIPANT ACTION: None. Listening.</a:t>
            </a:r>
          </a:p>
          <a:p>
            <a:r>
              <a:rPr sz="1100">
                <a:latin typeface="Arial"/>
              </a:rPr>
              <a:t>LIKELY MISUNDERSTANDING: Some may still expect a scored result today; the boundary is stated once so you can redirect quickly if it resurfaces in chat.</a:t>
            </a:r>
          </a:p>
          <a:p>
            <a:r>
              <a:rPr sz="1100">
                <a:latin typeface="Arial"/>
              </a:rPr>
              <a:t>TRANSITION LINE: Let's find out what brought you into the room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1:30-3:00</a:t>
            </a:r>
          </a:p>
          <a:p>
            <a:r>
              <a:rPr sz="1100">
                <a:latin typeface="Arial"/>
              </a:rPr>
              <a:t>WHAT TO SAY: Put the poll in chat or use Maven/Zoom polling. Ask people to choose the nearest reason, not explain.</a:t>
            </a:r>
          </a:p>
          <a:p>
            <a:r>
              <a:rPr sz="1100">
                <a:latin typeface="Arial"/>
              </a:rPr>
              <a:t>WHAT NOT TO SAY: Do not analyze individual answers aloud.</a:t>
            </a:r>
          </a:p>
          <a:p>
            <a:r>
              <a:rPr sz="1100">
                <a:latin typeface="Arial"/>
              </a:rPr>
              <a:t>PARTICIPANT ACTION: Selects one option via chat or poll widget.</a:t>
            </a:r>
          </a:p>
          <a:p>
            <a:r>
              <a:rPr sz="1100">
                <a:latin typeface="Arial"/>
              </a:rPr>
              <a:t>LIKELY MISUNDERSTANDING: A participant may try to explain their situation in detail; thank them briefly and move on without engaging the specifics.</a:t>
            </a:r>
          </a:p>
          <a:p>
            <a:r>
              <a:rPr sz="1100">
                <a:latin typeface="Arial"/>
              </a:rPr>
              <a:t>TRANSITION LINE: Whatever brought you here, by the end of today you'll leave with three specific things. Here's what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3:00-5:00</a:t>
            </a:r>
          </a:p>
          <a:p>
            <a:r>
              <a:rPr sz="1100">
                <a:latin typeface="Arial"/>
              </a:rPr>
              <a:t>WHAT TO SAY: Three things by minute 45: the difference between performance and growth, your own Career Stall Check completed against real evidence, and one next question worth investigating.</a:t>
            </a:r>
          </a:p>
          <a:p>
            <a:r>
              <a:rPr sz="1100">
                <a:latin typeface="Arial"/>
              </a:rPr>
              <a:t>WHAT NOT TO SAY: Do not promise a Career State, a score, or a stay-or-leave answer as an outcome.</a:t>
            </a:r>
          </a:p>
          <a:p>
            <a:r>
              <a:rPr sz="1100">
                <a:latin typeface="Arial"/>
              </a:rPr>
              <a:t>PARTICIPANT ACTION: None yet. Orienting to the session's shape.</a:t>
            </a:r>
          </a:p>
          <a:p>
            <a:r>
              <a:rPr sz="1100">
                <a:latin typeface="Arial"/>
              </a:rPr>
              <a:t>LIKELY MISUNDERSTANDING: "A basis for deciding whether to go deeper" is a conversion objective, not a learning outcome — do not restate it as a fourth promise here.</a:t>
            </a:r>
          </a:p>
          <a:p>
            <a:r>
              <a:rPr sz="1100">
                <a:latin typeface="Arial"/>
              </a:rPr>
              <a:t>TRANSITION LINE: Before we get to the three signs, I want to tell you why I started paying attention to this distinction in the first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5:00-6:30 (story itself runs approximately 60-90 seconds; remainder is the pause before the central insight)</a:t>
            </a:r>
          </a:p>
          <a:p>
            <a:r>
              <a:rPr sz="1100">
                <a:latin typeface="Arial"/>
              </a:rPr>
              <a:t>WHAT TO SAY: Tell the story exactly as written on the slide, at a measured pace. Let the pull-quote land without rushing past it.</a:t>
            </a:r>
          </a:p>
          <a:p>
            <a:r>
              <a:rPr sz="1100">
                <a:latin typeface="Arial"/>
              </a:rPr>
              <a:t>WHAT NOT TO SAY: Do not name the former employer. Do not name any individual. Do not allege motive. Do not use grievance language. Do not turn this into a therapeutic disclosure. Do not overexplain the mechanics of the role elimination. Do not diagnose your own former Career State — this predates that framework and is not being retrofit onto it here.</a:t>
            </a:r>
          </a:p>
          <a:p>
            <a:r>
              <a:rPr sz="1100">
                <a:latin typeface="Arial"/>
              </a:rPr>
              <a:t>TONE: Reflective, restrained, specific, instructional. This is evidence for a distinction, not a confession.</a:t>
            </a:r>
          </a:p>
          <a:p>
            <a:r>
              <a:rPr sz="1100">
                <a:latin typeface="Arial"/>
              </a:rPr>
              <a:t>PARTICIPANT ACTION: Listening.</a:t>
            </a:r>
          </a:p>
          <a:p>
            <a:r>
              <a:rPr sz="1100">
                <a:latin typeface="Arial"/>
              </a:rPr>
              <a:t>LIKELY MISUNDERSTANDING: Participants may want more detail about what happened. Do not supply it. The story exists to motivate the distinction, not to invite follow-up questions about your history.</a:t>
            </a:r>
          </a:p>
          <a:p>
            <a:r>
              <a:rPr sz="1100">
                <a:latin typeface="Arial"/>
              </a:rPr>
              <a:t>TRANSITION LINE: That distinction is the whole lesson today, so let's name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6:30-8:00</a:t>
            </a:r>
          </a:p>
          <a:p>
            <a:r>
              <a:rPr sz="1100">
                <a:latin typeface="Arial"/>
              </a:rPr>
              <a:t>WHAT TO SAY: This is the central line of the entire lesson. Say it once, clearly, then let it sit for a beat before moving to the supporting lines.</a:t>
            </a:r>
          </a:p>
          <a:p>
            <a:r>
              <a:rPr sz="1100">
                <a:latin typeface="Arial"/>
              </a:rPr>
              <a:t>WHAT NOT TO SAY: Do not imply performance does not matter. It does. It is simply a different signal than formation.</a:t>
            </a:r>
          </a:p>
          <a:p>
            <a:r>
              <a:rPr sz="1100">
                <a:latin typeface="Arial"/>
              </a:rPr>
              <a:t>PARTICIPANT ACTION: None. This is the pivot point into the three signs.</a:t>
            </a:r>
          </a:p>
          <a:p>
            <a:r>
              <a:rPr sz="1100">
                <a:latin typeface="Arial"/>
              </a:rPr>
              <a:t>LIKELY MISUNDERSTANDING: Someone may hear "performance does not matter." Correct plainly if it comes up: performance matters, it is just not the complete reading.</a:t>
            </a:r>
          </a:p>
          <a:p>
            <a:r>
              <a:rPr sz="1100">
                <a:latin typeface="Arial"/>
              </a:rPr>
              <a:t>TRANSITION LINE: Here are three specific ways capable people miss that distinction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8:00-13:00</a:t>
            </a:r>
          </a:p>
          <a:p>
            <a:r>
              <a:rPr sz="1100">
                <a:latin typeface="Arial"/>
              </a:rPr>
              <a:t>WHAT TO SAY: High performers often use strong performance as proof that growth is happening. Separate delivery from formation. Read the test question slowly, then give 30-45 seconds for the quick check.</a:t>
            </a:r>
          </a:p>
          <a:p>
            <a:r>
              <a:rPr sz="1100">
                <a:latin typeface="Arial"/>
              </a:rPr>
              <a:t>EXAMPLE: A person can lead the same decision forum more smoothly each quarter without meeting a problem they do not already know how to solve.</a:t>
            </a:r>
          </a:p>
          <a:p>
            <a:r>
              <a:rPr sz="1100">
                <a:latin typeface="Arial"/>
              </a:rPr>
              <a:t>WHAT NOT TO SAY: Do not imply high performance is fake. It is real. It is simply a different signal.</a:t>
            </a:r>
          </a:p>
          <a:p>
            <a:r>
              <a:rPr sz="1100">
                <a:latin typeface="Arial"/>
              </a:rPr>
              <a:t>PARTICIPANT ACTION: Answers the quick check in chat, poll, or privately in writing — one word only.</a:t>
            </a:r>
          </a:p>
          <a:p>
            <a:r>
              <a:rPr sz="1100">
                <a:latin typeface="Arial"/>
              </a:rPr>
              <a:t>LIKELY MISUNDERSTANDING: Someone may say their work "feels" like growth because it is demanding. Demanding is not the same as unfamiliar. Redirect gently if it comes up.</a:t>
            </a:r>
          </a:p>
          <a:p>
            <a:r>
              <a:rPr sz="1100">
                <a:latin typeface="Arial"/>
              </a:rPr>
              <a:t>TRANSITION LINE: That is the first sign. Here is a second one that hides in plain sight because it feels like the opposite of a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13:00-18:00</a:t>
            </a:r>
          </a:p>
          <a:p>
            <a:r>
              <a:rPr sz="1100">
                <a:latin typeface="Arial"/>
              </a:rPr>
              <a:t>WHAT TO SAY: Dependence is not bad. It is simply not the same as portability. A person can become essential to a system while their external story becomes harder to explain. Read the test question, then give the room 30-45 seconds for the quick check.</a:t>
            </a:r>
          </a:p>
          <a:p>
            <a:r>
              <a:rPr sz="1100">
                <a:latin typeface="Arial"/>
              </a:rPr>
              <a:t>WHAT NOT TO SAY: Do not call indispensability a trap. It can be earned and valuable. The risk is misreading it as automatically portable.</a:t>
            </a:r>
          </a:p>
          <a:p>
            <a:r>
              <a:rPr sz="1100">
                <a:latin typeface="Arial"/>
              </a:rPr>
              <a:t>PARTICIPANT ACTION: Answers the quick check in chat, poll, or privately in writing.</a:t>
            </a:r>
          </a:p>
          <a:p>
            <a:r>
              <a:rPr sz="1100">
                <a:latin typeface="Arial"/>
              </a:rPr>
              <a:t>LIKELY MISUNDERSTANDING: Someone may hear this as "being needed is bad." Correct plainly: being needed is good; assuming it travels is the misread.</a:t>
            </a:r>
          </a:p>
          <a:p>
            <a:r>
              <a:rPr sz="1100">
                <a:latin typeface="Arial"/>
              </a:rPr>
              <a:t>TRANSITION LINE: The third sign is the one that hides inside what looks like career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18:00-23:00</a:t>
            </a:r>
          </a:p>
          <a:p>
            <a:r>
              <a:rPr sz="1100">
                <a:latin typeface="Arial"/>
              </a:rPr>
              <a:t>WHAT TO SAY: Promotions can build capability. They can also move a person into approvals, representation, and familiar judgment. The point is to read the work, not the title. Give the room 30-45 seconds for the quick check after the test question.</a:t>
            </a:r>
          </a:p>
          <a:p>
            <a:r>
              <a:rPr sz="1100">
                <a:latin typeface="Arial"/>
              </a:rPr>
              <a:t>WHAT NOT TO SAY: This is not a diagnosis of anyone's specific promotion. It is a pattern worth noticing.</a:t>
            </a:r>
          </a:p>
          <a:p>
            <a:r>
              <a:rPr sz="1100">
                <a:latin typeface="Arial"/>
              </a:rPr>
              <a:t>PARTICIPANT ACTION: Answers the quick check in chat, poll, or privately in writing.</a:t>
            </a:r>
          </a:p>
          <a:p>
            <a:r>
              <a:rPr sz="1100">
                <a:latin typeface="Arial"/>
              </a:rPr>
              <a:t>LIKELY MISUNDERSTANDING: Someone may hear this as an argument against accepting promotions. It is not. It is an argument against assuming title growth is automatically capability growth.</a:t>
            </a:r>
          </a:p>
          <a:p>
            <a:r>
              <a:rPr sz="1100">
                <a:latin typeface="Arial"/>
              </a:rPr>
              <a:t>TRANSITION LINE: You've now tested three signs against your own last 90 days. Let's put that evidence somewhere you can keep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23:00-28:00</a:t>
            </a:r>
          </a:p>
          <a:p>
            <a:r>
              <a:rPr sz="1100">
                <a:latin typeface="Arial"/>
              </a:rPr>
              <a:t>WHAT TO SAY: Five quiet minutes. Open the Career Stall Check and write against your own last 90 days. No one will be called on.</a:t>
            </a:r>
          </a:p>
          <a:p>
            <a:r>
              <a:rPr sz="1100">
                <a:latin typeface="Arial"/>
              </a:rPr>
              <a:t>WHAT NOT TO SAY: Do not say this is the full assessment. Do not offer to review anyone's answers live.</a:t>
            </a:r>
          </a:p>
          <a:p>
            <a:r>
              <a:rPr sz="1100">
                <a:latin typeface="Arial"/>
              </a:rPr>
              <a:t>PARTICIPANT ACTION: Completes the four fields on the Career Stall Check handout privately.</a:t>
            </a:r>
          </a:p>
          <a:p>
            <a:r>
              <a:rPr sz="1100">
                <a:latin typeface="Arial"/>
              </a:rPr>
              <a:t>LIKELY MISUNDERSTANDING: Someone may ask if this produces a score or placement. It does not — redirect calmly: "That is what the full Position Read does. This is recognition."</a:t>
            </a:r>
          </a:p>
          <a:p>
            <a:r>
              <a:rPr sz="1100">
                <a:latin typeface="Arial"/>
              </a:rPr>
              <a:t>TRANSITION LINE: Before we go further, one caution about what a recognition exercise is and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28:00-31:00</a:t>
            </a:r>
          </a:p>
          <a:p>
            <a:r>
              <a:rPr sz="1100">
                <a:latin typeface="Arial"/>
              </a:rPr>
              <a:t>WHAT TO SAY: Do not let the exercise become a verdict. Familiarity is a signal, not a diagnosis. Then deliver the one AI sentence on the slide, once, without expanding into a tools discussion.</a:t>
            </a:r>
          </a:p>
          <a:p>
            <a:r>
              <a:rPr sz="1100">
                <a:latin typeface="Arial"/>
              </a:rPr>
              <a:t>WHAT NOT TO SAY: No tool names. No prompting advice. No job-loss predictions. No industry forecasts. This is a single sentence, not a new section.</a:t>
            </a:r>
          </a:p>
          <a:p>
            <a:r>
              <a:rPr sz="1100">
                <a:latin typeface="Arial"/>
              </a:rPr>
              <a:t>PARTICIPANT ACTION: None. This is a settling beat before the bridge.</a:t>
            </a:r>
          </a:p>
          <a:p>
            <a:r>
              <a:rPr sz="1100">
                <a:latin typeface="Arial"/>
              </a:rPr>
              <a:t>LIKELY MISUNDERSTANDING: Someone may ask what AI tool to use. Decline: "That's outside today's scope — this is about the reading, not the tools."</a:t>
            </a:r>
          </a:p>
          <a:p>
            <a:r>
              <a:rPr sz="1100">
                <a:latin typeface="Arial"/>
              </a:rPr>
              <a:t>TRANSITION LINE: What you did in the last 28 minutes is one piece of a larger read. Let me show you what the rest of it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31:00-32:30</a:t>
            </a:r>
          </a:p>
          <a:p>
            <a:r>
              <a:rPr sz="1100">
                <a:latin typeface="Arial"/>
              </a:rPr>
              <a:t>WHAT TO SAY: This is factual, not a hard sell. Today gave you recognition. The workshop gives you the structured, evidence-backed read. Name Density and Optionality briefly here for the first time — this is the one place they belong.</a:t>
            </a:r>
          </a:p>
          <a:p>
            <a:r>
              <a:rPr sz="1100">
                <a:latin typeface="Arial"/>
              </a:rPr>
              <a:t>WHAT NOT TO SAY: Do not add scarcity. Do not overexplain every deliverable — read the list once and move.</a:t>
            </a:r>
          </a:p>
          <a:p>
            <a:r>
              <a:rPr sz="1100">
                <a:latin typeface="Arial"/>
              </a:rPr>
              <a:t>PARTICIPANT ACTION: Listening.</a:t>
            </a:r>
          </a:p>
          <a:p>
            <a:r>
              <a:rPr sz="1100">
                <a:latin typeface="Arial"/>
              </a:rPr>
              <a:t>LIKELY MISUNDERSTANDING: Someone may think today's exercise already produced a placement. Restate plainly: today was recognition; placement requires the full instrument.</a:t>
            </a:r>
          </a:p>
          <a:p>
            <a:r>
              <a:rPr sz="1100">
                <a:latin typeface="Arial"/>
              </a:rPr>
              <a:t>TRANSITION LINE: Here is exactly what that workshop is, and how to join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32:30-45:00 — this slide stays on screen for both the workshop introduction (32:30-34:00) and the full Q&amp;A block (34:00-45:00). Do not advance to a separate Q&amp;A slide.</a:t>
            </a:r>
          </a:p>
          <a:p>
            <a:r>
              <a:t/>
            </a:r>
          </a:p>
          <a:p>
            <a:r>
              <a:t>WORKSHOP INTRODUCTION (32:30-34:00)</a:t>
            </a:r>
          </a:p>
          <a:p>
            <a:r>
              <a:t>WHAT TO SAY: If today helped you recognize a pattern, the full Position Read is where that pattern gets examined with evidence. It is a two-hour live workshop, including Q&amp;A. Point to the registration CTA once, clearly.</a:t>
            </a:r>
          </a:p>
          <a:p>
            <a:r>
              <a:t>WHAT NOT TO SAY: Do not run a hard close. Do not imply the free lesson was incomplete on purpose — it was complete for recognition.</a:t>
            </a:r>
          </a:p>
          <a:p>
            <a:r>
              <a:t>LIKELY MISUNDERSTANDING: Someone may confuse the $249 launch price with a temporary discount. It is the public launch price for the first two paid deliveries, not a founding discount — correct this if it comes up.</a:t>
            </a:r>
          </a:p>
          <a:p>
            <a:r>
              <a:t>ACTION BEFORE DELIVERY: Replace the URL and QR placeholders with the confirmed Maven registration link and the confirmed Substack link before this deck goes live.</a:t>
            </a:r>
          </a:p>
          <a:p>
            <a:r>
              <a:t/>
            </a:r>
          </a:p>
          <a:p>
            <a:r>
              <a:t>Q&amp;A (34:00-45:00) — STAY ON THIS SLIDE</a:t>
            </a:r>
          </a:p>
          <a:p>
            <a:r>
              <a:t>Keep answers short. Answer the principle, not the person's career decision.</a:t>
            </a:r>
          </a:p>
          <a:p>
            <a:r>
              <a:t>GOOD Q&amp;A QUESTIONS: How do I tell the difference between performance and formation? What does portability mean? What kind of evidence counts?</a:t>
            </a:r>
          </a:p>
          <a:p>
            <a:r>
              <a:t>QUESTIONS TO REDIRECT: Should I leave? What state am I in? What should I do about my manager? Can you score my situation?</a:t>
            </a:r>
          </a:p>
          <a:p>
            <a:r>
              <a:t>Q&amp;A BOUNDARY (say this): "I can help you clarify what the pattern suggests examining. I cannot make the employment decision for you."</a:t>
            </a:r>
          </a:p>
          <a:p>
            <a:r>
              <a:t>IF ASKED WHY NO ONE IS SCORED HERE: "Questions about the ideas are welcome. Individual situations will not be scored or diagnosed in this room."</a:t>
            </a:r>
          </a:p>
          <a:p>
            <a:r>
              <a:t>WHAT NOT TO SAY: Do not score anyone's situation live. Do not name a Career State for anyone. Do not tell anyone to stay or leave.</a:t>
            </a:r>
          </a:p>
          <a:p>
            <a:r>
              <a:t>FACILITATOR REFERENCE: A hidden slide immediately after this one (not shown in the live sequence) holds this same Q&amp;A guidance in card form, in case you prefer glancing at Slide Sorter / Presenter view instead of these notes.</a:t>
            </a:r>
          </a:p>
          <a:p>
            <a:r>
              <a:t>CLOSE: Thank the room. The registration link and QR code are already on screen — no need to switch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HIDDEN — it does not appear during normal Slide Show playback (View &gt; Hide Slide is set). It is kept only as a facilitator-quick-reference card.</a:t>
            </a:r>
          </a:p>
          <a:p>
            <a:r>
              <a:t/>
            </a:r>
          </a:p>
          <a:p>
            <a:r>
              <a:t>Live Q&amp;A now happens on slide 13 (Invitation), which stays on screen from 32:30 through 45:00. The guidance below is duplicated there in note form; use whichever view is easier to glance at.</a:t>
            </a:r>
          </a:p>
          <a:p>
            <a:r>
              <a:t/>
            </a:r>
          </a:p>
          <a:p>
            <a:r>
              <a:t>GOOD Q&amp;A QUESTIONS: How do I tell the difference between performance and formation? What does portability mean? What kind of evidence counts?</a:t>
            </a:r>
          </a:p>
          <a:p>
            <a:r>
              <a:t>QUESTIONS TO REDIRECT: Should I leave? What state am I in? What should I do about my manager? Can you score my situation?</a:t>
            </a:r>
          </a:p>
          <a:p>
            <a:r>
              <a:t>BOUNDARY LINE: "I can help you clarify what the pattern suggests examining. I cannot make the employment decision for you."</a:t>
            </a:r>
          </a:p>
          <a:p>
            <a:r>
              <a:t>DO NOT unhide this slide and advance to it during a live session — the registration and pricing on slide 13 must stay visible for the whole Q&amp;A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Arial"/>
              </a:rPr>
              <a:t>TIMING: Not part of the timed 45-minute session. Use only if delivering to a room with extra time, or share as a leave-behind slide in the deck PDF.</a:t>
            </a:r>
          </a:p>
          <a:p>
            <a:r>
              <a:rPr sz="1100">
                <a:latin typeface="Arial"/>
              </a:rPr>
              <a:t>WHAT TO SAY: Keep this short even here. This is about the reading, not tools.</a:t>
            </a:r>
          </a:p>
          <a:p>
            <a:r>
              <a:rPr sz="1100">
                <a:latin typeface="Arial"/>
              </a:rPr>
              <a:t>WHAT NOT TO SAY: No tool names. No prompting advice. No job-loss predictions. No industry forecasts.</a:t>
            </a:r>
          </a:p>
          <a:p>
            <a:r>
              <a:rPr sz="1100">
                <a:latin typeface="Arial"/>
              </a:rPr>
              <a:t>PARTICIPANT ACTION: None — this is reference material, not a live teaching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FREE LIGHTNING LESSON   ·   45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78440" y="914400"/>
            <a:ext cx="658368" cy="658368"/>
          </a:xfrm>
          <a:prstGeom prst="rect">
            <a:avLst/>
          </a:prstGeom>
          <a:solidFill>
            <a:srgbClr val="0F2347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914400"/>
            <a:ext cx="658368" cy="658368"/>
          </a:xfrm>
          <a:prstGeom prst="rect">
            <a:avLst/>
          </a:prstGeom>
          <a:solidFill>
            <a:srgbClr val="C1440E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78440" y="1645920"/>
            <a:ext cx="658368" cy="658368"/>
          </a:xfrm>
          <a:prstGeom prst="rect">
            <a:avLst/>
          </a:prstGeom>
          <a:solidFill>
            <a:srgbClr val="0F2347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1645920"/>
            <a:ext cx="658368" cy="658368"/>
          </a:xfrm>
          <a:prstGeom prst="rect">
            <a:avLst/>
          </a:prstGeom>
          <a:solidFill>
            <a:srgbClr val="0F2347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8961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5F0E8"/>
                </a:solidFill>
                <a:latin typeface="Georgia"/>
              </a:rPr>
              <a:t>How to Tell If Your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5F0E8"/>
                </a:solidFill>
                <a:latin typeface="Georgia"/>
              </a:rPr>
              <a:t>Career Is Stalling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657600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5F0E8"/>
                </a:solidFill>
                <a:latin typeface="Arial"/>
              </a:rPr>
              <a:t>Three signs your role may have stopped building your skills and future options, even while you are performing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480560"/>
            <a:ext cx="47548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7548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80">
                <a:solidFill>
                  <a:srgbClr val="C9A84C"/>
                </a:solidFill>
                <a:latin typeface="Arial"/>
              </a:rPr>
              <a:t>A CAPABILITY FORMATION LIGHTNING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120640"/>
            <a:ext cx="4206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0E8"/>
                </a:solidFill>
                <a:latin typeface="Georgia"/>
              </a:rPr>
              <a:t>Temidayo Afonja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56869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5F0E8"/>
                </a:solidFill>
                <a:latin typeface="Arial"/>
              </a:rPr>
              <a:t>Founder, The Density Group. Author, The Capability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F5F0E8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F5F0E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0F2347"/>
                </a:solidFill>
                <a:latin typeface="Georgia"/>
              </a:rPr>
              <a:t>What this lesson will not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331720"/>
            <a:ext cx="393192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52B4C"/>
                </a:solidFill>
                <a:latin typeface="Arial"/>
              </a:rPr>
              <a:t>This free lesson will not tell you whether to stay or leave, place you into a Career State, or replace the full Position Read. It will help you recognize three signs worth examining in your own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OPENING POLL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What brought you here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Choose the closest reason. No explanation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51460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Promotion or larger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51460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Reorganization or role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7472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6393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Internal move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47472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393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External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43484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599431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My role feels static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434840"/>
            <a:ext cx="4800600" cy="603504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599431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2347"/>
                </a:solidFill>
                <a:latin typeface="Arial"/>
              </a:rPr>
              <a:t>General uncertainty</a:t>
            </a:r>
          </a:p>
        </p:txBody>
      </p:sp>
      <p:pic>
        <p:nvPicPr>
          <p:cNvPr id="17" name="Picture 16" descr="poll_question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502920"/>
            <a:ext cx="1081007" cy="1417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WHAT YOU’LL LEAVE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F2347"/>
                </a:solidFill>
                <a:latin typeface="Georgia"/>
              </a:rPr>
              <a:t>Here’s What You’ll Leave With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05740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2423160"/>
            <a:ext cx="320040" cy="320040"/>
          </a:xfrm>
          <a:prstGeom prst="round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4917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8658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347"/>
                </a:solidFill>
                <a:latin typeface="Georgia"/>
              </a:rPr>
              <a:t>THE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80720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How to distinguish strong performance from continuing career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657600"/>
            <a:ext cx="320040" cy="320040"/>
          </a:xfrm>
          <a:prstGeom prst="round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72618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62102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347"/>
                </a:solidFill>
                <a:latin typeface="Georgia"/>
              </a:rPr>
              <a:t>YOUR CAREER STALL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4164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A Career Stall Check grounded in one example from your last 90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92040"/>
            <a:ext cx="320040" cy="320040"/>
          </a:xfrm>
          <a:prstGeom prst="round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9606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5546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2347"/>
                </a:solidFill>
                <a:latin typeface="Georgia"/>
              </a:rPr>
              <a:t>THE NEXT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27608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What deserves closer examination before you decide to stay, reshape the role, or leave.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WHY I BEGAN LOOKING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7"/>
                </a:solidFill>
                <a:latin typeface="Georgia"/>
              </a:rPr>
              <a:t>Performance was not the only question I should have been asking.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33172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26517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52B4C"/>
                </a:solidFill>
                <a:latin typeface="Arial"/>
              </a:rPr>
              <a:t>Years into a role I was performing well in, the structure changed and the role was eliminated. I had good reviews. I was trusted with more. None of that changed what happened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10058400" cy="1417320"/>
          </a:xfrm>
          <a:prstGeom prst="rect">
            <a:avLst/>
          </a:prstGeom>
          <a:solidFill>
            <a:srgbClr val="FBF7EF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206240"/>
            <a:ext cx="9418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1">
                <a:solidFill>
                  <a:srgbClr val="0F2347"/>
                </a:solidFill>
                <a:latin typeface="Georgia"/>
              </a:rPr>
              <a:t>“My performance had shaped my standing. It had not insulated the role from a change in structure.”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6235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52B4C"/>
                </a:solidFill>
                <a:latin typeface="Arial"/>
              </a:rPr>
              <a:t>That distinction sent me looking for a way to read a role for what it is building, not only for how well I am doing in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THE CENTRAL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0F2347"/>
                </a:solidFill>
                <a:latin typeface="Georgia"/>
              </a:rPr>
              <a:t>A role can reward you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0F2347"/>
                </a:solidFill>
                <a:latin typeface="Georgia"/>
              </a:rPr>
              <a:t>long after it stops building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69748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9692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A role can value you and still stop building you.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A team can rely on you and still narrow the range of problems you meet.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Performance is a signal. It is not the full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SIGN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You Are Repeating,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Not Stretching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24028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606040"/>
            <a:ext cx="5394960" cy="18288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862072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2347"/>
                </a:solidFill>
                <a:latin typeface="Georgia"/>
              </a:rPr>
              <a:t>You may be performing at a high level, but the work is no longer asking you to solve meaningfully unfamiliar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6060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260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0F2347"/>
                </a:solidFill>
                <a:latin typeface="Georgia"/>
              </a:rPr>
              <a:t>What problem have you solved in the last 90 days that you genuinely did not already know how to solve?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709160"/>
            <a:ext cx="10332720" cy="777240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QUICK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Arial"/>
              </a:rPr>
              <a:t>In one word, is your recent work stretching, repeating, or unclear?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SIGN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You Are Indispensable,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but Mainly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24028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606040"/>
            <a:ext cx="5394960" cy="18288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862072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2347"/>
                </a:solidFill>
                <a:latin typeface="Georgia"/>
              </a:rPr>
              <a:t>The organization relies on you, but your value may be increasingly tied to its systems, internal language, relationships, processes, or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6060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260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0F2347"/>
                </a:solidFill>
                <a:latin typeface="Georgia"/>
              </a:rPr>
              <a:t>Could someone outside your company explain your value without using your title or internal company language?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709160"/>
            <a:ext cx="10332720" cy="777240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QUICK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Arial"/>
              </a:rPr>
              <a:t>Which has grown fastest: internal dependence, external visibility, or both?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SIGN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Your Responsibility Is Growing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Faster Than Your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240280"/>
            <a:ext cx="38404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606040"/>
            <a:ext cx="5394960" cy="18288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862072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0F2347"/>
                </a:solidFill>
                <a:latin typeface="Georgia"/>
              </a:rPr>
              <a:t>Your title, scope, and expectations may be increasing while the range of judgment, unfamiliar problems, or transferable capability being formed in you is narrowing.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60604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2608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0F2347"/>
                </a:solidFill>
                <a:latin typeface="Georgia"/>
              </a:rPr>
              <a:t>What capability do you have now that you did not have before your responsibilities increased?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709160"/>
            <a:ext cx="10332720" cy="777240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C9A84C"/>
                </a:solidFill>
                <a:latin typeface="Arial"/>
              </a:rPr>
              <a:t>QUICK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F5F0E8"/>
                </a:solidFill>
                <a:latin typeface="Arial"/>
              </a:rPr>
              <a:t>Which has grown faster: responsibility, learning, or visibility?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CAREER STALL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2347"/>
                </a:solidFill>
                <a:latin typeface="Georgia"/>
              </a:rPr>
              <a:t>Five quiet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Write privately in the Career Stall Check. This is not the full assessment.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423160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91740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86584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Which sign is most present for 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1576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2B4C"/>
                </a:solidFill>
                <a:latin typeface="Arial"/>
              </a:rPr>
              <a:t>Repeating instead of stretching, indispensable but mainly here, or responsibility growing faster than capability.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319272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87852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282696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What is one example from the last 90 days?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611879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2B4C"/>
                </a:solidFill>
                <a:latin typeface="Arial"/>
              </a:rPr>
              <a:t>Use a lived example, not a plan, promise, title, or feeling.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215383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83963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78807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What capability, learning, or future option may not be growing?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5079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2B4C"/>
                </a:solidFill>
                <a:latin typeface="Arial"/>
              </a:rPr>
              <a:t>Name the specific thing, not a general sense that something is off.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5111496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80076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07492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What is the next question I need to investigate?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40410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52B4C"/>
                </a:solidFill>
                <a:latin typeface="Arial"/>
              </a:rPr>
              <a:t>The question you would need to read more carefully before making a bigger career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INTERPRET WITHOUT DIAGNOSING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2347"/>
                </a:solidFill>
                <a:latin typeface="Georgia"/>
              </a:rPr>
              <a:t>A recognition exercise is not a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194560"/>
            <a:ext cx="393192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606040"/>
            <a:ext cx="9784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If one sign felt familiar, that does not mean you should leave.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If none felt familiar, that does not mean your role is fully compounding.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Recognition tells you what may deserve examination.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52B4C"/>
                </a:solidFill>
                <a:latin typeface="Arial"/>
              </a:rPr>
              <a:t>Assessment is what turns the observation into a more defensible read.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5074920"/>
            <a:ext cx="393192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25780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152B4C"/>
                </a:solidFill>
                <a:latin typeface="Arial"/>
              </a:rPr>
              <a:t>As routine output becomes easier to reproduce, the distinction between familiar performance and growing judgment becomes more consequential.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THIS WAS ONE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7"/>
                </a:solidFill>
                <a:latin typeface="Georgia"/>
              </a:rPr>
              <a:t>Recognition Is the</a:t>
            </a:r>
          </a:p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7"/>
                </a:solidFill>
                <a:latin typeface="Georgia"/>
              </a:rPr>
              <a:t>Beginning of the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697480"/>
            <a:ext cx="5166360" cy="233172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45936" y="2697480"/>
            <a:ext cx="5166360" cy="233172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8803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C9A84C"/>
                </a:solidFill>
                <a:latin typeface="Arial"/>
              </a:rPr>
              <a:t>TODAY: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73552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0F2347"/>
                </a:solidFill>
                <a:latin typeface="Georgia"/>
              </a:rPr>
              <a:t>Repeated work.</a:t>
            </a:r>
          </a:p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0F2347"/>
                </a:solidFill>
                <a:latin typeface="Georgia"/>
              </a:rPr>
              <a:t>Context-bound value.</a:t>
            </a:r>
          </a:p>
          <a:p>
            <a:pPr algn="l">
              <a:lnSpc>
                <a:spcPct val="140000"/>
              </a:lnSpc>
            </a:pPr>
            <a:r>
              <a:rPr sz="1900" b="1" i="0">
                <a:solidFill>
                  <a:srgbClr val="0F2347"/>
                </a:solidFill>
                <a:latin typeface="Georgia"/>
              </a:rPr>
              <a:t>Responsibility without capability expansion.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880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00">
                <a:solidFill>
                  <a:srgbClr val="C1440E"/>
                </a:solidFill>
                <a:latin typeface="Arial"/>
              </a:rPr>
              <a:t>THE WORKSHOP: ASSESSMENT +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73552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The complete 12-statement initial read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Evidence correction and an evidence-backed second read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Provisional placement or boundary reading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One category of move to test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A completed Next-Move Decision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F2347"/>
                </a:solidFill>
                <a:latin typeface="Arial"/>
              </a:rPr>
              <a:t>A 30-day evidence process and a 90-day rescore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152B4C"/>
                </a:solidFill>
                <a:latin typeface="Arial"/>
              </a:rPr>
              <a:t>The full Capability Position Read measures these patterns more rigorously through Density and Optionality.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607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1">
                <a:solidFill>
                  <a:srgbClr val="0F2347"/>
                </a:solidFill>
                <a:latin typeface="Georgia"/>
              </a:rPr>
              <a:t>Most career advice begins after you decide to leave. This helps you determine whether leaving is even the right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8778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5F0E8"/>
                </a:solidFill>
                <a:latin typeface="Georgia"/>
              </a:rPr>
              <a:t>Decide Whether to Stay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5F0E8"/>
                </a:solidFill>
                <a:latin typeface="Georgia"/>
              </a:rPr>
              <a:t>or Leave Your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54203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5F0E8"/>
                </a:solidFill>
                <a:latin typeface="Arial"/>
              </a:rPr>
              <a:t>A Live Career Growth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063240"/>
            <a:ext cx="475488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38328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5F0E8"/>
                </a:solidFill>
                <a:latin typeface="Georgia"/>
              </a:rPr>
              <a:t>The Capability Position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Two hours live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105-minute guided Capability Position Read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15-minute Q&amp;A and applications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Field Kit included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30-day evidence process, 90-day rescore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0E8"/>
                </a:solidFill>
                <a:latin typeface="Arial"/>
              </a:rPr>
              <a:t>15 seats  ·  $249 public launch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F5F0E8"/>
                </a:solidFill>
                <a:latin typeface="Arial"/>
              </a:rPr>
              <a:t>You will not be told to quit. You will leave with a more defensible reading of your current position and the category of move your evidence supports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080760"/>
            <a:ext cx="3108960" cy="41148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62179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0E8"/>
                </a:solidFill>
                <a:latin typeface="Arial"/>
              </a:rPr>
              <a:t>REGISTER — [URL PLACEHOLDER]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3703320"/>
            <a:ext cx="1188720" cy="11887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2245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F2347"/>
                </a:solidFill>
                <a:latin typeface="Arial"/>
              </a:rPr>
              <a:t>[QR CODE]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080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9B8D0"/>
                </a:solidFill>
                <a:latin typeface="Arial"/>
              </a:rPr>
              <a:t>Not ready for the full read? Subscribe to Capability Formation.
[Substack URL placeholder]  ·  [Substack QR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F5F0E8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F5F0E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9A84C"/>
                </a:solidFill>
                <a:latin typeface="Arial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2347"/>
                </a:solidFill>
                <a:latin typeface="Georgia"/>
              </a:rPr>
              <a:t>Eleven minutes for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1051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B4C"/>
                </a:solidFill>
                <a:latin typeface="Arial"/>
              </a:rPr>
              <a:t>Questions about the ideas are welcome. Individual situations will not be scored or diagnosed in this room.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423160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91740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86584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Good Q&amp;A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1576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2B4C"/>
                </a:solidFill>
                <a:latin typeface="Arial"/>
              </a:rPr>
              <a:t>How do I tell the difference between performance and formation? What does portability mean? What kind of evidence counts?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70732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465576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Questions to redirect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7947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2B4C"/>
                </a:solidFill>
                <a:latin typeface="Arial"/>
              </a:rPr>
              <a:t>Should I leave? What state am I in? What should I do about my manager? Can you score my situation?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581144"/>
            <a:ext cx="347472" cy="347472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49724"/>
            <a:ext cx="228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544568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347"/>
                </a:solidFill>
                <a:latin typeface="Arial"/>
              </a:rPr>
              <a:t>Boundary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873752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52B4C"/>
                </a:solidFill>
                <a:latin typeface="Arial"/>
              </a:rPr>
              <a:t>I can help you clarify what the pattern suggests examining. I cannot make the employment decision for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989320"/>
            <a:ext cx="10881360" cy="502920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12648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A84C"/>
                </a:solidFill>
                <a:latin typeface="Arial"/>
              </a:rPr>
              <a:t>REGISTRATION STILL OPEN — Decide Whether to Stay or Leave Your Job  ·  [URL PLACEHOLDER]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C1440E"/>
                </a:solidFill>
                <a:latin typeface="Arial"/>
              </a:rPr>
              <a:t>APPENDIX  ·  NOT PART OF THE 45-MINUTE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2347"/>
                </a:solidFill>
                <a:latin typeface="Georgia"/>
              </a:rPr>
              <a:t>What AI Changes About This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B4C"/>
                </a:solidFill>
                <a:latin typeface="Arial"/>
              </a:rPr>
              <a:t>An application of the reading, not a technology lesson.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651760"/>
            <a:ext cx="3931920" cy="228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9875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152B4C"/>
                </a:solidFill>
                <a:latin typeface="Arial"/>
              </a:rPr>
              <a:t>Where AI makes routine output easier to reproduce, your position depends more heavily on judgment, learning velocity, and capability that travels across unfamiliar problems.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152B4C"/>
                </a:solidFill>
                <a:latin typeface="Arial"/>
              </a:rPr>
              <a:t>Density and Optionality do not become less important.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152B4C"/>
                </a:solidFill>
                <a:latin typeface="Arial"/>
              </a:rPr>
              <a:t>They become more consequential.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39496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52B4C"/>
                </a:solidFill>
                <a:latin typeface="Arial"/>
              </a:rPr>
              <a:t>Optional leave-behind slide. Present only if time and audience interest allow; not counted in the 45-minute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648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 spc="150">
                <a:solidFill>
                  <a:srgbClr val="0F2347"/>
                </a:solidFill>
                <a:latin typeface="Arial"/>
              </a:rPr>
              <a:t>TEMIDAYO AFONJA   |   TEMIDAYOAFONJA.COM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648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i="0">
                <a:solidFill>
                  <a:srgbClr val="0F234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