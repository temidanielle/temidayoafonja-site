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Arial"/>
              </a:rPr>
              <a:t>TIMING: 0:00-1:00</a:t>
            </a:r>
          </a:p>
          <a:p>
            <a:r>
              <a:rPr sz="1100">
                <a:latin typeface="Arial"/>
              </a:rPr>
              <a:t>WHAT TO SAY: Welcome. This is a 45-minute recognition lesson, not a diagnostic. You are here because something about your current work may deserve a more careful reading.</a:t>
            </a:r>
          </a:p>
          <a:p>
            <a:r>
              <a:rPr sz="1100">
                <a:latin typeface="Arial"/>
              </a:rPr>
              <a:t>WHAT NOT TO SAY: Do not promise a personalized answer. Do not mention pricing. Do not begin with the full framework.</a:t>
            </a:r>
          </a:p>
          <a:p>
            <a:r>
              <a:rPr sz="1100">
                <a:latin typeface="Arial"/>
              </a:rPr>
              <a:t>PARTICIPANT ACTION: None yet. Settling in.</a:t>
            </a:r>
          </a:p>
          <a:p>
            <a:r>
              <a:rPr sz="1100">
                <a:latin typeface="Arial"/>
              </a:rPr>
              <a:t>LIKELY MISUNDERSTANDING: Some may expect a scored assessment today. The boundary slide corrects this in the next 30 seconds.</a:t>
            </a:r>
          </a:p>
          <a:p>
            <a:r>
              <a:rPr sz="1100">
                <a:latin typeface="Arial"/>
              </a:rPr>
              <a:t>TRANSITION LINE: Before we start, one boundary that protects the value of what you're about to 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Arial"/>
              </a:rPr>
              <a:t>TIMING: 1:00-1:30</a:t>
            </a:r>
          </a:p>
          <a:p>
            <a:r>
              <a:rPr sz="1100">
                <a:latin typeface="Arial"/>
              </a:rPr>
              <a:t>WHAT TO SAY: Read the single boundary statement once, plainly, then move. This lesson will not tell you whether to stay or leave, place you into a Career State, or replace the full Position Read. It will help you recognize three signs worth examining.</a:t>
            </a:r>
          </a:p>
          <a:p>
            <a:r>
              <a:rPr sz="1100">
                <a:latin typeface="Arial"/>
              </a:rPr>
              <a:t>WHAT NOT TO SAY: Do not repeat the boundary again later as a separate slide. State it once here, then teach.</a:t>
            </a:r>
          </a:p>
          <a:p>
            <a:r>
              <a:rPr sz="1100">
                <a:latin typeface="Arial"/>
              </a:rPr>
              <a:t>PARTICIPANT ACTION: None. Listening.</a:t>
            </a:r>
          </a:p>
          <a:p>
            <a:r>
              <a:rPr sz="1100">
                <a:latin typeface="Arial"/>
              </a:rPr>
              <a:t>LIKELY MISUNDERSTANDING: Some may still expect a scored result today; the boundary is stated once so you can redirect quickly if it resurfaces in chat.</a:t>
            </a:r>
          </a:p>
          <a:p>
            <a:r>
              <a:rPr sz="1100">
                <a:latin typeface="Arial"/>
              </a:rPr>
              <a:t>TRANSITION LINE: Let's find out what brought you into the room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Arial"/>
              </a:rPr>
              <a:t>TIMING: 1:30-3:00</a:t>
            </a:r>
          </a:p>
          <a:p>
            <a:r>
              <a:rPr sz="1100">
                <a:latin typeface="Arial"/>
              </a:rPr>
              <a:t>WHAT TO SAY: Put the poll in chat or use Maven/Zoom polling. Ask people to choose the nearest reason, not explain.</a:t>
            </a:r>
          </a:p>
          <a:p>
            <a:r>
              <a:rPr sz="1100">
                <a:latin typeface="Arial"/>
              </a:rPr>
              <a:t>WHAT NOT TO SAY: Do not analyze individual answers aloud.</a:t>
            </a:r>
          </a:p>
          <a:p>
            <a:r>
              <a:rPr sz="1100">
                <a:latin typeface="Arial"/>
              </a:rPr>
              <a:t>PARTICIPANT ACTION: Selects one option via chat or poll widget.</a:t>
            </a:r>
          </a:p>
          <a:p>
            <a:r>
              <a:rPr sz="1100">
                <a:latin typeface="Arial"/>
              </a:rPr>
              <a:t>LIKELY MISUNDERSTANDING: A participant may try to explain their situation in detail; thank them briefly and move on without engaging the specifics.</a:t>
            </a:r>
          </a:p>
          <a:p>
            <a:r>
              <a:rPr sz="1100">
                <a:latin typeface="Arial"/>
              </a:rPr>
              <a:t>TRANSITION LINE: Whatever brought you here, by the end of today you'll leave with three specific things. Here's what they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Arial"/>
              </a:rPr>
              <a:t>TIMING: 3:00-5:00</a:t>
            </a:r>
          </a:p>
          <a:p>
            <a:r>
              <a:rPr sz="1100">
                <a:latin typeface="Arial"/>
              </a:rPr>
              <a:t>WHAT TO SAY: Three things by minute 45: the difference between performance and growth, your own Career Stall Check completed against real evidence, and one next question worth investigating.</a:t>
            </a:r>
          </a:p>
          <a:p>
            <a:r>
              <a:rPr sz="1100">
                <a:latin typeface="Arial"/>
              </a:rPr>
              <a:t>WHAT NOT TO SAY: Do not promise a Career State, a score, or a stay-or-leave answer as an outcome.</a:t>
            </a:r>
          </a:p>
          <a:p>
            <a:r>
              <a:rPr sz="1100">
                <a:latin typeface="Arial"/>
              </a:rPr>
              <a:t>PARTICIPANT ACTION: None yet. Orienting to the session's shape.</a:t>
            </a:r>
          </a:p>
          <a:p>
            <a:r>
              <a:rPr sz="1100">
                <a:latin typeface="Arial"/>
              </a:rPr>
              <a:t>LIKELY MISUNDERSTANDING: "A basis for deciding whether to go deeper" is a conversion objective, not a learning outcome — do not restate it as a fourth promise here.</a:t>
            </a:r>
          </a:p>
          <a:p>
            <a:r>
              <a:rPr sz="1100">
                <a:latin typeface="Arial"/>
              </a:rPr>
              <a:t>TRANSITION LINE: Before we get to the three signs, I want to tell you why I started paying attention to this distinction in the first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Arial"/>
              </a:rPr>
              <a:t>TIMING: 5:00-6:30 (story itself runs approximately 60-90 seconds; remainder is the pause before the central insight)</a:t>
            </a:r>
          </a:p>
          <a:p>
            <a:r>
              <a:rPr sz="1100">
                <a:latin typeface="Arial"/>
              </a:rPr>
              <a:t>WHAT TO SAY: Tell the story exactly as written on the slide, at a measured pace. Let the pull-quote land without rushing past it.</a:t>
            </a:r>
          </a:p>
          <a:p>
            <a:r>
              <a:rPr sz="1100">
                <a:latin typeface="Arial"/>
              </a:rPr>
              <a:t>WHAT NOT TO SAY: Do not name the former employer. Do not name any individual. Do not allege motive. Do not use grievance language. Do not turn this into a therapeutic disclosure. Do not overexplain the mechanics of the role elimination. Do not diagnose your own former Career State — this predates that framework and is not being retrofit onto it here.</a:t>
            </a:r>
          </a:p>
          <a:p>
            <a:r>
              <a:rPr sz="1100">
                <a:latin typeface="Arial"/>
              </a:rPr>
              <a:t>TONE: Reflective, restrained, specific, instructional. This is evidence for a distinction, not a confession.</a:t>
            </a:r>
          </a:p>
          <a:p>
            <a:r>
              <a:rPr sz="1100">
                <a:latin typeface="Arial"/>
              </a:rPr>
              <a:t>PARTICIPANT ACTION: Listening.</a:t>
            </a:r>
          </a:p>
          <a:p>
            <a:r>
              <a:rPr sz="1100">
                <a:latin typeface="Arial"/>
              </a:rPr>
              <a:t>LIKELY MISUNDERSTANDING: Participants may want more detail about what happened. Do not supply it. The story exists to motivate the distinction, not to invite follow-up questions about your history.</a:t>
            </a:r>
          </a:p>
          <a:p>
            <a:r>
              <a:rPr sz="1100">
                <a:latin typeface="Arial"/>
              </a:rPr>
              <a:t>TRANSITION LINE: That distinction is the whole lesson today, so let's name it plainly.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Arial"/>
              </a:rPr>
              <a:t>TIMING: 6:30-8:00</a:t>
            </a:r>
          </a:p>
          <a:p>
            <a:r>
              <a:rPr sz="1100">
                <a:latin typeface="Arial"/>
              </a:rPr>
              <a:t>WHAT TO SAY: This is the central line of the entire lesson. Say it once, clearly, then let it sit for a beat before moving to the supporting lines.</a:t>
            </a:r>
          </a:p>
          <a:p>
            <a:r>
              <a:rPr sz="1100">
                <a:latin typeface="Arial"/>
              </a:rPr>
              <a:t>WHAT NOT TO SAY: Do not imply performance does not matter. It does. It is simply a different signal than formation.</a:t>
            </a:r>
          </a:p>
          <a:p>
            <a:r>
              <a:rPr sz="1100">
                <a:latin typeface="Arial"/>
              </a:rPr>
              <a:t>PARTICIPANT ACTION: None. This is the pivot point into the three signs.</a:t>
            </a:r>
          </a:p>
          <a:p>
            <a:r>
              <a:rPr sz="1100">
                <a:latin typeface="Arial"/>
              </a:rPr>
              <a:t>LIKELY MISUNDERSTANDING: Someone may hear "performance does not matter." Correct plainly if it comes up: performance matters, it is just not the complete reading.</a:t>
            </a:r>
          </a:p>
          <a:p>
            <a:r>
              <a:rPr sz="1100">
                <a:latin typeface="Arial"/>
              </a:rPr>
              <a:t>TRANSITION LINE: Here are three specific ways capable people miss that distinction in their own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Arial"/>
              </a:rPr>
              <a:t>TIMING: 8:00-13:00</a:t>
            </a:r>
          </a:p>
          <a:p>
            <a:r>
              <a:rPr sz="1100">
                <a:latin typeface="Arial"/>
              </a:rPr>
              <a:t>WHAT TO SAY: High performers often use strong performance as proof that growth is happening. Separate delivery from formation. Read the test question slowly, then give 30-45 seconds for the quick check.</a:t>
            </a:r>
          </a:p>
          <a:p>
            <a:r>
              <a:rPr sz="1100">
                <a:latin typeface="Arial"/>
              </a:rPr>
              <a:t>EXAMPLE: A person can lead the same decision forum more smoothly each quarter without meeting a problem they do not already know how to solve.</a:t>
            </a:r>
          </a:p>
          <a:p>
            <a:r>
              <a:rPr sz="1100">
                <a:latin typeface="Arial"/>
              </a:rPr>
              <a:t>WHAT NOT TO SAY: Do not imply high performance is fake. It is real. It is simply a different signal.</a:t>
            </a:r>
          </a:p>
          <a:p>
            <a:r>
              <a:rPr sz="1100">
                <a:latin typeface="Arial"/>
              </a:rPr>
              <a:t>PARTICIPANT ACTION: Answers the quick check in chat, poll, or privately in writing — one word only.</a:t>
            </a:r>
          </a:p>
          <a:p>
            <a:r>
              <a:rPr sz="1100">
                <a:latin typeface="Arial"/>
              </a:rPr>
              <a:t>LIKELY MISUNDERSTANDING: Someone may say their work "feels" like growth because it is demanding. Demanding is not the same as unfamiliar. Redirect gently if it comes up.</a:t>
            </a:r>
          </a:p>
          <a:p>
            <a:r>
              <a:rPr sz="1100">
                <a:latin typeface="Arial"/>
              </a:rPr>
              <a:t>TRANSITION LINE: That is the first sign. Here is a second one that hides in plain sight because it feels like the opposite of a warning.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Arial"/>
              </a:rPr>
              <a:t>TIMING: 13:00-18:00</a:t>
            </a:r>
          </a:p>
          <a:p>
            <a:r>
              <a:rPr sz="1100">
                <a:latin typeface="Arial"/>
              </a:rPr>
              <a:t>WHAT TO SAY: Dependence is not bad. It is simply not the same as portability. A person can become essential to a system while their external story becomes harder to explain. Read the test question, then give the room 30-45 seconds for the quick check.</a:t>
            </a:r>
          </a:p>
          <a:p>
            <a:r>
              <a:rPr sz="1100">
                <a:latin typeface="Arial"/>
              </a:rPr>
              <a:t>WHAT NOT TO SAY: Do not call indispensability a trap. It can be earned and valuable. The risk is misreading it as automatically portable.</a:t>
            </a:r>
          </a:p>
          <a:p>
            <a:r>
              <a:rPr sz="1100">
                <a:latin typeface="Arial"/>
              </a:rPr>
              <a:t>PARTICIPANT ACTION: Answers the quick check in chat, poll, or privately in writing.</a:t>
            </a:r>
          </a:p>
          <a:p>
            <a:r>
              <a:rPr sz="1100">
                <a:latin typeface="Arial"/>
              </a:rPr>
              <a:t>LIKELY MISUNDERSTANDING: Someone may hear this as "being needed is bad." Correct plainly: being needed is good; assuming it travels is the misread.</a:t>
            </a:r>
          </a:p>
          <a:p>
            <a:r>
              <a:rPr sz="1100">
                <a:latin typeface="Arial"/>
              </a:rPr>
              <a:t>TRANSITION LINE: The third sign is the one that hides inside what looks like career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Arial"/>
              </a:rPr>
              <a:t>TIMING: 18:00-23:00</a:t>
            </a:r>
          </a:p>
          <a:p>
            <a:r>
              <a:rPr sz="1100">
                <a:latin typeface="Arial"/>
              </a:rPr>
              <a:t>WHAT TO SAY: Promotions can build capability. They can also move a person into approvals, representation, and familiar judgment. The point is to read the work, not the title. Give the room 30-45 seconds for the quick check after the test question.</a:t>
            </a:r>
          </a:p>
          <a:p>
            <a:r>
              <a:rPr sz="1100">
                <a:latin typeface="Arial"/>
              </a:rPr>
              <a:t>WHAT NOT TO SAY: This is not a diagnosis of anyone's specific promotion. It is a pattern worth noticing.</a:t>
            </a:r>
          </a:p>
          <a:p>
            <a:r>
              <a:rPr sz="1100">
                <a:latin typeface="Arial"/>
              </a:rPr>
              <a:t>PARTICIPANT ACTION: Answers the quick check in chat, poll, or privately in writing.</a:t>
            </a:r>
          </a:p>
          <a:p>
            <a:r>
              <a:rPr sz="1100">
                <a:latin typeface="Arial"/>
              </a:rPr>
              <a:t>LIKELY MISUNDERSTANDING: Someone may hear this as an argument against accepting promotions. It is not. It is an argument against assuming title growth is automatically capability growth.</a:t>
            </a:r>
          </a:p>
          <a:p>
            <a:r>
              <a:rPr sz="1100">
                <a:latin typeface="Arial"/>
              </a:rPr>
              <a:t>TRANSITION LINE: You've now tested three signs against your own last 90 days. Let's put that evidence somewhere you can keep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Arial"/>
              </a:rPr>
              <a:t>TIMING: 23:00-28:00</a:t>
            </a:r>
          </a:p>
          <a:p>
            <a:r>
              <a:rPr sz="1100">
                <a:latin typeface="Arial"/>
              </a:rPr>
              <a:t>WHAT TO SAY: Five quiet minutes. Open the Career Stall Check and write against your own last 90 days. No one will be called on.</a:t>
            </a:r>
          </a:p>
          <a:p>
            <a:r>
              <a:rPr sz="1100">
                <a:latin typeface="Arial"/>
              </a:rPr>
              <a:t>WHAT NOT TO SAY: Do not say this is the full assessment. Do not offer to review anyone's answers live.</a:t>
            </a:r>
          </a:p>
          <a:p>
            <a:r>
              <a:rPr sz="1100">
                <a:latin typeface="Arial"/>
              </a:rPr>
              <a:t>PARTICIPANT ACTION: Completes the four fields on the Career Stall Check handout privately.</a:t>
            </a:r>
          </a:p>
          <a:p>
            <a:r>
              <a:rPr sz="1100">
                <a:latin typeface="Arial"/>
              </a:rPr>
              <a:t>LIKELY MISUNDERSTANDING: Someone may ask if this produces a score or placement. It does not — redirect calmly: "That is what the full Position Read does. This is recognition."</a:t>
            </a:r>
          </a:p>
          <a:p>
            <a:r>
              <a:rPr sz="1100">
                <a:latin typeface="Arial"/>
              </a:rPr>
              <a:t>TRANSITION LINE: Before we go further, one caution about what a recognition exercise is and is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Arial"/>
              </a:rPr>
              <a:t>TIMING: 28:00-31:00</a:t>
            </a:r>
          </a:p>
          <a:p>
            <a:r>
              <a:rPr sz="1100">
                <a:latin typeface="Arial"/>
              </a:rPr>
              <a:t>WHAT TO SAY: Do not let the exercise become a verdict. Familiarity is a signal, not a diagnosis. Then deliver the one AI sentence on the slide, once, without expanding into a tools discussion.</a:t>
            </a:r>
          </a:p>
          <a:p>
            <a:r>
              <a:rPr sz="1100">
                <a:latin typeface="Arial"/>
              </a:rPr>
              <a:t>WHAT NOT TO SAY: No tool names. No prompting advice. No job-loss predictions. No industry forecasts. This is a single sentence, not a new section.</a:t>
            </a:r>
          </a:p>
          <a:p>
            <a:r>
              <a:rPr sz="1100">
                <a:latin typeface="Arial"/>
              </a:rPr>
              <a:t>PARTICIPANT ACTION: None. This is a settling beat before the bridge.</a:t>
            </a:r>
          </a:p>
          <a:p>
            <a:r>
              <a:rPr sz="1100">
                <a:latin typeface="Arial"/>
              </a:rPr>
              <a:t>LIKELY MISUNDERSTANDING: Someone may ask what AI tool to use. Decline: "That's outside today's scope — this is about the reading, not the tools."</a:t>
            </a:r>
          </a:p>
          <a:p>
            <a:r>
              <a:rPr sz="1100">
                <a:latin typeface="Arial"/>
              </a:rPr>
              <a:t>TRANSITION LINE: What you did in the last 28 minutes is one piece of a larger read. Let me show you what the rest of it looks like.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Arial"/>
              </a:rPr>
              <a:t>TIMING: 31:00-32:30</a:t>
            </a:r>
          </a:p>
          <a:p>
            <a:r>
              <a:rPr sz="1100">
                <a:latin typeface="Arial"/>
              </a:rPr>
              <a:t>WHAT TO SAY: This is factual, not a hard sell. Today gave you recognition. The workshop gives you the structured, evidence-backed read. Name Density and Optionality briefly here for the first time — this is the one place they belong.</a:t>
            </a:r>
          </a:p>
          <a:p>
            <a:r>
              <a:rPr sz="1100">
                <a:latin typeface="Arial"/>
              </a:rPr>
              <a:t>WHAT NOT TO SAY: Do not add scarcity. Do not overexplain every deliverable — read the list once and move.</a:t>
            </a:r>
          </a:p>
          <a:p>
            <a:r>
              <a:rPr sz="1100">
                <a:latin typeface="Arial"/>
              </a:rPr>
              <a:t>PARTICIPANT ACTION: Listening.</a:t>
            </a:r>
          </a:p>
          <a:p>
            <a:r>
              <a:rPr sz="1100">
                <a:latin typeface="Arial"/>
              </a:rPr>
              <a:t>LIKELY MISUNDERSTANDING: Someone may think today's exercise already produced a placement. Restate plainly: today was recognition; placement requires the full instrument.</a:t>
            </a:r>
          </a:p>
          <a:p>
            <a:r>
              <a:rPr sz="1100">
                <a:latin typeface="Arial"/>
              </a:rPr>
              <a:t>TRANSITION LINE: Here is exactly what that workshop is, and how to join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Arial"/>
              </a:rPr>
              <a:t>TIMING: 32:30-34:00</a:t>
            </a:r>
          </a:p>
          <a:p>
            <a:r>
              <a:rPr sz="1100">
                <a:latin typeface="Arial"/>
              </a:rPr>
              <a:t>WHAT TO SAY: If today helped you recognize a pattern, the full Position Read is where that pattern gets examined with evidence. It is a two-hour live workshop, including Q&amp;A. Point to the registration CTA once, clearly.</a:t>
            </a:r>
          </a:p>
          <a:p>
            <a:r>
              <a:rPr sz="1100">
                <a:latin typeface="Arial"/>
              </a:rPr>
              <a:t>WHAT NOT TO SAY: Do not run a hard close. Do not imply the free lesson was incomplete on purpose — it was complete for recognition.</a:t>
            </a:r>
          </a:p>
          <a:p>
            <a:r>
              <a:rPr sz="1100">
                <a:latin typeface="Arial"/>
              </a:rPr>
              <a:t>PARTICIPANT ACTION: None yet — registration happens after the session or during the break in Q&amp;A.</a:t>
            </a:r>
          </a:p>
          <a:p>
            <a:r>
              <a:rPr sz="1100">
                <a:latin typeface="Arial"/>
              </a:rPr>
              <a:t>LIKELY MISUNDERSTANDING: Someone may confuse the $249 launch price with a temporary discount. It is the public launch price for the first two paid deliveries, not a founding discount — correct this if it comes up.</a:t>
            </a:r>
          </a:p>
          <a:p>
            <a:r>
              <a:rPr sz="1100">
                <a:latin typeface="Arial"/>
              </a:rPr>
              <a:t>ACTION BEFORE DELIVERY: Replace the URL and QR placeholders with the confirmed Maven registration link and the confirmed Substack link before this deck goes live.</a:t>
            </a:r>
          </a:p>
          <a:p>
            <a:r>
              <a:rPr sz="1100">
                <a:latin typeface="Arial"/>
              </a:rPr>
              <a:t>TRANSITION LINE: Keep this slide up. Let's open it up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Arial"/>
              </a:rPr>
              <a:t>TIMING: 34:00-45:00</a:t>
            </a:r>
          </a:p>
          <a:p>
            <a:r>
              <a:rPr sz="1100">
                <a:latin typeface="Arial"/>
              </a:rPr>
              <a:t>WHAT TO SAY: Keep answers short. Answer the principle, not the person's career decision.</a:t>
            </a:r>
          </a:p>
          <a:p>
            <a:r>
              <a:rPr sz="1100">
                <a:latin typeface="Arial"/>
              </a:rPr>
              <a:t>BOUNDARY LINE: "I can help you clarify what the pattern suggests examining. I cannot make the employment decision for you."</a:t>
            </a:r>
          </a:p>
          <a:p>
            <a:r>
              <a:rPr sz="1100">
                <a:latin typeface="Arial"/>
              </a:rPr>
              <a:t>WHAT NOT TO SAY: Do not score anyone's situation live. Do not name a Career State for anyone. Do not tell anyone to stay or leave.</a:t>
            </a:r>
          </a:p>
          <a:p>
            <a:r>
              <a:rPr sz="1100">
                <a:latin typeface="Arial"/>
              </a:rPr>
              <a:t>PARTICIPANT ACTION: Asks questions via chat or voice.</a:t>
            </a:r>
          </a:p>
          <a:p>
            <a:r>
              <a:rPr sz="1100">
                <a:latin typeface="Arial"/>
              </a:rPr>
              <a:t>LIKELY MISUNDERSTANDING: A participant may push for a personal read disguised as a general question. Use the boundary line and move to the next question.</a:t>
            </a:r>
          </a:p>
          <a:p>
            <a:r>
              <a:rPr sz="1100">
                <a:latin typeface="Arial"/>
              </a:rPr>
              <a:t>FACILITATOR NOTE: Keep the registration strip at the bottom of this slide visible for the full Q&amp;A block — do not switch away from this slide.</a:t>
            </a:r>
          </a:p>
          <a:p>
            <a:r>
              <a:rPr sz="1100">
                <a:latin typeface="Arial"/>
              </a:rPr>
              <a:t>CLOSE: Thank the room. Remind them the registration link is live in the strip below and in the chat.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Arial"/>
              </a:rPr>
              <a:t>TIMING: Not part of the timed 45-minute session. Use only if delivering to a room with extra time, or share as a leave-behind slide in the deck PDF.</a:t>
            </a:r>
          </a:p>
          <a:p>
            <a:r>
              <a:rPr sz="1100">
                <a:latin typeface="Arial"/>
              </a:rPr>
              <a:t>WHAT TO SAY: Keep this short even here. This is about the reading, not tools.</a:t>
            </a:r>
          </a:p>
          <a:p>
            <a:r>
              <a:rPr sz="1100">
                <a:latin typeface="Arial"/>
              </a:rPr>
              <a:t>WHAT NOT TO SAY: No tool names. No prompting advice. No job-loss predictions. No industry forecasts.</a:t>
            </a:r>
          </a:p>
          <a:p>
            <a:r>
              <a:rPr sz="1100">
                <a:latin typeface="Arial"/>
              </a:rPr>
              <a:t>PARTICIPANT ACTION: None — this is reference material, not a live teaching beat.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00">
                <a:solidFill>
                  <a:srgbClr val="C9A84C"/>
                </a:solidFill>
                <a:latin typeface="Arial"/>
              </a:rPr>
              <a:t>FREE LIGHTNING LESSON   ·   45 MINUTES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378440" y="914400"/>
            <a:ext cx="658368" cy="658368"/>
          </a:xfrm>
          <a:prstGeom prst="rect">
            <a:avLst/>
          </a:prstGeom>
          <a:solidFill>
            <a:srgbClr val="0F2347"/>
          </a:solidFill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109960" y="914400"/>
            <a:ext cx="658368" cy="658368"/>
          </a:xfrm>
          <a:prstGeom prst="rect">
            <a:avLst/>
          </a:prstGeom>
          <a:solidFill>
            <a:srgbClr val="C1440E"/>
          </a:solidFill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78440" y="1645920"/>
            <a:ext cx="658368" cy="658368"/>
          </a:xfrm>
          <a:prstGeom prst="rect">
            <a:avLst/>
          </a:prstGeom>
          <a:solidFill>
            <a:srgbClr val="0F2347"/>
          </a:solidFill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109960" y="1645920"/>
            <a:ext cx="658368" cy="658368"/>
          </a:xfrm>
          <a:prstGeom prst="rect">
            <a:avLst/>
          </a:prstGeom>
          <a:solidFill>
            <a:srgbClr val="0F2347"/>
          </a:solidFill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508760"/>
            <a:ext cx="89611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5F0E8"/>
                </a:solidFill>
                <a:latin typeface="Georgia"/>
              </a:rPr>
              <a:t>How to Tell If Your</a:t>
            </a:r>
          </a:p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5F0E8"/>
                </a:solidFill>
                <a:latin typeface="Georgia"/>
              </a:rPr>
              <a:t>Career Is Stalling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3657600"/>
            <a:ext cx="8869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F5F0E8"/>
                </a:solidFill>
                <a:latin typeface="Arial"/>
              </a:rPr>
              <a:t>Three signs your role may have stopped building your skills and future options, even while you are performing well.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" y="4480560"/>
            <a:ext cx="4754880" cy="2286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475488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180">
                <a:solidFill>
                  <a:srgbClr val="C9A84C"/>
                </a:solidFill>
                <a:latin typeface="Arial"/>
              </a:rPr>
              <a:t>A CAPABILITY FORMATION LIGHTNING LESSON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5120640"/>
            <a:ext cx="42062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5F0E8"/>
                </a:solidFill>
                <a:latin typeface="Georgia"/>
              </a:rPr>
              <a:t>Temidayo Afonja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5568696"/>
            <a:ext cx="6583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F5F0E8"/>
                </a:solidFill>
                <a:latin typeface="Arial"/>
              </a:rPr>
              <a:t>Founder, The Density Group. Author, The Capability Audit.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64808"/>
            <a:ext cx="4937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i="0" spc="150">
                <a:solidFill>
                  <a:srgbClr val="F5F0E8"/>
                </a:solidFill>
                <a:latin typeface="Arial"/>
              </a:rPr>
              <a:t>TEMIDAYO AFONJA   |   TEMIDAYOAFONJA.COM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64808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1" i="0">
                <a:solidFill>
                  <a:srgbClr val="F5F0E8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00">
                <a:solidFill>
                  <a:srgbClr val="C9A84C"/>
                </a:solidFill>
                <a:latin typeface="Arial"/>
              </a:rPr>
              <a:t>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43000"/>
            <a:ext cx="10424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0F2347"/>
                </a:solidFill>
                <a:latin typeface="Georgia"/>
              </a:rPr>
              <a:t>What this lesson will not do.</a:t>
            </a:r>
          </a:p>
        </p:txBody>
      </p:sp>
      <p:sp>
        <p:nvSpPr>
          <p:cNvPr id="4" name="Rectangle 3"/>
          <p:cNvSpPr/>
          <p:nvPr/>
        </p:nvSpPr>
        <p:spPr>
          <a:xfrm>
            <a:off x="676656" y="2331720"/>
            <a:ext cx="3931920" cy="2286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6656" y="274320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i="0">
                <a:solidFill>
                  <a:srgbClr val="152B4C"/>
                </a:solidFill>
                <a:latin typeface="Arial"/>
              </a:rPr>
              <a:t>This free lesson will not tell you whether to stay or leave, place you into a Career State, or replace the full Position Read. It will help you recognize three signs worth examining in your own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64808"/>
            <a:ext cx="4937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i="0" spc="150">
                <a:solidFill>
                  <a:srgbClr val="0F2347"/>
                </a:solidFill>
                <a:latin typeface="Arial"/>
              </a:rPr>
              <a:t>TEMIDAYO AFONJA   |   TEMIDAYOAFONJA.COM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64808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1" i="0">
                <a:solidFill>
                  <a:srgbClr val="0F2347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00">
                <a:solidFill>
                  <a:srgbClr val="C9A84C"/>
                </a:solidFill>
                <a:latin typeface="Arial"/>
              </a:rPr>
              <a:t>OPENING POLL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43000"/>
            <a:ext cx="9875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F2347"/>
                </a:solidFill>
                <a:latin typeface="Georgia"/>
              </a:rPr>
              <a:t>What brought you here today?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828800"/>
            <a:ext cx="8778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52B4C"/>
                </a:solidFill>
                <a:latin typeface="Arial"/>
              </a:rPr>
              <a:t>Choose the closest reason. No explanation needed.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2514600"/>
            <a:ext cx="4800600" cy="603504"/>
          </a:xfrm>
          <a:prstGeom prst="rect">
            <a:avLst/>
          </a:prstGeom>
          <a:solidFill>
            <a:srgbClr val="FBF7EF"/>
          </a:solidFill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F2347"/>
                </a:solidFill>
                <a:latin typeface="Arial"/>
              </a:rPr>
              <a:t>Promotion or larger role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80760" y="2514600"/>
            <a:ext cx="4800600" cy="603504"/>
          </a:xfrm>
          <a:prstGeom prst="rect">
            <a:avLst/>
          </a:prstGeom>
          <a:solidFill>
            <a:srgbClr val="FBF7EF"/>
          </a:solidFill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1928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F2347"/>
                </a:solidFill>
                <a:latin typeface="Arial"/>
              </a:rPr>
              <a:t>Reorganization or role change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3474720"/>
            <a:ext cx="4800600" cy="603504"/>
          </a:xfrm>
          <a:prstGeom prst="rect">
            <a:avLst/>
          </a:prstGeom>
          <a:solidFill>
            <a:srgbClr val="FBF7EF"/>
          </a:solidFill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36393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F2347"/>
                </a:solidFill>
                <a:latin typeface="Arial"/>
              </a:rPr>
              <a:t>Internal move decision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3474720"/>
            <a:ext cx="4800600" cy="603504"/>
          </a:xfrm>
          <a:prstGeom prst="rect">
            <a:avLst/>
          </a:prstGeom>
          <a:solidFill>
            <a:srgbClr val="FBF7EF"/>
          </a:solidFill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81928" y="36393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F2347"/>
                </a:solidFill>
                <a:latin typeface="Arial"/>
              </a:rPr>
              <a:t>External opportunity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4434840"/>
            <a:ext cx="4800600" cy="603504"/>
          </a:xfrm>
          <a:prstGeom prst="rect">
            <a:avLst/>
          </a:prstGeom>
          <a:solidFill>
            <a:srgbClr val="FBF7EF"/>
          </a:solidFill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4599431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F2347"/>
                </a:solidFill>
                <a:latin typeface="Arial"/>
              </a:rPr>
              <a:t>My role feels static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0760" y="4434840"/>
            <a:ext cx="4800600" cy="603504"/>
          </a:xfrm>
          <a:prstGeom prst="rect">
            <a:avLst/>
          </a:prstGeom>
          <a:solidFill>
            <a:srgbClr val="FBF7EF"/>
          </a:solidFill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1928" y="4599431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F2347"/>
                </a:solidFill>
                <a:latin typeface="Arial"/>
              </a:rPr>
              <a:t>General uncertainty</a:t>
            </a:r>
          </a:p>
        </p:txBody>
      </p:sp>
      <p:pic>
        <p:nvPicPr>
          <p:cNvPr id="17" name="Picture 16" descr="poll_question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502920"/>
            <a:ext cx="1081007" cy="1417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8368" y="6464808"/>
            <a:ext cx="4937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i="0" spc="150">
                <a:solidFill>
                  <a:srgbClr val="0F2347"/>
                </a:solidFill>
                <a:latin typeface="Arial"/>
              </a:rPr>
              <a:t>TEMIDAYO AFONJA   |   TEMIDAYOAFONJA.COM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0" y="6464808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1" i="0">
                <a:solidFill>
                  <a:srgbClr val="0F2347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00">
                <a:solidFill>
                  <a:srgbClr val="C9A84C"/>
                </a:solidFill>
                <a:latin typeface="Arial"/>
              </a:rPr>
              <a:t>WHAT YOU’LL LEAVE WITH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97280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0F2347"/>
                </a:solidFill>
                <a:latin typeface="Georgia"/>
              </a:rPr>
              <a:t>Here’s What You’ll Leave With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676656" y="2057400"/>
            <a:ext cx="3840480" cy="2286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13232" y="2423160"/>
            <a:ext cx="320040" cy="320040"/>
          </a:xfrm>
          <a:prstGeom prst="roundRect">
            <a:avLst/>
          </a:prstGeom>
          <a:solidFill>
            <a:srgbClr val="0F2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49174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2386584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F2347"/>
                </a:solidFill>
                <a:latin typeface="Georgia"/>
              </a:rPr>
              <a:t>THE DIFFERENCE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872" y="2807208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52B4C"/>
                </a:solidFill>
                <a:latin typeface="Arial"/>
              </a:rPr>
              <a:t>How to distinguish strong performance from continuing career growth.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657600"/>
            <a:ext cx="320040" cy="320040"/>
          </a:xfrm>
          <a:prstGeom prst="roundRect">
            <a:avLst/>
          </a:prstGeom>
          <a:solidFill>
            <a:srgbClr val="0F2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372618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3621024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F2347"/>
                </a:solidFill>
                <a:latin typeface="Georgia"/>
              </a:rPr>
              <a:t>YOUR CAREER STALL 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4041648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52B4C"/>
                </a:solidFill>
                <a:latin typeface="Arial"/>
              </a:rPr>
              <a:t>Three signs examined against evidence from your last 90 days.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4892040"/>
            <a:ext cx="320040" cy="320040"/>
          </a:xfrm>
          <a:prstGeom prst="roundRect">
            <a:avLst/>
          </a:prstGeom>
          <a:solidFill>
            <a:srgbClr val="0F2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496062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4855464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F2347"/>
                </a:solidFill>
                <a:latin typeface="Georgia"/>
              </a:rPr>
              <a:t>THE NEXT QUESTION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5276088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52B4C"/>
                </a:solidFill>
                <a:latin typeface="Arial"/>
              </a:rPr>
              <a:t>What deserves closer examination before you decide to stay, reshape the role, or leave.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64808"/>
            <a:ext cx="4937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i="0" spc="150">
                <a:solidFill>
                  <a:srgbClr val="0F2347"/>
                </a:solidFill>
                <a:latin typeface="Arial"/>
              </a:rPr>
              <a:t>TEMIDAYO AFONJA   |   TEMIDAYOAFONJA.COM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64808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1" i="0">
                <a:solidFill>
                  <a:srgbClr val="0F2347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00">
                <a:solidFill>
                  <a:srgbClr val="C9A84C"/>
                </a:solidFill>
                <a:latin typeface="Arial"/>
              </a:rPr>
              <a:t>WHY I BEGAN LOOKING AT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972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7"/>
                </a:solidFill>
                <a:latin typeface="Georgia"/>
              </a:rPr>
              <a:t>Performance was never the question I should have been asking.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676656" y="2331720"/>
            <a:ext cx="3840480" cy="2286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6656" y="265176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152B4C"/>
                </a:solidFill>
                <a:latin typeface="Arial"/>
              </a:rPr>
              <a:t>Years into a role I was performing well in, the structure changed and the role was eliminated. I had good reviews. I was trusted with more. None of that changed what happened next.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3977639"/>
            <a:ext cx="10058400" cy="1417320"/>
          </a:xfrm>
          <a:prstGeom prst="rect">
            <a:avLst/>
          </a:prstGeom>
          <a:solidFill>
            <a:srgbClr val="FBF7EF"/>
          </a:solidFill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206240"/>
            <a:ext cx="9418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1">
                <a:solidFill>
                  <a:srgbClr val="0F2347"/>
                </a:solidFill>
                <a:latin typeface="Georgia"/>
              </a:rPr>
              <a:t>“My performance had shaped my standing. It had not insulated the role from a change in structure.”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56235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52B4C"/>
                </a:solidFill>
                <a:latin typeface="Arial"/>
              </a:rPr>
              <a:t>That distinction sent me looking for a way to read a role for what it is building, not only for how well I am doing in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64808"/>
            <a:ext cx="4937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i="0" spc="150">
                <a:solidFill>
                  <a:srgbClr val="0F2347"/>
                </a:solidFill>
                <a:latin typeface="Arial"/>
              </a:rPr>
              <a:t>TEMIDAYO AFONJA   |   TEMIDAYOAFONJA.COM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64808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1" i="0">
                <a:solidFill>
                  <a:srgbClr val="0F2347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00">
                <a:solidFill>
                  <a:srgbClr val="C9A84C"/>
                </a:solidFill>
                <a:latin typeface="Arial"/>
              </a:rPr>
              <a:t>THE CENTRAL INSIGHT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4300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800" b="1" i="0">
                <a:solidFill>
                  <a:srgbClr val="0F2347"/>
                </a:solidFill>
                <a:latin typeface="Georgia"/>
              </a:rPr>
              <a:t>A role can reward you</a:t>
            </a:r>
          </a:p>
          <a:p>
            <a:pPr algn="l">
              <a:lnSpc>
                <a:spcPct val="108000"/>
              </a:lnSpc>
            </a:pPr>
            <a:r>
              <a:rPr sz="3800" b="1" i="0">
                <a:solidFill>
                  <a:srgbClr val="0F2347"/>
                </a:solidFill>
                <a:latin typeface="Georgia"/>
              </a:rPr>
              <a:t>long after it stops building you.</a:t>
            </a:r>
          </a:p>
        </p:txBody>
      </p:sp>
      <p:sp>
        <p:nvSpPr>
          <p:cNvPr id="4" name="Rectangle 3"/>
          <p:cNvSpPr/>
          <p:nvPr/>
        </p:nvSpPr>
        <p:spPr>
          <a:xfrm>
            <a:off x="676656" y="2697480"/>
            <a:ext cx="3840480" cy="2286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3063240"/>
            <a:ext cx="969264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0" i="0">
                <a:solidFill>
                  <a:srgbClr val="152B4C"/>
                </a:solidFill>
                <a:latin typeface="Arial"/>
              </a:rPr>
              <a:t>A role can value you and still stop building you.</a:t>
            </a:r>
          </a:p>
          <a:p>
            <a:pPr algn="l">
              <a:lnSpc>
                <a:spcPct val="150000"/>
              </a:lnSpc>
            </a:pPr>
            <a:r>
              <a:rPr sz="1900" b="0" i="0">
                <a:solidFill>
                  <a:srgbClr val="152B4C"/>
                </a:solidFill>
                <a:latin typeface="Arial"/>
              </a:rPr>
              <a:t>A team can rely on you and still narrow the range of problems you meet.</a:t>
            </a:r>
          </a:p>
          <a:p>
            <a:pPr algn="l">
              <a:lnSpc>
                <a:spcPct val="150000"/>
              </a:lnSpc>
            </a:pPr>
            <a:r>
              <a:rPr sz="1900" b="0" i="0">
                <a:solidFill>
                  <a:srgbClr val="152B4C"/>
                </a:solidFill>
                <a:latin typeface="Arial"/>
              </a:rPr>
              <a:t>Performance is a signal. It is not the full reading.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64808"/>
            <a:ext cx="4937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i="0" spc="150">
                <a:solidFill>
                  <a:srgbClr val="0F2347"/>
                </a:solidFill>
                <a:latin typeface="Arial"/>
              </a:rPr>
              <a:t>TEMIDAYO AFONJA   |   TEMIDAYOAFONJA.COM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64808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1" i="0">
                <a:solidFill>
                  <a:srgbClr val="0F2347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00">
                <a:solidFill>
                  <a:srgbClr val="C9A84C"/>
                </a:solidFill>
                <a:latin typeface="Arial"/>
              </a:rPr>
              <a:t>SIGN 1  ·  8:00–13:00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51560"/>
            <a:ext cx="10424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0F2347"/>
                </a:solidFill>
                <a:latin typeface="Georgia"/>
              </a:rPr>
              <a:t>You Are Repeating,</a:t>
            </a:r>
          </a:p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0F2347"/>
                </a:solidFill>
                <a:latin typeface="Georgia"/>
              </a:rPr>
              <a:t>Not Stretching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76656" y="2240280"/>
            <a:ext cx="3840480" cy="2286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9808" y="2606040"/>
            <a:ext cx="5394960" cy="1828800"/>
          </a:xfrm>
          <a:prstGeom prst="rect">
            <a:avLst/>
          </a:prstGeom>
          <a:solidFill>
            <a:srgbClr val="FB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2862072"/>
            <a:ext cx="5029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0F2347"/>
                </a:solidFill>
                <a:latin typeface="Georgia"/>
              </a:rPr>
              <a:t>You may be performing at a high level, but the work is no longer asking you to solve meaningfully unfamiliar problems.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260604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C9A84C"/>
                </a:solidFill>
                <a:latin typeface="Arial"/>
              </a:rPr>
              <a:t>THE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2926080"/>
            <a:ext cx="46634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1">
                <a:solidFill>
                  <a:srgbClr val="0F2347"/>
                </a:solidFill>
                <a:latin typeface="Georgia"/>
              </a:rPr>
              <a:t>What problem have you solved in the last 90 days that you genuinely did not already know how to solve?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4709160"/>
            <a:ext cx="10332720" cy="777240"/>
          </a:xfrm>
          <a:prstGeom prst="rect">
            <a:avLst/>
          </a:prstGeom>
          <a:solidFill>
            <a:srgbClr val="0F2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8646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C9A84C"/>
                </a:solidFill>
                <a:latin typeface="Arial"/>
              </a:rPr>
              <a:t>QUICK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102352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F5F0E8"/>
                </a:solidFill>
                <a:latin typeface="Arial"/>
              </a:rPr>
              <a:t>In one word, is your recent work stretching, repeating, or unclear?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64808"/>
            <a:ext cx="4937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i="0" spc="150">
                <a:solidFill>
                  <a:srgbClr val="0F2347"/>
                </a:solidFill>
                <a:latin typeface="Arial"/>
              </a:rPr>
              <a:t>TEMIDAYO AFONJA   |   TEMIDAYOAFONJA.COM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64808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1" i="0">
                <a:solidFill>
                  <a:srgbClr val="0F2347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00">
                <a:solidFill>
                  <a:srgbClr val="C9A84C"/>
                </a:solidFill>
                <a:latin typeface="Arial"/>
              </a:rPr>
              <a:t>SIGN 2  ·  13:00–18:00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51560"/>
            <a:ext cx="10424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0F2347"/>
                </a:solidFill>
                <a:latin typeface="Georgia"/>
              </a:rPr>
              <a:t>You Are Indispensable,</a:t>
            </a:r>
          </a:p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0F2347"/>
                </a:solidFill>
                <a:latin typeface="Georgia"/>
              </a:rPr>
              <a:t>but Mainly 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76656" y="2240280"/>
            <a:ext cx="3840480" cy="2286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9808" y="2606040"/>
            <a:ext cx="5394960" cy="1828800"/>
          </a:xfrm>
          <a:prstGeom prst="rect">
            <a:avLst/>
          </a:prstGeom>
          <a:solidFill>
            <a:srgbClr val="FB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2862072"/>
            <a:ext cx="5029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0F2347"/>
                </a:solidFill>
                <a:latin typeface="Georgia"/>
              </a:rPr>
              <a:t>The organization relies on you, but your value may be increasingly tied to its systems, internal language, relationships, processes, or history.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260604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C9A84C"/>
                </a:solidFill>
                <a:latin typeface="Arial"/>
              </a:rPr>
              <a:t>THE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2926080"/>
            <a:ext cx="46634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1">
                <a:solidFill>
                  <a:srgbClr val="0F2347"/>
                </a:solidFill>
                <a:latin typeface="Georgia"/>
              </a:rPr>
              <a:t>Could someone outside your company explain your value without using your title or internal company language?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4709160"/>
            <a:ext cx="10332720" cy="777240"/>
          </a:xfrm>
          <a:prstGeom prst="rect">
            <a:avLst/>
          </a:prstGeom>
          <a:solidFill>
            <a:srgbClr val="0F2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8646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C9A84C"/>
                </a:solidFill>
                <a:latin typeface="Arial"/>
              </a:rPr>
              <a:t>QUICK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102352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F5F0E8"/>
                </a:solidFill>
                <a:latin typeface="Arial"/>
              </a:rPr>
              <a:t>Which has grown fastest: internal dependence, external visibility, or both?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64808"/>
            <a:ext cx="4937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i="0" spc="150">
                <a:solidFill>
                  <a:srgbClr val="0F2347"/>
                </a:solidFill>
                <a:latin typeface="Arial"/>
              </a:rPr>
              <a:t>TEMIDAYO AFONJA   |   TEMIDAYOAFONJA.COM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64808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1" i="0">
                <a:solidFill>
                  <a:srgbClr val="0F2347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00">
                <a:solidFill>
                  <a:srgbClr val="C9A84C"/>
                </a:solidFill>
                <a:latin typeface="Arial"/>
              </a:rPr>
              <a:t>SIGN 3  ·  18:00–23:00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51560"/>
            <a:ext cx="10424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0F2347"/>
                </a:solidFill>
                <a:latin typeface="Georgia"/>
              </a:rPr>
              <a:t>Your Responsibility Is Growing</a:t>
            </a:r>
          </a:p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0F2347"/>
                </a:solidFill>
                <a:latin typeface="Georgia"/>
              </a:rPr>
              <a:t>Faster Than Your Capability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76656" y="2240280"/>
            <a:ext cx="3840480" cy="2286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9808" y="2606040"/>
            <a:ext cx="5394960" cy="1828800"/>
          </a:xfrm>
          <a:prstGeom prst="rect">
            <a:avLst/>
          </a:prstGeom>
          <a:solidFill>
            <a:srgbClr val="FB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2862072"/>
            <a:ext cx="5029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0F2347"/>
                </a:solidFill>
                <a:latin typeface="Georgia"/>
              </a:rPr>
              <a:t>Your title, scope, and expectations may be increasing while the range of judgment, unfamiliar problems, or transferable capability being formed in you is narrowing.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260604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C9A84C"/>
                </a:solidFill>
                <a:latin typeface="Arial"/>
              </a:rPr>
              <a:t>THE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2926080"/>
            <a:ext cx="46634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1">
                <a:solidFill>
                  <a:srgbClr val="0F2347"/>
                </a:solidFill>
                <a:latin typeface="Georgia"/>
              </a:rPr>
              <a:t>What capability do you have now that you did not have before your responsibilities increased?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4709160"/>
            <a:ext cx="10332720" cy="777240"/>
          </a:xfrm>
          <a:prstGeom prst="rect">
            <a:avLst/>
          </a:prstGeom>
          <a:solidFill>
            <a:srgbClr val="0F2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86460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C9A84C"/>
                </a:solidFill>
                <a:latin typeface="Arial"/>
              </a:rPr>
              <a:t>QUICK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102352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F5F0E8"/>
                </a:solidFill>
                <a:latin typeface="Arial"/>
              </a:rPr>
              <a:t>Which has grown faster: responsibility, learning, or visibility?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64808"/>
            <a:ext cx="4937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i="0" spc="150">
                <a:solidFill>
                  <a:srgbClr val="0F2347"/>
                </a:solidFill>
                <a:latin typeface="Arial"/>
              </a:rPr>
              <a:t>TEMIDAYO AFONJA   |   TEMIDAYOAFONJA.COM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64808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1" i="0">
                <a:solidFill>
                  <a:srgbClr val="0F2347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00">
                <a:solidFill>
                  <a:srgbClr val="C9A84C"/>
                </a:solidFill>
                <a:latin typeface="Arial"/>
              </a:rPr>
              <a:t>CAREER STALL CHECK  ·  23:00–28:00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97280"/>
            <a:ext cx="10058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F2347"/>
                </a:solidFill>
                <a:latin typeface="Georgia"/>
              </a:rPr>
              <a:t>Five quiet minutes.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828800"/>
            <a:ext cx="9692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52B4C"/>
                </a:solidFill>
                <a:latin typeface="Arial"/>
              </a:rPr>
              <a:t>Write privately in the Career Stall Check. This is not the full assessment.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2423160"/>
            <a:ext cx="347472" cy="347472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91740"/>
            <a:ext cx="228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2386584"/>
            <a:ext cx="9601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2347"/>
                </a:solidFill>
                <a:latin typeface="Arial"/>
              </a:rPr>
              <a:t>Which sign is most present for me?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872" y="2715768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52B4C"/>
                </a:solidFill>
                <a:latin typeface="Arial"/>
              </a:rPr>
              <a:t>Repeating instead of stretching, indispensable but mainly here, or responsibility growing faster than capability.</a:t>
            </a:r>
          </a:p>
        </p:txBody>
      </p:sp>
      <p:sp>
        <p:nvSpPr>
          <p:cNvPr id="9" name="Oval 8"/>
          <p:cNvSpPr/>
          <p:nvPr/>
        </p:nvSpPr>
        <p:spPr>
          <a:xfrm>
            <a:off x="713232" y="3319272"/>
            <a:ext cx="347472" cy="347472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387852"/>
            <a:ext cx="228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3282696"/>
            <a:ext cx="9601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2347"/>
                </a:solidFill>
                <a:latin typeface="Arial"/>
              </a:rPr>
              <a:t>What is one example from the last 90 days?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3611879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52B4C"/>
                </a:solidFill>
                <a:latin typeface="Arial"/>
              </a:rPr>
              <a:t>Use a lived example, not a plan, promise, title, or feeling.</a:t>
            </a:r>
          </a:p>
        </p:txBody>
      </p:sp>
      <p:sp>
        <p:nvSpPr>
          <p:cNvPr id="13" name="Oval 12"/>
          <p:cNvSpPr/>
          <p:nvPr/>
        </p:nvSpPr>
        <p:spPr>
          <a:xfrm>
            <a:off x="713232" y="4215383"/>
            <a:ext cx="347472" cy="347472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283963"/>
            <a:ext cx="228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4178807"/>
            <a:ext cx="9601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2347"/>
                </a:solidFill>
                <a:latin typeface="Arial"/>
              </a:rPr>
              <a:t>What capability, learning, or future option may not be growing?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4507992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52B4C"/>
                </a:solidFill>
                <a:latin typeface="Arial"/>
              </a:rPr>
              <a:t>Name the specific thing, not a general sense that something is off.</a:t>
            </a:r>
          </a:p>
        </p:txBody>
      </p:sp>
      <p:sp>
        <p:nvSpPr>
          <p:cNvPr id="17" name="Oval 16"/>
          <p:cNvSpPr/>
          <p:nvPr/>
        </p:nvSpPr>
        <p:spPr>
          <a:xfrm>
            <a:off x="713232" y="5111496"/>
            <a:ext cx="347472" cy="347472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180076"/>
            <a:ext cx="228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61872" y="5074920"/>
            <a:ext cx="9601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2347"/>
                </a:solidFill>
                <a:latin typeface="Arial"/>
              </a:rPr>
              <a:t>What is the next question I need to investigate?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61872" y="5404104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52B4C"/>
                </a:solidFill>
                <a:latin typeface="Arial"/>
              </a:rPr>
              <a:t>The question you would need to read more carefully before making a bigger career decision.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464808"/>
            <a:ext cx="4937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i="0" spc="150">
                <a:solidFill>
                  <a:srgbClr val="0F2347"/>
                </a:solidFill>
                <a:latin typeface="Arial"/>
              </a:rPr>
              <a:t>TEMIDAYO AFONJA   |   TEMIDAYOAFONJA.COM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0" y="6464808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1" i="0">
                <a:solidFill>
                  <a:srgbClr val="0F2347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00">
                <a:solidFill>
                  <a:srgbClr val="C9A84C"/>
                </a:solidFill>
                <a:latin typeface="Arial"/>
              </a:rPr>
              <a:t>INTERPRET WITHOUT DIAGNOSING  ·  28:00–31:00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78992"/>
            <a:ext cx="9875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F2347"/>
                </a:solidFill>
                <a:latin typeface="Georgia"/>
              </a:rPr>
              <a:t>A recognition exercise is not a result.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76656" y="2194560"/>
            <a:ext cx="3931920" cy="2286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606040"/>
            <a:ext cx="97840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b="0" i="0">
                <a:solidFill>
                  <a:srgbClr val="152B4C"/>
                </a:solidFill>
                <a:latin typeface="Arial"/>
              </a:rPr>
              <a:t>If one sign felt familiar, that does not mean you should leave.</a:t>
            </a:r>
          </a:p>
          <a:p>
            <a:pPr algn="l">
              <a:lnSpc>
                <a:spcPct val="145000"/>
              </a:lnSpc>
            </a:pPr>
            <a:r>
              <a:rPr sz="1900" b="0" i="0">
                <a:solidFill>
                  <a:srgbClr val="152B4C"/>
                </a:solidFill>
                <a:latin typeface="Arial"/>
              </a:rPr>
              <a:t>If none felt familiar, that does not mean your role is fully compounding.</a:t>
            </a:r>
          </a:p>
          <a:p>
            <a:pPr algn="l">
              <a:lnSpc>
                <a:spcPct val="145000"/>
              </a:lnSpc>
            </a:pPr>
            <a:r>
              <a:rPr sz="1900" b="0" i="0">
                <a:solidFill>
                  <a:srgbClr val="152B4C"/>
                </a:solidFill>
                <a:latin typeface="Arial"/>
              </a:rPr>
              <a:t>Recognition tells you what may deserve examination.</a:t>
            </a:r>
          </a:p>
          <a:p>
            <a:pPr algn="l">
              <a:lnSpc>
                <a:spcPct val="145000"/>
              </a:lnSpc>
            </a:pPr>
            <a:r>
              <a:rPr sz="1900" b="0" i="0">
                <a:solidFill>
                  <a:srgbClr val="152B4C"/>
                </a:solidFill>
                <a:latin typeface="Arial"/>
              </a:rPr>
              <a:t>Assessment is what turns the observation into a more defensible read.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5074920"/>
            <a:ext cx="3931920" cy="2286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5257800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152B4C"/>
                </a:solidFill>
                <a:latin typeface="Arial"/>
              </a:rPr>
              <a:t>As routine output becomes easier to reproduce, the distinction between familiar performance and growing judgment becomes more consequential.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464808"/>
            <a:ext cx="4937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i="0" spc="150">
                <a:solidFill>
                  <a:srgbClr val="0F2347"/>
                </a:solidFill>
                <a:latin typeface="Arial"/>
              </a:rPr>
              <a:t>TEMIDAYO AFONJA   |   TEMIDAYOAFONJA.COM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64808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1" i="0">
                <a:solidFill>
                  <a:srgbClr val="0F2347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00">
                <a:solidFill>
                  <a:srgbClr val="C9A84C"/>
                </a:solidFill>
                <a:latin typeface="Arial"/>
              </a:rPr>
              <a:t>THIS WAS ONE PIECE  ·  31:00–32:30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371600"/>
            <a:ext cx="1042416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7"/>
                </a:solidFill>
                <a:latin typeface="Georgia"/>
              </a:rPr>
              <a:t>Recognition Is the</a:t>
            </a:r>
          </a:p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7"/>
                </a:solidFill>
                <a:latin typeface="Georgia"/>
              </a:rPr>
              <a:t>Beginning of the 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2697480"/>
            <a:ext cx="5166360" cy="2331720"/>
          </a:xfrm>
          <a:prstGeom prst="rect">
            <a:avLst/>
          </a:prstGeom>
          <a:solidFill>
            <a:srgbClr val="FB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45936" y="2697480"/>
            <a:ext cx="5166360" cy="2331720"/>
          </a:xfrm>
          <a:prstGeom prst="rect">
            <a:avLst/>
          </a:prstGeom>
          <a:solidFill>
            <a:srgbClr val="FB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88036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150">
                <a:solidFill>
                  <a:srgbClr val="C9A84C"/>
                </a:solidFill>
                <a:latin typeface="Arial"/>
              </a:rPr>
              <a:t>TODAY: RECOGNITION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3273552"/>
            <a:ext cx="46634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1" i="0">
                <a:solidFill>
                  <a:srgbClr val="0F2347"/>
                </a:solidFill>
                <a:latin typeface="Georgia"/>
              </a:rPr>
              <a:t>Repeated work.</a:t>
            </a:r>
          </a:p>
          <a:p>
            <a:pPr algn="l">
              <a:lnSpc>
                <a:spcPct val="140000"/>
              </a:lnSpc>
            </a:pPr>
            <a:r>
              <a:rPr sz="1900" b="1" i="0">
                <a:solidFill>
                  <a:srgbClr val="0F2347"/>
                </a:solidFill>
                <a:latin typeface="Georgia"/>
              </a:rPr>
              <a:t>Context-bound value.</a:t>
            </a:r>
          </a:p>
          <a:p>
            <a:pPr algn="l">
              <a:lnSpc>
                <a:spcPct val="140000"/>
              </a:lnSpc>
            </a:pPr>
            <a:r>
              <a:rPr sz="1900" b="1" i="0">
                <a:solidFill>
                  <a:srgbClr val="0F2347"/>
                </a:solidFill>
                <a:latin typeface="Georgia"/>
              </a:rPr>
              <a:t>Responsibility without capability expansion.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8803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100">
                <a:solidFill>
                  <a:srgbClr val="C1440E"/>
                </a:solidFill>
                <a:latin typeface="Arial"/>
              </a:rPr>
              <a:t>THE WORKSHOP: ASSESSMENT + DECISION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3273552"/>
            <a:ext cx="48463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0F2347"/>
                </a:solidFill>
                <a:latin typeface="Arial"/>
              </a:rPr>
              <a:t>The complete 12-statement initial read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0F2347"/>
                </a:solidFill>
                <a:latin typeface="Arial"/>
              </a:rPr>
              <a:t>Evidence correction and an evidence-backed second read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0F2347"/>
                </a:solidFill>
                <a:latin typeface="Arial"/>
              </a:rPr>
              <a:t>Provisional placement or boundary reading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0F2347"/>
                </a:solidFill>
                <a:latin typeface="Arial"/>
              </a:rPr>
              <a:t>One category of move to test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0F2347"/>
                </a:solidFill>
                <a:latin typeface="Arial"/>
              </a:rPr>
              <a:t>A completed Next-Move Decision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0F2347"/>
                </a:solidFill>
                <a:latin typeface="Arial"/>
              </a:rPr>
              <a:t>A 30-day evidence process and a 90-day rescore date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3035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152B4C"/>
                </a:solidFill>
                <a:latin typeface="Arial"/>
              </a:rPr>
              <a:t>The full Capability Position Read measures these patterns more rigorously through Density and Optionality.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7607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1">
                <a:solidFill>
                  <a:srgbClr val="0F2347"/>
                </a:solidFill>
                <a:latin typeface="Georgia"/>
              </a:rPr>
              <a:t>Most career advice begins after you decide to leave. This helps you determine whether leaving is even the right question.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64808"/>
            <a:ext cx="4937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i="0" spc="150">
                <a:solidFill>
                  <a:srgbClr val="0F2347"/>
                </a:solidFill>
                <a:latin typeface="Arial"/>
              </a:rPr>
              <a:t>TEMIDAYO AFONJA   |   TEMIDAYOAFONJA.COM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64808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1" i="0">
                <a:solidFill>
                  <a:srgbClr val="0F2347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00">
                <a:solidFill>
                  <a:srgbClr val="C9A84C"/>
                </a:solidFill>
                <a:latin typeface="Arial"/>
              </a:rPr>
              <a:t>INVITATION  ·  32:30–34:00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51560"/>
            <a:ext cx="87782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F5F0E8"/>
                </a:solidFill>
                <a:latin typeface="Georgia"/>
              </a:rPr>
              <a:t>Decide Whether to Stay</a:t>
            </a:r>
          </a:p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F5F0E8"/>
                </a:solidFill>
                <a:latin typeface="Georgia"/>
              </a:rPr>
              <a:t>or Leave Your Job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542032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F5F0E8"/>
                </a:solidFill>
                <a:latin typeface="Arial"/>
              </a:rPr>
              <a:t>A Live Career Growth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76656" y="3063240"/>
            <a:ext cx="4754880" cy="2286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3383280"/>
            <a:ext cx="6766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5F0E8"/>
                </a:solidFill>
                <a:latin typeface="Georgia"/>
              </a:rPr>
              <a:t>The Capability Position Read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977639"/>
            <a:ext cx="60350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5F0E8"/>
                </a:solidFill>
                <a:latin typeface="Arial"/>
              </a:rPr>
              <a:t>Two hours live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5F0E8"/>
                </a:solidFill>
                <a:latin typeface="Arial"/>
              </a:rPr>
              <a:t>105-minute guided Capability Position Read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5F0E8"/>
                </a:solidFill>
                <a:latin typeface="Arial"/>
              </a:rPr>
              <a:t>15-minute Q&amp;A and applications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5F0E8"/>
                </a:solidFill>
                <a:latin typeface="Arial"/>
              </a:rPr>
              <a:t>Field Kit included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5F0E8"/>
                </a:solidFill>
                <a:latin typeface="Arial"/>
              </a:rPr>
              <a:t>30-day evidence process, 90-day rescore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5F0E8"/>
                </a:solidFill>
                <a:latin typeface="Arial"/>
              </a:rPr>
              <a:t>15 seats  ·  $249 public launch 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321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F5F0E8"/>
                </a:solidFill>
                <a:latin typeface="Arial"/>
              </a:rPr>
              <a:t>You will not be told to quit. You will leave with a more defensible reading of your current position and the category of move your evidence supports testing.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080760"/>
            <a:ext cx="3108960" cy="41148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217920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5F0E8"/>
                </a:solidFill>
                <a:latin typeface="Arial"/>
              </a:rPr>
              <a:t>REGISTER — [URL PLACEHOLDER]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9640" y="3703320"/>
            <a:ext cx="1188720" cy="1188720"/>
          </a:xfrm>
          <a:prstGeom prst="rect">
            <a:avLst/>
          </a:prstGeom>
          <a:solidFill>
            <a:srgbClr val="F5F0E8"/>
          </a:solidFill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49640" y="422452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0F2347"/>
                </a:solidFill>
                <a:latin typeface="Arial"/>
              </a:rPr>
              <a:t>[QR CODE]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60807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A9B8D0"/>
                </a:solidFill>
                <a:latin typeface="Arial"/>
              </a:rPr>
              <a:t>Not ready for the full read? Subscribe to Capability Formation.
[Substack URL placeholder]  ·  [Substack QR placeholder]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64808"/>
            <a:ext cx="4937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i="0" spc="150">
                <a:solidFill>
                  <a:srgbClr val="F5F0E8"/>
                </a:solidFill>
                <a:latin typeface="Arial"/>
              </a:rPr>
              <a:t>TEMIDAYO AFONJA   |   TEMIDAYOAFONJA.COM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64808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1" i="0">
                <a:solidFill>
                  <a:srgbClr val="F5F0E8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00">
                <a:solidFill>
                  <a:srgbClr val="C9A84C"/>
                </a:solidFill>
                <a:latin typeface="Arial"/>
              </a:rPr>
              <a:t>Q&amp;A  ·  34:00–45:00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97280"/>
            <a:ext cx="9875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F2347"/>
                </a:solidFill>
                <a:latin typeface="Georgia"/>
              </a:rPr>
              <a:t>Eleven minutes for questions.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810512"/>
            <a:ext cx="9509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B4C"/>
                </a:solidFill>
                <a:latin typeface="Arial"/>
              </a:rPr>
              <a:t>Questions about the ideas are welcome. Personal readings belong in the full workshop.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2423160"/>
            <a:ext cx="347472" cy="347472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91740"/>
            <a:ext cx="228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2386584"/>
            <a:ext cx="9601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2347"/>
                </a:solidFill>
                <a:latin typeface="Arial"/>
              </a:rPr>
              <a:t>Good Q&amp;A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872" y="2715768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52B4C"/>
                </a:solidFill>
                <a:latin typeface="Arial"/>
              </a:rPr>
              <a:t>How do I tell the difference between performance and formation? What does portability mean? What kind of evidence counts?</a:t>
            </a:r>
          </a:p>
        </p:txBody>
      </p:sp>
      <p:sp>
        <p:nvSpPr>
          <p:cNvPr id="9" name="Oval 8"/>
          <p:cNvSpPr/>
          <p:nvPr/>
        </p:nvSpPr>
        <p:spPr>
          <a:xfrm>
            <a:off x="713232" y="3502152"/>
            <a:ext cx="347472" cy="347472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570732"/>
            <a:ext cx="228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3465576"/>
            <a:ext cx="9601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2347"/>
                </a:solidFill>
                <a:latin typeface="Arial"/>
              </a:rPr>
              <a:t>Questions to redirect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3794760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52B4C"/>
                </a:solidFill>
                <a:latin typeface="Arial"/>
              </a:rPr>
              <a:t>Should I leave? What state am I in? What should I do about my manager? Can you score my situation?</a:t>
            </a:r>
          </a:p>
        </p:txBody>
      </p:sp>
      <p:sp>
        <p:nvSpPr>
          <p:cNvPr id="13" name="Oval 12"/>
          <p:cNvSpPr/>
          <p:nvPr/>
        </p:nvSpPr>
        <p:spPr>
          <a:xfrm>
            <a:off x="713232" y="4581144"/>
            <a:ext cx="347472" cy="347472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649724"/>
            <a:ext cx="228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4544568"/>
            <a:ext cx="9601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2347"/>
                </a:solidFill>
                <a:latin typeface="Arial"/>
              </a:rPr>
              <a:t>Boundary 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4873752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52B4C"/>
                </a:solidFill>
                <a:latin typeface="Arial"/>
              </a:rPr>
              <a:t>I can help you clarify what the pattern suggests examining. I cannot make the employment decision for you.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5989320"/>
            <a:ext cx="10881360" cy="502920"/>
          </a:xfrm>
          <a:prstGeom prst="rect">
            <a:avLst/>
          </a:prstGeom>
          <a:solidFill>
            <a:srgbClr val="0F2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6126480"/>
            <a:ext cx="10424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A84C"/>
                </a:solidFill>
                <a:latin typeface="Arial"/>
              </a:rPr>
              <a:t>REGISTRATION STILL OPEN — Decide Whether to Stay or Leave Your Job  ·  [URL PLACEHOLDER]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64808"/>
            <a:ext cx="4937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i="0" spc="150">
                <a:solidFill>
                  <a:srgbClr val="0F2347"/>
                </a:solidFill>
                <a:latin typeface="Arial"/>
              </a:rPr>
              <a:t>TEMIDAYO AFONJA   |   TEMIDAYOAFONJA.COM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64808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1" i="0">
                <a:solidFill>
                  <a:srgbClr val="0F2347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00">
                <a:solidFill>
                  <a:srgbClr val="C1440E"/>
                </a:solidFill>
                <a:latin typeface="Arial"/>
              </a:rPr>
              <a:t>APPENDIX  ·  NOT PART OF THE 45-MINUTE SESSION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97280"/>
            <a:ext cx="10058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F2347"/>
                </a:solidFill>
                <a:latin typeface="Georgia"/>
              </a:rPr>
              <a:t>What AI Changes About This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828800"/>
            <a:ext cx="9509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52B4C"/>
                </a:solidFill>
                <a:latin typeface="Arial"/>
              </a:rPr>
              <a:t>An application of the reading, not a technology lesson.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76656" y="2651760"/>
            <a:ext cx="3931920" cy="2286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971800"/>
            <a:ext cx="987552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 i="0">
                <a:solidFill>
                  <a:srgbClr val="152B4C"/>
                </a:solidFill>
                <a:latin typeface="Arial"/>
              </a:rPr>
              <a:t>Where AI makes routine output easier to reproduce, your position depends more heavily on judgment, learning velocity, and capability that travels across unfamiliar problems.</a:t>
            </a:r>
          </a:p>
          <a:p>
            <a:pPr algn="l">
              <a:lnSpc>
                <a:spcPct val="150000"/>
              </a:lnSpc>
            </a:pPr>
            <a:r>
              <a:rPr sz="1800" b="0" i="0">
                <a:solidFill>
                  <a:srgbClr val="152B4C"/>
                </a:solidFill>
                <a:latin typeface="Arial"/>
              </a:rPr>
              <a:t>Density and Optionality do not become less important.</a:t>
            </a:r>
          </a:p>
          <a:p>
            <a:pPr algn="l">
              <a:lnSpc>
                <a:spcPct val="150000"/>
              </a:lnSpc>
            </a:pPr>
            <a:r>
              <a:rPr sz="1800" b="0" i="0">
                <a:solidFill>
                  <a:srgbClr val="152B4C"/>
                </a:solidFill>
                <a:latin typeface="Arial"/>
              </a:rPr>
              <a:t>They become more consequential.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5394960"/>
            <a:ext cx="9875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52B4C"/>
                </a:solidFill>
                <a:latin typeface="Arial"/>
              </a:rPr>
              <a:t>Optional leave-behind slide. Present only if time and audience interest allow; not counted in the 45-minute core.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464808"/>
            <a:ext cx="4937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i="0" spc="150">
                <a:solidFill>
                  <a:srgbClr val="0F2347"/>
                </a:solidFill>
                <a:latin typeface="Arial"/>
              </a:rPr>
              <a:t>TEMIDAYO AFONJA   |   TEMIDAYOAFONJA.COM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64808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1" i="0">
                <a:solidFill>
                  <a:srgbClr val="0F2347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