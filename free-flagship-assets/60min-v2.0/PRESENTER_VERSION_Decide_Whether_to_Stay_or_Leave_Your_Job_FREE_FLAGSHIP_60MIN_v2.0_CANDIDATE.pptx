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3:30-5:00. NINETY SECONDS.
FACILITATION: define it, then say the not-a-verdict line as written. Do not rank the causes and do not imply one is more common than another — this session has no measurement that supports a prevalence claim.
Next slide begins the private scoring. Tell the room to have the workbook open at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Say the boundary out loud: this is an operational convention, not a statistical confidence interval, and it carries no margin of error. Boundary and incomplete are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three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system to keep working with. And some of you can read the position but the decision is still complicated.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Thirty seconds per route.
FACILITATION: thirty seconds each, then move. If you are behind, this is the first slide to shorten.
This slide merges what were two separate product slides. Name each route, say what it is for, and move. This is not a sales presentation.
Do not describe the Field Kit as more worksheets, as the complete version of tonight, as required, or as included. Do not call the Private Read coaching, consulting, a package, "starting at" anything, or "$500+".
The cover image is a real page from the shipped Field Kit, not a mockup.
CURRENT INTERNAL PRICING SOURCE OF TRUTH — Field Kit: $150. Private Capability Position Read: $500.
EVERGREEN RECORDING RULE: do not state pricing into the permanent replay unless the current live purchase route AND price have been verified immediately before delivery. Price and availability go through the live chat, the current product route and follow-up communications. NO PRICE APPEARS ON THIS SLIDE FACE BY DESIGN.
No discount, no attendee price, no coupon, no bundle, no crossed-out price, no "normally $500", no urgency, no automatic credit between products.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16", or "before enrollment closes". This has to work for someone watching the replay months from now.
AT 50:00 — STOP OR PAUSE THE RECORDING BEFORE ADVANCING. Look at the screen and confirm it has actually stopped. If the platform records the whole meeting automatically, keep the raw file private and trim the distributed replay to end here.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offer the Private Read as the route — briefly, without pitching.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304288"/>
            <a:ext cx="3474720" cy="822960"/>
          </a:xfrm>
          <a:prstGeom prst="rect">
            <a:avLst/>
          </a:prstGeom>
          <a:noFill/>
          <a:ln/>
        </p:spPr>
        <p:txBody>
          <a:bodyPr wrap="square" lIns="0" tIns="0" rIns="0" bIns="0" rtlCol="0" anchor="ctr"/>
          <a:lstStyle/>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700" dirty="0"/>
          </a:p>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7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55648"/>
            <a:ext cx="8010144" cy="822960"/>
          </a:xfrm>
          <a:prstGeom prst="rect">
            <a:avLst/>
          </a:prstGeom>
          <a:solidFill>
            <a:srgbClr val="E9EDF3"/>
          </a:solidFill>
          <a:ln/>
        </p:spPr>
      </p:sp>
      <p:sp>
        <p:nvSpPr>
          <p:cNvPr id="6" name="Shape 4"/>
          <p:cNvSpPr/>
          <p:nvPr/>
        </p:nvSpPr>
        <p:spPr>
          <a:xfrm>
            <a:off x="566928" y="1755648"/>
            <a:ext cx="41148" cy="822960"/>
          </a:xfrm>
          <a:prstGeom prst="rect">
            <a:avLst/>
          </a:prstGeom>
          <a:solidFill>
            <a:srgbClr val="C9A84C"/>
          </a:solidFill>
          <a:ln/>
        </p:spPr>
      </p:sp>
      <p:sp>
        <p:nvSpPr>
          <p:cNvPr id="7" name="Text 5"/>
          <p:cNvSpPr/>
          <p:nvPr/>
        </p:nvSpPr>
        <p:spPr>
          <a:xfrm>
            <a:off x="804672" y="181965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202996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4028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51760"/>
            <a:ext cx="8010144" cy="822960"/>
          </a:xfrm>
          <a:prstGeom prst="rect">
            <a:avLst/>
          </a:prstGeom>
          <a:solidFill>
            <a:srgbClr val="E9EDF3"/>
          </a:solidFill>
          <a:ln/>
        </p:spPr>
      </p:sp>
      <p:sp>
        <p:nvSpPr>
          <p:cNvPr id="11" name="Shape 9"/>
          <p:cNvSpPr/>
          <p:nvPr/>
        </p:nvSpPr>
        <p:spPr>
          <a:xfrm>
            <a:off x="566928" y="2651760"/>
            <a:ext cx="41148" cy="822960"/>
          </a:xfrm>
          <a:prstGeom prst="rect">
            <a:avLst/>
          </a:prstGeom>
          <a:solidFill>
            <a:srgbClr val="C9A84C"/>
          </a:solidFill>
          <a:ln/>
        </p:spPr>
      </p:sp>
      <p:sp>
        <p:nvSpPr>
          <p:cNvPr id="12" name="Text 10"/>
          <p:cNvSpPr/>
          <p:nvPr/>
        </p:nvSpPr>
        <p:spPr>
          <a:xfrm>
            <a:off x="804672" y="2715768"/>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926080"/>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36392"/>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47872"/>
            <a:ext cx="8010144" cy="822960"/>
          </a:xfrm>
          <a:prstGeom prst="rect">
            <a:avLst/>
          </a:prstGeom>
          <a:solidFill>
            <a:srgbClr val="E9EDF3"/>
          </a:solidFill>
          <a:ln/>
        </p:spPr>
      </p:sp>
      <p:sp>
        <p:nvSpPr>
          <p:cNvPr id="16" name="Shape 14"/>
          <p:cNvSpPr/>
          <p:nvPr/>
        </p:nvSpPr>
        <p:spPr>
          <a:xfrm>
            <a:off x="566928" y="3547872"/>
            <a:ext cx="41148" cy="822960"/>
          </a:xfrm>
          <a:prstGeom prst="rect">
            <a:avLst/>
          </a:prstGeom>
          <a:solidFill>
            <a:srgbClr val="C9A84C"/>
          </a:solidFill>
          <a:ln/>
        </p:spPr>
      </p:sp>
      <p:sp>
        <p:nvSpPr>
          <p:cNvPr id="17" name="Text 15"/>
          <p:cNvSpPr/>
          <p:nvPr/>
        </p:nvSpPr>
        <p:spPr>
          <a:xfrm>
            <a:off x="804672" y="36118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221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325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crosses 19 or touches 17 to 21, do not force one state. Read both neighbouring states.</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80560"/>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17 to 21 remains the boundary band on either axis. An operational convention, not a statistical confidence interval.</a:t>
            </a:r>
            <a:endParaRPr lang="en-US" sz="94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against the number you wrote at minute 13.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immediate cost only.</a:t>
            </a:r>
            <a:endParaRPr lang="en-US" sz="1150" dirty="0"/>
          </a:p>
        </p:txBody>
      </p:sp>
      <p:sp>
        <p:nvSpPr>
          <p:cNvPr id="5" name="Shape 3"/>
          <p:cNvSpPr/>
          <p:nvPr/>
        </p:nvSpPr>
        <p:spPr>
          <a:xfrm>
            <a:off x="566928" y="1883664"/>
            <a:ext cx="2148840" cy="457200"/>
          </a:xfrm>
          <a:prstGeom prst="rect">
            <a:avLst/>
          </a:prstGeom>
          <a:solidFill>
            <a:srgbClr val="0F2347"/>
          </a:solidFill>
          <a:ln/>
        </p:spPr>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 the hidden cost, the cost of waiting, and the false reassurance that keeps you there — is downstream work, not tonight's.</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767328" y="175564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767328" y="212140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767328" y="248716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767328" y="285292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767328" y="321868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767328" y="358444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767328" y="395020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sp>
      <p:sp>
        <p:nvSpPr>
          <p:cNvPr id="6" name="Shape 4"/>
          <p:cNvSpPr/>
          <p:nvPr/>
        </p:nvSpPr>
        <p:spPr>
          <a:xfrm>
            <a:off x="566928" y="1847088"/>
            <a:ext cx="41148" cy="658368"/>
          </a:xfrm>
          <a:prstGeom prst="rect">
            <a:avLst/>
          </a:prstGeom>
          <a:solidFill>
            <a:srgbClr val="C9A84C"/>
          </a:solidFill>
          <a:ln/>
        </p:spPr>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sp>
      <p:sp>
        <p:nvSpPr>
          <p:cNvPr id="12" name="Shape 10"/>
          <p:cNvSpPr/>
          <p:nvPr/>
        </p:nvSpPr>
        <p:spPr>
          <a:xfrm>
            <a:off x="566928" y="2596896"/>
            <a:ext cx="41148" cy="658368"/>
          </a:xfrm>
          <a:prstGeom prst="rect">
            <a:avLst/>
          </a:prstGeom>
          <a:solidFill>
            <a:srgbClr val="C9A84C"/>
          </a:solidFill>
          <a:ln/>
        </p:spPr>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sp>
      <p:sp>
        <p:nvSpPr>
          <p:cNvPr id="18" name="Shape 16"/>
          <p:cNvSpPr/>
          <p:nvPr/>
        </p:nvSpPr>
        <p:spPr>
          <a:xfrm>
            <a:off x="566928" y="3346704"/>
            <a:ext cx="41148" cy="658368"/>
          </a:xfrm>
          <a:prstGeom prst="rect">
            <a:avLst/>
          </a:prstGeom>
          <a:solidFill>
            <a:srgbClr val="C9A84C"/>
          </a:solidFill>
          <a:ln/>
        </p:spPr>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810512"/>
            <a:ext cx="8010144" cy="768096"/>
          </a:xfrm>
          <a:prstGeom prst="rect">
            <a:avLst/>
          </a:prstGeom>
          <a:solidFill>
            <a:srgbClr val="E9EDF3"/>
          </a:solidFill>
          <a:ln/>
        </p:spPr>
      </p:sp>
      <p:sp>
        <p:nvSpPr>
          <p:cNvPr id="6" name="Shape 4"/>
          <p:cNvSpPr/>
          <p:nvPr/>
        </p:nvSpPr>
        <p:spPr>
          <a:xfrm>
            <a:off x="749808" y="1956816"/>
            <a:ext cx="292608" cy="292608"/>
          </a:xfrm>
          <a:prstGeom prst="rect">
            <a:avLst/>
          </a:prstGeom>
          <a:solidFill>
            <a:srgbClr val="0F2347"/>
          </a:solidFill>
          <a:ln/>
        </p:spPr>
      </p:sp>
      <p:sp>
        <p:nvSpPr>
          <p:cNvPr id="7" name="Text 5"/>
          <p:cNvSpPr/>
          <p:nvPr/>
        </p:nvSpPr>
        <p:spPr>
          <a:xfrm>
            <a:off x="749808" y="1956816"/>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83664"/>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121408"/>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331720"/>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670048"/>
            <a:ext cx="8010144" cy="768096"/>
          </a:xfrm>
          <a:prstGeom prst="rect">
            <a:avLst/>
          </a:prstGeom>
          <a:solidFill>
            <a:srgbClr val="E9EDF3"/>
          </a:solidFill>
          <a:ln/>
        </p:spPr>
      </p:sp>
      <p:sp>
        <p:nvSpPr>
          <p:cNvPr id="12" name="Shape 10"/>
          <p:cNvSpPr/>
          <p:nvPr/>
        </p:nvSpPr>
        <p:spPr>
          <a:xfrm>
            <a:off x="749808" y="2816352"/>
            <a:ext cx="292608" cy="292608"/>
          </a:xfrm>
          <a:prstGeom prst="rect">
            <a:avLst/>
          </a:prstGeom>
          <a:solidFill>
            <a:srgbClr val="0F2347"/>
          </a:solidFill>
          <a:ln/>
        </p:spPr>
      </p:sp>
      <p:sp>
        <p:nvSpPr>
          <p:cNvPr id="13" name="Text 11"/>
          <p:cNvSpPr/>
          <p:nvPr/>
        </p:nvSpPr>
        <p:spPr>
          <a:xfrm>
            <a:off x="749808" y="281635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43200"/>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191256"/>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Shape 15"/>
          <p:cNvSpPr/>
          <p:nvPr/>
        </p:nvSpPr>
        <p:spPr>
          <a:xfrm>
            <a:off x="566928" y="3529584"/>
            <a:ext cx="8010144" cy="768096"/>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02736"/>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350" dirty="0"/>
          </a:p>
        </p:txBody>
      </p:sp>
      <p:sp>
        <p:nvSpPr>
          <p:cNvPr id="21" name="Text 19"/>
          <p:cNvSpPr/>
          <p:nvPr/>
        </p:nvSpPr>
        <p:spPr>
          <a:xfrm>
            <a:off x="1188720" y="3840480"/>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20" dirty="0"/>
          </a:p>
        </p:txBody>
      </p:sp>
      <p:sp>
        <p:nvSpPr>
          <p:cNvPr id="22" name="Text 20"/>
          <p:cNvSpPr/>
          <p:nvPr/>
        </p:nvSpPr>
        <p:spPr>
          <a:xfrm>
            <a:off x="1188720" y="4050792"/>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The evidence is clearer, but your context, constraints or stakes still need working through.</a:t>
            </a:r>
            <a:endParaRPr lang="en-US" sz="1000" dirty="0"/>
          </a:p>
        </p:txBody>
      </p:sp>
      <p:sp>
        <p:nvSpPr>
          <p:cNvPr id="23" name="Text 21"/>
          <p:cNvSpPr/>
          <p:nvPr/>
        </p:nvSpPr>
        <p:spPr>
          <a:xfrm>
            <a:off x="566928" y="44439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TWO ROUTES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Continue privately, or apply the reading to the decision</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session is complete on its own. Neither route is required.</a:t>
            </a:r>
            <a:endParaRPr lang="en-US" sz="1150" dirty="0"/>
          </a:p>
        </p:txBody>
      </p:sp>
      <p:sp>
        <p:nvSpPr>
          <p:cNvPr id="5" name="Shape 3"/>
          <p:cNvSpPr/>
          <p:nvPr/>
        </p:nvSpPr>
        <p:spPr>
          <a:xfrm>
            <a:off x="566928" y="1847088"/>
            <a:ext cx="4114800" cy="2212848"/>
          </a:xfrm>
          <a:prstGeom prst="rect">
            <a:avLst/>
          </a:prstGeom>
          <a:solidFill>
            <a:srgbClr val="E9EDF3"/>
          </a:solidFill>
          <a:ln/>
        </p:spPr>
      </p:sp>
      <p:sp>
        <p:nvSpPr>
          <p:cNvPr id="6" name="Text 4"/>
          <p:cNvSpPr/>
          <p:nvPr/>
        </p:nvSpPr>
        <p:spPr>
          <a:xfrm>
            <a:off x="804672" y="1993392"/>
            <a:ext cx="265176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SELF-GUIDED</a:t>
            </a:r>
            <a:endParaRPr lang="en-US" sz="820" dirty="0"/>
          </a:p>
        </p:txBody>
      </p:sp>
      <p:sp>
        <p:nvSpPr>
          <p:cNvPr id="7" name="Text 5"/>
          <p:cNvSpPr/>
          <p:nvPr/>
        </p:nvSpPr>
        <p:spPr>
          <a:xfrm>
            <a:off x="804672" y="2212848"/>
            <a:ext cx="2651760" cy="566928"/>
          </a:xfrm>
          <a:prstGeom prst="rect">
            <a:avLst/>
          </a:prstGeom>
          <a:noFill/>
          <a:ln/>
        </p:spPr>
        <p:txBody>
          <a:bodyPr wrap="square" lIns="0" tIns="0" rIns="0" bIns="0" rtlCol="0" anchor="ctr"/>
          <a:lstStyle/>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Capability Formation</a:t>
            </a:r>
            <a:endParaRPr lang="en-US" sz="1800" dirty="0"/>
          </a:p>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Field Kit</a:t>
            </a:r>
            <a:endParaRPr lang="en-US" sz="1800" dirty="0"/>
          </a:p>
        </p:txBody>
      </p:sp>
      <p:sp>
        <p:nvSpPr>
          <p:cNvPr id="8" name="Text 6"/>
          <p:cNvSpPr/>
          <p:nvPr/>
        </p:nvSpPr>
        <p:spPr>
          <a:xfrm>
            <a:off x="804672" y="2798064"/>
            <a:ext cx="2651760" cy="402336"/>
          </a:xfrm>
          <a:prstGeom prst="rect">
            <a:avLst/>
          </a:prstGeom>
          <a:noFill/>
          <a:ln/>
        </p:spPr>
        <p:txBody>
          <a:bodyPr wrap="square" lIns="0" tIns="0" rIns="0" bIns="0" rtlCol="0" anchor="ctr"/>
          <a:lstStyle/>
          <a:p>
            <a:pPr indent="0" marL="0">
              <a:lnSpc>
                <a:spcPts val="1250"/>
              </a:lnSpc>
              <a:buNone/>
            </a:pPr>
            <a:r>
              <a:rPr lang="en-US" sz="980" dirty="0">
                <a:solidFill>
                  <a:srgbClr val="0F2347"/>
                </a:solidFill>
                <a:latin typeface="DM Sans" pitchFamily="34" charset="0"/>
                <a:ea typeface="DM Sans" pitchFamily="34" charset="-122"/>
                <a:cs typeface="DM Sans" pitchFamily="34" charset="-120"/>
              </a:rPr>
              <a:t>Private, self-guided continuation of the same evidence discipline.</a:t>
            </a:r>
            <a:endParaRPr lang="en-US" sz="980" dirty="0"/>
          </a:p>
        </p:txBody>
      </p:sp>
      <p:sp>
        <p:nvSpPr>
          <p:cNvPr id="9" name="Shape 7"/>
          <p:cNvSpPr/>
          <p:nvPr/>
        </p:nvSpPr>
        <p:spPr>
          <a:xfrm>
            <a:off x="804672" y="3300984"/>
            <a:ext cx="64008" cy="64008"/>
          </a:xfrm>
          <a:prstGeom prst="rect">
            <a:avLst/>
          </a:prstGeom>
          <a:solidFill>
            <a:srgbClr val="C9A84C"/>
          </a:solidFill>
          <a:ln/>
        </p:spPr>
      </p:sp>
      <p:sp>
        <p:nvSpPr>
          <p:cNvPr id="10" name="Text 8"/>
          <p:cNvSpPr/>
          <p:nvPr/>
        </p:nvSpPr>
        <p:spPr>
          <a:xfrm>
            <a:off x="969264" y="3255264"/>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Fuller state-cost work</a:t>
            </a:r>
            <a:endParaRPr lang="en-US" sz="940" dirty="0"/>
          </a:p>
        </p:txBody>
      </p:sp>
      <p:sp>
        <p:nvSpPr>
          <p:cNvPr id="11" name="Shape 9"/>
          <p:cNvSpPr/>
          <p:nvPr/>
        </p:nvSpPr>
        <p:spPr>
          <a:xfrm>
            <a:off x="804672" y="3493008"/>
            <a:ext cx="64008" cy="64008"/>
          </a:xfrm>
          <a:prstGeom prst="rect">
            <a:avLst/>
          </a:prstGeom>
          <a:solidFill>
            <a:srgbClr val="C9A84C"/>
          </a:solidFill>
          <a:ln/>
        </p:spPr>
      </p:sp>
      <p:sp>
        <p:nvSpPr>
          <p:cNvPr id="12" name="Text 10"/>
          <p:cNvSpPr/>
          <p:nvPr/>
        </p:nvSpPr>
        <p:spPr>
          <a:xfrm>
            <a:off x="969264" y="3447288"/>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repeatable private evidence process</a:t>
            </a:r>
            <a:endParaRPr lang="en-US" sz="940" dirty="0"/>
          </a:p>
        </p:txBody>
      </p:sp>
      <p:sp>
        <p:nvSpPr>
          <p:cNvPr id="13" name="Shape 11"/>
          <p:cNvSpPr/>
          <p:nvPr/>
        </p:nvSpPr>
        <p:spPr>
          <a:xfrm>
            <a:off x="804672" y="3685032"/>
            <a:ext cx="64008" cy="64008"/>
          </a:xfrm>
          <a:prstGeom prst="rect">
            <a:avLst/>
          </a:prstGeom>
          <a:solidFill>
            <a:srgbClr val="C9A84C"/>
          </a:solidFill>
          <a:ln/>
        </p:spPr>
      </p:sp>
      <p:sp>
        <p:nvSpPr>
          <p:cNvPr id="14" name="Text 12"/>
          <p:cNvSpPr/>
          <p:nvPr/>
        </p:nvSpPr>
        <p:spPr>
          <a:xfrm>
            <a:off x="969264" y="3639312"/>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structured rescore</a:t>
            </a:r>
            <a:endParaRPr lang="en-US" sz="940" dirty="0"/>
          </a:p>
        </p:txBody>
      </p:sp>
      <p:sp>
        <p:nvSpPr>
          <p:cNvPr id="15" name="Shape 13"/>
          <p:cNvSpPr/>
          <p:nvPr/>
        </p:nvSpPr>
        <p:spPr>
          <a:xfrm>
            <a:off x="804672" y="3877056"/>
            <a:ext cx="64008" cy="64008"/>
          </a:xfrm>
          <a:prstGeom prst="rect">
            <a:avLst/>
          </a:prstGeom>
          <a:solidFill>
            <a:srgbClr val="C9A84C"/>
          </a:solidFill>
          <a:ln/>
        </p:spPr>
      </p:sp>
      <p:sp>
        <p:nvSpPr>
          <p:cNvPr id="16" name="Text 14"/>
          <p:cNvSpPr/>
          <p:nvPr/>
        </p:nvSpPr>
        <p:spPr>
          <a:xfrm>
            <a:off x="969264" y="3831336"/>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system you own and return to</a:t>
            </a:r>
            <a:endParaRPr lang="en-US" sz="940" dirty="0"/>
          </a:p>
        </p:txBody>
      </p:sp>
      <p:pic>
        <p:nvPicPr>
          <p:cNvPr id="17" name="Image 0" descr="preencoded.png">    </p:cNvPr>
          <p:cNvPicPr>
            <a:picLocks noChangeAspect="1"/>
          </p:cNvPicPr>
          <p:nvPr/>
        </p:nvPicPr>
        <p:blipFill>
          <a:blip r:embed="rId1"/>
          <a:stretch>
            <a:fillRect/>
          </a:stretch>
        </p:blipFill>
        <p:spPr>
          <a:xfrm>
            <a:off x="3639312" y="2103120"/>
            <a:ext cx="877824" cy="1135685"/>
          </a:xfrm>
          <a:prstGeom prst="rect">
            <a:avLst/>
          </a:prstGeom>
        </p:spPr>
      </p:pic>
      <p:sp>
        <p:nvSpPr>
          <p:cNvPr id="18" name="Text 15"/>
          <p:cNvSpPr/>
          <p:nvPr/>
        </p:nvSpPr>
        <p:spPr>
          <a:xfrm>
            <a:off x="3566160" y="3291840"/>
            <a:ext cx="1024128" cy="182880"/>
          </a:xfrm>
          <a:prstGeom prst="rect">
            <a:avLst/>
          </a:prstGeom>
          <a:noFill/>
          <a:ln/>
        </p:spPr>
        <p:txBody>
          <a:bodyPr wrap="square" lIns="0" tIns="0" rIns="0" bIns="0" rtlCol="0" anchor="ctr"/>
          <a:lstStyle/>
          <a:p>
            <a:pPr algn="ctr" indent="0" marL="0">
              <a:buNone/>
            </a:pPr>
            <a:r>
              <a:rPr lang="en-US" sz="740" i="1" dirty="0">
                <a:solidFill>
                  <a:srgbClr val="5A6B84"/>
                </a:solidFill>
                <a:latin typeface="DM Sans" pitchFamily="34" charset="0"/>
                <a:ea typeface="DM Sans" pitchFamily="34" charset="-122"/>
                <a:cs typeface="DM Sans" pitchFamily="34" charset="-120"/>
              </a:rPr>
              <a:t>The shipped kit</a:t>
            </a:r>
            <a:endParaRPr lang="en-US" sz="740" dirty="0"/>
          </a:p>
        </p:txBody>
      </p:sp>
      <p:sp>
        <p:nvSpPr>
          <p:cNvPr id="19" name="Shape 16"/>
          <p:cNvSpPr/>
          <p:nvPr/>
        </p:nvSpPr>
        <p:spPr>
          <a:xfrm>
            <a:off x="4846320" y="1847088"/>
            <a:ext cx="3730752" cy="2212848"/>
          </a:xfrm>
          <a:prstGeom prst="rect">
            <a:avLst/>
          </a:prstGeom>
          <a:solidFill>
            <a:srgbClr val="0F2347"/>
          </a:solidFill>
          <a:ln/>
        </p:spPr>
      </p:sp>
      <p:sp>
        <p:nvSpPr>
          <p:cNvPr id="20" name="Text 17"/>
          <p:cNvSpPr/>
          <p:nvPr/>
        </p:nvSpPr>
        <p:spPr>
          <a:xfrm>
            <a:off x="5084064" y="1993392"/>
            <a:ext cx="301752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HIGH-TOUCH</a:t>
            </a:r>
            <a:endParaRPr lang="en-US" sz="820" dirty="0"/>
          </a:p>
        </p:txBody>
      </p:sp>
      <p:sp>
        <p:nvSpPr>
          <p:cNvPr id="21" name="Text 18"/>
          <p:cNvSpPr/>
          <p:nvPr/>
        </p:nvSpPr>
        <p:spPr>
          <a:xfrm>
            <a:off x="5084064" y="2212848"/>
            <a:ext cx="3108960" cy="566928"/>
          </a:xfrm>
          <a:prstGeom prst="rect">
            <a:avLst/>
          </a:prstGeom>
          <a:noFill/>
          <a:ln/>
        </p:spPr>
        <p:txBody>
          <a:bodyPr wrap="square" lIns="0" tIns="0" rIns="0" bIns="0" rtlCol="0" anchor="ctr"/>
          <a:lstStyle/>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Private Capability</a:t>
            </a:r>
            <a:endParaRPr lang="en-US" sz="1800" dirty="0"/>
          </a:p>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Position Read</a:t>
            </a:r>
            <a:endParaRPr lang="en-US" sz="1800" dirty="0"/>
          </a:p>
        </p:txBody>
      </p:sp>
      <p:sp>
        <p:nvSpPr>
          <p:cNvPr id="22" name="Text 19"/>
          <p:cNvSpPr/>
          <p:nvPr/>
        </p:nvSpPr>
        <p:spPr>
          <a:xfrm>
            <a:off x="5084064" y="2798064"/>
            <a:ext cx="3108960" cy="402336"/>
          </a:xfrm>
          <a:prstGeom prst="rect">
            <a:avLst/>
          </a:prstGeom>
          <a:noFill/>
          <a:ln/>
        </p:spPr>
        <p:txBody>
          <a:bodyPr wrap="square" lIns="0" tIns="0" rIns="0" bIns="0" rtlCol="0" anchor="ctr"/>
          <a:lstStyle/>
          <a:p>
            <a:pPr indent="0" marL="0">
              <a:lnSpc>
                <a:spcPts val="1250"/>
              </a:lnSpc>
              <a:buNone/>
            </a:pPr>
            <a:r>
              <a:rPr lang="en-US" sz="980" dirty="0">
                <a:solidFill>
                  <a:srgbClr val="B8C5D9"/>
                </a:solidFill>
                <a:latin typeface="DM Sans" pitchFamily="34" charset="0"/>
                <a:ea typeface="DM Sans" pitchFamily="34" charset="-122"/>
                <a:cs typeface="DM Sans" pitchFamily="34" charset="-120"/>
              </a:rPr>
              <a:t>One-to-one application of your read to the decision actually in front of you.</a:t>
            </a:r>
            <a:endParaRPr lang="en-US" sz="980" dirty="0"/>
          </a:p>
        </p:txBody>
      </p:sp>
      <p:sp>
        <p:nvSpPr>
          <p:cNvPr id="23" name="Shape 20"/>
          <p:cNvSpPr/>
          <p:nvPr/>
        </p:nvSpPr>
        <p:spPr>
          <a:xfrm>
            <a:off x="5084064" y="3273552"/>
            <a:ext cx="777240" cy="18288"/>
          </a:xfrm>
          <a:prstGeom prst="rect">
            <a:avLst/>
          </a:prstGeom>
          <a:solidFill>
            <a:srgbClr val="C9A84C"/>
          </a:solidFill>
          <a:ln/>
        </p:spPr>
      </p:sp>
      <p:sp>
        <p:nvSpPr>
          <p:cNvPr id="24" name="Text 21"/>
          <p:cNvSpPr/>
          <p:nvPr/>
        </p:nvSpPr>
        <p:spPr>
          <a:xfrm>
            <a:off x="5084064" y="3383280"/>
            <a:ext cx="3108960" cy="457200"/>
          </a:xfrm>
          <a:prstGeom prst="rect">
            <a:avLst/>
          </a:prstGeom>
          <a:noFill/>
          <a:ln/>
        </p:spPr>
        <p:txBody>
          <a:bodyPr wrap="square" lIns="0" tIns="0" rIns="0" bIns="0" rtlCol="0" anchor="ctr"/>
          <a:lstStyle/>
          <a:p>
            <a:pPr indent="0" marL="0">
              <a:lnSpc>
                <a:spcPts val="2000"/>
              </a:lnSpc>
              <a:buNone/>
            </a:pPr>
            <a:r>
              <a:rPr lang="en-US" sz="17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1700" dirty="0"/>
          </a:p>
        </p:txBody>
      </p:sp>
      <p:sp>
        <p:nvSpPr>
          <p:cNvPr id="25" name="Text 22"/>
          <p:cNvSpPr/>
          <p:nvPr/>
        </p:nvSpPr>
        <p:spPr>
          <a:xfrm>
            <a:off x="566928" y="4206240"/>
            <a:ext cx="8010144" cy="310896"/>
          </a:xfrm>
          <a:prstGeom prst="rect">
            <a:avLst/>
          </a:prstGeom>
          <a:noFill/>
          <a:ln/>
        </p:spPr>
        <p:txBody>
          <a:bodyPr wrap="square" lIns="0" tIns="0" rIns="0" bIns="0" rtlCol="0" anchor="ctr"/>
          <a:lstStyle/>
          <a:p>
            <a:pPr algn="ctr" indent="0" marL="0">
              <a:buNone/>
            </a:pPr>
            <a:r>
              <a:rPr lang="en-US" sz="1120" i="1" dirty="0">
                <a:solidFill>
                  <a:srgbClr val="5A6B84"/>
                </a:solidFill>
                <a:latin typeface="DM Sans" pitchFamily="34" charset="0"/>
                <a:ea typeface="DM Sans" pitchFamily="34" charset="-122"/>
                <a:cs typeface="DM Sans" pitchFamily="34" charset="-120"/>
              </a:rPr>
              <a:t>The Field Kit helps you keep reading the position as conditions change. The Private Read helps you apply the reading to the decision.</a:t>
            </a:r>
            <a:endParaRPr lang="en-US" sz="1120" dirty="0"/>
          </a:p>
        </p:txBody>
      </p:sp>
      <p:sp>
        <p:nvSpPr>
          <p:cNvPr id="27"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2026-08-15T21:04:15Z</dcterms:created>
  <dcterms:modified xsi:type="dcterms:W3CDTF">2026-08-15T21:04:15Z</dcterms:modified>
</cp:coreProperties>
</file>