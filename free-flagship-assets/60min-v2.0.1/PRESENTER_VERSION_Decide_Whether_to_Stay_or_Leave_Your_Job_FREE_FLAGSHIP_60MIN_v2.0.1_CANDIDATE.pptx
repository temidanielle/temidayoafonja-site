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RECORDING ON THIS SLIDE. This is the first evergreen teaching slide. The dated holding slide is shown BEFORE recording begins and is never recorded.
TIMING: 0:00-0:40. FORTY SECONDS.
FACILITATION: welcome, name the session, name the method, state the duration. Biography is capped at TWO SENTENCES — the 60-minute build has no room for the longer introduction. If you feel the pull to say more about yourself, that is the time the evidence block needs.
WHAT TO SAY: "This is a live guided assessment. In the next fifty minutes you will read your own position twice — once from memory, once against evidence — and leave with a note about what your evidence supports testing next. The last ten minutes are live questions and are not recorded."
EVERGREEN-SAFE: no date on this slide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0:40-1:20. FORTY SECONDS.
FACILITATION: read both boxes, land the bottom line, move. Do not tell a story here. The separate vantage and "why this exists" slides are cut; this slide now carries the whole framing.
Do not answer the stay/leave question. Say plainly that the session reads the position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THIS IS THE RECORDING AND PRIVACY DISCLOSURE. It must be delivered inside the first five minutes — deliver it here, at minute 1:20.
TIMING: 1:20-2:00. FORTY SECONDS.
FACILITATION: deliver the disclosure, name the boundary, point at the workbook, move. Forty seconds total — do not let this become a preamble.
SAY IT ONCE, CALMLY, AND DO NOT EXPAND IT INTO A DISCLAIMER: "The teaching portion is recorded so people can revisit the method. Your scores and your private workbook stay yours. The live Q&amp;A at the end is not part of the evergreen replay."
WORKBOOK: page 1 carries the same boundary and privacy language. Tell the room the workbook is open in full from the start — nothing is released in stages.
Participant microphones are muted by default for the whole recorded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2:00-3:30. NINETY SECONDS.
FACILITATION: define it, give the one correction that matters — conditions, not effort — and stop. The full teaching treatment is downstream, not here.
Do not take questions on the definition now. Say they will make more sense once people have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3:30-5:00. NINETY SECONDS.
FACILITATION: define it, then say the not-a-verdict line as written. Do not rank the causes and do not imply one is more common than another — this session has no measurement that supports a prevalence claim.
Next slide begins the private scoring. Tell the room to have the workbook open at page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2.
TIMING: 5:00-6:40.
FACILITATION: One hundred seconds. Read each statement once, then stay silent while people score. Do not fill the silence.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2.
TIMING: 6:40-8:10.
FACILITATION: Ninety seconds. Same rhythm. Do not signal that the scores are expected to change — that reveal has to be earned by the evidence pass.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2.
TIMING: 8:10-8:40.
FACILITATION: Thirty seconds. Total and hold. Do not explain the states yet.
THE BOUNDARY BAND OVERRIDES THE HIGH/LOW SPLIT. 19-30 high and 6-18 low are the ordinary classification. A total of 17 to 21 falls inside the boundary band, and the boundary reading takes precedence: no single state is assigned and the participant reads both neighbouring states. Say this now, not later — it prevents the most common placement error.
Do not ask for totals. Do not poll. Nothing is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8:40-10:10.
FACILITATION: Ninety seconds.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10:10-11:40.
FACILITATION: Ninety seconds. This is the last block of the first pass.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11:40-12:00.
FACILITATION: Twenty seconds. You now hold two numbers. The pair is the point of today.
THE BOUNDARY BAND OVERRIDES THE HIGH/LOW SPLIT. 19-30 high and 6-18 low are the ordinary classification. A total of 17 to 21 falls inside the boundary band, and the boundary reading takes precedence: no single state is assigned and the participant reads both neighbouring states. Say this now, not later — it prevents the most common placement error.
Do not ask for totals. Do not poll. Nothing is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12:00-13:00. SIXTY SECONDS.
FACILITATION: name each square once. Do not teach the state costs here — that block is at 35:00. Do not ask which square anyone is in.
Compounding is set apart because it is the one square where both axes are high. It is a structural fact about the matrix, not a ranking, and not a square to aim for. Say "state is not identity" out loud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13:00-14:00. SIXTY SECONDS.
FACILITATION: everyone proceeds on the clock. There is no readiness poll, no staged release and no waiting for the room — this has to work with a large audience.
Say "state is not identity" here, plainly, and say that boundary is a legitimate reading rather than a failure to decide.
Do not ask for a show of hands on states. Do not invite anyone to name their square, their employer or their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4.
TIMING: 14:00-16:00. TWO MINUTES.
FACILITATION: the protocol is symmetric — that is the whole point. Low scores need evidence too, or the exercise becomes self-criticism.
The ? is not a softer 3. A 3 is a real reading of a mixed pattern. A ? means you could not support any number. One question mark only, and it stays inside the 1 to 5 scale: the workbook will not accept 0?, 6?, two question marks, or a question mark on its own.
Give permission for the ? BEFORE the rescore starts, or people round down to look rigorous and reproduce the artefact the rule exists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4.
TIMING: 16:00-19:00. THREE MINUTES. Sixty seconds each.
FACILITATION: one minute per misreading, in order, then stop. Do not take questions here — hold them for minute 50.
This slide replaces three separate calibration slides. Do not expand it back out and do not add a fourth misreading.
ONE: this occurs when someone scores the work they are about to do rather than the work that actually occurred inside the evidence window. Do not describe it as common, typical or most frequent — this session has no measurement that supports a prevalence claim.
TWO: careful with tone. It can describe someone genuinely excellent at the work. Being needed is good; assuming it forms you is the misread.
THREE: say the panel as written. Do not rank the causes and do not imply one is more common than another.
Land the third one and move straight into the rescore. Do not take questions here — hold them for minute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PAGES 5 AND 6.
TIMING: 19:00-31:00. TWELVE MINUTES. PROTECTED AND NON-NEGOTIABLE.
FACILITATION: read the instruction once, then hold this slide and stay silent for twelve minutes. Warnings at 29:00 and 30:30. Nothing else.
NEVER RECOVER LOST TIME HERE. This block is the evidentiary centre of the session and the thing that makes it an assessment rather than a talk. If you are behind at minute 19, take the time from the 45:00-48:00 continuation sequence or the 48:00-50:00 buffer — never from this block.
This slide holds for the full twelve minutes. Do not advance, do not narrate over it, and do not fill the silence.
Give a two-minute warning at 29:00 and a thirty-second warning at 30:30. Keep your own microphone quiet the rest of the time.
Short evidence phrases, not essays. Twelve statements in twelve minutes is sixty seconds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PAGES 5 AND 6.
TIMING: 31:00-32:30. NINETY SECONDS.
FACILITATION: insist on the re-total. People try to eyeball whether the square changed. The number has to be recomputed.
A marked score counts as its number when totalling — 3? totals as 3. The question mark changes what happens NEXT, on the sensitivity slide, not the arithmetic here.
Boundary band: a corrected total of 17 to 21 overrides the ordinary high/low split. Say it again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7.
TIMING: 32:30-34:00. NINETY SECONDS.
FACILITATION: thirty seconds per tier. Teach all three even though most of the room will only need one.
Teach all three tiers explicitly. A participant with no marked items can sit through the procedure believing they must run it. Say plainly that they do not.
NONE: no range required. 1 OR 2: the axis is provisional, run the check. 3 OR MORE: the axis is incomplete and you do not place on it today.
The 1-5 bound and the incomplete rule are both part of the convention and are easily dropped when the method is repeated from memory.
THE DUAL-AXIS BOUNDARY RULE, said plainly:
— If exactly ONE axis is inside 17 to 21, read the two adjacent states that the OTHER axis selects. A boundary Density with high Optionality reads across Compounding and Fragile.
— If BOTH axes are inside 17 to 21, record Boundary and assign no single state at all.
The governing instrument (v5.3.1) states that when any total touches the band, no single state is assigned and the placement is provisional. The one-axis case follows directly. The instrument does not address the both-axes case, where four squares would qualify rather than two; recording Boundary is the reading consistent with "no single state is assigned". This is documented in the change log.
Say the boundary out loud: this is an operational convention, not a statistical confidence interval, and it carries no margin of error. Boundary and incomplete are legitimate outcomes.
NOTE ON WORDING: an earlier version tested the range against 19 as well as against the band. That was redundant. The sensitivity range is contiguous, so any range spanning 19 necessarily contains 18 and 19, both inside the band. The band test alone is sufficient and the rule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7.
TIMING: 34:00-35:00. SIXTY SECONDS.
FACILITATION: give the instruction, then let them place. Do not narrate over the writing.
State plainly that boundary and incomplete are real readings, not failures.
Do NOT run the Intensive Edition's poll architecture. No staged reveal, no room-level state distribution, no anonymous count. The optional "what moved" interaction is in the appendix and is OUT of the timed core — do not bring it back in.
Do not invite anyone to name their square, their confidence number, their employer or their circumstances.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35:00-38:00. THREE MINUTES. Forty-five seconds per state.
FACILITATION: one pass, four states, no favourites. Keep your eye on the clock — this block overruns easily.
Give each state its essential reading and stop. Do NOT teach the heaviest square for this room and do NOT deepen a state based on audience distribution — those are Intensive Edition mechanics and there is no room for them in sixty minutes.
If you are running behind, this is NOT the block to cut. Take it from 45:00-48:00.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8.
TIMING: 38:00-41:00. THREE MINUTES. About twenty-five seconds each.
FACILITATION: read the category and its line, move to the next. Resist elaborating.
Read each category and its one-line reading. Do not work examples — there is no room for them in sixty minutes.
Say the bottom line as written: no square prescribes a category. Someone in Depth Trap is not instructed to translate; someone in Fragile is not instructed to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8.
TIMING: 41:00-45:00. FOUR MINUTES. This is a real writing period — protect it.
FACILITATION: read the three prompts once, then stop talking for the rest of the block.
Read the three prompts once, then stop talking and let people write. Four minutes feels long from the front and short from the seat.
Do not call it the Next-Move Decision. That is the Intensive Edition's artifact and it is a different, longer instrument.
Do not ask anyone to read theirs aloud, and do not invite anyone to share a move category, an employer or a situation.
Give a sixty-second warning at 44:00.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45:00-46:00. SIXTY SECONDS. The whole continuation sequence is three minutes and it is the first place to take time from if you are behind.
FACILITATION: read the three routes in order, land route one, then move. Do not linger and do not add examples.
ROUTE 1 IS NOT A THROWAWAY. Say it first and say it plainly. The credibility of the next slide depends on genuinely releasing the people who have enough.
WHAT TO SAY: "Some of you now have enough to act. Good — you do not need anything else from me today. Some of you want a system to keep working with. And some of you can read the position but the decision is still complicated. Different needs, different routes."
NO PRICING ON THIS SLIDE. Do not say "if you want to buy", "I have two offers" or "special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46:00-47:00. SIXTY SECONDS. Thirty seconds per route.
FACILITATION: thirty seconds each, then move. If you are behind, this is the first slide to shorten.
This slide merges what were two separate product slides. Name each route, say what it is for, and move. This is not a sales presentation.
Do not describe the Field Kit as more worksheets, as the complete version of tonight, as required, or as included. Do not call the Private Read coaching, consulting, a package, "starting at" anything, or "$500+".
The cover image is a real page from the shipped Field Kit, not a mockup.
CURRENT INTERNAL PRICING SOURCE OF TRUTH — Field Kit: $150. Private Capability Position Read: $500.
EVERGREEN RECORDING RULE: do not state pricing into the permanent replay unless the current live purchase route AND price have been verified immediately before delivery. Price and availability go through the live chat, the current product route and follow-up communications. NO PRICE APPEARS ON THIS SLIDE FACE BY DESIGN.
No discount, no attendee price, no coupon, no bundle, no crossed-out price, no "normally $500", no urgency, no automatic credit between products.
The former paid group workshop is retired from active public sale and is NOT the current public next step. Do not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 THIS IS THE LAST RECORDED SLIDE.  WORKBOOK PAGE 8 (rescore date line).
TIMING: 47:00-50:00. The close is delivered 47:00-48:00; 48:00-50:00 is FACILITATION BUFFER and this slide holds.
If you are on time, use the buffer to restate the rescore date instruction and let the room finish writing. If you are behind, the buffer is where you absorb it.
EVERGREEN-SAFE CLOSE. Do NOT say "tonight", "this cohort", "September 16", or "before enrollment closes". This has to work for someone watching the replay months from now.
AT 50:00 — STOP OR PAUSE THE RECORDING BEFORE ADVANCING. Look at the screen and confirm it has actually stopped. If the platform records the whole meeting automatically, keep the raw file private and trim the distributed replay to end here.
Then say out loud that the recording has stopped, and only then advance.
RECORDING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OFF. CONFIRM ON SCREEN THAT IT HAS STOPPED BEFORE TAKING THE FIRST QUESTION.
TIMING: 50:00-60:00. TEN MINUTES. HARD STOP AT 60:00.
FACILITATION: confirm on screen that recording has stopped, say so aloud, then take the first question. Watch the clock and close at 60:00.
This block is never distributed. It is excluded from the evergreen replay under every distribution model, including a registration-gated one. Participant questions can contain employer names, personal circumstances and third-party names — that is exactly why it sits outside the recorded core.
Q&amp;A MAY clarify the method, the evidence protocol, boundary and incomplete readings, and move-category distinctions.
Q&amp;A MUST NOT become individual stay/leave coaching. Do not tell anyone to resign or stay. Do not predict layoffs. Do not give legal, medical, financial, immigration or mental-health advice. Do not ask for scores, states or employer names.
If a question is really a request for a personal decision, name the boundary once and offer the Private Read as the route — briefly, without pitching.
Appendix material may be used here if a question calls for it.
Close at 60:00 and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Not part of the recorded core.
Use during Q&amp;A if someone asks how to read organisational signals. These are questions to investigate, never predictions about a specific employer.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Moved out of the timed core deliberately.
If asked: one application, sixty seconds, no tool names, no job-loss predictions, no industry forecasts.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Useful when someone scores low on statement 8 and reads it as a verdict on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This is the sharpest version of misreading two and a useful answer in Q&amp;A.
Not a diagnosis of anyone's specific promotion.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INSTITUTIONAL CLOSE — use INSTEAD of the continuation slides 23 and 24 when delivering for a university, alumni association, professional body or employee group.
No pricing. No Field Kit or private-read pitch. No product CTA of any kind.
This lets the same core deck serve institutional outreach without building a second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OPTIONAL, AND OUT OF THE TIMED CORE.
This interaction belonged to the earlier long-form build. The 60-minute run of show has no room for it and it is NOT part of the fifty-minute core. Do not insert it.
Use it only if a delivery genuinely runs ahead — which should not happen — or in a longer non-Lightning-Lesson delivery of the same material.
If it is ever used: DO NOT read singleton counts aloud. DO NOT ask anyone to reveal their state. DO NOT say "most people change" — that is a research claim this session cannot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PRE-SESSION HOLDING SLIDE — dated, for use BEFORE the recording starts.
Show this while people arrive. START THE RECORDING ON SLIDE 1, not on this slide: the date must not enter the evergreen replay.
Update this date for each delivery. It is the only slide in the deck carrying a live date.
Paste the workbook link in chat while this slide 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457200"/>
            <a:ext cx="6035040" cy="201168"/>
          </a:xfrm>
          <a:prstGeom prst="rect">
            <a:avLst/>
          </a:prstGeom>
          <a:noFill/>
          <a:ln/>
        </p:spPr>
        <p:txBody>
          <a:bodyPr wrap="square" lIns="0" tIns="0" rIns="0" bIns="0" rtlCol="0" anchor="ctr"/>
          <a:lstStyle/>
          <a:p>
            <a:pPr indent="0" marL="0">
              <a:buNone/>
            </a:pPr>
            <a:r>
              <a:rPr lang="en-US" sz="900" b="1" spc="180" kern="0" dirty="0">
                <a:solidFill>
                  <a:srgbClr val="C9A84C"/>
                </a:solidFill>
                <a:latin typeface="Montserrat" pitchFamily="34" charset="0"/>
                <a:ea typeface="Montserrat" pitchFamily="34" charset="-122"/>
                <a:cs typeface="Montserrat" pitchFamily="34" charset="-120"/>
              </a:rPr>
              <a:t>A CAPABILITY FORMATION EXPERIENCE</a:t>
            </a:r>
            <a:endParaRPr lang="en-US" sz="900" dirty="0"/>
          </a:p>
        </p:txBody>
      </p:sp>
      <p:sp>
        <p:nvSpPr>
          <p:cNvPr id="3" name="Text 1"/>
          <p:cNvSpPr/>
          <p:nvPr/>
        </p:nvSpPr>
        <p:spPr>
          <a:xfrm>
            <a:off x="566928" y="841248"/>
            <a:ext cx="5943600" cy="1371600"/>
          </a:xfrm>
          <a:prstGeom prst="rect">
            <a:avLst/>
          </a:prstGeom>
          <a:noFill/>
          <a:ln/>
        </p:spPr>
        <p:txBody>
          <a:bodyPr wrap="square" lIns="0" tIns="0" rIns="0" bIns="0" rtlCol="0" anchor="ctr"/>
          <a:lstStyle/>
          <a:p>
            <a:pPr indent="0" marL="0">
              <a:lnSpc>
                <a:spcPts val="4000"/>
              </a:lnSpc>
              <a:buNone/>
            </a:pPr>
            <a:r>
              <a:rPr lang="en-US" sz="3800" b="1" dirty="0">
                <a:solidFill>
                  <a:srgbClr val="F5F0E8"/>
                </a:solidFill>
                <a:latin typeface="Cormorant Garamond" pitchFamily="34" charset="0"/>
                <a:ea typeface="Cormorant Garamond" pitchFamily="34" charset="-122"/>
                <a:cs typeface="Cormorant Garamond" pitchFamily="34" charset="-120"/>
              </a:rPr>
              <a:t>Decide Whether to Stay</a:t>
            </a:r>
            <a:endParaRPr lang="en-US" sz="3800" dirty="0"/>
          </a:p>
          <a:p>
            <a:pPr indent="0" marL="0">
              <a:lnSpc>
                <a:spcPts val="4000"/>
              </a:lnSpc>
              <a:buNone/>
            </a:pPr>
            <a:r>
              <a:rPr lang="en-US" sz="3800" b="1" dirty="0">
                <a:solidFill>
                  <a:srgbClr val="F5F0E8"/>
                </a:solidFill>
                <a:latin typeface="Cormorant Garamond" pitchFamily="34" charset="0"/>
                <a:ea typeface="Cormorant Garamond" pitchFamily="34" charset="-122"/>
                <a:cs typeface="Cormorant Garamond" pitchFamily="34" charset="-120"/>
              </a:rPr>
              <a:t>or Leave Your Job</a:t>
            </a:r>
            <a:endParaRPr lang="en-US" sz="3800" dirty="0"/>
          </a:p>
        </p:txBody>
      </p:sp>
      <p:sp>
        <p:nvSpPr>
          <p:cNvPr id="4" name="Text 2"/>
          <p:cNvSpPr/>
          <p:nvPr/>
        </p:nvSpPr>
        <p:spPr>
          <a:xfrm>
            <a:off x="566928" y="2212848"/>
            <a:ext cx="5943600" cy="274320"/>
          </a:xfrm>
          <a:prstGeom prst="rect">
            <a:avLst/>
          </a:prstGeom>
          <a:noFill/>
          <a:ln/>
        </p:spPr>
        <p:txBody>
          <a:bodyPr wrap="square" lIns="0" tIns="0" rIns="0" bIns="0" rtlCol="0" anchor="ctr"/>
          <a:lstStyle/>
          <a:p>
            <a:pPr indent="0" marL="0">
              <a:buNone/>
            </a:pPr>
            <a:r>
              <a:rPr lang="en-US" sz="1500" dirty="0">
                <a:solidFill>
                  <a:srgbClr val="F5F0E8"/>
                </a:solidFill>
                <a:latin typeface="DM Sans" pitchFamily="34" charset="0"/>
                <a:ea typeface="DM Sans" pitchFamily="34" charset="-122"/>
                <a:cs typeface="DM Sans" pitchFamily="34" charset="-120"/>
              </a:rPr>
              <a:t>A Live Career Growth Assessment</a:t>
            </a:r>
            <a:endParaRPr lang="en-US" sz="1500" dirty="0"/>
          </a:p>
        </p:txBody>
      </p:sp>
      <p:sp>
        <p:nvSpPr>
          <p:cNvPr id="5" name="Shape 3"/>
          <p:cNvSpPr/>
          <p:nvPr/>
        </p:nvSpPr>
        <p:spPr>
          <a:xfrm>
            <a:off x="566928" y="2670048"/>
            <a:ext cx="2651760" cy="20117"/>
          </a:xfrm>
          <a:prstGeom prst="rect">
            <a:avLst/>
          </a:prstGeom>
          <a:solidFill>
            <a:srgbClr val="C9A84C"/>
          </a:solidFill>
          <a:ln/>
        </p:spPr>
      </p:sp>
      <p:sp>
        <p:nvSpPr>
          <p:cNvPr id="6" name="Text 4"/>
          <p:cNvSpPr/>
          <p:nvPr/>
        </p:nvSpPr>
        <p:spPr>
          <a:xfrm>
            <a:off x="566928" y="2852928"/>
            <a:ext cx="5943600" cy="310896"/>
          </a:xfrm>
          <a:prstGeom prst="rect">
            <a:avLst/>
          </a:prstGeom>
          <a:noFill/>
          <a:ln/>
        </p:spPr>
        <p:txBody>
          <a:bodyPr wrap="square" lIns="0" tIns="0" rIns="0" bIns="0" rtlCol="0" anchor="ctr"/>
          <a:lstStyle/>
          <a:p>
            <a:pPr indent="0" marL="0">
              <a:buNone/>
            </a:pPr>
            <a:r>
              <a:rPr lang="en-US" sz="2000" b="1" dirty="0">
                <a:solidFill>
                  <a:srgbClr val="F5F0E8"/>
                </a:solidFill>
                <a:latin typeface="Cormorant Garamond" pitchFamily="34" charset="0"/>
                <a:ea typeface="Cormorant Garamond" pitchFamily="34" charset="-122"/>
                <a:cs typeface="Cormorant Garamond" pitchFamily="34" charset="-120"/>
              </a:rPr>
              <a:t>The Capability Position Read</a:t>
            </a:r>
            <a:endParaRPr lang="en-US" sz="2000" dirty="0"/>
          </a:p>
        </p:txBody>
      </p:sp>
      <p:sp>
        <p:nvSpPr>
          <p:cNvPr id="7" name="Text 5"/>
          <p:cNvSpPr/>
          <p:nvPr/>
        </p:nvSpPr>
        <p:spPr>
          <a:xfrm>
            <a:off x="566928" y="3218688"/>
            <a:ext cx="5943600" cy="256032"/>
          </a:xfrm>
          <a:prstGeom prst="rect">
            <a:avLst/>
          </a:prstGeom>
          <a:noFill/>
          <a:ln/>
        </p:spPr>
        <p:txBody>
          <a:bodyPr wrap="square" lIns="0" tIns="0" rIns="0" bIns="0" rtlCol="0" anchor="ctr"/>
          <a:lstStyle/>
          <a:p>
            <a:pPr indent="0" marL="0">
              <a:buNone/>
            </a:pPr>
            <a:r>
              <a:rPr lang="en-US" sz="1250" i="1" dirty="0">
                <a:solidFill>
                  <a:srgbClr val="C9A84C"/>
                </a:solidFill>
                <a:latin typeface="DM Sans" pitchFamily="34" charset="0"/>
                <a:ea typeface="DM Sans" pitchFamily="34" charset="-122"/>
                <a:cs typeface="DM Sans" pitchFamily="34" charset="-120"/>
              </a:rPr>
              <a:t>Read the Position Before You Make the Move</a:t>
            </a:r>
            <a:endParaRPr lang="en-US" sz="1250" dirty="0"/>
          </a:p>
        </p:txBody>
      </p:sp>
      <p:sp>
        <p:nvSpPr>
          <p:cNvPr id="8" name="Text 6"/>
          <p:cNvSpPr/>
          <p:nvPr/>
        </p:nvSpPr>
        <p:spPr>
          <a:xfrm>
            <a:off x="566928" y="3675888"/>
            <a:ext cx="5943600" cy="219456"/>
          </a:xfrm>
          <a:prstGeom prst="rect">
            <a:avLst/>
          </a:prstGeom>
          <a:noFill/>
          <a:ln/>
        </p:spPr>
        <p:txBody>
          <a:bodyPr wrap="square" lIns="0" tIns="0" rIns="0" bIns="0" rtlCol="0" anchor="ctr"/>
          <a:lstStyle/>
          <a:p>
            <a:pPr indent="0" marL="0">
              <a:buNone/>
            </a:pPr>
            <a:r>
              <a:rPr lang="en-US" sz="950" b="1" spc="140" kern="0" dirty="0">
                <a:solidFill>
                  <a:srgbClr val="B8C5D9"/>
                </a:solidFill>
                <a:latin typeface="Montserrat" pitchFamily="34" charset="0"/>
                <a:ea typeface="Montserrat" pitchFamily="34" charset="-122"/>
                <a:cs typeface="Montserrat" pitchFamily="34" charset="-120"/>
              </a:rPr>
              <a:t>FREE FLAGSHIP  ·  60 MINUTES</a:t>
            </a:r>
            <a:endParaRPr lang="en-US" sz="950" dirty="0"/>
          </a:p>
        </p:txBody>
      </p:sp>
      <p:pic>
        <p:nvPicPr>
          <p:cNvPr id="9" name="Image 0" descr="preencoded.png">    </p:cNvPr>
          <p:cNvPicPr>
            <a:picLocks noChangeAspect="1"/>
          </p:cNvPicPr>
          <p:nvPr/>
        </p:nvPicPr>
        <p:blipFill>
          <a:blip r:embed="rId1"/>
          <a:stretch>
            <a:fillRect/>
          </a:stretch>
        </p:blipFill>
        <p:spPr>
          <a:xfrm>
            <a:off x="6903720" y="1572768"/>
            <a:ext cx="1691640" cy="1691640"/>
          </a:xfrm>
          <a:prstGeom prst="rect">
            <a:avLst/>
          </a:prstGeom>
        </p:spPr>
      </p:pic>
      <p:sp>
        <p:nvSpPr>
          <p:cNvPr id="10" name="Text 7"/>
          <p:cNvSpPr/>
          <p:nvPr/>
        </p:nvSpPr>
        <p:spPr>
          <a:xfrm>
            <a:off x="6537960" y="3346704"/>
            <a:ext cx="2423160" cy="237744"/>
          </a:xfrm>
          <a:prstGeom prst="rect">
            <a:avLst/>
          </a:prstGeom>
          <a:noFill/>
          <a:ln/>
        </p:spPr>
        <p:txBody>
          <a:bodyPr wrap="square" lIns="0" tIns="0" rIns="0" bIns="0" rtlCol="0" anchor="ctr"/>
          <a:lstStyle/>
          <a:p>
            <a:pPr algn="ctr" indent="0" marL="0">
              <a:buNone/>
            </a:pPr>
            <a:r>
              <a:rPr lang="en-US" sz="1500" b="1" dirty="0">
                <a:solidFill>
                  <a:srgbClr val="F5F0E8"/>
                </a:solidFill>
                <a:latin typeface="Cormorant Garamond" pitchFamily="34" charset="0"/>
                <a:ea typeface="Cormorant Garamond" pitchFamily="34" charset="-122"/>
                <a:cs typeface="Cormorant Garamond" pitchFamily="34" charset="-120"/>
              </a:rPr>
              <a:t>Temidayo Afonja</a:t>
            </a:r>
            <a:endParaRPr lang="en-US" sz="1500" dirty="0"/>
          </a:p>
        </p:txBody>
      </p:sp>
      <p:sp>
        <p:nvSpPr>
          <p:cNvPr id="11" name="Text 8"/>
          <p:cNvSpPr/>
          <p:nvPr/>
        </p:nvSpPr>
        <p:spPr>
          <a:xfrm>
            <a:off x="6446520" y="3602736"/>
            <a:ext cx="2606040" cy="402336"/>
          </a:xfrm>
          <a:prstGeom prst="rect">
            <a:avLst/>
          </a:prstGeom>
          <a:noFill/>
          <a:ln/>
        </p:spPr>
        <p:txBody>
          <a:bodyPr wrap="square" lIns="0" tIns="0" rIns="0" bIns="0" rtlCol="0" anchor="ctr"/>
          <a:lstStyle/>
          <a:p>
            <a:pPr algn="ctr" indent="0" marL="0">
              <a:buNone/>
            </a:pPr>
            <a:r>
              <a:rPr lang="en-US" sz="860" dirty="0">
                <a:solidFill>
                  <a:srgbClr val="B8C5D9"/>
                </a:solidFill>
                <a:latin typeface="DM Sans" pitchFamily="34" charset="0"/>
                <a:ea typeface="DM Sans" pitchFamily="34" charset="-122"/>
                <a:cs typeface="DM Sans" pitchFamily="34" charset="-120"/>
              </a:rPr>
              <a:t>Founder, The Density Group</a:t>
            </a:r>
            <a:endParaRPr lang="en-US" sz="860" dirty="0"/>
          </a:p>
          <a:p>
            <a:pPr algn="ctr" indent="0" marL="0">
              <a:buNone/>
            </a:pPr>
            <a:r>
              <a:rPr lang="en-US" sz="860" dirty="0">
                <a:solidFill>
                  <a:srgbClr val="B8C5D9"/>
                </a:solidFill>
                <a:latin typeface="DM Sans" pitchFamily="34" charset="0"/>
                <a:ea typeface="DM Sans" pitchFamily="34" charset="-122"/>
                <a:cs typeface="DM Sans" pitchFamily="34" charset="-120"/>
              </a:rPr>
              <a:t>Author, The Capability Audit</a:t>
            </a:r>
            <a:endParaRPr lang="en-US" sz="860" dirty="0"/>
          </a:p>
        </p:txBody>
      </p:sp>
      <p:sp>
        <p:nvSpPr>
          <p:cNvPr id="13" name="Text 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4" name="Text 1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REFRAME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The question underneath the question</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 fair question, and a reading that sits upstream of it.</a:t>
            </a:r>
            <a:endParaRPr lang="en-US" sz="1150" dirty="0"/>
          </a:p>
        </p:txBody>
      </p:sp>
      <p:sp>
        <p:nvSpPr>
          <p:cNvPr id="5" name="Shape 3"/>
          <p:cNvSpPr/>
          <p:nvPr/>
        </p:nvSpPr>
        <p:spPr>
          <a:xfrm>
            <a:off x="566928" y="1847088"/>
            <a:ext cx="3886200" cy="1481328"/>
          </a:xfrm>
          <a:prstGeom prst="rect">
            <a:avLst/>
          </a:prstGeom>
          <a:solidFill>
            <a:srgbClr val="E9EDF3"/>
          </a:solidFill>
          <a:ln/>
        </p:spPr>
      </p:sp>
      <p:sp>
        <p:nvSpPr>
          <p:cNvPr id="6" name="Text 4"/>
          <p:cNvSpPr/>
          <p:nvPr/>
        </p:nvSpPr>
        <p:spPr>
          <a:xfrm>
            <a:off x="786384" y="1993392"/>
            <a:ext cx="3474720" cy="182880"/>
          </a:xfrm>
          <a:prstGeom prst="rect">
            <a:avLst/>
          </a:prstGeom>
          <a:noFill/>
          <a:ln/>
        </p:spPr>
        <p:txBody>
          <a:bodyPr wrap="square" lIns="0" tIns="0" rIns="0" bIns="0" rtlCol="0" anchor="ctr"/>
          <a:lstStyle/>
          <a:p>
            <a:pPr indent="0" marL="0">
              <a:buNone/>
            </a:pPr>
            <a:r>
              <a:rPr lang="en-US" sz="820" b="1" spc="110" kern="0" dirty="0">
                <a:solidFill>
                  <a:srgbClr val="5A6B84"/>
                </a:solidFill>
                <a:latin typeface="Montserrat" pitchFamily="34" charset="0"/>
                <a:ea typeface="Montserrat" pitchFamily="34" charset="-122"/>
                <a:cs typeface="Montserrat" pitchFamily="34" charset="-120"/>
              </a:rPr>
              <a:t>WHAT YOU CAME IN ASKING</a:t>
            </a:r>
            <a:endParaRPr lang="en-US" sz="820" dirty="0"/>
          </a:p>
        </p:txBody>
      </p:sp>
      <p:sp>
        <p:nvSpPr>
          <p:cNvPr id="7" name="Text 5"/>
          <p:cNvSpPr/>
          <p:nvPr/>
        </p:nvSpPr>
        <p:spPr>
          <a:xfrm>
            <a:off x="786384" y="2304288"/>
            <a:ext cx="3474720" cy="822960"/>
          </a:xfrm>
          <a:prstGeom prst="rect">
            <a:avLst/>
          </a:prstGeom>
          <a:noFill/>
          <a:ln/>
        </p:spPr>
        <p:txBody>
          <a:bodyPr wrap="square" lIns="0" tIns="0" rIns="0" bIns="0" rtlCol="0" anchor="ctr"/>
          <a:lstStyle/>
          <a:p>
            <a:pPr indent="0" marL="0">
              <a:lnSpc>
                <a:spcPts val="2400"/>
              </a:lnSpc>
              <a:buNone/>
            </a:pPr>
            <a:r>
              <a:rPr lang="en-US" sz="1800" b="1" dirty="0">
                <a:solidFill>
                  <a:srgbClr val="0F2347"/>
                </a:solidFill>
                <a:latin typeface="Cormorant Garamond" pitchFamily="34" charset="0"/>
                <a:ea typeface="Cormorant Garamond" pitchFamily="34" charset="-122"/>
                <a:cs typeface="Cormorant Garamond" pitchFamily="34" charset="-120"/>
              </a:rPr>
              <a:t>“Should I stay in this role,</a:t>
            </a:r>
            <a:endParaRPr lang="en-US" sz="1800" dirty="0"/>
          </a:p>
          <a:p>
            <a:pPr indent="0" marL="0">
              <a:lnSpc>
                <a:spcPts val="2400"/>
              </a:lnSpc>
              <a:buNone/>
            </a:pPr>
            <a:r>
              <a:rPr lang="en-US" sz="1800" b="1" dirty="0">
                <a:solidFill>
                  <a:srgbClr val="0F2347"/>
                </a:solidFill>
                <a:latin typeface="Cormorant Garamond" pitchFamily="34" charset="0"/>
                <a:ea typeface="Cormorant Garamond" pitchFamily="34" charset="-122"/>
                <a:cs typeface="Cormorant Garamond" pitchFamily="34" charset="-120"/>
              </a:rPr>
              <a:t>or should I go?”</a:t>
            </a:r>
            <a:endParaRPr lang="en-US" sz="1800" dirty="0"/>
          </a:p>
        </p:txBody>
      </p:sp>
      <p:sp>
        <p:nvSpPr>
          <p:cNvPr id="8" name="Shape 6"/>
          <p:cNvSpPr/>
          <p:nvPr/>
        </p:nvSpPr>
        <p:spPr>
          <a:xfrm>
            <a:off x="4690872" y="1847088"/>
            <a:ext cx="3886200" cy="1481328"/>
          </a:xfrm>
          <a:prstGeom prst="rect">
            <a:avLst/>
          </a:prstGeom>
          <a:solidFill>
            <a:srgbClr val="0F2347"/>
          </a:solidFill>
          <a:ln/>
        </p:spPr>
      </p:sp>
      <p:sp>
        <p:nvSpPr>
          <p:cNvPr id="9" name="Text 7"/>
          <p:cNvSpPr/>
          <p:nvPr/>
        </p:nvSpPr>
        <p:spPr>
          <a:xfrm>
            <a:off x="4910328" y="1993392"/>
            <a:ext cx="3474720" cy="182880"/>
          </a:xfrm>
          <a:prstGeom prst="rect">
            <a:avLst/>
          </a:prstGeom>
          <a:noFill/>
          <a:ln/>
        </p:spPr>
        <p:txBody>
          <a:bodyPr wrap="square" lIns="0" tIns="0" rIns="0" bIns="0" rtlCol="0" anchor="ctr"/>
          <a:lstStyle/>
          <a:p>
            <a:pPr indent="0" marL="0">
              <a:buNone/>
            </a:pPr>
            <a:r>
              <a:rPr lang="en-US" sz="820" b="1" spc="110" kern="0" dirty="0">
                <a:solidFill>
                  <a:srgbClr val="C9A84C"/>
                </a:solidFill>
                <a:latin typeface="Montserrat" pitchFamily="34" charset="0"/>
                <a:ea typeface="Montserrat" pitchFamily="34" charset="-122"/>
                <a:cs typeface="Montserrat" pitchFamily="34" charset="-120"/>
              </a:rPr>
              <a:t>WHAT YOU NEED TO READ FIRST</a:t>
            </a:r>
            <a:endParaRPr lang="en-US" sz="820" dirty="0"/>
          </a:p>
        </p:txBody>
      </p:sp>
      <p:sp>
        <p:nvSpPr>
          <p:cNvPr id="10" name="Text 8"/>
          <p:cNvSpPr/>
          <p:nvPr/>
        </p:nvSpPr>
        <p:spPr>
          <a:xfrm>
            <a:off x="4910328" y="2304288"/>
            <a:ext cx="3474720" cy="822960"/>
          </a:xfrm>
          <a:prstGeom prst="rect">
            <a:avLst/>
          </a:prstGeom>
          <a:noFill/>
          <a:ln/>
        </p:spPr>
        <p:txBody>
          <a:bodyPr wrap="square" lIns="0" tIns="0" rIns="0" bIns="0" rtlCol="0" anchor="ctr"/>
          <a:lstStyle/>
          <a:p>
            <a:pPr indent="0" marL="0">
              <a:lnSpc>
                <a:spcPts val="2300"/>
              </a:lnSpc>
              <a:buNone/>
            </a:pPr>
            <a:r>
              <a:rPr lang="en-US" sz="1700" b="1" dirty="0">
                <a:solidFill>
                  <a:srgbClr val="F5F0E8"/>
                </a:solidFill>
                <a:latin typeface="Cormorant Garamond" pitchFamily="34" charset="0"/>
                <a:ea typeface="Cormorant Garamond" pitchFamily="34" charset="-122"/>
                <a:cs typeface="Cormorant Garamond" pitchFamily="34" charset="-120"/>
              </a:rPr>
              <a:t>“Is this position still forming me,</a:t>
            </a:r>
            <a:endParaRPr lang="en-US" sz="1700" dirty="0"/>
          </a:p>
          <a:p>
            <a:pPr indent="0" marL="0">
              <a:lnSpc>
                <a:spcPts val="2300"/>
              </a:lnSpc>
              <a:buNone/>
            </a:pPr>
            <a:r>
              <a:rPr lang="en-US" sz="1700" b="1" dirty="0">
                <a:solidFill>
                  <a:srgbClr val="F5F0E8"/>
                </a:solidFill>
                <a:latin typeface="Cormorant Garamond" pitchFamily="34" charset="0"/>
                <a:ea typeface="Cormorant Garamond" pitchFamily="34" charset="-122"/>
                <a:cs typeface="Cormorant Garamond" pitchFamily="34" charset="-120"/>
              </a:rPr>
              <a:t>and does what it built travel?”</a:t>
            </a:r>
            <a:endParaRPr lang="en-US" sz="1700" dirty="0"/>
          </a:p>
        </p:txBody>
      </p:sp>
      <p:sp>
        <p:nvSpPr>
          <p:cNvPr id="11" name="Text 9"/>
          <p:cNvSpPr/>
          <p:nvPr/>
        </p:nvSpPr>
        <p:spPr>
          <a:xfrm>
            <a:off x="566928" y="3584448"/>
            <a:ext cx="8010144" cy="36576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The first question is yours alone. The second sits upstream of it, and this session can read it more rigorously.</a:t>
            </a:r>
            <a:endParaRPr lang="en-US" sz="1250" dirty="0"/>
          </a:p>
        </p:txBody>
      </p:sp>
      <p:sp>
        <p:nvSpPr>
          <p:cNvPr id="13" name="Text 10"/>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4" name="Text 11"/>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BOUNDARY</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754"/>
              </a:lnSpc>
              <a:buNone/>
            </a:pPr>
            <a:r>
              <a:rPr lang="en-US" sz="2700" b="1" dirty="0">
                <a:solidFill>
                  <a:srgbClr val="0F2347"/>
                </a:solidFill>
                <a:latin typeface="Cormorant Garamond" pitchFamily="34" charset="0"/>
                <a:ea typeface="Cormorant Garamond" pitchFamily="34" charset="-122"/>
                <a:cs typeface="Cormorant Garamond" pitchFamily="34" charset="-120"/>
              </a:rPr>
              <a:t>What this read will and will not do</a:t>
            </a:r>
            <a:endParaRPr lang="en-US" sz="2700" dirty="0"/>
          </a:p>
        </p:txBody>
      </p:sp>
      <p:sp>
        <p:nvSpPr>
          <p:cNvPr id="4" name="Shape 2"/>
          <p:cNvSpPr/>
          <p:nvPr/>
        </p:nvSpPr>
        <p:spPr>
          <a:xfrm>
            <a:off x="566928" y="1371600"/>
            <a:ext cx="8010144" cy="475488"/>
          </a:xfrm>
          <a:prstGeom prst="rect">
            <a:avLst/>
          </a:prstGeom>
          <a:solidFill>
            <a:srgbClr val="0F2347"/>
          </a:solidFill>
          <a:ln/>
        </p:spPr>
      </p:sp>
      <p:sp>
        <p:nvSpPr>
          <p:cNvPr id="5" name="Text 3"/>
          <p:cNvSpPr/>
          <p:nvPr/>
        </p:nvSpPr>
        <p:spPr>
          <a:xfrm>
            <a:off x="804672" y="1371600"/>
            <a:ext cx="7534656" cy="475488"/>
          </a:xfrm>
          <a:prstGeom prst="rect">
            <a:avLst/>
          </a:prstGeom>
          <a:noFill/>
          <a:ln/>
        </p:spPr>
        <p:txBody>
          <a:bodyPr wrap="square" lIns="0" tIns="0" rIns="0" bIns="0" rtlCol="0" anchor="ctr"/>
          <a:lstStyle/>
          <a:p>
            <a:pPr indent="0" marL="0">
              <a:buNone/>
            </a:pPr>
            <a:r>
              <a:rPr lang="en-US" sz="1700" b="1" dirty="0">
                <a:solidFill>
                  <a:srgbClr val="F5F0E8"/>
                </a:solidFill>
                <a:latin typeface="Cormorant Garamond" pitchFamily="34" charset="0"/>
                <a:ea typeface="Cormorant Garamond" pitchFamily="34" charset="-122"/>
                <a:cs typeface="Cormorant Garamond" pitchFamily="34" charset="-120"/>
              </a:rPr>
              <a:t>This read will not tell you to stay or leave.</a:t>
            </a:r>
            <a:endParaRPr lang="en-US" sz="1700" dirty="0"/>
          </a:p>
        </p:txBody>
      </p:sp>
      <p:sp>
        <p:nvSpPr>
          <p:cNvPr id="6" name="Text 4"/>
          <p:cNvSpPr/>
          <p:nvPr/>
        </p:nvSpPr>
        <p:spPr>
          <a:xfrm>
            <a:off x="566928" y="2011680"/>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IT WILL</a:t>
            </a:r>
            <a:endParaRPr lang="en-US" sz="840" dirty="0"/>
          </a:p>
        </p:txBody>
      </p:sp>
      <p:sp>
        <p:nvSpPr>
          <p:cNvPr id="7" name="Text 5"/>
          <p:cNvSpPr/>
          <p:nvPr/>
        </p:nvSpPr>
        <p:spPr>
          <a:xfrm>
            <a:off x="2304288" y="1975104"/>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Give you a defensible reading of your current position and one category of move your evidence supports testing.</a:t>
            </a:r>
            <a:endParaRPr lang="en-US" sz="1140" dirty="0"/>
          </a:p>
        </p:txBody>
      </p:sp>
      <p:sp>
        <p:nvSpPr>
          <p:cNvPr id="8" name="Text 6"/>
          <p:cNvSpPr/>
          <p:nvPr/>
        </p:nvSpPr>
        <p:spPr>
          <a:xfrm>
            <a:off x="566928" y="2615184"/>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IT WILL NOT</a:t>
            </a:r>
            <a:endParaRPr lang="en-US" sz="840" dirty="0"/>
          </a:p>
        </p:txBody>
      </p:sp>
      <p:sp>
        <p:nvSpPr>
          <p:cNvPr id="9" name="Text 7"/>
          <p:cNvSpPr/>
          <p:nvPr/>
        </p:nvSpPr>
        <p:spPr>
          <a:xfrm>
            <a:off x="2304288" y="2578608"/>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Predict layoffs, diagnose your employer, or make an employment decision for you.</a:t>
            </a:r>
            <a:endParaRPr lang="en-US" sz="1140" dirty="0"/>
          </a:p>
        </p:txBody>
      </p:sp>
      <p:sp>
        <p:nvSpPr>
          <p:cNvPr id="10" name="Text 8"/>
          <p:cNvSpPr/>
          <p:nvPr/>
        </p:nvSpPr>
        <p:spPr>
          <a:xfrm>
            <a:off x="566928" y="3218688"/>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YOUR SCORES</a:t>
            </a:r>
            <a:endParaRPr lang="en-US" sz="840" dirty="0"/>
          </a:p>
        </p:txBody>
      </p:sp>
      <p:sp>
        <p:nvSpPr>
          <p:cNvPr id="11" name="Text 9"/>
          <p:cNvSpPr/>
          <p:nvPr/>
        </p:nvSpPr>
        <p:spPr>
          <a:xfrm>
            <a:off x="2304288" y="3182112"/>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Stay private. Nothing is submitted, collected or shared at any point.</a:t>
            </a:r>
            <a:endParaRPr lang="en-US" sz="1140" dirty="0"/>
          </a:p>
        </p:txBody>
      </p:sp>
      <p:sp>
        <p:nvSpPr>
          <p:cNvPr id="12" name="Text 10"/>
          <p:cNvSpPr/>
          <p:nvPr/>
        </p:nvSpPr>
        <p:spPr>
          <a:xfrm>
            <a:off x="566928" y="3822192"/>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THE RECORDING</a:t>
            </a:r>
            <a:endParaRPr lang="en-US" sz="840" dirty="0"/>
          </a:p>
        </p:txBody>
      </p:sp>
      <p:sp>
        <p:nvSpPr>
          <p:cNvPr id="13" name="Text 11"/>
          <p:cNvSpPr/>
          <p:nvPr/>
        </p:nvSpPr>
        <p:spPr>
          <a:xfrm>
            <a:off x="2304288" y="3785616"/>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The teaching runs to minute 50 and is recorded. The last ten minutes are live questions and are not recorded.</a:t>
            </a:r>
            <a:endParaRPr lang="en-US" sz="1140" dirty="0"/>
          </a:p>
        </p:txBody>
      </p:sp>
      <p:sp>
        <p:nvSpPr>
          <p:cNvPr id="14" name="Text 12"/>
          <p:cNvSpPr/>
          <p:nvPr/>
        </p:nvSpPr>
        <p:spPr>
          <a:xfrm>
            <a:off x="566928" y="4498848"/>
            <a:ext cx="8010144" cy="219456"/>
          </a:xfrm>
          <a:prstGeom prst="rect">
            <a:avLst/>
          </a:prstGeom>
          <a:noFill/>
          <a:ln/>
        </p:spPr>
        <p:txBody>
          <a:bodyPr wrap="square" lIns="0" tIns="0" rIns="0" bIns="0" rtlCol="0" anchor="ctr"/>
          <a:lstStyle/>
          <a:p>
            <a:pPr indent="0" marL="0">
              <a:buNone/>
            </a:pPr>
            <a:r>
              <a:rPr lang="en-US" sz="940" i="1" dirty="0">
                <a:solidFill>
                  <a:srgbClr val="5A6B84"/>
                </a:solidFill>
                <a:latin typeface="DM Sans" pitchFamily="34" charset="0"/>
                <a:ea typeface="DM Sans" pitchFamily="34" charset="-122"/>
                <a:cs typeface="DM Sans" pitchFamily="34" charset="-120"/>
              </a:rPr>
              <a:t>This is not legal, medical, financial, immigration or mental-health advice.</a:t>
            </a:r>
            <a:endParaRPr lang="en-US" sz="940" dirty="0"/>
          </a:p>
        </p:txBody>
      </p:sp>
      <p:sp>
        <p:nvSpPr>
          <p:cNvPr id="16" name="Text 13"/>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7" name="Text 14"/>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DEFINITION ONE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468"/>
              </a:lnSpc>
              <a:buNone/>
            </a:pPr>
            <a:r>
              <a:rPr lang="en-US" sz="3400" b="1" dirty="0">
                <a:solidFill>
                  <a:srgbClr val="0F2347"/>
                </a:solidFill>
                <a:latin typeface="Cormorant Garamond" pitchFamily="34" charset="0"/>
                <a:ea typeface="Cormorant Garamond" pitchFamily="34" charset="-122"/>
                <a:cs typeface="Cormorant Garamond" pitchFamily="34" charset="-120"/>
              </a:rPr>
              <a:t>Density</a:t>
            </a:r>
            <a:endParaRPr lang="en-US" sz="34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Learning velocity. Whether this environment is still forming you.</a:t>
            </a:r>
            <a:endParaRPr lang="en-US" sz="1150" dirty="0"/>
          </a:p>
        </p:txBody>
      </p:sp>
      <p:sp>
        <p:nvSpPr>
          <p:cNvPr id="5" name="Text 3"/>
          <p:cNvSpPr/>
          <p:nvPr/>
        </p:nvSpPr>
        <p:spPr>
          <a:xfrm>
            <a:off x="566928" y="1828800"/>
            <a:ext cx="8010144" cy="640080"/>
          </a:xfrm>
          <a:prstGeom prst="rect">
            <a:avLst/>
          </a:prstGeom>
          <a:noFill/>
          <a:ln/>
        </p:spPr>
        <p:txBody>
          <a:bodyPr wrap="square" lIns="0" tIns="0" rIns="0" bIns="0" rtlCol="0" anchor="ctr"/>
          <a:lstStyle/>
          <a:p>
            <a:pPr indent="0" marL="0">
              <a:lnSpc>
                <a:spcPts val="2000"/>
              </a:lnSpc>
              <a:buNone/>
            </a:pPr>
            <a:r>
              <a:rPr lang="en-US" sz="1400" dirty="0">
                <a:solidFill>
                  <a:srgbClr val="0F2347"/>
                </a:solidFill>
                <a:latin typeface="DM Sans" pitchFamily="34" charset="0"/>
                <a:ea typeface="DM Sans" pitchFamily="34" charset="-122"/>
                <a:cs typeface="DM Sans" pitchFamily="34" charset="-120"/>
              </a:rPr>
              <a:t>Density is whether the environment is still building capability in you. It is a property of your conditions, not your effort. A role can be exhausting and form nothing.</a:t>
            </a:r>
            <a:endParaRPr lang="en-US" sz="1400" dirty="0"/>
          </a:p>
        </p:txBody>
      </p:sp>
      <p:sp>
        <p:nvSpPr>
          <p:cNvPr id="6" name="Shape 4"/>
          <p:cNvSpPr/>
          <p:nvPr/>
        </p:nvSpPr>
        <p:spPr>
          <a:xfrm>
            <a:off x="566928" y="2688336"/>
            <a:ext cx="8010144" cy="658368"/>
          </a:xfrm>
          <a:prstGeom prst="rect">
            <a:avLst/>
          </a:prstGeom>
          <a:solidFill>
            <a:srgbClr val="E9EDF3"/>
          </a:solidFill>
          <a:ln/>
        </p:spPr>
      </p:sp>
      <p:sp>
        <p:nvSpPr>
          <p:cNvPr id="7" name="Text 5"/>
          <p:cNvSpPr/>
          <p:nvPr/>
        </p:nvSpPr>
        <p:spPr>
          <a:xfrm>
            <a:off x="804672" y="2688336"/>
            <a:ext cx="7534656" cy="658368"/>
          </a:xfrm>
          <a:prstGeom prst="rect">
            <a:avLst/>
          </a:prstGeom>
          <a:noFill/>
          <a:ln/>
        </p:spPr>
        <p:txBody>
          <a:bodyPr wrap="square" lIns="0" tIns="0" rIns="0" bIns="0" rtlCol="0" anchor="ctr"/>
          <a:lstStyle/>
          <a:p>
            <a:pPr indent="0" marL="0">
              <a:lnSpc>
                <a:spcPts val="1600"/>
              </a:lnSpc>
              <a:buNone/>
            </a:pPr>
            <a:r>
              <a:rPr lang="en-US" sz="1200" b="1" dirty="0">
                <a:solidFill>
                  <a:srgbClr val="0F2347"/>
                </a:solidFill>
                <a:latin typeface="DM Sans" pitchFamily="34" charset="0"/>
                <a:ea typeface="DM Sans" pitchFamily="34" charset="-122"/>
                <a:cs typeface="DM Sans" pitchFamily="34" charset="-120"/>
              </a:rPr>
              <a:t>Density is not motivation, hours, pressure or effort. It is whether the work is still teaching you something you could not do ninety days ago.</a:t>
            </a:r>
            <a:endParaRPr lang="en-US" sz="1200" dirty="0"/>
          </a:p>
        </p:txBody>
      </p:sp>
      <p:sp>
        <p:nvSpPr>
          <p:cNvPr id="8" name="Text 6"/>
          <p:cNvSpPr/>
          <p:nvPr/>
        </p:nvSpPr>
        <p:spPr>
          <a:xfrm>
            <a:off x="566928" y="356616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Six statements measure it. You will score them in a moment.</a:t>
            </a:r>
            <a:endParaRPr lang="en-US" sz="1150" dirty="0"/>
          </a:p>
        </p:txBody>
      </p:sp>
      <p:sp>
        <p:nvSpPr>
          <p:cNvPr id="10" name="Text 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1" name="Text 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DEFINITION TWO</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468"/>
              </a:lnSpc>
              <a:buNone/>
            </a:pPr>
            <a:r>
              <a:rPr lang="en-US" sz="3400" b="1" dirty="0">
                <a:solidFill>
                  <a:srgbClr val="0F2347"/>
                </a:solidFill>
                <a:latin typeface="Cormorant Garamond" pitchFamily="34" charset="0"/>
                <a:ea typeface="Cormorant Garamond" pitchFamily="34" charset="-122"/>
                <a:cs typeface="Cormorant Garamond" pitchFamily="34" charset="-120"/>
              </a:rPr>
              <a:t>Optionality</a:t>
            </a:r>
            <a:endParaRPr lang="en-US" sz="34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Market portability. Whether what you built travels.</a:t>
            </a:r>
            <a:endParaRPr lang="en-US" sz="1150" dirty="0"/>
          </a:p>
        </p:txBody>
      </p:sp>
      <p:sp>
        <p:nvSpPr>
          <p:cNvPr id="5" name="Text 3"/>
          <p:cNvSpPr/>
          <p:nvPr/>
        </p:nvSpPr>
        <p:spPr>
          <a:xfrm>
            <a:off x="566928" y="1828800"/>
            <a:ext cx="8010144" cy="640080"/>
          </a:xfrm>
          <a:prstGeom prst="rect">
            <a:avLst/>
          </a:prstGeom>
          <a:noFill/>
          <a:ln/>
        </p:spPr>
        <p:txBody>
          <a:bodyPr wrap="square" lIns="0" tIns="0" rIns="0" bIns="0" rtlCol="0" anchor="ctr"/>
          <a:lstStyle/>
          <a:p>
            <a:pPr indent="0" marL="0">
              <a:lnSpc>
                <a:spcPts val="2000"/>
              </a:lnSpc>
              <a:buNone/>
            </a:pPr>
            <a:r>
              <a:rPr lang="en-US" sz="1400" dirty="0">
                <a:solidFill>
                  <a:srgbClr val="0F2347"/>
                </a:solidFill>
                <a:latin typeface="DM Sans" pitchFamily="34" charset="0"/>
                <a:ea typeface="DM Sans" pitchFamily="34" charset="-122"/>
                <a:cs typeface="DM Sans" pitchFamily="34" charset="-120"/>
              </a:rPr>
              <a:t>Optionality is whether the capability you are building would be recognised and valued somewhere other than here. It is about translation and exposure as much as ability.</a:t>
            </a:r>
            <a:endParaRPr lang="en-US" sz="1400" dirty="0"/>
          </a:p>
        </p:txBody>
      </p:sp>
      <p:sp>
        <p:nvSpPr>
          <p:cNvPr id="6" name="Shape 4"/>
          <p:cNvSpPr/>
          <p:nvPr/>
        </p:nvSpPr>
        <p:spPr>
          <a:xfrm>
            <a:off x="566928" y="2688336"/>
            <a:ext cx="8010144" cy="658368"/>
          </a:xfrm>
          <a:prstGeom prst="rect">
            <a:avLst/>
          </a:prstGeom>
          <a:solidFill>
            <a:srgbClr val="E9EDF3"/>
          </a:solidFill>
          <a:ln/>
        </p:spPr>
      </p:sp>
      <p:sp>
        <p:nvSpPr>
          <p:cNvPr id="7" name="Text 5"/>
          <p:cNvSpPr/>
          <p:nvPr/>
        </p:nvSpPr>
        <p:spPr>
          <a:xfrm>
            <a:off x="804672" y="2688336"/>
            <a:ext cx="7534656" cy="658368"/>
          </a:xfrm>
          <a:prstGeom prst="rect">
            <a:avLst/>
          </a:prstGeom>
          <a:noFill/>
          <a:ln/>
        </p:spPr>
        <p:txBody>
          <a:bodyPr wrap="square" lIns="0" tIns="0" rIns="0" bIns="0" rtlCol="0" anchor="ctr"/>
          <a:lstStyle/>
          <a:p>
            <a:pPr indent="0" marL="0">
              <a:lnSpc>
                <a:spcPts val="1600"/>
              </a:lnSpc>
              <a:buNone/>
            </a:pPr>
            <a:r>
              <a:rPr lang="en-US" sz="1200" b="1" dirty="0">
                <a:solidFill>
                  <a:srgbClr val="0F2347"/>
                </a:solidFill>
                <a:latin typeface="DM Sans" pitchFamily="34" charset="0"/>
                <a:ea typeface="DM Sans" pitchFamily="34" charset="-122"/>
                <a:cs typeface="DM Sans" pitchFamily="34" charset="-120"/>
              </a:rPr>
              <a:t>A low Optionality score may reflect context-bound capability, weak translation, limited exposure, or a combination. It is not a verdict on ability or worth.</a:t>
            </a:r>
            <a:endParaRPr lang="en-US" sz="1200" dirty="0"/>
          </a:p>
        </p:txBody>
      </p:sp>
      <p:sp>
        <p:nvSpPr>
          <p:cNvPr id="8" name="Text 6"/>
          <p:cNvSpPr/>
          <p:nvPr/>
        </p:nvSpPr>
        <p:spPr>
          <a:xfrm>
            <a:off x="566928" y="356616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Six statements measure it. Same scale, same window.</a:t>
            </a:r>
            <a:endParaRPr lang="en-US" sz="1150" dirty="0"/>
          </a:p>
        </p:txBody>
      </p:sp>
      <p:sp>
        <p:nvSpPr>
          <p:cNvPr id="10" name="Text 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1" name="Text 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1 to 3</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Density. Live, silent. 1 strongly disagree to 5 strongly agree.</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In the last ninety days I have been handed a problem I did not already know how to solve.</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2</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work close enough to people who are better than me that I can watch how they think.</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3</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My work is reviewed by someone who can tell the difference between good and adequate, and who says so directly.</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4 to 6</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Density, continued. Same window, same instruction.</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4</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The feedback I receive changes what I do next, not just how I feel.</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5</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regularly operate at the edge of my competence rather than the comfortable center of it.</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6</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Looking back six months, the work I do now would have been genuinely hard for me then.</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Your initial Density reading</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Add statements 1 to 6.</a:t>
            </a:r>
            <a:endParaRPr lang="en-US" sz="1150" dirty="0"/>
          </a:p>
        </p:txBody>
      </p:sp>
      <p:sp>
        <p:nvSpPr>
          <p:cNvPr id="5" name="Shape 3"/>
          <p:cNvSpPr/>
          <p:nvPr/>
        </p:nvSpPr>
        <p:spPr>
          <a:xfrm>
            <a:off x="566928" y="1920240"/>
            <a:ext cx="8010144" cy="1188720"/>
          </a:xfrm>
          <a:prstGeom prst="rect">
            <a:avLst/>
          </a:prstGeom>
          <a:solidFill>
            <a:srgbClr val="0F2347"/>
          </a:solidFill>
          <a:ln/>
        </p:spPr>
      </p:sp>
      <p:sp>
        <p:nvSpPr>
          <p:cNvPr id="6" name="Text 4"/>
          <p:cNvSpPr/>
          <p:nvPr/>
        </p:nvSpPr>
        <p:spPr>
          <a:xfrm>
            <a:off x="859536" y="2103120"/>
            <a:ext cx="4572000" cy="219456"/>
          </a:xfrm>
          <a:prstGeom prst="rect">
            <a:avLst/>
          </a:prstGeom>
          <a:noFill/>
          <a:ln/>
        </p:spPr>
        <p:txBody>
          <a:bodyPr wrap="square" lIns="0" tIns="0" rIns="0" bIns="0" rtlCol="0" anchor="ctr"/>
          <a:lstStyle/>
          <a:p>
            <a:pPr indent="0" marL="0">
              <a:buNone/>
            </a:pPr>
            <a:r>
              <a:rPr lang="en-US" sz="950" b="1" spc="130" kern="0" dirty="0">
                <a:solidFill>
                  <a:srgbClr val="C9A84C"/>
                </a:solidFill>
                <a:latin typeface="Montserrat" pitchFamily="34" charset="0"/>
                <a:ea typeface="Montserrat" pitchFamily="34" charset="-122"/>
                <a:cs typeface="Montserrat" pitchFamily="34" charset="-120"/>
              </a:rPr>
              <a:t>INITIAL DENSITY TOTAL</a:t>
            </a:r>
            <a:endParaRPr lang="en-US" sz="950" dirty="0"/>
          </a:p>
        </p:txBody>
      </p:sp>
      <p:sp>
        <p:nvSpPr>
          <p:cNvPr id="7" name="Text 5"/>
          <p:cNvSpPr/>
          <p:nvPr/>
        </p:nvSpPr>
        <p:spPr>
          <a:xfrm>
            <a:off x="859536" y="2414016"/>
            <a:ext cx="4572000" cy="548640"/>
          </a:xfrm>
          <a:prstGeom prst="rect">
            <a:avLst/>
          </a:prstGeom>
          <a:noFill/>
          <a:ln/>
        </p:spPr>
        <p:txBody>
          <a:bodyPr wrap="square" lIns="0" tIns="0" rIns="0" bIns="0" rtlCol="0" anchor="ctr"/>
          <a:lstStyle/>
          <a:p>
            <a:pPr indent="0" marL="0">
              <a:buNone/>
            </a:pPr>
            <a:r>
              <a:rPr lang="en-US" sz="3200" b="1" dirty="0">
                <a:solidFill>
                  <a:srgbClr val="F5F0E8"/>
                </a:solidFill>
                <a:latin typeface="Cormorant Garamond" pitchFamily="34" charset="0"/>
                <a:ea typeface="Cormorant Garamond" pitchFamily="34" charset="-122"/>
                <a:cs typeface="Cormorant Garamond" pitchFamily="34" charset="-120"/>
              </a:rPr>
              <a:t>________  / 30</a:t>
            </a:r>
            <a:endParaRPr lang="en-US" sz="3200" dirty="0"/>
          </a:p>
        </p:txBody>
      </p:sp>
      <p:sp>
        <p:nvSpPr>
          <p:cNvPr id="8" name="Text 6"/>
          <p:cNvSpPr/>
          <p:nvPr/>
        </p:nvSpPr>
        <p:spPr>
          <a:xfrm>
            <a:off x="5486400" y="2139696"/>
            <a:ext cx="2834640" cy="822960"/>
          </a:xfrm>
          <a:prstGeom prst="rect">
            <a:avLst/>
          </a:prstGeom>
          <a:noFill/>
          <a:ln/>
        </p:spPr>
        <p:txBody>
          <a:bodyPr wrap="square" lIns="0" tIns="0" rIns="0" bIns="0" rtlCol="0" anchor="ctr"/>
          <a:lstStyle/>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19 to 30 is high</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6 to 18 is low</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17 to 21 is the boundary band</a:t>
            </a:r>
            <a:endParaRPr lang="en-US" sz="1150" dirty="0"/>
          </a:p>
        </p:txBody>
      </p:sp>
      <p:sp>
        <p:nvSpPr>
          <p:cNvPr id="9" name="Text 7"/>
          <p:cNvSpPr/>
          <p:nvPr/>
        </p:nvSpPr>
        <p:spPr>
          <a:xfrm>
            <a:off x="566928" y="3346704"/>
            <a:ext cx="8010144" cy="274320"/>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Hold the number. Do not share it.</a:t>
            </a:r>
            <a:endParaRPr lang="en-US" sz="1250" dirty="0"/>
          </a:p>
        </p:txBody>
      </p:sp>
      <p:sp>
        <p:nvSpPr>
          <p:cNvPr id="10" name="Text 8"/>
          <p:cNvSpPr/>
          <p:nvPr/>
        </p:nvSpPr>
        <p:spPr>
          <a:xfrm>
            <a:off x="566928" y="3712464"/>
            <a:ext cx="8010144" cy="457200"/>
          </a:xfrm>
          <a:prstGeom prst="rect">
            <a:avLst/>
          </a:prstGeom>
          <a:noFill/>
          <a:ln/>
        </p:spPr>
        <p:txBody>
          <a:bodyPr wrap="square" lIns="0" tIns="0" rIns="0" bIns="0" rtlCol="0" anchor="ctr"/>
          <a:lstStyle/>
          <a:p>
            <a:pPr indent="0" marL="0">
              <a:lnSpc>
                <a:spcPts val="1400"/>
              </a:lnSpc>
              <a:buNone/>
            </a:pPr>
            <a:r>
              <a:rPr lang="en-US" sz="1060" i="1" dirty="0">
                <a:solidFill>
                  <a:srgbClr val="5A6B84"/>
                </a:solidFill>
                <a:latin typeface="DM Sans" pitchFamily="34" charset="0"/>
                <a:ea typeface="DM Sans" pitchFamily="34" charset="-122"/>
                <a:cs typeface="DM Sans" pitchFamily="34" charset="-120"/>
              </a:rPr>
              <a:t>A total inside 17 to 21 sits on the boundary. It does not resolve to high or low — you will read both neighbouring states rather than pick one.</a:t>
            </a:r>
            <a:endParaRPr lang="en-US" sz="1060" dirty="0"/>
          </a:p>
        </p:txBody>
      </p:sp>
      <p:sp>
        <p:nvSpPr>
          <p:cNvPr id="12" name="Text 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3" name="Text 1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7 to 9</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Optionality. Same scale, same window.</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7</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The capability I am building would be valued by an employer in a different industry.</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8</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can describe what I do in terms of outcomes, not just my company’s internal language.</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9</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If my role disappeared tomorrow, the capability I built would still be mine to carry.</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10 to 12</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Optionality, continued. Last block of the first pass.</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10</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People with the power to hire or advance me, inside or outside my company, can already see what I am good at.</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11</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What I am learning is a transferable capability rather than a company-specific procedure.</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12</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could rebuild a strong position somewhere else within a year.</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Your initial Optionality reading</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Add statements 7 to 12.</a:t>
            </a:r>
            <a:endParaRPr lang="en-US" sz="1150" dirty="0"/>
          </a:p>
        </p:txBody>
      </p:sp>
      <p:sp>
        <p:nvSpPr>
          <p:cNvPr id="5" name="Shape 3"/>
          <p:cNvSpPr/>
          <p:nvPr/>
        </p:nvSpPr>
        <p:spPr>
          <a:xfrm>
            <a:off x="566928" y="1920240"/>
            <a:ext cx="8010144" cy="1188720"/>
          </a:xfrm>
          <a:prstGeom prst="rect">
            <a:avLst/>
          </a:prstGeom>
          <a:solidFill>
            <a:srgbClr val="0F2347"/>
          </a:solidFill>
          <a:ln/>
        </p:spPr>
      </p:sp>
      <p:sp>
        <p:nvSpPr>
          <p:cNvPr id="6" name="Text 4"/>
          <p:cNvSpPr/>
          <p:nvPr/>
        </p:nvSpPr>
        <p:spPr>
          <a:xfrm>
            <a:off x="859536" y="2103120"/>
            <a:ext cx="4572000" cy="219456"/>
          </a:xfrm>
          <a:prstGeom prst="rect">
            <a:avLst/>
          </a:prstGeom>
          <a:noFill/>
          <a:ln/>
        </p:spPr>
        <p:txBody>
          <a:bodyPr wrap="square" lIns="0" tIns="0" rIns="0" bIns="0" rtlCol="0" anchor="ctr"/>
          <a:lstStyle/>
          <a:p>
            <a:pPr indent="0" marL="0">
              <a:buNone/>
            </a:pPr>
            <a:r>
              <a:rPr lang="en-US" sz="950" b="1" spc="130" kern="0" dirty="0">
                <a:solidFill>
                  <a:srgbClr val="C9A84C"/>
                </a:solidFill>
                <a:latin typeface="Montserrat" pitchFamily="34" charset="0"/>
                <a:ea typeface="Montserrat" pitchFamily="34" charset="-122"/>
                <a:cs typeface="Montserrat" pitchFamily="34" charset="-120"/>
              </a:rPr>
              <a:t>INITIAL OPTIONALITY TOTAL</a:t>
            </a:r>
            <a:endParaRPr lang="en-US" sz="950" dirty="0"/>
          </a:p>
        </p:txBody>
      </p:sp>
      <p:sp>
        <p:nvSpPr>
          <p:cNvPr id="7" name="Text 5"/>
          <p:cNvSpPr/>
          <p:nvPr/>
        </p:nvSpPr>
        <p:spPr>
          <a:xfrm>
            <a:off x="859536" y="2414016"/>
            <a:ext cx="4572000" cy="548640"/>
          </a:xfrm>
          <a:prstGeom prst="rect">
            <a:avLst/>
          </a:prstGeom>
          <a:noFill/>
          <a:ln/>
        </p:spPr>
        <p:txBody>
          <a:bodyPr wrap="square" lIns="0" tIns="0" rIns="0" bIns="0" rtlCol="0" anchor="ctr"/>
          <a:lstStyle/>
          <a:p>
            <a:pPr indent="0" marL="0">
              <a:buNone/>
            </a:pPr>
            <a:r>
              <a:rPr lang="en-US" sz="3200" b="1" dirty="0">
                <a:solidFill>
                  <a:srgbClr val="F5F0E8"/>
                </a:solidFill>
                <a:latin typeface="Cormorant Garamond" pitchFamily="34" charset="0"/>
                <a:ea typeface="Cormorant Garamond" pitchFamily="34" charset="-122"/>
                <a:cs typeface="Cormorant Garamond" pitchFamily="34" charset="-120"/>
              </a:rPr>
              <a:t>________  / 30</a:t>
            </a:r>
            <a:endParaRPr lang="en-US" sz="3200" dirty="0"/>
          </a:p>
        </p:txBody>
      </p:sp>
      <p:sp>
        <p:nvSpPr>
          <p:cNvPr id="8" name="Text 6"/>
          <p:cNvSpPr/>
          <p:nvPr/>
        </p:nvSpPr>
        <p:spPr>
          <a:xfrm>
            <a:off x="5486400" y="2139696"/>
            <a:ext cx="2834640" cy="822960"/>
          </a:xfrm>
          <a:prstGeom prst="rect">
            <a:avLst/>
          </a:prstGeom>
          <a:noFill/>
          <a:ln/>
        </p:spPr>
        <p:txBody>
          <a:bodyPr wrap="square" lIns="0" tIns="0" rIns="0" bIns="0" rtlCol="0" anchor="ctr"/>
          <a:lstStyle/>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19 to 30 is high</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6 to 18 is low</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17 to 21 is the boundary band</a:t>
            </a:r>
            <a:endParaRPr lang="en-US" sz="1150" dirty="0"/>
          </a:p>
        </p:txBody>
      </p:sp>
      <p:sp>
        <p:nvSpPr>
          <p:cNvPr id="9" name="Text 7"/>
          <p:cNvSpPr/>
          <p:nvPr/>
        </p:nvSpPr>
        <p:spPr>
          <a:xfrm>
            <a:off x="566928" y="3346704"/>
            <a:ext cx="8010144" cy="274320"/>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Hold the number. Do not share it.</a:t>
            </a:r>
            <a:endParaRPr lang="en-US" sz="1250" dirty="0"/>
          </a:p>
        </p:txBody>
      </p:sp>
      <p:sp>
        <p:nvSpPr>
          <p:cNvPr id="10" name="Text 8"/>
          <p:cNvSpPr/>
          <p:nvPr/>
        </p:nvSpPr>
        <p:spPr>
          <a:xfrm>
            <a:off x="566928" y="3712464"/>
            <a:ext cx="8010144" cy="457200"/>
          </a:xfrm>
          <a:prstGeom prst="rect">
            <a:avLst/>
          </a:prstGeom>
          <a:noFill/>
          <a:ln/>
        </p:spPr>
        <p:txBody>
          <a:bodyPr wrap="square" lIns="0" tIns="0" rIns="0" bIns="0" rtlCol="0" anchor="ctr"/>
          <a:lstStyle/>
          <a:p>
            <a:pPr indent="0" marL="0">
              <a:lnSpc>
                <a:spcPts val="1400"/>
              </a:lnSpc>
              <a:buNone/>
            </a:pPr>
            <a:r>
              <a:rPr lang="en-US" sz="1060" i="1" dirty="0">
                <a:solidFill>
                  <a:srgbClr val="5A6B84"/>
                </a:solidFill>
                <a:latin typeface="DM Sans" pitchFamily="34" charset="0"/>
                <a:ea typeface="DM Sans" pitchFamily="34" charset="-122"/>
                <a:cs typeface="DM Sans" pitchFamily="34" charset="-120"/>
              </a:rPr>
              <a:t>A total inside 17 to 21 sits on the boundary. It does not resolve to high or low — you will read both neighbouring states rather than pick one.</a:t>
            </a:r>
            <a:endParaRPr lang="en-US" sz="1060" dirty="0"/>
          </a:p>
        </p:txBody>
      </p:sp>
      <p:sp>
        <p:nvSpPr>
          <p:cNvPr id="12" name="Text 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3" name="Text 1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MATRIX</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The four states</a:t>
            </a:r>
            <a:endParaRPr lang="en-US" sz="3000" dirty="0"/>
          </a:p>
        </p:txBody>
      </p:sp>
      <p:sp>
        <p:nvSpPr>
          <p:cNvPr id="4" name="Text 2"/>
          <p:cNvSpPr/>
          <p:nvPr/>
        </p:nvSpPr>
        <p:spPr>
          <a:xfrm>
            <a:off x="566928" y="1353312"/>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Density crossed with Optionality. Your state reveals a form of exposure your job title cannot.</a:t>
            </a:r>
            <a:endParaRPr lang="en-US" sz="1150" dirty="0"/>
          </a:p>
        </p:txBody>
      </p:sp>
      <p:sp>
        <p:nvSpPr>
          <p:cNvPr id="5" name="Shape 3"/>
          <p:cNvSpPr/>
          <p:nvPr/>
        </p:nvSpPr>
        <p:spPr>
          <a:xfrm>
            <a:off x="1133856" y="1792224"/>
            <a:ext cx="3721608" cy="1207008"/>
          </a:xfrm>
          <a:prstGeom prst="rect">
            <a:avLst/>
          </a:prstGeom>
          <a:solidFill>
            <a:srgbClr val="E9EDF3"/>
          </a:solidFill>
          <a:ln/>
        </p:spPr>
      </p:sp>
      <p:sp>
        <p:nvSpPr>
          <p:cNvPr id="6" name="Text 4"/>
          <p:cNvSpPr/>
          <p:nvPr/>
        </p:nvSpPr>
        <p:spPr>
          <a:xfrm>
            <a:off x="1353312" y="1975104"/>
            <a:ext cx="3282696" cy="237744"/>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DEPTH TRAP</a:t>
            </a:r>
            <a:endParaRPr lang="en-US" sz="1000" dirty="0"/>
          </a:p>
        </p:txBody>
      </p:sp>
      <p:sp>
        <p:nvSpPr>
          <p:cNvPr id="7" name="Text 5"/>
          <p:cNvSpPr/>
          <p:nvPr/>
        </p:nvSpPr>
        <p:spPr>
          <a:xfrm>
            <a:off x="1353312" y="2286000"/>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Deep expertise fused to one context.</a:t>
            </a:r>
            <a:endParaRPr lang="en-US" sz="1100" dirty="0"/>
          </a:p>
        </p:txBody>
      </p:sp>
      <p:sp>
        <p:nvSpPr>
          <p:cNvPr id="8" name="Shape 6"/>
          <p:cNvSpPr/>
          <p:nvPr/>
        </p:nvSpPr>
        <p:spPr>
          <a:xfrm>
            <a:off x="4855464" y="1792224"/>
            <a:ext cx="3721608" cy="1207008"/>
          </a:xfrm>
          <a:prstGeom prst="rect">
            <a:avLst/>
          </a:prstGeom>
          <a:solidFill>
            <a:srgbClr val="0F2347"/>
          </a:solidFill>
          <a:ln/>
        </p:spPr>
      </p:sp>
      <p:sp>
        <p:nvSpPr>
          <p:cNvPr id="9" name="Text 7"/>
          <p:cNvSpPr/>
          <p:nvPr/>
        </p:nvSpPr>
        <p:spPr>
          <a:xfrm>
            <a:off x="5074920" y="1975104"/>
            <a:ext cx="3282696" cy="237744"/>
          </a:xfrm>
          <a:prstGeom prst="rect">
            <a:avLst/>
          </a:prstGeom>
          <a:noFill/>
          <a:ln/>
        </p:spPr>
        <p:txBody>
          <a:bodyPr wrap="square" lIns="0" tIns="0" rIns="0" bIns="0" rtlCol="0" anchor="ctr"/>
          <a:lstStyle/>
          <a:p>
            <a:pPr indent="0" marL="0">
              <a:buNone/>
            </a:pPr>
            <a:r>
              <a:rPr lang="en-US" sz="1000" b="1" spc="100" kern="0" dirty="0">
                <a:solidFill>
                  <a:srgbClr val="C9A84C"/>
                </a:solidFill>
                <a:latin typeface="Montserrat" pitchFamily="34" charset="0"/>
                <a:ea typeface="Montserrat" pitchFamily="34" charset="-122"/>
                <a:cs typeface="Montserrat" pitchFamily="34" charset="-120"/>
              </a:rPr>
              <a:t>COMPOUNDING</a:t>
            </a:r>
            <a:endParaRPr lang="en-US" sz="1000" dirty="0"/>
          </a:p>
        </p:txBody>
      </p:sp>
      <p:sp>
        <p:nvSpPr>
          <p:cNvPr id="10" name="Text 8"/>
          <p:cNvSpPr/>
          <p:nvPr/>
        </p:nvSpPr>
        <p:spPr>
          <a:xfrm>
            <a:off x="5074920" y="2286000"/>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B8C5D9"/>
                </a:solidFill>
                <a:latin typeface="DM Sans" pitchFamily="34" charset="0"/>
                <a:ea typeface="DM Sans" pitchFamily="34" charset="-122"/>
                <a:cs typeface="DM Sans" pitchFamily="34" charset="-120"/>
              </a:rPr>
              <a:t>Deep capability that travels.</a:t>
            </a:r>
            <a:endParaRPr lang="en-US" sz="1100" dirty="0"/>
          </a:p>
        </p:txBody>
      </p:sp>
      <p:sp>
        <p:nvSpPr>
          <p:cNvPr id="11" name="Shape 9"/>
          <p:cNvSpPr/>
          <p:nvPr/>
        </p:nvSpPr>
        <p:spPr>
          <a:xfrm>
            <a:off x="1133856" y="2999232"/>
            <a:ext cx="3721608" cy="1207008"/>
          </a:xfrm>
          <a:prstGeom prst="rect">
            <a:avLst/>
          </a:prstGeom>
          <a:solidFill>
            <a:srgbClr val="E9EDF3"/>
          </a:solidFill>
          <a:ln/>
        </p:spPr>
      </p:sp>
      <p:sp>
        <p:nvSpPr>
          <p:cNvPr id="12" name="Text 10"/>
          <p:cNvSpPr/>
          <p:nvPr/>
        </p:nvSpPr>
        <p:spPr>
          <a:xfrm>
            <a:off x="1353312" y="3182112"/>
            <a:ext cx="3282696" cy="237744"/>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STAGNANT</a:t>
            </a:r>
            <a:endParaRPr lang="en-US" sz="1000" dirty="0"/>
          </a:p>
        </p:txBody>
      </p:sp>
      <p:sp>
        <p:nvSpPr>
          <p:cNvPr id="13" name="Text 11"/>
          <p:cNvSpPr/>
          <p:nvPr/>
        </p:nvSpPr>
        <p:spPr>
          <a:xfrm>
            <a:off x="1353312" y="3493008"/>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The work stopped asking more of you.</a:t>
            </a:r>
            <a:endParaRPr lang="en-US" sz="1100" dirty="0"/>
          </a:p>
        </p:txBody>
      </p:sp>
      <p:sp>
        <p:nvSpPr>
          <p:cNvPr id="14" name="Shape 12"/>
          <p:cNvSpPr/>
          <p:nvPr/>
        </p:nvSpPr>
        <p:spPr>
          <a:xfrm>
            <a:off x="4855464" y="2999232"/>
            <a:ext cx="3721608" cy="1207008"/>
          </a:xfrm>
          <a:prstGeom prst="rect">
            <a:avLst/>
          </a:prstGeom>
          <a:solidFill>
            <a:srgbClr val="E9EDF3"/>
          </a:solidFill>
          <a:ln/>
        </p:spPr>
      </p:sp>
      <p:sp>
        <p:nvSpPr>
          <p:cNvPr id="15" name="Text 13"/>
          <p:cNvSpPr/>
          <p:nvPr/>
        </p:nvSpPr>
        <p:spPr>
          <a:xfrm>
            <a:off x="5074920" y="3182112"/>
            <a:ext cx="3282696" cy="237744"/>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FRAGILE</a:t>
            </a:r>
            <a:endParaRPr lang="en-US" sz="1000" dirty="0"/>
          </a:p>
        </p:txBody>
      </p:sp>
      <p:sp>
        <p:nvSpPr>
          <p:cNvPr id="16" name="Text 14"/>
          <p:cNvSpPr/>
          <p:nvPr/>
        </p:nvSpPr>
        <p:spPr>
          <a:xfrm>
            <a:off x="5074920" y="3493008"/>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Options on paper, not enough depth beneath.</a:t>
            </a:r>
            <a:endParaRPr lang="en-US" sz="1100" dirty="0"/>
          </a:p>
        </p:txBody>
      </p:sp>
      <p:sp>
        <p:nvSpPr>
          <p:cNvPr id="17" name="Text 15"/>
          <p:cNvSpPr/>
          <p:nvPr/>
        </p:nvSpPr>
        <p:spPr>
          <a:xfrm rot="16200000">
            <a:off x="182880" y="2249424"/>
            <a:ext cx="1280160" cy="182880"/>
          </a:xfrm>
          <a:prstGeom prst="rect">
            <a:avLst/>
          </a:prstGeom>
          <a:noFill/>
          <a:ln/>
        </p:spPr>
        <p:txBody>
          <a:bodyPr wrap="square" lIns="0" tIns="0" rIns="0" bIns="0" rtlCol="0" anchor="ctr"/>
          <a:lstStyle/>
          <a:p>
            <a:pPr algn="ctr" indent="0" marL="0">
              <a:buNone/>
            </a:pPr>
            <a:r>
              <a:rPr lang="en-US" sz="740" b="1" dirty="0">
                <a:solidFill>
                  <a:srgbClr val="5A6B84"/>
                </a:solidFill>
                <a:latin typeface="Montserrat" pitchFamily="34" charset="0"/>
                <a:ea typeface="Montserrat" pitchFamily="34" charset="-122"/>
                <a:cs typeface="Montserrat" pitchFamily="34" charset="-120"/>
              </a:rPr>
              <a:t>DENSITY / HIGH</a:t>
            </a:r>
            <a:endParaRPr lang="en-US" sz="740" dirty="0"/>
          </a:p>
        </p:txBody>
      </p:sp>
      <p:sp>
        <p:nvSpPr>
          <p:cNvPr id="18" name="Text 16"/>
          <p:cNvSpPr/>
          <p:nvPr/>
        </p:nvSpPr>
        <p:spPr>
          <a:xfrm rot="16200000">
            <a:off x="182880" y="3456432"/>
            <a:ext cx="1280160" cy="182880"/>
          </a:xfrm>
          <a:prstGeom prst="rect">
            <a:avLst/>
          </a:prstGeom>
          <a:noFill/>
          <a:ln/>
        </p:spPr>
        <p:txBody>
          <a:bodyPr wrap="square" lIns="0" tIns="0" rIns="0" bIns="0" rtlCol="0" anchor="ctr"/>
          <a:lstStyle/>
          <a:p>
            <a:pPr algn="ctr" indent="0" marL="0">
              <a:buNone/>
            </a:pPr>
            <a:r>
              <a:rPr lang="en-US" sz="740" b="1" dirty="0">
                <a:solidFill>
                  <a:srgbClr val="5A6B84"/>
                </a:solidFill>
                <a:latin typeface="Montserrat" pitchFamily="34" charset="0"/>
                <a:ea typeface="Montserrat" pitchFamily="34" charset="-122"/>
                <a:cs typeface="Montserrat" pitchFamily="34" charset="-120"/>
              </a:rPr>
              <a:t>DENSITY / LOW</a:t>
            </a:r>
            <a:endParaRPr lang="en-US" sz="740" dirty="0"/>
          </a:p>
        </p:txBody>
      </p:sp>
      <p:sp>
        <p:nvSpPr>
          <p:cNvPr id="19" name="Text 17"/>
          <p:cNvSpPr/>
          <p:nvPr/>
        </p:nvSpPr>
        <p:spPr>
          <a:xfrm>
            <a:off x="1133856" y="4315968"/>
            <a:ext cx="7443216" cy="219456"/>
          </a:xfrm>
          <a:prstGeom prst="rect">
            <a:avLst/>
          </a:prstGeom>
          <a:noFill/>
          <a:ln/>
        </p:spPr>
        <p:txBody>
          <a:bodyPr wrap="square" lIns="0" tIns="0" rIns="0" bIns="0" rtlCol="0" anchor="ctr"/>
          <a:lstStyle/>
          <a:p>
            <a:pPr algn="ctr" indent="0" marL="0">
              <a:buNone/>
            </a:pPr>
            <a:r>
              <a:rPr lang="en-US" sz="760" b="1" spc="120" kern="0" dirty="0">
                <a:solidFill>
                  <a:srgbClr val="5A6B84"/>
                </a:solidFill>
                <a:latin typeface="Montserrat" pitchFamily="34" charset="0"/>
                <a:ea typeface="Montserrat" pitchFamily="34" charset="-122"/>
                <a:cs typeface="Montserrat" pitchFamily="34" charset="-120"/>
              </a:rPr>
              <a:t>OPTIONALITY:  LOW AT LEFT   →   HIGH AT RIGHT</a:t>
            </a:r>
            <a:endParaRPr lang="en-US" sz="760" dirty="0"/>
          </a:p>
        </p:txBody>
      </p:sp>
      <p:sp>
        <p:nvSpPr>
          <p:cNvPr id="21" name="Text 18"/>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2" name="Text 19"/>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FIRST PLACEMENT</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Place yourself. Privately, and provisionally.</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Cross your two numbers, then rate your confidence in the placement from 1 to 5.</a:t>
            </a:r>
            <a:endParaRPr lang="en-US" sz="1150" dirty="0"/>
          </a:p>
        </p:txBody>
      </p:sp>
      <p:sp>
        <p:nvSpPr>
          <p:cNvPr id="5" name="Shape 3"/>
          <p:cNvSpPr/>
          <p:nvPr/>
        </p:nvSpPr>
        <p:spPr>
          <a:xfrm>
            <a:off x="566928" y="1938528"/>
            <a:ext cx="274320" cy="274320"/>
          </a:xfrm>
          <a:prstGeom prst="rect">
            <a:avLst/>
          </a:prstGeom>
          <a:solidFill>
            <a:srgbClr val="0F2347"/>
          </a:solidFill>
          <a:ln/>
        </p:spPr>
      </p:sp>
      <p:sp>
        <p:nvSpPr>
          <p:cNvPr id="6" name="Text 4"/>
          <p:cNvSpPr/>
          <p:nvPr/>
        </p:nvSpPr>
        <p:spPr>
          <a:xfrm>
            <a:off x="566928" y="1938528"/>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1</a:t>
            </a:r>
            <a:endParaRPr lang="en-US" sz="950" dirty="0"/>
          </a:p>
        </p:txBody>
      </p:sp>
      <p:sp>
        <p:nvSpPr>
          <p:cNvPr id="7" name="Text 5"/>
          <p:cNvSpPr/>
          <p:nvPr/>
        </p:nvSpPr>
        <p:spPr>
          <a:xfrm>
            <a:off x="1005840" y="1911096"/>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Cross Density and Optionality</a:t>
            </a:r>
            <a:endParaRPr lang="en-US" sz="1300" dirty="0"/>
          </a:p>
        </p:txBody>
      </p:sp>
      <p:sp>
        <p:nvSpPr>
          <p:cNvPr id="8" name="Text 6"/>
          <p:cNvSpPr/>
          <p:nvPr/>
        </p:nvSpPr>
        <p:spPr>
          <a:xfrm>
            <a:off x="1005840" y="2167128"/>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Two totals, one square. If either total sits inside 17 to 21, mark it boundary instead of picking a square.</a:t>
            </a:r>
            <a:endParaRPr lang="en-US" sz="1100" dirty="0"/>
          </a:p>
        </p:txBody>
      </p:sp>
      <p:sp>
        <p:nvSpPr>
          <p:cNvPr id="9" name="Shape 7"/>
          <p:cNvSpPr/>
          <p:nvPr/>
        </p:nvSpPr>
        <p:spPr>
          <a:xfrm>
            <a:off x="566928" y="2596896"/>
            <a:ext cx="274320" cy="274320"/>
          </a:xfrm>
          <a:prstGeom prst="rect">
            <a:avLst/>
          </a:prstGeom>
          <a:solidFill>
            <a:srgbClr val="0F2347"/>
          </a:solidFill>
          <a:ln/>
        </p:spPr>
      </p:sp>
      <p:sp>
        <p:nvSpPr>
          <p:cNvPr id="10" name="Text 8"/>
          <p:cNvSpPr/>
          <p:nvPr/>
        </p:nvSpPr>
        <p:spPr>
          <a:xfrm>
            <a:off x="566928" y="259689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2</a:t>
            </a:r>
            <a:endParaRPr lang="en-US" sz="950" dirty="0"/>
          </a:p>
        </p:txBody>
      </p:sp>
      <p:sp>
        <p:nvSpPr>
          <p:cNvPr id="11" name="Text 9"/>
          <p:cNvSpPr/>
          <p:nvPr/>
        </p:nvSpPr>
        <p:spPr>
          <a:xfrm>
            <a:off x="1005840" y="2569464"/>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Rate your confidence from 1 to 5</a:t>
            </a:r>
            <a:endParaRPr lang="en-US" sz="1300" dirty="0"/>
          </a:p>
        </p:txBody>
      </p:sp>
      <p:sp>
        <p:nvSpPr>
          <p:cNvPr id="12" name="Text 10"/>
          <p:cNvSpPr/>
          <p:nvPr/>
        </p:nvSpPr>
        <p:spPr>
          <a:xfrm>
            <a:off x="1005840" y="2825496"/>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Write the number privately. You will compare it against your confidence after the evidence pass.</a:t>
            </a:r>
            <a:endParaRPr lang="en-US" sz="1100" dirty="0"/>
          </a:p>
        </p:txBody>
      </p:sp>
      <p:sp>
        <p:nvSpPr>
          <p:cNvPr id="13" name="Shape 11"/>
          <p:cNvSpPr/>
          <p:nvPr/>
        </p:nvSpPr>
        <p:spPr>
          <a:xfrm>
            <a:off x="566928" y="3255264"/>
            <a:ext cx="274320" cy="274320"/>
          </a:xfrm>
          <a:prstGeom prst="rect">
            <a:avLst/>
          </a:prstGeom>
          <a:solidFill>
            <a:srgbClr val="0F2347"/>
          </a:solidFill>
          <a:ln/>
        </p:spPr>
      </p:sp>
      <p:sp>
        <p:nvSpPr>
          <p:cNvPr id="14" name="Text 12"/>
          <p:cNvSpPr/>
          <p:nvPr/>
        </p:nvSpPr>
        <p:spPr>
          <a:xfrm>
            <a:off x="566928" y="3255264"/>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3</a:t>
            </a:r>
            <a:endParaRPr lang="en-US" sz="950" dirty="0"/>
          </a:p>
        </p:txBody>
      </p:sp>
      <p:sp>
        <p:nvSpPr>
          <p:cNvPr id="15" name="Text 13"/>
          <p:cNvSpPr/>
          <p:nvPr/>
        </p:nvSpPr>
        <p:spPr>
          <a:xfrm>
            <a:off x="1005840" y="3227832"/>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Hold it lightly</a:t>
            </a:r>
            <a:endParaRPr lang="en-US" sz="1300" dirty="0"/>
          </a:p>
        </p:txBody>
      </p:sp>
      <p:sp>
        <p:nvSpPr>
          <p:cNvPr id="16" name="Text 14"/>
          <p:cNvSpPr/>
          <p:nvPr/>
        </p:nvSpPr>
        <p:spPr>
          <a:xfrm>
            <a:off x="1005840" y="3483864"/>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This is a first read, not a finding. State is not identity — it reads conditions in a ninety-day window, and it moves.</a:t>
            </a:r>
            <a:endParaRPr lang="en-US" sz="1100" dirty="0"/>
          </a:p>
        </p:txBody>
      </p:sp>
      <p:sp>
        <p:nvSpPr>
          <p:cNvPr id="17" name="Shape 15"/>
          <p:cNvSpPr/>
          <p:nvPr/>
        </p:nvSpPr>
        <p:spPr>
          <a:xfrm>
            <a:off x="566928" y="4005072"/>
            <a:ext cx="8010144" cy="512064"/>
          </a:xfrm>
          <a:prstGeom prst="rect">
            <a:avLst/>
          </a:prstGeom>
          <a:solidFill>
            <a:srgbClr val="E9EDF3"/>
          </a:solidFill>
          <a:ln/>
        </p:spPr>
      </p:sp>
      <p:sp>
        <p:nvSpPr>
          <p:cNvPr id="18" name="Text 16"/>
          <p:cNvSpPr/>
          <p:nvPr/>
        </p:nvSpPr>
        <p:spPr>
          <a:xfrm>
            <a:off x="804672" y="4005072"/>
            <a:ext cx="7534656" cy="512064"/>
          </a:xfrm>
          <a:prstGeom prst="rect">
            <a:avLst/>
          </a:prstGeom>
          <a:noFill/>
          <a:ln/>
        </p:spPr>
        <p:txBody>
          <a:bodyPr wrap="square" lIns="0" tIns="0" rIns="0" bIns="0" rtlCol="0" anchor="ctr"/>
          <a:lstStyle/>
          <a:p>
            <a:pPr indent="0" marL="0">
              <a:buNone/>
            </a:pPr>
            <a:r>
              <a:rPr lang="en-US" sz="1150" b="1" dirty="0">
                <a:solidFill>
                  <a:srgbClr val="0F2347"/>
                </a:solidFill>
                <a:latin typeface="DM Sans" pitchFamily="34" charset="0"/>
                <a:ea typeface="DM Sans" pitchFamily="34" charset="-122"/>
                <a:cs typeface="DM Sans" pitchFamily="34" charset="-120"/>
              </a:rPr>
              <a:t>No one is asked to share a square. Nothing is collected.</a:t>
            </a:r>
            <a:endParaRPr lang="en-US" sz="1150" dirty="0"/>
          </a:p>
        </p:txBody>
      </p:sp>
      <p:sp>
        <p:nvSpPr>
          <p:cNvPr id="20" name="Text 1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1" name="Text 1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STANDARD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The evidence protocol</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This is what your second reading has to survive.</a:t>
            </a:r>
            <a:endParaRPr lang="en-US" sz="1150" dirty="0"/>
          </a:p>
        </p:txBody>
      </p:sp>
      <p:sp>
        <p:nvSpPr>
          <p:cNvPr id="5" name="Shape 3"/>
          <p:cNvSpPr/>
          <p:nvPr/>
        </p:nvSpPr>
        <p:spPr>
          <a:xfrm>
            <a:off x="566928" y="1810512"/>
            <a:ext cx="8010144" cy="512064"/>
          </a:xfrm>
          <a:prstGeom prst="rect">
            <a:avLst/>
          </a:prstGeom>
          <a:solidFill>
            <a:srgbClr val="0F2347"/>
          </a:solidFill>
          <a:ln/>
        </p:spPr>
      </p:sp>
      <p:sp>
        <p:nvSpPr>
          <p:cNvPr id="6" name="Text 4"/>
          <p:cNvSpPr/>
          <p:nvPr/>
        </p:nvSpPr>
        <p:spPr>
          <a:xfrm>
            <a:off x="804672" y="1810512"/>
            <a:ext cx="7534656" cy="512064"/>
          </a:xfrm>
          <a:prstGeom prst="rect">
            <a:avLst/>
          </a:prstGeom>
          <a:noFill/>
          <a:ln/>
        </p:spPr>
        <p:txBody>
          <a:bodyPr wrap="square" lIns="0" tIns="0" rIns="0" bIns="0" rtlCol="0" anchor="ctr"/>
          <a:lstStyle/>
          <a:p>
            <a:pPr indent="0" marL="0">
              <a:buNone/>
            </a:pPr>
            <a:r>
              <a:rPr lang="en-US" sz="1600" b="1" dirty="0">
                <a:solidFill>
                  <a:srgbClr val="F5F0E8"/>
                </a:solidFill>
                <a:latin typeface="Cormorant Garamond" pitchFamily="34" charset="0"/>
                <a:ea typeface="Cormorant Garamond" pitchFamily="34" charset="-122"/>
                <a:cs typeface="Cormorant Garamond" pitchFamily="34" charset="-120"/>
              </a:rPr>
              <a:t>Every corrected score requires an evidence line from the last ninety days. Every score, in both directions.</a:t>
            </a:r>
            <a:endParaRPr lang="en-US" sz="1600" dirty="0"/>
          </a:p>
        </p:txBody>
      </p:sp>
      <p:sp>
        <p:nvSpPr>
          <p:cNvPr id="7" name="Shape 5"/>
          <p:cNvSpPr/>
          <p:nvPr/>
        </p:nvSpPr>
        <p:spPr>
          <a:xfrm>
            <a:off x="566928" y="2468880"/>
            <a:ext cx="8010144" cy="402336"/>
          </a:xfrm>
          <a:prstGeom prst="rect">
            <a:avLst/>
          </a:prstGeom>
          <a:solidFill>
            <a:srgbClr val="E9EDF3"/>
          </a:solidFill>
          <a:ln/>
        </p:spPr>
      </p:sp>
      <p:sp>
        <p:nvSpPr>
          <p:cNvPr id="8" name="Text 6"/>
          <p:cNvSpPr/>
          <p:nvPr/>
        </p:nvSpPr>
        <p:spPr>
          <a:xfrm>
            <a:off x="768096" y="2468880"/>
            <a:ext cx="1097280" cy="402336"/>
          </a:xfrm>
          <a:prstGeom prst="rect">
            <a:avLst/>
          </a:prstGeom>
          <a:noFill/>
          <a:ln/>
        </p:spPr>
        <p:txBody>
          <a:bodyPr wrap="square" lIns="0" tIns="0" rIns="0" bIns="0" rtlCol="0" anchor="ctr"/>
          <a:lstStyle/>
          <a:p>
            <a:pPr indent="0" marL="0">
              <a:buNone/>
            </a:pPr>
            <a:r>
              <a:rPr lang="en-US" sz="900" b="1" dirty="0">
                <a:solidFill>
                  <a:srgbClr val="0F2347"/>
                </a:solidFill>
                <a:latin typeface="Montserrat" pitchFamily="34" charset="0"/>
                <a:ea typeface="Montserrat" pitchFamily="34" charset="-122"/>
                <a:cs typeface="Montserrat" pitchFamily="34" charset="-120"/>
              </a:rPr>
              <a:t>A 4 OR 5</a:t>
            </a:r>
            <a:endParaRPr lang="en-US" sz="900" dirty="0"/>
          </a:p>
        </p:txBody>
      </p:sp>
      <p:sp>
        <p:nvSpPr>
          <p:cNvPr id="9" name="Text 7"/>
          <p:cNvSpPr/>
          <p:nvPr/>
        </p:nvSpPr>
        <p:spPr>
          <a:xfrm>
            <a:off x="1984248" y="2468880"/>
            <a:ext cx="6391656" cy="402336"/>
          </a:xfrm>
          <a:prstGeom prst="rect">
            <a:avLst/>
          </a:prstGeom>
          <a:noFill/>
          <a:ln/>
        </p:spPr>
        <p:txBody>
          <a:bodyPr wrap="square" lIns="0" tIns="0" rIns="0" bIns="0" rtlCol="0" anchor="ctr"/>
          <a:lstStyle/>
          <a:p>
            <a:pPr indent="0" marL="0">
              <a:buNone/>
            </a:pPr>
            <a:r>
              <a:rPr lang="en-US" sz="1100" dirty="0">
                <a:solidFill>
                  <a:srgbClr val="0F2347"/>
                </a:solidFill>
                <a:latin typeface="DM Sans" pitchFamily="34" charset="0"/>
                <a:ea typeface="DM Sans" pitchFamily="34" charset="-122"/>
                <a:cs typeface="DM Sans" pitchFamily="34" charset="-120"/>
              </a:rPr>
              <a:t>At least one clear positive instance from within the window.</a:t>
            </a:r>
            <a:endParaRPr lang="en-US" sz="1100" dirty="0"/>
          </a:p>
        </p:txBody>
      </p:sp>
      <p:sp>
        <p:nvSpPr>
          <p:cNvPr id="10" name="Shape 8"/>
          <p:cNvSpPr/>
          <p:nvPr/>
        </p:nvSpPr>
        <p:spPr>
          <a:xfrm>
            <a:off x="566928" y="2944368"/>
            <a:ext cx="8010144" cy="402336"/>
          </a:xfrm>
          <a:prstGeom prst="rect">
            <a:avLst/>
          </a:prstGeom>
          <a:solidFill>
            <a:srgbClr val="E9EDF3"/>
          </a:solidFill>
          <a:ln/>
        </p:spPr>
      </p:sp>
      <p:sp>
        <p:nvSpPr>
          <p:cNvPr id="11" name="Text 9"/>
          <p:cNvSpPr/>
          <p:nvPr/>
        </p:nvSpPr>
        <p:spPr>
          <a:xfrm>
            <a:off x="768096" y="2944368"/>
            <a:ext cx="1097280" cy="402336"/>
          </a:xfrm>
          <a:prstGeom prst="rect">
            <a:avLst/>
          </a:prstGeom>
          <a:noFill/>
          <a:ln/>
        </p:spPr>
        <p:txBody>
          <a:bodyPr wrap="square" lIns="0" tIns="0" rIns="0" bIns="0" rtlCol="0" anchor="ctr"/>
          <a:lstStyle/>
          <a:p>
            <a:pPr indent="0" marL="0">
              <a:buNone/>
            </a:pPr>
            <a:r>
              <a:rPr lang="en-US" sz="900" b="1" dirty="0">
                <a:solidFill>
                  <a:srgbClr val="0F2347"/>
                </a:solidFill>
                <a:latin typeface="Montserrat" pitchFamily="34" charset="0"/>
                <a:ea typeface="Montserrat" pitchFamily="34" charset="-122"/>
                <a:cs typeface="Montserrat" pitchFamily="34" charset="-120"/>
              </a:rPr>
              <a:t>A 3</a:t>
            </a:r>
            <a:endParaRPr lang="en-US" sz="900" dirty="0"/>
          </a:p>
        </p:txBody>
      </p:sp>
      <p:sp>
        <p:nvSpPr>
          <p:cNvPr id="12" name="Text 10"/>
          <p:cNvSpPr/>
          <p:nvPr/>
        </p:nvSpPr>
        <p:spPr>
          <a:xfrm>
            <a:off x="1984248" y="2944368"/>
            <a:ext cx="6391656" cy="402336"/>
          </a:xfrm>
          <a:prstGeom prst="rect">
            <a:avLst/>
          </a:prstGeom>
          <a:noFill/>
          <a:ln/>
        </p:spPr>
        <p:txBody>
          <a:bodyPr wrap="square" lIns="0" tIns="0" rIns="0" bIns="0" rtlCol="0" anchor="ctr"/>
          <a:lstStyle/>
          <a:p>
            <a:pPr indent="0" marL="0">
              <a:buNone/>
            </a:pPr>
            <a:r>
              <a:rPr lang="en-US" sz="1100" dirty="0">
                <a:solidFill>
                  <a:srgbClr val="0F2347"/>
                </a:solidFill>
                <a:latin typeface="DM Sans" pitchFamily="34" charset="0"/>
                <a:ea typeface="DM Sans" pitchFamily="34" charset="-122"/>
                <a:cs typeface="DM Sans" pitchFamily="34" charset="-120"/>
              </a:rPr>
              <a:t>The mixed or inconsistent pattern. A 3 is a reading, not an absence of one.</a:t>
            </a:r>
            <a:endParaRPr lang="en-US" sz="1100" dirty="0"/>
          </a:p>
        </p:txBody>
      </p:sp>
      <p:sp>
        <p:nvSpPr>
          <p:cNvPr id="13" name="Shape 11"/>
          <p:cNvSpPr/>
          <p:nvPr/>
        </p:nvSpPr>
        <p:spPr>
          <a:xfrm>
            <a:off x="566928" y="3419856"/>
            <a:ext cx="8010144" cy="402336"/>
          </a:xfrm>
          <a:prstGeom prst="rect">
            <a:avLst/>
          </a:prstGeom>
          <a:solidFill>
            <a:srgbClr val="E9EDF3"/>
          </a:solidFill>
          <a:ln/>
        </p:spPr>
      </p:sp>
      <p:sp>
        <p:nvSpPr>
          <p:cNvPr id="14" name="Text 12"/>
          <p:cNvSpPr/>
          <p:nvPr/>
        </p:nvSpPr>
        <p:spPr>
          <a:xfrm>
            <a:off x="768096" y="3419856"/>
            <a:ext cx="1097280" cy="402336"/>
          </a:xfrm>
          <a:prstGeom prst="rect">
            <a:avLst/>
          </a:prstGeom>
          <a:noFill/>
          <a:ln/>
        </p:spPr>
        <p:txBody>
          <a:bodyPr wrap="square" lIns="0" tIns="0" rIns="0" bIns="0" rtlCol="0" anchor="ctr"/>
          <a:lstStyle/>
          <a:p>
            <a:pPr indent="0" marL="0">
              <a:buNone/>
            </a:pPr>
            <a:r>
              <a:rPr lang="en-US" sz="900" b="1" dirty="0">
                <a:solidFill>
                  <a:srgbClr val="0F2347"/>
                </a:solidFill>
                <a:latin typeface="Montserrat" pitchFamily="34" charset="0"/>
                <a:ea typeface="Montserrat" pitchFamily="34" charset="-122"/>
                <a:cs typeface="Montserrat" pitchFamily="34" charset="-120"/>
              </a:rPr>
              <a:t>A 1 OR 2</a:t>
            </a:r>
            <a:endParaRPr lang="en-US" sz="900" dirty="0"/>
          </a:p>
        </p:txBody>
      </p:sp>
      <p:sp>
        <p:nvSpPr>
          <p:cNvPr id="15" name="Text 13"/>
          <p:cNvSpPr/>
          <p:nvPr/>
        </p:nvSpPr>
        <p:spPr>
          <a:xfrm>
            <a:off x="1984248" y="3419856"/>
            <a:ext cx="6391656" cy="402336"/>
          </a:xfrm>
          <a:prstGeom prst="rect">
            <a:avLst/>
          </a:prstGeom>
          <a:noFill/>
          <a:ln/>
        </p:spPr>
        <p:txBody>
          <a:bodyPr wrap="square" lIns="0" tIns="0" rIns="0" bIns="0" rtlCol="0" anchor="ctr"/>
          <a:lstStyle/>
          <a:p>
            <a:pPr indent="0" marL="0">
              <a:buNone/>
            </a:pPr>
            <a:r>
              <a:rPr lang="en-US" sz="1100" dirty="0">
                <a:solidFill>
                  <a:srgbClr val="0F2347"/>
                </a:solidFill>
                <a:latin typeface="DM Sans" pitchFamily="34" charset="0"/>
                <a:ea typeface="DM Sans" pitchFamily="34" charset="-122"/>
                <a:cs typeface="DM Sans" pitchFamily="34" charset="-120"/>
              </a:rPr>
              <a:t>What repeatedly happened instead, a counterexample, or no qualifying instance in the window.</a:t>
            </a:r>
            <a:endParaRPr lang="en-US" sz="1100" dirty="0"/>
          </a:p>
        </p:txBody>
      </p:sp>
      <p:sp>
        <p:nvSpPr>
          <p:cNvPr id="16" name="Shape 14"/>
          <p:cNvSpPr/>
          <p:nvPr/>
        </p:nvSpPr>
        <p:spPr>
          <a:xfrm>
            <a:off x="566928" y="3895344"/>
            <a:ext cx="8010144" cy="402336"/>
          </a:xfrm>
          <a:prstGeom prst="rect">
            <a:avLst/>
          </a:prstGeom>
          <a:solidFill>
            <a:srgbClr val="C1440E"/>
          </a:solidFill>
          <a:ln/>
        </p:spPr>
      </p:sp>
      <p:sp>
        <p:nvSpPr>
          <p:cNvPr id="17" name="Text 15"/>
          <p:cNvSpPr/>
          <p:nvPr/>
        </p:nvSpPr>
        <p:spPr>
          <a:xfrm>
            <a:off x="768096" y="3895344"/>
            <a:ext cx="1097280" cy="402336"/>
          </a:xfrm>
          <a:prstGeom prst="rect">
            <a:avLst/>
          </a:prstGeom>
          <a:noFill/>
          <a:ln/>
        </p:spPr>
        <p:txBody>
          <a:bodyPr wrap="square" lIns="0" tIns="0" rIns="0" bIns="0" rtlCol="0" anchor="ctr"/>
          <a:lstStyle/>
          <a:p>
            <a:pPr indent="0" marL="0">
              <a:buNone/>
            </a:pPr>
            <a:r>
              <a:rPr lang="en-US" sz="900" b="1" dirty="0">
                <a:solidFill>
                  <a:srgbClr val="F5F0E8"/>
                </a:solidFill>
                <a:latin typeface="Montserrat" pitchFamily="34" charset="0"/>
                <a:ea typeface="Montserrat" pitchFamily="34" charset="-122"/>
                <a:cs typeface="Montserrat" pitchFamily="34" charset="-120"/>
              </a:rPr>
              <a:t>A  ?</a:t>
            </a:r>
            <a:endParaRPr lang="en-US" sz="900" dirty="0"/>
          </a:p>
        </p:txBody>
      </p:sp>
      <p:sp>
        <p:nvSpPr>
          <p:cNvPr id="18" name="Text 16"/>
          <p:cNvSpPr/>
          <p:nvPr/>
        </p:nvSpPr>
        <p:spPr>
          <a:xfrm>
            <a:off x="1984248" y="3895344"/>
            <a:ext cx="6391656" cy="402336"/>
          </a:xfrm>
          <a:prstGeom prst="rect">
            <a:avLst/>
          </a:prstGeom>
          <a:noFill/>
          <a:ln/>
        </p:spPr>
        <p:txBody>
          <a:bodyPr wrap="square" lIns="0" tIns="0" rIns="0" bIns="0" rtlCol="0" anchor="ctr"/>
          <a:lstStyle/>
          <a:p>
            <a:pPr indent="0" marL="0">
              <a:buNone/>
            </a:pPr>
            <a:r>
              <a:rPr lang="en-US" sz="1100" b="1" dirty="0">
                <a:solidFill>
                  <a:srgbClr val="F5F0E8"/>
                </a:solidFill>
                <a:latin typeface="DM Sans" pitchFamily="34" charset="0"/>
                <a:ea typeface="DM Sans" pitchFamily="34" charset="-122"/>
                <a:cs typeface="DM Sans" pitchFamily="34" charset="-120"/>
              </a:rPr>
              <a:t>Cannot support it either way? Write your most defensible number and add one question mark: 3?, 4?, 2?</a:t>
            </a:r>
            <a:endParaRPr lang="en-US" sz="1100" dirty="0"/>
          </a:p>
        </p:txBody>
      </p:sp>
      <p:sp>
        <p:nvSpPr>
          <p:cNvPr id="19" name="Text 17"/>
          <p:cNvSpPr/>
          <p:nvPr/>
        </p:nvSpPr>
        <p:spPr>
          <a:xfrm>
            <a:off x="566928" y="4443984"/>
            <a:ext cx="8010144" cy="237744"/>
          </a:xfrm>
          <a:prstGeom prst="rect">
            <a:avLst/>
          </a:prstGeom>
          <a:noFill/>
          <a:ln/>
        </p:spPr>
        <p:txBody>
          <a:bodyPr wrap="square" lIns="0" tIns="0" rIns="0" bIns="0" rtlCol="0" anchor="ctr"/>
          <a:lstStyle/>
          <a:p>
            <a:pPr algn="ctr" indent="0" marL="0">
              <a:buNone/>
            </a:pPr>
            <a:r>
              <a:rPr lang="en-US" sz="1150" b="1" dirty="0">
                <a:solidFill>
                  <a:srgbClr val="0F2347"/>
                </a:solidFill>
                <a:latin typeface="DM Sans" pitchFamily="34" charset="0"/>
                <a:ea typeface="DM Sans" pitchFamily="34" charset="-122"/>
                <a:cs typeface="DM Sans" pitchFamily="34" charset="-120"/>
              </a:rPr>
              <a:t>A 3 means mixed. A question mark means unsupported.</a:t>
            </a:r>
            <a:endParaRPr lang="en-US" sz="1150" dirty="0"/>
          </a:p>
        </p:txBody>
      </p:sp>
      <p:sp>
        <p:nvSpPr>
          <p:cNvPr id="21" name="Text 18"/>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2" name="Text 19"/>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CALIBRATION</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Three ways a self-score goes wrong</a:t>
            </a:r>
            <a:endParaRPr lang="en-US" sz="2800" dirty="0"/>
          </a:p>
        </p:txBody>
      </p:sp>
      <p:sp>
        <p:nvSpPr>
          <p:cNvPr id="4" name="Text 2"/>
          <p:cNvSpPr/>
          <p:nvPr/>
        </p:nvSpPr>
        <p:spPr>
          <a:xfrm>
            <a:off x="566928" y="1353312"/>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Run all three against your first numbers before you rescore.</a:t>
            </a:r>
            <a:endParaRPr lang="en-US" sz="1150" dirty="0"/>
          </a:p>
        </p:txBody>
      </p:sp>
      <p:sp>
        <p:nvSpPr>
          <p:cNvPr id="5" name="Shape 3"/>
          <p:cNvSpPr/>
          <p:nvPr/>
        </p:nvSpPr>
        <p:spPr>
          <a:xfrm>
            <a:off x="566928" y="1719072"/>
            <a:ext cx="8010144" cy="859536"/>
          </a:xfrm>
          <a:prstGeom prst="rect">
            <a:avLst/>
          </a:prstGeom>
          <a:solidFill>
            <a:srgbClr val="E9EDF3"/>
          </a:solidFill>
          <a:ln/>
        </p:spPr>
      </p:sp>
      <p:sp>
        <p:nvSpPr>
          <p:cNvPr id="6" name="Shape 4"/>
          <p:cNvSpPr/>
          <p:nvPr/>
        </p:nvSpPr>
        <p:spPr>
          <a:xfrm>
            <a:off x="566928" y="1719072"/>
            <a:ext cx="41148" cy="859536"/>
          </a:xfrm>
          <a:prstGeom prst="rect">
            <a:avLst/>
          </a:prstGeom>
          <a:solidFill>
            <a:srgbClr val="C9A84C"/>
          </a:solidFill>
          <a:ln/>
        </p:spPr>
      </p:sp>
      <p:sp>
        <p:nvSpPr>
          <p:cNvPr id="7" name="Text 5"/>
          <p:cNvSpPr/>
          <p:nvPr/>
        </p:nvSpPr>
        <p:spPr>
          <a:xfrm>
            <a:off x="804672" y="1783080"/>
            <a:ext cx="7552944" cy="201168"/>
          </a:xfrm>
          <a:prstGeom prst="rect">
            <a:avLst/>
          </a:prstGeom>
          <a:noFill/>
          <a:ln/>
        </p:spPr>
        <p:txBody>
          <a:bodyPr wrap="square" lIns="0" tIns="0" rIns="0" bIns="0" rtlCol="0" anchor="ctr"/>
          <a:lstStyle/>
          <a:p>
            <a:pPr indent="0" marL="0">
              <a:buNone/>
            </a:pPr>
            <a:r>
              <a:rPr lang="en-US" sz="860" b="1" spc="110" kern="0" dirty="0">
                <a:solidFill>
                  <a:srgbClr val="0F2347"/>
                </a:solidFill>
                <a:latin typeface="Montserrat" pitchFamily="34" charset="0"/>
                <a:ea typeface="Montserrat" pitchFamily="34" charset="-122"/>
                <a:cs typeface="Montserrat" pitchFamily="34" charset="-120"/>
              </a:rPr>
              <a:t>1.  SCORING THE INTENDED LIFE</a:t>
            </a:r>
            <a:endParaRPr lang="en-US" sz="860" dirty="0"/>
          </a:p>
        </p:txBody>
      </p:sp>
      <p:sp>
        <p:nvSpPr>
          <p:cNvPr id="8" name="Text 6"/>
          <p:cNvSpPr/>
          <p:nvPr/>
        </p:nvSpPr>
        <p:spPr>
          <a:xfrm>
            <a:off x="804672" y="1993392"/>
            <a:ext cx="7552944" cy="201168"/>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“My rotation was approved last month. Statement 1 gets a 4.”</a:t>
            </a:r>
            <a:endParaRPr lang="en-US" sz="1040" dirty="0"/>
          </a:p>
        </p:txBody>
      </p:sp>
      <p:sp>
        <p:nvSpPr>
          <p:cNvPr id="9" name="Text 7"/>
          <p:cNvSpPr/>
          <p:nvPr/>
        </p:nvSpPr>
        <p:spPr>
          <a:xfrm>
            <a:off x="804672" y="2203704"/>
            <a:ext cx="7552944" cy="310896"/>
          </a:xfrm>
          <a:prstGeom prst="rect">
            <a:avLst/>
          </a:prstGeom>
          <a:noFill/>
          <a:ln/>
        </p:spPr>
        <p:txBody>
          <a:bodyPr wrap="square" lIns="0" tIns="0" rIns="0" bIns="0" rtlCol="0" anchor="ctr"/>
          <a:lstStyle/>
          <a:p>
            <a:pPr indent="0" marL="0">
              <a:lnSpc>
                <a:spcPts val="1350"/>
              </a:lnSpc>
              <a:buNone/>
            </a:pPr>
            <a:r>
              <a:rPr lang="en-US" sz="1060" b="1" dirty="0">
                <a:solidFill>
                  <a:srgbClr val="0F2347"/>
                </a:solidFill>
                <a:latin typeface="DM Sans" pitchFamily="34" charset="0"/>
                <a:ea typeface="DM Sans" pitchFamily="34" charset="-122"/>
                <a:cs typeface="DM Sans" pitchFamily="34" charset="-120"/>
              </a:rPr>
              <a:t>The window is the last ninety days of work that happened — not work that was approved, promised or planned.</a:t>
            </a:r>
            <a:endParaRPr lang="en-US" sz="1060" dirty="0"/>
          </a:p>
        </p:txBody>
      </p:sp>
      <p:sp>
        <p:nvSpPr>
          <p:cNvPr id="10" name="Shape 8"/>
          <p:cNvSpPr/>
          <p:nvPr/>
        </p:nvSpPr>
        <p:spPr>
          <a:xfrm>
            <a:off x="566928" y="2624328"/>
            <a:ext cx="8010144" cy="859536"/>
          </a:xfrm>
          <a:prstGeom prst="rect">
            <a:avLst/>
          </a:prstGeom>
          <a:solidFill>
            <a:srgbClr val="E9EDF3"/>
          </a:solidFill>
          <a:ln/>
        </p:spPr>
      </p:sp>
      <p:sp>
        <p:nvSpPr>
          <p:cNvPr id="11" name="Shape 9"/>
          <p:cNvSpPr/>
          <p:nvPr/>
        </p:nvSpPr>
        <p:spPr>
          <a:xfrm>
            <a:off x="566928" y="2624328"/>
            <a:ext cx="41148" cy="859536"/>
          </a:xfrm>
          <a:prstGeom prst="rect">
            <a:avLst/>
          </a:prstGeom>
          <a:solidFill>
            <a:srgbClr val="C9A84C"/>
          </a:solidFill>
          <a:ln/>
        </p:spPr>
      </p:sp>
      <p:sp>
        <p:nvSpPr>
          <p:cNvPr id="12" name="Text 10"/>
          <p:cNvSpPr/>
          <p:nvPr/>
        </p:nvSpPr>
        <p:spPr>
          <a:xfrm>
            <a:off x="804672" y="2688336"/>
            <a:ext cx="7552944" cy="201168"/>
          </a:xfrm>
          <a:prstGeom prst="rect">
            <a:avLst/>
          </a:prstGeom>
          <a:noFill/>
          <a:ln/>
        </p:spPr>
        <p:txBody>
          <a:bodyPr wrap="square" lIns="0" tIns="0" rIns="0" bIns="0" rtlCol="0" anchor="ctr"/>
          <a:lstStyle/>
          <a:p>
            <a:pPr indent="0" marL="0">
              <a:buNone/>
            </a:pPr>
            <a:r>
              <a:rPr lang="en-US" sz="860" b="1" spc="110" kern="0" dirty="0">
                <a:solidFill>
                  <a:srgbClr val="0F2347"/>
                </a:solidFill>
                <a:latin typeface="Montserrat" pitchFamily="34" charset="0"/>
                <a:ea typeface="Montserrat" pitchFamily="34" charset="-122"/>
                <a:cs typeface="Montserrat" pitchFamily="34" charset="-120"/>
              </a:rPr>
              <a:t>2.  CONFUSING VALUED WITH FORMED</a:t>
            </a:r>
            <a:endParaRPr lang="en-US" sz="860" dirty="0"/>
          </a:p>
        </p:txBody>
      </p:sp>
      <p:sp>
        <p:nvSpPr>
          <p:cNvPr id="13" name="Text 11"/>
          <p:cNvSpPr/>
          <p:nvPr/>
        </p:nvSpPr>
        <p:spPr>
          <a:xfrm>
            <a:off x="804672" y="2898648"/>
            <a:ext cx="7552944" cy="201168"/>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“Three VPs ask for my read before anything ships. Statement 3 gets a 5.”</a:t>
            </a:r>
            <a:endParaRPr lang="en-US" sz="1040" dirty="0"/>
          </a:p>
        </p:txBody>
      </p:sp>
      <p:sp>
        <p:nvSpPr>
          <p:cNvPr id="14" name="Text 12"/>
          <p:cNvSpPr/>
          <p:nvPr/>
        </p:nvSpPr>
        <p:spPr>
          <a:xfrm>
            <a:off x="804672" y="3108960"/>
            <a:ext cx="7552944" cy="310896"/>
          </a:xfrm>
          <a:prstGeom prst="rect">
            <a:avLst/>
          </a:prstGeom>
          <a:noFill/>
          <a:ln/>
        </p:spPr>
        <p:txBody>
          <a:bodyPr wrap="square" lIns="0" tIns="0" rIns="0" bIns="0" rtlCol="0" anchor="ctr"/>
          <a:lstStyle/>
          <a:p>
            <a:pPr indent="0" marL="0">
              <a:lnSpc>
                <a:spcPts val="1350"/>
              </a:lnSpc>
              <a:buNone/>
            </a:pPr>
            <a:r>
              <a:rPr lang="en-US" sz="1060" b="1" dirty="0">
                <a:solidFill>
                  <a:srgbClr val="0F2347"/>
                </a:solidFill>
                <a:latin typeface="DM Sans" pitchFamily="34" charset="0"/>
                <a:ea typeface="DM Sans" pitchFamily="34" charset="-122"/>
                <a:cs typeface="DM Sans" pitchFamily="34" charset="-120"/>
              </a:rPr>
              <a:t>Being relied on is real. It is not the same as being developed.</a:t>
            </a:r>
            <a:endParaRPr lang="en-US" sz="1060" dirty="0"/>
          </a:p>
        </p:txBody>
      </p:sp>
      <p:sp>
        <p:nvSpPr>
          <p:cNvPr id="15" name="Shape 13"/>
          <p:cNvSpPr/>
          <p:nvPr/>
        </p:nvSpPr>
        <p:spPr>
          <a:xfrm>
            <a:off x="566928" y="3529584"/>
            <a:ext cx="8010144" cy="859536"/>
          </a:xfrm>
          <a:prstGeom prst="rect">
            <a:avLst/>
          </a:prstGeom>
          <a:solidFill>
            <a:srgbClr val="E9EDF3"/>
          </a:solidFill>
          <a:ln/>
        </p:spPr>
      </p:sp>
      <p:sp>
        <p:nvSpPr>
          <p:cNvPr id="16" name="Shape 14"/>
          <p:cNvSpPr/>
          <p:nvPr/>
        </p:nvSpPr>
        <p:spPr>
          <a:xfrm>
            <a:off x="566928" y="3529584"/>
            <a:ext cx="41148" cy="859536"/>
          </a:xfrm>
          <a:prstGeom prst="rect">
            <a:avLst/>
          </a:prstGeom>
          <a:solidFill>
            <a:srgbClr val="C9A84C"/>
          </a:solidFill>
          <a:ln/>
        </p:spPr>
      </p:sp>
      <p:sp>
        <p:nvSpPr>
          <p:cNvPr id="17" name="Text 15"/>
          <p:cNvSpPr/>
          <p:nvPr/>
        </p:nvSpPr>
        <p:spPr>
          <a:xfrm>
            <a:off x="804672" y="3593592"/>
            <a:ext cx="7552944" cy="201168"/>
          </a:xfrm>
          <a:prstGeom prst="rect">
            <a:avLst/>
          </a:prstGeom>
          <a:noFill/>
          <a:ln/>
        </p:spPr>
        <p:txBody>
          <a:bodyPr wrap="square" lIns="0" tIns="0" rIns="0" bIns="0" rtlCol="0" anchor="ctr"/>
          <a:lstStyle/>
          <a:p>
            <a:pPr indent="0" marL="0">
              <a:buNone/>
            </a:pPr>
            <a:r>
              <a:rPr lang="en-US" sz="860" b="1" spc="110" kern="0" dirty="0">
                <a:solidFill>
                  <a:srgbClr val="0F2347"/>
                </a:solidFill>
                <a:latin typeface="Montserrat" pitchFamily="34" charset="0"/>
                <a:ea typeface="Montserrat" pitchFamily="34" charset="-122"/>
                <a:cs typeface="Montserrat" pitchFamily="34" charset="-120"/>
              </a:rPr>
              <a:t>3.  READING LOW OPTIONALITY AS A VERDICT</a:t>
            </a:r>
            <a:endParaRPr lang="en-US" sz="860" dirty="0"/>
          </a:p>
        </p:txBody>
      </p:sp>
      <p:sp>
        <p:nvSpPr>
          <p:cNvPr id="18" name="Text 16"/>
          <p:cNvSpPr/>
          <p:nvPr/>
        </p:nvSpPr>
        <p:spPr>
          <a:xfrm>
            <a:off x="804672" y="3803904"/>
            <a:ext cx="7552944" cy="201168"/>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“Statement 10 is a 2 because I am not senior enough.”</a:t>
            </a:r>
            <a:endParaRPr lang="en-US" sz="1040" dirty="0"/>
          </a:p>
        </p:txBody>
      </p:sp>
      <p:sp>
        <p:nvSpPr>
          <p:cNvPr id="19" name="Text 17"/>
          <p:cNvSpPr/>
          <p:nvPr/>
        </p:nvSpPr>
        <p:spPr>
          <a:xfrm>
            <a:off x="804672" y="4014216"/>
            <a:ext cx="7552944" cy="310896"/>
          </a:xfrm>
          <a:prstGeom prst="rect">
            <a:avLst/>
          </a:prstGeom>
          <a:noFill/>
          <a:ln/>
        </p:spPr>
        <p:txBody>
          <a:bodyPr wrap="square" lIns="0" tIns="0" rIns="0" bIns="0" rtlCol="0" anchor="ctr"/>
          <a:lstStyle/>
          <a:p>
            <a:pPr indent="0" marL="0">
              <a:lnSpc>
                <a:spcPts val="1350"/>
              </a:lnSpc>
              <a:buNone/>
            </a:pPr>
            <a:r>
              <a:rPr lang="en-US" sz="1060" b="1" dirty="0">
                <a:solidFill>
                  <a:srgbClr val="0F2347"/>
                </a:solidFill>
                <a:latin typeface="DM Sans" pitchFamily="34" charset="0"/>
                <a:ea typeface="DM Sans" pitchFamily="34" charset="-122"/>
                <a:cs typeface="DM Sans" pitchFamily="34" charset="-120"/>
              </a:rPr>
              <a:t>A low Optionality score may reflect context-bound capability, weak translation, limited exposure, or a combination. It is not a verdict on ability or worth.</a:t>
            </a:r>
            <a:endParaRPr lang="en-US" sz="1060" dirty="0"/>
          </a:p>
        </p:txBody>
      </p:sp>
      <p:sp>
        <p:nvSpPr>
          <p:cNvPr id="20" name="Text 18"/>
          <p:cNvSpPr/>
          <p:nvPr/>
        </p:nvSpPr>
        <p:spPr>
          <a:xfrm>
            <a:off x="566928" y="4443984"/>
            <a:ext cx="8010144" cy="219456"/>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Three is the set. Run them, then rescore.</a:t>
            </a:r>
            <a:endParaRPr lang="en-US" sz="1040" dirty="0"/>
          </a:p>
        </p:txBody>
      </p:sp>
      <p:sp>
        <p:nvSpPr>
          <p:cNvPr id="22" name="Text 1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3" name="Text 2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EVIDENCE-BACKED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Score all twelve again</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Evidence in both directions. Do not change your first number.</a:t>
            </a:r>
            <a:endParaRPr lang="en-US" sz="1150" dirty="0"/>
          </a:p>
        </p:txBody>
      </p:sp>
      <p:sp>
        <p:nvSpPr>
          <p:cNvPr id="5" name="Shape 3"/>
          <p:cNvSpPr/>
          <p:nvPr/>
        </p:nvSpPr>
        <p:spPr>
          <a:xfrm>
            <a:off x="566928" y="1847088"/>
            <a:ext cx="8010144" cy="877824"/>
          </a:xfrm>
          <a:prstGeom prst="rect">
            <a:avLst/>
          </a:prstGeom>
          <a:solidFill>
            <a:srgbClr val="0F2347"/>
          </a:solidFill>
          <a:ln/>
        </p:spPr>
      </p:sp>
      <p:sp>
        <p:nvSpPr>
          <p:cNvPr id="6" name="Text 4"/>
          <p:cNvSpPr/>
          <p:nvPr/>
        </p:nvSpPr>
        <p:spPr>
          <a:xfrm>
            <a:off x="822960" y="1956816"/>
            <a:ext cx="3108960" cy="182880"/>
          </a:xfrm>
          <a:prstGeom prst="rect">
            <a:avLst/>
          </a:prstGeom>
          <a:noFill/>
          <a:ln/>
        </p:spPr>
        <p:txBody>
          <a:bodyPr wrap="square" lIns="0" tIns="0" rIns="0" bIns="0" rtlCol="0" anchor="ctr"/>
          <a:lstStyle/>
          <a:p>
            <a:pPr indent="0" marL="0">
              <a:buNone/>
            </a:pPr>
            <a:r>
              <a:rPr lang="en-US" sz="840" b="1" spc="120" kern="0" dirty="0">
                <a:solidFill>
                  <a:srgbClr val="C9A84C"/>
                </a:solidFill>
                <a:latin typeface="Montserrat" pitchFamily="34" charset="0"/>
                <a:ea typeface="Montserrat" pitchFamily="34" charset="-122"/>
                <a:cs typeface="Montserrat" pitchFamily="34" charset="-120"/>
              </a:rPr>
              <a:t>THE PROTOCOL, IN SHORT</a:t>
            </a:r>
            <a:endParaRPr lang="en-US" sz="840" dirty="0"/>
          </a:p>
        </p:txBody>
      </p:sp>
      <p:sp>
        <p:nvSpPr>
          <p:cNvPr id="7" name="Text 5"/>
          <p:cNvSpPr/>
          <p:nvPr/>
        </p:nvSpPr>
        <p:spPr>
          <a:xfrm>
            <a:off x="822960" y="2231136"/>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4 or 5</a:t>
            </a:r>
            <a:endParaRPr lang="en-US" sz="950" dirty="0"/>
          </a:p>
        </p:txBody>
      </p:sp>
      <p:sp>
        <p:nvSpPr>
          <p:cNvPr id="8" name="Text 6"/>
          <p:cNvSpPr/>
          <p:nvPr/>
        </p:nvSpPr>
        <p:spPr>
          <a:xfrm>
            <a:off x="1517904" y="2231136"/>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one clear positive instance</a:t>
            </a:r>
            <a:endParaRPr lang="en-US" sz="1000" dirty="0"/>
          </a:p>
        </p:txBody>
      </p:sp>
      <p:sp>
        <p:nvSpPr>
          <p:cNvPr id="9" name="Text 7"/>
          <p:cNvSpPr/>
          <p:nvPr/>
        </p:nvSpPr>
        <p:spPr>
          <a:xfrm>
            <a:off x="4754880" y="2231136"/>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3</a:t>
            </a:r>
            <a:endParaRPr lang="en-US" sz="950" dirty="0"/>
          </a:p>
        </p:txBody>
      </p:sp>
      <p:sp>
        <p:nvSpPr>
          <p:cNvPr id="10" name="Text 8"/>
          <p:cNvSpPr/>
          <p:nvPr/>
        </p:nvSpPr>
        <p:spPr>
          <a:xfrm>
            <a:off x="5449824" y="2231136"/>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the mixed or inconsistent pattern</a:t>
            </a:r>
            <a:endParaRPr lang="en-US" sz="1000" dirty="0"/>
          </a:p>
        </p:txBody>
      </p:sp>
      <p:sp>
        <p:nvSpPr>
          <p:cNvPr id="11" name="Text 9"/>
          <p:cNvSpPr/>
          <p:nvPr/>
        </p:nvSpPr>
        <p:spPr>
          <a:xfrm>
            <a:off x="822960" y="2487168"/>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1 or 2</a:t>
            </a:r>
            <a:endParaRPr lang="en-US" sz="950" dirty="0"/>
          </a:p>
        </p:txBody>
      </p:sp>
      <p:sp>
        <p:nvSpPr>
          <p:cNvPr id="12" name="Text 10"/>
          <p:cNvSpPr/>
          <p:nvPr/>
        </p:nvSpPr>
        <p:spPr>
          <a:xfrm>
            <a:off x="1517904" y="2487168"/>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what happened instead, or no qualifying instance</a:t>
            </a:r>
            <a:endParaRPr lang="en-US" sz="1000" dirty="0"/>
          </a:p>
        </p:txBody>
      </p:sp>
      <p:sp>
        <p:nvSpPr>
          <p:cNvPr id="13" name="Text 11"/>
          <p:cNvSpPr/>
          <p:nvPr/>
        </p:nvSpPr>
        <p:spPr>
          <a:xfrm>
            <a:off x="4754880" y="2487168"/>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a:t>
            </a:r>
            <a:endParaRPr lang="en-US" sz="950" dirty="0"/>
          </a:p>
        </p:txBody>
      </p:sp>
      <p:sp>
        <p:nvSpPr>
          <p:cNvPr id="14" name="Text 12"/>
          <p:cNvSpPr/>
          <p:nvPr/>
        </p:nvSpPr>
        <p:spPr>
          <a:xfrm>
            <a:off x="5449824" y="2487168"/>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most defensible number, marked once: 3?, 4?, 2?</a:t>
            </a:r>
            <a:endParaRPr lang="en-US" sz="1000" dirty="0"/>
          </a:p>
        </p:txBody>
      </p:sp>
      <p:sp>
        <p:nvSpPr>
          <p:cNvPr id="15" name="Text 13"/>
          <p:cNvSpPr/>
          <p:nvPr/>
        </p:nvSpPr>
        <p:spPr>
          <a:xfrm>
            <a:off x="566928" y="2944368"/>
            <a:ext cx="3840480" cy="274320"/>
          </a:xfrm>
          <a:prstGeom prst="rect">
            <a:avLst/>
          </a:prstGeom>
          <a:noFill/>
          <a:ln/>
        </p:spPr>
        <p:txBody>
          <a:bodyPr wrap="square" lIns="0" tIns="0" rIns="0" bIns="0" rtlCol="0" anchor="ctr"/>
          <a:lstStyle/>
          <a:p>
            <a:pPr indent="0" marL="0">
              <a:buNone/>
            </a:pPr>
            <a:r>
              <a:rPr lang="en-US" sz="1100" b="1" spc="80" kern="0" dirty="0">
                <a:solidFill>
                  <a:srgbClr val="0F2347"/>
                </a:solidFill>
                <a:latin typeface="Montserrat" pitchFamily="34" charset="0"/>
                <a:ea typeface="Montserrat" pitchFamily="34" charset="-122"/>
                <a:cs typeface="Montserrat" pitchFamily="34" charset="-120"/>
              </a:rPr>
              <a:t>Density   1 · 2 · 3 · 4 · 5 · 6</a:t>
            </a:r>
            <a:endParaRPr lang="en-US" sz="1100" dirty="0"/>
          </a:p>
        </p:txBody>
      </p:sp>
      <p:sp>
        <p:nvSpPr>
          <p:cNvPr id="16" name="Text 14"/>
          <p:cNvSpPr/>
          <p:nvPr/>
        </p:nvSpPr>
        <p:spPr>
          <a:xfrm>
            <a:off x="4754880" y="2944368"/>
            <a:ext cx="3840480" cy="274320"/>
          </a:xfrm>
          <a:prstGeom prst="rect">
            <a:avLst/>
          </a:prstGeom>
          <a:noFill/>
          <a:ln/>
        </p:spPr>
        <p:txBody>
          <a:bodyPr wrap="square" lIns="0" tIns="0" rIns="0" bIns="0" rtlCol="0" anchor="ctr"/>
          <a:lstStyle/>
          <a:p>
            <a:pPr indent="0" marL="0">
              <a:buNone/>
            </a:pPr>
            <a:r>
              <a:rPr lang="en-US" sz="1100" b="1" spc="80" kern="0" dirty="0">
                <a:solidFill>
                  <a:srgbClr val="0F2347"/>
                </a:solidFill>
                <a:latin typeface="Montserrat" pitchFamily="34" charset="0"/>
                <a:ea typeface="Montserrat" pitchFamily="34" charset="-122"/>
                <a:cs typeface="Montserrat" pitchFamily="34" charset="-120"/>
              </a:rPr>
              <a:t>Optionality   7 · 8 · 9 · 10 · 11 · 12</a:t>
            </a:r>
            <a:endParaRPr lang="en-US" sz="1100" dirty="0"/>
          </a:p>
        </p:txBody>
      </p:sp>
      <p:sp>
        <p:nvSpPr>
          <p:cNvPr id="17" name="Shape 15"/>
          <p:cNvSpPr/>
          <p:nvPr/>
        </p:nvSpPr>
        <p:spPr>
          <a:xfrm>
            <a:off x="566928" y="3401568"/>
            <a:ext cx="8010144" cy="786384"/>
          </a:xfrm>
          <a:prstGeom prst="rect">
            <a:avLst/>
          </a:prstGeom>
          <a:solidFill>
            <a:srgbClr val="E9EDF3"/>
          </a:solidFill>
          <a:ln/>
        </p:spPr>
      </p:sp>
      <p:sp>
        <p:nvSpPr>
          <p:cNvPr id="18" name="Text 16"/>
          <p:cNvSpPr/>
          <p:nvPr/>
        </p:nvSpPr>
        <p:spPr>
          <a:xfrm>
            <a:off x="822960" y="3401568"/>
            <a:ext cx="7498080" cy="786384"/>
          </a:xfrm>
          <a:prstGeom prst="rect">
            <a:avLst/>
          </a:prstGeom>
          <a:noFill/>
          <a:ln/>
        </p:spPr>
        <p:txBody>
          <a:bodyPr wrap="square" lIns="0" tIns="0" rIns="0" bIns="0" rtlCol="0" anchor="ctr"/>
          <a:lstStyle/>
          <a:p>
            <a:pPr indent="0" marL="0">
              <a:lnSpc>
                <a:spcPts val="1500"/>
              </a:lnSpc>
              <a:buNone/>
            </a:pPr>
            <a:r>
              <a:rPr lang="en-US" sz="1150" dirty="0">
                <a:solidFill>
                  <a:srgbClr val="0F2347"/>
                </a:solidFill>
                <a:latin typeface="DM Sans" pitchFamily="34" charset="0"/>
                <a:ea typeface="DM Sans" pitchFamily="34" charset="-122"/>
                <a:cs typeface="DM Sans" pitchFamily="34" charset="-120"/>
              </a:rPr>
              <a:t>Write the corrected number and a short evidence phrase under it. Your first number stays where it is. Phrases, not essays — twelve minutes for twelve statements.</a:t>
            </a:r>
            <a:endParaRPr lang="en-US" sz="1150" dirty="0"/>
          </a:p>
        </p:txBody>
      </p:sp>
      <p:sp>
        <p:nvSpPr>
          <p:cNvPr id="19" name="Text 17"/>
          <p:cNvSpPr/>
          <p:nvPr/>
        </p:nvSpPr>
        <p:spPr>
          <a:xfrm>
            <a:off x="566928" y="4334256"/>
            <a:ext cx="8010144" cy="237744"/>
          </a:xfrm>
          <a:prstGeom prst="rect">
            <a:avLst/>
          </a:prstGeom>
          <a:noFill/>
          <a:ln/>
        </p:spPr>
        <p:txBody>
          <a:bodyPr wrap="square" lIns="0" tIns="0" rIns="0" bIns="0" rtlCol="0" anchor="ctr"/>
          <a:lstStyle/>
          <a:p>
            <a:pPr indent="0" marL="0">
              <a:buNone/>
            </a:pPr>
            <a:r>
              <a:rPr lang="en-US" sz="1040" b="1" dirty="0">
                <a:solidFill>
                  <a:srgbClr val="C1440E"/>
                </a:solidFill>
                <a:latin typeface="DM Sans" pitchFamily="34" charset="0"/>
                <a:ea typeface="DM Sans" pitchFamily="34" charset="-122"/>
                <a:cs typeface="DM Sans" pitchFamily="34" charset="-120"/>
              </a:rPr>
              <a:t>Workbook pages 5 and 6.</a:t>
            </a:r>
            <a:endParaRPr lang="en-US" sz="1040" dirty="0"/>
          </a:p>
        </p:txBody>
      </p:sp>
      <p:sp>
        <p:nvSpPr>
          <p:cNvPr id="21" name="Text 18"/>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2" name="Text 19"/>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CORRECTED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Re-total before you place again</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New numbers. A fresh placement, not a review of the first one.</a:t>
            </a:r>
            <a:endParaRPr lang="en-US" sz="1150" dirty="0"/>
          </a:p>
        </p:txBody>
      </p:sp>
      <p:sp>
        <p:nvSpPr>
          <p:cNvPr id="5" name="Shape 3"/>
          <p:cNvSpPr/>
          <p:nvPr/>
        </p:nvSpPr>
        <p:spPr>
          <a:xfrm>
            <a:off x="566928" y="1920240"/>
            <a:ext cx="3931920" cy="1097280"/>
          </a:xfrm>
          <a:prstGeom prst="rect">
            <a:avLst/>
          </a:prstGeom>
          <a:solidFill>
            <a:srgbClr val="0F2347"/>
          </a:solidFill>
          <a:ln/>
        </p:spPr>
      </p:sp>
      <p:sp>
        <p:nvSpPr>
          <p:cNvPr id="6" name="Text 4"/>
          <p:cNvSpPr/>
          <p:nvPr/>
        </p:nvSpPr>
        <p:spPr>
          <a:xfrm>
            <a:off x="841248" y="2084832"/>
            <a:ext cx="3383280" cy="201168"/>
          </a:xfrm>
          <a:prstGeom prst="rect">
            <a:avLst/>
          </a:prstGeom>
          <a:noFill/>
          <a:ln/>
        </p:spPr>
        <p:txBody>
          <a:bodyPr wrap="square" lIns="0" tIns="0" rIns="0" bIns="0" rtlCol="0" anchor="ctr"/>
          <a:lstStyle/>
          <a:p>
            <a:pPr indent="0" marL="0">
              <a:buNone/>
            </a:pPr>
            <a:r>
              <a:rPr lang="en-US" sz="900" b="1" spc="130" kern="0" dirty="0">
                <a:solidFill>
                  <a:srgbClr val="C9A84C"/>
                </a:solidFill>
                <a:latin typeface="Montserrat" pitchFamily="34" charset="0"/>
                <a:ea typeface="Montserrat" pitchFamily="34" charset="-122"/>
                <a:cs typeface="Montserrat" pitchFamily="34" charset="-120"/>
              </a:rPr>
              <a:t>DENSITY, CORRECTED</a:t>
            </a:r>
            <a:endParaRPr lang="en-US" sz="900" dirty="0"/>
          </a:p>
        </p:txBody>
      </p:sp>
      <p:sp>
        <p:nvSpPr>
          <p:cNvPr id="7" name="Text 5"/>
          <p:cNvSpPr/>
          <p:nvPr/>
        </p:nvSpPr>
        <p:spPr>
          <a:xfrm>
            <a:off x="841248" y="2359152"/>
            <a:ext cx="3383280" cy="512064"/>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________  / 30</a:t>
            </a:r>
            <a:endParaRPr lang="en-US" sz="2900" dirty="0"/>
          </a:p>
        </p:txBody>
      </p:sp>
      <p:sp>
        <p:nvSpPr>
          <p:cNvPr id="8" name="Shape 6"/>
          <p:cNvSpPr/>
          <p:nvPr/>
        </p:nvSpPr>
        <p:spPr>
          <a:xfrm>
            <a:off x="4690872" y="1920240"/>
            <a:ext cx="3886200" cy="1097280"/>
          </a:xfrm>
          <a:prstGeom prst="rect">
            <a:avLst/>
          </a:prstGeom>
          <a:solidFill>
            <a:srgbClr val="0F2347"/>
          </a:solidFill>
          <a:ln/>
        </p:spPr>
      </p:sp>
      <p:sp>
        <p:nvSpPr>
          <p:cNvPr id="9" name="Text 7"/>
          <p:cNvSpPr/>
          <p:nvPr/>
        </p:nvSpPr>
        <p:spPr>
          <a:xfrm>
            <a:off x="4965192" y="2084832"/>
            <a:ext cx="3383280" cy="201168"/>
          </a:xfrm>
          <a:prstGeom prst="rect">
            <a:avLst/>
          </a:prstGeom>
          <a:noFill/>
          <a:ln/>
        </p:spPr>
        <p:txBody>
          <a:bodyPr wrap="square" lIns="0" tIns="0" rIns="0" bIns="0" rtlCol="0" anchor="ctr"/>
          <a:lstStyle/>
          <a:p>
            <a:pPr indent="0" marL="0">
              <a:buNone/>
            </a:pPr>
            <a:r>
              <a:rPr lang="en-US" sz="900" b="1" spc="130" kern="0" dirty="0">
                <a:solidFill>
                  <a:srgbClr val="C9A84C"/>
                </a:solidFill>
                <a:latin typeface="Montserrat" pitchFamily="34" charset="0"/>
                <a:ea typeface="Montserrat" pitchFamily="34" charset="-122"/>
                <a:cs typeface="Montserrat" pitchFamily="34" charset="-120"/>
              </a:rPr>
              <a:t>OPTIONALITY, CORRECTED</a:t>
            </a:r>
            <a:endParaRPr lang="en-US" sz="900" dirty="0"/>
          </a:p>
        </p:txBody>
      </p:sp>
      <p:sp>
        <p:nvSpPr>
          <p:cNvPr id="10" name="Text 8"/>
          <p:cNvSpPr/>
          <p:nvPr/>
        </p:nvSpPr>
        <p:spPr>
          <a:xfrm>
            <a:off x="4965192" y="2359152"/>
            <a:ext cx="3383280" cy="512064"/>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________  / 30</a:t>
            </a:r>
            <a:endParaRPr lang="en-US" sz="2900" dirty="0"/>
          </a:p>
        </p:txBody>
      </p:sp>
      <p:sp>
        <p:nvSpPr>
          <p:cNvPr id="11" name="Text 9"/>
          <p:cNvSpPr/>
          <p:nvPr/>
        </p:nvSpPr>
        <p:spPr>
          <a:xfrm>
            <a:off x="566928" y="3200400"/>
            <a:ext cx="8010144" cy="274320"/>
          </a:xfrm>
          <a:prstGeom prst="rect">
            <a:avLst/>
          </a:prstGeom>
          <a:noFill/>
          <a:ln/>
        </p:spPr>
        <p:txBody>
          <a:bodyPr wrap="square" lIns="0" tIns="0" rIns="0" bIns="0" rtlCol="0" anchor="ctr"/>
          <a:lstStyle/>
          <a:p>
            <a:pPr algn="ctr" indent="0" marL="0">
              <a:buNone/>
            </a:pPr>
            <a:r>
              <a:rPr lang="en-US" sz="1200" b="1" dirty="0">
                <a:solidFill>
                  <a:srgbClr val="C1440E"/>
                </a:solidFill>
                <a:latin typeface="DM Sans" pitchFamily="34" charset="0"/>
                <a:ea typeface="DM Sans" pitchFamily="34" charset="-122"/>
                <a:cs typeface="DM Sans" pitchFamily="34" charset="-120"/>
              </a:rPr>
              <a:t>19 to 30 high  ·  6 to 18 low  ·  17 to 21 is the boundary band, and it overrides both</a:t>
            </a:r>
            <a:endParaRPr lang="en-US" sz="1200" dirty="0"/>
          </a:p>
        </p:txBody>
      </p:sp>
      <p:sp>
        <p:nvSpPr>
          <p:cNvPr id="12" name="Text 10"/>
          <p:cNvSpPr/>
          <p:nvPr/>
        </p:nvSpPr>
        <p:spPr>
          <a:xfrm>
            <a:off x="566928" y="3602736"/>
            <a:ext cx="8010144" cy="548640"/>
          </a:xfrm>
          <a:prstGeom prst="rect">
            <a:avLst/>
          </a:prstGeom>
          <a:noFill/>
          <a:ln/>
        </p:spPr>
        <p:txBody>
          <a:bodyPr wrap="square" lIns="0" tIns="0" rIns="0" bIns="0" rtlCol="0" anchor="ctr"/>
          <a:lstStyle/>
          <a:p>
            <a:pPr algn="ctr" indent="0" marL="0">
              <a:lnSpc>
                <a:spcPts val="1587"/>
              </a:lnSpc>
              <a:buNone/>
            </a:pPr>
            <a:r>
              <a:rPr lang="en-US" sz="1150" dirty="0">
                <a:solidFill>
                  <a:srgbClr val="5A6B84"/>
                </a:solidFill>
                <a:latin typeface="DM Sans" pitchFamily="34" charset="0"/>
                <a:ea typeface="DM Sans" pitchFamily="34" charset="-122"/>
                <a:cs typeface="DM Sans" pitchFamily="34" charset="-120"/>
              </a:rPr>
              <a:t>Total the axis using the numbers exactly as you wrote them. A question-marked score counts as its number. Rate your confidence in the corrected placement from 1 to 5.</a:t>
            </a:r>
            <a:endParaRPr lang="en-US" sz="1150" dirty="0"/>
          </a:p>
        </p:txBody>
      </p:sp>
      <p:sp>
        <p:nvSpPr>
          <p:cNvPr id="14" name="Text 11"/>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5" name="Text 12"/>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CORRECTED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When the evidence remains uncertain</a:t>
            </a:r>
            <a:endParaRPr lang="en-US" sz="2600" dirty="0"/>
          </a:p>
        </p:txBody>
      </p:sp>
      <p:sp>
        <p:nvSpPr>
          <p:cNvPr id="4" name="Text 2"/>
          <p:cNvSpPr/>
          <p:nvPr/>
        </p:nvSpPr>
        <p:spPr>
          <a:xfrm>
            <a:off x="566928" y="1335024"/>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The neighbouring-score sensitivity check. An operational convention, not a statistical confidence interval.</a:t>
            </a:r>
            <a:endParaRPr lang="en-US" sz="1150" dirty="0"/>
          </a:p>
        </p:txBody>
      </p:sp>
      <p:sp>
        <p:nvSpPr>
          <p:cNvPr id="5" name="Shape 3"/>
          <p:cNvSpPr/>
          <p:nvPr/>
        </p:nvSpPr>
        <p:spPr>
          <a:xfrm>
            <a:off x="566928" y="1719072"/>
            <a:ext cx="676656" cy="438912"/>
          </a:xfrm>
          <a:prstGeom prst="rect">
            <a:avLst/>
          </a:prstGeom>
          <a:solidFill>
            <a:srgbClr val="E9EDF3"/>
          </a:solidFill>
          <a:ln/>
        </p:spPr>
      </p:sp>
      <p:sp>
        <p:nvSpPr>
          <p:cNvPr id="6" name="Text 4"/>
          <p:cNvSpPr/>
          <p:nvPr/>
        </p:nvSpPr>
        <p:spPr>
          <a:xfrm>
            <a:off x="566928" y="1719072"/>
            <a:ext cx="676656" cy="438912"/>
          </a:xfrm>
          <a:prstGeom prst="rect">
            <a:avLst/>
          </a:prstGeom>
          <a:noFill/>
          <a:ln/>
        </p:spPr>
        <p:txBody>
          <a:bodyPr wrap="square" lIns="0" tIns="0" rIns="0" bIns="0" rtlCol="0" anchor="ctr"/>
          <a:lstStyle/>
          <a:p>
            <a:pPr algn="ctr" indent="0" marL="0">
              <a:buNone/>
            </a:pPr>
            <a:r>
              <a:rPr lang="en-US" sz="900" b="1" spc="60" kern="0" dirty="0">
                <a:solidFill>
                  <a:srgbClr val="0F2347"/>
                </a:solidFill>
                <a:latin typeface="Montserrat" pitchFamily="34" charset="0"/>
                <a:ea typeface="Montserrat" pitchFamily="34" charset="-122"/>
                <a:cs typeface="Montserrat" pitchFamily="34" charset="-120"/>
              </a:rPr>
              <a:t>NONE</a:t>
            </a:r>
            <a:endParaRPr lang="en-US" sz="900" dirty="0"/>
          </a:p>
        </p:txBody>
      </p:sp>
      <p:sp>
        <p:nvSpPr>
          <p:cNvPr id="7" name="Text 5"/>
          <p:cNvSpPr/>
          <p:nvPr/>
        </p:nvSpPr>
        <p:spPr>
          <a:xfrm>
            <a:off x="1408176" y="1700784"/>
            <a:ext cx="7168896" cy="219456"/>
          </a:xfrm>
          <a:prstGeom prst="rect">
            <a:avLst/>
          </a:prstGeom>
          <a:noFill/>
          <a:ln/>
        </p:spPr>
        <p:txBody>
          <a:bodyPr wrap="square" lIns="0" tIns="0" rIns="0" bIns="0" rtlCol="0" anchor="ctr"/>
          <a:lstStyle/>
          <a:p>
            <a:pPr indent="0" marL="0">
              <a:buNone/>
            </a:pPr>
            <a:r>
              <a:rPr lang="en-US" sz="1150" b="1" dirty="0">
                <a:solidFill>
                  <a:srgbClr val="0F2347"/>
                </a:solidFill>
                <a:latin typeface="DM Sans" pitchFamily="34" charset="0"/>
                <a:ea typeface="DM Sans" pitchFamily="34" charset="-122"/>
                <a:cs typeface="DM Sans" pitchFamily="34" charset="-120"/>
              </a:rPr>
              <a:t>No unsupported-item sensitivity range is required.</a:t>
            </a:r>
            <a:endParaRPr lang="en-US" sz="1150" dirty="0"/>
          </a:p>
        </p:txBody>
      </p:sp>
      <p:sp>
        <p:nvSpPr>
          <p:cNvPr id="8" name="Text 6"/>
          <p:cNvSpPr/>
          <p:nvPr/>
        </p:nvSpPr>
        <p:spPr>
          <a:xfrm>
            <a:off x="1408176" y="1938528"/>
            <a:ext cx="7168896" cy="219456"/>
          </a:xfrm>
          <a:prstGeom prst="rect">
            <a:avLst/>
          </a:prstGeom>
          <a:noFill/>
          <a:ln/>
        </p:spPr>
        <p:txBody>
          <a:bodyPr wrap="square" lIns="0" tIns="0" rIns="0" bIns="0" rtlCol="0" anchor="ctr"/>
          <a:lstStyle/>
          <a:p>
            <a:pPr indent="0" marL="0">
              <a:buNone/>
            </a:pPr>
            <a:r>
              <a:rPr lang="en-US" sz="1020" dirty="0">
                <a:solidFill>
                  <a:srgbClr val="5A6B84"/>
                </a:solidFill>
                <a:latin typeface="DM Sans" pitchFamily="34" charset="0"/>
                <a:ea typeface="DM Sans" pitchFamily="34" charset="-122"/>
                <a:cs typeface="DM Sans" pitchFamily="34" charset="-120"/>
              </a:rPr>
              <a:t>Use the corrected total normally, subject to the boundary band.</a:t>
            </a:r>
            <a:endParaRPr lang="en-US" sz="1020" dirty="0"/>
          </a:p>
        </p:txBody>
      </p:sp>
      <p:sp>
        <p:nvSpPr>
          <p:cNvPr id="9" name="Shape 7"/>
          <p:cNvSpPr/>
          <p:nvPr/>
        </p:nvSpPr>
        <p:spPr>
          <a:xfrm>
            <a:off x="566928" y="2286000"/>
            <a:ext cx="676656" cy="1371600"/>
          </a:xfrm>
          <a:prstGeom prst="rect">
            <a:avLst/>
          </a:prstGeom>
          <a:solidFill>
            <a:srgbClr val="0F2347"/>
          </a:solidFill>
          <a:ln/>
        </p:spPr>
      </p:sp>
      <p:sp>
        <p:nvSpPr>
          <p:cNvPr id="10" name="Text 8"/>
          <p:cNvSpPr/>
          <p:nvPr/>
        </p:nvSpPr>
        <p:spPr>
          <a:xfrm>
            <a:off x="566928" y="2286000"/>
            <a:ext cx="676656" cy="1371600"/>
          </a:xfrm>
          <a:prstGeom prst="rect">
            <a:avLst/>
          </a:prstGeom>
          <a:noFill/>
          <a:ln/>
        </p:spPr>
        <p:txBody>
          <a:bodyPr wrap="square" lIns="0" tIns="0" rIns="0" bIns="0" rtlCol="0" anchor="ctr"/>
          <a:lstStyle/>
          <a:p>
            <a:pPr algn="ctr" indent="0" marL="0">
              <a:buNone/>
            </a:pPr>
            <a:r>
              <a:rPr lang="en-US" sz="900" b="1" spc="60" kern="0" dirty="0">
                <a:solidFill>
                  <a:srgbClr val="C9A84C"/>
                </a:solidFill>
                <a:latin typeface="Montserrat" pitchFamily="34" charset="0"/>
                <a:ea typeface="Montserrat" pitchFamily="34" charset="-122"/>
                <a:cs typeface="Montserrat" pitchFamily="34" charset="-120"/>
              </a:rPr>
              <a:t>1 OR 2</a:t>
            </a:r>
            <a:endParaRPr lang="en-US" sz="900" dirty="0"/>
          </a:p>
        </p:txBody>
      </p:sp>
      <p:sp>
        <p:nvSpPr>
          <p:cNvPr id="11" name="Shape 9"/>
          <p:cNvSpPr/>
          <p:nvPr/>
        </p:nvSpPr>
        <p:spPr>
          <a:xfrm>
            <a:off x="1408176" y="2286000"/>
            <a:ext cx="7168896" cy="1371600"/>
          </a:xfrm>
          <a:prstGeom prst="rect">
            <a:avLst/>
          </a:prstGeom>
          <a:solidFill>
            <a:srgbClr val="E9EDF3"/>
          </a:solidFill>
          <a:ln/>
        </p:spPr>
      </p:sp>
      <p:sp>
        <p:nvSpPr>
          <p:cNvPr id="12" name="Text 10"/>
          <p:cNvSpPr/>
          <p:nvPr/>
        </p:nvSpPr>
        <p:spPr>
          <a:xfrm>
            <a:off x="1609344" y="2395728"/>
            <a:ext cx="6766560" cy="201168"/>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PROVISIONAL  —  RUN THE NEIGHBOURING-SCORE SENSITIVITY CHECK</a:t>
            </a:r>
            <a:endParaRPr lang="en-US" sz="840" dirty="0"/>
          </a:p>
        </p:txBody>
      </p:sp>
      <p:sp>
        <p:nvSpPr>
          <p:cNvPr id="13" name="Shape 11"/>
          <p:cNvSpPr/>
          <p:nvPr/>
        </p:nvSpPr>
        <p:spPr>
          <a:xfrm>
            <a:off x="1609344" y="2688336"/>
            <a:ext cx="82296" cy="82296"/>
          </a:xfrm>
          <a:prstGeom prst="rect">
            <a:avLst/>
          </a:prstGeom>
          <a:solidFill>
            <a:srgbClr val="C9A84C"/>
          </a:solidFill>
          <a:ln/>
        </p:spPr>
      </p:sp>
      <p:sp>
        <p:nvSpPr>
          <p:cNvPr id="14" name="Text 12"/>
          <p:cNvSpPr/>
          <p:nvPr/>
        </p:nvSpPr>
        <p:spPr>
          <a:xfrm>
            <a:off x="1810512" y="2615184"/>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Total the axis using your numbers exactly as written.</a:t>
            </a:r>
            <a:endParaRPr lang="en-US" sz="1050" dirty="0"/>
          </a:p>
        </p:txBody>
      </p:sp>
      <p:sp>
        <p:nvSpPr>
          <p:cNvPr id="15" name="Shape 13"/>
          <p:cNvSpPr/>
          <p:nvPr/>
        </p:nvSpPr>
        <p:spPr>
          <a:xfrm>
            <a:off x="1609344" y="2944368"/>
            <a:ext cx="82296" cy="82296"/>
          </a:xfrm>
          <a:prstGeom prst="rect">
            <a:avLst/>
          </a:prstGeom>
          <a:solidFill>
            <a:srgbClr val="C9A84C"/>
          </a:solidFill>
          <a:ln/>
        </p:spPr>
      </p:sp>
      <p:sp>
        <p:nvSpPr>
          <p:cNvPr id="16" name="Text 14"/>
          <p:cNvSpPr/>
          <p:nvPr/>
        </p:nvSpPr>
        <p:spPr>
          <a:xfrm>
            <a:off x="1810512" y="2871216"/>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Total it again with every marked item one point lower, then again one point higher.</a:t>
            </a:r>
            <a:endParaRPr lang="en-US" sz="1050" dirty="0"/>
          </a:p>
        </p:txBody>
      </p:sp>
      <p:sp>
        <p:nvSpPr>
          <p:cNvPr id="17" name="Shape 15"/>
          <p:cNvSpPr/>
          <p:nvPr/>
        </p:nvSpPr>
        <p:spPr>
          <a:xfrm>
            <a:off x="1609344" y="3200400"/>
            <a:ext cx="82296" cy="82296"/>
          </a:xfrm>
          <a:prstGeom prst="rect">
            <a:avLst/>
          </a:prstGeom>
          <a:solidFill>
            <a:srgbClr val="C9A84C"/>
          </a:solidFill>
          <a:ln/>
        </p:spPr>
      </p:sp>
      <p:sp>
        <p:nvSpPr>
          <p:cNvPr id="18" name="Text 16"/>
          <p:cNvSpPr/>
          <p:nvPr/>
        </p:nvSpPr>
        <p:spPr>
          <a:xfrm>
            <a:off x="1810512" y="3127248"/>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Bounded inside the 1 to 5 scale — a 1? is never tested at 0, a 5? never at 6.</a:t>
            </a:r>
            <a:endParaRPr lang="en-US" sz="1050" dirty="0"/>
          </a:p>
        </p:txBody>
      </p:sp>
      <p:sp>
        <p:nvSpPr>
          <p:cNvPr id="19" name="Shape 17"/>
          <p:cNvSpPr/>
          <p:nvPr/>
        </p:nvSpPr>
        <p:spPr>
          <a:xfrm>
            <a:off x="1609344" y="3456432"/>
            <a:ext cx="82296" cy="82296"/>
          </a:xfrm>
          <a:prstGeom prst="rect">
            <a:avLst/>
          </a:prstGeom>
          <a:solidFill>
            <a:srgbClr val="C9A84C"/>
          </a:solidFill>
          <a:ln/>
        </p:spPr>
      </p:sp>
      <p:sp>
        <p:nvSpPr>
          <p:cNvPr id="20" name="Text 18"/>
          <p:cNvSpPr/>
          <p:nvPr/>
        </p:nvSpPr>
        <p:spPr>
          <a:xfrm>
            <a:off x="1810512" y="3383280"/>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If the sensitivity range includes any total from 17 to 21, do not force a state. Hold the axis as boundary.</a:t>
            </a:r>
            <a:endParaRPr lang="en-US" sz="1050" dirty="0"/>
          </a:p>
        </p:txBody>
      </p:sp>
      <p:sp>
        <p:nvSpPr>
          <p:cNvPr id="21" name="Shape 19"/>
          <p:cNvSpPr/>
          <p:nvPr/>
        </p:nvSpPr>
        <p:spPr>
          <a:xfrm>
            <a:off x="566928" y="3749040"/>
            <a:ext cx="676656" cy="457200"/>
          </a:xfrm>
          <a:prstGeom prst="rect">
            <a:avLst/>
          </a:prstGeom>
          <a:solidFill>
            <a:srgbClr val="C1440E"/>
          </a:solidFill>
          <a:ln/>
        </p:spPr>
      </p:sp>
      <p:sp>
        <p:nvSpPr>
          <p:cNvPr id="22" name="Text 20"/>
          <p:cNvSpPr/>
          <p:nvPr/>
        </p:nvSpPr>
        <p:spPr>
          <a:xfrm>
            <a:off x="566928" y="3749040"/>
            <a:ext cx="676656" cy="457200"/>
          </a:xfrm>
          <a:prstGeom prst="rect">
            <a:avLst/>
          </a:prstGeom>
          <a:noFill/>
          <a:ln/>
        </p:spPr>
        <p:txBody>
          <a:bodyPr wrap="square" lIns="0" tIns="0" rIns="0" bIns="0" rtlCol="0" anchor="ctr"/>
          <a:lstStyle/>
          <a:p>
            <a:pPr algn="ctr" indent="0" marL="0">
              <a:buNone/>
            </a:pPr>
            <a:r>
              <a:rPr lang="en-US" sz="900" b="1" spc="60" kern="0" dirty="0">
                <a:solidFill>
                  <a:srgbClr val="F5F0E8"/>
                </a:solidFill>
                <a:latin typeface="Montserrat" pitchFamily="34" charset="0"/>
                <a:ea typeface="Montserrat" pitchFamily="34" charset="-122"/>
                <a:cs typeface="Montserrat" pitchFamily="34" charset="-120"/>
              </a:rPr>
              <a:t>3+</a:t>
            </a:r>
            <a:endParaRPr lang="en-US" sz="900" dirty="0"/>
          </a:p>
        </p:txBody>
      </p:sp>
      <p:sp>
        <p:nvSpPr>
          <p:cNvPr id="23" name="Shape 21"/>
          <p:cNvSpPr/>
          <p:nvPr/>
        </p:nvSpPr>
        <p:spPr>
          <a:xfrm>
            <a:off x="1408176" y="3749040"/>
            <a:ext cx="7168896" cy="457200"/>
          </a:xfrm>
          <a:prstGeom prst="rect">
            <a:avLst/>
          </a:prstGeom>
          <a:solidFill>
            <a:srgbClr val="0F2347"/>
          </a:solidFill>
          <a:ln/>
        </p:spPr>
      </p:sp>
      <p:sp>
        <p:nvSpPr>
          <p:cNvPr id="24" name="Text 22"/>
          <p:cNvSpPr/>
          <p:nvPr/>
        </p:nvSpPr>
        <p:spPr>
          <a:xfrm>
            <a:off x="1609344" y="3749040"/>
            <a:ext cx="6766560" cy="457200"/>
          </a:xfrm>
          <a:prstGeom prst="rect">
            <a:avLst/>
          </a:prstGeom>
          <a:noFill/>
          <a:ln/>
        </p:spPr>
        <p:txBody>
          <a:bodyPr wrap="square" lIns="0" tIns="0" rIns="0" bIns="0" rtlCol="0" anchor="ctr"/>
          <a:lstStyle/>
          <a:p>
            <a:pPr indent="0" marL="0">
              <a:buNone/>
            </a:pPr>
            <a:r>
              <a:rPr lang="en-US" sz="1100" b="1" dirty="0">
                <a:solidFill>
                  <a:srgbClr val="F5F0E8"/>
                </a:solidFill>
                <a:latin typeface="DM Sans" pitchFamily="34" charset="0"/>
                <a:ea typeface="DM Sans" pitchFamily="34" charset="-122"/>
                <a:cs typeface="DM Sans" pitchFamily="34" charset="-120"/>
              </a:rPr>
              <a:t>INCOMPLETE — do not place on that axis today. Incomplete is a legitimate reading, not a failure.</a:t>
            </a:r>
            <a:endParaRPr lang="en-US" sz="1100" dirty="0"/>
          </a:p>
        </p:txBody>
      </p:sp>
      <p:sp>
        <p:nvSpPr>
          <p:cNvPr id="25" name="Text 23"/>
          <p:cNvSpPr/>
          <p:nvPr/>
        </p:nvSpPr>
        <p:spPr>
          <a:xfrm>
            <a:off x="566928" y="4297680"/>
            <a:ext cx="8010144" cy="365760"/>
          </a:xfrm>
          <a:prstGeom prst="rect">
            <a:avLst/>
          </a:prstGeom>
          <a:noFill/>
          <a:ln/>
        </p:spPr>
        <p:txBody>
          <a:bodyPr wrap="square" lIns="0" tIns="0" rIns="0" bIns="0" rtlCol="0" anchor="ctr"/>
          <a:lstStyle/>
          <a:p>
            <a:pPr indent="0" marL="0">
              <a:lnSpc>
                <a:spcPts val="1250"/>
              </a:lnSpc>
              <a:buNone/>
            </a:pPr>
            <a:r>
              <a:rPr lang="en-US" sz="960" b="1" dirty="0">
                <a:solidFill>
                  <a:srgbClr val="C1440E"/>
                </a:solidFill>
                <a:latin typeface="DM Sans" pitchFamily="34" charset="0"/>
                <a:ea typeface="DM Sans" pitchFamily="34" charset="-122"/>
                <a:cs typeface="DM Sans" pitchFamily="34" charset="-120"/>
              </a:rPr>
              <a:t>ONE axis in the 17–21 band: read the two adjacent states the OTHER axis selects.</a:t>
            </a:r>
            <a:endParaRPr lang="en-US" sz="960" dirty="0"/>
          </a:p>
          <a:p>
            <a:pPr indent="0" marL="0">
              <a:lnSpc>
                <a:spcPts val="1250"/>
              </a:lnSpc>
              <a:buNone/>
            </a:pPr>
            <a:r>
              <a:rPr lang="en-US" sz="960" b="1" dirty="0">
                <a:solidFill>
                  <a:srgbClr val="C1440E"/>
                </a:solidFill>
                <a:latin typeface="DM Sans" pitchFamily="34" charset="0"/>
                <a:ea typeface="DM Sans" pitchFamily="34" charset="-122"/>
                <a:cs typeface="DM Sans" pitchFamily="34" charset="-120"/>
              </a:rPr>
              <a:t>BOTH axes in the band: record Boundary and assign no single state.</a:t>
            </a:r>
            <a:endParaRPr lang="en-US" sz="960" dirty="0"/>
          </a:p>
        </p:txBody>
      </p:sp>
      <p:sp>
        <p:nvSpPr>
          <p:cNvPr id="27" name="Text 24"/>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8" name="Text 25"/>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CORRECTED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Your corrected position</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Privately placed, provisionally held.</a:t>
            </a:r>
            <a:endParaRPr lang="en-US" sz="1150" dirty="0"/>
          </a:p>
        </p:txBody>
      </p:sp>
      <p:sp>
        <p:nvSpPr>
          <p:cNvPr id="5" name="Shape 3"/>
          <p:cNvSpPr/>
          <p:nvPr/>
        </p:nvSpPr>
        <p:spPr>
          <a:xfrm>
            <a:off x="566928" y="1920240"/>
            <a:ext cx="274320" cy="274320"/>
          </a:xfrm>
          <a:prstGeom prst="rect">
            <a:avLst/>
          </a:prstGeom>
          <a:solidFill>
            <a:srgbClr val="0F2347"/>
          </a:solidFill>
          <a:ln/>
        </p:spPr>
      </p:sp>
      <p:sp>
        <p:nvSpPr>
          <p:cNvPr id="6" name="Text 4"/>
          <p:cNvSpPr/>
          <p:nvPr/>
        </p:nvSpPr>
        <p:spPr>
          <a:xfrm>
            <a:off x="566928" y="1920240"/>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1</a:t>
            </a:r>
            <a:endParaRPr lang="en-US" sz="950" dirty="0"/>
          </a:p>
        </p:txBody>
      </p:sp>
      <p:sp>
        <p:nvSpPr>
          <p:cNvPr id="7" name="Text 5"/>
          <p:cNvSpPr/>
          <p:nvPr/>
        </p:nvSpPr>
        <p:spPr>
          <a:xfrm>
            <a:off x="1005840" y="1892808"/>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Place your corrected square</a:t>
            </a:r>
            <a:endParaRPr lang="en-US" sz="1300" dirty="0"/>
          </a:p>
        </p:txBody>
      </p:sp>
      <p:sp>
        <p:nvSpPr>
          <p:cNvPr id="8" name="Text 6"/>
          <p:cNvSpPr/>
          <p:nvPr/>
        </p:nvSpPr>
        <p:spPr>
          <a:xfrm>
            <a:off x="1005840" y="2148840"/>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Or mark boundary, or mark the axis incomplete. All three are legitimate readings.</a:t>
            </a:r>
            <a:endParaRPr lang="en-US" sz="1100" dirty="0"/>
          </a:p>
        </p:txBody>
      </p:sp>
      <p:sp>
        <p:nvSpPr>
          <p:cNvPr id="9" name="Shape 7"/>
          <p:cNvSpPr/>
          <p:nvPr/>
        </p:nvSpPr>
        <p:spPr>
          <a:xfrm>
            <a:off x="566928" y="2578608"/>
            <a:ext cx="274320" cy="274320"/>
          </a:xfrm>
          <a:prstGeom prst="rect">
            <a:avLst/>
          </a:prstGeom>
          <a:solidFill>
            <a:srgbClr val="0F2347"/>
          </a:solidFill>
          <a:ln/>
        </p:spPr>
      </p:sp>
      <p:sp>
        <p:nvSpPr>
          <p:cNvPr id="10" name="Text 8"/>
          <p:cNvSpPr/>
          <p:nvPr/>
        </p:nvSpPr>
        <p:spPr>
          <a:xfrm>
            <a:off x="566928" y="2578608"/>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2</a:t>
            </a:r>
            <a:endParaRPr lang="en-US" sz="950" dirty="0"/>
          </a:p>
        </p:txBody>
      </p:sp>
      <p:sp>
        <p:nvSpPr>
          <p:cNvPr id="11" name="Text 9"/>
          <p:cNvSpPr/>
          <p:nvPr/>
        </p:nvSpPr>
        <p:spPr>
          <a:xfrm>
            <a:off x="1005840" y="2551176"/>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Rate your confidence from 1 to 5</a:t>
            </a:r>
            <a:endParaRPr lang="en-US" sz="1300" dirty="0"/>
          </a:p>
        </p:txBody>
      </p:sp>
      <p:sp>
        <p:nvSpPr>
          <p:cNvPr id="12" name="Text 10"/>
          <p:cNvSpPr/>
          <p:nvPr/>
        </p:nvSpPr>
        <p:spPr>
          <a:xfrm>
            <a:off x="1005840" y="2807208"/>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Compare it with the confidence number from your first placement on workbook page 3. The comparison is private.</a:t>
            </a:r>
            <a:endParaRPr lang="en-US" sz="1100" dirty="0"/>
          </a:p>
        </p:txBody>
      </p:sp>
      <p:sp>
        <p:nvSpPr>
          <p:cNvPr id="13" name="Shape 11"/>
          <p:cNvSpPr/>
          <p:nvPr/>
        </p:nvSpPr>
        <p:spPr>
          <a:xfrm>
            <a:off x="566928" y="3236976"/>
            <a:ext cx="274320" cy="274320"/>
          </a:xfrm>
          <a:prstGeom prst="rect">
            <a:avLst/>
          </a:prstGeom>
          <a:solidFill>
            <a:srgbClr val="0F2347"/>
          </a:solidFill>
          <a:ln/>
        </p:spPr>
      </p:sp>
      <p:sp>
        <p:nvSpPr>
          <p:cNvPr id="14" name="Text 12"/>
          <p:cNvSpPr/>
          <p:nvPr/>
        </p:nvSpPr>
        <p:spPr>
          <a:xfrm>
            <a:off x="566928" y="323697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3</a:t>
            </a:r>
            <a:endParaRPr lang="en-US" sz="950" dirty="0"/>
          </a:p>
        </p:txBody>
      </p:sp>
      <p:sp>
        <p:nvSpPr>
          <p:cNvPr id="15" name="Text 13"/>
          <p:cNvSpPr/>
          <p:nvPr/>
        </p:nvSpPr>
        <p:spPr>
          <a:xfrm>
            <a:off x="1005840" y="3209544"/>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Keep both readings visible</a:t>
            </a:r>
            <a:endParaRPr lang="en-US" sz="1300" dirty="0"/>
          </a:p>
        </p:txBody>
      </p:sp>
      <p:sp>
        <p:nvSpPr>
          <p:cNvPr id="16" name="Text 14"/>
          <p:cNvSpPr/>
          <p:nvPr/>
        </p:nvSpPr>
        <p:spPr>
          <a:xfrm>
            <a:off x="1005840" y="3465576"/>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The first number and the corrected number sit side by side. The distance between them is the finding.</a:t>
            </a:r>
            <a:endParaRPr lang="en-US" sz="1100" dirty="0"/>
          </a:p>
        </p:txBody>
      </p:sp>
      <p:sp>
        <p:nvSpPr>
          <p:cNvPr id="17" name="Shape 15"/>
          <p:cNvSpPr/>
          <p:nvPr/>
        </p:nvSpPr>
        <p:spPr>
          <a:xfrm>
            <a:off x="566928" y="3968496"/>
            <a:ext cx="8010144" cy="548640"/>
          </a:xfrm>
          <a:prstGeom prst="rect">
            <a:avLst/>
          </a:prstGeom>
          <a:solidFill>
            <a:srgbClr val="0F2347"/>
          </a:solidFill>
          <a:ln/>
        </p:spPr>
      </p:sp>
      <p:sp>
        <p:nvSpPr>
          <p:cNvPr id="18" name="Text 16"/>
          <p:cNvSpPr/>
          <p:nvPr/>
        </p:nvSpPr>
        <p:spPr>
          <a:xfrm>
            <a:off x="804672" y="3968496"/>
            <a:ext cx="7534656" cy="548640"/>
          </a:xfrm>
          <a:prstGeom prst="rect">
            <a:avLst/>
          </a:prstGeom>
          <a:noFill/>
          <a:ln/>
        </p:spPr>
        <p:txBody>
          <a:bodyPr wrap="square" lIns="0" tIns="0" rIns="0" bIns="0" rtlCol="0" anchor="ctr"/>
          <a:lstStyle/>
          <a:p>
            <a:pPr indent="0" marL="0">
              <a:buNone/>
            </a:pPr>
            <a:r>
              <a:rPr lang="en-US" sz="1600" b="1" dirty="0">
                <a:solidFill>
                  <a:srgbClr val="F5F0E8"/>
                </a:solidFill>
                <a:latin typeface="Cormorant Garamond" pitchFamily="34" charset="0"/>
                <a:ea typeface="Cormorant Garamond" pitchFamily="34" charset="-122"/>
                <a:cs typeface="Cormorant Garamond" pitchFamily="34" charset="-120"/>
              </a:rPr>
              <a:t>A position you can defend with evidence is worth more than a position you feel confident about.</a:t>
            </a:r>
            <a:endParaRPr lang="en-US" sz="1600" dirty="0"/>
          </a:p>
        </p:txBody>
      </p:sp>
      <p:sp>
        <p:nvSpPr>
          <p:cNvPr id="20" name="Text 1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1" name="Text 1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STATE COSTS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What each state costs</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All four, briefly. The immediate cost only.</a:t>
            </a:r>
            <a:endParaRPr lang="en-US" sz="1150" dirty="0"/>
          </a:p>
        </p:txBody>
      </p:sp>
      <p:sp>
        <p:nvSpPr>
          <p:cNvPr id="5" name="Shape 3"/>
          <p:cNvSpPr/>
          <p:nvPr/>
        </p:nvSpPr>
        <p:spPr>
          <a:xfrm>
            <a:off x="566928" y="1883664"/>
            <a:ext cx="2148840" cy="457200"/>
          </a:xfrm>
          <a:prstGeom prst="rect">
            <a:avLst/>
          </a:prstGeom>
          <a:solidFill>
            <a:srgbClr val="0F2347"/>
          </a:solidFill>
          <a:ln/>
        </p:spPr>
      </p:sp>
      <p:sp>
        <p:nvSpPr>
          <p:cNvPr id="6" name="Text 4"/>
          <p:cNvSpPr/>
          <p:nvPr/>
        </p:nvSpPr>
        <p:spPr>
          <a:xfrm>
            <a:off x="749808" y="1883664"/>
            <a:ext cx="1828800" cy="457200"/>
          </a:xfrm>
          <a:prstGeom prst="rect">
            <a:avLst/>
          </a:prstGeom>
          <a:noFill/>
          <a:ln/>
        </p:spPr>
        <p:txBody>
          <a:bodyPr wrap="square" lIns="0" tIns="0" rIns="0" bIns="0" rtlCol="0" anchor="ctr"/>
          <a:lstStyle/>
          <a:p>
            <a:pPr indent="0" marL="0">
              <a:buNone/>
            </a:pPr>
            <a:r>
              <a:rPr lang="en-US" sz="1000" b="1" spc="100" kern="0" dirty="0">
                <a:solidFill>
                  <a:srgbClr val="C9A84C"/>
                </a:solidFill>
                <a:latin typeface="Montserrat" pitchFamily="34" charset="0"/>
                <a:ea typeface="Montserrat" pitchFamily="34" charset="-122"/>
                <a:cs typeface="Montserrat" pitchFamily="34" charset="-120"/>
              </a:rPr>
              <a:t>DEPTH TRAP</a:t>
            </a:r>
            <a:endParaRPr lang="en-US" sz="1000" dirty="0"/>
          </a:p>
        </p:txBody>
      </p:sp>
      <p:sp>
        <p:nvSpPr>
          <p:cNvPr id="7" name="Text 5"/>
          <p:cNvSpPr/>
          <p:nvPr/>
        </p:nvSpPr>
        <p:spPr>
          <a:xfrm>
            <a:off x="2944368" y="1883664"/>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Value is deep but context-bound.</a:t>
            </a:r>
            <a:endParaRPr lang="en-US" sz="1250" dirty="0"/>
          </a:p>
        </p:txBody>
      </p:sp>
      <p:sp>
        <p:nvSpPr>
          <p:cNvPr id="8" name="Shape 6"/>
          <p:cNvSpPr/>
          <p:nvPr/>
        </p:nvSpPr>
        <p:spPr>
          <a:xfrm>
            <a:off x="566928" y="2450592"/>
            <a:ext cx="2148840" cy="457200"/>
          </a:xfrm>
          <a:prstGeom prst="rect">
            <a:avLst/>
          </a:prstGeom>
          <a:solidFill>
            <a:srgbClr val="E9EDF3"/>
          </a:solidFill>
          <a:ln/>
        </p:spPr>
      </p:sp>
      <p:sp>
        <p:nvSpPr>
          <p:cNvPr id="9" name="Text 7"/>
          <p:cNvSpPr/>
          <p:nvPr/>
        </p:nvSpPr>
        <p:spPr>
          <a:xfrm>
            <a:off x="749808" y="2450592"/>
            <a:ext cx="1828800" cy="457200"/>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COMPOUNDING</a:t>
            </a:r>
            <a:endParaRPr lang="en-US" sz="1000" dirty="0"/>
          </a:p>
        </p:txBody>
      </p:sp>
      <p:sp>
        <p:nvSpPr>
          <p:cNvPr id="10" name="Text 8"/>
          <p:cNvSpPr/>
          <p:nvPr/>
        </p:nvSpPr>
        <p:spPr>
          <a:xfrm>
            <a:off x="2944368" y="2450592"/>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A strong current position still requires renewal.</a:t>
            </a:r>
            <a:endParaRPr lang="en-US" sz="1250" dirty="0"/>
          </a:p>
        </p:txBody>
      </p:sp>
      <p:sp>
        <p:nvSpPr>
          <p:cNvPr id="11" name="Shape 9"/>
          <p:cNvSpPr/>
          <p:nvPr/>
        </p:nvSpPr>
        <p:spPr>
          <a:xfrm>
            <a:off x="566928" y="3017520"/>
            <a:ext cx="2148840" cy="457200"/>
          </a:xfrm>
          <a:prstGeom prst="rect">
            <a:avLst/>
          </a:prstGeom>
          <a:solidFill>
            <a:srgbClr val="0F2347"/>
          </a:solidFill>
          <a:ln/>
        </p:spPr>
      </p:sp>
      <p:sp>
        <p:nvSpPr>
          <p:cNvPr id="12" name="Text 10"/>
          <p:cNvSpPr/>
          <p:nvPr/>
        </p:nvSpPr>
        <p:spPr>
          <a:xfrm>
            <a:off x="749808" y="3017520"/>
            <a:ext cx="1828800" cy="457200"/>
          </a:xfrm>
          <a:prstGeom prst="rect">
            <a:avLst/>
          </a:prstGeom>
          <a:noFill/>
          <a:ln/>
        </p:spPr>
        <p:txBody>
          <a:bodyPr wrap="square" lIns="0" tIns="0" rIns="0" bIns="0" rtlCol="0" anchor="ctr"/>
          <a:lstStyle/>
          <a:p>
            <a:pPr indent="0" marL="0">
              <a:buNone/>
            </a:pPr>
            <a:r>
              <a:rPr lang="en-US" sz="1000" b="1" spc="100" kern="0" dirty="0">
                <a:solidFill>
                  <a:srgbClr val="C9A84C"/>
                </a:solidFill>
                <a:latin typeface="Montserrat" pitchFamily="34" charset="0"/>
                <a:ea typeface="Montserrat" pitchFamily="34" charset="-122"/>
                <a:cs typeface="Montserrat" pitchFamily="34" charset="-120"/>
              </a:rPr>
              <a:t>STAGNANT</a:t>
            </a:r>
            <a:endParaRPr lang="en-US" sz="1000" dirty="0"/>
          </a:p>
        </p:txBody>
      </p:sp>
      <p:sp>
        <p:nvSpPr>
          <p:cNvPr id="13" name="Text 11"/>
          <p:cNvSpPr/>
          <p:nvPr/>
        </p:nvSpPr>
        <p:spPr>
          <a:xfrm>
            <a:off x="2944368" y="3017520"/>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Neither axis is accruing.</a:t>
            </a:r>
            <a:endParaRPr lang="en-US" sz="1250" dirty="0"/>
          </a:p>
        </p:txBody>
      </p:sp>
      <p:sp>
        <p:nvSpPr>
          <p:cNvPr id="14" name="Shape 12"/>
          <p:cNvSpPr/>
          <p:nvPr/>
        </p:nvSpPr>
        <p:spPr>
          <a:xfrm>
            <a:off x="566928" y="3584448"/>
            <a:ext cx="2148840" cy="457200"/>
          </a:xfrm>
          <a:prstGeom prst="rect">
            <a:avLst/>
          </a:prstGeom>
          <a:solidFill>
            <a:srgbClr val="E9EDF3"/>
          </a:solidFill>
          <a:ln/>
        </p:spPr>
      </p:sp>
      <p:sp>
        <p:nvSpPr>
          <p:cNvPr id="15" name="Text 13"/>
          <p:cNvSpPr/>
          <p:nvPr/>
        </p:nvSpPr>
        <p:spPr>
          <a:xfrm>
            <a:off x="749808" y="3584448"/>
            <a:ext cx="1828800" cy="457200"/>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FRAGILE</a:t>
            </a:r>
            <a:endParaRPr lang="en-US" sz="1000" dirty="0"/>
          </a:p>
        </p:txBody>
      </p:sp>
      <p:sp>
        <p:nvSpPr>
          <p:cNvPr id="16" name="Text 14"/>
          <p:cNvSpPr/>
          <p:nvPr/>
        </p:nvSpPr>
        <p:spPr>
          <a:xfrm>
            <a:off x="2944368" y="3584448"/>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What travels today is no longer being renewed.</a:t>
            </a:r>
            <a:endParaRPr lang="en-US" sz="1250" dirty="0"/>
          </a:p>
        </p:txBody>
      </p:sp>
      <p:sp>
        <p:nvSpPr>
          <p:cNvPr id="17" name="Text 15"/>
          <p:cNvSpPr/>
          <p:nvPr/>
        </p:nvSpPr>
        <p:spPr>
          <a:xfrm>
            <a:off x="566928" y="4224528"/>
            <a:ext cx="8010144" cy="457200"/>
          </a:xfrm>
          <a:prstGeom prst="rect">
            <a:avLst/>
          </a:prstGeom>
          <a:noFill/>
          <a:ln/>
        </p:spPr>
        <p:txBody>
          <a:bodyPr wrap="square" lIns="0" tIns="0" rIns="0" bIns="0" rtlCol="0" anchor="ctr"/>
          <a:lstStyle/>
          <a:p>
            <a:pPr indent="0" marL="0">
              <a:lnSpc>
                <a:spcPts val="1400"/>
              </a:lnSpc>
              <a:buNone/>
            </a:pPr>
            <a:r>
              <a:rPr lang="en-US" sz="1060" i="1" dirty="0">
                <a:solidFill>
                  <a:srgbClr val="5A6B84"/>
                </a:solidFill>
                <a:latin typeface="DM Sans" pitchFamily="34" charset="0"/>
                <a:ea typeface="DM Sans" pitchFamily="34" charset="-122"/>
                <a:cs typeface="DM Sans" pitchFamily="34" charset="-120"/>
              </a:rPr>
              <a:t>This is the short reading. The fuller cost of your own square, including the hidden cost, the cost of waiting, and the false reassurance that keeps you there, belongs in deeper follow-on work.</a:t>
            </a:r>
            <a:endParaRPr lang="en-US" sz="106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MOVE CATEGORIES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Seven categories of move</a:t>
            </a:r>
            <a:endParaRPr lang="en-US" sz="3000" dirty="0"/>
          </a:p>
        </p:txBody>
      </p:sp>
      <p:sp>
        <p:nvSpPr>
          <p:cNvPr id="4" name="Text 2"/>
          <p:cNvSpPr/>
          <p:nvPr/>
        </p:nvSpPr>
        <p:spPr>
          <a:xfrm>
            <a:off x="566928" y="1353312"/>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Direction, not a plan. Your evidence helps you choose which category to test.</a:t>
            </a:r>
            <a:endParaRPr lang="en-US" sz="1150" dirty="0"/>
          </a:p>
        </p:txBody>
      </p:sp>
      <p:sp>
        <p:nvSpPr>
          <p:cNvPr id="5" name="Shape 3"/>
          <p:cNvSpPr/>
          <p:nvPr/>
        </p:nvSpPr>
        <p:spPr>
          <a:xfrm>
            <a:off x="566928" y="1773936"/>
            <a:ext cx="274320" cy="274320"/>
          </a:xfrm>
          <a:prstGeom prst="rect">
            <a:avLst/>
          </a:prstGeom>
          <a:solidFill>
            <a:srgbClr val="0F2347"/>
          </a:solidFill>
          <a:ln/>
        </p:spPr>
      </p:sp>
      <p:sp>
        <p:nvSpPr>
          <p:cNvPr id="6" name="Text 4"/>
          <p:cNvSpPr/>
          <p:nvPr/>
        </p:nvSpPr>
        <p:spPr>
          <a:xfrm>
            <a:off x="566928" y="177393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1</a:t>
            </a:r>
            <a:endParaRPr lang="en-US" sz="950" dirty="0"/>
          </a:p>
        </p:txBody>
      </p:sp>
      <p:sp>
        <p:nvSpPr>
          <p:cNvPr id="7" name="Text 5"/>
          <p:cNvSpPr/>
          <p:nvPr/>
        </p:nvSpPr>
        <p:spPr>
          <a:xfrm>
            <a:off x="987552" y="175564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Remain and deepen</a:t>
            </a:r>
            <a:endParaRPr lang="en-US" sz="1160" dirty="0"/>
          </a:p>
        </p:txBody>
      </p:sp>
      <p:sp>
        <p:nvSpPr>
          <p:cNvPr id="8" name="Text 6"/>
          <p:cNvSpPr/>
          <p:nvPr/>
        </p:nvSpPr>
        <p:spPr>
          <a:xfrm>
            <a:off x="3566160" y="175564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The formation conditions are real and worth protecting.</a:t>
            </a:r>
            <a:endParaRPr lang="en-US" sz="1060" dirty="0"/>
          </a:p>
        </p:txBody>
      </p:sp>
      <p:sp>
        <p:nvSpPr>
          <p:cNvPr id="9" name="Shape 7"/>
          <p:cNvSpPr/>
          <p:nvPr/>
        </p:nvSpPr>
        <p:spPr>
          <a:xfrm>
            <a:off x="566928" y="2139696"/>
            <a:ext cx="274320" cy="274320"/>
          </a:xfrm>
          <a:prstGeom prst="rect">
            <a:avLst/>
          </a:prstGeom>
          <a:solidFill>
            <a:srgbClr val="0F2347"/>
          </a:solidFill>
          <a:ln/>
        </p:spPr>
      </p:sp>
      <p:sp>
        <p:nvSpPr>
          <p:cNvPr id="10" name="Text 8"/>
          <p:cNvSpPr/>
          <p:nvPr/>
        </p:nvSpPr>
        <p:spPr>
          <a:xfrm>
            <a:off x="566928" y="213969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2</a:t>
            </a:r>
            <a:endParaRPr lang="en-US" sz="950" dirty="0"/>
          </a:p>
        </p:txBody>
      </p:sp>
      <p:sp>
        <p:nvSpPr>
          <p:cNvPr id="11" name="Text 9"/>
          <p:cNvSpPr/>
          <p:nvPr/>
        </p:nvSpPr>
        <p:spPr>
          <a:xfrm>
            <a:off x="987552" y="212140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Translate what is built</a:t>
            </a:r>
            <a:endParaRPr lang="en-US" sz="1160" dirty="0"/>
          </a:p>
        </p:txBody>
      </p:sp>
      <p:sp>
        <p:nvSpPr>
          <p:cNvPr id="12" name="Text 10"/>
          <p:cNvSpPr/>
          <p:nvPr/>
        </p:nvSpPr>
        <p:spPr>
          <a:xfrm>
            <a:off x="3566160" y="212140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The capability exists. The language for it does not.</a:t>
            </a:r>
            <a:endParaRPr lang="en-US" sz="1060" dirty="0"/>
          </a:p>
        </p:txBody>
      </p:sp>
      <p:sp>
        <p:nvSpPr>
          <p:cNvPr id="13" name="Shape 11"/>
          <p:cNvSpPr/>
          <p:nvPr/>
        </p:nvSpPr>
        <p:spPr>
          <a:xfrm>
            <a:off x="566928" y="2505456"/>
            <a:ext cx="274320" cy="274320"/>
          </a:xfrm>
          <a:prstGeom prst="rect">
            <a:avLst/>
          </a:prstGeom>
          <a:solidFill>
            <a:srgbClr val="0F2347"/>
          </a:solidFill>
          <a:ln/>
        </p:spPr>
      </p:sp>
      <p:sp>
        <p:nvSpPr>
          <p:cNvPr id="14" name="Text 12"/>
          <p:cNvSpPr/>
          <p:nvPr/>
        </p:nvSpPr>
        <p:spPr>
          <a:xfrm>
            <a:off x="566928" y="250545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3</a:t>
            </a:r>
            <a:endParaRPr lang="en-US" sz="950" dirty="0"/>
          </a:p>
        </p:txBody>
      </p:sp>
      <p:sp>
        <p:nvSpPr>
          <p:cNvPr id="15" name="Text 13"/>
          <p:cNvSpPr/>
          <p:nvPr/>
        </p:nvSpPr>
        <p:spPr>
          <a:xfrm>
            <a:off x="987552" y="248716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Widen exposure</a:t>
            </a:r>
            <a:endParaRPr lang="en-US" sz="1160" dirty="0"/>
          </a:p>
        </p:txBody>
      </p:sp>
      <p:sp>
        <p:nvSpPr>
          <p:cNvPr id="16" name="Text 14"/>
          <p:cNvSpPr/>
          <p:nvPr/>
        </p:nvSpPr>
        <p:spPr>
          <a:xfrm>
            <a:off x="3566160" y="248716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The work is good and the wrong people have seen it.</a:t>
            </a:r>
            <a:endParaRPr lang="en-US" sz="1060" dirty="0"/>
          </a:p>
        </p:txBody>
      </p:sp>
      <p:sp>
        <p:nvSpPr>
          <p:cNvPr id="17" name="Shape 15"/>
          <p:cNvSpPr/>
          <p:nvPr/>
        </p:nvSpPr>
        <p:spPr>
          <a:xfrm>
            <a:off x="566928" y="2871216"/>
            <a:ext cx="274320" cy="274320"/>
          </a:xfrm>
          <a:prstGeom prst="rect">
            <a:avLst/>
          </a:prstGeom>
          <a:solidFill>
            <a:srgbClr val="0F2347"/>
          </a:solidFill>
          <a:ln/>
        </p:spPr>
      </p:sp>
      <p:sp>
        <p:nvSpPr>
          <p:cNvPr id="18" name="Text 16"/>
          <p:cNvSpPr/>
          <p:nvPr/>
        </p:nvSpPr>
        <p:spPr>
          <a:xfrm>
            <a:off x="566928" y="287121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4</a:t>
            </a:r>
            <a:endParaRPr lang="en-US" sz="950" dirty="0"/>
          </a:p>
        </p:txBody>
      </p:sp>
      <p:sp>
        <p:nvSpPr>
          <p:cNvPr id="19" name="Text 17"/>
          <p:cNvSpPr/>
          <p:nvPr/>
        </p:nvSpPr>
        <p:spPr>
          <a:xfrm>
            <a:off x="987552" y="285292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Test portability</a:t>
            </a:r>
            <a:endParaRPr lang="en-US" sz="1160" dirty="0"/>
          </a:p>
        </p:txBody>
      </p:sp>
      <p:sp>
        <p:nvSpPr>
          <p:cNvPr id="20" name="Text 18"/>
          <p:cNvSpPr/>
          <p:nvPr/>
        </p:nvSpPr>
        <p:spPr>
          <a:xfrm>
            <a:off x="3566160" y="285292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Find out what travels before you need it to.</a:t>
            </a:r>
            <a:endParaRPr lang="en-US" sz="1060" dirty="0"/>
          </a:p>
        </p:txBody>
      </p:sp>
      <p:sp>
        <p:nvSpPr>
          <p:cNvPr id="21" name="Shape 19"/>
          <p:cNvSpPr/>
          <p:nvPr/>
        </p:nvSpPr>
        <p:spPr>
          <a:xfrm>
            <a:off x="566928" y="3236976"/>
            <a:ext cx="274320" cy="274320"/>
          </a:xfrm>
          <a:prstGeom prst="rect">
            <a:avLst/>
          </a:prstGeom>
          <a:solidFill>
            <a:srgbClr val="0F2347"/>
          </a:solidFill>
          <a:ln/>
        </p:spPr>
      </p:sp>
      <p:sp>
        <p:nvSpPr>
          <p:cNvPr id="22" name="Text 20"/>
          <p:cNvSpPr/>
          <p:nvPr/>
        </p:nvSpPr>
        <p:spPr>
          <a:xfrm>
            <a:off x="566928" y="323697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5</a:t>
            </a:r>
            <a:endParaRPr lang="en-US" sz="950" dirty="0"/>
          </a:p>
        </p:txBody>
      </p:sp>
      <p:sp>
        <p:nvSpPr>
          <p:cNvPr id="23" name="Text 21"/>
          <p:cNvSpPr/>
          <p:nvPr/>
        </p:nvSpPr>
        <p:spPr>
          <a:xfrm>
            <a:off x="987552" y="321868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Repair formation conditions</a:t>
            </a:r>
            <a:endParaRPr lang="en-US" sz="1160" dirty="0"/>
          </a:p>
        </p:txBody>
      </p:sp>
      <p:sp>
        <p:nvSpPr>
          <p:cNvPr id="24" name="Text 22"/>
          <p:cNvSpPr/>
          <p:nvPr/>
        </p:nvSpPr>
        <p:spPr>
          <a:xfrm>
            <a:off x="3566160" y="321868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Change the work, not the employer, first.</a:t>
            </a:r>
            <a:endParaRPr lang="en-US" sz="1060" dirty="0"/>
          </a:p>
        </p:txBody>
      </p:sp>
      <p:sp>
        <p:nvSpPr>
          <p:cNvPr id="25" name="Shape 23"/>
          <p:cNvSpPr/>
          <p:nvPr/>
        </p:nvSpPr>
        <p:spPr>
          <a:xfrm>
            <a:off x="566928" y="3602736"/>
            <a:ext cx="274320" cy="274320"/>
          </a:xfrm>
          <a:prstGeom prst="rect">
            <a:avLst/>
          </a:prstGeom>
          <a:solidFill>
            <a:srgbClr val="0F2347"/>
          </a:solidFill>
          <a:ln/>
        </p:spPr>
      </p:sp>
      <p:sp>
        <p:nvSpPr>
          <p:cNvPr id="26" name="Text 24"/>
          <p:cNvSpPr/>
          <p:nvPr/>
        </p:nvSpPr>
        <p:spPr>
          <a:xfrm>
            <a:off x="566928" y="360273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6</a:t>
            </a:r>
            <a:endParaRPr lang="en-US" sz="950" dirty="0"/>
          </a:p>
        </p:txBody>
      </p:sp>
      <p:sp>
        <p:nvSpPr>
          <p:cNvPr id="27" name="Text 25"/>
          <p:cNvSpPr/>
          <p:nvPr/>
        </p:nvSpPr>
        <p:spPr>
          <a:xfrm>
            <a:off x="987552" y="358444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Prepare for exit</a:t>
            </a:r>
            <a:endParaRPr lang="en-US" sz="1160" dirty="0"/>
          </a:p>
        </p:txBody>
      </p:sp>
      <p:sp>
        <p:nvSpPr>
          <p:cNvPr id="28" name="Text 26"/>
          <p:cNvSpPr/>
          <p:nvPr/>
        </p:nvSpPr>
        <p:spPr>
          <a:xfrm>
            <a:off x="3566160" y="358444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Your evidence gives you reason to prepare in case the conditions do not repair.</a:t>
            </a:r>
            <a:endParaRPr lang="en-US" sz="1060" dirty="0"/>
          </a:p>
        </p:txBody>
      </p:sp>
      <p:sp>
        <p:nvSpPr>
          <p:cNvPr id="29" name="Shape 27"/>
          <p:cNvSpPr/>
          <p:nvPr/>
        </p:nvSpPr>
        <p:spPr>
          <a:xfrm>
            <a:off x="566928" y="3968496"/>
            <a:ext cx="274320" cy="274320"/>
          </a:xfrm>
          <a:prstGeom prst="rect">
            <a:avLst/>
          </a:prstGeom>
          <a:solidFill>
            <a:srgbClr val="0F2347"/>
          </a:solidFill>
          <a:ln/>
        </p:spPr>
      </p:sp>
      <p:sp>
        <p:nvSpPr>
          <p:cNvPr id="30" name="Text 28"/>
          <p:cNvSpPr/>
          <p:nvPr/>
        </p:nvSpPr>
        <p:spPr>
          <a:xfrm>
            <a:off x="566928" y="396849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7</a:t>
            </a:r>
            <a:endParaRPr lang="en-US" sz="950" dirty="0"/>
          </a:p>
        </p:txBody>
      </p:sp>
      <p:sp>
        <p:nvSpPr>
          <p:cNvPr id="31" name="Text 29"/>
          <p:cNvSpPr/>
          <p:nvPr/>
        </p:nvSpPr>
        <p:spPr>
          <a:xfrm>
            <a:off x="987552" y="395020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Seek an external perspective</a:t>
            </a:r>
            <a:endParaRPr lang="en-US" sz="1160" dirty="0"/>
          </a:p>
        </p:txBody>
      </p:sp>
      <p:sp>
        <p:nvSpPr>
          <p:cNvPr id="32" name="Text 30"/>
          <p:cNvSpPr/>
          <p:nvPr/>
        </p:nvSpPr>
        <p:spPr>
          <a:xfrm>
            <a:off x="3566160" y="395020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High stakes, incomplete evidence, or a boundary position.</a:t>
            </a:r>
            <a:endParaRPr lang="en-US" sz="1060" dirty="0"/>
          </a:p>
        </p:txBody>
      </p:sp>
      <p:sp>
        <p:nvSpPr>
          <p:cNvPr id="33" name="Text 31"/>
          <p:cNvSpPr/>
          <p:nvPr/>
        </p:nvSpPr>
        <p:spPr>
          <a:xfrm>
            <a:off x="566928" y="4443984"/>
            <a:ext cx="8010144" cy="237744"/>
          </a:xfrm>
          <a:prstGeom prst="rect">
            <a:avLst/>
          </a:prstGeom>
          <a:noFill/>
          <a:ln/>
        </p:spPr>
        <p:txBody>
          <a:bodyPr wrap="square" lIns="0" tIns="0" rIns="0" bIns="0" rtlCol="0" anchor="ctr"/>
          <a:lstStyle/>
          <a:p>
            <a:pPr indent="0" marL="0">
              <a:buNone/>
            </a:pPr>
            <a:r>
              <a:rPr lang="en-US" sz="1100" b="1" dirty="0">
                <a:solidFill>
                  <a:srgbClr val="C1440E"/>
                </a:solidFill>
                <a:latin typeface="DM Sans" pitchFamily="34" charset="0"/>
                <a:ea typeface="DM Sans" pitchFamily="34" charset="-122"/>
                <a:cs typeface="DM Sans" pitchFamily="34" charset="-120"/>
              </a:rPr>
              <a:t>No square prescribes a category. Your evidence and constraints still apply.</a:t>
            </a:r>
            <a:endParaRPr lang="en-US" sz="1100" dirty="0"/>
          </a:p>
        </p:txBody>
      </p:sp>
      <p:sp>
        <p:nvSpPr>
          <p:cNvPr id="35" name="Text 3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36" name="Text 33"/>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ARTIFACT</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264"/>
              </a:lnSpc>
              <a:buNone/>
            </a:pPr>
            <a:r>
              <a:rPr lang="en-US" sz="3200" b="1" dirty="0">
                <a:solidFill>
                  <a:srgbClr val="0F2347"/>
                </a:solidFill>
                <a:latin typeface="Cormorant Garamond" pitchFamily="34" charset="0"/>
                <a:ea typeface="Cormorant Garamond" pitchFamily="34" charset="-122"/>
                <a:cs typeface="Cormorant Garamond" pitchFamily="34" charset="-120"/>
              </a:rPr>
              <a:t>The Next-Move Note</a:t>
            </a:r>
            <a:endParaRPr lang="en-US" sz="32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Three lines. Yours, private, and enough to act on.</a:t>
            </a:r>
            <a:endParaRPr lang="en-US" sz="1150" dirty="0"/>
          </a:p>
        </p:txBody>
      </p:sp>
      <p:sp>
        <p:nvSpPr>
          <p:cNvPr id="5" name="Shape 3"/>
          <p:cNvSpPr/>
          <p:nvPr/>
        </p:nvSpPr>
        <p:spPr>
          <a:xfrm>
            <a:off x="566928" y="1847088"/>
            <a:ext cx="8010144" cy="658368"/>
          </a:xfrm>
          <a:prstGeom prst="rect">
            <a:avLst/>
          </a:prstGeom>
          <a:solidFill>
            <a:srgbClr val="E9EDF3"/>
          </a:solidFill>
          <a:ln/>
        </p:spPr>
      </p:sp>
      <p:sp>
        <p:nvSpPr>
          <p:cNvPr id="6" name="Shape 4"/>
          <p:cNvSpPr/>
          <p:nvPr/>
        </p:nvSpPr>
        <p:spPr>
          <a:xfrm>
            <a:off x="566928" y="1847088"/>
            <a:ext cx="41148" cy="658368"/>
          </a:xfrm>
          <a:prstGeom prst="rect">
            <a:avLst/>
          </a:prstGeom>
          <a:solidFill>
            <a:srgbClr val="C9A84C"/>
          </a:solidFill>
          <a:ln/>
        </p:spPr>
      </p:sp>
      <p:sp>
        <p:nvSpPr>
          <p:cNvPr id="7" name="Text 5"/>
          <p:cNvSpPr/>
          <p:nvPr/>
        </p:nvSpPr>
        <p:spPr>
          <a:xfrm>
            <a:off x="786384" y="1920240"/>
            <a:ext cx="7571232" cy="182880"/>
          </a:xfrm>
          <a:prstGeom prst="rect">
            <a:avLst/>
          </a:prstGeom>
          <a:noFill/>
          <a:ln/>
        </p:spPr>
        <p:txBody>
          <a:bodyPr wrap="square" lIns="0" tIns="0" rIns="0" bIns="0" rtlCol="0" anchor="ctr"/>
          <a:lstStyle/>
          <a:p>
            <a:pPr indent="0" marL="0">
              <a:buNone/>
            </a:pPr>
            <a:r>
              <a:rPr lang="en-US" sz="820" b="1" spc="110" kern="0" dirty="0">
                <a:solidFill>
                  <a:srgbClr val="0F2347"/>
                </a:solidFill>
                <a:latin typeface="Montserrat" pitchFamily="34" charset="0"/>
                <a:ea typeface="Montserrat" pitchFamily="34" charset="-122"/>
                <a:cs typeface="Montserrat" pitchFamily="34" charset="-120"/>
              </a:rPr>
              <a:t>MY CURRENT READ</a:t>
            </a:r>
            <a:endParaRPr lang="en-US" sz="820" dirty="0"/>
          </a:p>
        </p:txBody>
      </p:sp>
      <p:sp>
        <p:nvSpPr>
          <p:cNvPr id="8" name="Text 6"/>
          <p:cNvSpPr/>
          <p:nvPr/>
        </p:nvSpPr>
        <p:spPr>
          <a:xfrm>
            <a:off x="786384" y="2121408"/>
            <a:ext cx="4937760" cy="219456"/>
          </a:xfrm>
          <a:prstGeom prst="rect">
            <a:avLst/>
          </a:prstGeom>
          <a:noFill/>
          <a:ln/>
        </p:spPr>
        <p:txBody>
          <a:bodyPr wrap="square" lIns="0" tIns="0" rIns="0" bIns="0" rtlCol="0" anchor="ctr"/>
          <a:lstStyle/>
          <a:p>
            <a:pPr indent="0" marL="0">
              <a:buNone/>
            </a:pPr>
            <a:r>
              <a:rPr lang="en-US" sz="1140" dirty="0">
                <a:solidFill>
                  <a:srgbClr val="0F2347"/>
                </a:solidFill>
                <a:latin typeface="DM Sans" pitchFamily="34" charset="0"/>
                <a:ea typeface="DM Sans" pitchFamily="34" charset="-122"/>
                <a:cs typeface="DM Sans" pitchFamily="34" charset="-120"/>
              </a:rPr>
              <a:t>My position appears to be:</a:t>
            </a:r>
            <a:endParaRPr lang="en-US" sz="1140" dirty="0"/>
          </a:p>
        </p:txBody>
      </p:sp>
      <p:sp>
        <p:nvSpPr>
          <p:cNvPr id="9" name="Text 7"/>
          <p:cNvSpPr/>
          <p:nvPr/>
        </p:nvSpPr>
        <p:spPr>
          <a:xfrm>
            <a:off x="786384" y="2322576"/>
            <a:ext cx="4937760" cy="182880"/>
          </a:xfrm>
          <a:prstGeom prst="rect">
            <a:avLst/>
          </a:prstGeom>
          <a:noFill/>
          <a:ln/>
        </p:spPr>
        <p:txBody>
          <a:bodyPr wrap="square" lIns="0" tIns="0" rIns="0" bIns="0" rtlCol="0" anchor="ctr"/>
          <a:lstStyle/>
          <a:p>
            <a:pPr indent="0" marL="0">
              <a:buNone/>
            </a:pPr>
            <a:r>
              <a:rPr lang="en-US" sz="880" i="1" dirty="0">
                <a:solidFill>
                  <a:srgbClr val="5A6B84"/>
                </a:solidFill>
                <a:latin typeface="DM Sans" pitchFamily="34" charset="0"/>
                <a:ea typeface="DM Sans" pitchFamily="34" charset="-122"/>
                <a:cs typeface="DM Sans" pitchFamily="34" charset="-120"/>
              </a:rPr>
              <a:t>State  /  boundary  /  incomplete</a:t>
            </a:r>
            <a:endParaRPr lang="en-US" sz="880" dirty="0"/>
          </a:p>
        </p:txBody>
      </p:sp>
      <p:sp>
        <p:nvSpPr>
          <p:cNvPr id="10" name="Text 8"/>
          <p:cNvSpPr/>
          <p:nvPr/>
        </p:nvSpPr>
        <p:spPr>
          <a:xfrm>
            <a:off x="5577840" y="2121408"/>
            <a:ext cx="2999232" cy="219456"/>
          </a:xfrm>
          <a:prstGeom prst="rect">
            <a:avLst/>
          </a:prstGeom>
          <a:noFill/>
          <a:ln/>
        </p:spPr>
        <p:txBody>
          <a:bodyPr wrap="square" lIns="0" tIns="0" rIns="0" bIns="0" rtlCol="0" anchor="ctr"/>
          <a:lstStyle/>
          <a:p>
            <a:pPr indent="0" marL="0">
              <a:buNone/>
            </a:pPr>
            <a:r>
              <a:rPr lang="en-US" sz="1300" dirty="0">
                <a:solidFill>
                  <a:srgbClr val="5A6B84"/>
                </a:solidFill>
                <a:latin typeface="DM Sans" pitchFamily="34" charset="0"/>
                <a:ea typeface="DM Sans" pitchFamily="34" charset="-122"/>
                <a:cs typeface="DM Sans" pitchFamily="34" charset="-120"/>
              </a:rPr>
              <a:t>____________________</a:t>
            </a:r>
            <a:endParaRPr lang="en-US" sz="1300" dirty="0"/>
          </a:p>
        </p:txBody>
      </p:sp>
      <p:sp>
        <p:nvSpPr>
          <p:cNvPr id="11" name="Shape 9"/>
          <p:cNvSpPr/>
          <p:nvPr/>
        </p:nvSpPr>
        <p:spPr>
          <a:xfrm>
            <a:off x="566928" y="2596896"/>
            <a:ext cx="8010144" cy="658368"/>
          </a:xfrm>
          <a:prstGeom prst="rect">
            <a:avLst/>
          </a:prstGeom>
          <a:solidFill>
            <a:srgbClr val="E9EDF3"/>
          </a:solidFill>
          <a:ln/>
        </p:spPr>
      </p:sp>
      <p:sp>
        <p:nvSpPr>
          <p:cNvPr id="12" name="Shape 10"/>
          <p:cNvSpPr/>
          <p:nvPr/>
        </p:nvSpPr>
        <p:spPr>
          <a:xfrm>
            <a:off x="566928" y="2596896"/>
            <a:ext cx="41148" cy="658368"/>
          </a:xfrm>
          <a:prstGeom prst="rect">
            <a:avLst/>
          </a:prstGeom>
          <a:solidFill>
            <a:srgbClr val="C9A84C"/>
          </a:solidFill>
          <a:ln/>
        </p:spPr>
      </p:sp>
      <p:sp>
        <p:nvSpPr>
          <p:cNvPr id="13" name="Text 11"/>
          <p:cNvSpPr/>
          <p:nvPr/>
        </p:nvSpPr>
        <p:spPr>
          <a:xfrm>
            <a:off x="786384" y="2670048"/>
            <a:ext cx="7571232" cy="182880"/>
          </a:xfrm>
          <a:prstGeom prst="rect">
            <a:avLst/>
          </a:prstGeom>
          <a:noFill/>
          <a:ln/>
        </p:spPr>
        <p:txBody>
          <a:bodyPr wrap="square" lIns="0" tIns="0" rIns="0" bIns="0" rtlCol="0" anchor="ctr"/>
          <a:lstStyle/>
          <a:p>
            <a:pPr indent="0" marL="0">
              <a:buNone/>
            </a:pPr>
            <a:r>
              <a:rPr lang="en-US" sz="820" b="1" spc="110" kern="0" dirty="0">
                <a:solidFill>
                  <a:srgbClr val="0F2347"/>
                </a:solidFill>
                <a:latin typeface="Montserrat" pitchFamily="34" charset="0"/>
                <a:ea typeface="Montserrat" pitchFamily="34" charset="-122"/>
                <a:cs typeface="Montserrat" pitchFamily="34" charset="-120"/>
              </a:rPr>
              <a:t>WHAT I NEED TO TEST</a:t>
            </a:r>
            <a:endParaRPr lang="en-US" sz="820" dirty="0"/>
          </a:p>
        </p:txBody>
      </p:sp>
      <p:sp>
        <p:nvSpPr>
          <p:cNvPr id="14" name="Text 12"/>
          <p:cNvSpPr/>
          <p:nvPr/>
        </p:nvSpPr>
        <p:spPr>
          <a:xfrm>
            <a:off x="786384" y="2871216"/>
            <a:ext cx="4937760" cy="219456"/>
          </a:xfrm>
          <a:prstGeom prst="rect">
            <a:avLst/>
          </a:prstGeom>
          <a:noFill/>
          <a:ln/>
        </p:spPr>
        <p:txBody>
          <a:bodyPr wrap="square" lIns="0" tIns="0" rIns="0" bIns="0" rtlCol="0" anchor="ctr"/>
          <a:lstStyle/>
          <a:p>
            <a:pPr indent="0" marL="0">
              <a:buNone/>
            </a:pPr>
            <a:r>
              <a:rPr lang="en-US" sz="1140" dirty="0">
                <a:solidFill>
                  <a:srgbClr val="0F2347"/>
                </a:solidFill>
                <a:latin typeface="DM Sans" pitchFamily="34" charset="0"/>
                <a:ea typeface="DM Sans" pitchFamily="34" charset="-122"/>
                <a:cs typeface="DM Sans" pitchFamily="34" charset="-120"/>
              </a:rPr>
              <a:t>The category of move my evidence supports testing is:</a:t>
            </a:r>
            <a:endParaRPr lang="en-US" sz="1140" dirty="0"/>
          </a:p>
        </p:txBody>
      </p:sp>
      <p:sp>
        <p:nvSpPr>
          <p:cNvPr id="15" name="Text 13"/>
          <p:cNvSpPr/>
          <p:nvPr/>
        </p:nvSpPr>
        <p:spPr>
          <a:xfrm>
            <a:off x="786384" y="3072384"/>
            <a:ext cx="4937760" cy="182880"/>
          </a:xfrm>
          <a:prstGeom prst="rect">
            <a:avLst/>
          </a:prstGeom>
          <a:noFill/>
          <a:ln/>
        </p:spPr>
        <p:txBody>
          <a:bodyPr wrap="square" lIns="0" tIns="0" rIns="0" bIns="0" rtlCol="0" anchor="ctr"/>
          <a:lstStyle/>
          <a:p>
            <a:pPr indent="0" marL="0">
              <a:buNone/>
            </a:pPr>
            <a:r>
              <a:rPr lang="en-US" sz="880" i="1" dirty="0">
                <a:solidFill>
                  <a:srgbClr val="5A6B84"/>
                </a:solidFill>
                <a:latin typeface="DM Sans" pitchFamily="34" charset="0"/>
                <a:ea typeface="DM Sans" pitchFamily="34" charset="-122"/>
                <a:cs typeface="DM Sans" pitchFamily="34" charset="-120"/>
              </a:rPr>
              <a:t>One of the seven categories.</a:t>
            </a:r>
            <a:endParaRPr lang="en-US" sz="880" dirty="0"/>
          </a:p>
        </p:txBody>
      </p:sp>
      <p:sp>
        <p:nvSpPr>
          <p:cNvPr id="16" name="Text 14"/>
          <p:cNvSpPr/>
          <p:nvPr/>
        </p:nvSpPr>
        <p:spPr>
          <a:xfrm>
            <a:off x="5577840" y="2871216"/>
            <a:ext cx="2999232" cy="219456"/>
          </a:xfrm>
          <a:prstGeom prst="rect">
            <a:avLst/>
          </a:prstGeom>
          <a:noFill/>
          <a:ln/>
        </p:spPr>
        <p:txBody>
          <a:bodyPr wrap="square" lIns="0" tIns="0" rIns="0" bIns="0" rtlCol="0" anchor="ctr"/>
          <a:lstStyle/>
          <a:p>
            <a:pPr indent="0" marL="0">
              <a:buNone/>
            </a:pPr>
            <a:r>
              <a:rPr lang="en-US" sz="1300" dirty="0">
                <a:solidFill>
                  <a:srgbClr val="5A6B84"/>
                </a:solidFill>
                <a:latin typeface="DM Sans" pitchFamily="34" charset="0"/>
                <a:ea typeface="DM Sans" pitchFamily="34" charset="-122"/>
                <a:cs typeface="DM Sans" pitchFamily="34" charset="-120"/>
              </a:rPr>
              <a:t>____________________</a:t>
            </a:r>
            <a:endParaRPr lang="en-US" sz="1300" dirty="0"/>
          </a:p>
        </p:txBody>
      </p:sp>
      <p:sp>
        <p:nvSpPr>
          <p:cNvPr id="17" name="Shape 15"/>
          <p:cNvSpPr/>
          <p:nvPr/>
        </p:nvSpPr>
        <p:spPr>
          <a:xfrm>
            <a:off x="566928" y="3346704"/>
            <a:ext cx="8010144" cy="658368"/>
          </a:xfrm>
          <a:prstGeom prst="rect">
            <a:avLst/>
          </a:prstGeom>
          <a:solidFill>
            <a:srgbClr val="E9EDF3"/>
          </a:solidFill>
          <a:ln/>
        </p:spPr>
      </p:sp>
      <p:sp>
        <p:nvSpPr>
          <p:cNvPr id="18" name="Shape 16"/>
          <p:cNvSpPr/>
          <p:nvPr/>
        </p:nvSpPr>
        <p:spPr>
          <a:xfrm>
            <a:off x="566928" y="3346704"/>
            <a:ext cx="41148" cy="658368"/>
          </a:xfrm>
          <a:prstGeom prst="rect">
            <a:avLst/>
          </a:prstGeom>
          <a:solidFill>
            <a:srgbClr val="C9A84C"/>
          </a:solidFill>
          <a:ln/>
        </p:spPr>
      </p:sp>
      <p:sp>
        <p:nvSpPr>
          <p:cNvPr id="19" name="Text 17"/>
          <p:cNvSpPr/>
          <p:nvPr/>
        </p:nvSpPr>
        <p:spPr>
          <a:xfrm>
            <a:off x="786384" y="3419856"/>
            <a:ext cx="7571232" cy="182880"/>
          </a:xfrm>
          <a:prstGeom prst="rect">
            <a:avLst/>
          </a:prstGeom>
          <a:noFill/>
          <a:ln/>
        </p:spPr>
        <p:txBody>
          <a:bodyPr wrap="square" lIns="0" tIns="0" rIns="0" bIns="0" rtlCol="0" anchor="ctr"/>
          <a:lstStyle/>
          <a:p>
            <a:pPr indent="0" marL="0">
              <a:buNone/>
            </a:pPr>
            <a:r>
              <a:rPr lang="en-US" sz="820" b="1" spc="110" kern="0" dirty="0">
                <a:solidFill>
                  <a:srgbClr val="0F2347"/>
                </a:solidFill>
                <a:latin typeface="Montserrat" pitchFamily="34" charset="0"/>
                <a:ea typeface="Montserrat" pitchFamily="34" charset="-122"/>
                <a:cs typeface="Montserrat" pitchFamily="34" charset="-120"/>
              </a:rPr>
              <a:t>WHAT HAPPENS NEXT</a:t>
            </a:r>
            <a:endParaRPr lang="en-US" sz="820" dirty="0"/>
          </a:p>
        </p:txBody>
      </p:sp>
      <p:sp>
        <p:nvSpPr>
          <p:cNvPr id="20" name="Text 18"/>
          <p:cNvSpPr/>
          <p:nvPr/>
        </p:nvSpPr>
        <p:spPr>
          <a:xfrm>
            <a:off x="786384" y="3621024"/>
            <a:ext cx="4937760" cy="219456"/>
          </a:xfrm>
          <a:prstGeom prst="rect">
            <a:avLst/>
          </a:prstGeom>
          <a:noFill/>
          <a:ln/>
        </p:spPr>
        <p:txBody>
          <a:bodyPr wrap="square" lIns="0" tIns="0" rIns="0" bIns="0" rtlCol="0" anchor="ctr"/>
          <a:lstStyle/>
          <a:p>
            <a:pPr indent="0" marL="0">
              <a:buNone/>
            </a:pPr>
            <a:r>
              <a:rPr lang="en-US" sz="1140" dirty="0">
                <a:solidFill>
                  <a:srgbClr val="0F2347"/>
                </a:solidFill>
                <a:latin typeface="DM Sans" pitchFamily="34" charset="0"/>
                <a:ea typeface="DM Sans" pitchFamily="34" charset="-122"/>
                <a:cs typeface="DM Sans" pitchFamily="34" charset="-120"/>
              </a:rPr>
              <a:t>One action, conversation, or piece of evidence I will pursue next is:</a:t>
            </a:r>
            <a:endParaRPr lang="en-US" sz="1140" dirty="0"/>
          </a:p>
        </p:txBody>
      </p:sp>
      <p:sp>
        <p:nvSpPr>
          <p:cNvPr id="21" name="Text 19"/>
          <p:cNvSpPr/>
          <p:nvPr/>
        </p:nvSpPr>
        <p:spPr>
          <a:xfrm>
            <a:off x="786384" y="3822192"/>
            <a:ext cx="4937760" cy="182880"/>
          </a:xfrm>
          <a:prstGeom prst="rect">
            <a:avLst/>
          </a:prstGeom>
          <a:noFill/>
          <a:ln/>
        </p:spPr>
        <p:txBody>
          <a:bodyPr wrap="square" lIns="0" tIns="0" rIns="0" bIns="0" rtlCol="0" anchor="ctr"/>
          <a:lstStyle/>
          <a:p>
            <a:pPr indent="0" marL="0">
              <a:buNone/>
            </a:pPr>
            <a:r>
              <a:rPr lang="en-US" sz="880" i="1" dirty="0">
                <a:solidFill>
                  <a:srgbClr val="5A6B84"/>
                </a:solidFill>
                <a:latin typeface="DM Sans" pitchFamily="34" charset="0"/>
                <a:ea typeface="DM Sans" pitchFamily="34" charset="-122"/>
                <a:cs typeface="DM Sans" pitchFamily="34" charset="-120"/>
              </a:rPr>
              <a:t>One thing. Something you could begin this month.</a:t>
            </a:r>
            <a:endParaRPr lang="en-US" sz="880" dirty="0"/>
          </a:p>
        </p:txBody>
      </p:sp>
      <p:sp>
        <p:nvSpPr>
          <p:cNvPr id="22" name="Text 20"/>
          <p:cNvSpPr/>
          <p:nvPr/>
        </p:nvSpPr>
        <p:spPr>
          <a:xfrm>
            <a:off x="5577840" y="3621024"/>
            <a:ext cx="2999232" cy="219456"/>
          </a:xfrm>
          <a:prstGeom prst="rect">
            <a:avLst/>
          </a:prstGeom>
          <a:noFill/>
          <a:ln/>
        </p:spPr>
        <p:txBody>
          <a:bodyPr wrap="square" lIns="0" tIns="0" rIns="0" bIns="0" rtlCol="0" anchor="ctr"/>
          <a:lstStyle/>
          <a:p>
            <a:pPr indent="0" marL="0">
              <a:buNone/>
            </a:pPr>
            <a:r>
              <a:rPr lang="en-US" sz="1300" dirty="0">
                <a:solidFill>
                  <a:srgbClr val="5A6B84"/>
                </a:solidFill>
                <a:latin typeface="DM Sans" pitchFamily="34" charset="0"/>
                <a:ea typeface="DM Sans" pitchFamily="34" charset="-122"/>
                <a:cs typeface="DM Sans" pitchFamily="34" charset="-120"/>
              </a:rPr>
              <a:t>____________________</a:t>
            </a:r>
            <a:endParaRPr lang="en-US" sz="1300" dirty="0"/>
          </a:p>
        </p:txBody>
      </p:sp>
      <p:sp>
        <p:nvSpPr>
          <p:cNvPr id="23" name="Shape 21"/>
          <p:cNvSpPr/>
          <p:nvPr/>
        </p:nvSpPr>
        <p:spPr>
          <a:xfrm>
            <a:off x="566928" y="4151376"/>
            <a:ext cx="8010144" cy="457200"/>
          </a:xfrm>
          <a:prstGeom prst="rect">
            <a:avLst/>
          </a:prstGeom>
          <a:solidFill>
            <a:srgbClr val="0F2347"/>
          </a:solidFill>
          <a:ln/>
        </p:spPr>
      </p:sp>
      <p:sp>
        <p:nvSpPr>
          <p:cNvPr id="24" name="Text 22"/>
          <p:cNvSpPr/>
          <p:nvPr/>
        </p:nvSpPr>
        <p:spPr>
          <a:xfrm>
            <a:off x="804672" y="4151376"/>
            <a:ext cx="7534656" cy="457200"/>
          </a:xfrm>
          <a:prstGeom prst="rect">
            <a:avLst/>
          </a:prstGeom>
          <a:noFill/>
          <a:ln/>
        </p:spPr>
        <p:txBody>
          <a:bodyPr wrap="square" lIns="0" tIns="0" rIns="0" bIns="0" rtlCol="0" anchor="ctr"/>
          <a:lstStyle/>
          <a:p>
            <a:pPr algn="ctr" indent="0" marL="0">
              <a:buNone/>
            </a:pPr>
            <a:r>
              <a:rPr lang="en-US" sz="1550" b="1" dirty="0">
                <a:solidFill>
                  <a:srgbClr val="F5F0E8"/>
                </a:solidFill>
                <a:latin typeface="Cormorant Garamond" pitchFamily="34" charset="0"/>
                <a:ea typeface="Cormorant Garamond" pitchFamily="34" charset="-122"/>
                <a:cs typeface="Cormorant Garamond" pitchFamily="34" charset="-120"/>
              </a:rPr>
              <a:t>This is a note, not a decision. It records what your evidence supports testing next.</a:t>
            </a:r>
            <a:endParaRPr lang="en-US" sz="1550" dirty="0"/>
          </a:p>
        </p:txBody>
      </p:sp>
      <p:sp>
        <p:nvSpPr>
          <p:cNvPr id="26" name="Text 23"/>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7" name="Text 24"/>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WHERE TO GO FROM HERE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754"/>
              </a:lnSpc>
              <a:buNone/>
            </a:pPr>
            <a:r>
              <a:rPr lang="en-US" sz="2700" b="1" dirty="0">
                <a:solidFill>
                  <a:srgbClr val="0F2347"/>
                </a:solidFill>
                <a:latin typeface="Cormorant Garamond" pitchFamily="34" charset="0"/>
                <a:ea typeface="Cormorant Garamond" pitchFamily="34" charset="-122"/>
                <a:cs typeface="Cormorant Garamond" pitchFamily="34" charset="-120"/>
              </a:rPr>
              <a:t>Choose How You Want to Continue the Read</a:t>
            </a:r>
            <a:endParaRPr lang="en-US" sz="27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Your read is complete. What you need next depends on what is still unresolved.</a:t>
            </a:r>
            <a:endParaRPr lang="en-US" sz="1150" dirty="0"/>
          </a:p>
        </p:txBody>
      </p:sp>
      <p:sp>
        <p:nvSpPr>
          <p:cNvPr id="5" name="Shape 3"/>
          <p:cNvSpPr/>
          <p:nvPr/>
        </p:nvSpPr>
        <p:spPr>
          <a:xfrm>
            <a:off x="566928" y="1810512"/>
            <a:ext cx="8010144" cy="768096"/>
          </a:xfrm>
          <a:prstGeom prst="rect">
            <a:avLst/>
          </a:prstGeom>
          <a:solidFill>
            <a:srgbClr val="E9EDF3"/>
          </a:solidFill>
          <a:ln/>
        </p:spPr>
      </p:sp>
      <p:sp>
        <p:nvSpPr>
          <p:cNvPr id="6" name="Shape 4"/>
          <p:cNvSpPr/>
          <p:nvPr/>
        </p:nvSpPr>
        <p:spPr>
          <a:xfrm>
            <a:off x="749808" y="1956816"/>
            <a:ext cx="292608" cy="292608"/>
          </a:xfrm>
          <a:prstGeom prst="rect">
            <a:avLst/>
          </a:prstGeom>
          <a:solidFill>
            <a:srgbClr val="0F2347"/>
          </a:solidFill>
          <a:ln/>
        </p:spPr>
      </p:sp>
      <p:sp>
        <p:nvSpPr>
          <p:cNvPr id="7" name="Text 5"/>
          <p:cNvSpPr/>
          <p:nvPr/>
        </p:nvSpPr>
        <p:spPr>
          <a:xfrm>
            <a:off x="749808" y="1956816"/>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a:t>
            </a:r>
            <a:endParaRPr lang="en-US" sz="1000" dirty="0"/>
          </a:p>
        </p:txBody>
      </p:sp>
      <p:sp>
        <p:nvSpPr>
          <p:cNvPr id="8" name="Text 6"/>
          <p:cNvSpPr/>
          <p:nvPr/>
        </p:nvSpPr>
        <p:spPr>
          <a:xfrm>
            <a:off x="1188720" y="1883664"/>
            <a:ext cx="7187184" cy="237744"/>
          </a:xfrm>
          <a:prstGeom prst="rect">
            <a:avLst/>
          </a:prstGeom>
          <a:noFill/>
          <a:ln/>
        </p:spPr>
        <p:txBody>
          <a:bodyPr wrap="square" lIns="0" tIns="0" rIns="0" bIns="0" rtlCol="0" anchor="ctr"/>
          <a:lstStyle/>
          <a:p>
            <a:pPr indent="0" marL="0">
              <a:buNone/>
            </a:pPr>
            <a:r>
              <a:rPr lang="en-US" sz="1350" b="1" dirty="0">
                <a:solidFill>
                  <a:srgbClr val="0F2347"/>
                </a:solidFill>
                <a:latin typeface="DM Sans" pitchFamily="34" charset="0"/>
                <a:ea typeface="DM Sans" pitchFamily="34" charset="-122"/>
                <a:cs typeface="DM Sans" pitchFamily="34" charset="-120"/>
              </a:rPr>
              <a:t>I have enough for now.</a:t>
            </a:r>
            <a:endParaRPr lang="en-US" sz="1350" dirty="0"/>
          </a:p>
        </p:txBody>
      </p:sp>
      <p:sp>
        <p:nvSpPr>
          <p:cNvPr id="9" name="Text 7"/>
          <p:cNvSpPr/>
          <p:nvPr/>
        </p:nvSpPr>
        <p:spPr>
          <a:xfrm>
            <a:off x="1188720" y="2121408"/>
            <a:ext cx="7187184" cy="219456"/>
          </a:xfrm>
          <a:prstGeom prst="rect">
            <a:avLst/>
          </a:prstGeom>
          <a:noFill/>
          <a:ln/>
        </p:spPr>
        <p:txBody>
          <a:bodyPr wrap="square" lIns="0" tIns="0" rIns="0" bIns="0" rtlCol="0" anchor="ctr"/>
          <a:lstStyle/>
          <a:p>
            <a:pPr indent="0" marL="0">
              <a:buNone/>
            </a:pPr>
            <a:r>
              <a:rPr lang="en-US" sz="1120" dirty="0">
                <a:solidFill>
                  <a:srgbClr val="C1440E"/>
                </a:solidFill>
                <a:latin typeface="DM Sans" pitchFamily="34" charset="0"/>
                <a:ea typeface="DM Sans" pitchFamily="34" charset="-122"/>
                <a:cs typeface="DM Sans" pitchFamily="34" charset="-120"/>
              </a:rPr>
              <a:t>Take your Next-Move Note and act on it.</a:t>
            </a:r>
            <a:endParaRPr lang="en-US" sz="1120" dirty="0"/>
          </a:p>
        </p:txBody>
      </p:sp>
      <p:sp>
        <p:nvSpPr>
          <p:cNvPr id="10" name="Text 8"/>
          <p:cNvSpPr/>
          <p:nvPr/>
        </p:nvSpPr>
        <p:spPr>
          <a:xfrm>
            <a:off x="1188720" y="2331720"/>
            <a:ext cx="7187184" cy="201168"/>
          </a:xfrm>
          <a:prstGeom prst="rect">
            <a:avLst/>
          </a:prstGeom>
          <a:noFill/>
          <a:ln/>
        </p:spPr>
        <p:txBody>
          <a:bodyPr wrap="square" lIns="0" tIns="0" rIns="0" bIns="0" rtlCol="0" anchor="ctr"/>
          <a:lstStyle/>
          <a:p>
            <a:pPr indent="0" marL="0">
              <a:buNone/>
            </a:pPr>
            <a:r>
              <a:rPr lang="en-US" sz="1000" dirty="0">
                <a:solidFill>
                  <a:srgbClr val="5A6B84"/>
                </a:solidFill>
                <a:latin typeface="DM Sans" pitchFamily="34" charset="0"/>
                <a:ea typeface="DM Sans" pitchFamily="34" charset="-122"/>
                <a:cs typeface="DM Sans" pitchFamily="34" charset="-120"/>
              </a:rPr>
              <a:t>Nothing further is required. The session was built to be complete on its own.</a:t>
            </a:r>
            <a:endParaRPr lang="en-US" sz="1000" dirty="0"/>
          </a:p>
        </p:txBody>
      </p:sp>
      <p:sp>
        <p:nvSpPr>
          <p:cNvPr id="11" name="Shape 9"/>
          <p:cNvSpPr/>
          <p:nvPr/>
        </p:nvSpPr>
        <p:spPr>
          <a:xfrm>
            <a:off x="566928" y="2670048"/>
            <a:ext cx="8010144" cy="768096"/>
          </a:xfrm>
          <a:prstGeom prst="rect">
            <a:avLst/>
          </a:prstGeom>
          <a:solidFill>
            <a:srgbClr val="E9EDF3"/>
          </a:solidFill>
          <a:ln/>
        </p:spPr>
      </p:sp>
      <p:sp>
        <p:nvSpPr>
          <p:cNvPr id="12" name="Shape 10"/>
          <p:cNvSpPr/>
          <p:nvPr/>
        </p:nvSpPr>
        <p:spPr>
          <a:xfrm>
            <a:off x="749808" y="2816352"/>
            <a:ext cx="292608" cy="292608"/>
          </a:xfrm>
          <a:prstGeom prst="rect">
            <a:avLst/>
          </a:prstGeom>
          <a:solidFill>
            <a:srgbClr val="0F2347"/>
          </a:solidFill>
          <a:ln/>
        </p:spPr>
      </p:sp>
      <p:sp>
        <p:nvSpPr>
          <p:cNvPr id="13" name="Text 11"/>
          <p:cNvSpPr/>
          <p:nvPr/>
        </p:nvSpPr>
        <p:spPr>
          <a:xfrm>
            <a:off x="749808" y="281635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2</a:t>
            </a:r>
            <a:endParaRPr lang="en-US" sz="1000" dirty="0"/>
          </a:p>
        </p:txBody>
      </p:sp>
      <p:sp>
        <p:nvSpPr>
          <p:cNvPr id="14" name="Text 12"/>
          <p:cNvSpPr/>
          <p:nvPr/>
        </p:nvSpPr>
        <p:spPr>
          <a:xfrm>
            <a:off x="1188720" y="2743200"/>
            <a:ext cx="7187184" cy="237744"/>
          </a:xfrm>
          <a:prstGeom prst="rect">
            <a:avLst/>
          </a:prstGeom>
          <a:noFill/>
          <a:ln/>
        </p:spPr>
        <p:txBody>
          <a:bodyPr wrap="square" lIns="0" tIns="0" rIns="0" bIns="0" rtlCol="0" anchor="ctr"/>
          <a:lstStyle/>
          <a:p>
            <a:pPr indent="0" marL="0">
              <a:buNone/>
            </a:pPr>
            <a:r>
              <a:rPr lang="en-US" sz="1350" b="1" dirty="0">
                <a:solidFill>
                  <a:srgbClr val="0F2347"/>
                </a:solidFill>
                <a:latin typeface="DM Sans" pitchFamily="34" charset="0"/>
                <a:ea typeface="DM Sans" pitchFamily="34" charset="-122"/>
                <a:cs typeface="DM Sans" pitchFamily="34" charset="-120"/>
              </a:rPr>
              <a:t>I want to keep working privately.</a:t>
            </a:r>
            <a:endParaRPr lang="en-US" sz="1350" dirty="0"/>
          </a:p>
        </p:txBody>
      </p:sp>
      <p:sp>
        <p:nvSpPr>
          <p:cNvPr id="15" name="Text 13"/>
          <p:cNvSpPr/>
          <p:nvPr/>
        </p:nvSpPr>
        <p:spPr>
          <a:xfrm>
            <a:off x="1188720" y="2980944"/>
            <a:ext cx="7187184" cy="219456"/>
          </a:xfrm>
          <a:prstGeom prst="rect">
            <a:avLst/>
          </a:prstGeom>
          <a:noFill/>
          <a:ln/>
        </p:spPr>
        <p:txBody>
          <a:bodyPr wrap="square" lIns="0" tIns="0" rIns="0" bIns="0" rtlCol="0" anchor="ctr"/>
          <a:lstStyle/>
          <a:p>
            <a:pPr indent="0" marL="0">
              <a:buNone/>
            </a:pPr>
            <a:r>
              <a:rPr lang="en-US" sz="1120" dirty="0">
                <a:solidFill>
                  <a:srgbClr val="C1440E"/>
                </a:solidFill>
                <a:latin typeface="DM Sans" pitchFamily="34" charset="0"/>
                <a:ea typeface="DM Sans" pitchFamily="34" charset="-122"/>
                <a:cs typeface="DM Sans" pitchFamily="34" charset="-120"/>
              </a:rPr>
              <a:t>Continue with the Capability Formation Field Kit.</a:t>
            </a:r>
            <a:endParaRPr lang="en-US" sz="1120" dirty="0"/>
          </a:p>
        </p:txBody>
      </p:sp>
      <p:sp>
        <p:nvSpPr>
          <p:cNvPr id="16" name="Text 14"/>
          <p:cNvSpPr/>
          <p:nvPr/>
        </p:nvSpPr>
        <p:spPr>
          <a:xfrm>
            <a:off x="1188720" y="3191256"/>
            <a:ext cx="7187184" cy="201168"/>
          </a:xfrm>
          <a:prstGeom prst="rect">
            <a:avLst/>
          </a:prstGeom>
          <a:noFill/>
          <a:ln/>
        </p:spPr>
        <p:txBody>
          <a:bodyPr wrap="square" lIns="0" tIns="0" rIns="0" bIns="0" rtlCol="0" anchor="ctr"/>
          <a:lstStyle/>
          <a:p>
            <a:pPr indent="0" marL="0">
              <a:buNone/>
            </a:pPr>
            <a:r>
              <a:rPr lang="en-US" sz="1000" dirty="0">
                <a:solidFill>
                  <a:srgbClr val="5A6B84"/>
                </a:solidFill>
                <a:latin typeface="DM Sans" pitchFamily="34" charset="0"/>
                <a:ea typeface="DM Sans" pitchFamily="34" charset="-122"/>
                <a:cs typeface="DM Sans" pitchFamily="34" charset="-120"/>
              </a:rPr>
              <a:t>You understand your reading and want a structured system you can return to on your own.</a:t>
            </a:r>
            <a:endParaRPr lang="en-US" sz="1000" dirty="0"/>
          </a:p>
        </p:txBody>
      </p:sp>
      <p:sp>
        <p:nvSpPr>
          <p:cNvPr id="17" name="Shape 15"/>
          <p:cNvSpPr/>
          <p:nvPr/>
        </p:nvSpPr>
        <p:spPr>
          <a:xfrm>
            <a:off x="566928" y="3529584"/>
            <a:ext cx="8010144" cy="768096"/>
          </a:xfrm>
          <a:prstGeom prst="rect">
            <a:avLst/>
          </a:prstGeom>
          <a:solidFill>
            <a:srgbClr val="E9EDF3"/>
          </a:solidFill>
          <a:ln/>
        </p:spPr>
      </p:sp>
      <p:sp>
        <p:nvSpPr>
          <p:cNvPr id="18" name="Shape 16"/>
          <p:cNvSpPr/>
          <p:nvPr/>
        </p:nvSpPr>
        <p:spPr>
          <a:xfrm>
            <a:off x="749808" y="3675888"/>
            <a:ext cx="292608" cy="292608"/>
          </a:xfrm>
          <a:prstGeom prst="rect">
            <a:avLst/>
          </a:prstGeom>
          <a:solidFill>
            <a:srgbClr val="0F2347"/>
          </a:solidFill>
          <a:ln/>
        </p:spPr>
      </p:sp>
      <p:sp>
        <p:nvSpPr>
          <p:cNvPr id="19" name="Text 17"/>
          <p:cNvSpPr/>
          <p:nvPr/>
        </p:nvSpPr>
        <p:spPr>
          <a:xfrm>
            <a:off x="749808" y="3675888"/>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3</a:t>
            </a:r>
            <a:endParaRPr lang="en-US" sz="1000" dirty="0"/>
          </a:p>
        </p:txBody>
      </p:sp>
      <p:sp>
        <p:nvSpPr>
          <p:cNvPr id="20" name="Text 18"/>
          <p:cNvSpPr/>
          <p:nvPr/>
        </p:nvSpPr>
        <p:spPr>
          <a:xfrm>
            <a:off x="1188720" y="3602736"/>
            <a:ext cx="7187184" cy="237744"/>
          </a:xfrm>
          <a:prstGeom prst="rect">
            <a:avLst/>
          </a:prstGeom>
          <a:noFill/>
          <a:ln/>
        </p:spPr>
        <p:txBody>
          <a:bodyPr wrap="square" lIns="0" tIns="0" rIns="0" bIns="0" rtlCol="0" anchor="ctr"/>
          <a:lstStyle/>
          <a:p>
            <a:pPr indent="0" marL="0">
              <a:buNone/>
            </a:pPr>
            <a:r>
              <a:rPr lang="en-US" sz="1350" b="1" dirty="0">
                <a:solidFill>
                  <a:srgbClr val="0F2347"/>
                </a:solidFill>
                <a:latin typeface="DM Sans" pitchFamily="34" charset="0"/>
                <a:ea typeface="DM Sans" pitchFamily="34" charset="-122"/>
                <a:cs typeface="DM Sans" pitchFamily="34" charset="-120"/>
              </a:rPr>
              <a:t>I can read the position, but the decision is still difficult.</a:t>
            </a:r>
            <a:endParaRPr lang="en-US" sz="1350" dirty="0"/>
          </a:p>
        </p:txBody>
      </p:sp>
      <p:sp>
        <p:nvSpPr>
          <p:cNvPr id="21" name="Text 19"/>
          <p:cNvSpPr/>
          <p:nvPr/>
        </p:nvSpPr>
        <p:spPr>
          <a:xfrm>
            <a:off x="1188720" y="3840480"/>
            <a:ext cx="7187184" cy="219456"/>
          </a:xfrm>
          <a:prstGeom prst="rect">
            <a:avLst/>
          </a:prstGeom>
          <a:noFill/>
          <a:ln/>
        </p:spPr>
        <p:txBody>
          <a:bodyPr wrap="square" lIns="0" tIns="0" rIns="0" bIns="0" rtlCol="0" anchor="ctr"/>
          <a:lstStyle/>
          <a:p>
            <a:pPr indent="0" marL="0">
              <a:buNone/>
            </a:pPr>
            <a:r>
              <a:rPr lang="en-US" sz="1120" dirty="0">
                <a:solidFill>
                  <a:srgbClr val="C1440E"/>
                </a:solidFill>
                <a:latin typeface="DM Sans" pitchFamily="34" charset="0"/>
                <a:ea typeface="DM Sans" pitchFamily="34" charset="-122"/>
                <a:cs typeface="DM Sans" pitchFamily="34" charset="-120"/>
              </a:rPr>
              <a:t>Bring the reading into a Private Capability Position Read.</a:t>
            </a:r>
            <a:endParaRPr lang="en-US" sz="1120" dirty="0"/>
          </a:p>
        </p:txBody>
      </p:sp>
      <p:sp>
        <p:nvSpPr>
          <p:cNvPr id="22" name="Text 20"/>
          <p:cNvSpPr/>
          <p:nvPr/>
        </p:nvSpPr>
        <p:spPr>
          <a:xfrm>
            <a:off x="1188720" y="4050792"/>
            <a:ext cx="7187184" cy="201168"/>
          </a:xfrm>
          <a:prstGeom prst="rect">
            <a:avLst/>
          </a:prstGeom>
          <a:noFill/>
          <a:ln/>
        </p:spPr>
        <p:txBody>
          <a:bodyPr wrap="square" lIns="0" tIns="0" rIns="0" bIns="0" rtlCol="0" anchor="ctr"/>
          <a:lstStyle/>
          <a:p>
            <a:pPr indent="0" marL="0">
              <a:buNone/>
            </a:pPr>
            <a:r>
              <a:rPr lang="en-US" sz="1000" dirty="0">
                <a:solidFill>
                  <a:srgbClr val="5A6B84"/>
                </a:solidFill>
                <a:latin typeface="DM Sans" pitchFamily="34" charset="0"/>
                <a:ea typeface="DM Sans" pitchFamily="34" charset="-122"/>
                <a:cs typeface="DM Sans" pitchFamily="34" charset="-120"/>
              </a:rPr>
              <a:t>The evidence is clearer, but your context, constraints or stakes still need working through.</a:t>
            </a:r>
            <a:endParaRPr lang="en-US" sz="1000" dirty="0"/>
          </a:p>
        </p:txBody>
      </p:sp>
      <p:sp>
        <p:nvSpPr>
          <p:cNvPr id="23" name="Text 21"/>
          <p:cNvSpPr/>
          <p:nvPr/>
        </p:nvSpPr>
        <p:spPr>
          <a:xfrm>
            <a:off x="566928" y="4443984"/>
            <a:ext cx="8010144" cy="256032"/>
          </a:xfrm>
          <a:prstGeom prst="rect">
            <a:avLst/>
          </a:prstGeom>
          <a:noFill/>
          <a:ln/>
        </p:spPr>
        <p:txBody>
          <a:bodyPr wrap="square" lIns="0" tIns="0" rIns="0" bIns="0" rtlCol="0" anchor="ctr"/>
          <a:lstStyle/>
          <a:p>
            <a:pPr algn="ctr" indent="0" marL="0">
              <a:buNone/>
            </a:pPr>
            <a:r>
              <a:rPr lang="en-US" sz="1500" b="1" i="1" dirty="0">
                <a:solidFill>
                  <a:srgbClr val="0F2347"/>
                </a:solidFill>
                <a:latin typeface="Cormorant Garamond" pitchFamily="34" charset="0"/>
                <a:ea typeface="Cormorant Garamond" pitchFamily="34" charset="-122"/>
                <a:cs typeface="Cormorant Garamond" pitchFamily="34" charset="-120"/>
              </a:rPr>
              <a:t>Different unresolved needs require different levels of support.</a:t>
            </a:r>
            <a:endParaRPr lang="en-US" sz="1500" dirty="0"/>
          </a:p>
        </p:txBody>
      </p:sp>
      <p:sp>
        <p:nvSpPr>
          <p:cNvPr id="25" name="Text 2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6" name="Text 23"/>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TWO ROUTES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550"/>
              </a:lnSpc>
              <a:buNone/>
            </a:pPr>
            <a:r>
              <a:rPr lang="en-US" sz="2500" b="1" dirty="0">
                <a:solidFill>
                  <a:srgbClr val="0F2347"/>
                </a:solidFill>
                <a:latin typeface="Cormorant Garamond" pitchFamily="34" charset="0"/>
                <a:ea typeface="Cormorant Garamond" pitchFamily="34" charset="-122"/>
                <a:cs typeface="Cormorant Garamond" pitchFamily="34" charset="-120"/>
              </a:rPr>
              <a:t>Continue privately, or apply the reading to the decision</a:t>
            </a:r>
            <a:endParaRPr lang="en-US" sz="25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This session is complete on its own. Neither route is required.</a:t>
            </a:r>
            <a:endParaRPr lang="en-US" sz="1150" dirty="0"/>
          </a:p>
        </p:txBody>
      </p:sp>
      <p:sp>
        <p:nvSpPr>
          <p:cNvPr id="5" name="Shape 3"/>
          <p:cNvSpPr/>
          <p:nvPr/>
        </p:nvSpPr>
        <p:spPr>
          <a:xfrm>
            <a:off x="566928" y="1847088"/>
            <a:ext cx="4114800" cy="2212848"/>
          </a:xfrm>
          <a:prstGeom prst="rect">
            <a:avLst/>
          </a:prstGeom>
          <a:solidFill>
            <a:srgbClr val="E9EDF3"/>
          </a:solidFill>
          <a:ln/>
        </p:spPr>
      </p:sp>
      <p:sp>
        <p:nvSpPr>
          <p:cNvPr id="6" name="Text 4"/>
          <p:cNvSpPr/>
          <p:nvPr/>
        </p:nvSpPr>
        <p:spPr>
          <a:xfrm>
            <a:off x="804672" y="1993392"/>
            <a:ext cx="2651760" cy="182880"/>
          </a:xfrm>
          <a:prstGeom prst="rect">
            <a:avLst/>
          </a:prstGeom>
          <a:noFill/>
          <a:ln/>
        </p:spPr>
        <p:txBody>
          <a:bodyPr wrap="square" lIns="0" tIns="0" rIns="0" bIns="0" rtlCol="0" anchor="ctr"/>
          <a:lstStyle/>
          <a:p>
            <a:pPr indent="0" marL="0">
              <a:buNone/>
            </a:pPr>
            <a:r>
              <a:rPr lang="en-US" sz="820" b="1" spc="120" kern="0" dirty="0">
                <a:solidFill>
                  <a:srgbClr val="5A6B84"/>
                </a:solidFill>
                <a:latin typeface="Montserrat" pitchFamily="34" charset="0"/>
                <a:ea typeface="Montserrat" pitchFamily="34" charset="-122"/>
                <a:cs typeface="Montserrat" pitchFamily="34" charset="-120"/>
              </a:rPr>
              <a:t>SELF-GUIDED</a:t>
            </a:r>
            <a:endParaRPr lang="en-US" sz="820" dirty="0"/>
          </a:p>
        </p:txBody>
      </p:sp>
      <p:sp>
        <p:nvSpPr>
          <p:cNvPr id="7" name="Text 5"/>
          <p:cNvSpPr/>
          <p:nvPr/>
        </p:nvSpPr>
        <p:spPr>
          <a:xfrm>
            <a:off x="804672" y="2212848"/>
            <a:ext cx="2651760" cy="566928"/>
          </a:xfrm>
          <a:prstGeom prst="rect">
            <a:avLst/>
          </a:prstGeom>
          <a:noFill/>
          <a:ln/>
        </p:spPr>
        <p:txBody>
          <a:bodyPr wrap="square" lIns="0" tIns="0" rIns="0" bIns="0" rtlCol="0" anchor="ctr"/>
          <a:lstStyle/>
          <a:p>
            <a:pPr indent="0" marL="0">
              <a:lnSpc>
                <a:spcPts val="2100"/>
              </a:lnSpc>
              <a:buNone/>
            </a:pPr>
            <a:r>
              <a:rPr lang="en-US" sz="1800" b="1" dirty="0">
                <a:solidFill>
                  <a:srgbClr val="0F2347"/>
                </a:solidFill>
                <a:latin typeface="Cormorant Garamond" pitchFamily="34" charset="0"/>
                <a:ea typeface="Cormorant Garamond" pitchFamily="34" charset="-122"/>
                <a:cs typeface="Cormorant Garamond" pitchFamily="34" charset="-120"/>
              </a:rPr>
              <a:t>Capability Formation</a:t>
            </a:r>
            <a:endParaRPr lang="en-US" sz="1800" dirty="0"/>
          </a:p>
          <a:p>
            <a:pPr indent="0" marL="0">
              <a:lnSpc>
                <a:spcPts val="2100"/>
              </a:lnSpc>
              <a:buNone/>
            </a:pPr>
            <a:r>
              <a:rPr lang="en-US" sz="1800" b="1" dirty="0">
                <a:solidFill>
                  <a:srgbClr val="0F2347"/>
                </a:solidFill>
                <a:latin typeface="Cormorant Garamond" pitchFamily="34" charset="0"/>
                <a:ea typeface="Cormorant Garamond" pitchFamily="34" charset="-122"/>
                <a:cs typeface="Cormorant Garamond" pitchFamily="34" charset="-120"/>
              </a:rPr>
              <a:t>Field Kit</a:t>
            </a:r>
            <a:endParaRPr lang="en-US" sz="1800" dirty="0"/>
          </a:p>
        </p:txBody>
      </p:sp>
      <p:sp>
        <p:nvSpPr>
          <p:cNvPr id="8" name="Text 6"/>
          <p:cNvSpPr/>
          <p:nvPr/>
        </p:nvSpPr>
        <p:spPr>
          <a:xfrm>
            <a:off x="804672" y="2798064"/>
            <a:ext cx="2651760" cy="402336"/>
          </a:xfrm>
          <a:prstGeom prst="rect">
            <a:avLst/>
          </a:prstGeom>
          <a:noFill/>
          <a:ln/>
        </p:spPr>
        <p:txBody>
          <a:bodyPr wrap="square" lIns="0" tIns="0" rIns="0" bIns="0" rtlCol="0" anchor="ctr"/>
          <a:lstStyle/>
          <a:p>
            <a:pPr indent="0" marL="0">
              <a:lnSpc>
                <a:spcPts val="1250"/>
              </a:lnSpc>
              <a:buNone/>
            </a:pPr>
            <a:r>
              <a:rPr lang="en-US" sz="980" dirty="0">
                <a:solidFill>
                  <a:srgbClr val="0F2347"/>
                </a:solidFill>
                <a:latin typeface="DM Sans" pitchFamily="34" charset="0"/>
                <a:ea typeface="DM Sans" pitchFamily="34" charset="-122"/>
                <a:cs typeface="DM Sans" pitchFamily="34" charset="-120"/>
              </a:rPr>
              <a:t>Private, self-guided continuation of the same evidence discipline.</a:t>
            </a:r>
            <a:endParaRPr lang="en-US" sz="980" dirty="0"/>
          </a:p>
        </p:txBody>
      </p:sp>
      <p:sp>
        <p:nvSpPr>
          <p:cNvPr id="9" name="Shape 7"/>
          <p:cNvSpPr/>
          <p:nvPr/>
        </p:nvSpPr>
        <p:spPr>
          <a:xfrm>
            <a:off x="804672" y="3300984"/>
            <a:ext cx="64008" cy="64008"/>
          </a:xfrm>
          <a:prstGeom prst="rect">
            <a:avLst/>
          </a:prstGeom>
          <a:solidFill>
            <a:srgbClr val="C9A84C"/>
          </a:solidFill>
          <a:ln/>
        </p:spPr>
      </p:sp>
      <p:sp>
        <p:nvSpPr>
          <p:cNvPr id="10" name="Text 8"/>
          <p:cNvSpPr/>
          <p:nvPr/>
        </p:nvSpPr>
        <p:spPr>
          <a:xfrm>
            <a:off x="969264" y="3255264"/>
            <a:ext cx="2514600" cy="173736"/>
          </a:xfrm>
          <a:prstGeom prst="rect">
            <a:avLst/>
          </a:prstGeom>
          <a:noFill/>
          <a:ln/>
        </p:spPr>
        <p:txBody>
          <a:bodyPr wrap="square" lIns="0" tIns="0" rIns="0" bIns="0" rtlCol="0" anchor="ctr"/>
          <a:lstStyle/>
          <a:p>
            <a:pPr indent="0" marL="0">
              <a:buNone/>
            </a:pPr>
            <a:r>
              <a:rPr lang="en-US" sz="940" dirty="0">
                <a:solidFill>
                  <a:srgbClr val="0F2347"/>
                </a:solidFill>
                <a:latin typeface="DM Sans" pitchFamily="34" charset="0"/>
                <a:ea typeface="DM Sans" pitchFamily="34" charset="-122"/>
                <a:cs typeface="DM Sans" pitchFamily="34" charset="-120"/>
              </a:rPr>
              <a:t>Fuller state-cost work</a:t>
            </a:r>
            <a:endParaRPr lang="en-US" sz="940" dirty="0"/>
          </a:p>
        </p:txBody>
      </p:sp>
      <p:sp>
        <p:nvSpPr>
          <p:cNvPr id="11" name="Shape 9"/>
          <p:cNvSpPr/>
          <p:nvPr/>
        </p:nvSpPr>
        <p:spPr>
          <a:xfrm>
            <a:off x="804672" y="3493008"/>
            <a:ext cx="64008" cy="64008"/>
          </a:xfrm>
          <a:prstGeom prst="rect">
            <a:avLst/>
          </a:prstGeom>
          <a:solidFill>
            <a:srgbClr val="C9A84C"/>
          </a:solidFill>
          <a:ln/>
        </p:spPr>
      </p:sp>
      <p:sp>
        <p:nvSpPr>
          <p:cNvPr id="12" name="Text 10"/>
          <p:cNvSpPr/>
          <p:nvPr/>
        </p:nvSpPr>
        <p:spPr>
          <a:xfrm>
            <a:off x="969264" y="3447288"/>
            <a:ext cx="2514600" cy="173736"/>
          </a:xfrm>
          <a:prstGeom prst="rect">
            <a:avLst/>
          </a:prstGeom>
          <a:noFill/>
          <a:ln/>
        </p:spPr>
        <p:txBody>
          <a:bodyPr wrap="square" lIns="0" tIns="0" rIns="0" bIns="0" rtlCol="0" anchor="ctr"/>
          <a:lstStyle/>
          <a:p>
            <a:pPr indent="0" marL="0">
              <a:buNone/>
            </a:pPr>
            <a:r>
              <a:rPr lang="en-US" sz="940" dirty="0">
                <a:solidFill>
                  <a:srgbClr val="0F2347"/>
                </a:solidFill>
                <a:latin typeface="DM Sans" pitchFamily="34" charset="0"/>
                <a:ea typeface="DM Sans" pitchFamily="34" charset="-122"/>
                <a:cs typeface="DM Sans" pitchFamily="34" charset="-120"/>
              </a:rPr>
              <a:t>A repeatable private evidence process</a:t>
            </a:r>
            <a:endParaRPr lang="en-US" sz="940" dirty="0"/>
          </a:p>
        </p:txBody>
      </p:sp>
      <p:sp>
        <p:nvSpPr>
          <p:cNvPr id="13" name="Shape 11"/>
          <p:cNvSpPr/>
          <p:nvPr/>
        </p:nvSpPr>
        <p:spPr>
          <a:xfrm>
            <a:off x="804672" y="3685032"/>
            <a:ext cx="64008" cy="64008"/>
          </a:xfrm>
          <a:prstGeom prst="rect">
            <a:avLst/>
          </a:prstGeom>
          <a:solidFill>
            <a:srgbClr val="C9A84C"/>
          </a:solidFill>
          <a:ln/>
        </p:spPr>
      </p:sp>
      <p:sp>
        <p:nvSpPr>
          <p:cNvPr id="14" name="Text 12"/>
          <p:cNvSpPr/>
          <p:nvPr/>
        </p:nvSpPr>
        <p:spPr>
          <a:xfrm>
            <a:off x="969264" y="3639312"/>
            <a:ext cx="2514600" cy="173736"/>
          </a:xfrm>
          <a:prstGeom prst="rect">
            <a:avLst/>
          </a:prstGeom>
          <a:noFill/>
          <a:ln/>
        </p:spPr>
        <p:txBody>
          <a:bodyPr wrap="square" lIns="0" tIns="0" rIns="0" bIns="0" rtlCol="0" anchor="ctr"/>
          <a:lstStyle/>
          <a:p>
            <a:pPr indent="0" marL="0">
              <a:buNone/>
            </a:pPr>
            <a:r>
              <a:rPr lang="en-US" sz="940" dirty="0">
                <a:solidFill>
                  <a:srgbClr val="0F2347"/>
                </a:solidFill>
                <a:latin typeface="DM Sans" pitchFamily="34" charset="0"/>
                <a:ea typeface="DM Sans" pitchFamily="34" charset="-122"/>
                <a:cs typeface="DM Sans" pitchFamily="34" charset="-120"/>
              </a:rPr>
              <a:t>A structured rescore</a:t>
            </a:r>
            <a:endParaRPr lang="en-US" sz="940" dirty="0"/>
          </a:p>
        </p:txBody>
      </p:sp>
      <p:sp>
        <p:nvSpPr>
          <p:cNvPr id="15" name="Shape 13"/>
          <p:cNvSpPr/>
          <p:nvPr/>
        </p:nvSpPr>
        <p:spPr>
          <a:xfrm>
            <a:off x="804672" y="3877056"/>
            <a:ext cx="64008" cy="64008"/>
          </a:xfrm>
          <a:prstGeom prst="rect">
            <a:avLst/>
          </a:prstGeom>
          <a:solidFill>
            <a:srgbClr val="C9A84C"/>
          </a:solidFill>
          <a:ln/>
        </p:spPr>
      </p:sp>
      <p:sp>
        <p:nvSpPr>
          <p:cNvPr id="16" name="Text 14"/>
          <p:cNvSpPr/>
          <p:nvPr/>
        </p:nvSpPr>
        <p:spPr>
          <a:xfrm>
            <a:off x="969264" y="3831336"/>
            <a:ext cx="2514600" cy="173736"/>
          </a:xfrm>
          <a:prstGeom prst="rect">
            <a:avLst/>
          </a:prstGeom>
          <a:noFill/>
          <a:ln/>
        </p:spPr>
        <p:txBody>
          <a:bodyPr wrap="square" lIns="0" tIns="0" rIns="0" bIns="0" rtlCol="0" anchor="ctr"/>
          <a:lstStyle/>
          <a:p>
            <a:pPr indent="0" marL="0">
              <a:buNone/>
            </a:pPr>
            <a:r>
              <a:rPr lang="en-US" sz="940" dirty="0">
                <a:solidFill>
                  <a:srgbClr val="0F2347"/>
                </a:solidFill>
                <a:latin typeface="DM Sans" pitchFamily="34" charset="0"/>
                <a:ea typeface="DM Sans" pitchFamily="34" charset="-122"/>
                <a:cs typeface="DM Sans" pitchFamily="34" charset="-120"/>
              </a:rPr>
              <a:t>A system you own and return to</a:t>
            </a:r>
            <a:endParaRPr lang="en-US" sz="940" dirty="0"/>
          </a:p>
        </p:txBody>
      </p:sp>
      <p:pic>
        <p:nvPicPr>
          <p:cNvPr id="17" name="Image 0" descr="preencoded.png">    </p:cNvPr>
          <p:cNvPicPr>
            <a:picLocks noChangeAspect="1"/>
          </p:cNvPicPr>
          <p:nvPr/>
        </p:nvPicPr>
        <p:blipFill>
          <a:blip r:embed="rId1"/>
          <a:stretch>
            <a:fillRect/>
          </a:stretch>
        </p:blipFill>
        <p:spPr>
          <a:xfrm>
            <a:off x="3639312" y="2103120"/>
            <a:ext cx="877824" cy="1135685"/>
          </a:xfrm>
          <a:prstGeom prst="rect">
            <a:avLst/>
          </a:prstGeom>
        </p:spPr>
      </p:pic>
      <p:sp>
        <p:nvSpPr>
          <p:cNvPr id="18" name="Text 15"/>
          <p:cNvSpPr/>
          <p:nvPr/>
        </p:nvSpPr>
        <p:spPr>
          <a:xfrm>
            <a:off x="3566160" y="3291840"/>
            <a:ext cx="1024128" cy="182880"/>
          </a:xfrm>
          <a:prstGeom prst="rect">
            <a:avLst/>
          </a:prstGeom>
          <a:noFill/>
          <a:ln/>
        </p:spPr>
        <p:txBody>
          <a:bodyPr wrap="square" lIns="0" tIns="0" rIns="0" bIns="0" rtlCol="0" anchor="ctr"/>
          <a:lstStyle/>
          <a:p>
            <a:pPr algn="ctr" indent="0" marL="0">
              <a:buNone/>
            </a:pPr>
            <a:r>
              <a:rPr lang="en-US" sz="740" i="1" dirty="0">
                <a:solidFill>
                  <a:srgbClr val="5A6B84"/>
                </a:solidFill>
                <a:latin typeface="DM Sans" pitchFamily="34" charset="0"/>
                <a:ea typeface="DM Sans" pitchFamily="34" charset="-122"/>
                <a:cs typeface="DM Sans" pitchFamily="34" charset="-120"/>
              </a:rPr>
              <a:t>The shipped kit</a:t>
            </a:r>
            <a:endParaRPr lang="en-US" sz="740" dirty="0"/>
          </a:p>
        </p:txBody>
      </p:sp>
      <p:sp>
        <p:nvSpPr>
          <p:cNvPr id="19" name="Shape 16"/>
          <p:cNvSpPr/>
          <p:nvPr/>
        </p:nvSpPr>
        <p:spPr>
          <a:xfrm>
            <a:off x="4846320" y="1847088"/>
            <a:ext cx="3730752" cy="2212848"/>
          </a:xfrm>
          <a:prstGeom prst="rect">
            <a:avLst/>
          </a:prstGeom>
          <a:solidFill>
            <a:srgbClr val="0F2347"/>
          </a:solidFill>
          <a:ln/>
        </p:spPr>
      </p:sp>
      <p:sp>
        <p:nvSpPr>
          <p:cNvPr id="20" name="Text 17"/>
          <p:cNvSpPr/>
          <p:nvPr/>
        </p:nvSpPr>
        <p:spPr>
          <a:xfrm>
            <a:off x="5084064" y="1993392"/>
            <a:ext cx="3017520" cy="182880"/>
          </a:xfrm>
          <a:prstGeom prst="rect">
            <a:avLst/>
          </a:prstGeom>
          <a:noFill/>
          <a:ln/>
        </p:spPr>
        <p:txBody>
          <a:bodyPr wrap="square" lIns="0" tIns="0" rIns="0" bIns="0" rtlCol="0" anchor="ctr"/>
          <a:lstStyle/>
          <a:p>
            <a:pPr indent="0" marL="0">
              <a:buNone/>
            </a:pPr>
            <a:r>
              <a:rPr lang="en-US" sz="820" b="1" spc="120" kern="0" dirty="0">
                <a:solidFill>
                  <a:srgbClr val="C9A84C"/>
                </a:solidFill>
                <a:latin typeface="Montserrat" pitchFamily="34" charset="0"/>
                <a:ea typeface="Montserrat" pitchFamily="34" charset="-122"/>
                <a:cs typeface="Montserrat" pitchFamily="34" charset="-120"/>
              </a:rPr>
              <a:t>HIGH-TOUCH</a:t>
            </a:r>
            <a:endParaRPr lang="en-US" sz="820" dirty="0"/>
          </a:p>
        </p:txBody>
      </p:sp>
      <p:sp>
        <p:nvSpPr>
          <p:cNvPr id="21" name="Text 18"/>
          <p:cNvSpPr/>
          <p:nvPr/>
        </p:nvSpPr>
        <p:spPr>
          <a:xfrm>
            <a:off x="5084064" y="2212848"/>
            <a:ext cx="3108960" cy="566928"/>
          </a:xfrm>
          <a:prstGeom prst="rect">
            <a:avLst/>
          </a:prstGeom>
          <a:noFill/>
          <a:ln/>
        </p:spPr>
        <p:txBody>
          <a:bodyPr wrap="square" lIns="0" tIns="0" rIns="0" bIns="0" rtlCol="0" anchor="ctr"/>
          <a:lstStyle/>
          <a:p>
            <a:pPr indent="0" marL="0">
              <a:lnSpc>
                <a:spcPts val="2100"/>
              </a:lnSpc>
              <a:buNone/>
            </a:pPr>
            <a:r>
              <a:rPr lang="en-US" sz="1800" b="1" dirty="0">
                <a:solidFill>
                  <a:srgbClr val="F5F0E8"/>
                </a:solidFill>
                <a:latin typeface="Cormorant Garamond" pitchFamily="34" charset="0"/>
                <a:ea typeface="Cormorant Garamond" pitchFamily="34" charset="-122"/>
                <a:cs typeface="Cormorant Garamond" pitchFamily="34" charset="-120"/>
              </a:rPr>
              <a:t>Private Capability</a:t>
            </a:r>
            <a:endParaRPr lang="en-US" sz="1800" dirty="0"/>
          </a:p>
          <a:p>
            <a:pPr indent="0" marL="0">
              <a:lnSpc>
                <a:spcPts val="2100"/>
              </a:lnSpc>
              <a:buNone/>
            </a:pPr>
            <a:r>
              <a:rPr lang="en-US" sz="1800" b="1" dirty="0">
                <a:solidFill>
                  <a:srgbClr val="F5F0E8"/>
                </a:solidFill>
                <a:latin typeface="Cormorant Garamond" pitchFamily="34" charset="0"/>
                <a:ea typeface="Cormorant Garamond" pitchFamily="34" charset="-122"/>
                <a:cs typeface="Cormorant Garamond" pitchFamily="34" charset="-120"/>
              </a:rPr>
              <a:t>Position Read</a:t>
            </a:r>
            <a:endParaRPr lang="en-US" sz="1800" dirty="0"/>
          </a:p>
        </p:txBody>
      </p:sp>
      <p:sp>
        <p:nvSpPr>
          <p:cNvPr id="22" name="Text 19"/>
          <p:cNvSpPr/>
          <p:nvPr/>
        </p:nvSpPr>
        <p:spPr>
          <a:xfrm>
            <a:off x="5084064" y="2798064"/>
            <a:ext cx="3108960" cy="402336"/>
          </a:xfrm>
          <a:prstGeom prst="rect">
            <a:avLst/>
          </a:prstGeom>
          <a:noFill/>
          <a:ln/>
        </p:spPr>
        <p:txBody>
          <a:bodyPr wrap="square" lIns="0" tIns="0" rIns="0" bIns="0" rtlCol="0" anchor="ctr"/>
          <a:lstStyle/>
          <a:p>
            <a:pPr indent="0" marL="0">
              <a:lnSpc>
                <a:spcPts val="1250"/>
              </a:lnSpc>
              <a:buNone/>
            </a:pPr>
            <a:r>
              <a:rPr lang="en-US" sz="980" dirty="0">
                <a:solidFill>
                  <a:srgbClr val="B8C5D9"/>
                </a:solidFill>
                <a:latin typeface="DM Sans" pitchFamily="34" charset="0"/>
                <a:ea typeface="DM Sans" pitchFamily="34" charset="-122"/>
                <a:cs typeface="DM Sans" pitchFamily="34" charset="-120"/>
              </a:rPr>
              <a:t>One-to-one application of your read to the decision actually in front of you.</a:t>
            </a:r>
            <a:endParaRPr lang="en-US" sz="980" dirty="0"/>
          </a:p>
        </p:txBody>
      </p:sp>
      <p:sp>
        <p:nvSpPr>
          <p:cNvPr id="23" name="Shape 20"/>
          <p:cNvSpPr/>
          <p:nvPr/>
        </p:nvSpPr>
        <p:spPr>
          <a:xfrm>
            <a:off x="5084064" y="3273552"/>
            <a:ext cx="777240" cy="18288"/>
          </a:xfrm>
          <a:prstGeom prst="rect">
            <a:avLst/>
          </a:prstGeom>
          <a:solidFill>
            <a:srgbClr val="C9A84C"/>
          </a:solidFill>
          <a:ln/>
        </p:spPr>
      </p:sp>
      <p:sp>
        <p:nvSpPr>
          <p:cNvPr id="24" name="Text 21"/>
          <p:cNvSpPr/>
          <p:nvPr/>
        </p:nvSpPr>
        <p:spPr>
          <a:xfrm>
            <a:off x="5084064" y="3383280"/>
            <a:ext cx="3108960" cy="457200"/>
          </a:xfrm>
          <a:prstGeom prst="rect">
            <a:avLst/>
          </a:prstGeom>
          <a:noFill/>
          <a:ln/>
        </p:spPr>
        <p:txBody>
          <a:bodyPr wrap="square" lIns="0" tIns="0" rIns="0" bIns="0" rtlCol="0" anchor="ctr"/>
          <a:lstStyle/>
          <a:p>
            <a:pPr indent="0" marL="0">
              <a:lnSpc>
                <a:spcPts val="2000"/>
              </a:lnSpc>
              <a:buNone/>
            </a:pPr>
            <a:r>
              <a:rPr lang="en-US" sz="1700" b="1" dirty="0">
                <a:solidFill>
                  <a:srgbClr val="F5F0E8"/>
                </a:solidFill>
                <a:latin typeface="Cormorant Garamond" pitchFamily="34" charset="0"/>
                <a:ea typeface="Cormorant Garamond" pitchFamily="34" charset="-122"/>
                <a:cs typeface="Cormorant Garamond" pitchFamily="34" charset="-120"/>
              </a:rPr>
              <a:t>“We read them together.”</a:t>
            </a:r>
            <a:endParaRPr lang="en-US" sz="1700" dirty="0"/>
          </a:p>
        </p:txBody>
      </p:sp>
      <p:sp>
        <p:nvSpPr>
          <p:cNvPr id="25" name="Text 22"/>
          <p:cNvSpPr/>
          <p:nvPr/>
        </p:nvSpPr>
        <p:spPr>
          <a:xfrm>
            <a:off x="566928" y="4206240"/>
            <a:ext cx="8010144" cy="310896"/>
          </a:xfrm>
          <a:prstGeom prst="rect">
            <a:avLst/>
          </a:prstGeom>
          <a:noFill/>
          <a:ln/>
        </p:spPr>
        <p:txBody>
          <a:bodyPr wrap="square" lIns="0" tIns="0" rIns="0" bIns="0" rtlCol="0" anchor="ctr"/>
          <a:lstStyle/>
          <a:p>
            <a:pPr algn="ctr" indent="0" marL="0">
              <a:buNone/>
            </a:pPr>
            <a:r>
              <a:rPr lang="en-US" sz="1120" i="1" dirty="0">
                <a:solidFill>
                  <a:srgbClr val="5A6B84"/>
                </a:solidFill>
                <a:latin typeface="DM Sans" pitchFamily="34" charset="0"/>
                <a:ea typeface="DM Sans" pitchFamily="34" charset="-122"/>
                <a:cs typeface="DM Sans" pitchFamily="34" charset="-120"/>
              </a:rPr>
              <a:t>The Field Kit helps you keep reading the position as conditions change. The Private Read helps you apply the reading to the decision.</a:t>
            </a:r>
            <a:endParaRPr lang="en-US" sz="1120" dirty="0"/>
          </a:p>
        </p:txBody>
      </p:sp>
      <p:sp>
        <p:nvSpPr>
          <p:cNvPr id="27" name="Text 23"/>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8" name="Text 24"/>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822960"/>
            <a:ext cx="8010144" cy="201168"/>
          </a:xfrm>
          <a:prstGeom prst="rect">
            <a:avLst/>
          </a:prstGeom>
          <a:noFill/>
          <a:ln/>
        </p:spPr>
        <p:txBody>
          <a:bodyPr wrap="square" lIns="0" tIns="0" rIns="0" bIns="0" rtlCol="0" anchor="ctr"/>
          <a:lstStyle/>
          <a:p>
            <a:pPr indent="0" marL="0">
              <a:buNone/>
            </a:pPr>
            <a:r>
              <a:rPr lang="en-US" sz="900" b="1" spc="180" kern="0" dirty="0">
                <a:solidFill>
                  <a:srgbClr val="C9A84C"/>
                </a:solidFill>
                <a:latin typeface="Montserrat" pitchFamily="34" charset="0"/>
                <a:ea typeface="Montserrat" pitchFamily="34" charset="-122"/>
                <a:cs typeface="Montserrat" pitchFamily="34" charset="-120"/>
              </a:rPr>
              <a:t>BEFORE YOU GO</a:t>
            </a:r>
            <a:endParaRPr lang="en-US" sz="900" dirty="0"/>
          </a:p>
        </p:txBody>
      </p:sp>
      <p:sp>
        <p:nvSpPr>
          <p:cNvPr id="3" name="Text 1"/>
          <p:cNvSpPr/>
          <p:nvPr/>
        </p:nvSpPr>
        <p:spPr>
          <a:xfrm>
            <a:off x="566928" y="1188720"/>
            <a:ext cx="8010144" cy="1188720"/>
          </a:xfrm>
          <a:prstGeom prst="rect">
            <a:avLst/>
          </a:prstGeom>
          <a:noFill/>
          <a:ln/>
        </p:spPr>
        <p:txBody>
          <a:bodyPr wrap="square" lIns="0" tIns="0" rIns="0" bIns="0" rtlCol="0" anchor="ctr"/>
          <a:lstStyle/>
          <a:p>
            <a:pPr indent="0" marL="0">
              <a:lnSpc>
                <a:spcPts val="3800"/>
              </a:lnSpc>
              <a:buNone/>
            </a:pPr>
            <a:r>
              <a:rPr lang="en-US" sz="3100" b="1" dirty="0">
                <a:solidFill>
                  <a:srgbClr val="F5F0E8"/>
                </a:solidFill>
                <a:latin typeface="Cormorant Garamond" pitchFamily="34" charset="0"/>
                <a:ea typeface="Cormorant Garamond" pitchFamily="34" charset="-122"/>
                <a:cs typeface="Cormorant Garamond" pitchFamily="34" charset="-120"/>
              </a:rPr>
              <a:t>You have read your position.</a:t>
            </a:r>
            <a:endParaRPr lang="en-US" sz="3100" dirty="0"/>
          </a:p>
          <a:p>
            <a:pPr indent="0" marL="0">
              <a:lnSpc>
                <a:spcPts val="3800"/>
              </a:lnSpc>
              <a:buNone/>
            </a:pPr>
            <a:r>
              <a:rPr lang="en-US" sz="3100" b="1" dirty="0">
                <a:solidFill>
                  <a:srgbClr val="F5F0E8"/>
                </a:solidFill>
                <a:latin typeface="Cormorant Garamond" pitchFamily="34" charset="0"/>
                <a:ea typeface="Cormorant Garamond" pitchFamily="34" charset="-122"/>
                <a:cs typeface="Cormorant Garamond" pitchFamily="34" charset="-120"/>
              </a:rPr>
              <a:t>The move is the next conversation.</a:t>
            </a:r>
            <a:endParaRPr lang="en-US" sz="3100" dirty="0"/>
          </a:p>
        </p:txBody>
      </p:sp>
      <p:sp>
        <p:nvSpPr>
          <p:cNvPr id="4" name="Shape 2"/>
          <p:cNvSpPr/>
          <p:nvPr/>
        </p:nvSpPr>
        <p:spPr>
          <a:xfrm>
            <a:off x="566928" y="2523744"/>
            <a:ext cx="2651760" cy="20117"/>
          </a:xfrm>
          <a:prstGeom prst="rect">
            <a:avLst/>
          </a:prstGeom>
          <a:solidFill>
            <a:srgbClr val="C9A84C"/>
          </a:solidFill>
          <a:ln/>
        </p:spPr>
      </p:sp>
      <p:sp>
        <p:nvSpPr>
          <p:cNvPr id="5" name="Text 3"/>
          <p:cNvSpPr/>
          <p:nvPr/>
        </p:nvSpPr>
        <p:spPr>
          <a:xfrm>
            <a:off x="566928" y="2761488"/>
            <a:ext cx="6309360" cy="731520"/>
          </a:xfrm>
          <a:prstGeom prst="rect">
            <a:avLst/>
          </a:prstGeom>
          <a:noFill/>
          <a:ln/>
        </p:spPr>
        <p:txBody>
          <a:bodyPr wrap="square" lIns="0" tIns="0" rIns="0" bIns="0" rtlCol="0" anchor="ctr"/>
          <a:lstStyle/>
          <a:p>
            <a:pPr indent="0" marL="0">
              <a:lnSpc>
                <a:spcPts val="1900"/>
              </a:lnSpc>
              <a:buNone/>
            </a:pPr>
            <a:r>
              <a:rPr lang="en-US" sz="1300" dirty="0">
                <a:solidFill>
                  <a:srgbClr val="B8C5D9"/>
                </a:solidFill>
                <a:latin typeface="DM Sans" pitchFamily="34" charset="0"/>
                <a:ea typeface="DM Sans" pitchFamily="34" charset="-122"/>
                <a:cs typeface="DM Sans" pitchFamily="34" charset="-120"/>
              </a:rPr>
              <a:t>Put a rescore date ninety days out before you close your notes. When your reading changes, notice what changed. Share it only if you choose.</a:t>
            </a:r>
            <a:endParaRPr lang="en-US" sz="1300" dirty="0"/>
          </a:p>
        </p:txBody>
      </p:sp>
      <p:sp>
        <p:nvSpPr>
          <p:cNvPr id="6" name="Text 4"/>
          <p:cNvSpPr/>
          <p:nvPr/>
        </p:nvSpPr>
        <p:spPr>
          <a:xfrm>
            <a:off x="566928" y="4261104"/>
            <a:ext cx="8010144" cy="219456"/>
          </a:xfrm>
          <a:prstGeom prst="rect">
            <a:avLst/>
          </a:prstGeom>
          <a:noFill/>
          <a:ln/>
        </p:spPr>
        <p:txBody>
          <a:bodyPr wrap="square" lIns="0" tIns="0" rIns="0" bIns="0" rtlCol="0" anchor="ctr"/>
          <a:lstStyle/>
          <a:p>
            <a:pPr indent="0" marL="0">
              <a:buNone/>
            </a:pPr>
            <a:r>
              <a:rPr lang="en-US" sz="860" b="1" spc="120" kern="0" dirty="0">
                <a:solidFill>
                  <a:srgbClr val="B8C5D9"/>
                </a:solidFill>
                <a:latin typeface="Montserrat" pitchFamily="34" charset="0"/>
                <a:ea typeface="Montserrat" pitchFamily="34" charset="-122"/>
                <a:cs typeface="Montserrat" pitchFamily="34" charset="-120"/>
              </a:rPr>
              <a:t>Capability Formation  ·  Temidayo Afonja  ·  The Density Group</a:t>
            </a:r>
            <a:endParaRPr lang="en-US" sz="860" dirty="0"/>
          </a:p>
        </p:txBody>
      </p:sp>
      <p:sp>
        <p:nvSpPr>
          <p:cNvPr id="8" name="Text 5"/>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B8C5D9"/>
                </a:solidFill>
                <a:latin typeface="Montserrat" pitchFamily="34" charset="0"/>
                <a:ea typeface="Montserrat" pitchFamily="34" charset="-122"/>
                <a:cs typeface="Montserrat" pitchFamily="34" charset="-120"/>
              </a:rPr>
              <a:t>TEMIDAYO AFONJA   |   THE DENSITY GROUP</a:t>
            </a:r>
            <a:endParaRPr lang="en-US" sz="700" dirty="0"/>
          </a:p>
        </p:txBody>
      </p:sp>
      <p:sp>
        <p:nvSpPr>
          <p:cNvPr id="9" name="Text 6"/>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B8C5D9"/>
                </a:solidFill>
                <a:latin typeface="Montserrat" pitchFamily="34" charset="0"/>
                <a:ea typeface="Montserrat" pitchFamily="34" charset="-122"/>
                <a:cs typeface="Montserra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1440E"/>
                </a:solidFill>
                <a:latin typeface="Montserrat" pitchFamily="34" charset="0"/>
                <a:ea typeface="Montserrat" pitchFamily="34" charset="-122"/>
                <a:cs typeface="Montserrat" pitchFamily="34" charset="-120"/>
              </a:rPr>
              <a:t>LIVE ONLY  ·  RECORDING OFF  ·  10 MINUTES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264"/>
              </a:lnSpc>
              <a:buNone/>
            </a:pPr>
            <a:r>
              <a:rPr lang="en-US" sz="3200" b="1" dirty="0">
                <a:solidFill>
                  <a:srgbClr val="0F2347"/>
                </a:solidFill>
                <a:latin typeface="Cormorant Garamond" pitchFamily="34" charset="0"/>
                <a:ea typeface="Cormorant Garamond" pitchFamily="34" charset="-122"/>
                <a:cs typeface="Cormorant Garamond" pitchFamily="34" charset="-120"/>
              </a:rPr>
              <a:t>Questions &amp; Applications</a:t>
            </a:r>
            <a:endParaRPr lang="en-US" sz="32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Ten minutes. The recording has stopped.</a:t>
            </a:r>
            <a:endParaRPr lang="en-US" sz="1150" dirty="0"/>
          </a:p>
        </p:txBody>
      </p:sp>
      <p:sp>
        <p:nvSpPr>
          <p:cNvPr id="5" name="Shape 3"/>
          <p:cNvSpPr/>
          <p:nvPr/>
        </p:nvSpPr>
        <p:spPr>
          <a:xfrm>
            <a:off x="566928" y="1773936"/>
            <a:ext cx="8010144" cy="548640"/>
          </a:xfrm>
          <a:prstGeom prst="rect">
            <a:avLst/>
          </a:prstGeom>
          <a:solidFill>
            <a:srgbClr val="0F2347"/>
          </a:solidFill>
          <a:ln/>
        </p:spPr>
      </p:sp>
      <p:sp>
        <p:nvSpPr>
          <p:cNvPr id="6" name="Text 4"/>
          <p:cNvSpPr/>
          <p:nvPr/>
        </p:nvSpPr>
        <p:spPr>
          <a:xfrm>
            <a:off x="804672" y="1773936"/>
            <a:ext cx="7534656" cy="548640"/>
          </a:xfrm>
          <a:prstGeom prst="rect">
            <a:avLst/>
          </a:prstGeom>
          <a:noFill/>
          <a:ln/>
        </p:spPr>
        <p:txBody>
          <a:bodyPr wrap="square" lIns="0" tIns="0" rIns="0" bIns="0" rtlCol="0" anchor="ctr"/>
          <a:lstStyle/>
          <a:p>
            <a:pPr indent="0" marL="0">
              <a:buNone/>
            </a:pPr>
            <a:r>
              <a:rPr lang="en-US" sz="1500" b="1" dirty="0">
                <a:solidFill>
                  <a:srgbClr val="F5F0E8"/>
                </a:solidFill>
                <a:latin typeface="Cormorant Garamond" pitchFamily="34" charset="0"/>
                <a:ea typeface="Cormorant Garamond" pitchFamily="34" charset="-122"/>
                <a:cs typeface="Cormorant Garamond" pitchFamily="34" charset="-120"/>
              </a:rPr>
              <a:t>“I can help you clarify what your evidence supports. I cannot make the employment decision for you.”</a:t>
            </a:r>
            <a:endParaRPr lang="en-US" sz="1500" dirty="0"/>
          </a:p>
        </p:txBody>
      </p:sp>
      <p:sp>
        <p:nvSpPr>
          <p:cNvPr id="7" name="Shape 5"/>
          <p:cNvSpPr/>
          <p:nvPr/>
        </p:nvSpPr>
        <p:spPr>
          <a:xfrm>
            <a:off x="566928" y="2487168"/>
            <a:ext cx="3886200" cy="1591056"/>
          </a:xfrm>
          <a:prstGeom prst="rect">
            <a:avLst/>
          </a:prstGeom>
          <a:solidFill>
            <a:srgbClr val="E9EDF3"/>
          </a:solidFill>
          <a:ln/>
        </p:spPr>
      </p:sp>
      <p:sp>
        <p:nvSpPr>
          <p:cNvPr id="8" name="Text 6"/>
          <p:cNvSpPr/>
          <p:nvPr/>
        </p:nvSpPr>
        <p:spPr>
          <a:xfrm>
            <a:off x="786384" y="2633472"/>
            <a:ext cx="3474720" cy="182880"/>
          </a:xfrm>
          <a:prstGeom prst="rect">
            <a:avLst/>
          </a:prstGeom>
          <a:noFill/>
          <a:ln/>
        </p:spPr>
        <p:txBody>
          <a:bodyPr wrap="square" lIns="0" tIns="0" rIns="0" bIns="0" rtlCol="0" anchor="ctr"/>
          <a:lstStyle/>
          <a:p>
            <a:pPr indent="0" marL="0">
              <a:buNone/>
            </a:pPr>
            <a:r>
              <a:rPr lang="en-US" sz="820" b="1" spc="120" kern="0" dirty="0">
                <a:solidFill>
                  <a:srgbClr val="0F2347"/>
                </a:solidFill>
                <a:latin typeface="Montserrat" pitchFamily="34" charset="0"/>
                <a:ea typeface="Montserrat" pitchFamily="34" charset="-122"/>
                <a:cs typeface="Montserrat" pitchFamily="34" charset="-120"/>
              </a:rPr>
              <a:t>WELCOME</a:t>
            </a:r>
            <a:endParaRPr lang="en-US" sz="820" dirty="0"/>
          </a:p>
        </p:txBody>
      </p:sp>
      <p:sp>
        <p:nvSpPr>
          <p:cNvPr id="9" name="Text 7"/>
          <p:cNvSpPr/>
          <p:nvPr/>
        </p:nvSpPr>
        <p:spPr>
          <a:xfrm>
            <a:off x="786384" y="2871216"/>
            <a:ext cx="3474720" cy="1097280"/>
          </a:xfrm>
          <a:prstGeom prst="rect">
            <a:avLst/>
          </a:prstGeom>
          <a:noFill/>
          <a:ln/>
        </p:spPr>
        <p:txBody>
          <a:bodyPr wrap="square" lIns="0" tIns="0" rIns="0" bIns="0" rtlCol="0" anchor="ctr"/>
          <a:lstStyle/>
          <a:p>
            <a:pPr indent="0" marL="0">
              <a:lnSpc>
                <a:spcPts val="1400"/>
              </a:lnSpc>
              <a:buNone/>
            </a:pPr>
            <a:r>
              <a:rPr lang="en-US" sz="1040" dirty="0">
                <a:solidFill>
                  <a:srgbClr val="0F2347"/>
                </a:solidFill>
                <a:latin typeface="DM Sans" pitchFamily="34" charset="0"/>
                <a:ea typeface="DM Sans" pitchFamily="34" charset="-122"/>
                <a:cs typeface="DM Sans" pitchFamily="34" charset="-120"/>
              </a:rPr>
              <a:t>Statement interpretation  ·  the evidence protocol  ·  boundary and incomplete readings  ·  move-category distinctions  ·  what to investigate next</a:t>
            </a:r>
            <a:endParaRPr lang="en-US" sz="1040" dirty="0"/>
          </a:p>
        </p:txBody>
      </p:sp>
      <p:sp>
        <p:nvSpPr>
          <p:cNvPr id="10" name="Shape 8"/>
          <p:cNvSpPr/>
          <p:nvPr/>
        </p:nvSpPr>
        <p:spPr>
          <a:xfrm>
            <a:off x="4690872" y="2487168"/>
            <a:ext cx="3886200" cy="1591056"/>
          </a:xfrm>
          <a:prstGeom prst="rect">
            <a:avLst/>
          </a:prstGeom>
          <a:solidFill>
            <a:srgbClr val="C1440E"/>
          </a:solidFill>
          <a:ln/>
        </p:spPr>
      </p:sp>
      <p:sp>
        <p:nvSpPr>
          <p:cNvPr id="11" name="Text 9"/>
          <p:cNvSpPr/>
          <p:nvPr/>
        </p:nvSpPr>
        <p:spPr>
          <a:xfrm>
            <a:off x="4910328" y="2633472"/>
            <a:ext cx="3474720" cy="182880"/>
          </a:xfrm>
          <a:prstGeom prst="rect">
            <a:avLst/>
          </a:prstGeom>
          <a:noFill/>
          <a:ln/>
        </p:spPr>
        <p:txBody>
          <a:bodyPr wrap="square" lIns="0" tIns="0" rIns="0" bIns="0" rtlCol="0" anchor="ctr"/>
          <a:lstStyle/>
          <a:p>
            <a:pPr indent="0" marL="0">
              <a:buNone/>
            </a:pPr>
            <a:r>
              <a:rPr lang="en-US" sz="820" b="1" spc="120" kern="0" dirty="0">
                <a:solidFill>
                  <a:srgbClr val="F5F0E8"/>
                </a:solidFill>
                <a:latin typeface="Montserrat" pitchFamily="34" charset="0"/>
                <a:ea typeface="Montserrat" pitchFamily="34" charset="-122"/>
                <a:cs typeface="Montserrat" pitchFamily="34" charset="-120"/>
              </a:rPr>
              <a:t>OUTSIDE THE BOUNDARY</a:t>
            </a:r>
            <a:endParaRPr lang="en-US" sz="820" dirty="0"/>
          </a:p>
        </p:txBody>
      </p:sp>
      <p:sp>
        <p:nvSpPr>
          <p:cNvPr id="12" name="Text 10"/>
          <p:cNvSpPr/>
          <p:nvPr/>
        </p:nvSpPr>
        <p:spPr>
          <a:xfrm>
            <a:off x="4910328" y="2871216"/>
            <a:ext cx="3474720" cy="1097280"/>
          </a:xfrm>
          <a:prstGeom prst="rect">
            <a:avLst/>
          </a:prstGeom>
          <a:noFill/>
          <a:ln/>
        </p:spPr>
        <p:txBody>
          <a:bodyPr wrap="square" lIns="0" tIns="0" rIns="0" bIns="0" rtlCol="0" anchor="ctr"/>
          <a:lstStyle/>
          <a:p>
            <a:pPr indent="0" marL="0">
              <a:lnSpc>
                <a:spcPts val="1400"/>
              </a:lnSpc>
              <a:buNone/>
            </a:pPr>
            <a:r>
              <a:rPr lang="en-US" sz="1040" dirty="0">
                <a:solidFill>
                  <a:srgbClr val="F5F0E8"/>
                </a:solidFill>
                <a:latin typeface="DM Sans" pitchFamily="34" charset="0"/>
                <a:ea typeface="DM Sans" pitchFamily="34" charset="-122"/>
                <a:cs typeface="DM Sans" pitchFamily="34" charset="-120"/>
              </a:rPr>
              <a:t>Telling someone to stay or leave  ·  predicting layoffs  ·  legal, medical, financial, immigration or tax questions  ·  diagnosing an employer  ·  asking for scores, states or employer names</a:t>
            </a:r>
            <a:endParaRPr lang="en-US" sz="1040" dirty="0"/>
          </a:p>
        </p:txBody>
      </p:sp>
      <p:sp>
        <p:nvSpPr>
          <p:cNvPr id="13" name="Text 11"/>
          <p:cNvSpPr/>
          <p:nvPr/>
        </p:nvSpPr>
        <p:spPr>
          <a:xfrm>
            <a:off x="566928" y="4224528"/>
            <a:ext cx="8010144" cy="256032"/>
          </a:xfrm>
          <a:prstGeom prst="rect">
            <a:avLst/>
          </a:prstGeom>
          <a:noFill/>
          <a:ln/>
        </p:spPr>
        <p:txBody>
          <a:bodyPr wrap="square" lIns="0" tIns="0" rIns="0" bIns="0" rtlCol="0" anchor="ctr"/>
          <a:lstStyle/>
          <a:p>
            <a:pPr algn="ctr" indent="0" marL="0">
              <a:buNone/>
            </a:pPr>
            <a:r>
              <a:rPr lang="en-US" sz="1150" b="1" dirty="0">
                <a:solidFill>
                  <a:srgbClr val="0F2347"/>
                </a:solidFill>
                <a:latin typeface="DM Sans" pitchFamily="34" charset="0"/>
                <a:ea typeface="DM Sans" pitchFamily="34" charset="-122"/>
                <a:cs typeface="DM Sans" pitchFamily="34" charset="-120"/>
              </a:rPr>
              <a:t>Close at 60:00.</a:t>
            </a:r>
            <a:endParaRPr lang="en-US" sz="115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6" name="Text 13"/>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Position Exposure Signals</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Questions to investigate, not predictions.</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Your current role</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Is the mandate being absorbed, narrowed, duplicated or repeatedly redefined?</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A role you are considering</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Does the position exist because of a strategy, or because of one sponsor?</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Either</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Who outside your manager would notice if the function disappeared?</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AI and Compounding</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An application of the two axes. Not a technology session.</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reading does not change</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Where AI makes routine output easier to reproduce, your position depends more heavily on judgment, learning velocity, and capability that travels across unfamiliar problems.</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Density and Optionality do not become less important</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They become more consequential.</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What this is not</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Not a prediction about jobs, tools or timelines. No tool names.</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What translation actually means</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An application of the second move category.</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Legibility is not bragging</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It is evidence translated into language another context can understand.</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pattern</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Name the problem, the constraint, what you did, and what changed — without internal vocabulary.</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Why it matters</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A low Optionality score may reflect context-bound capability, weak translation, limited exposure, or a combination. It is not a verdict on ability or worth.</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Promotion and formation</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The same misreading, in the place it is hardest to see.</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A promotion can increase responsibility, visibility and dependence while reducing formation</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pattern</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A high performer moves into approvals, representation and familiar judgment — more scope, fewer unfamiliar problems.</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test</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What capability do you have now that you did not have before your responsibilities increased?</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658368"/>
            <a:ext cx="8010144" cy="201168"/>
          </a:xfrm>
          <a:prstGeom prst="rect">
            <a:avLst/>
          </a:prstGeom>
          <a:noFill/>
          <a:ln/>
        </p:spPr>
        <p:txBody>
          <a:bodyPr wrap="square" lIns="0" tIns="0" rIns="0" bIns="0" rtlCol="0" anchor="ctr"/>
          <a:lstStyle/>
          <a:p>
            <a:pPr indent="0" marL="0">
              <a:buNone/>
            </a:pPr>
            <a:r>
              <a:rPr lang="en-US" sz="900" b="1" spc="160" kern="0" dirty="0">
                <a:solidFill>
                  <a:srgbClr val="C9A84C"/>
                </a:solidFill>
                <a:latin typeface="Montserrat" pitchFamily="34" charset="0"/>
                <a:ea typeface="Montserrat" pitchFamily="34" charset="-122"/>
                <a:cs typeface="Montserrat" pitchFamily="34" charset="-120"/>
              </a:rPr>
              <a:t>INSTITUTIONAL DELIVERY CLOSE  ·  OPTIONAL</a:t>
            </a:r>
            <a:endParaRPr lang="en-US" sz="900" dirty="0"/>
          </a:p>
        </p:txBody>
      </p:sp>
      <p:sp>
        <p:nvSpPr>
          <p:cNvPr id="3" name="Text 1"/>
          <p:cNvSpPr/>
          <p:nvPr/>
        </p:nvSpPr>
        <p:spPr>
          <a:xfrm>
            <a:off x="566928" y="1225296"/>
            <a:ext cx="8010144" cy="566928"/>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What has the journey built in you?</a:t>
            </a:r>
            <a:endParaRPr lang="en-US" sz="2900" dirty="0"/>
          </a:p>
        </p:txBody>
      </p:sp>
      <p:sp>
        <p:nvSpPr>
          <p:cNvPr id="4" name="Text 2"/>
          <p:cNvSpPr/>
          <p:nvPr/>
        </p:nvSpPr>
        <p:spPr>
          <a:xfrm>
            <a:off x="566928" y="1883664"/>
            <a:ext cx="8010144" cy="566928"/>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What remains useful when the context changes?</a:t>
            </a:r>
            <a:endParaRPr lang="en-US" sz="2900" dirty="0"/>
          </a:p>
        </p:txBody>
      </p:sp>
      <p:sp>
        <p:nvSpPr>
          <p:cNvPr id="5" name="Text 3"/>
          <p:cNvSpPr/>
          <p:nvPr/>
        </p:nvSpPr>
        <p:spPr>
          <a:xfrm>
            <a:off x="566928" y="2542032"/>
            <a:ext cx="8010144" cy="566928"/>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What can you do somewhere else?</a:t>
            </a:r>
            <a:endParaRPr lang="en-US" sz="2900" dirty="0"/>
          </a:p>
        </p:txBody>
      </p:sp>
      <p:sp>
        <p:nvSpPr>
          <p:cNvPr id="6" name="Shape 4"/>
          <p:cNvSpPr/>
          <p:nvPr/>
        </p:nvSpPr>
        <p:spPr>
          <a:xfrm>
            <a:off x="566928" y="3401568"/>
            <a:ext cx="2651760" cy="20117"/>
          </a:xfrm>
          <a:prstGeom prst="rect">
            <a:avLst/>
          </a:prstGeom>
          <a:solidFill>
            <a:srgbClr val="C9A84C"/>
          </a:solidFill>
          <a:ln/>
        </p:spPr>
      </p:sp>
      <p:sp>
        <p:nvSpPr>
          <p:cNvPr id="7" name="Text 5"/>
          <p:cNvSpPr/>
          <p:nvPr/>
        </p:nvSpPr>
        <p:spPr>
          <a:xfrm>
            <a:off x="566928" y="3657600"/>
            <a:ext cx="8010144" cy="274320"/>
          </a:xfrm>
          <a:prstGeom prst="rect">
            <a:avLst/>
          </a:prstGeom>
          <a:noFill/>
          <a:ln/>
        </p:spPr>
        <p:txBody>
          <a:bodyPr wrap="square" lIns="0" tIns="0" rIns="0" bIns="0" rtlCol="0" anchor="ctr"/>
          <a:lstStyle/>
          <a:p>
            <a:pPr indent="0" marL="0">
              <a:buNone/>
            </a:pPr>
            <a:r>
              <a:rPr lang="en-US" sz="1000" b="1" spc="120" kern="0" dirty="0">
                <a:solidFill>
                  <a:srgbClr val="B8C5D9"/>
                </a:solidFill>
                <a:latin typeface="Montserrat" pitchFamily="34" charset="0"/>
                <a:ea typeface="Montserrat" pitchFamily="34" charset="-122"/>
                <a:cs typeface="Montserrat" pitchFamily="34" charset="-120"/>
              </a:rPr>
              <a:t>Capability Formation  ·  Temidayo Afonja  ·  The Density Group</a:t>
            </a:r>
            <a:endParaRPr lang="en-US" sz="1000" dirty="0"/>
          </a:p>
        </p:txBody>
      </p:sp>
      <p:sp>
        <p:nvSpPr>
          <p:cNvPr id="9" name="Text 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OPTIONAL  ·  NOT PART OF THE TIMED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What moved when you tested your first read</a:t>
            </a:r>
            <a:endParaRPr lang="en-US" sz="2600" dirty="0"/>
          </a:p>
        </p:txBody>
      </p:sp>
      <p:sp>
        <p:nvSpPr>
          <p:cNvPr id="4" name="Text 2"/>
          <p:cNvSpPr/>
          <p:nvPr/>
        </p:nvSpPr>
        <p:spPr>
          <a:xfrm>
            <a:off x="566928" y="1335024"/>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One anonymous response. No score, state, employer, or identifying information is requested.</a:t>
            </a:r>
            <a:endParaRPr lang="en-US" sz="1150" dirty="0"/>
          </a:p>
        </p:txBody>
      </p:sp>
      <p:sp>
        <p:nvSpPr>
          <p:cNvPr id="5" name="Shape 3"/>
          <p:cNvSpPr/>
          <p:nvPr/>
        </p:nvSpPr>
        <p:spPr>
          <a:xfrm>
            <a:off x="566928" y="1810512"/>
            <a:ext cx="8010144" cy="457200"/>
          </a:xfrm>
          <a:prstGeom prst="rect">
            <a:avLst/>
          </a:prstGeom>
          <a:solidFill>
            <a:srgbClr val="E9EDF3"/>
          </a:solidFill>
          <a:ln/>
        </p:spPr>
      </p:sp>
      <p:sp>
        <p:nvSpPr>
          <p:cNvPr id="6" name="Text 4"/>
          <p:cNvSpPr/>
          <p:nvPr/>
        </p:nvSpPr>
        <p:spPr>
          <a:xfrm>
            <a:off x="804672" y="1810512"/>
            <a:ext cx="7534656" cy="457200"/>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After testing your first read against evidence, which is closest?</a:t>
            </a:r>
            <a:endParaRPr lang="en-US" sz="1250" dirty="0"/>
          </a:p>
        </p:txBody>
      </p:sp>
      <p:sp>
        <p:nvSpPr>
          <p:cNvPr id="7" name="Shape 5"/>
          <p:cNvSpPr/>
          <p:nvPr/>
        </p:nvSpPr>
        <p:spPr>
          <a:xfrm>
            <a:off x="566928" y="2432304"/>
            <a:ext cx="128016" cy="128016"/>
          </a:xfrm>
          <a:prstGeom prst="rect">
            <a:avLst/>
          </a:prstGeom>
          <a:solidFill>
            <a:srgbClr val="C9A84C"/>
          </a:solidFill>
          <a:ln/>
        </p:spPr>
      </p:sp>
      <p:sp>
        <p:nvSpPr>
          <p:cNvPr id="8" name="Text 6"/>
          <p:cNvSpPr/>
          <p:nvPr/>
        </p:nvSpPr>
        <p:spPr>
          <a:xfrm>
            <a:off x="877824" y="2377440"/>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totals moved meaningfully</a:t>
            </a:r>
            <a:endParaRPr lang="en-US" sz="1250" dirty="0"/>
          </a:p>
        </p:txBody>
      </p:sp>
      <p:sp>
        <p:nvSpPr>
          <p:cNvPr id="9" name="Shape 7"/>
          <p:cNvSpPr/>
          <p:nvPr/>
        </p:nvSpPr>
        <p:spPr>
          <a:xfrm>
            <a:off x="566928" y="2871216"/>
            <a:ext cx="128016" cy="128016"/>
          </a:xfrm>
          <a:prstGeom prst="rect">
            <a:avLst/>
          </a:prstGeom>
          <a:solidFill>
            <a:srgbClr val="C9A84C"/>
          </a:solidFill>
          <a:ln/>
        </p:spPr>
      </p:sp>
      <p:sp>
        <p:nvSpPr>
          <p:cNvPr id="10" name="Text 8"/>
          <p:cNvSpPr/>
          <p:nvPr/>
        </p:nvSpPr>
        <p:spPr>
          <a:xfrm>
            <a:off x="877824" y="2816352"/>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provisional position moved</a:t>
            </a:r>
            <a:endParaRPr lang="en-US" sz="1250" dirty="0"/>
          </a:p>
        </p:txBody>
      </p:sp>
      <p:sp>
        <p:nvSpPr>
          <p:cNvPr id="11" name="Shape 9"/>
          <p:cNvSpPr/>
          <p:nvPr/>
        </p:nvSpPr>
        <p:spPr>
          <a:xfrm>
            <a:off x="566928" y="3310128"/>
            <a:ext cx="128016" cy="128016"/>
          </a:xfrm>
          <a:prstGeom prst="rect">
            <a:avLst/>
          </a:prstGeom>
          <a:solidFill>
            <a:srgbClr val="C9A84C"/>
          </a:solidFill>
          <a:ln/>
        </p:spPr>
      </p:sp>
      <p:sp>
        <p:nvSpPr>
          <p:cNvPr id="12" name="Text 10"/>
          <p:cNvSpPr/>
          <p:nvPr/>
        </p:nvSpPr>
        <p:spPr>
          <a:xfrm>
            <a:off x="877824" y="3255264"/>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position stayed similar, but I trust the reading more</a:t>
            </a:r>
            <a:endParaRPr lang="en-US" sz="1250" dirty="0"/>
          </a:p>
        </p:txBody>
      </p:sp>
      <p:sp>
        <p:nvSpPr>
          <p:cNvPr id="13" name="Shape 11"/>
          <p:cNvSpPr/>
          <p:nvPr/>
        </p:nvSpPr>
        <p:spPr>
          <a:xfrm>
            <a:off x="566928" y="3749040"/>
            <a:ext cx="128016" cy="128016"/>
          </a:xfrm>
          <a:prstGeom prst="rect">
            <a:avLst/>
          </a:prstGeom>
          <a:solidFill>
            <a:srgbClr val="C9A84C"/>
          </a:solidFill>
          <a:ln/>
        </p:spPr>
      </p:sp>
      <p:sp>
        <p:nvSpPr>
          <p:cNvPr id="14" name="Text 12"/>
          <p:cNvSpPr/>
          <p:nvPr/>
        </p:nvSpPr>
        <p:spPr>
          <a:xfrm>
            <a:off x="877824" y="3694176"/>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evidence is still incomplete</a:t>
            </a:r>
            <a:endParaRPr lang="en-US" sz="1250" dirty="0"/>
          </a:p>
        </p:txBody>
      </p:sp>
      <p:sp>
        <p:nvSpPr>
          <p:cNvPr id="15" name="Text 13"/>
          <p:cNvSpPr/>
          <p:nvPr/>
        </p:nvSpPr>
        <p:spPr>
          <a:xfrm>
            <a:off x="566928" y="4261104"/>
            <a:ext cx="8010144" cy="274320"/>
          </a:xfrm>
          <a:prstGeom prst="rect">
            <a:avLst/>
          </a:prstGeom>
          <a:noFill/>
          <a:ln/>
        </p:spPr>
        <p:txBody>
          <a:bodyPr wrap="square" lIns="0" tIns="0" rIns="0" bIns="0" rtlCol="0" anchor="ctr"/>
          <a:lstStyle/>
          <a:p>
            <a:pPr indent="0" marL="0">
              <a:buNone/>
            </a:pPr>
            <a:r>
              <a:rPr lang="en-US" sz="1100" i="1" dirty="0">
                <a:solidFill>
                  <a:srgbClr val="5A6B84"/>
                </a:solidFill>
                <a:latin typeface="DM Sans" pitchFamily="34" charset="0"/>
                <a:ea typeface="DM Sans" pitchFamily="34" charset="-122"/>
                <a:cs typeface="DM Sans" pitchFamily="34" charset="-120"/>
              </a:rPr>
              <a:t>Every one of these is a legitimate outcome. Incomplete evidence is information, not failure.</a:t>
            </a:r>
            <a:endParaRPr lang="en-US" sz="1100" dirty="0"/>
          </a:p>
        </p:txBody>
      </p:sp>
      <p:sp>
        <p:nvSpPr>
          <p:cNvPr id="17" name="Text 14"/>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914400"/>
            <a:ext cx="8010144" cy="201168"/>
          </a:xfrm>
          <a:prstGeom prst="rect">
            <a:avLst/>
          </a:prstGeom>
          <a:noFill/>
          <a:ln/>
        </p:spPr>
        <p:txBody>
          <a:bodyPr wrap="square" lIns="0" tIns="0" rIns="0" bIns="0" rtlCol="0" anchor="ctr"/>
          <a:lstStyle/>
          <a:p>
            <a:pPr indent="0" marL="0">
              <a:buNone/>
            </a:pPr>
            <a:r>
              <a:rPr lang="en-US" sz="900" b="1" spc="180" kern="0" dirty="0">
                <a:solidFill>
                  <a:srgbClr val="C9A84C"/>
                </a:solidFill>
                <a:latin typeface="Montserrat" pitchFamily="34" charset="0"/>
                <a:ea typeface="Montserrat" pitchFamily="34" charset="-122"/>
                <a:cs typeface="Montserrat" pitchFamily="34" charset="-120"/>
              </a:rPr>
              <a:t>A CAPABILITY FORMATION EXPERIENCE</a:t>
            </a:r>
            <a:endParaRPr lang="en-US" sz="900" dirty="0"/>
          </a:p>
        </p:txBody>
      </p:sp>
      <p:sp>
        <p:nvSpPr>
          <p:cNvPr id="3" name="Text 1"/>
          <p:cNvSpPr/>
          <p:nvPr/>
        </p:nvSpPr>
        <p:spPr>
          <a:xfrm>
            <a:off x="566928" y="1316736"/>
            <a:ext cx="8010144" cy="731520"/>
          </a:xfrm>
          <a:prstGeom prst="rect">
            <a:avLst/>
          </a:prstGeom>
          <a:noFill/>
          <a:ln/>
        </p:spPr>
        <p:txBody>
          <a:bodyPr wrap="square" lIns="0" tIns="0" rIns="0" bIns="0" rtlCol="0" anchor="ctr"/>
          <a:lstStyle/>
          <a:p>
            <a:pPr indent="0" marL="0">
              <a:buNone/>
            </a:pPr>
            <a:r>
              <a:rPr lang="en-US" sz="3200" b="1" dirty="0">
                <a:solidFill>
                  <a:srgbClr val="F5F0E8"/>
                </a:solidFill>
                <a:latin typeface="Cormorant Garamond" pitchFamily="34" charset="0"/>
                <a:ea typeface="Cormorant Garamond" pitchFamily="34" charset="-122"/>
                <a:cs typeface="Cormorant Garamond" pitchFamily="34" charset="-120"/>
              </a:rPr>
              <a:t>Decide Whether to Stay or Leave Your Job</a:t>
            </a:r>
            <a:endParaRPr lang="en-US" sz="3200" dirty="0"/>
          </a:p>
        </p:txBody>
      </p:sp>
      <p:sp>
        <p:nvSpPr>
          <p:cNvPr id="4" name="Text 2"/>
          <p:cNvSpPr/>
          <p:nvPr/>
        </p:nvSpPr>
        <p:spPr>
          <a:xfrm>
            <a:off x="566928" y="2103120"/>
            <a:ext cx="8010144" cy="274320"/>
          </a:xfrm>
          <a:prstGeom prst="rect">
            <a:avLst/>
          </a:prstGeom>
          <a:noFill/>
          <a:ln/>
        </p:spPr>
        <p:txBody>
          <a:bodyPr wrap="square" lIns="0" tIns="0" rIns="0" bIns="0" rtlCol="0" anchor="ctr"/>
          <a:lstStyle/>
          <a:p>
            <a:pPr indent="0" marL="0">
              <a:buNone/>
            </a:pPr>
            <a:r>
              <a:rPr lang="en-US" sz="1400" dirty="0">
                <a:solidFill>
                  <a:srgbClr val="B8C5D9"/>
                </a:solidFill>
                <a:latin typeface="DM Sans" pitchFamily="34" charset="0"/>
                <a:ea typeface="DM Sans" pitchFamily="34" charset="-122"/>
                <a:cs typeface="DM Sans" pitchFamily="34" charset="-120"/>
              </a:rPr>
              <a:t>A Live Career Growth Assessment  ·  The Capability Position Read</a:t>
            </a:r>
            <a:endParaRPr lang="en-US" sz="1400" dirty="0"/>
          </a:p>
        </p:txBody>
      </p:sp>
      <p:sp>
        <p:nvSpPr>
          <p:cNvPr id="5" name="Shape 3"/>
          <p:cNvSpPr/>
          <p:nvPr/>
        </p:nvSpPr>
        <p:spPr>
          <a:xfrm>
            <a:off x="566928" y="2615184"/>
            <a:ext cx="2651760" cy="20117"/>
          </a:xfrm>
          <a:prstGeom prst="rect">
            <a:avLst/>
          </a:prstGeom>
          <a:solidFill>
            <a:srgbClr val="C9A84C"/>
          </a:solidFill>
          <a:ln/>
        </p:spPr>
      </p:sp>
      <p:sp>
        <p:nvSpPr>
          <p:cNvPr id="6" name="Text 4"/>
          <p:cNvSpPr/>
          <p:nvPr/>
        </p:nvSpPr>
        <p:spPr>
          <a:xfrm>
            <a:off x="566928" y="2852928"/>
            <a:ext cx="8010144" cy="365760"/>
          </a:xfrm>
          <a:prstGeom prst="rect">
            <a:avLst/>
          </a:prstGeom>
          <a:noFill/>
          <a:ln/>
        </p:spPr>
        <p:txBody>
          <a:bodyPr wrap="square" lIns="0" tIns="0" rIns="0" bIns="0" rtlCol="0" anchor="ctr"/>
          <a:lstStyle/>
          <a:p>
            <a:pPr indent="0" marL="0">
              <a:buNone/>
            </a:pPr>
            <a:r>
              <a:rPr lang="en-US" sz="2400" b="1" dirty="0">
                <a:solidFill>
                  <a:srgbClr val="C9A84C"/>
                </a:solidFill>
                <a:latin typeface="Cormorant Garamond" pitchFamily="34" charset="0"/>
                <a:ea typeface="Cormorant Garamond" pitchFamily="34" charset="-122"/>
                <a:cs typeface="Cormorant Garamond" pitchFamily="34" charset="-120"/>
              </a:rPr>
              <a:t>Wednesday, September 16, 2026</a:t>
            </a:r>
            <a:endParaRPr lang="en-US" sz="2400" dirty="0"/>
          </a:p>
        </p:txBody>
      </p:sp>
      <p:sp>
        <p:nvSpPr>
          <p:cNvPr id="7" name="Text 5"/>
          <p:cNvSpPr/>
          <p:nvPr/>
        </p:nvSpPr>
        <p:spPr>
          <a:xfrm>
            <a:off x="566928" y="3291840"/>
            <a:ext cx="8010144" cy="274320"/>
          </a:xfrm>
          <a:prstGeom prst="rect">
            <a:avLst/>
          </a:prstGeom>
          <a:noFill/>
          <a:ln/>
        </p:spPr>
        <p:txBody>
          <a:bodyPr wrap="square" lIns="0" tIns="0" rIns="0" bIns="0" rtlCol="0" anchor="ctr"/>
          <a:lstStyle/>
          <a:p>
            <a:pPr indent="0" marL="0">
              <a:buNone/>
            </a:pPr>
            <a:r>
              <a:rPr lang="en-US" sz="1300" dirty="0">
                <a:solidFill>
                  <a:srgbClr val="B8C5D9"/>
                </a:solidFill>
                <a:latin typeface="DM Sans" pitchFamily="34" charset="0"/>
                <a:ea typeface="DM Sans" pitchFamily="34" charset="-122"/>
                <a:cs typeface="DM Sans" pitchFamily="34" charset="-120"/>
              </a:rPr>
              <a:t>6:00–7:00 PM Central Time  ·  Free  ·  60 minutes  ·  We begin shortly</a:t>
            </a:r>
            <a:endParaRPr lang="en-US" sz="1300" dirty="0"/>
          </a:p>
        </p:txBody>
      </p:sp>
      <p:sp>
        <p:nvSpPr>
          <p:cNvPr id="8" name="Text 6"/>
          <p:cNvSpPr/>
          <p:nvPr/>
        </p:nvSpPr>
        <p:spPr>
          <a:xfrm>
            <a:off x="566928" y="3657600"/>
            <a:ext cx="8010144" cy="274320"/>
          </a:xfrm>
          <a:prstGeom prst="rect">
            <a:avLst/>
          </a:prstGeom>
          <a:noFill/>
          <a:ln/>
        </p:spPr>
        <p:txBody>
          <a:bodyPr wrap="square" lIns="0" tIns="0" rIns="0" bIns="0" rtlCol="0" anchor="ctr"/>
          <a:lstStyle/>
          <a:p>
            <a:pPr indent="0" marL="0">
              <a:buNone/>
            </a:pPr>
            <a:r>
              <a:rPr lang="en-US" sz="1150" i="1" dirty="0">
                <a:solidFill>
                  <a:srgbClr val="B8C5D9"/>
                </a:solidFill>
                <a:latin typeface="DM Sans" pitchFamily="34" charset="0"/>
                <a:ea typeface="DM Sans" pitchFamily="34" charset="-122"/>
                <a:cs typeface="DM Sans" pitchFamily="34" charset="-120"/>
              </a:rPr>
              <a:t>Have the workbook open. Nothing is submitted or collected at any point.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The Density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Decide Whether to Stay or Leave Your Job — Free Flagship</dc:title>
  <dc:subject>PptxGenJS Presentation</dc:subject>
  <dc:creator>Temidayo Afonja</dc:creator>
  <cp:lastModifiedBy>Temidayo Afonja</cp:lastModifiedBy>
  <cp:revision>1</cp:revision>
  <dcterms:created xsi:type="dcterms:W3CDTF">2026-08-16T09:59:09Z</dcterms:created>
  <dcterms:modified xsi:type="dcterms:W3CDTF">2026-08-16T09:59:09Z</dcterms:modified>
</cp:coreProperties>
</file>