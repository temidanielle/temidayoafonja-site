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 start the recording on this slide.
EVERGREEN-SAFE. No date appears on this slide by design; the replay must stay usable months later. If you need a dated holding screen before recording begins, use the PRE-SESSION HOLDING SLIDE in the appendix.
WHAT TO SAY (0:00-0:40): "Welcome. Over the next ninety minutes you are going to read your own position twice — once the way you already see it, and once against evidence. The second reading is the one worth carrying."
Do not open with biography. Do not list every outcome.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0:40-2:10. Ninety seconds maximum on biography. This is vantage, not memoir.
WHAT TO SAY: Read the quote once, slowly, then stop. Let it sit for a beat before moving.
WHAT NOT TO SAY: Do not name the employer. Do not allege motive. Do not discuss severance or the restructuring decision. Do not extend past ninety seconds.
EVERGREEN-SAFE: no date, no cohort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2:10-3:30.
WHAT TO SAY: These are the questions asked about people in rooms they are not in. None of them is on a review form. The two axes you are about to score read the formation and portability questions underneath them.
EVERGREEN-SAFE.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3:30-4:20.
WHAT TO SAY: You did not come here for a philosophy of work. You came with a decision. This session does not answer it — it reads the position underneath it, which is the part most people skip.
EVERGREEN-SAFE.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4:20-5:00.
SAY THE RECORDING DISCLOSURE, calmly, once: "The teaching portion of this session is being recorded so people can revisit the method. Your scores and private worksheet stay yours. The live Q&amp;A at the end is not part of the public replay."
Do not expand this into a long disclaimer. One pass, then move.
PRIVACY RULES FOR THE WHOLE RECORDED CORE: scores stay private; states stay private; no participant is asked to explain their personal situation aloud; do not read named chat responses as teaching examples; do not display individual scores. Anonymous aggregate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5:00-7:00.
WHAT TO SAY: Density is the rate at which this environment is still building capability in you. Notice it is about conditions, not effort — that distinction does most of the work later.
THE CORRECTION MATTERS: people score their exhaustion. Say plainly that a hard week is not evidence of formation.
EVERGREEN-SAFE.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7:00-9:00.
WHAT TO SAY: Optionality has two halves people collapse into one — does the capability transfer, and has anyone with power outside your manager actually seen it. Both have to be true.
THE CORRECTION: optionality is not offers in hand. Someone with no active search can have high optionality; someone fielding recruiter calls for a narrow role can have low optionality.
The AI application is in the appendix. Do not teach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9:00-11:00.
WHAT TO SAY: Score each statement 1 to 5 against the last ninety days only. No evidence line yet — that is deliberate, and you will see why.
DO NOT signal that the scores are expected to change. That reveal has to be earned by the evidence pass.
[STREAMLINED FREE FLAGSHIP WORKSHEET — TO BE BUILT IN NEXT PHASE] Until it exists, ask participants to use any notes app or paper. Do not display this placeholder.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11:00-12:30.
Keep the pace steady. Do not interpret statements for the room beyond a plain restatement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12:30-13:00.
WHAT TO SAY: Add the six. Hold the number privately. The boundary band matters — a 20 is not a comfortable high score, it is a boundary reading.
Do not ask anyone to share a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13:00-14:40.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14:40-16:20.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16:20-17:00.
WHAT TO SAY: Two numbers is all the matrix needs. And say the line on the slide deliberately — this is the reading you might otherwise have carried into a decision. Do not yet say it will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17:00-18:20.
WHAT TO SAY: Cross the two numbers. Each square is a form of exposure, not a grade.
Do NOT teach the heaviest square for this room. Do not deepen a state based on who is in the audience — that mechanic belongs to the Intensive Edition. Give the matrix, then move to the safety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18:20-19:20.
This is the safety frame. Say all four plainly and do not rush it. Not a performance rating, not a potential rating, not a nine-box grid.
Keep it concise — the full treatment belongs to the Intensive Edition.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19:20-20:00.
There is NO staged Part B release here, no readiness poll, and no waiting for the room to finish. Everyone proceeds on the clock. This must work with a very large audience.
Do not ask for a show of hands on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20:00-23:00.
The protocol is symmetric — that is the whole point. Low scores need evidence too, or the exercise becomes self-criticism.
The ? convention is not a softer 3. A 3 is a real reading of a mixed pattern. A ? means you could not support any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23:00-25:20.
This is the most common misreading in the room. People score the role they are about to have.
Do not add a fourth misreading. Three is the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25:20-27:40.
Be careful with tone here — this one stings, because the people it describes are usually genuinely excellent. Say plainly: being needed is good; assuming it forms you is the misread.
The promotion application is in the appendix. Do not teach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27:40-30:00.
This correction protects the room. A low Optionality score describes conditions — context-bound capability, weak translation, limited exposure — not worth.
Land this and move straight into the second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30:00-42:00. TWELVE MINUTES. PROTECT THIS BLOCK. Never cut it to recover time elsewhere — it is the evidentiary centre of the session and the thing that makes this an assessment rather than a talk.
Give a two-minute warning at 40:00.
Keep your own microphone quiet through most of it. Short evidence phrases, not essays.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42:00-44:00.
Insist on the re-total. People try to eyeball whether the square changed. The number has to be recomputed.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44:00-46:30.
Teach this exactly as written. The 1-5 bound and the 3+-marked-items incomplete rule are both part of the convention and are frequently dropped by people repeating the method.
Incomplete is a legitimate outcome. Someone who cannot place today has learned something real about their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46:30-48:00.
Do NOT run the Intensive Edition's full Poll B architecture. No staged reveal, no room-level state distribution.
State plainly that boundary and incomplete are real readings, not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48:00-52:00. This interaction is OPTIONAL — drop it if the session is running behind.
DO NOT read singleton counts aloud. DO NOT ask anyone to reveal their state. DO NOT say "most people change" — that is a research claim this session cannot support.
The purpose is participant recognition and product learning, nothing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52:00-57:00. FIVE MINUTES MAXIMUM.
Give each state its essential reading and stop. Do NOT teach the heaviest square for this room, and do NOT deepen a state based on audience distribution — those are Intensive Edition mechanics.
The deeper state-cost work belongs in the Field Kit, a private Position Read, or the Intensive Edition.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57:00-62:00. FIVE MINUTES.
All seven, exactly as written. Read them at pace — the room does not need them elaborated, it needs them available.
Say the bottom line explicitly: no square prescribes a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62:00-68:00. SIX MINUTES.
This is the Next-Move NOTE. Do not call it the Next-Move Decision — the full ten-line artifact belongs to the Intensive Edition and deeper work.
Do not imply this is a complete employment decision. Three lines, privately written.
No voluntary reads. No one is asked to share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68:00-72:00. This is NOT a hard sell. The session is complete without either route.
Name both, say what each is for, and move on. Do not discount the Field Kit, do not bundle it, do not include it free, and never mention a coupon code.
EVERGREEN-SAFE: no cohort language, no deadline, no scarcity. This slide has to still be true in six months.
If a private read is not currently open for booking, say so plainly rather than implying availability.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 this is the last recorded slide.
TIMING: 72:00-75:00. Use the spare minutes here as buffer if earlier blocks ran long.
EVERGREEN-SAFE CLOSE. Do NOT say "tonight", "this cohort", "September 16", or "before enrollment closes". This sentence has to work for someone watching the replay months from now.
AT MINUTE 75: STOP OR PAUSE THE RECORDING before advancing. If the platform records the whole meeting automatically, keep the raw file private and trim the public replay to end here.
RECORDING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OFF. LIVE-ONLY Q&amp;A. Confirm the recording has actually stopped before taking the first question.
TIMING: 75:00-90:00.
This block is never published. Participant questions frequently contain employer names, personal circumstances and third-party names — that is exactly why it sits outside the evergreen core.
Appendix material may be used here if a question calls for it.
Close at 90:00. Thank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Not part of the recorded core.
Use during Q&amp;A if someone asks how to read organisational signals. These are questions to investigate, never predictions about a specific employer.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Moved out of the timed core deliberately.
If asked: one application, sixty seconds, no tool names, no job-loss predictions, no industry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Useful when someone scores low on statement 8 and reads it as a verdict on 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This is the sharpest version of misreading two and often the most useful answer in Q&amp;A.
Not a diagnosis of anyone's specific promotion.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INSTITUTIONAL CLOSE — use INSTEAD of "Where to go deeper" when delivering for a university, alumni association, professional body or employee group.
No pricing. No Field Kit or private-read pitch. No product CTA of any kind.
This lets the same core deck serve institutional outreach without building a second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PRE-SESSION HOLDING SLIDE — dated, for use BEFORE the recording starts.
Show this while people arrive. Start the recording on slide 1, not on this slide: the date must not enter the evergreen replay.
Update this date for each delivery. It is the only slide in the deck carrying a live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457200"/>
            <a:ext cx="6035040"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A CAPABILITY FORMATION EXPERIENCE</a:t>
            </a:r>
            <a:endParaRPr lang="en-US" sz="900" dirty="0"/>
          </a:p>
        </p:txBody>
      </p:sp>
      <p:sp>
        <p:nvSpPr>
          <p:cNvPr id="3" name="Text 1"/>
          <p:cNvSpPr/>
          <p:nvPr/>
        </p:nvSpPr>
        <p:spPr>
          <a:xfrm>
            <a:off x="566928" y="841248"/>
            <a:ext cx="5943600" cy="1371600"/>
          </a:xfrm>
          <a:prstGeom prst="rect">
            <a:avLst/>
          </a:prstGeom>
          <a:noFill/>
          <a:ln/>
        </p:spPr>
        <p:txBody>
          <a:bodyPr wrap="square" lIns="0" tIns="0" rIns="0" bIns="0" rtlCol="0" anchor="ctr"/>
          <a:lstStyle/>
          <a:p>
            <a:pPr indent="0" marL="0">
              <a:lnSpc>
                <a:spcPts val="4000"/>
              </a:lnSpc>
              <a:buNone/>
            </a:pPr>
            <a:r>
              <a:rPr lang="en-US" sz="3800" b="1" dirty="0">
                <a:solidFill>
                  <a:srgbClr val="F5F0E8"/>
                </a:solidFill>
                <a:latin typeface="Cormorant Garamond" pitchFamily="34" charset="0"/>
                <a:ea typeface="Cormorant Garamond" pitchFamily="34" charset="-122"/>
                <a:cs typeface="Cormorant Garamond" pitchFamily="34" charset="-120"/>
              </a:rPr>
              <a:t>Decide Whether to Stay</a:t>
            </a:r>
            <a:endParaRPr lang="en-US" sz="3800" dirty="0"/>
          </a:p>
          <a:p>
            <a:pPr indent="0" marL="0">
              <a:lnSpc>
                <a:spcPts val="4000"/>
              </a:lnSpc>
              <a:buNone/>
            </a:pPr>
            <a:r>
              <a:rPr lang="en-US" sz="3800" b="1" dirty="0">
                <a:solidFill>
                  <a:srgbClr val="F5F0E8"/>
                </a:solidFill>
                <a:latin typeface="Cormorant Garamond" pitchFamily="34" charset="0"/>
                <a:ea typeface="Cormorant Garamond" pitchFamily="34" charset="-122"/>
                <a:cs typeface="Cormorant Garamond" pitchFamily="34" charset="-120"/>
              </a:rPr>
              <a:t>or Leave Your Job</a:t>
            </a:r>
            <a:endParaRPr lang="en-US" sz="3800" dirty="0"/>
          </a:p>
        </p:txBody>
      </p:sp>
      <p:sp>
        <p:nvSpPr>
          <p:cNvPr id="4" name="Text 2"/>
          <p:cNvSpPr/>
          <p:nvPr/>
        </p:nvSpPr>
        <p:spPr>
          <a:xfrm>
            <a:off x="566928" y="2212848"/>
            <a:ext cx="5943600" cy="274320"/>
          </a:xfrm>
          <a:prstGeom prst="rect">
            <a:avLst/>
          </a:prstGeom>
          <a:noFill/>
          <a:ln/>
        </p:spPr>
        <p:txBody>
          <a:bodyPr wrap="square" lIns="0" tIns="0" rIns="0" bIns="0" rtlCol="0" anchor="ctr"/>
          <a:lstStyle/>
          <a:p>
            <a:pPr indent="0" marL="0">
              <a:buNone/>
            </a:pPr>
            <a:r>
              <a:rPr lang="en-US" sz="1500" dirty="0">
                <a:solidFill>
                  <a:srgbClr val="F5F0E8"/>
                </a:solidFill>
                <a:latin typeface="DM Sans" pitchFamily="34" charset="0"/>
                <a:ea typeface="DM Sans" pitchFamily="34" charset="-122"/>
                <a:cs typeface="DM Sans" pitchFamily="34" charset="-120"/>
              </a:rPr>
              <a:t>A Live Career Growth Assessment</a:t>
            </a:r>
            <a:endParaRPr lang="en-US" sz="1500" dirty="0"/>
          </a:p>
        </p:txBody>
      </p:sp>
      <p:sp>
        <p:nvSpPr>
          <p:cNvPr id="5" name="Shape 3"/>
          <p:cNvSpPr/>
          <p:nvPr/>
        </p:nvSpPr>
        <p:spPr>
          <a:xfrm>
            <a:off x="566928" y="2670048"/>
            <a:ext cx="2651760" cy="20117"/>
          </a:xfrm>
          <a:prstGeom prst="rect">
            <a:avLst/>
          </a:prstGeom>
          <a:solidFill>
            <a:srgbClr val="C9A84C"/>
          </a:solidFill>
          <a:ln/>
        </p:spPr>
      </p:sp>
      <p:sp>
        <p:nvSpPr>
          <p:cNvPr id="6" name="Text 4"/>
          <p:cNvSpPr/>
          <p:nvPr/>
        </p:nvSpPr>
        <p:spPr>
          <a:xfrm>
            <a:off x="566928" y="2852928"/>
            <a:ext cx="5943600" cy="310896"/>
          </a:xfrm>
          <a:prstGeom prst="rect">
            <a:avLst/>
          </a:prstGeom>
          <a:noFill/>
          <a:ln/>
        </p:spPr>
        <p:txBody>
          <a:bodyPr wrap="square" lIns="0" tIns="0" rIns="0" bIns="0" rtlCol="0" anchor="ctr"/>
          <a:lstStyle/>
          <a:p>
            <a:pPr indent="0" marL="0">
              <a:buNone/>
            </a:pPr>
            <a:r>
              <a:rPr lang="en-US" sz="2000" b="1" dirty="0">
                <a:solidFill>
                  <a:srgbClr val="F5F0E8"/>
                </a:solidFill>
                <a:latin typeface="Cormorant Garamond" pitchFamily="34" charset="0"/>
                <a:ea typeface="Cormorant Garamond" pitchFamily="34" charset="-122"/>
                <a:cs typeface="Cormorant Garamond" pitchFamily="34" charset="-120"/>
              </a:rPr>
              <a:t>The Capability Position Read</a:t>
            </a:r>
            <a:endParaRPr lang="en-US" sz="2000" dirty="0"/>
          </a:p>
        </p:txBody>
      </p:sp>
      <p:sp>
        <p:nvSpPr>
          <p:cNvPr id="7" name="Text 5"/>
          <p:cNvSpPr/>
          <p:nvPr/>
        </p:nvSpPr>
        <p:spPr>
          <a:xfrm>
            <a:off x="566928" y="3218688"/>
            <a:ext cx="5943600" cy="256032"/>
          </a:xfrm>
          <a:prstGeom prst="rect">
            <a:avLst/>
          </a:prstGeom>
          <a:noFill/>
          <a:ln/>
        </p:spPr>
        <p:txBody>
          <a:bodyPr wrap="square" lIns="0" tIns="0" rIns="0" bIns="0" rtlCol="0" anchor="ctr"/>
          <a:lstStyle/>
          <a:p>
            <a:pPr indent="0" marL="0">
              <a:buNone/>
            </a:pPr>
            <a:r>
              <a:rPr lang="en-US" sz="1250" i="1" dirty="0">
                <a:solidFill>
                  <a:srgbClr val="C9A84C"/>
                </a:solidFill>
                <a:latin typeface="DM Sans" pitchFamily="34" charset="0"/>
                <a:ea typeface="DM Sans" pitchFamily="34" charset="-122"/>
                <a:cs typeface="DM Sans" pitchFamily="34" charset="-120"/>
              </a:rPr>
              <a:t>Read the Position Before You Make the Move</a:t>
            </a:r>
            <a:endParaRPr lang="en-US" sz="1250" dirty="0"/>
          </a:p>
        </p:txBody>
      </p:sp>
      <p:sp>
        <p:nvSpPr>
          <p:cNvPr id="8" name="Text 6"/>
          <p:cNvSpPr/>
          <p:nvPr/>
        </p:nvSpPr>
        <p:spPr>
          <a:xfrm>
            <a:off x="566928" y="3675888"/>
            <a:ext cx="5943600" cy="219456"/>
          </a:xfrm>
          <a:prstGeom prst="rect">
            <a:avLst/>
          </a:prstGeom>
          <a:noFill/>
          <a:ln/>
        </p:spPr>
        <p:txBody>
          <a:bodyPr wrap="square" lIns="0" tIns="0" rIns="0" bIns="0" rtlCol="0" anchor="ctr"/>
          <a:lstStyle/>
          <a:p>
            <a:pPr indent="0" marL="0">
              <a:buNone/>
            </a:pPr>
            <a:r>
              <a:rPr lang="en-US" sz="950" b="1" spc="140" kern="0" dirty="0">
                <a:solidFill>
                  <a:srgbClr val="B8C5D9"/>
                </a:solidFill>
                <a:latin typeface="Montserrat" pitchFamily="34" charset="0"/>
                <a:ea typeface="Montserrat" pitchFamily="34" charset="-122"/>
                <a:cs typeface="Montserrat" pitchFamily="34" charset="-120"/>
              </a:rPr>
              <a:t>FREE FLAGSHIP  ·  90 MINUTES</a:t>
            </a:r>
            <a:endParaRPr lang="en-US" sz="950" dirty="0"/>
          </a:p>
        </p:txBody>
      </p:sp>
      <p:pic>
        <p:nvPicPr>
          <p:cNvPr id="9" name="Image 0" descr="preencoded.png">    </p:cNvPr>
          <p:cNvPicPr>
            <a:picLocks noChangeAspect="1"/>
          </p:cNvPicPr>
          <p:nvPr/>
        </p:nvPicPr>
        <p:blipFill>
          <a:blip r:embed="rId1"/>
          <a:stretch>
            <a:fillRect/>
          </a:stretch>
        </p:blipFill>
        <p:spPr>
          <a:xfrm>
            <a:off x="6903720" y="1572768"/>
            <a:ext cx="1691640" cy="1691640"/>
          </a:xfrm>
          <a:prstGeom prst="rect">
            <a:avLst/>
          </a:prstGeom>
        </p:spPr>
      </p:pic>
      <p:sp>
        <p:nvSpPr>
          <p:cNvPr id="10" name="Text 7"/>
          <p:cNvSpPr/>
          <p:nvPr/>
        </p:nvSpPr>
        <p:spPr>
          <a:xfrm>
            <a:off x="6537960" y="3346704"/>
            <a:ext cx="2423160" cy="237744"/>
          </a:xfrm>
          <a:prstGeom prst="rect">
            <a:avLst/>
          </a:prstGeom>
          <a:noFill/>
          <a:ln/>
        </p:spPr>
        <p:txBody>
          <a:bodyPr wrap="square" lIns="0" tIns="0" rIns="0" bIns="0" rtlCol="0" anchor="ctr"/>
          <a:lstStyle/>
          <a:p>
            <a:pPr algn="ctr" indent="0" marL="0">
              <a:buNone/>
            </a:pPr>
            <a:r>
              <a:rPr lang="en-US" sz="1500" b="1" dirty="0">
                <a:solidFill>
                  <a:srgbClr val="F5F0E8"/>
                </a:solidFill>
                <a:latin typeface="Cormorant Garamond" pitchFamily="34" charset="0"/>
                <a:ea typeface="Cormorant Garamond" pitchFamily="34" charset="-122"/>
                <a:cs typeface="Cormorant Garamond" pitchFamily="34" charset="-120"/>
              </a:rPr>
              <a:t>Temidayo Afonja</a:t>
            </a:r>
            <a:endParaRPr lang="en-US" sz="1500" dirty="0"/>
          </a:p>
        </p:txBody>
      </p:sp>
      <p:sp>
        <p:nvSpPr>
          <p:cNvPr id="11" name="Text 8"/>
          <p:cNvSpPr/>
          <p:nvPr/>
        </p:nvSpPr>
        <p:spPr>
          <a:xfrm>
            <a:off x="6446520" y="3602736"/>
            <a:ext cx="2606040" cy="402336"/>
          </a:xfrm>
          <a:prstGeom prst="rect">
            <a:avLst/>
          </a:prstGeom>
          <a:noFill/>
          <a:ln/>
        </p:spPr>
        <p:txBody>
          <a:bodyPr wrap="square" lIns="0" tIns="0" rIns="0" bIns="0" rtlCol="0" anchor="ctr"/>
          <a:lstStyle/>
          <a:p>
            <a:pPr algn="ctr" indent="0" marL="0">
              <a:buNone/>
            </a:pPr>
            <a:r>
              <a:rPr lang="en-US" sz="860" dirty="0">
                <a:solidFill>
                  <a:srgbClr val="B8C5D9"/>
                </a:solidFill>
                <a:latin typeface="DM Sans" pitchFamily="34" charset="0"/>
                <a:ea typeface="DM Sans" pitchFamily="34" charset="-122"/>
                <a:cs typeface="DM Sans" pitchFamily="34" charset="-120"/>
              </a:rPr>
              <a:t>Founder, The Density Group</a:t>
            </a:r>
            <a:endParaRPr lang="en-US" sz="860" dirty="0"/>
          </a:p>
          <a:p>
            <a:pPr algn="ctr" indent="0" marL="0">
              <a:buNone/>
            </a:pPr>
            <a:r>
              <a:rPr lang="en-US" sz="860" dirty="0">
                <a:solidFill>
                  <a:srgbClr val="B8C5D9"/>
                </a:solidFill>
                <a:latin typeface="DM Sans" pitchFamily="34" charset="0"/>
                <a:ea typeface="DM Sans" pitchFamily="34" charset="-122"/>
                <a:cs typeface="DM Sans" pitchFamily="34" charset="-120"/>
              </a:rPr>
              <a:t>Author, The Capability Audit</a:t>
            </a:r>
            <a:endParaRPr lang="en-US" sz="860" dirty="0"/>
          </a:p>
        </p:txBody>
      </p:sp>
      <p:sp>
        <p:nvSpPr>
          <p:cNvPr id="13"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WHY THIS EXISTS</a:t>
            </a:r>
            <a:endParaRPr lang="en-US" sz="950" dirty="0"/>
          </a:p>
        </p:txBody>
      </p:sp>
      <p:sp>
        <p:nvSpPr>
          <p:cNvPr id="3" name="Text 1"/>
          <p:cNvSpPr/>
          <p:nvPr/>
        </p:nvSpPr>
        <p:spPr>
          <a:xfrm>
            <a:off x="566928" y="603504"/>
            <a:ext cx="8010144" cy="100584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The room reads your position</a:t>
            </a:r>
            <a:endParaRPr lang="en-US" sz="2700" dirty="0"/>
          </a:p>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whether or not you have.</a:t>
            </a:r>
            <a:endParaRPr lang="en-US" sz="2700" dirty="0"/>
          </a:p>
        </p:txBody>
      </p:sp>
      <p:sp>
        <p:nvSpPr>
          <p:cNvPr id="4" name="Shape 2"/>
          <p:cNvSpPr/>
          <p:nvPr/>
        </p:nvSpPr>
        <p:spPr>
          <a:xfrm>
            <a:off x="566928" y="1700784"/>
            <a:ext cx="2377440" cy="20117"/>
          </a:xfrm>
          <a:prstGeom prst="rect">
            <a:avLst/>
          </a:prstGeom>
          <a:solidFill>
            <a:srgbClr val="C9A84C"/>
          </a:solidFill>
          <a:ln/>
        </p:spPr>
      </p:sp>
      <p:sp>
        <p:nvSpPr>
          <p:cNvPr id="5" name="Text 3"/>
          <p:cNvSpPr/>
          <p:nvPr/>
        </p:nvSpPr>
        <p:spPr>
          <a:xfrm>
            <a:off x="566928" y="1956816"/>
            <a:ext cx="8010144" cy="640080"/>
          </a:xfrm>
          <a:prstGeom prst="rect">
            <a:avLst/>
          </a:prstGeom>
          <a:noFill/>
          <a:ln/>
        </p:spPr>
        <p:txBody>
          <a:bodyPr wrap="square" lIns="0" tIns="0" rIns="0" bIns="0" rtlCol="0" anchor="ctr"/>
          <a:lstStyle/>
          <a:p>
            <a:pPr algn="l" indent="0" marL="0">
              <a:lnSpc>
                <a:spcPts val="1725"/>
              </a:lnSpc>
              <a:buNone/>
            </a:pPr>
            <a:r>
              <a:rPr lang="en-US" sz="1250" dirty="0">
                <a:solidFill>
                  <a:srgbClr val="0F2347"/>
                </a:solidFill>
                <a:latin typeface="DM Sans" pitchFamily="34" charset="0"/>
                <a:ea typeface="DM Sans" pitchFamily="34" charset="-122"/>
                <a:cs typeface="DM Sans" pitchFamily="34" charset="-120"/>
              </a:rPr>
              <a:t>For nearly two decades I worked inside enterprise rooms where performance, promotion, capability and organisational change were assessed. I understood how institutions read people and positions.</a:t>
            </a:r>
            <a:endParaRPr lang="en-US" sz="1250" dirty="0"/>
          </a:p>
        </p:txBody>
      </p:sp>
      <p:sp>
        <p:nvSpPr>
          <p:cNvPr id="6" name="Shape 4"/>
          <p:cNvSpPr/>
          <p:nvPr/>
        </p:nvSpPr>
        <p:spPr>
          <a:xfrm>
            <a:off x="566928" y="2761488"/>
            <a:ext cx="25603" cy="786384"/>
          </a:xfrm>
          <a:prstGeom prst="rect">
            <a:avLst/>
          </a:prstGeom>
          <a:solidFill>
            <a:srgbClr val="C9A84C"/>
          </a:solidFill>
          <a:ln/>
        </p:spPr>
      </p:sp>
      <p:sp>
        <p:nvSpPr>
          <p:cNvPr id="7" name="Text 5"/>
          <p:cNvSpPr/>
          <p:nvPr/>
        </p:nvSpPr>
        <p:spPr>
          <a:xfrm>
            <a:off x="822960" y="2761488"/>
            <a:ext cx="7754112" cy="786384"/>
          </a:xfrm>
          <a:prstGeom prst="rect">
            <a:avLst/>
          </a:prstGeom>
          <a:noFill/>
          <a:ln/>
        </p:spPr>
        <p:txBody>
          <a:bodyPr wrap="square" lIns="0" tIns="0" rIns="0" bIns="0" rtlCol="0" anchor="ctr"/>
          <a:lstStyle/>
          <a:p>
            <a:pPr indent="0" marL="0">
              <a:lnSpc>
                <a:spcPts val="2400"/>
              </a:lnSpc>
              <a:buNone/>
            </a:pPr>
            <a:r>
              <a:rPr lang="en-US" sz="1900" b="1" i="1" dirty="0">
                <a:solidFill>
                  <a:srgbClr val="0F2347"/>
                </a:solidFill>
                <a:latin typeface="Cormorant Garamond" pitchFamily="34" charset="0"/>
                <a:ea typeface="Cormorant Garamond" pitchFamily="34" charset="-122"/>
                <a:cs typeface="Cormorant Garamond" pitchFamily="34" charset="-120"/>
              </a:rPr>
              <a:t>“My performance had shaped my standing. It had not insulated the role from a change in structure.”</a:t>
            </a:r>
            <a:endParaRPr lang="en-US" sz="1900" dirty="0"/>
          </a:p>
        </p:txBody>
      </p:sp>
      <p:sp>
        <p:nvSpPr>
          <p:cNvPr id="8" name="Text 6"/>
          <p:cNvSpPr/>
          <p:nvPr/>
        </p:nvSpPr>
        <p:spPr>
          <a:xfrm>
            <a:off x="566928" y="3712464"/>
            <a:ext cx="8010144" cy="457200"/>
          </a:xfrm>
          <a:prstGeom prst="rect">
            <a:avLst/>
          </a:prstGeom>
          <a:noFill/>
          <a:ln/>
        </p:spPr>
        <p:txBody>
          <a:bodyPr wrap="square" lIns="0" tIns="0" rIns="0" bIns="0" rtlCol="0" anchor="ctr"/>
          <a:lstStyle/>
          <a:p>
            <a:pPr algn="l" indent="0" marL="0">
              <a:lnSpc>
                <a:spcPts val="1587"/>
              </a:lnSpc>
              <a:buNone/>
            </a:pPr>
            <a:r>
              <a:rPr lang="en-US" sz="1150" dirty="0">
                <a:solidFill>
                  <a:srgbClr val="5A6B84"/>
                </a:solidFill>
                <a:latin typeface="DM Sans" pitchFamily="34" charset="0"/>
                <a:ea typeface="DM Sans" pitchFamily="34" charset="-122"/>
                <a:cs typeface="DM Sans" pitchFamily="34" charset="-120"/>
              </a:rPr>
              <a:t>That led me to build a more disciplined way to read what a role is forming, what travels, and what category of move the evidence supports testing.</a:t>
            </a:r>
            <a:endParaRPr lang="en-US" sz="1150" dirty="0"/>
          </a:p>
        </p:txBody>
      </p:sp>
      <p:sp>
        <p:nvSpPr>
          <p:cNvPr id="10" name="Text 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1" name="Text 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VANTAGE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gets weighed when the doors close</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Four questions. None of them appear on your review form.</a:t>
            </a:r>
            <a:endParaRPr lang="en-US" sz="1150" dirty="0"/>
          </a:p>
        </p:txBody>
      </p:sp>
      <p:sp>
        <p:nvSpPr>
          <p:cNvPr id="5" name="Shape 3"/>
          <p:cNvSpPr/>
          <p:nvPr/>
        </p:nvSpPr>
        <p:spPr>
          <a:xfrm>
            <a:off x="566928" y="1901952"/>
            <a:ext cx="274320" cy="274320"/>
          </a:xfrm>
          <a:prstGeom prst="rect">
            <a:avLst/>
          </a:prstGeom>
          <a:solidFill>
            <a:srgbClr val="0F2347"/>
          </a:solidFill>
          <a:ln/>
        </p:spPr>
      </p:sp>
      <p:sp>
        <p:nvSpPr>
          <p:cNvPr id="6" name="Text 4"/>
          <p:cNvSpPr/>
          <p:nvPr/>
        </p:nvSpPr>
        <p:spPr>
          <a:xfrm>
            <a:off x="566928" y="190195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874520"/>
            <a:ext cx="7571232" cy="256032"/>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How hard would this person be to replace?</a:t>
            </a:r>
            <a:endParaRPr lang="en-US" sz="1350" dirty="0"/>
          </a:p>
        </p:txBody>
      </p:sp>
      <p:sp>
        <p:nvSpPr>
          <p:cNvPr id="8" name="Shape 6"/>
          <p:cNvSpPr/>
          <p:nvPr/>
        </p:nvSpPr>
        <p:spPr>
          <a:xfrm>
            <a:off x="566928" y="2404872"/>
            <a:ext cx="274320" cy="274320"/>
          </a:xfrm>
          <a:prstGeom prst="rect">
            <a:avLst/>
          </a:prstGeom>
          <a:solidFill>
            <a:srgbClr val="0F2347"/>
          </a:solidFill>
          <a:ln/>
        </p:spPr>
      </p:sp>
      <p:sp>
        <p:nvSpPr>
          <p:cNvPr id="9" name="Text 7"/>
          <p:cNvSpPr/>
          <p:nvPr/>
        </p:nvSpPr>
        <p:spPr>
          <a:xfrm>
            <a:off x="566928" y="240487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0" name="Text 8"/>
          <p:cNvSpPr/>
          <p:nvPr/>
        </p:nvSpPr>
        <p:spPr>
          <a:xfrm>
            <a:off x="1005840" y="2377440"/>
            <a:ext cx="7571232" cy="256032"/>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Who outside this person’s manager can vouch for the work?</a:t>
            </a:r>
            <a:endParaRPr lang="en-US" sz="1350" dirty="0"/>
          </a:p>
        </p:txBody>
      </p:sp>
      <p:sp>
        <p:nvSpPr>
          <p:cNvPr id="11" name="Shape 9"/>
          <p:cNvSpPr/>
          <p:nvPr/>
        </p:nvSpPr>
        <p:spPr>
          <a:xfrm>
            <a:off x="566928" y="2907792"/>
            <a:ext cx="274320" cy="274320"/>
          </a:xfrm>
          <a:prstGeom prst="rect">
            <a:avLst/>
          </a:prstGeom>
          <a:solidFill>
            <a:srgbClr val="0F2347"/>
          </a:solidFill>
          <a:ln/>
        </p:spPr>
      </p:sp>
      <p:sp>
        <p:nvSpPr>
          <p:cNvPr id="12" name="Text 10"/>
          <p:cNvSpPr/>
          <p:nvPr/>
        </p:nvSpPr>
        <p:spPr>
          <a:xfrm>
            <a:off x="566928" y="290779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3" name="Text 11"/>
          <p:cNvSpPr/>
          <p:nvPr/>
        </p:nvSpPr>
        <p:spPr>
          <a:xfrm>
            <a:off x="1005840" y="2880360"/>
            <a:ext cx="7571232" cy="256032"/>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Is this capability current, or was it current?</a:t>
            </a:r>
            <a:endParaRPr lang="en-US" sz="1350" dirty="0"/>
          </a:p>
        </p:txBody>
      </p:sp>
      <p:sp>
        <p:nvSpPr>
          <p:cNvPr id="14" name="Shape 12"/>
          <p:cNvSpPr/>
          <p:nvPr/>
        </p:nvSpPr>
        <p:spPr>
          <a:xfrm>
            <a:off x="566928" y="3410712"/>
            <a:ext cx="274320" cy="274320"/>
          </a:xfrm>
          <a:prstGeom prst="rect">
            <a:avLst/>
          </a:prstGeom>
          <a:solidFill>
            <a:srgbClr val="0F2347"/>
          </a:solidFill>
          <a:ln/>
        </p:spPr>
      </p:sp>
      <p:sp>
        <p:nvSpPr>
          <p:cNvPr id="15" name="Text 13"/>
          <p:cNvSpPr/>
          <p:nvPr/>
        </p:nvSpPr>
        <p:spPr>
          <a:xfrm>
            <a:off x="566928" y="341071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4</a:t>
            </a:r>
            <a:endParaRPr lang="en-US" sz="950" dirty="0"/>
          </a:p>
        </p:txBody>
      </p:sp>
      <p:sp>
        <p:nvSpPr>
          <p:cNvPr id="16" name="Text 14"/>
          <p:cNvSpPr/>
          <p:nvPr/>
        </p:nvSpPr>
        <p:spPr>
          <a:xfrm>
            <a:off x="1005840" y="3383280"/>
            <a:ext cx="7571232" cy="256032"/>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Does this person’s value travel, or does it only work here?</a:t>
            </a:r>
            <a:endParaRPr lang="en-US" sz="1350" dirty="0"/>
          </a:p>
        </p:txBody>
      </p:sp>
      <p:sp>
        <p:nvSpPr>
          <p:cNvPr id="17" name="Shape 15"/>
          <p:cNvSpPr/>
          <p:nvPr/>
        </p:nvSpPr>
        <p:spPr>
          <a:xfrm>
            <a:off x="566928" y="4041648"/>
            <a:ext cx="8010144" cy="548640"/>
          </a:xfrm>
          <a:prstGeom prst="rect">
            <a:avLst/>
          </a:prstGeom>
          <a:solidFill>
            <a:srgbClr val="E9EDF3"/>
          </a:solidFill>
          <a:ln/>
        </p:spPr>
      </p:sp>
      <p:sp>
        <p:nvSpPr>
          <p:cNvPr id="18" name="Text 16"/>
          <p:cNvSpPr/>
          <p:nvPr/>
        </p:nvSpPr>
        <p:spPr>
          <a:xfrm>
            <a:off x="786384" y="4041648"/>
            <a:ext cx="7571232" cy="54864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Density and Optionality read the formation and portability questions underneath them.</a:t>
            </a:r>
            <a:endParaRPr lang="en-US" sz="115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REFRAME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The question underneath the question</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 fair question, and a reading that sits upstream of it.</a:t>
            </a:r>
            <a:endParaRPr lang="en-US" sz="1150" dirty="0"/>
          </a:p>
        </p:txBody>
      </p:sp>
      <p:sp>
        <p:nvSpPr>
          <p:cNvPr id="5" name="Shape 3"/>
          <p:cNvSpPr/>
          <p:nvPr/>
        </p:nvSpPr>
        <p:spPr>
          <a:xfrm>
            <a:off x="566928" y="1874520"/>
            <a:ext cx="3886200" cy="1417320"/>
          </a:xfrm>
          <a:prstGeom prst="rect">
            <a:avLst/>
          </a:prstGeom>
          <a:solidFill>
            <a:srgbClr val="E9EDF3"/>
          </a:solidFill>
          <a:ln/>
        </p:spPr>
      </p:sp>
      <p:sp>
        <p:nvSpPr>
          <p:cNvPr id="6" name="Text 4"/>
          <p:cNvSpPr/>
          <p:nvPr/>
        </p:nvSpPr>
        <p:spPr>
          <a:xfrm>
            <a:off x="804672" y="2048256"/>
            <a:ext cx="3474720" cy="201168"/>
          </a:xfrm>
          <a:prstGeom prst="rect">
            <a:avLst/>
          </a:prstGeom>
          <a:noFill/>
          <a:ln/>
        </p:spPr>
        <p:txBody>
          <a:bodyPr wrap="square" lIns="0" tIns="0" rIns="0" bIns="0" rtlCol="0" anchor="ctr"/>
          <a:lstStyle/>
          <a:p>
            <a:pPr indent="0" marL="0">
              <a:buNone/>
            </a:pPr>
            <a:r>
              <a:rPr lang="en-US" sz="850" b="1" spc="120" kern="0" dirty="0">
                <a:solidFill>
                  <a:srgbClr val="5A6B84"/>
                </a:solidFill>
                <a:latin typeface="Montserrat" pitchFamily="34" charset="0"/>
                <a:ea typeface="Montserrat" pitchFamily="34" charset="-122"/>
                <a:cs typeface="Montserrat" pitchFamily="34" charset="-120"/>
              </a:rPr>
              <a:t>WHAT YOU CAME IN ASKING</a:t>
            </a:r>
            <a:endParaRPr lang="en-US" sz="850" dirty="0"/>
          </a:p>
        </p:txBody>
      </p:sp>
      <p:sp>
        <p:nvSpPr>
          <p:cNvPr id="7" name="Text 5"/>
          <p:cNvSpPr/>
          <p:nvPr/>
        </p:nvSpPr>
        <p:spPr>
          <a:xfrm>
            <a:off x="804672" y="2340864"/>
            <a:ext cx="3474720" cy="731520"/>
          </a:xfrm>
          <a:prstGeom prst="rect">
            <a:avLst/>
          </a:prstGeom>
          <a:noFill/>
          <a:ln/>
        </p:spPr>
        <p:txBody>
          <a:bodyPr wrap="square" lIns="0" tIns="0" rIns="0" bIns="0" rtlCol="0" anchor="ctr"/>
          <a:lstStyle/>
          <a:p>
            <a:pPr indent="0" marL="0">
              <a:lnSpc>
                <a:spcPts val="2300"/>
              </a:lnSpc>
              <a:buNone/>
            </a:pPr>
            <a:r>
              <a:rPr lang="en-US" sz="1800" b="1" dirty="0">
                <a:solidFill>
                  <a:srgbClr val="0F2347"/>
                </a:solidFill>
                <a:latin typeface="Cormorant Garamond" pitchFamily="34" charset="0"/>
                <a:ea typeface="Cormorant Garamond" pitchFamily="34" charset="-122"/>
                <a:cs typeface="Cormorant Garamond" pitchFamily="34" charset="-120"/>
              </a:rPr>
              <a:t>“Should I stay in this role,</a:t>
            </a:r>
            <a:endParaRPr lang="en-US" sz="1800" dirty="0"/>
          </a:p>
          <a:p>
            <a:pPr indent="0" marL="0">
              <a:lnSpc>
                <a:spcPts val="2300"/>
              </a:lnSpc>
              <a:buNone/>
            </a:pPr>
            <a:r>
              <a:rPr lang="en-US" sz="1800" b="1" dirty="0">
                <a:solidFill>
                  <a:srgbClr val="0F2347"/>
                </a:solidFill>
                <a:latin typeface="Cormorant Garamond" pitchFamily="34" charset="0"/>
                <a:ea typeface="Cormorant Garamond" pitchFamily="34" charset="-122"/>
                <a:cs typeface="Cormorant Garamond" pitchFamily="34" charset="-120"/>
              </a:rPr>
              <a:t>or should I go?”</a:t>
            </a:r>
            <a:endParaRPr lang="en-US" sz="1800" dirty="0"/>
          </a:p>
        </p:txBody>
      </p:sp>
      <p:sp>
        <p:nvSpPr>
          <p:cNvPr id="8" name="Shape 6"/>
          <p:cNvSpPr/>
          <p:nvPr/>
        </p:nvSpPr>
        <p:spPr>
          <a:xfrm>
            <a:off x="4690872" y="1874520"/>
            <a:ext cx="3886200" cy="1417320"/>
          </a:xfrm>
          <a:prstGeom prst="rect">
            <a:avLst/>
          </a:prstGeom>
          <a:solidFill>
            <a:srgbClr val="0F2347"/>
          </a:solidFill>
          <a:ln/>
        </p:spPr>
      </p:sp>
      <p:sp>
        <p:nvSpPr>
          <p:cNvPr id="9" name="Text 7"/>
          <p:cNvSpPr/>
          <p:nvPr/>
        </p:nvSpPr>
        <p:spPr>
          <a:xfrm>
            <a:off x="4928616" y="2048256"/>
            <a:ext cx="3474720" cy="201168"/>
          </a:xfrm>
          <a:prstGeom prst="rect">
            <a:avLst/>
          </a:prstGeom>
          <a:noFill/>
          <a:ln/>
        </p:spPr>
        <p:txBody>
          <a:bodyPr wrap="square" lIns="0" tIns="0" rIns="0" bIns="0" rtlCol="0" anchor="ctr"/>
          <a:lstStyle/>
          <a:p>
            <a:pPr indent="0" marL="0">
              <a:buNone/>
            </a:pPr>
            <a:r>
              <a:rPr lang="en-US" sz="850" b="1" spc="120" kern="0" dirty="0">
                <a:solidFill>
                  <a:srgbClr val="C9A84C"/>
                </a:solidFill>
                <a:latin typeface="Montserrat" pitchFamily="34" charset="0"/>
                <a:ea typeface="Montserrat" pitchFamily="34" charset="-122"/>
                <a:cs typeface="Montserrat" pitchFamily="34" charset="-120"/>
              </a:rPr>
              <a:t>WHAT YOU NEED TO READ FIRST</a:t>
            </a:r>
            <a:endParaRPr lang="en-US" sz="850" dirty="0"/>
          </a:p>
        </p:txBody>
      </p:sp>
      <p:sp>
        <p:nvSpPr>
          <p:cNvPr id="10" name="Text 8"/>
          <p:cNvSpPr/>
          <p:nvPr/>
        </p:nvSpPr>
        <p:spPr>
          <a:xfrm>
            <a:off x="4928616" y="2340864"/>
            <a:ext cx="3474720" cy="731520"/>
          </a:xfrm>
          <a:prstGeom prst="rect">
            <a:avLst/>
          </a:prstGeom>
          <a:noFill/>
          <a:ln/>
        </p:spPr>
        <p:txBody>
          <a:bodyPr wrap="square" lIns="0" tIns="0" rIns="0" bIns="0" rtlCol="0" anchor="ctr"/>
          <a:lstStyle/>
          <a:p>
            <a:pPr indent="0" marL="0">
              <a:lnSpc>
                <a:spcPts val="2300"/>
              </a:lnSpc>
              <a:buNone/>
            </a:pPr>
            <a:r>
              <a:rPr lang="en-US" sz="1800" b="1" dirty="0">
                <a:solidFill>
                  <a:srgbClr val="F5F0E8"/>
                </a:solidFill>
                <a:latin typeface="Cormorant Garamond" pitchFamily="34" charset="0"/>
                <a:ea typeface="Cormorant Garamond" pitchFamily="34" charset="-122"/>
                <a:cs typeface="Cormorant Garamond" pitchFamily="34" charset="-120"/>
              </a:rPr>
              <a:t>“Is this position still forming me,</a:t>
            </a:r>
            <a:endParaRPr lang="en-US" sz="1800" dirty="0"/>
          </a:p>
          <a:p>
            <a:pPr indent="0" marL="0">
              <a:lnSpc>
                <a:spcPts val="2300"/>
              </a:lnSpc>
              <a:buNone/>
            </a:pPr>
            <a:r>
              <a:rPr lang="en-US" sz="1800" b="1" dirty="0">
                <a:solidFill>
                  <a:srgbClr val="F5F0E8"/>
                </a:solidFill>
                <a:latin typeface="Cormorant Garamond" pitchFamily="34" charset="0"/>
                <a:ea typeface="Cormorant Garamond" pitchFamily="34" charset="-122"/>
                <a:cs typeface="Cormorant Garamond" pitchFamily="34" charset="-120"/>
              </a:rPr>
              <a:t>and does what it built travel?”</a:t>
            </a:r>
            <a:endParaRPr lang="en-US" sz="1800" dirty="0"/>
          </a:p>
        </p:txBody>
      </p:sp>
      <p:sp>
        <p:nvSpPr>
          <p:cNvPr id="11" name="Text 9"/>
          <p:cNvSpPr/>
          <p:nvPr/>
        </p:nvSpPr>
        <p:spPr>
          <a:xfrm>
            <a:off x="566928" y="3547872"/>
            <a:ext cx="8010144" cy="457200"/>
          </a:xfrm>
          <a:prstGeom prst="rect">
            <a:avLst/>
          </a:prstGeom>
          <a:noFill/>
          <a:ln/>
        </p:spPr>
        <p:txBody>
          <a:bodyPr wrap="square" lIns="0" tIns="0" rIns="0" bIns="0" rtlCol="0" anchor="ctr"/>
          <a:lstStyle/>
          <a:p>
            <a:pPr algn="l" indent="0" marL="0">
              <a:lnSpc>
                <a:spcPts val="1656"/>
              </a:lnSpc>
              <a:buNone/>
            </a:pPr>
            <a:r>
              <a:rPr lang="en-US" sz="1200" dirty="0">
                <a:solidFill>
                  <a:srgbClr val="5A6B84"/>
                </a:solidFill>
                <a:latin typeface="DM Sans" pitchFamily="34" charset="0"/>
                <a:ea typeface="DM Sans" pitchFamily="34" charset="-122"/>
                <a:cs typeface="DM Sans" pitchFamily="34" charset="-120"/>
              </a:rPr>
              <a:t>The first question is yours alone. The second sits upstream of it, and this session can read it more rigorously.</a:t>
            </a:r>
            <a:endParaRPr lang="en-US" sz="1200" dirty="0"/>
          </a:p>
        </p:txBody>
      </p:sp>
      <p:sp>
        <p:nvSpPr>
          <p:cNvPr id="13" name="Text 1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1440E"/>
                </a:solidFill>
                <a:latin typeface="Montserrat" pitchFamily="34" charset="0"/>
                <a:ea typeface="Montserrat" pitchFamily="34" charset="-122"/>
                <a:cs typeface="Montserrat" pitchFamily="34" charset="-120"/>
              </a:rPr>
              <a:t>BOUNDARY</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this read will not do</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Read this first. It is what you can hold me to.</a:t>
            </a:r>
            <a:endParaRPr lang="en-US" sz="1150" dirty="0"/>
          </a:p>
        </p:txBody>
      </p:sp>
      <p:sp>
        <p:nvSpPr>
          <p:cNvPr id="5" name="Shape 3"/>
          <p:cNvSpPr/>
          <p:nvPr/>
        </p:nvSpPr>
        <p:spPr>
          <a:xfrm>
            <a:off x="566928" y="1828800"/>
            <a:ext cx="8010144" cy="566928"/>
          </a:xfrm>
          <a:prstGeom prst="rect">
            <a:avLst/>
          </a:prstGeom>
          <a:solidFill>
            <a:srgbClr val="0F2347"/>
          </a:solidFill>
          <a:ln/>
        </p:spPr>
      </p:sp>
      <p:sp>
        <p:nvSpPr>
          <p:cNvPr id="6" name="Text 4"/>
          <p:cNvSpPr/>
          <p:nvPr/>
        </p:nvSpPr>
        <p:spPr>
          <a:xfrm>
            <a:off x="804672" y="1828800"/>
            <a:ext cx="7534656" cy="566928"/>
          </a:xfrm>
          <a:prstGeom prst="rect">
            <a:avLst/>
          </a:prstGeom>
          <a:noFill/>
          <a:ln/>
        </p:spPr>
        <p:txBody>
          <a:bodyPr wrap="square" lIns="0" tIns="0" rIns="0" bIns="0" rtlCol="0" anchor="ctr"/>
          <a:lstStyle/>
          <a:p>
            <a:pPr indent="0" marL="0">
              <a:buNone/>
            </a:pPr>
            <a:r>
              <a:rPr lang="en-US" sz="1900" b="1" dirty="0">
                <a:solidFill>
                  <a:srgbClr val="F5F0E8"/>
                </a:solidFill>
                <a:latin typeface="Cormorant Garamond" pitchFamily="34" charset="0"/>
                <a:ea typeface="Cormorant Garamond" pitchFamily="34" charset="-122"/>
                <a:cs typeface="Cormorant Garamond" pitchFamily="34" charset="-120"/>
              </a:rPr>
              <a:t>This read will not tell you to stay or leave.</a:t>
            </a:r>
            <a:endParaRPr lang="en-US" sz="1900" dirty="0"/>
          </a:p>
        </p:txBody>
      </p:sp>
      <p:sp>
        <p:nvSpPr>
          <p:cNvPr id="7" name="Text 5"/>
          <p:cNvSpPr/>
          <p:nvPr/>
        </p:nvSpPr>
        <p:spPr>
          <a:xfrm>
            <a:off x="566928" y="2542032"/>
            <a:ext cx="8010144" cy="502920"/>
          </a:xfrm>
          <a:prstGeom prst="rect">
            <a:avLst/>
          </a:prstGeom>
          <a:noFill/>
          <a:ln/>
        </p:spPr>
        <p:txBody>
          <a:bodyPr wrap="square" lIns="0" tIns="0" rIns="0" bIns="0" rtlCol="0" anchor="ctr"/>
          <a:lstStyle/>
          <a:p>
            <a:pPr algn="l" indent="0" marL="0">
              <a:lnSpc>
                <a:spcPts val="1656"/>
              </a:lnSpc>
              <a:buNone/>
            </a:pPr>
            <a:r>
              <a:rPr lang="en-US" sz="1200" dirty="0">
                <a:solidFill>
                  <a:srgbClr val="0F2347"/>
                </a:solidFill>
                <a:latin typeface="DM Sans" pitchFamily="34" charset="0"/>
                <a:ea typeface="DM Sans" pitchFamily="34" charset="-122"/>
                <a:cs typeface="DM Sans" pitchFamily="34" charset="-120"/>
              </a:rPr>
              <a:t>It helps you determine what your current environment is building in you, what remains portable, and what category of move your evidence supports testing.</a:t>
            </a:r>
            <a:endParaRPr lang="en-US" sz="1200" dirty="0"/>
          </a:p>
        </p:txBody>
      </p:sp>
      <p:sp>
        <p:nvSpPr>
          <p:cNvPr id="8" name="Text 6"/>
          <p:cNvSpPr/>
          <p:nvPr/>
        </p:nvSpPr>
        <p:spPr>
          <a:xfrm>
            <a:off x="566928" y="3099816"/>
            <a:ext cx="8010144"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Your work stays private</a:t>
            </a:r>
            <a:endParaRPr lang="en-US" sz="1200" dirty="0"/>
          </a:p>
        </p:txBody>
      </p:sp>
      <p:sp>
        <p:nvSpPr>
          <p:cNvPr id="9" name="Text 7"/>
          <p:cNvSpPr/>
          <p:nvPr/>
        </p:nvSpPr>
        <p:spPr>
          <a:xfrm>
            <a:off x="566928" y="3355848"/>
            <a:ext cx="8010144"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Your scores, your state and your worksheet stay yours. You will not be asked to share a score, a state, or your employer.</a:t>
            </a:r>
            <a:endParaRPr lang="en-US" sz="1020" dirty="0"/>
          </a:p>
        </p:txBody>
      </p:sp>
      <p:sp>
        <p:nvSpPr>
          <p:cNvPr id="10" name="Text 8"/>
          <p:cNvSpPr/>
          <p:nvPr/>
        </p:nvSpPr>
        <p:spPr>
          <a:xfrm>
            <a:off x="566928" y="3648456"/>
            <a:ext cx="8010144"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The teaching portion is recorded</a:t>
            </a:r>
            <a:endParaRPr lang="en-US" sz="1200" dirty="0"/>
          </a:p>
        </p:txBody>
      </p:sp>
      <p:sp>
        <p:nvSpPr>
          <p:cNvPr id="11" name="Text 9"/>
          <p:cNvSpPr/>
          <p:nvPr/>
        </p:nvSpPr>
        <p:spPr>
          <a:xfrm>
            <a:off x="566928" y="3904488"/>
            <a:ext cx="8010144"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The live Q&amp;A at the end is not part of the public replay.</a:t>
            </a:r>
            <a:endParaRPr lang="en-US" sz="1020" dirty="0"/>
          </a:p>
        </p:txBody>
      </p:sp>
      <p:sp>
        <p:nvSpPr>
          <p:cNvPr id="12" name="Text 10"/>
          <p:cNvSpPr/>
          <p:nvPr/>
        </p:nvSpPr>
        <p:spPr>
          <a:xfrm>
            <a:off x="566928" y="4197096"/>
            <a:ext cx="8010144"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This is not financial, legal, medical or immigration advice</a:t>
            </a:r>
            <a:endParaRPr lang="en-US" sz="1200" dirty="0"/>
          </a:p>
        </p:txBody>
      </p:sp>
      <p:sp>
        <p:nvSpPr>
          <p:cNvPr id="13" name="Text 11"/>
          <p:cNvSpPr/>
          <p:nvPr/>
        </p:nvSpPr>
        <p:spPr>
          <a:xfrm>
            <a:off x="566928" y="4453128"/>
            <a:ext cx="8010144"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It informs a career decision. It does not replace those judgments.</a:t>
            </a:r>
            <a:endParaRPr lang="en-US" sz="102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6" name="Text 1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DEFINITION ONE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468"/>
              </a:lnSpc>
              <a:buNone/>
            </a:pPr>
            <a:r>
              <a:rPr lang="en-US" sz="3400" b="1" dirty="0">
                <a:solidFill>
                  <a:srgbClr val="0F2347"/>
                </a:solidFill>
                <a:latin typeface="Cormorant Garamond" pitchFamily="34" charset="0"/>
                <a:ea typeface="Cormorant Garamond" pitchFamily="34" charset="-122"/>
                <a:cs typeface="Cormorant Garamond" pitchFamily="34" charset="-120"/>
              </a:rPr>
              <a:t>Density</a:t>
            </a:r>
            <a:endParaRPr lang="en-US" sz="3400" dirty="0"/>
          </a:p>
        </p:txBody>
      </p:sp>
      <p:sp>
        <p:nvSpPr>
          <p:cNvPr id="4" name="Text 2"/>
          <p:cNvSpPr/>
          <p:nvPr/>
        </p:nvSpPr>
        <p:spPr>
          <a:xfrm>
            <a:off x="566928" y="142646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Learning velocity. Whether this environment is still forming you.</a:t>
            </a:r>
            <a:endParaRPr lang="en-US" sz="1150" dirty="0"/>
          </a:p>
        </p:txBody>
      </p:sp>
      <p:sp>
        <p:nvSpPr>
          <p:cNvPr id="5" name="Text 3"/>
          <p:cNvSpPr/>
          <p:nvPr/>
        </p:nvSpPr>
        <p:spPr>
          <a:xfrm>
            <a:off x="566928" y="1920240"/>
            <a:ext cx="8010144" cy="640080"/>
          </a:xfrm>
          <a:prstGeom prst="rect">
            <a:avLst/>
          </a:prstGeom>
          <a:noFill/>
          <a:ln/>
        </p:spPr>
        <p:txBody>
          <a:bodyPr wrap="square" lIns="0" tIns="0" rIns="0" bIns="0" rtlCol="0" anchor="ctr"/>
          <a:lstStyle/>
          <a:p>
            <a:pPr algn="l" indent="0" marL="0">
              <a:lnSpc>
                <a:spcPts val="1863"/>
              </a:lnSpc>
              <a:buNone/>
            </a:pPr>
            <a:r>
              <a:rPr lang="en-US" sz="1350" dirty="0">
                <a:solidFill>
                  <a:srgbClr val="0F2347"/>
                </a:solidFill>
                <a:latin typeface="DM Sans" pitchFamily="34" charset="0"/>
                <a:ea typeface="DM Sans" pitchFamily="34" charset="-122"/>
                <a:cs typeface="DM Sans" pitchFamily="34" charset="-120"/>
              </a:rPr>
              <a:t>Density is whether the environment is still forming deeper capability in you. It is a property of your conditions, not your effort. A role can be exhausting and form nothing.</a:t>
            </a:r>
            <a:endParaRPr lang="en-US" sz="1350" dirty="0"/>
          </a:p>
        </p:txBody>
      </p:sp>
      <p:sp>
        <p:nvSpPr>
          <p:cNvPr id="6" name="Shape 4"/>
          <p:cNvSpPr/>
          <p:nvPr/>
        </p:nvSpPr>
        <p:spPr>
          <a:xfrm>
            <a:off x="566928" y="2743200"/>
            <a:ext cx="8010144" cy="841248"/>
          </a:xfrm>
          <a:prstGeom prst="rect">
            <a:avLst/>
          </a:prstGeom>
          <a:solidFill>
            <a:srgbClr val="E9EDF3"/>
          </a:solidFill>
          <a:ln/>
        </p:spPr>
      </p:sp>
      <p:sp>
        <p:nvSpPr>
          <p:cNvPr id="7" name="Text 5"/>
          <p:cNvSpPr/>
          <p:nvPr/>
        </p:nvSpPr>
        <p:spPr>
          <a:xfrm>
            <a:off x="822960" y="2871216"/>
            <a:ext cx="7498080" cy="274320"/>
          </a:xfrm>
          <a:prstGeom prst="rect">
            <a:avLst/>
          </a:prstGeom>
          <a:noFill/>
          <a:ln/>
        </p:spPr>
        <p:txBody>
          <a:bodyPr wrap="square" lIns="0" tIns="0" rIns="0" bIns="0" rtlCol="0" anchor="ctr"/>
          <a:lstStyle/>
          <a:p>
            <a:pPr indent="0" marL="0">
              <a:buNone/>
            </a:pPr>
            <a:r>
              <a:rPr lang="en-US" sz="1300" b="1" dirty="0">
                <a:solidFill>
                  <a:srgbClr val="C1440E"/>
                </a:solidFill>
                <a:latin typeface="DM Sans" pitchFamily="34" charset="0"/>
                <a:ea typeface="DM Sans" pitchFamily="34" charset="-122"/>
                <a:cs typeface="DM Sans" pitchFamily="34" charset="-120"/>
              </a:rPr>
              <a:t>Density is not workload, busyness, pressure or intensity.</a:t>
            </a:r>
            <a:endParaRPr lang="en-US" sz="1300" dirty="0"/>
          </a:p>
        </p:txBody>
      </p:sp>
      <p:sp>
        <p:nvSpPr>
          <p:cNvPr id="8" name="Text 6"/>
          <p:cNvSpPr/>
          <p:nvPr/>
        </p:nvSpPr>
        <p:spPr>
          <a:xfrm>
            <a:off x="822960" y="3182112"/>
            <a:ext cx="7498080" cy="274320"/>
          </a:xfrm>
          <a:prstGeom prst="rect">
            <a:avLst/>
          </a:prstGeom>
          <a:noFill/>
          <a:ln/>
        </p:spPr>
        <p:txBody>
          <a:bodyPr wrap="square" lIns="0" tIns="0" rIns="0" bIns="0" rtlCol="0" anchor="ctr"/>
          <a:lstStyle/>
          <a:p>
            <a:pPr indent="0" marL="0">
              <a:buNone/>
            </a:pPr>
            <a:r>
              <a:rPr lang="en-US" sz="1200" dirty="0">
                <a:solidFill>
                  <a:srgbClr val="0F2347"/>
                </a:solidFill>
                <a:latin typeface="DM Sans" pitchFamily="34" charset="0"/>
                <a:ea typeface="DM Sans" pitchFamily="34" charset="-122"/>
                <a:cs typeface="DM Sans" pitchFamily="34" charset="-120"/>
              </a:rPr>
              <a:t>A hard week is not evidence of formation.</a:t>
            </a:r>
            <a:endParaRPr lang="en-US" sz="1200" dirty="0"/>
          </a:p>
        </p:txBody>
      </p:sp>
      <p:sp>
        <p:nvSpPr>
          <p:cNvPr id="9" name="Text 7"/>
          <p:cNvSpPr/>
          <p:nvPr/>
        </p:nvSpPr>
        <p:spPr>
          <a:xfrm>
            <a:off x="566928" y="3767328"/>
            <a:ext cx="8010144" cy="274320"/>
          </a:xfrm>
          <a:prstGeom prst="rect">
            <a:avLst/>
          </a:prstGeom>
          <a:noFill/>
          <a:ln/>
        </p:spPr>
        <p:txBody>
          <a:bodyPr wrap="square" lIns="0" tIns="0" rIns="0" bIns="0" rtlCol="0" anchor="ctr"/>
          <a:lstStyle/>
          <a:p>
            <a:pPr algn="l" indent="0" marL="0">
              <a:lnSpc>
                <a:spcPts val="1587"/>
              </a:lnSpc>
              <a:buNone/>
            </a:pPr>
            <a:r>
              <a:rPr lang="en-US" sz="1150" dirty="0">
                <a:solidFill>
                  <a:srgbClr val="5A6B84"/>
                </a:solidFill>
                <a:latin typeface="DM Sans" pitchFamily="34" charset="0"/>
                <a:ea typeface="DM Sans" pitchFamily="34" charset="-122"/>
                <a:cs typeface="DM Sans" pitchFamily="34" charset="-120"/>
              </a:rPr>
              <a:t>Six statements, in a few minutes.</a:t>
            </a:r>
            <a:endParaRPr lang="en-US" sz="1150" dirty="0"/>
          </a:p>
        </p:txBody>
      </p:sp>
      <p:sp>
        <p:nvSpPr>
          <p:cNvPr id="11" name="Text 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2" name="Text 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DEFINITION TWO</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468"/>
              </a:lnSpc>
              <a:buNone/>
            </a:pPr>
            <a:r>
              <a:rPr lang="en-US" sz="3400" b="1" dirty="0">
                <a:solidFill>
                  <a:srgbClr val="0F2347"/>
                </a:solidFill>
                <a:latin typeface="Cormorant Garamond" pitchFamily="34" charset="0"/>
                <a:ea typeface="Cormorant Garamond" pitchFamily="34" charset="-122"/>
                <a:cs typeface="Cormorant Garamond" pitchFamily="34" charset="-120"/>
              </a:rPr>
              <a:t>Optionality</a:t>
            </a:r>
            <a:endParaRPr lang="en-US" sz="3400" dirty="0"/>
          </a:p>
        </p:txBody>
      </p:sp>
      <p:sp>
        <p:nvSpPr>
          <p:cNvPr id="4" name="Text 2"/>
          <p:cNvSpPr/>
          <p:nvPr/>
        </p:nvSpPr>
        <p:spPr>
          <a:xfrm>
            <a:off x="566928" y="142646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Market portability. Whether what you built is yours to carry.</a:t>
            </a:r>
            <a:endParaRPr lang="en-US" sz="1150" dirty="0"/>
          </a:p>
        </p:txBody>
      </p:sp>
      <p:sp>
        <p:nvSpPr>
          <p:cNvPr id="5" name="Text 3"/>
          <p:cNvSpPr/>
          <p:nvPr/>
        </p:nvSpPr>
        <p:spPr>
          <a:xfrm>
            <a:off x="566928" y="1920240"/>
            <a:ext cx="8010144" cy="731520"/>
          </a:xfrm>
          <a:prstGeom prst="rect">
            <a:avLst/>
          </a:prstGeom>
          <a:noFill/>
          <a:ln/>
        </p:spPr>
        <p:txBody>
          <a:bodyPr wrap="square" lIns="0" tIns="0" rIns="0" bIns="0" rtlCol="0" anchor="ctr"/>
          <a:lstStyle/>
          <a:p>
            <a:pPr algn="l" indent="0" marL="0">
              <a:lnSpc>
                <a:spcPts val="1863"/>
              </a:lnSpc>
              <a:buNone/>
            </a:pPr>
            <a:r>
              <a:rPr lang="en-US" sz="1350" dirty="0">
                <a:solidFill>
                  <a:srgbClr val="0F2347"/>
                </a:solidFill>
                <a:latin typeface="DM Sans" pitchFamily="34" charset="0"/>
                <a:ea typeface="DM Sans" pitchFamily="34" charset="-122"/>
                <a:cs typeface="DM Sans" pitchFamily="34" charset="-120"/>
              </a:rPr>
              <a:t>Optionality is the portability and legibility of what you have built. Two halves people collapse into one: whether the capability transfers, and whether anyone with power outside your manager has seen it.</a:t>
            </a:r>
            <a:endParaRPr lang="en-US" sz="1350" dirty="0"/>
          </a:p>
        </p:txBody>
      </p:sp>
      <p:sp>
        <p:nvSpPr>
          <p:cNvPr id="6" name="Shape 4"/>
          <p:cNvSpPr/>
          <p:nvPr/>
        </p:nvSpPr>
        <p:spPr>
          <a:xfrm>
            <a:off x="566928" y="2798064"/>
            <a:ext cx="8010144" cy="566928"/>
          </a:xfrm>
          <a:prstGeom prst="rect">
            <a:avLst/>
          </a:prstGeom>
          <a:solidFill>
            <a:srgbClr val="E9EDF3"/>
          </a:solidFill>
          <a:ln/>
        </p:spPr>
      </p:sp>
      <p:sp>
        <p:nvSpPr>
          <p:cNvPr id="7" name="Text 5"/>
          <p:cNvSpPr/>
          <p:nvPr/>
        </p:nvSpPr>
        <p:spPr>
          <a:xfrm>
            <a:off x="822960" y="2798064"/>
            <a:ext cx="7498080" cy="566928"/>
          </a:xfrm>
          <a:prstGeom prst="rect">
            <a:avLst/>
          </a:prstGeom>
          <a:noFill/>
          <a:ln/>
        </p:spPr>
        <p:txBody>
          <a:bodyPr wrap="square" lIns="0" tIns="0" rIns="0" bIns="0" rtlCol="0" anchor="ctr"/>
          <a:lstStyle/>
          <a:p>
            <a:pPr indent="0" marL="0">
              <a:buNone/>
            </a:pPr>
            <a:r>
              <a:rPr lang="en-US" sz="1300" b="1" dirty="0">
                <a:solidFill>
                  <a:srgbClr val="C1440E"/>
                </a:solidFill>
                <a:latin typeface="DM Sans" pitchFamily="34" charset="0"/>
                <a:ea typeface="DM Sans" pitchFamily="34" charset="-122"/>
                <a:cs typeface="DM Sans" pitchFamily="34" charset="-120"/>
              </a:rPr>
              <a:t>Optionality is not having offers in hand.</a:t>
            </a:r>
            <a:endParaRPr lang="en-US" sz="1300" dirty="0"/>
          </a:p>
        </p:txBody>
      </p:sp>
      <p:sp>
        <p:nvSpPr>
          <p:cNvPr id="8" name="Text 6"/>
          <p:cNvSpPr/>
          <p:nvPr/>
        </p:nvSpPr>
        <p:spPr>
          <a:xfrm>
            <a:off x="566928" y="3566160"/>
            <a:ext cx="8010144" cy="274320"/>
          </a:xfrm>
          <a:prstGeom prst="rect">
            <a:avLst/>
          </a:prstGeom>
          <a:noFill/>
          <a:ln/>
        </p:spPr>
        <p:txBody>
          <a:bodyPr wrap="square" lIns="0" tIns="0" rIns="0" bIns="0" rtlCol="0" anchor="ctr"/>
          <a:lstStyle/>
          <a:p>
            <a:pPr algn="l" indent="0" marL="0">
              <a:lnSpc>
                <a:spcPts val="1587"/>
              </a:lnSpc>
              <a:buNone/>
            </a:pPr>
            <a:r>
              <a:rPr lang="en-US" sz="1150" dirty="0">
                <a:solidFill>
                  <a:srgbClr val="5A6B84"/>
                </a:solidFill>
                <a:latin typeface="DM Sans" pitchFamily="34" charset="0"/>
                <a:ea typeface="DM Sans" pitchFamily="34" charset="-122"/>
                <a:cs typeface="DM Sans" pitchFamily="34" charset="-120"/>
              </a:rPr>
              <a:t>Six statements. Twelve in total.</a:t>
            </a:r>
            <a:endParaRPr lang="en-US" sz="1150" dirty="0"/>
          </a:p>
        </p:txBody>
      </p:sp>
      <p:sp>
        <p:nvSpPr>
          <p:cNvPr id="10" name="Text 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1" name="Text 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1 to 3</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Live, silent. 1 strongly disagree to 5 strongly agree.</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In the last ninety days I have been handed a problem I did not already know how to solve.</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2</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work close enough to people who are better than me that I can watch how they think.</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3</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My work is reviewed by someone who can tell the difference between good and adequate, and who says so directly.</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4 to 6</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continued. Same window, same instruction.</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4</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The feedback I receive changes what I do next, not just how I feel.</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5</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regularly operate at the edge of my competence rather than the comfortable center of it.</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6</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Looking back six months, the work I do now would have been genuinely hard for me then.</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Your initial Density reading</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Add the six. Hold the number. Do not share it.</a:t>
            </a:r>
            <a:endParaRPr lang="en-US" sz="1150" dirty="0"/>
          </a:p>
        </p:txBody>
      </p:sp>
      <p:sp>
        <p:nvSpPr>
          <p:cNvPr id="5" name="Shape 3"/>
          <p:cNvSpPr/>
          <p:nvPr/>
        </p:nvSpPr>
        <p:spPr>
          <a:xfrm>
            <a:off x="566928" y="1883664"/>
            <a:ext cx="3931920" cy="1170432"/>
          </a:xfrm>
          <a:prstGeom prst="rect">
            <a:avLst/>
          </a:prstGeom>
          <a:solidFill>
            <a:srgbClr val="0F2347"/>
          </a:solidFill>
          <a:ln/>
        </p:spPr>
      </p:sp>
      <p:sp>
        <p:nvSpPr>
          <p:cNvPr id="6" name="Text 4"/>
          <p:cNvSpPr/>
          <p:nvPr/>
        </p:nvSpPr>
        <p:spPr>
          <a:xfrm>
            <a:off x="841248" y="2066544"/>
            <a:ext cx="3383280" cy="201168"/>
          </a:xfrm>
          <a:prstGeom prst="rect">
            <a:avLst/>
          </a:prstGeom>
          <a:noFill/>
          <a:ln/>
        </p:spPr>
        <p:txBody>
          <a:bodyPr wrap="square" lIns="0" tIns="0" rIns="0" bIns="0" rtlCol="0" anchor="ctr"/>
          <a:lstStyle/>
          <a:p>
            <a:pPr indent="0" marL="0">
              <a:buNone/>
            </a:pPr>
            <a:r>
              <a:rPr lang="en-US" sz="900" b="1" spc="140" kern="0" dirty="0">
                <a:solidFill>
                  <a:srgbClr val="C9A84C"/>
                </a:solidFill>
                <a:latin typeface="Montserrat" pitchFamily="34" charset="0"/>
                <a:ea typeface="Montserrat" pitchFamily="34" charset="-122"/>
                <a:cs typeface="Montserrat" pitchFamily="34" charset="-120"/>
              </a:rPr>
              <a:t>DENSITY, INITIAL</a:t>
            </a:r>
            <a:endParaRPr lang="en-US" sz="900" dirty="0"/>
          </a:p>
        </p:txBody>
      </p:sp>
      <p:sp>
        <p:nvSpPr>
          <p:cNvPr id="7" name="Text 5"/>
          <p:cNvSpPr/>
          <p:nvPr/>
        </p:nvSpPr>
        <p:spPr>
          <a:xfrm>
            <a:off x="841248" y="2359152"/>
            <a:ext cx="3383280" cy="548640"/>
          </a:xfrm>
          <a:prstGeom prst="rect">
            <a:avLst/>
          </a:prstGeom>
          <a:noFill/>
          <a:ln/>
        </p:spPr>
        <p:txBody>
          <a:bodyPr wrap="square" lIns="0" tIns="0" rIns="0" bIns="0" rtlCol="0" anchor="ctr"/>
          <a:lstStyle/>
          <a:p>
            <a:pPr indent="0" marL="0">
              <a:buNone/>
            </a:pPr>
            <a:r>
              <a:rPr lang="en-US" sz="3100" b="1" dirty="0">
                <a:solidFill>
                  <a:srgbClr val="F5F0E8"/>
                </a:solidFill>
                <a:latin typeface="Cormorant Garamond" pitchFamily="34" charset="0"/>
                <a:ea typeface="Cormorant Garamond" pitchFamily="34" charset="-122"/>
                <a:cs typeface="Cormorant Garamond" pitchFamily="34" charset="-120"/>
              </a:rPr>
              <a:t>________  / 30</a:t>
            </a:r>
            <a:endParaRPr lang="en-US" sz="3100" dirty="0"/>
          </a:p>
        </p:txBody>
      </p:sp>
      <p:sp>
        <p:nvSpPr>
          <p:cNvPr id="8" name="Text 6"/>
          <p:cNvSpPr/>
          <p:nvPr/>
        </p:nvSpPr>
        <p:spPr>
          <a:xfrm>
            <a:off x="4754880" y="2011680"/>
            <a:ext cx="3822192" cy="914400"/>
          </a:xfrm>
          <a:prstGeom prst="rect">
            <a:avLst/>
          </a:prstGeom>
          <a:noFill/>
          <a:ln/>
        </p:spPr>
        <p:txBody>
          <a:bodyPr wrap="square" lIns="0" tIns="0" rIns="0" bIns="0" rtlCol="0" anchor="ctr"/>
          <a:lstStyle/>
          <a:p>
            <a:pPr indent="0" marL="0">
              <a:lnSpc>
                <a:spcPts val="1900"/>
              </a:lnSpc>
              <a:buNone/>
            </a:pPr>
            <a:r>
              <a:rPr lang="en-US" sz="1200" b="1" dirty="0">
                <a:solidFill>
                  <a:srgbClr val="0F2347"/>
                </a:solidFill>
                <a:latin typeface="DM Sans" pitchFamily="34" charset="0"/>
                <a:ea typeface="DM Sans" pitchFamily="34" charset="-122"/>
                <a:cs typeface="DM Sans" pitchFamily="34" charset="-120"/>
              </a:rPr>
              <a:t>19 to 30 is high on this axis. 6 to 18 is low.
</a:t>
            </a:r>
            <a:pPr indent="0" marL="0">
              <a:lnSpc>
                <a:spcPts val="1900"/>
              </a:lnSpc>
              <a:buNone/>
            </a:pPr>
            <a:r>
              <a:rPr lang="en-US" sz="1200" b="1" dirty="0">
                <a:solidFill>
                  <a:srgbClr val="C1440E"/>
                </a:solidFill>
                <a:latin typeface="DM Sans" pitchFamily="34" charset="0"/>
                <a:ea typeface="DM Sans" pitchFamily="34" charset="-122"/>
                <a:cs typeface="DM Sans" pitchFamily="34" charset="-120"/>
              </a:rPr>
              <a:t>Any score between 17 and 21 is a boundary, even a high one.</a:t>
            </a:r>
            <a:endParaRPr lang="en-US" sz="1200" dirty="0"/>
          </a:p>
        </p:txBody>
      </p:sp>
      <p:sp>
        <p:nvSpPr>
          <p:cNvPr id="9" name="Text 7"/>
          <p:cNvSpPr/>
          <p:nvPr/>
        </p:nvSpPr>
        <p:spPr>
          <a:xfrm>
            <a:off x="566928" y="3346704"/>
            <a:ext cx="8010144" cy="365760"/>
          </a:xfrm>
          <a:prstGeom prst="rect">
            <a:avLst/>
          </a:prstGeom>
          <a:noFill/>
          <a:ln/>
        </p:spPr>
        <p:txBody>
          <a:bodyPr wrap="square" lIns="0" tIns="0" rIns="0" bIns="0" rtlCol="0" anchor="ctr"/>
          <a:lstStyle/>
          <a:p>
            <a:pPr algn="l" indent="0" marL="0">
              <a:lnSpc>
                <a:spcPts val="1656"/>
              </a:lnSpc>
              <a:buNone/>
            </a:pPr>
            <a:r>
              <a:rPr lang="en-US" sz="1200" dirty="0">
                <a:solidFill>
                  <a:srgbClr val="5A6B84"/>
                </a:solidFill>
                <a:latin typeface="DM Sans" pitchFamily="34" charset="0"/>
                <a:ea typeface="DM Sans" pitchFamily="34" charset="-122"/>
                <a:cs typeface="DM Sans" pitchFamily="34" charset="-120"/>
              </a:rPr>
              <a:t>Write it where you can see it. The pair of numbers is the point of today.</a:t>
            </a:r>
            <a:endParaRPr lang="en-US" sz="1200" dirty="0"/>
          </a:p>
        </p:txBody>
      </p:sp>
      <p:sp>
        <p:nvSpPr>
          <p:cNvPr id="11" name="Text 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2" name="Text 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7 to 9</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Optionality. Same scale, same window.</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7</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The capability I am building would be valued by an employer in a different industry.</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8</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can describe what I do in terms of outcomes, not just my company’s internal language.</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9</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If my role disappeared tomorrow, the capability I built would still be mine to carry.</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10 to 12</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Optionality, continued. Last block of the first pass.</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10</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People with the power to hire or advance me, inside or outside my company, can already see what I am good at.</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11</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What I am learning is a transferable capability rather than a company-specific procedure.</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12</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could rebuild a strong position somewhere else within a year.</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Your initial Optionality reading</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Add the six. You now hold two numbers and a position.</a:t>
            </a:r>
            <a:endParaRPr lang="en-US" sz="1150" dirty="0"/>
          </a:p>
        </p:txBody>
      </p:sp>
      <p:sp>
        <p:nvSpPr>
          <p:cNvPr id="5" name="Shape 3"/>
          <p:cNvSpPr/>
          <p:nvPr/>
        </p:nvSpPr>
        <p:spPr>
          <a:xfrm>
            <a:off x="566928" y="1883664"/>
            <a:ext cx="3931920" cy="1170432"/>
          </a:xfrm>
          <a:prstGeom prst="rect">
            <a:avLst/>
          </a:prstGeom>
          <a:solidFill>
            <a:srgbClr val="0F2347"/>
          </a:solidFill>
          <a:ln/>
        </p:spPr>
      </p:sp>
      <p:sp>
        <p:nvSpPr>
          <p:cNvPr id="6" name="Text 4"/>
          <p:cNvSpPr/>
          <p:nvPr/>
        </p:nvSpPr>
        <p:spPr>
          <a:xfrm>
            <a:off x="841248" y="2066544"/>
            <a:ext cx="3383280" cy="201168"/>
          </a:xfrm>
          <a:prstGeom prst="rect">
            <a:avLst/>
          </a:prstGeom>
          <a:noFill/>
          <a:ln/>
        </p:spPr>
        <p:txBody>
          <a:bodyPr wrap="square" lIns="0" tIns="0" rIns="0" bIns="0" rtlCol="0" anchor="ctr"/>
          <a:lstStyle/>
          <a:p>
            <a:pPr indent="0" marL="0">
              <a:buNone/>
            </a:pPr>
            <a:r>
              <a:rPr lang="en-US" sz="900" b="1" spc="140" kern="0" dirty="0">
                <a:solidFill>
                  <a:srgbClr val="C9A84C"/>
                </a:solidFill>
                <a:latin typeface="Montserrat" pitchFamily="34" charset="0"/>
                <a:ea typeface="Montserrat" pitchFamily="34" charset="-122"/>
                <a:cs typeface="Montserrat" pitchFamily="34" charset="-120"/>
              </a:rPr>
              <a:t>OPTIONALITY, INITIAL</a:t>
            </a:r>
            <a:endParaRPr lang="en-US" sz="900" dirty="0"/>
          </a:p>
        </p:txBody>
      </p:sp>
      <p:sp>
        <p:nvSpPr>
          <p:cNvPr id="7" name="Text 5"/>
          <p:cNvSpPr/>
          <p:nvPr/>
        </p:nvSpPr>
        <p:spPr>
          <a:xfrm>
            <a:off x="841248" y="2359152"/>
            <a:ext cx="3383280" cy="548640"/>
          </a:xfrm>
          <a:prstGeom prst="rect">
            <a:avLst/>
          </a:prstGeom>
          <a:noFill/>
          <a:ln/>
        </p:spPr>
        <p:txBody>
          <a:bodyPr wrap="square" lIns="0" tIns="0" rIns="0" bIns="0" rtlCol="0" anchor="ctr"/>
          <a:lstStyle/>
          <a:p>
            <a:pPr indent="0" marL="0">
              <a:buNone/>
            </a:pPr>
            <a:r>
              <a:rPr lang="en-US" sz="3100" b="1" dirty="0">
                <a:solidFill>
                  <a:srgbClr val="F5F0E8"/>
                </a:solidFill>
                <a:latin typeface="Cormorant Garamond" pitchFamily="34" charset="0"/>
                <a:ea typeface="Cormorant Garamond" pitchFamily="34" charset="-122"/>
                <a:cs typeface="Cormorant Garamond" pitchFamily="34" charset="-120"/>
              </a:rPr>
              <a:t>________  / 30</a:t>
            </a:r>
            <a:endParaRPr lang="en-US" sz="3100" dirty="0"/>
          </a:p>
        </p:txBody>
      </p:sp>
      <p:sp>
        <p:nvSpPr>
          <p:cNvPr id="8" name="Text 6"/>
          <p:cNvSpPr/>
          <p:nvPr/>
        </p:nvSpPr>
        <p:spPr>
          <a:xfrm>
            <a:off x="4754880" y="2011680"/>
            <a:ext cx="3822192" cy="914400"/>
          </a:xfrm>
          <a:prstGeom prst="rect">
            <a:avLst/>
          </a:prstGeom>
          <a:noFill/>
          <a:ln/>
        </p:spPr>
        <p:txBody>
          <a:bodyPr wrap="square" lIns="0" tIns="0" rIns="0" bIns="0" rtlCol="0" anchor="ctr"/>
          <a:lstStyle/>
          <a:p>
            <a:pPr indent="0" marL="0">
              <a:lnSpc>
                <a:spcPts val="1900"/>
              </a:lnSpc>
              <a:buNone/>
            </a:pPr>
            <a:r>
              <a:rPr lang="en-US" sz="1200" b="1" dirty="0">
                <a:solidFill>
                  <a:srgbClr val="0F2347"/>
                </a:solidFill>
                <a:latin typeface="DM Sans" pitchFamily="34" charset="0"/>
                <a:ea typeface="DM Sans" pitchFamily="34" charset="-122"/>
                <a:cs typeface="DM Sans" pitchFamily="34" charset="-120"/>
              </a:rPr>
              <a:t>Same bands. 19 to 30 high, 6 to 18 low.
</a:t>
            </a:r>
            <a:pPr indent="0" marL="0">
              <a:lnSpc>
                <a:spcPts val="1900"/>
              </a:lnSpc>
              <a:buNone/>
            </a:pPr>
            <a:r>
              <a:rPr lang="en-US" sz="1200" b="1" dirty="0">
                <a:solidFill>
                  <a:srgbClr val="C1440E"/>
                </a:solidFill>
                <a:latin typeface="DM Sans" pitchFamily="34" charset="0"/>
                <a:ea typeface="DM Sans" pitchFamily="34" charset="-122"/>
                <a:cs typeface="DM Sans" pitchFamily="34" charset="-120"/>
              </a:rPr>
              <a:t>17 to 21 is a boundary on this axis too.</a:t>
            </a:r>
            <a:endParaRPr lang="en-US" sz="1200" dirty="0"/>
          </a:p>
        </p:txBody>
      </p:sp>
      <p:sp>
        <p:nvSpPr>
          <p:cNvPr id="9" name="Shape 7"/>
          <p:cNvSpPr/>
          <p:nvPr/>
        </p:nvSpPr>
        <p:spPr>
          <a:xfrm>
            <a:off x="566928" y="3328416"/>
            <a:ext cx="8010144" cy="658368"/>
          </a:xfrm>
          <a:prstGeom prst="rect">
            <a:avLst/>
          </a:prstGeom>
          <a:solidFill>
            <a:srgbClr val="E9EDF3"/>
          </a:solidFill>
          <a:ln/>
        </p:spPr>
      </p:sp>
      <p:sp>
        <p:nvSpPr>
          <p:cNvPr id="10" name="Text 8"/>
          <p:cNvSpPr/>
          <p:nvPr/>
        </p:nvSpPr>
        <p:spPr>
          <a:xfrm>
            <a:off x="822960" y="3328416"/>
            <a:ext cx="7498080" cy="658368"/>
          </a:xfrm>
          <a:prstGeom prst="rect">
            <a:avLst/>
          </a:prstGeom>
          <a:noFill/>
          <a:ln/>
        </p:spPr>
        <p:txBody>
          <a:bodyPr wrap="square" lIns="0" tIns="0" rIns="0" bIns="0" rtlCol="0" anchor="ctr"/>
          <a:lstStyle/>
          <a:p>
            <a:pPr indent="0" marL="0">
              <a:buNone/>
            </a:pPr>
            <a:r>
              <a:rPr lang="en-US" sz="1700" b="1" dirty="0">
                <a:solidFill>
                  <a:srgbClr val="0F2347"/>
                </a:solidFill>
                <a:latin typeface="Cormorant Garamond" pitchFamily="34" charset="0"/>
                <a:ea typeface="Cormorant Garamond" pitchFamily="34" charset="-122"/>
                <a:cs typeface="Cormorant Garamond" pitchFamily="34" charset="-120"/>
              </a:rPr>
              <a:t>This is the reading you might otherwise have carried into a decision.</a:t>
            </a:r>
            <a:endParaRPr lang="en-US" sz="1700" dirty="0"/>
          </a:p>
        </p:txBody>
      </p:sp>
      <p:sp>
        <p:nvSpPr>
          <p:cNvPr id="12"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3"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MATRIX</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The four states</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crossed with Optionality. Your state reveals a form of exposure your job title cannot.</a:t>
            </a:r>
            <a:endParaRPr lang="en-US" sz="1150" dirty="0"/>
          </a:p>
        </p:txBody>
      </p:sp>
      <p:sp>
        <p:nvSpPr>
          <p:cNvPr id="5" name="Shape 3"/>
          <p:cNvSpPr/>
          <p:nvPr/>
        </p:nvSpPr>
        <p:spPr>
          <a:xfrm>
            <a:off x="2331720" y="1847088"/>
            <a:ext cx="3017520" cy="1170432"/>
          </a:xfrm>
          <a:prstGeom prst="rect">
            <a:avLst/>
          </a:prstGeom>
          <a:solidFill>
            <a:srgbClr val="0F2347"/>
          </a:solidFill>
          <a:ln/>
        </p:spPr>
      </p:sp>
      <p:sp>
        <p:nvSpPr>
          <p:cNvPr id="6" name="Text 4"/>
          <p:cNvSpPr/>
          <p:nvPr/>
        </p:nvSpPr>
        <p:spPr>
          <a:xfrm>
            <a:off x="2532888" y="2011680"/>
            <a:ext cx="2615184" cy="256032"/>
          </a:xfrm>
          <a:prstGeom prst="rect">
            <a:avLst/>
          </a:prstGeom>
          <a:noFill/>
          <a:ln/>
        </p:spPr>
        <p:txBody>
          <a:bodyPr wrap="square" lIns="0" tIns="0" rIns="0" bIns="0" rtlCol="0" anchor="ctr"/>
          <a:lstStyle/>
          <a:p>
            <a:pPr indent="0" marL="0">
              <a:buNone/>
            </a:pPr>
            <a:r>
              <a:rPr lang="en-US" sz="1100" b="1" spc="110" kern="0" dirty="0">
                <a:solidFill>
                  <a:srgbClr val="C9A84C"/>
                </a:solidFill>
                <a:latin typeface="Montserrat" pitchFamily="34" charset="0"/>
                <a:ea typeface="Montserrat" pitchFamily="34" charset="-122"/>
                <a:cs typeface="Montserrat" pitchFamily="34" charset="-120"/>
              </a:rPr>
              <a:t>DEPTH TRAP</a:t>
            </a:r>
            <a:endParaRPr lang="en-US" sz="1100" dirty="0"/>
          </a:p>
        </p:txBody>
      </p:sp>
      <p:sp>
        <p:nvSpPr>
          <p:cNvPr id="7" name="Text 5"/>
          <p:cNvSpPr/>
          <p:nvPr/>
        </p:nvSpPr>
        <p:spPr>
          <a:xfrm>
            <a:off x="2532888" y="2322576"/>
            <a:ext cx="2615184" cy="457200"/>
          </a:xfrm>
          <a:prstGeom prst="rect">
            <a:avLst/>
          </a:prstGeom>
          <a:noFill/>
          <a:ln/>
        </p:spPr>
        <p:txBody>
          <a:bodyPr wrap="square" lIns="0" tIns="0" rIns="0" bIns="0" rtlCol="0" anchor="ctr"/>
          <a:lstStyle/>
          <a:p>
            <a:pPr indent="0" marL="0">
              <a:lnSpc>
                <a:spcPts val="1500"/>
              </a:lnSpc>
              <a:buNone/>
            </a:pPr>
            <a:r>
              <a:rPr lang="en-US" sz="1100" dirty="0">
                <a:solidFill>
                  <a:srgbClr val="F5F0E8"/>
                </a:solidFill>
                <a:latin typeface="DM Sans" pitchFamily="34" charset="0"/>
                <a:ea typeface="DM Sans" pitchFamily="34" charset="-122"/>
                <a:cs typeface="DM Sans" pitchFamily="34" charset="-120"/>
              </a:rPr>
              <a:t>Deep expertise fused to one context.</a:t>
            </a:r>
            <a:endParaRPr lang="en-US" sz="1100" dirty="0"/>
          </a:p>
        </p:txBody>
      </p:sp>
      <p:sp>
        <p:nvSpPr>
          <p:cNvPr id="8" name="Shape 6"/>
          <p:cNvSpPr/>
          <p:nvPr/>
        </p:nvSpPr>
        <p:spPr>
          <a:xfrm>
            <a:off x="5440680" y="1847088"/>
            <a:ext cx="3017520" cy="1170432"/>
          </a:xfrm>
          <a:prstGeom prst="rect">
            <a:avLst/>
          </a:prstGeom>
          <a:solidFill>
            <a:srgbClr val="0F2347"/>
          </a:solidFill>
          <a:ln/>
        </p:spPr>
      </p:sp>
      <p:sp>
        <p:nvSpPr>
          <p:cNvPr id="9" name="Text 7"/>
          <p:cNvSpPr/>
          <p:nvPr/>
        </p:nvSpPr>
        <p:spPr>
          <a:xfrm>
            <a:off x="5641848" y="2011680"/>
            <a:ext cx="2615184" cy="256032"/>
          </a:xfrm>
          <a:prstGeom prst="rect">
            <a:avLst/>
          </a:prstGeom>
          <a:noFill/>
          <a:ln/>
        </p:spPr>
        <p:txBody>
          <a:bodyPr wrap="square" lIns="0" tIns="0" rIns="0" bIns="0" rtlCol="0" anchor="ctr"/>
          <a:lstStyle/>
          <a:p>
            <a:pPr indent="0" marL="0">
              <a:buNone/>
            </a:pPr>
            <a:r>
              <a:rPr lang="en-US" sz="1100" b="1" spc="110" kern="0" dirty="0">
                <a:solidFill>
                  <a:srgbClr val="C9A84C"/>
                </a:solidFill>
                <a:latin typeface="Montserrat" pitchFamily="34" charset="0"/>
                <a:ea typeface="Montserrat" pitchFamily="34" charset="-122"/>
                <a:cs typeface="Montserrat" pitchFamily="34" charset="-120"/>
              </a:rPr>
              <a:t>COMPOUNDING</a:t>
            </a:r>
            <a:endParaRPr lang="en-US" sz="1100" dirty="0"/>
          </a:p>
        </p:txBody>
      </p:sp>
      <p:sp>
        <p:nvSpPr>
          <p:cNvPr id="10" name="Text 8"/>
          <p:cNvSpPr/>
          <p:nvPr/>
        </p:nvSpPr>
        <p:spPr>
          <a:xfrm>
            <a:off x="5641848" y="2322576"/>
            <a:ext cx="2615184" cy="457200"/>
          </a:xfrm>
          <a:prstGeom prst="rect">
            <a:avLst/>
          </a:prstGeom>
          <a:noFill/>
          <a:ln/>
        </p:spPr>
        <p:txBody>
          <a:bodyPr wrap="square" lIns="0" tIns="0" rIns="0" bIns="0" rtlCol="0" anchor="ctr"/>
          <a:lstStyle/>
          <a:p>
            <a:pPr indent="0" marL="0">
              <a:lnSpc>
                <a:spcPts val="1500"/>
              </a:lnSpc>
              <a:buNone/>
            </a:pPr>
            <a:r>
              <a:rPr lang="en-US" sz="1100" dirty="0">
                <a:solidFill>
                  <a:srgbClr val="F5F0E8"/>
                </a:solidFill>
                <a:latin typeface="DM Sans" pitchFamily="34" charset="0"/>
                <a:ea typeface="DM Sans" pitchFamily="34" charset="-122"/>
                <a:cs typeface="DM Sans" pitchFamily="34" charset="-120"/>
              </a:rPr>
              <a:t>Deep capability that travels.</a:t>
            </a:r>
            <a:endParaRPr lang="en-US" sz="1100" dirty="0"/>
          </a:p>
        </p:txBody>
      </p:sp>
      <p:sp>
        <p:nvSpPr>
          <p:cNvPr id="11" name="Shape 9"/>
          <p:cNvSpPr/>
          <p:nvPr/>
        </p:nvSpPr>
        <p:spPr>
          <a:xfrm>
            <a:off x="2331720" y="3108960"/>
            <a:ext cx="3017520" cy="1170432"/>
          </a:xfrm>
          <a:prstGeom prst="rect">
            <a:avLst/>
          </a:prstGeom>
          <a:solidFill>
            <a:srgbClr val="E9EDF3"/>
          </a:solidFill>
          <a:ln/>
        </p:spPr>
      </p:sp>
      <p:sp>
        <p:nvSpPr>
          <p:cNvPr id="12" name="Text 10"/>
          <p:cNvSpPr/>
          <p:nvPr/>
        </p:nvSpPr>
        <p:spPr>
          <a:xfrm>
            <a:off x="2532888" y="3273552"/>
            <a:ext cx="2615184" cy="256032"/>
          </a:xfrm>
          <a:prstGeom prst="rect">
            <a:avLst/>
          </a:prstGeom>
          <a:noFill/>
          <a:ln/>
        </p:spPr>
        <p:txBody>
          <a:bodyPr wrap="square" lIns="0" tIns="0" rIns="0" bIns="0" rtlCol="0" anchor="ctr"/>
          <a:lstStyle/>
          <a:p>
            <a:pPr indent="0" marL="0">
              <a:buNone/>
            </a:pPr>
            <a:r>
              <a:rPr lang="en-US" sz="1100" b="1" spc="110" kern="0" dirty="0">
                <a:solidFill>
                  <a:srgbClr val="0F2347"/>
                </a:solidFill>
                <a:latin typeface="Montserrat" pitchFamily="34" charset="0"/>
                <a:ea typeface="Montserrat" pitchFamily="34" charset="-122"/>
                <a:cs typeface="Montserrat" pitchFamily="34" charset="-120"/>
              </a:rPr>
              <a:t>STAGNANT</a:t>
            </a:r>
            <a:endParaRPr lang="en-US" sz="1100" dirty="0"/>
          </a:p>
        </p:txBody>
      </p:sp>
      <p:sp>
        <p:nvSpPr>
          <p:cNvPr id="13" name="Text 11"/>
          <p:cNvSpPr/>
          <p:nvPr/>
        </p:nvSpPr>
        <p:spPr>
          <a:xfrm>
            <a:off x="2532888" y="3584448"/>
            <a:ext cx="2615184" cy="457200"/>
          </a:xfrm>
          <a:prstGeom prst="rect">
            <a:avLst/>
          </a:prstGeom>
          <a:noFill/>
          <a:ln/>
        </p:spPr>
        <p:txBody>
          <a:bodyPr wrap="square" lIns="0" tIns="0" rIns="0" bIns="0" rtlCol="0" anchor="ctr"/>
          <a:lstStyle/>
          <a:p>
            <a:pPr indent="0" marL="0">
              <a:lnSpc>
                <a:spcPts val="1500"/>
              </a:lnSpc>
              <a:buNone/>
            </a:pPr>
            <a:r>
              <a:rPr lang="en-US" sz="1100" dirty="0">
                <a:solidFill>
                  <a:srgbClr val="5A6B84"/>
                </a:solidFill>
                <a:latin typeface="DM Sans" pitchFamily="34" charset="0"/>
                <a:ea typeface="DM Sans" pitchFamily="34" charset="-122"/>
                <a:cs typeface="DM Sans" pitchFamily="34" charset="-120"/>
              </a:rPr>
              <a:t>The work stopped asking more of you.</a:t>
            </a:r>
            <a:endParaRPr lang="en-US" sz="1100" dirty="0"/>
          </a:p>
        </p:txBody>
      </p:sp>
      <p:sp>
        <p:nvSpPr>
          <p:cNvPr id="14" name="Shape 12"/>
          <p:cNvSpPr/>
          <p:nvPr/>
        </p:nvSpPr>
        <p:spPr>
          <a:xfrm>
            <a:off x="5440680" y="3108960"/>
            <a:ext cx="3017520" cy="1170432"/>
          </a:xfrm>
          <a:prstGeom prst="rect">
            <a:avLst/>
          </a:prstGeom>
          <a:solidFill>
            <a:srgbClr val="E9EDF3"/>
          </a:solidFill>
          <a:ln/>
        </p:spPr>
      </p:sp>
      <p:sp>
        <p:nvSpPr>
          <p:cNvPr id="15" name="Text 13"/>
          <p:cNvSpPr/>
          <p:nvPr/>
        </p:nvSpPr>
        <p:spPr>
          <a:xfrm>
            <a:off x="5641848" y="3273552"/>
            <a:ext cx="2615184" cy="256032"/>
          </a:xfrm>
          <a:prstGeom prst="rect">
            <a:avLst/>
          </a:prstGeom>
          <a:noFill/>
          <a:ln/>
        </p:spPr>
        <p:txBody>
          <a:bodyPr wrap="square" lIns="0" tIns="0" rIns="0" bIns="0" rtlCol="0" anchor="ctr"/>
          <a:lstStyle/>
          <a:p>
            <a:pPr indent="0" marL="0">
              <a:buNone/>
            </a:pPr>
            <a:r>
              <a:rPr lang="en-US" sz="1100" b="1" spc="110" kern="0" dirty="0">
                <a:solidFill>
                  <a:srgbClr val="0F2347"/>
                </a:solidFill>
                <a:latin typeface="Montserrat" pitchFamily="34" charset="0"/>
                <a:ea typeface="Montserrat" pitchFamily="34" charset="-122"/>
                <a:cs typeface="Montserrat" pitchFamily="34" charset="-120"/>
              </a:rPr>
              <a:t>FRAGILE</a:t>
            </a:r>
            <a:endParaRPr lang="en-US" sz="1100" dirty="0"/>
          </a:p>
        </p:txBody>
      </p:sp>
      <p:sp>
        <p:nvSpPr>
          <p:cNvPr id="16" name="Text 14"/>
          <p:cNvSpPr/>
          <p:nvPr/>
        </p:nvSpPr>
        <p:spPr>
          <a:xfrm>
            <a:off x="5641848" y="3584448"/>
            <a:ext cx="2615184" cy="457200"/>
          </a:xfrm>
          <a:prstGeom prst="rect">
            <a:avLst/>
          </a:prstGeom>
          <a:noFill/>
          <a:ln/>
        </p:spPr>
        <p:txBody>
          <a:bodyPr wrap="square" lIns="0" tIns="0" rIns="0" bIns="0" rtlCol="0" anchor="ctr"/>
          <a:lstStyle/>
          <a:p>
            <a:pPr indent="0" marL="0">
              <a:lnSpc>
                <a:spcPts val="1500"/>
              </a:lnSpc>
              <a:buNone/>
            </a:pPr>
            <a:r>
              <a:rPr lang="en-US" sz="1100" dirty="0">
                <a:solidFill>
                  <a:srgbClr val="5A6B84"/>
                </a:solidFill>
                <a:latin typeface="DM Sans" pitchFamily="34" charset="0"/>
                <a:ea typeface="DM Sans" pitchFamily="34" charset="-122"/>
                <a:cs typeface="DM Sans" pitchFamily="34" charset="-120"/>
              </a:rPr>
              <a:t>Options on paper, not enough depth beneath.</a:t>
            </a:r>
            <a:endParaRPr lang="en-US" sz="1100" dirty="0"/>
          </a:p>
        </p:txBody>
      </p:sp>
      <p:sp>
        <p:nvSpPr>
          <p:cNvPr id="17" name="Text 15"/>
          <p:cNvSpPr/>
          <p:nvPr/>
        </p:nvSpPr>
        <p:spPr>
          <a:xfrm>
            <a:off x="1481328" y="1956816"/>
            <a:ext cx="777240" cy="457200"/>
          </a:xfrm>
          <a:prstGeom prst="rect">
            <a:avLst/>
          </a:prstGeom>
          <a:noFill/>
          <a:ln/>
        </p:spPr>
        <p:txBody>
          <a:bodyPr wrap="square" lIns="0" tIns="0" rIns="0" bIns="0" rtlCol="0" anchor="ctr"/>
          <a:lstStyle/>
          <a:p>
            <a:pPr algn="r" indent="0" marL="0">
              <a:buNone/>
            </a:pPr>
            <a:r>
              <a:rPr lang="en-US" sz="800" b="1" spc="80" kern="0" dirty="0">
                <a:solidFill>
                  <a:srgbClr val="5A6B84"/>
                </a:solidFill>
                <a:latin typeface="Montserrat" pitchFamily="34" charset="0"/>
                <a:ea typeface="Montserrat" pitchFamily="34" charset="-122"/>
                <a:cs typeface="Montserrat" pitchFamily="34" charset="-120"/>
              </a:rPr>
              <a:t>DENSITY</a:t>
            </a:r>
            <a:endParaRPr lang="en-US" sz="800" dirty="0"/>
          </a:p>
          <a:p>
            <a:pPr algn="r" indent="0" marL="0">
              <a:buNone/>
            </a:pPr>
            <a:r>
              <a:rPr lang="en-US" sz="800" b="1" spc="80" kern="0" dirty="0">
                <a:solidFill>
                  <a:srgbClr val="5A6B84"/>
                </a:solidFill>
                <a:latin typeface="Montserrat" pitchFamily="34" charset="0"/>
                <a:ea typeface="Montserrat" pitchFamily="34" charset="-122"/>
                <a:cs typeface="Montserrat" pitchFamily="34" charset="-120"/>
              </a:rPr>
              <a:t>HIGH</a:t>
            </a:r>
            <a:endParaRPr lang="en-US" sz="800" dirty="0"/>
          </a:p>
        </p:txBody>
      </p:sp>
      <p:sp>
        <p:nvSpPr>
          <p:cNvPr id="18" name="Text 16"/>
          <p:cNvSpPr/>
          <p:nvPr/>
        </p:nvSpPr>
        <p:spPr>
          <a:xfrm>
            <a:off x="1481328" y="3200400"/>
            <a:ext cx="777240" cy="457200"/>
          </a:xfrm>
          <a:prstGeom prst="rect">
            <a:avLst/>
          </a:prstGeom>
          <a:noFill/>
          <a:ln/>
        </p:spPr>
        <p:txBody>
          <a:bodyPr wrap="square" lIns="0" tIns="0" rIns="0" bIns="0" rtlCol="0" anchor="ctr"/>
          <a:lstStyle/>
          <a:p>
            <a:pPr algn="r" indent="0" marL="0">
              <a:buNone/>
            </a:pPr>
            <a:r>
              <a:rPr lang="en-US" sz="800" b="1" spc="80" kern="0" dirty="0">
                <a:solidFill>
                  <a:srgbClr val="5A6B84"/>
                </a:solidFill>
                <a:latin typeface="Montserrat" pitchFamily="34" charset="0"/>
                <a:ea typeface="Montserrat" pitchFamily="34" charset="-122"/>
                <a:cs typeface="Montserrat" pitchFamily="34" charset="-120"/>
              </a:rPr>
              <a:t>DENSITY</a:t>
            </a:r>
            <a:endParaRPr lang="en-US" sz="800" dirty="0"/>
          </a:p>
          <a:p>
            <a:pPr algn="r" indent="0" marL="0">
              <a:buNone/>
            </a:pPr>
            <a:r>
              <a:rPr lang="en-US" sz="800" b="1" spc="80" kern="0" dirty="0">
                <a:solidFill>
                  <a:srgbClr val="5A6B84"/>
                </a:solidFill>
                <a:latin typeface="Montserrat" pitchFamily="34" charset="0"/>
                <a:ea typeface="Montserrat" pitchFamily="34" charset="-122"/>
                <a:cs typeface="Montserrat" pitchFamily="34" charset="-120"/>
              </a:rPr>
              <a:t>LOW</a:t>
            </a:r>
            <a:endParaRPr lang="en-US" sz="800" dirty="0"/>
          </a:p>
        </p:txBody>
      </p:sp>
      <p:sp>
        <p:nvSpPr>
          <p:cNvPr id="19" name="Text 17"/>
          <p:cNvSpPr/>
          <p:nvPr/>
        </p:nvSpPr>
        <p:spPr>
          <a:xfrm>
            <a:off x="2331720" y="4352544"/>
            <a:ext cx="6126480" cy="201168"/>
          </a:xfrm>
          <a:prstGeom prst="rect">
            <a:avLst/>
          </a:prstGeom>
          <a:noFill/>
          <a:ln/>
        </p:spPr>
        <p:txBody>
          <a:bodyPr wrap="square" lIns="0" tIns="0" rIns="0" bIns="0" rtlCol="0" anchor="ctr"/>
          <a:lstStyle/>
          <a:p>
            <a:pPr algn="ctr" indent="0" marL="0">
              <a:buNone/>
            </a:pPr>
            <a:r>
              <a:rPr lang="en-US" sz="800" b="1" spc="90" kern="0" dirty="0">
                <a:solidFill>
                  <a:srgbClr val="5A6B84"/>
                </a:solidFill>
                <a:latin typeface="Montserrat" pitchFamily="34" charset="0"/>
                <a:ea typeface="Montserrat" pitchFamily="34" charset="-122"/>
                <a:cs typeface="Montserrat" pitchFamily="34" charset="-120"/>
              </a:rPr>
              <a:t>OPTIONALITY:  LOW AT LEFT   →   HIGH AT RIGHT</a:t>
            </a:r>
            <a:endParaRPr lang="en-US" sz="80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14</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1440E"/>
                </a:solidFill>
                <a:latin typeface="Montserrat" pitchFamily="34" charset="0"/>
                <a:ea typeface="Montserrat" pitchFamily="34" charset="-122"/>
                <a:cs typeface="Montserrat" pitchFamily="34" charset="-120"/>
              </a:rPr>
              <a:t>BEFORE YOU PLACE YOURSELF</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Read this before you place yourself</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most important sentence in the session.</a:t>
            </a:r>
            <a:endParaRPr lang="en-US" sz="1150" dirty="0"/>
          </a:p>
        </p:txBody>
      </p:sp>
      <p:sp>
        <p:nvSpPr>
          <p:cNvPr id="5" name="Shape 3"/>
          <p:cNvSpPr/>
          <p:nvPr/>
        </p:nvSpPr>
        <p:spPr>
          <a:xfrm>
            <a:off x="566928" y="1828800"/>
            <a:ext cx="8010144" cy="548640"/>
          </a:xfrm>
          <a:prstGeom prst="rect">
            <a:avLst/>
          </a:prstGeom>
          <a:solidFill>
            <a:srgbClr val="0F2347"/>
          </a:solidFill>
          <a:ln/>
        </p:spPr>
      </p:sp>
      <p:sp>
        <p:nvSpPr>
          <p:cNvPr id="6" name="Text 4"/>
          <p:cNvSpPr/>
          <p:nvPr/>
        </p:nvSpPr>
        <p:spPr>
          <a:xfrm>
            <a:off x="804672" y="1828800"/>
            <a:ext cx="7534656" cy="548640"/>
          </a:xfrm>
          <a:prstGeom prst="rect">
            <a:avLst/>
          </a:prstGeom>
          <a:noFill/>
          <a:ln/>
        </p:spPr>
        <p:txBody>
          <a:bodyPr wrap="square" lIns="0" tIns="0" rIns="0" bIns="0" rtlCol="0" anchor="ctr"/>
          <a:lstStyle/>
          <a:p>
            <a:pPr indent="0" marL="0">
              <a:buNone/>
            </a:pPr>
            <a:r>
              <a:rPr lang="en-US" sz="1900" b="1" dirty="0">
                <a:solidFill>
                  <a:srgbClr val="F5F0E8"/>
                </a:solidFill>
                <a:latin typeface="Cormorant Garamond" pitchFamily="34" charset="0"/>
                <a:ea typeface="Cormorant Garamond" pitchFamily="34" charset="-122"/>
                <a:cs typeface="Cormorant Garamond" pitchFamily="34" charset="-120"/>
              </a:rPr>
              <a:t>It reads your conditions, not your worth.</a:t>
            </a:r>
            <a:endParaRPr lang="en-US" sz="1900" dirty="0"/>
          </a:p>
        </p:txBody>
      </p:sp>
      <p:sp>
        <p:nvSpPr>
          <p:cNvPr id="7" name="Shape 5"/>
          <p:cNvSpPr/>
          <p:nvPr/>
        </p:nvSpPr>
        <p:spPr>
          <a:xfrm>
            <a:off x="566928" y="2542032"/>
            <a:ext cx="274320" cy="274320"/>
          </a:xfrm>
          <a:prstGeom prst="rect">
            <a:avLst/>
          </a:prstGeom>
          <a:solidFill>
            <a:srgbClr val="0F2347"/>
          </a:solidFill>
          <a:ln/>
        </p:spPr>
      </p:sp>
      <p:sp>
        <p:nvSpPr>
          <p:cNvPr id="8" name="Text 6"/>
          <p:cNvSpPr/>
          <p:nvPr/>
        </p:nvSpPr>
        <p:spPr>
          <a:xfrm>
            <a:off x="566928" y="254203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9" name="Text 7"/>
          <p:cNvSpPr/>
          <p:nvPr/>
        </p:nvSpPr>
        <p:spPr>
          <a:xfrm>
            <a:off x="1005840" y="2514600"/>
            <a:ext cx="7571232"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Performance and formation differ</a:t>
            </a:r>
            <a:endParaRPr lang="en-US" sz="1200" dirty="0"/>
          </a:p>
        </p:txBody>
      </p:sp>
      <p:sp>
        <p:nvSpPr>
          <p:cNvPr id="10" name="Text 8"/>
          <p:cNvSpPr/>
          <p:nvPr/>
        </p:nvSpPr>
        <p:spPr>
          <a:xfrm>
            <a:off x="1005840" y="2770632"/>
            <a:ext cx="7571232"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Strong reviews and flat formation are routine companions.</a:t>
            </a:r>
            <a:endParaRPr lang="en-US" sz="1020" dirty="0"/>
          </a:p>
        </p:txBody>
      </p:sp>
      <p:sp>
        <p:nvSpPr>
          <p:cNvPr id="11" name="Shape 9"/>
          <p:cNvSpPr/>
          <p:nvPr/>
        </p:nvSpPr>
        <p:spPr>
          <a:xfrm>
            <a:off x="566928" y="3026664"/>
            <a:ext cx="274320" cy="274320"/>
          </a:xfrm>
          <a:prstGeom prst="rect">
            <a:avLst/>
          </a:prstGeom>
          <a:solidFill>
            <a:srgbClr val="0F2347"/>
          </a:solidFill>
          <a:ln/>
        </p:spPr>
      </p:sp>
      <p:sp>
        <p:nvSpPr>
          <p:cNvPr id="12" name="Text 10"/>
          <p:cNvSpPr/>
          <p:nvPr/>
        </p:nvSpPr>
        <p:spPr>
          <a:xfrm>
            <a:off x="566928" y="3026664"/>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3" name="Text 11"/>
          <p:cNvSpPr/>
          <p:nvPr/>
        </p:nvSpPr>
        <p:spPr>
          <a:xfrm>
            <a:off x="1005840" y="2999232"/>
            <a:ext cx="7571232"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State is not identity</a:t>
            </a:r>
            <a:endParaRPr lang="en-US" sz="1200" dirty="0"/>
          </a:p>
        </p:txBody>
      </p:sp>
      <p:sp>
        <p:nvSpPr>
          <p:cNvPr id="14" name="Text 12"/>
          <p:cNvSpPr/>
          <p:nvPr/>
        </p:nvSpPr>
        <p:spPr>
          <a:xfrm>
            <a:off x="1005840" y="3255264"/>
            <a:ext cx="7571232"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A current condition, not a permanent address.</a:t>
            </a:r>
            <a:endParaRPr lang="en-US" sz="1020" dirty="0"/>
          </a:p>
        </p:txBody>
      </p:sp>
      <p:sp>
        <p:nvSpPr>
          <p:cNvPr id="15" name="Shape 13"/>
          <p:cNvSpPr/>
          <p:nvPr/>
        </p:nvSpPr>
        <p:spPr>
          <a:xfrm>
            <a:off x="566928" y="3511296"/>
            <a:ext cx="274320" cy="274320"/>
          </a:xfrm>
          <a:prstGeom prst="rect">
            <a:avLst/>
          </a:prstGeom>
          <a:solidFill>
            <a:srgbClr val="0F2347"/>
          </a:solidFill>
          <a:ln/>
        </p:spPr>
      </p:sp>
      <p:sp>
        <p:nvSpPr>
          <p:cNvPr id="16" name="Text 14"/>
          <p:cNvSpPr/>
          <p:nvPr/>
        </p:nvSpPr>
        <p:spPr>
          <a:xfrm>
            <a:off x="566928" y="35112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7" name="Text 15"/>
          <p:cNvSpPr/>
          <p:nvPr/>
        </p:nvSpPr>
        <p:spPr>
          <a:xfrm>
            <a:off x="1005840" y="3483864"/>
            <a:ext cx="7571232"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A low Optionality score is not a verdict</a:t>
            </a:r>
            <a:endParaRPr lang="en-US" sz="1200" dirty="0"/>
          </a:p>
        </p:txBody>
      </p:sp>
      <p:sp>
        <p:nvSpPr>
          <p:cNvPr id="18" name="Text 16"/>
          <p:cNvSpPr/>
          <p:nvPr/>
        </p:nvSpPr>
        <p:spPr>
          <a:xfrm>
            <a:off x="1005840" y="3739896"/>
            <a:ext cx="7571232"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Context-bound capability, weak translation, or limited exposure.</a:t>
            </a:r>
            <a:endParaRPr lang="en-US" sz="1020" dirty="0"/>
          </a:p>
        </p:txBody>
      </p:sp>
      <p:sp>
        <p:nvSpPr>
          <p:cNvPr id="19" name="Shape 17"/>
          <p:cNvSpPr/>
          <p:nvPr/>
        </p:nvSpPr>
        <p:spPr>
          <a:xfrm>
            <a:off x="566928" y="3995928"/>
            <a:ext cx="274320" cy="274320"/>
          </a:xfrm>
          <a:prstGeom prst="rect">
            <a:avLst/>
          </a:prstGeom>
          <a:solidFill>
            <a:srgbClr val="0F2347"/>
          </a:solidFill>
          <a:ln/>
        </p:spPr>
      </p:sp>
      <p:sp>
        <p:nvSpPr>
          <p:cNvPr id="20" name="Text 18"/>
          <p:cNvSpPr/>
          <p:nvPr/>
        </p:nvSpPr>
        <p:spPr>
          <a:xfrm>
            <a:off x="566928" y="3995928"/>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4</a:t>
            </a:r>
            <a:endParaRPr lang="en-US" sz="950" dirty="0"/>
          </a:p>
        </p:txBody>
      </p:sp>
      <p:sp>
        <p:nvSpPr>
          <p:cNvPr id="21" name="Text 19"/>
          <p:cNvSpPr/>
          <p:nvPr/>
        </p:nvSpPr>
        <p:spPr>
          <a:xfrm>
            <a:off x="1005840" y="3968496"/>
            <a:ext cx="7571232"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Your first score is not wrong</a:t>
            </a:r>
            <a:endParaRPr lang="en-US" sz="1200" dirty="0"/>
          </a:p>
        </p:txBody>
      </p:sp>
      <p:sp>
        <p:nvSpPr>
          <p:cNvPr id="22" name="Text 20"/>
          <p:cNvSpPr/>
          <p:nvPr/>
        </p:nvSpPr>
        <p:spPr>
          <a:xfrm>
            <a:off x="1005840" y="4224528"/>
            <a:ext cx="7571232"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Uncalibrated is not wrong.</a:t>
            </a:r>
            <a:endParaRPr lang="en-US" sz="1020" dirty="0"/>
          </a:p>
        </p:txBody>
      </p:sp>
      <p:sp>
        <p:nvSpPr>
          <p:cNvPr id="24" name="Text 21"/>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5" name="Text 22"/>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FIRST PLACEMENT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550"/>
              </a:lnSpc>
              <a:buNone/>
            </a:pPr>
            <a:r>
              <a:rPr lang="en-US" sz="2500" b="1" dirty="0">
                <a:solidFill>
                  <a:srgbClr val="0F2347"/>
                </a:solidFill>
                <a:latin typeface="Cormorant Garamond" pitchFamily="34" charset="0"/>
                <a:ea typeface="Cormorant Garamond" pitchFamily="34" charset="-122"/>
                <a:cs typeface="Cormorant Garamond" pitchFamily="34" charset="-120"/>
              </a:rPr>
              <a:t>Place yourself. Privately, and provisionally.</a:t>
            </a:r>
            <a:endParaRPr lang="en-US" sz="25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Cross your two numbers. Note how confident you feel about the placement.</a:t>
            </a:r>
            <a:endParaRPr lang="en-US" sz="1150" dirty="0"/>
          </a:p>
        </p:txBody>
      </p:sp>
      <p:sp>
        <p:nvSpPr>
          <p:cNvPr id="5" name="Shape 3"/>
          <p:cNvSpPr/>
          <p:nvPr/>
        </p:nvSpPr>
        <p:spPr>
          <a:xfrm>
            <a:off x="566928" y="1956816"/>
            <a:ext cx="274320" cy="274320"/>
          </a:xfrm>
          <a:prstGeom prst="rect">
            <a:avLst/>
          </a:prstGeom>
          <a:solidFill>
            <a:srgbClr val="0F2347"/>
          </a:solidFill>
          <a:ln/>
        </p:spPr>
      </p:sp>
      <p:sp>
        <p:nvSpPr>
          <p:cNvPr id="6" name="Text 4"/>
          <p:cNvSpPr/>
          <p:nvPr/>
        </p:nvSpPr>
        <p:spPr>
          <a:xfrm>
            <a:off x="566928" y="195681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929384"/>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Cross Density and Optionality</a:t>
            </a:r>
            <a:endParaRPr lang="en-US" sz="1300" dirty="0"/>
          </a:p>
        </p:txBody>
      </p:sp>
      <p:sp>
        <p:nvSpPr>
          <p:cNvPr id="8" name="Text 6"/>
          <p:cNvSpPr/>
          <p:nvPr/>
        </p:nvSpPr>
        <p:spPr>
          <a:xfrm>
            <a:off x="1005840" y="2185416"/>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Two totals, one square. Write the square down where only you can see it.</a:t>
            </a:r>
            <a:endParaRPr lang="en-US" sz="1100" dirty="0"/>
          </a:p>
        </p:txBody>
      </p:sp>
      <p:sp>
        <p:nvSpPr>
          <p:cNvPr id="9" name="Shape 7"/>
          <p:cNvSpPr/>
          <p:nvPr/>
        </p:nvSpPr>
        <p:spPr>
          <a:xfrm>
            <a:off x="566928" y="2560320"/>
            <a:ext cx="274320" cy="274320"/>
          </a:xfrm>
          <a:prstGeom prst="rect">
            <a:avLst/>
          </a:prstGeom>
          <a:solidFill>
            <a:srgbClr val="0F2347"/>
          </a:solidFill>
          <a:ln/>
        </p:spPr>
      </p:sp>
      <p:sp>
        <p:nvSpPr>
          <p:cNvPr id="10" name="Text 8"/>
          <p:cNvSpPr/>
          <p:nvPr/>
        </p:nvSpPr>
        <p:spPr>
          <a:xfrm>
            <a:off x="566928" y="2560320"/>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1005840" y="2532888"/>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Note your confidence privately</a:t>
            </a:r>
            <a:endParaRPr lang="en-US" sz="1300" dirty="0"/>
          </a:p>
        </p:txBody>
      </p:sp>
      <p:sp>
        <p:nvSpPr>
          <p:cNvPr id="12" name="Text 10"/>
          <p:cNvSpPr/>
          <p:nvPr/>
        </p:nvSpPr>
        <p:spPr>
          <a:xfrm>
            <a:off x="1005840" y="2788920"/>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High, medium or low. You will compare it to your confidence after the evidence pass.</a:t>
            </a:r>
            <a:endParaRPr lang="en-US" sz="1100" dirty="0"/>
          </a:p>
        </p:txBody>
      </p:sp>
      <p:sp>
        <p:nvSpPr>
          <p:cNvPr id="13" name="Shape 11"/>
          <p:cNvSpPr/>
          <p:nvPr/>
        </p:nvSpPr>
        <p:spPr>
          <a:xfrm>
            <a:off x="566928" y="3163824"/>
            <a:ext cx="274320" cy="274320"/>
          </a:xfrm>
          <a:prstGeom prst="rect">
            <a:avLst/>
          </a:prstGeom>
          <a:solidFill>
            <a:srgbClr val="0F2347"/>
          </a:solidFill>
          <a:ln/>
        </p:spPr>
      </p:sp>
      <p:sp>
        <p:nvSpPr>
          <p:cNvPr id="14" name="Text 12"/>
          <p:cNvSpPr/>
          <p:nvPr/>
        </p:nvSpPr>
        <p:spPr>
          <a:xfrm>
            <a:off x="566928" y="3163824"/>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1005840" y="3136392"/>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Hold it lightly</a:t>
            </a:r>
            <a:endParaRPr lang="en-US" sz="1300" dirty="0"/>
          </a:p>
        </p:txBody>
      </p:sp>
      <p:sp>
        <p:nvSpPr>
          <p:cNvPr id="16" name="Text 14"/>
          <p:cNvSpPr/>
          <p:nvPr/>
        </p:nvSpPr>
        <p:spPr>
          <a:xfrm>
            <a:off x="1005840" y="3392424"/>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This is a first read, not a finding. You will place yourself again.</a:t>
            </a:r>
            <a:endParaRPr lang="en-US" sz="1100" dirty="0"/>
          </a:p>
        </p:txBody>
      </p:sp>
      <p:sp>
        <p:nvSpPr>
          <p:cNvPr id="17" name="Shape 15"/>
          <p:cNvSpPr/>
          <p:nvPr/>
        </p:nvSpPr>
        <p:spPr>
          <a:xfrm>
            <a:off x="566928" y="3877056"/>
            <a:ext cx="8010144" cy="548640"/>
          </a:xfrm>
          <a:prstGeom prst="rect">
            <a:avLst/>
          </a:prstGeom>
          <a:solidFill>
            <a:srgbClr val="E9EDF3"/>
          </a:solidFill>
          <a:ln/>
        </p:spPr>
      </p:sp>
      <p:sp>
        <p:nvSpPr>
          <p:cNvPr id="18" name="Text 16"/>
          <p:cNvSpPr/>
          <p:nvPr/>
        </p:nvSpPr>
        <p:spPr>
          <a:xfrm>
            <a:off x="804672" y="3877056"/>
            <a:ext cx="7534656" cy="54864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No one is asked to share a square. Nothing is collected.</a:t>
            </a:r>
            <a:endParaRPr lang="en-US" sz="115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STANDARD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The evidence protocol</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This is what your second reading has to survive.</a:t>
            </a:r>
            <a:endParaRPr lang="en-US" sz="1150" dirty="0"/>
          </a:p>
        </p:txBody>
      </p:sp>
      <p:sp>
        <p:nvSpPr>
          <p:cNvPr id="5" name="Shape 3"/>
          <p:cNvSpPr/>
          <p:nvPr/>
        </p:nvSpPr>
        <p:spPr>
          <a:xfrm>
            <a:off x="566928" y="1847088"/>
            <a:ext cx="8010144" cy="493776"/>
          </a:xfrm>
          <a:prstGeom prst="rect">
            <a:avLst/>
          </a:prstGeom>
          <a:solidFill>
            <a:srgbClr val="0F2347"/>
          </a:solidFill>
          <a:ln/>
        </p:spPr>
      </p:sp>
      <p:sp>
        <p:nvSpPr>
          <p:cNvPr id="6" name="Text 4"/>
          <p:cNvSpPr/>
          <p:nvPr/>
        </p:nvSpPr>
        <p:spPr>
          <a:xfrm>
            <a:off x="804672" y="1847088"/>
            <a:ext cx="7534656" cy="493776"/>
          </a:xfrm>
          <a:prstGeom prst="rect">
            <a:avLst/>
          </a:prstGeom>
          <a:noFill/>
          <a:ln/>
        </p:spPr>
        <p:txBody>
          <a:bodyPr wrap="square" lIns="0" tIns="0" rIns="0" bIns="0" rtlCol="0" anchor="ctr"/>
          <a:lstStyle/>
          <a:p>
            <a:pPr indent="0" marL="0">
              <a:buNone/>
            </a:pPr>
            <a:r>
              <a:rPr lang="en-US" sz="1200" b="1" dirty="0">
                <a:solidFill>
                  <a:srgbClr val="F5F0E8"/>
                </a:solidFill>
                <a:latin typeface="DM Sans" pitchFamily="34" charset="0"/>
                <a:ea typeface="DM Sans" pitchFamily="34" charset="-122"/>
                <a:cs typeface="DM Sans" pitchFamily="34" charset="-120"/>
              </a:rPr>
              <a:t>Every corrected score requires an evidence line from the last ninety days. Every score, in both directions.</a:t>
            </a:r>
            <a:endParaRPr lang="en-US" sz="1200" dirty="0"/>
          </a:p>
        </p:txBody>
      </p:sp>
      <p:sp>
        <p:nvSpPr>
          <p:cNvPr id="7" name="Text 5"/>
          <p:cNvSpPr/>
          <p:nvPr/>
        </p:nvSpPr>
        <p:spPr>
          <a:xfrm>
            <a:off x="566928" y="2523744"/>
            <a:ext cx="1051560" cy="274320"/>
          </a:xfrm>
          <a:prstGeom prst="rect">
            <a:avLst/>
          </a:prstGeom>
          <a:noFill/>
          <a:ln/>
        </p:spPr>
        <p:txBody>
          <a:bodyPr wrap="square" lIns="0" tIns="0" rIns="0" bIns="0" rtlCol="0" anchor="ctr"/>
          <a:lstStyle/>
          <a:p>
            <a:pPr indent="0" marL="0">
              <a:buNone/>
            </a:pPr>
            <a:r>
              <a:rPr lang="en-US" sz="1050" b="1" dirty="0">
                <a:solidFill>
                  <a:srgbClr val="C9A84C"/>
                </a:solidFill>
                <a:latin typeface="Montserrat" pitchFamily="34" charset="0"/>
                <a:ea typeface="Montserrat" pitchFamily="34" charset="-122"/>
                <a:cs typeface="Montserrat" pitchFamily="34" charset="-120"/>
              </a:rPr>
              <a:t>A 4 or 5</a:t>
            </a:r>
            <a:endParaRPr lang="en-US" sz="1050" dirty="0"/>
          </a:p>
        </p:txBody>
      </p:sp>
      <p:sp>
        <p:nvSpPr>
          <p:cNvPr id="8" name="Text 6"/>
          <p:cNvSpPr/>
          <p:nvPr/>
        </p:nvSpPr>
        <p:spPr>
          <a:xfrm>
            <a:off x="1709928" y="2523744"/>
            <a:ext cx="6867144" cy="384048"/>
          </a:xfrm>
          <a:prstGeom prst="rect">
            <a:avLst/>
          </a:prstGeom>
          <a:noFill/>
          <a:ln/>
        </p:spPr>
        <p:txBody>
          <a:bodyPr wrap="square" lIns="0" tIns="0" rIns="0" bIns="0" rtlCol="0" anchor="ctr"/>
          <a:lstStyle/>
          <a:p>
            <a:pPr indent="0" marL="0">
              <a:lnSpc>
                <a:spcPts val="1500"/>
              </a:lnSpc>
              <a:buNone/>
            </a:pPr>
            <a:r>
              <a:rPr lang="en-US" sz="1150" dirty="0">
                <a:solidFill>
                  <a:srgbClr val="0F2347"/>
                </a:solidFill>
                <a:latin typeface="DM Sans" pitchFamily="34" charset="0"/>
                <a:ea typeface="DM Sans" pitchFamily="34" charset="-122"/>
                <a:cs typeface="DM Sans" pitchFamily="34" charset="-120"/>
              </a:rPr>
              <a:t>At least one clear positive instance from within the window.</a:t>
            </a:r>
            <a:endParaRPr lang="en-US" sz="1150" dirty="0"/>
          </a:p>
        </p:txBody>
      </p:sp>
      <p:sp>
        <p:nvSpPr>
          <p:cNvPr id="9" name="Text 7"/>
          <p:cNvSpPr/>
          <p:nvPr/>
        </p:nvSpPr>
        <p:spPr>
          <a:xfrm>
            <a:off x="566928" y="3026664"/>
            <a:ext cx="1051560" cy="274320"/>
          </a:xfrm>
          <a:prstGeom prst="rect">
            <a:avLst/>
          </a:prstGeom>
          <a:noFill/>
          <a:ln/>
        </p:spPr>
        <p:txBody>
          <a:bodyPr wrap="square" lIns="0" tIns="0" rIns="0" bIns="0" rtlCol="0" anchor="ctr"/>
          <a:lstStyle/>
          <a:p>
            <a:pPr indent="0" marL="0">
              <a:buNone/>
            </a:pPr>
            <a:r>
              <a:rPr lang="en-US" sz="1050" b="1" dirty="0">
                <a:solidFill>
                  <a:srgbClr val="C9A84C"/>
                </a:solidFill>
                <a:latin typeface="Montserrat" pitchFamily="34" charset="0"/>
                <a:ea typeface="Montserrat" pitchFamily="34" charset="-122"/>
                <a:cs typeface="Montserrat" pitchFamily="34" charset="-120"/>
              </a:rPr>
              <a:t>A 3</a:t>
            </a:r>
            <a:endParaRPr lang="en-US" sz="1050" dirty="0"/>
          </a:p>
        </p:txBody>
      </p:sp>
      <p:sp>
        <p:nvSpPr>
          <p:cNvPr id="10" name="Text 8"/>
          <p:cNvSpPr/>
          <p:nvPr/>
        </p:nvSpPr>
        <p:spPr>
          <a:xfrm>
            <a:off x="1709928" y="3026664"/>
            <a:ext cx="6867144" cy="384048"/>
          </a:xfrm>
          <a:prstGeom prst="rect">
            <a:avLst/>
          </a:prstGeom>
          <a:noFill/>
          <a:ln/>
        </p:spPr>
        <p:txBody>
          <a:bodyPr wrap="square" lIns="0" tIns="0" rIns="0" bIns="0" rtlCol="0" anchor="ctr"/>
          <a:lstStyle/>
          <a:p>
            <a:pPr indent="0" marL="0">
              <a:lnSpc>
                <a:spcPts val="1500"/>
              </a:lnSpc>
              <a:buNone/>
            </a:pPr>
            <a:r>
              <a:rPr lang="en-US" sz="1150" dirty="0">
                <a:solidFill>
                  <a:srgbClr val="0F2347"/>
                </a:solidFill>
                <a:latin typeface="DM Sans" pitchFamily="34" charset="0"/>
                <a:ea typeface="DM Sans" pitchFamily="34" charset="-122"/>
                <a:cs typeface="DM Sans" pitchFamily="34" charset="-120"/>
              </a:rPr>
              <a:t>The mixed or inconsistent pattern. A 3 is a reading, not an absence of one.</a:t>
            </a:r>
            <a:endParaRPr lang="en-US" sz="1150" dirty="0"/>
          </a:p>
        </p:txBody>
      </p:sp>
      <p:sp>
        <p:nvSpPr>
          <p:cNvPr id="11" name="Text 9"/>
          <p:cNvSpPr/>
          <p:nvPr/>
        </p:nvSpPr>
        <p:spPr>
          <a:xfrm>
            <a:off x="566928" y="3529584"/>
            <a:ext cx="1051560" cy="274320"/>
          </a:xfrm>
          <a:prstGeom prst="rect">
            <a:avLst/>
          </a:prstGeom>
          <a:noFill/>
          <a:ln/>
        </p:spPr>
        <p:txBody>
          <a:bodyPr wrap="square" lIns="0" tIns="0" rIns="0" bIns="0" rtlCol="0" anchor="ctr"/>
          <a:lstStyle/>
          <a:p>
            <a:pPr indent="0" marL="0">
              <a:buNone/>
            </a:pPr>
            <a:r>
              <a:rPr lang="en-US" sz="1050" b="1" dirty="0">
                <a:solidFill>
                  <a:srgbClr val="C9A84C"/>
                </a:solidFill>
                <a:latin typeface="Montserrat" pitchFamily="34" charset="0"/>
                <a:ea typeface="Montserrat" pitchFamily="34" charset="-122"/>
                <a:cs typeface="Montserrat" pitchFamily="34" charset="-120"/>
              </a:rPr>
              <a:t>A 1 or 2</a:t>
            </a:r>
            <a:endParaRPr lang="en-US" sz="1050" dirty="0"/>
          </a:p>
        </p:txBody>
      </p:sp>
      <p:sp>
        <p:nvSpPr>
          <p:cNvPr id="12" name="Text 10"/>
          <p:cNvSpPr/>
          <p:nvPr/>
        </p:nvSpPr>
        <p:spPr>
          <a:xfrm>
            <a:off x="1709928" y="3529584"/>
            <a:ext cx="6867144" cy="384048"/>
          </a:xfrm>
          <a:prstGeom prst="rect">
            <a:avLst/>
          </a:prstGeom>
          <a:noFill/>
          <a:ln/>
        </p:spPr>
        <p:txBody>
          <a:bodyPr wrap="square" lIns="0" tIns="0" rIns="0" bIns="0" rtlCol="0" anchor="ctr"/>
          <a:lstStyle/>
          <a:p>
            <a:pPr indent="0" marL="0">
              <a:lnSpc>
                <a:spcPts val="1500"/>
              </a:lnSpc>
              <a:buNone/>
            </a:pPr>
            <a:r>
              <a:rPr lang="en-US" sz="1150" dirty="0">
                <a:solidFill>
                  <a:srgbClr val="0F2347"/>
                </a:solidFill>
                <a:latin typeface="DM Sans" pitchFamily="34" charset="0"/>
                <a:ea typeface="DM Sans" pitchFamily="34" charset="-122"/>
                <a:cs typeface="DM Sans" pitchFamily="34" charset="-120"/>
              </a:rPr>
              <a:t>What repeatedly happened instead, a counterexample, or no qualifying instance in the window.</a:t>
            </a:r>
            <a:endParaRPr lang="en-US" sz="1150" dirty="0"/>
          </a:p>
        </p:txBody>
      </p:sp>
      <p:sp>
        <p:nvSpPr>
          <p:cNvPr id="13" name="Shape 11"/>
          <p:cNvSpPr/>
          <p:nvPr/>
        </p:nvSpPr>
        <p:spPr>
          <a:xfrm>
            <a:off x="566928" y="4059936"/>
            <a:ext cx="8010144" cy="566928"/>
          </a:xfrm>
          <a:prstGeom prst="rect">
            <a:avLst/>
          </a:prstGeom>
          <a:solidFill>
            <a:srgbClr val="E9EDF3"/>
          </a:solidFill>
          <a:ln/>
        </p:spPr>
      </p:sp>
      <p:sp>
        <p:nvSpPr>
          <p:cNvPr id="14" name="Text 12"/>
          <p:cNvSpPr/>
          <p:nvPr/>
        </p:nvSpPr>
        <p:spPr>
          <a:xfrm>
            <a:off x="804672" y="4059936"/>
            <a:ext cx="7534656" cy="566928"/>
          </a:xfrm>
          <a:prstGeom prst="rect">
            <a:avLst/>
          </a:prstGeom>
          <a:noFill/>
          <a:ln/>
        </p:spPr>
        <p:txBody>
          <a:bodyPr wrap="square" lIns="0" tIns="0" rIns="0" bIns="0" rtlCol="0" anchor="ctr"/>
          <a:lstStyle/>
          <a:p>
            <a:pPr indent="0" marL="0">
              <a:lnSpc>
                <a:spcPts val="1400"/>
              </a:lnSpc>
              <a:buNone/>
            </a:pPr>
            <a:r>
              <a:rPr lang="en-US" sz="1080" dirty="0">
                <a:solidFill>
                  <a:srgbClr val="0F2347"/>
                </a:solidFill>
                <a:latin typeface="DM Sans" pitchFamily="34" charset="0"/>
                <a:ea typeface="DM Sans" pitchFamily="34" charset="-122"/>
                <a:cs typeface="DM Sans" pitchFamily="34" charset="-120"/>
              </a:rPr>
              <a:t>Cannot support it either way? Write your most defensible number and add one question mark: 3?, 4?, 2?  A 3 means mixed. A question mark means unsupported.</a:t>
            </a:r>
            <a:endParaRPr lang="en-US" sz="1080" dirty="0"/>
          </a:p>
        </p:txBody>
      </p:sp>
      <p:sp>
        <p:nvSpPr>
          <p:cNvPr id="16" name="Text 1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7" name="Text 1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CALIBRATION</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550"/>
              </a:lnSpc>
              <a:buNone/>
            </a:pPr>
            <a:r>
              <a:rPr lang="en-US" sz="2500" b="1" dirty="0">
                <a:solidFill>
                  <a:srgbClr val="0F2347"/>
                </a:solidFill>
                <a:latin typeface="Cormorant Garamond" pitchFamily="34" charset="0"/>
                <a:ea typeface="Cormorant Garamond" pitchFamily="34" charset="-122"/>
                <a:cs typeface="Cormorant Garamond" pitchFamily="34" charset="-120"/>
              </a:rPr>
              <a:t>Scoring the intended life</a:t>
            </a:r>
            <a:endParaRPr lang="en-US" sz="25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Misreading 1.</a:t>
            </a:r>
            <a:endParaRPr lang="en-US" sz="1150" dirty="0"/>
          </a:p>
        </p:txBody>
      </p:sp>
      <p:sp>
        <p:nvSpPr>
          <p:cNvPr id="5" name="Shape 3"/>
          <p:cNvSpPr/>
          <p:nvPr/>
        </p:nvSpPr>
        <p:spPr>
          <a:xfrm>
            <a:off x="566928" y="1810512"/>
            <a:ext cx="3886200" cy="1481328"/>
          </a:xfrm>
          <a:prstGeom prst="rect">
            <a:avLst/>
          </a:prstGeom>
          <a:solidFill>
            <a:srgbClr val="E9EDF3"/>
          </a:solidFill>
          <a:ln/>
        </p:spPr>
      </p:sp>
      <p:sp>
        <p:nvSpPr>
          <p:cNvPr id="6" name="Text 4"/>
          <p:cNvSpPr/>
          <p:nvPr/>
        </p:nvSpPr>
        <p:spPr>
          <a:xfrm>
            <a:off x="786384" y="1956816"/>
            <a:ext cx="3474720" cy="182880"/>
          </a:xfrm>
          <a:prstGeom prst="rect">
            <a:avLst/>
          </a:prstGeom>
          <a:noFill/>
          <a:ln/>
        </p:spPr>
        <p:txBody>
          <a:bodyPr wrap="square" lIns="0" tIns="0" rIns="0" bIns="0" rtlCol="0" anchor="ctr"/>
          <a:lstStyle/>
          <a:p>
            <a:pPr indent="0" marL="0">
              <a:buNone/>
            </a:pPr>
            <a:r>
              <a:rPr lang="en-US" sz="820" b="1" spc="110" kern="0" dirty="0">
                <a:solidFill>
                  <a:srgbClr val="5A6B84"/>
                </a:solidFill>
                <a:latin typeface="Montserrat" pitchFamily="34" charset="0"/>
                <a:ea typeface="Montserrat" pitchFamily="34" charset="-122"/>
                <a:cs typeface="Montserrat" pitchFamily="34" charset="-120"/>
              </a:rPr>
              <a:t>HOW IT GETS SCORED</a:t>
            </a:r>
            <a:endParaRPr lang="en-US" sz="820" dirty="0"/>
          </a:p>
        </p:txBody>
      </p:sp>
      <p:sp>
        <p:nvSpPr>
          <p:cNvPr id="7" name="Text 5"/>
          <p:cNvSpPr/>
          <p:nvPr/>
        </p:nvSpPr>
        <p:spPr>
          <a:xfrm>
            <a:off x="786384" y="2231136"/>
            <a:ext cx="3474720" cy="914400"/>
          </a:xfrm>
          <a:prstGeom prst="rect">
            <a:avLst/>
          </a:prstGeom>
          <a:noFill/>
          <a:ln/>
        </p:spPr>
        <p:txBody>
          <a:bodyPr wrap="square" lIns="0" tIns="0" rIns="0" bIns="0" rtlCol="0" anchor="ctr"/>
          <a:lstStyle/>
          <a:p>
            <a:pPr indent="0" marL="0">
              <a:lnSpc>
                <a:spcPts val="1500"/>
              </a:lnSpc>
              <a:buNone/>
            </a:pPr>
            <a:r>
              <a:rPr lang="en-US" sz="1150" i="1" dirty="0">
                <a:solidFill>
                  <a:srgbClr val="0F2347"/>
                </a:solidFill>
                <a:latin typeface="DM Sans" pitchFamily="34" charset="0"/>
                <a:ea typeface="DM Sans" pitchFamily="34" charset="-122"/>
                <a:cs typeface="DM Sans" pitchFamily="34" charset="-120"/>
              </a:rPr>
              <a:t>“My rotation into the new function was approved last month. Statement 1 gets a 4.”</a:t>
            </a:r>
            <a:endParaRPr lang="en-US" sz="1150" dirty="0"/>
          </a:p>
        </p:txBody>
      </p:sp>
      <p:sp>
        <p:nvSpPr>
          <p:cNvPr id="8" name="Shape 6"/>
          <p:cNvSpPr/>
          <p:nvPr/>
        </p:nvSpPr>
        <p:spPr>
          <a:xfrm>
            <a:off x="4690872" y="1810512"/>
            <a:ext cx="3886200" cy="1481328"/>
          </a:xfrm>
          <a:prstGeom prst="rect">
            <a:avLst/>
          </a:prstGeom>
          <a:solidFill>
            <a:srgbClr val="0F2347"/>
          </a:solidFill>
          <a:ln/>
        </p:spPr>
      </p:sp>
      <p:sp>
        <p:nvSpPr>
          <p:cNvPr id="9" name="Text 7"/>
          <p:cNvSpPr/>
          <p:nvPr/>
        </p:nvSpPr>
        <p:spPr>
          <a:xfrm>
            <a:off x="4910328" y="1956816"/>
            <a:ext cx="3474720" cy="182880"/>
          </a:xfrm>
          <a:prstGeom prst="rect">
            <a:avLst/>
          </a:prstGeom>
          <a:noFill/>
          <a:ln/>
        </p:spPr>
        <p:txBody>
          <a:bodyPr wrap="square" lIns="0" tIns="0" rIns="0" bIns="0" rtlCol="0" anchor="ctr"/>
          <a:lstStyle/>
          <a:p>
            <a:pPr indent="0" marL="0">
              <a:buNone/>
            </a:pPr>
            <a:r>
              <a:rPr lang="en-US" sz="820" b="1" spc="110" kern="0" dirty="0">
                <a:solidFill>
                  <a:srgbClr val="C9A84C"/>
                </a:solidFill>
                <a:latin typeface="Montserrat" pitchFamily="34" charset="0"/>
                <a:ea typeface="Montserrat" pitchFamily="34" charset="-122"/>
                <a:cs typeface="Montserrat" pitchFamily="34" charset="-120"/>
              </a:rPr>
              <a:t>HOW IT SHOULD BE SCORED</a:t>
            </a:r>
            <a:endParaRPr lang="en-US" sz="820" dirty="0"/>
          </a:p>
        </p:txBody>
      </p:sp>
      <p:sp>
        <p:nvSpPr>
          <p:cNvPr id="10" name="Text 8"/>
          <p:cNvSpPr/>
          <p:nvPr/>
        </p:nvSpPr>
        <p:spPr>
          <a:xfrm>
            <a:off x="4910328" y="2231136"/>
            <a:ext cx="3474720" cy="914400"/>
          </a:xfrm>
          <a:prstGeom prst="rect">
            <a:avLst/>
          </a:prstGeom>
          <a:noFill/>
          <a:ln/>
        </p:spPr>
        <p:txBody>
          <a:bodyPr wrap="square" lIns="0" tIns="0" rIns="0" bIns="0" rtlCol="0" anchor="ctr"/>
          <a:lstStyle/>
          <a:p>
            <a:pPr indent="0" marL="0">
              <a:lnSpc>
                <a:spcPts val="1500"/>
              </a:lnSpc>
              <a:buNone/>
            </a:pPr>
            <a:r>
              <a:rPr lang="en-US" sz="1150" dirty="0">
                <a:solidFill>
                  <a:srgbClr val="F5F0E8"/>
                </a:solidFill>
                <a:latin typeface="DM Sans" pitchFamily="34" charset="0"/>
                <a:ea typeface="DM Sans" pitchFamily="34" charset="-122"/>
                <a:cs typeface="DM Sans" pitchFamily="34" charset="-120"/>
              </a:rPr>
              <a:t>The rotation starts in March. In the last ninety days, what problem did you actually solve that you did not already know how to solve?</a:t>
            </a:r>
            <a:endParaRPr lang="en-US" sz="1150" dirty="0"/>
          </a:p>
        </p:txBody>
      </p:sp>
      <p:sp>
        <p:nvSpPr>
          <p:cNvPr id="11" name="Text 9"/>
          <p:cNvSpPr/>
          <p:nvPr/>
        </p:nvSpPr>
        <p:spPr>
          <a:xfrm>
            <a:off x="566928" y="3529584"/>
            <a:ext cx="8010144" cy="640080"/>
          </a:xfrm>
          <a:prstGeom prst="rect">
            <a:avLst/>
          </a:prstGeom>
          <a:noFill/>
          <a:ln/>
        </p:spPr>
        <p:txBody>
          <a:bodyPr wrap="square" lIns="0" tIns="0" rIns="0" bIns="0" rtlCol="0" anchor="ctr"/>
          <a:lstStyle/>
          <a:p>
            <a:pPr indent="0" marL="0">
              <a:lnSpc>
                <a:spcPts val="2100"/>
              </a:lnSpc>
              <a:buNone/>
            </a:pPr>
            <a:r>
              <a:rPr lang="en-US" sz="1600" b="1" dirty="0">
                <a:solidFill>
                  <a:srgbClr val="0F2347"/>
                </a:solidFill>
                <a:latin typeface="Cormorant Garamond" pitchFamily="34" charset="0"/>
                <a:ea typeface="Cormorant Garamond" pitchFamily="34" charset="-122"/>
                <a:cs typeface="Cormorant Garamond" pitchFamily="34" charset="-120"/>
              </a:rPr>
              <a:t>The window is the last ninety days of work that happened — not the work that was approved, promised or planned.</a:t>
            </a:r>
            <a:endParaRPr lang="en-US" sz="1600" dirty="0"/>
          </a:p>
        </p:txBody>
      </p:sp>
      <p:sp>
        <p:nvSpPr>
          <p:cNvPr id="13" name="Text 1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18</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CALIBRATION</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550"/>
              </a:lnSpc>
              <a:buNone/>
            </a:pPr>
            <a:r>
              <a:rPr lang="en-US" sz="2500" b="1" dirty="0">
                <a:solidFill>
                  <a:srgbClr val="0F2347"/>
                </a:solidFill>
                <a:latin typeface="Cormorant Garamond" pitchFamily="34" charset="0"/>
                <a:ea typeface="Cormorant Garamond" pitchFamily="34" charset="-122"/>
                <a:cs typeface="Cormorant Garamond" pitchFamily="34" charset="-120"/>
              </a:rPr>
              <a:t>Confusing being valued with being formed</a:t>
            </a:r>
            <a:endParaRPr lang="en-US" sz="25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Misreading 2.</a:t>
            </a:r>
            <a:endParaRPr lang="en-US" sz="1150" dirty="0"/>
          </a:p>
        </p:txBody>
      </p:sp>
      <p:sp>
        <p:nvSpPr>
          <p:cNvPr id="5" name="Shape 3"/>
          <p:cNvSpPr/>
          <p:nvPr/>
        </p:nvSpPr>
        <p:spPr>
          <a:xfrm>
            <a:off x="566928" y="1810512"/>
            <a:ext cx="3886200" cy="1481328"/>
          </a:xfrm>
          <a:prstGeom prst="rect">
            <a:avLst/>
          </a:prstGeom>
          <a:solidFill>
            <a:srgbClr val="E9EDF3"/>
          </a:solidFill>
          <a:ln/>
        </p:spPr>
      </p:sp>
      <p:sp>
        <p:nvSpPr>
          <p:cNvPr id="6" name="Text 4"/>
          <p:cNvSpPr/>
          <p:nvPr/>
        </p:nvSpPr>
        <p:spPr>
          <a:xfrm>
            <a:off x="786384" y="1956816"/>
            <a:ext cx="3474720" cy="182880"/>
          </a:xfrm>
          <a:prstGeom prst="rect">
            <a:avLst/>
          </a:prstGeom>
          <a:noFill/>
          <a:ln/>
        </p:spPr>
        <p:txBody>
          <a:bodyPr wrap="square" lIns="0" tIns="0" rIns="0" bIns="0" rtlCol="0" anchor="ctr"/>
          <a:lstStyle/>
          <a:p>
            <a:pPr indent="0" marL="0">
              <a:buNone/>
            </a:pPr>
            <a:r>
              <a:rPr lang="en-US" sz="820" b="1" spc="110" kern="0" dirty="0">
                <a:solidFill>
                  <a:srgbClr val="5A6B84"/>
                </a:solidFill>
                <a:latin typeface="Montserrat" pitchFamily="34" charset="0"/>
                <a:ea typeface="Montserrat" pitchFamily="34" charset="-122"/>
                <a:cs typeface="Montserrat" pitchFamily="34" charset="-120"/>
              </a:rPr>
              <a:t>HOW IT GETS SCORED</a:t>
            </a:r>
            <a:endParaRPr lang="en-US" sz="820" dirty="0"/>
          </a:p>
        </p:txBody>
      </p:sp>
      <p:sp>
        <p:nvSpPr>
          <p:cNvPr id="7" name="Text 5"/>
          <p:cNvSpPr/>
          <p:nvPr/>
        </p:nvSpPr>
        <p:spPr>
          <a:xfrm>
            <a:off x="786384" y="2231136"/>
            <a:ext cx="3474720" cy="914400"/>
          </a:xfrm>
          <a:prstGeom prst="rect">
            <a:avLst/>
          </a:prstGeom>
          <a:noFill/>
          <a:ln/>
        </p:spPr>
        <p:txBody>
          <a:bodyPr wrap="square" lIns="0" tIns="0" rIns="0" bIns="0" rtlCol="0" anchor="ctr"/>
          <a:lstStyle/>
          <a:p>
            <a:pPr indent="0" marL="0">
              <a:lnSpc>
                <a:spcPts val="1500"/>
              </a:lnSpc>
              <a:buNone/>
            </a:pPr>
            <a:r>
              <a:rPr lang="en-US" sz="1150" i="1" dirty="0">
                <a:solidFill>
                  <a:srgbClr val="0F2347"/>
                </a:solidFill>
                <a:latin typeface="DM Sans" pitchFamily="34" charset="0"/>
                <a:ea typeface="DM Sans" pitchFamily="34" charset="-122"/>
                <a:cs typeface="DM Sans" pitchFamily="34" charset="-120"/>
              </a:rPr>
              <a:t>“Three VPs ask for my read before anything ships. Statement 3 gets a 5.”</a:t>
            </a:r>
            <a:endParaRPr lang="en-US" sz="1150" dirty="0"/>
          </a:p>
        </p:txBody>
      </p:sp>
      <p:sp>
        <p:nvSpPr>
          <p:cNvPr id="8" name="Shape 6"/>
          <p:cNvSpPr/>
          <p:nvPr/>
        </p:nvSpPr>
        <p:spPr>
          <a:xfrm>
            <a:off x="4690872" y="1810512"/>
            <a:ext cx="3886200" cy="1481328"/>
          </a:xfrm>
          <a:prstGeom prst="rect">
            <a:avLst/>
          </a:prstGeom>
          <a:solidFill>
            <a:srgbClr val="0F2347"/>
          </a:solidFill>
          <a:ln/>
        </p:spPr>
      </p:sp>
      <p:sp>
        <p:nvSpPr>
          <p:cNvPr id="9" name="Text 7"/>
          <p:cNvSpPr/>
          <p:nvPr/>
        </p:nvSpPr>
        <p:spPr>
          <a:xfrm>
            <a:off x="4910328" y="1956816"/>
            <a:ext cx="3474720" cy="182880"/>
          </a:xfrm>
          <a:prstGeom prst="rect">
            <a:avLst/>
          </a:prstGeom>
          <a:noFill/>
          <a:ln/>
        </p:spPr>
        <p:txBody>
          <a:bodyPr wrap="square" lIns="0" tIns="0" rIns="0" bIns="0" rtlCol="0" anchor="ctr"/>
          <a:lstStyle/>
          <a:p>
            <a:pPr indent="0" marL="0">
              <a:buNone/>
            </a:pPr>
            <a:r>
              <a:rPr lang="en-US" sz="820" b="1" spc="110" kern="0" dirty="0">
                <a:solidFill>
                  <a:srgbClr val="C9A84C"/>
                </a:solidFill>
                <a:latin typeface="Montserrat" pitchFamily="34" charset="0"/>
                <a:ea typeface="Montserrat" pitchFamily="34" charset="-122"/>
                <a:cs typeface="Montserrat" pitchFamily="34" charset="-120"/>
              </a:rPr>
              <a:t>HOW IT SHOULD BE SCORED</a:t>
            </a:r>
            <a:endParaRPr lang="en-US" sz="820" dirty="0"/>
          </a:p>
        </p:txBody>
      </p:sp>
      <p:sp>
        <p:nvSpPr>
          <p:cNvPr id="10" name="Text 8"/>
          <p:cNvSpPr/>
          <p:nvPr/>
        </p:nvSpPr>
        <p:spPr>
          <a:xfrm>
            <a:off x="4910328" y="2231136"/>
            <a:ext cx="3474720" cy="914400"/>
          </a:xfrm>
          <a:prstGeom prst="rect">
            <a:avLst/>
          </a:prstGeom>
          <a:noFill/>
          <a:ln/>
        </p:spPr>
        <p:txBody>
          <a:bodyPr wrap="square" lIns="0" tIns="0" rIns="0" bIns="0" rtlCol="0" anchor="ctr"/>
          <a:lstStyle/>
          <a:p>
            <a:pPr indent="0" marL="0">
              <a:lnSpc>
                <a:spcPts val="1500"/>
              </a:lnSpc>
              <a:buNone/>
            </a:pPr>
            <a:r>
              <a:rPr lang="en-US" sz="1150" dirty="0">
                <a:solidFill>
                  <a:srgbClr val="F5F0E8"/>
                </a:solidFill>
                <a:latin typeface="DM Sans" pitchFamily="34" charset="0"/>
                <a:ea typeface="DM Sans" pitchFamily="34" charset="-122"/>
                <a:cs typeface="DM Sans" pitchFamily="34" charset="-120"/>
              </a:rPr>
              <a:t>Being asked for your opinion is not the same as having your work reviewed by someone who can tell good from adequate and says so directly.</a:t>
            </a:r>
            <a:endParaRPr lang="en-US" sz="1150" dirty="0"/>
          </a:p>
        </p:txBody>
      </p:sp>
      <p:sp>
        <p:nvSpPr>
          <p:cNvPr id="11" name="Text 9"/>
          <p:cNvSpPr/>
          <p:nvPr/>
        </p:nvSpPr>
        <p:spPr>
          <a:xfrm>
            <a:off x="566928" y="3529584"/>
            <a:ext cx="8010144" cy="640080"/>
          </a:xfrm>
          <a:prstGeom prst="rect">
            <a:avLst/>
          </a:prstGeom>
          <a:noFill/>
          <a:ln/>
        </p:spPr>
        <p:txBody>
          <a:bodyPr wrap="square" lIns="0" tIns="0" rIns="0" bIns="0" rtlCol="0" anchor="ctr"/>
          <a:lstStyle/>
          <a:p>
            <a:pPr indent="0" marL="0">
              <a:lnSpc>
                <a:spcPts val="2100"/>
              </a:lnSpc>
              <a:buNone/>
            </a:pPr>
            <a:r>
              <a:rPr lang="en-US" sz="1600" b="1" dirty="0">
                <a:solidFill>
                  <a:srgbClr val="0F2347"/>
                </a:solidFill>
                <a:latin typeface="Cormorant Garamond" pitchFamily="34" charset="0"/>
                <a:ea typeface="Cormorant Garamond" pitchFamily="34" charset="-122"/>
                <a:cs typeface="Cormorant Garamond" pitchFamily="34" charset="-120"/>
              </a:rPr>
              <a:t>Being relied on is real. It is not the same as being developed.</a:t>
            </a:r>
            <a:endParaRPr lang="en-US" sz="1600" dirty="0"/>
          </a:p>
        </p:txBody>
      </p:sp>
      <p:sp>
        <p:nvSpPr>
          <p:cNvPr id="13" name="Text 1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CALIBRATION</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550"/>
              </a:lnSpc>
              <a:buNone/>
            </a:pPr>
            <a:r>
              <a:rPr lang="en-US" sz="2500" b="1" dirty="0">
                <a:solidFill>
                  <a:srgbClr val="0F2347"/>
                </a:solidFill>
                <a:latin typeface="Cormorant Garamond" pitchFamily="34" charset="0"/>
                <a:ea typeface="Cormorant Garamond" pitchFamily="34" charset="-122"/>
                <a:cs typeface="Cormorant Garamond" pitchFamily="34" charset="-120"/>
              </a:rPr>
              <a:t>Reading low Optionality as a verdict on ability</a:t>
            </a:r>
            <a:endParaRPr lang="en-US" sz="25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Misreading 3.</a:t>
            </a:r>
            <a:endParaRPr lang="en-US" sz="1150" dirty="0"/>
          </a:p>
        </p:txBody>
      </p:sp>
      <p:sp>
        <p:nvSpPr>
          <p:cNvPr id="5" name="Shape 3"/>
          <p:cNvSpPr/>
          <p:nvPr/>
        </p:nvSpPr>
        <p:spPr>
          <a:xfrm>
            <a:off x="566928" y="1810512"/>
            <a:ext cx="3886200" cy="1481328"/>
          </a:xfrm>
          <a:prstGeom prst="rect">
            <a:avLst/>
          </a:prstGeom>
          <a:solidFill>
            <a:srgbClr val="E9EDF3"/>
          </a:solidFill>
          <a:ln/>
        </p:spPr>
      </p:sp>
      <p:sp>
        <p:nvSpPr>
          <p:cNvPr id="6" name="Text 4"/>
          <p:cNvSpPr/>
          <p:nvPr/>
        </p:nvSpPr>
        <p:spPr>
          <a:xfrm>
            <a:off x="786384" y="1956816"/>
            <a:ext cx="3474720" cy="182880"/>
          </a:xfrm>
          <a:prstGeom prst="rect">
            <a:avLst/>
          </a:prstGeom>
          <a:noFill/>
          <a:ln/>
        </p:spPr>
        <p:txBody>
          <a:bodyPr wrap="square" lIns="0" tIns="0" rIns="0" bIns="0" rtlCol="0" anchor="ctr"/>
          <a:lstStyle/>
          <a:p>
            <a:pPr indent="0" marL="0">
              <a:buNone/>
            </a:pPr>
            <a:r>
              <a:rPr lang="en-US" sz="820" b="1" spc="110" kern="0" dirty="0">
                <a:solidFill>
                  <a:srgbClr val="5A6B84"/>
                </a:solidFill>
                <a:latin typeface="Montserrat" pitchFamily="34" charset="0"/>
                <a:ea typeface="Montserrat" pitchFamily="34" charset="-122"/>
                <a:cs typeface="Montserrat" pitchFamily="34" charset="-120"/>
              </a:rPr>
              <a:t>HOW IT GETS SCORED</a:t>
            </a:r>
            <a:endParaRPr lang="en-US" sz="820" dirty="0"/>
          </a:p>
        </p:txBody>
      </p:sp>
      <p:sp>
        <p:nvSpPr>
          <p:cNvPr id="7" name="Text 5"/>
          <p:cNvSpPr/>
          <p:nvPr/>
        </p:nvSpPr>
        <p:spPr>
          <a:xfrm>
            <a:off x="786384" y="2231136"/>
            <a:ext cx="3474720" cy="914400"/>
          </a:xfrm>
          <a:prstGeom prst="rect">
            <a:avLst/>
          </a:prstGeom>
          <a:noFill/>
          <a:ln/>
        </p:spPr>
        <p:txBody>
          <a:bodyPr wrap="square" lIns="0" tIns="0" rIns="0" bIns="0" rtlCol="0" anchor="ctr"/>
          <a:lstStyle/>
          <a:p>
            <a:pPr indent="0" marL="0">
              <a:lnSpc>
                <a:spcPts val="1500"/>
              </a:lnSpc>
              <a:buNone/>
            </a:pPr>
            <a:r>
              <a:rPr lang="en-US" sz="1150" i="1" dirty="0">
                <a:solidFill>
                  <a:srgbClr val="0F2347"/>
                </a:solidFill>
                <a:latin typeface="DM Sans" pitchFamily="34" charset="0"/>
                <a:ea typeface="DM Sans" pitchFamily="34" charset="-122"/>
                <a:cs typeface="DM Sans" pitchFamily="34" charset="-120"/>
              </a:rPr>
              <a:t>“Statement 10 is a 2. Nobody outside can see me because I am not senior enough.”</a:t>
            </a:r>
            <a:endParaRPr lang="en-US" sz="1150" dirty="0"/>
          </a:p>
        </p:txBody>
      </p:sp>
      <p:sp>
        <p:nvSpPr>
          <p:cNvPr id="8" name="Shape 6"/>
          <p:cNvSpPr/>
          <p:nvPr/>
        </p:nvSpPr>
        <p:spPr>
          <a:xfrm>
            <a:off x="4690872" y="1810512"/>
            <a:ext cx="3886200" cy="1481328"/>
          </a:xfrm>
          <a:prstGeom prst="rect">
            <a:avLst/>
          </a:prstGeom>
          <a:solidFill>
            <a:srgbClr val="0F2347"/>
          </a:solidFill>
          <a:ln/>
        </p:spPr>
      </p:sp>
      <p:sp>
        <p:nvSpPr>
          <p:cNvPr id="9" name="Text 7"/>
          <p:cNvSpPr/>
          <p:nvPr/>
        </p:nvSpPr>
        <p:spPr>
          <a:xfrm>
            <a:off x="4910328" y="1956816"/>
            <a:ext cx="3474720" cy="182880"/>
          </a:xfrm>
          <a:prstGeom prst="rect">
            <a:avLst/>
          </a:prstGeom>
          <a:noFill/>
          <a:ln/>
        </p:spPr>
        <p:txBody>
          <a:bodyPr wrap="square" lIns="0" tIns="0" rIns="0" bIns="0" rtlCol="0" anchor="ctr"/>
          <a:lstStyle/>
          <a:p>
            <a:pPr indent="0" marL="0">
              <a:buNone/>
            </a:pPr>
            <a:r>
              <a:rPr lang="en-US" sz="820" b="1" spc="110" kern="0" dirty="0">
                <a:solidFill>
                  <a:srgbClr val="C9A84C"/>
                </a:solidFill>
                <a:latin typeface="Montserrat" pitchFamily="34" charset="0"/>
                <a:ea typeface="Montserrat" pitchFamily="34" charset="-122"/>
                <a:cs typeface="Montserrat" pitchFamily="34" charset="-120"/>
              </a:rPr>
              <a:t>HOW IT SHOULD BE SCORED</a:t>
            </a:r>
            <a:endParaRPr lang="en-US" sz="820" dirty="0"/>
          </a:p>
        </p:txBody>
      </p:sp>
      <p:sp>
        <p:nvSpPr>
          <p:cNvPr id="10" name="Text 8"/>
          <p:cNvSpPr/>
          <p:nvPr/>
        </p:nvSpPr>
        <p:spPr>
          <a:xfrm>
            <a:off x="4910328" y="2231136"/>
            <a:ext cx="3474720" cy="914400"/>
          </a:xfrm>
          <a:prstGeom prst="rect">
            <a:avLst/>
          </a:prstGeom>
          <a:noFill/>
          <a:ln/>
        </p:spPr>
        <p:txBody>
          <a:bodyPr wrap="square" lIns="0" tIns="0" rIns="0" bIns="0" rtlCol="0" anchor="ctr"/>
          <a:lstStyle/>
          <a:p>
            <a:pPr indent="0" marL="0">
              <a:lnSpc>
                <a:spcPts val="1500"/>
              </a:lnSpc>
              <a:buNone/>
            </a:pPr>
            <a:r>
              <a:rPr lang="en-US" sz="1150" dirty="0">
                <a:solidFill>
                  <a:srgbClr val="F5F0E8"/>
                </a:solidFill>
                <a:latin typeface="DM Sans" pitchFamily="34" charset="0"/>
                <a:ea typeface="DM Sans" pitchFamily="34" charset="-122"/>
                <a:cs typeface="DM Sans" pitchFamily="34" charset="-120"/>
              </a:rPr>
              <a:t>“Statement 10 is a 2: I have not published, presented or been introduced outside my function in the window. That is exposure, not ability.”</a:t>
            </a:r>
            <a:endParaRPr lang="en-US" sz="1150" dirty="0"/>
          </a:p>
        </p:txBody>
      </p:sp>
      <p:sp>
        <p:nvSpPr>
          <p:cNvPr id="11" name="Text 9"/>
          <p:cNvSpPr/>
          <p:nvPr/>
        </p:nvSpPr>
        <p:spPr>
          <a:xfrm>
            <a:off x="566928" y="3529584"/>
            <a:ext cx="8010144" cy="640080"/>
          </a:xfrm>
          <a:prstGeom prst="rect">
            <a:avLst/>
          </a:prstGeom>
          <a:noFill/>
          <a:ln/>
        </p:spPr>
        <p:txBody>
          <a:bodyPr wrap="square" lIns="0" tIns="0" rIns="0" bIns="0" rtlCol="0" anchor="ctr"/>
          <a:lstStyle/>
          <a:p>
            <a:pPr indent="0" marL="0">
              <a:lnSpc>
                <a:spcPts val="2100"/>
              </a:lnSpc>
              <a:buNone/>
            </a:pPr>
            <a:r>
              <a:rPr lang="en-US" sz="1600" b="1" dirty="0">
                <a:solidFill>
                  <a:srgbClr val="0F2347"/>
                </a:solidFill>
                <a:latin typeface="Cormorant Garamond" pitchFamily="34" charset="0"/>
                <a:ea typeface="Cormorant Garamond" pitchFamily="34" charset="-122"/>
                <a:cs typeface="Cormorant Garamond" pitchFamily="34" charset="-120"/>
              </a:rPr>
              <a:t>Low Optionality is usually a translation and exposure problem, not a talent problem.</a:t>
            </a:r>
            <a:endParaRPr lang="en-US" sz="1600" dirty="0"/>
          </a:p>
        </p:txBody>
      </p:sp>
      <p:sp>
        <p:nvSpPr>
          <p:cNvPr id="13" name="Text 1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20</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EVIDENCE-BACKED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Score all twelve again</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Evidence in both directions. Do not change your first number.</a:t>
            </a:r>
            <a:endParaRPr lang="en-US" sz="1150" dirty="0"/>
          </a:p>
        </p:txBody>
      </p:sp>
      <p:sp>
        <p:nvSpPr>
          <p:cNvPr id="5" name="Shape 3"/>
          <p:cNvSpPr/>
          <p:nvPr/>
        </p:nvSpPr>
        <p:spPr>
          <a:xfrm>
            <a:off x="566928" y="1847088"/>
            <a:ext cx="8010144" cy="877824"/>
          </a:xfrm>
          <a:prstGeom prst="rect">
            <a:avLst/>
          </a:prstGeom>
          <a:solidFill>
            <a:srgbClr val="0F2347"/>
          </a:solidFill>
          <a:ln/>
        </p:spPr>
      </p:sp>
      <p:sp>
        <p:nvSpPr>
          <p:cNvPr id="6" name="Text 4"/>
          <p:cNvSpPr/>
          <p:nvPr/>
        </p:nvSpPr>
        <p:spPr>
          <a:xfrm>
            <a:off x="822960" y="1956816"/>
            <a:ext cx="3108960" cy="182880"/>
          </a:xfrm>
          <a:prstGeom prst="rect">
            <a:avLst/>
          </a:prstGeom>
          <a:noFill/>
          <a:ln/>
        </p:spPr>
        <p:txBody>
          <a:bodyPr wrap="square" lIns="0" tIns="0" rIns="0" bIns="0" rtlCol="0" anchor="ctr"/>
          <a:lstStyle/>
          <a:p>
            <a:pPr indent="0" marL="0">
              <a:buNone/>
            </a:pPr>
            <a:r>
              <a:rPr lang="en-US" sz="840" b="1" spc="120" kern="0" dirty="0">
                <a:solidFill>
                  <a:srgbClr val="C9A84C"/>
                </a:solidFill>
                <a:latin typeface="Montserrat" pitchFamily="34" charset="0"/>
                <a:ea typeface="Montserrat" pitchFamily="34" charset="-122"/>
                <a:cs typeface="Montserrat" pitchFamily="34" charset="-120"/>
              </a:rPr>
              <a:t>THE PROTOCOL, IN SHORT</a:t>
            </a:r>
            <a:endParaRPr lang="en-US" sz="840" dirty="0"/>
          </a:p>
        </p:txBody>
      </p:sp>
      <p:sp>
        <p:nvSpPr>
          <p:cNvPr id="7" name="Text 5"/>
          <p:cNvSpPr/>
          <p:nvPr/>
        </p:nvSpPr>
        <p:spPr>
          <a:xfrm>
            <a:off x="822960" y="2231136"/>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4 or 5</a:t>
            </a:r>
            <a:endParaRPr lang="en-US" sz="950" dirty="0"/>
          </a:p>
        </p:txBody>
      </p:sp>
      <p:sp>
        <p:nvSpPr>
          <p:cNvPr id="8" name="Text 6"/>
          <p:cNvSpPr/>
          <p:nvPr/>
        </p:nvSpPr>
        <p:spPr>
          <a:xfrm>
            <a:off x="1517904" y="2231136"/>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one clear positive instance</a:t>
            </a:r>
            <a:endParaRPr lang="en-US" sz="1000" dirty="0"/>
          </a:p>
        </p:txBody>
      </p:sp>
      <p:sp>
        <p:nvSpPr>
          <p:cNvPr id="9" name="Text 7"/>
          <p:cNvSpPr/>
          <p:nvPr/>
        </p:nvSpPr>
        <p:spPr>
          <a:xfrm>
            <a:off x="4754880" y="2231136"/>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3</a:t>
            </a:r>
            <a:endParaRPr lang="en-US" sz="950" dirty="0"/>
          </a:p>
        </p:txBody>
      </p:sp>
      <p:sp>
        <p:nvSpPr>
          <p:cNvPr id="10" name="Text 8"/>
          <p:cNvSpPr/>
          <p:nvPr/>
        </p:nvSpPr>
        <p:spPr>
          <a:xfrm>
            <a:off x="5449824" y="2231136"/>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the mixed or inconsistent pattern</a:t>
            </a:r>
            <a:endParaRPr lang="en-US" sz="1000" dirty="0"/>
          </a:p>
        </p:txBody>
      </p:sp>
      <p:sp>
        <p:nvSpPr>
          <p:cNvPr id="11" name="Text 9"/>
          <p:cNvSpPr/>
          <p:nvPr/>
        </p:nvSpPr>
        <p:spPr>
          <a:xfrm>
            <a:off x="822960" y="2487168"/>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1 or 2</a:t>
            </a:r>
            <a:endParaRPr lang="en-US" sz="950" dirty="0"/>
          </a:p>
        </p:txBody>
      </p:sp>
      <p:sp>
        <p:nvSpPr>
          <p:cNvPr id="12" name="Text 10"/>
          <p:cNvSpPr/>
          <p:nvPr/>
        </p:nvSpPr>
        <p:spPr>
          <a:xfrm>
            <a:off x="1517904" y="2487168"/>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what happened instead, or no qualifying instance</a:t>
            </a:r>
            <a:endParaRPr lang="en-US" sz="1000" dirty="0"/>
          </a:p>
        </p:txBody>
      </p:sp>
      <p:sp>
        <p:nvSpPr>
          <p:cNvPr id="13" name="Text 11"/>
          <p:cNvSpPr/>
          <p:nvPr/>
        </p:nvSpPr>
        <p:spPr>
          <a:xfrm>
            <a:off x="4754880" y="2487168"/>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a:t>
            </a:r>
            <a:endParaRPr lang="en-US" sz="950" dirty="0"/>
          </a:p>
        </p:txBody>
      </p:sp>
      <p:sp>
        <p:nvSpPr>
          <p:cNvPr id="14" name="Text 12"/>
          <p:cNvSpPr/>
          <p:nvPr/>
        </p:nvSpPr>
        <p:spPr>
          <a:xfrm>
            <a:off x="5449824" y="2487168"/>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most defensible number, marked once: 3?, 4?, 2?</a:t>
            </a:r>
            <a:endParaRPr lang="en-US" sz="1000" dirty="0"/>
          </a:p>
        </p:txBody>
      </p:sp>
      <p:sp>
        <p:nvSpPr>
          <p:cNvPr id="15" name="Text 13"/>
          <p:cNvSpPr/>
          <p:nvPr/>
        </p:nvSpPr>
        <p:spPr>
          <a:xfrm>
            <a:off x="566928" y="2944368"/>
            <a:ext cx="3840480" cy="274320"/>
          </a:xfrm>
          <a:prstGeom prst="rect">
            <a:avLst/>
          </a:prstGeom>
          <a:noFill/>
          <a:ln/>
        </p:spPr>
        <p:txBody>
          <a:bodyPr wrap="square" lIns="0" tIns="0" rIns="0" bIns="0" rtlCol="0" anchor="ctr"/>
          <a:lstStyle/>
          <a:p>
            <a:pPr indent="0" marL="0">
              <a:buNone/>
            </a:pPr>
            <a:r>
              <a:rPr lang="en-US" sz="1100" b="1" spc="80" kern="0" dirty="0">
                <a:solidFill>
                  <a:srgbClr val="0F2347"/>
                </a:solidFill>
                <a:latin typeface="Montserrat" pitchFamily="34" charset="0"/>
                <a:ea typeface="Montserrat" pitchFamily="34" charset="-122"/>
                <a:cs typeface="Montserrat" pitchFamily="34" charset="-120"/>
              </a:rPr>
              <a:t>Density   1 · 2 · 3 · 4 · 5 · 6</a:t>
            </a:r>
            <a:endParaRPr lang="en-US" sz="1100" dirty="0"/>
          </a:p>
        </p:txBody>
      </p:sp>
      <p:sp>
        <p:nvSpPr>
          <p:cNvPr id="16" name="Text 14"/>
          <p:cNvSpPr/>
          <p:nvPr/>
        </p:nvSpPr>
        <p:spPr>
          <a:xfrm>
            <a:off x="4754880" y="2944368"/>
            <a:ext cx="3840480" cy="274320"/>
          </a:xfrm>
          <a:prstGeom prst="rect">
            <a:avLst/>
          </a:prstGeom>
          <a:noFill/>
          <a:ln/>
        </p:spPr>
        <p:txBody>
          <a:bodyPr wrap="square" lIns="0" tIns="0" rIns="0" bIns="0" rtlCol="0" anchor="ctr"/>
          <a:lstStyle/>
          <a:p>
            <a:pPr indent="0" marL="0">
              <a:buNone/>
            </a:pPr>
            <a:r>
              <a:rPr lang="en-US" sz="1100" b="1" spc="80" kern="0" dirty="0">
                <a:solidFill>
                  <a:srgbClr val="0F2347"/>
                </a:solidFill>
                <a:latin typeface="Montserrat" pitchFamily="34" charset="0"/>
                <a:ea typeface="Montserrat" pitchFamily="34" charset="-122"/>
                <a:cs typeface="Montserrat" pitchFamily="34" charset="-120"/>
              </a:rPr>
              <a:t>Optionality   7 · 8 · 9 · 10 · 11 · 12</a:t>
            </a:r>
            <a:endParaRPr lang="en-US" sz="1100" dirty="0"/>
          </a:p>
        </p:txBody>
      </p:sp>
      <p:sp>
        <p:nvSpPr>
          <p:cNvPr id="17" name="Shape 15"/>
          <p:cNvSpPr/>
          <p:nvPr/>
        </p:nvSpPr>
        <p:spPr>
          <a:xfrm>
            <a:off x="566928" y="3401568"/>
            <a:ext cx="8010144" cy="786384"/>
          </a:xfrm>
          <a:prstGeom prst="rect">
            <a:avLst/>
          </a:prstGeom>
          <a:solidFill>
            <a:srgbClr val="E9EDF3"/>
          </a:solidFill>
          <a:ln/>
        </p:spPr>
      </p:sp>
      <p:sp>
        <p:nvSpPr>
          <p:cNvPr id="18" name="Text 16"/>
          <p:cNvSpPr/>
          <p:nvPr/>
        </p:nvSpPr>
        <p:spPr>
          <a:xfrm>
            <a:off x="822960" y="3401568"/>
            <a:ext cx="7498080" cy="786384"/>
          </a:xfrm>
          <a:prstGeom prst="rect">
            <a:avLst/>
          </a:prstGeom>
          <a:noFill/>
          <a:ln/>
        </p:spPr>
        <p:txBody>
          <a:bodyPr wrap="square" lIns="0" tIns="0" rIns="0" bIns="0" rtlCol="0" anchor="ctr"/>
          <a:lstStyle/>
          <a:p>
            <a:pPr indent="0" marL="0">
              <a:lnSpc>
                <a:spcPts val="1500"/>
              </a:lnSpc>
              <a:buNone/>
            </a:pPr>
            <a:r>
              <a:rPr lang="en-US" sz="1150" dirty="0">
                <a:solidFill>
                  <a:srgbClr val="0F2347"/>
                </a:solidFill>
                <a:latin typeface="DM Sans" pitchFamily="34" charset="0"/>
                <a:ea typeface="DM Sans" pitchFamily="34" charset="-122"/>
                <a:cs typeface="DM Sans" pitchFamily="34" charset="-120"/>
              </a:rPr>
              <a:t>Write the corrected number and a short evidence phrase under it. Your first number stays where it is. Phrases, not essays — twelve minutes for twelve statements.</a:t>
            </a:r>
            <a:endParaRPr lang="en-US" sz="115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21</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SECOND PLACEMENT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Re-total before you place again</a:t>
            </a:r>
            <a:endParaRPr lang="en-US" sz="27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New numbers. A fresh placement, not a review of the first one.</a:t>
            </a:r>
            <a:endParaRPr lang="en-US" sz="1150" dirty="0"/>
          </a:p>
        </p:txBody>
      </p:sp>
      <p:sp>
        <p:nvSpPr>
          <p:cNvPr id="5" name="Shape 3"/>
          <p:cNvSpPr/>
          <p:nvPr/>
        </p:nvSpPr>
        <p:spPr>
          <a:xfrm>
            <a:off x="566928" y="1920240"/>
            <a:ext cx="3931920" cy="1097280"/>
          </a:xfrm>
          <a:prstGeom prst="rect">
            <a:avLst/>
          </a:prstGeom>
          <a:solidFill>
            <a:srgbClr val="0F2347"/>
          </a:solidFill>
          <a:ln/>
        </p:spPr>
      </p:sp>
      <p:sp>
        <p:nvSpPr>
          <p:cNvPr id="6" name="Text 4"/>
          <p:cNvSpPr/>
          <p:nvPr/>
        </p:nvSpPr>
        <p:spPr>
          <a:xfrm>
            <a:off x="841248" y="2084832"/>
            <a:ext cx="3383280" cy="201168"/>
          </a:xfrm>
          <a:prstGeom prst="rect">
            <a:avLst/>
          </a:prstGeom>
          <a:noFill/>
          <a:ln/>
        </p:spPr>
        <p:txBody>
          <a:bodyPr wrap="square" lIns="0" tIns="0" rIns="0" bIns="0" rtlCol="0" anchor="ctr"/>
          <a:lstStyle/>
          <a:p>
            <a:pPr indent="0" marL="0">
              <a:buNone/>
            </a:pPr>
            <a:r>
              <a:rPr lang="en-US" sz="900" b="1" spc="130" kern="0" dirty="0">
                <a:solidFill>
                  <a:srgbClr val="C9A84C"/>
                </a:solidFill>
                <a:latin typeface="Montserrat" pitchFamily="34" charset="0"/>
                <a:ea typeface="Montserrat" pitchFamily="34" charset="-122"/>
                <a:cs typeface="Montserrat" pitchFamily="34" charset="-120"/>
              </a:rPr>
              <a:t>DENSITY, CORRECTED</a:t>
            </a:r>
            <a:endParaRPr lang="en-US" sz="900" dirty="0"/>
          </a:p>
        </p:txBody>
      </p:sp>
      <p:sp>
        <p:nvSpPr>
          <p:cNvPr id="7" name="Text 5"/>
          <p:cNvSpPr/>
          <p:nvPr/>
        </p:nvSpPr>
        <p:spPr>
          <a:xfrm>
            <a:off x="841248" y="2359152"/>
            <a:ext cx="3383280" cy="512064"/>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________  / 30</a:t>
            </a:r>
            <a:endParaRPr lang="en-US" sz="2900" dirty="0"/>
          </a:p>
        </p:txBody>
      </p:sp>
      <p:sp>
        <p:nvSpPr>
          <p:cNvPr id="8" name="Shape 6"/>
          <p:cNvSpPr/>
          <p:nvPr/>
        </p:nvSpPr>
        <p:spPr>
          <a:xfrm>
            <a:off x="4690872" y="1920240"/>
            <a:ext cx="3886200" cy="1097280"/>
          </a:xfrm>
          <a:prstGeom prst="rect">
            <a:avLst/>
          </a:prstGeom>
          <a:solidFill>
            <a:srgbClr val="0F2347"/>
          </a:solidFill>
          <a:ln/>
        </p:spPr>
      </p:sp>
      <p:sp>
        <p:nvSpPr>
          <p:cNvPr id="9" name="Text 7"/>
          <p:cNvSpPr/>
          <p:nvPr/>
        </p:nvSpPr>
        <p:spPr>
          <a:xfrm>
            <a:off x="4965192" y="2084832"/>
            <a:ext cx="3383280" cy="201168"/>
          </a:xfrm>
          <a:prstGeom prst="rect">
            <a:avLst/>
          </a:prstGeom>
          <a:noFill/>
          <a:ln/>
        </p:spPr>
        <p:txBody>
          <a:bodyPr wrap="square" lIns="0" tIns="0" rIns="0" bIns="0" rtlCol="0" anchor="ctr"/>
          <a:lstStyle/>
          <a:p>
            <a:pPr indent="0" marL="0">
              <a:buNone/>
            </a:pPr>
            <a:r>
              <a:rPr lang="en-US" sz="900" b="1" spc="130" kern="0" dirty="0">
                <a:solidFill>
                  <a:srgbClr val="C9A84C"/>
                </a:solidFill>
                <a:latin typeface="Montserrat" pitchFamily="34" charset="0"/>
                <a:ea typeface="Montserrat" pitchFamily="34" charset="-122"/>
                <a:cs typeface="Montserrat" pitchFamily="34" charset="-120"/>
              </a:rPr>
              <a:t>OPTIONALITY, CORRECTED</a:t>
            </a:r>
            <a:endParaRPr lang="en-US" sz="900" dirty="0"/>
          </a:p>
        </p:txBody>
      </p:sp>
      <p:sp>
        <p:nvSpPr>
          <p:cNvPr id="10" name="Text 8"/>
          <p:cNvSpPr/>
          <p:nvPr/>
        </p:nvSpPr>
        <p:spPr>
          <a:xfrm>
            <a:off x="4965192" y="2359152"/>
            <a:ext cx="3383280" cy="512064"/>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________  / 30</a:t>
            </a:r>
            <a:endParaRPr lang="en-US" sz="2900" dirty="0"/>
          </a:p>
        </p:txBody>
      </p:sp>
      <p:sp>
        <p:nvSpPr>
          <p:cNvPr id="11" name="Text 9"/>
          <p:cNvSpPr/>
          <p:nvPr/>
        </p:nvSpPr>
        <p:spPr>
          <a:xfrm>
            <a:off x="566928" y="3200400"/>
            <a:ext cx="8010144" cy="274320"/>
          </a:xfrm>
          <a:prstGeom prst="rect">
            <a:avLst/>
          </a:prstGeom>
          <a:noFill/>
          <a:ln/>
        </p:spPr>
        <p:txBody>
          <a:bodyPr wrap="square" lIns="0" tIns="0" rIns="0" bIns="0" rtlCol="0" anchor="ctr"/>
          <a:lstStyle/>
          <a:p>
            <a:pPr algn="ctr" indent="0" marL="0">
              <a:buNone/>
            </a:pPr>
            <a:r>
              <a:rPr lang="en-US" sz="1200" b="1" dirty="0">
                <a:solidFill>
                  <a:srgbClr val="C1440E"/>
                </a:solidFill>
                <a:latin typeface="DM Sans" pitchFamily="34" charset="0"/>
                <a:ea typeface="DM Sans" pitchFamily="34" charset="-122"/>
                <a:cs typeface="DM Sans" pitchFamily="34" charset="-120"/>
              </a:rPr>
              <a:t>19 to 30 high  ·  6 to 18 low  ·  17 to 21 is a boundary on either axis</a:t>
            </a:r>
            <a:endParaRPr lang="en-US" sz="1200" dirty="0"/>
          </a:p>
        </p:txBody>
      </p:sp>
      <p:sp>
        <p:nvSpPr>
          <p:cNvPr id="12" name="Text 10"/>
          <p:cNvSpPr/>
          <p:nvPr/>
        </p:nvSpPr>
        <p:spPr>
          <a:xfrm>
            <a:off x="566928" y="3639312"/>
            <a:ext cx="8010144" cy="365760"/>
          </a:xfrm>
          <a:prstGeom prst="rect">
            <a:avLst/>
          </a:prstGeom>
          <a:noFill/>
          <a:ln/>
        </p:spPr>
        <p:txBody>
          <a:bodyPr wrap="square" lIns="0" tIns="0" rIns="0" bIns="0" rtlCol="0" anchor="ctr"/>
          <a:lstStyle/>
          <a:p>
            <a:pPr algn="ctr" indent="0" marL="0">
              <a:lnSpc>
                <a:spcPts val="1656"/>
              </a:lnSpc>
              <a:buNone/>
            </a:pPr>
            <a:r>
              <a:rPr lang="en-US" sz="1200" dirty="0">
                <a:solidFill>
                  <a:srgbClr val="5A6B84"/>
                </a:solidFill>
                <a:latin typeface="DM Sans" pitchFamily="34" charset="0"/>
                <a:ea typeface="DM Sans" pitchFamily="34" charset="-122"/>
                <a:cs typeface="DM Sans" pitchFamily="34" charset="-120"/>
              </a:rPr>
              <a:t>Re-total both axes now. Hold your corrected placement privately, and note your confidence again.</a:t>
            </a:r>
            <a:endParaRPr lang="en-US" sz="1200" dirty="0"/>
          </a:p>
        </p:txBody>
      </p:sp>
      <p:sp>
        <p:nvSpPr>
          <p:cNvPr id="14" name="Text 11"/>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5" name="Text 12"/>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22</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SECOND PLACEMENT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When the evidence remains uncertain</a:t>
            </a:r>
            <a:endParaRPr lang="en-US" sz="26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neighbouring-score sensitivity check. An operational convention, not a statistical confidence interval.</a:t>
            </a:r>
            <a:endParaRPr lang="en-US" sz="1150" dirty="0"/>
          </a:p>
        </p:txBody>
      </p:sp>
      <p:sp>
        <p:nvSpPr>
          <p:cNvPr id="5" name="Shape 3"/>
          <p:cNvSpPr/>
          <p:nvPr/>
        </p:nvSpPr>
        <p:spPr>
          <a:xfrm>
            <a:off x="566928" y="1810512"/>
            <a:ext cx="274320" cy="274320"/>
          </a:xfrm>
          <a:prstGeom prst="rect">
            <a:avLst/>
          </a:prstGeom>
          <a:solidFill>
            <a:srgbClr val="0F2347"/>
          </a:solidFill>
          <a:ln/>
        </p:spPr>
      </p:sp>
      <p:sp>
        <p:nvSpPr>
          <p:cNvPr id="6" name="Text 4"/>
          <p:cNvSpPr/>
          <p:nvPr/>
        </p:nvSpPr>
        <p:spPr>
          <a:xfrm>
            <a:off x="566928" y="181051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783080"/>
            <a:ext cx="7571232"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Total the axis using the numbers exactly as you wrote them.</a:t>
            </a:r>
            <a:endParaRPr lang="en-US" sz="1200" dirty="0"/>
          </a:p>
        </p:txBody>
      </p:sp>
      <p:sp>
        <p:nvSpPr>
          <p:cNvPr id="8" name="Shape 6"/>
          <p:cNvSpPr/>
          <p:nvPr/>
        </p:nvSpPr>
        <p:spPr>
          <a:xfrm>
            <a:off x="566928" y="2267712"/>
            <a:ext cx="274320" cy="274320"/>
          </a:xfrm>
          <a:prstGeom prst="rect">
            <a:avLst/>
          </a:prstGeom>
          <a:solidFill>
            <a:srgbClr val="0F2347"/>
          </a:solidFill>
          <a:ln/>
        </p:spPr>
      </p:sp>
      <p:sp>
        <p:nvSpPr>
          <p:cNvPr id="9" name="Text 7"/>
          <p:cNvSpPr/>
          <p:nvPr/>
        </p:nvSpPr>
        <p:spPr>
          <a:xfrm>
            <a:off x="566928" y="226771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0" name="Text 8"/>
          <p:cNvSpPr/>
          <p:nvPr/>
        </p:nvSpPr>
        <p:spPr>
          <a:xfrm>
            <a:off x="1005840" y="2240280"/>
            <a:ext cx="7571232"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Total it again with every marked item one point lower.</a:t>
            </a:r>
            <a:endParaRPr lang="en-US" sz="1200" dirty="0"/>
          </a:p>
        </p:txBody>
      </p:sp>
      <p:sp>
        <p:nvSpPr>
          <p:cNvPr id="11" name="Shape 9"/>
          <p:cNvSpPr/>
          <p:nvPr/>
        </p:nvSpPr>
        <p:spPr>
          <a:xfrm>
            <a:off x="566928" y="2724912"/>
            <a:ext cx="274320" cy="274320"/>
          </a:xfrm>
          <a:prstGeom prst="rect">
            <a:avLst/>
          </a:prstGeom>
          <a:solidFill>
            <a:srgbClr val="0F2347"/>
          </a:solidFill>
          <a:ln/>
        </p:spPr>
      </p:sp>
      <p:sp>
        <p:nvSpPr>
          <p:cNvPr id="12" name="Text 10"/>
          <p:cNvSpPr/>
          <p:nvPr/>
        </p:nvSpPr>
        <p:spPr>
          <a:xfrm>
            <a:off x="566928" y="272491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3" name="Text 11"/>
          <p:cNvSpPr/>
          <p:nvPr/>
        </p:nvSpPr>
        <p:spPr>
          <a:xfrm>
            <a:off x="1005840" y="2697480"/>
            <a:ext cx="7571232"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Total it again with every marked item one point higher.</a:t>
            </a:r>
            <a:endParaRPr lang="en-US" sz="1200" dirty="0"/>
          </a:p>
        </p:txBody>
      </p:sp>
      <p:sp>
        <p:nvSpPr>
          <p:cNvPr id="14" name="Shape 12"/>
          <p:cNvSpPr/>
          <p:nvPr/>
        </p:nvSpPr>
        <p:spPr>
          <a:xfrm>
            <a:off x="566928" y="3182112"/>
            <a:ext cx="274320" cy="274320"/>
          </a:xfrm>
          <a:prstGeom prst="rect">
            <a:avLst/>
          </a:prstGeom>
          <a:solidFill>
            <a:srgbClr val="0F2347"/>
          </a:solidFill>
          <a:ln/>
        </p:spPr>
      </p:sp>
      <p:sp>
        <p:nvSpPr>
          <p:cNvPr id="15" name="Text 13"/>
          <p:cNvSpPr/>
          <p:nvPr/>
        </p:nvSpPr>
        <p:spPr>
          <a:xfrm>
            <a:off x="566928" y="318211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4</a:t>
            </a:r>
            <a:endParaRPr lang="en-US" sz="950" dirty="0"/>
          </a:p>
        </p:txBody>
      </p:sp>
      <p:sp>
        <p:nvSpPr>
          <p:cNvPr id="16" name="Text 14"/>
          <p:cNvSpPr/>
          <p:nvPr/>
        </p:nvSpPr>
        <p:spPr>
          <a:xfrm>
            <a:off x="1005840" y="3154680"/>
            <a:ext cx="7571232"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If all three stay on the same side of 19, and none lands between 17 and 21, place and mark it provisional.</a:t>
            </a:r>
            <a:endParaRPr lang="en-US" sz="1200" dirty="0"/>
          </a:p>
        </p:txBody>
      </p:sp>
      <p:sp>
        <p:nvSpPr>
          <p:cNvPr id="17" name="Shape 15"/>
          <p:cNvSpPr/>
          <p:nvPr/>
        </p:nvSpPr>
        <p:spPr>
          <a:xfrm>
            <a:off x="566928" y="3639312"/>
            <a:ext cx="274320" cy="274320"/>
          </a:xfrm>
          <a:prstGeom prst="rect">
            <a:avLst/>
          </a:prstGeom>
          <a:solidFill>
            <a:srgbClr val="0F2347"/>
          </a:solidFill>
          <a:ln/>
        </p:spPr>
      </p:sp>
      <p:sp>
        <p:nvSpPr>
          <p:cNvPr id="18" name="Text 16"/>
          <p:cNvSpPr/>
          <p:nvPr/>
        </p:nvSpPr>
        <p:spPr>
          <a:xfrm>
            <a:off x="566928" y="363931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5</a:t>
            </a:r>
            <a:endParaRPr lang="en-US" sz="950" dirty="0"/>
          </a:p>
        </p:txBody>
      </p:sp>
      <p:sp>
        <p:nvSpPr>
          <p:cNvPr id="19" name="Text 17"/>
          <p:cNvSpPr/>
          <p:nvPr/>
        </p:nvSpPr>
        <p:spPr>
          <a:xfrm>
            <a:off x="1005840" y="3611880"/>
            <a:ext cx="7571232"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If they do not, do not pick one square. Read both neighbouring states.</a:t>
            </a:r>
            <a:endParaRPr lang="en-US" sz="1200" dirty="0"/>
          </a:p>
        </p:txBody>
      </p:sp>
      <p:sp>
        <p:nvSpPr>
          <p:cNvPr id="20" name="Shape 18"/>
          <p:cNvSpPr/>
          <p:nvPr/>
        </p:nvSpPr>
        <p:spPr>
          <a:xfrm>
            <a:off x="566928" y="4114800"/>
            <a:ext cx="8010144" cy="566928"/>
          </a:xfrm>
          <a:prstGeom prst="rect">
            <a:avLst/>
          </a:prstGeom>
          <a:solidFill>
            <a:srgbClr val="E9EDF3"/>
          </a:solidFill>
          <a:ln/>
        </p:spPr>
      </p:sp>
      <p:sp>
        <p:nvSpPr>
          <p:cNvPr id="21" name="Text 19"/>
          <p:cNvSpPr/>
          <p:nvPr/>
        </p:nvSpPr>
        <p:spPr>
          <a:xfrm>
            <a:off x="804672" y="4114800"/>
            <a:ext cx="7534656" cy="566928"/>
          </a:xfrm>
          <a:prstGeom prst="rect">
            <a:avLst/>
          </a:prstGeom>
          <a:noFill/>
          <a:ln/>
        </p:spPr>
        <p:txBody>
          <a:bodyPr wrap="square" lIns="0" tIns="0" rIns="0" bIns="0" rtlCol="0" anchor="ctr"/>
          <a:lstStyle/>
          <a:p>
            <a:pPr indent="0" marL="0">
              <a:lnSpc>
                <a:spcPts val="1350"/>
              </a:lnSpc>
              <a:buNone/>
            </a:pPr>
            <a:r>
              <a:rPr lang="en-US" sz="1040" dirty="0">
                <a:solidFill>
                  <a:srgbClr val="0F2347"/>
                </a:solidFill>
                <a:latin typeface="DM Sans" pitchFamily="34" charset="0"/>
                <a:ea typeface="DM Sans" pitchFamily="34" charset="-122"/>
                <a:cs typeface="DM Sans" pitchFamily="34" charset="-120"/>
              </a:rPr>
              <a:t>Keep every neighbouring score inside the 1 to 5 scale — a 1? is never tested at 0, a 5? never at 6. Three or more marked items on one axis: that axis is incomplete and you do not place on it today.</a:t>
            </a:r>
            <a:endParaRPr lang="en-US" sz="1040" dirty="0"/>
          </a:p>
        </p:txBody>
      </p:sp>
      <p:sp>
        <p:nvSpPr>
          <p:cNvPr id="23" name="Text 2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4" name="Text 2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23</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SECOND PLACEMENT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Your corrected position</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Privately placed, provisionally held.</a:t>
            </a:r>
            <a:endParaRPr lang="en-US" sz="1150" dirty="0"/>
          </a:p>
        </p:txBody>
      </p:sp>
      <p:sp>
        <p:nvSpPr>
          <p:cNvPr id="5" name="Shape 3"/>
          <p:cNvSpPr/>
          <p:nvPr/>
        </p:nvSpPr>
        <p:spPr>
          <a:xfrm>
            <a:off x="566928" y="1920240"/>
            <a:ext cx="274320" cy="274320"/>
          </a:xfrm>
          <a:prstGeom prst="rect">
            <a:avLst/>
          </a:prstGeom>
          <a:solidFill>
            <a:srgbClr val="0F2347"/>
          </a:solidFill>
          <a:ln/>
        </p:spPr>
      </p:sp>
      <p:sp>
        <p:nvSpPr>
          <p:cNvPr id="6" name="Text 4"/>
          <p:cNvSpPr/>
          <p:nvPr/>
        </p:nvSpPr>
        <p:spPr>
          <a:xfrm>
            <a:off x="566928" y="1920240"/>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892808"/>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Place your corrected square</a:t>
            </a:r>
            <a:endParaRPr lang="en-US" sz="1300" dirty="0"/>
          </a:p>
        </p:txBody>
      </p:sp>
      <p:sp>
        <p:nvSpPr>
          <p:cNvPr id="8" name="Text 6"/>
          <p:cNvSpPr/>
          <p:nvPr/>
        </p:nvSpPr>
        <p:spPr>
          <a:xfrm>
            <a:off x="1005840" y="2148840"/>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Or mark boundary, or mark the axis incomplete. All three are legitimate readings.</a:t>
            </a:r>
            <a:endParaRPr lang="en-US" sz="1100" dirty="0"/>
          </a:p>
        </p:txBody>
      </p:sp>
      <p:sp>
        <p:nvSpPr>
          <p:cNvPr id="9" name="Shape 7"/>
          <p:cNvSpPr/>
          <p:nvPr/>
        </p:nvSpPr>
        <p:spPr>
          <a:xfrm>
            <a:off x="566928" y="2560320"/>
            <a:ext cx="274320" cy="274320"/>
          </a:xfrm>
          <a:prstGeom prst="rect">
            <a:avLst/>
          </a:prstGeom>
          <a:solidFill>
            <a:srgbClr val="0F2347"/>
          </a:solidFill>
          <a:ln/>
        </p:spPr>
      </p:sp>
      <p:sp>
        <p:nvSpPr>
          <p:cNvPr id="10" name="Text 8"/>
          <p:cNvSpPr/>
          <p:nvPr/>
        </p:nvSpPr>
        <p:spPr>
          <a:xfrm>
            <a:off x="566928" y="2560320"/>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1005840" y="2532888"/>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Note your corrected confidence</a:t>
            </a:r>
            <a:endParaRPr lang="en-US" sz="1300" dirty="0"/>
          </a:p>
        </p:txBody>
      </p:sp>
      <p:sp>
        <p:nvSpPr>
          <p:cNvPr id="12" name="Text 10"/>
          <p:cNvSpPr/>
          <p:nvPr/>
        </p:nvSpPr>
        <p:spPr>
          <a:xfrm>
            <a:off x="1005840" y="2788920"/>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Compare it to the confidence you noted before the evidence pass.</a:t>
            </a:r>
            <a:endParaRPr lang="en-US" sz="1100" dirty="0"/>
          </a:p>
        </p:txBody>
      </p:sp>
      <p:sp>
        <p:nvSpPr>
          <p:cNvPr id="13" name="Shape 11"/>
          <p:cNvSpPr/>
          <p:nvPr/>
        </p:nvSpPr>
        <p:spPr>
          <a:xfrm>
            <a:off x="566928" y="3200400"/>
            <a:ext cx="274320" cy="274320"/>
          </a:xfrm>
          <a:prstGeom prst="rect">
            <a:avLst/>
          </a:prstGeom>
          <a:solidFill>
            <a:srgbClr val="0F2347"/>
          </a:solidFill>
          <a:ln/>
        </p:spPr>
      </p:sp>
      <p:sp>
        <p:nvSpPr>
          <p:cNvPr id="14" name="Text 12"/>
          <p:cNvSpPr/>
          <p:nvPr/>
        </p:nvSpPr>
        <p:spPr>
          <a:xfrm>
            <a:off x="566928" y="3200400"/>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1005840" y="3172968"/>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Keep both readings visible</a:t>
            </a:r>
            <a:endParaRPr lang="en-US" sz="1300" dirty="0"/>
          </a:p>
        </p:txBody>
      </p:sp>
      <p:sp>
        <p:nvSpPr>
          <p:cNvPr id="16" name="Text 14"/>
          <p:cNvSpPr/>
          <p:nvPr/>
        </p:nvSpPr>
        <p:spPr>
          <a:xfrm>
            <a:off x="1005840" y="3429000"/>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The first number and the corrected number sit side by side. The distance between them is the finding.</a:t>
            </a:r>
            <a:endParaRPr lang="en-US" sz="1100" dirty="0"/>
          </a:p>
        </p:txBody>
      </p:sp>
      <p:sp>
        <p:nvSpPr>
          <p:cNvPr id="17" name="Shape 15"/>
          <p:cNvSpPr/>
          <p:nvPr/>
        </p:nvSpPr>
        <p:spPr>
          <a:xfrm>
            <a:off x="566928" y="3931920"/>
            <a:ext cx="8010144" cy="548640"/>
          </a:xfrm>
          <a:prstGeom prst="rect">
            <a:avLst/>
          </a:prstGeom>
          <a:solidFill>
            <a:srgbClr val="0F2347"/>
          </a:solidFill>
          <a:ln/>
        </p:spPr>
      </p:sp>
      <p:sp>
        <p:nvSpPr>
          <p:cNvPr id="18" name="Text 16"/>
          <p:cNvSpPr/>
          <p:nvPr/>
        </p:nvSpPr>
        <p:spPr>
          <a:xfrm>
            <a:off x="804672" y="3931920"/>
            <a:ext cx="7534656" cy="548640"/>
          </a:xfrm>
          <a:prstGeom prst="rect">
            <a:avLst/>
          </a:prstGeom>
          <a:noFill/>
          <a:ln/>
        </p:spPr>
        <p:txBody>
          <a:bodyPr wrap="square" lIns="0" tIns="0" rIns="0" bIns="0" rtlCol="0" anchor="ctr"/>
          <a:lstStyle/>
          <a:p>
            <a:pPr indent="0" marL="0">
              <a:buNone/>
            </a:pPr>
            <a:r>
              <a:rPr lang="en-US" sz="1600" b="1" dirty="0">
                <a:solidFill>
                  <a:srgbClr val="F5F0E8"/>
                </a:solidFill>
                <a:latin typeface="Cormorant Garamond" pitchFamily="34" charset="0"/>
                <a:ea typeface="Cormorant Garamond" pitchFamily="34" charset="-122"/>
                <a:cs typeface="Cormorant Garamond" pitchFamily="34" charset="-120"/>
              </a:rPr>
              <a:t>A position you can defend with evidence is worth more than a position you feel confident about.</a:t>
            </a:r>
            <a:endParaRPr lang="en-US" sz="160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24</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WHAT MOVED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550"/>
              </a:lnSpc>
              <a:buNone/>
            </a:pPr>
            <a:r>
              <a:rPr lang="en-US" sz="2500" b="1" dirty="0">
                <a:solidFill>
                  <a:srgbClr val="0F2347"/>
                </a:solidFill>
                <a:latin typeface="Cormorant Garamond" pitchFamily="34" charset="0"/>
                <a:ea typeface="Cormorant Garamond" pitchFamily="34" charset="-122"/>
                <a:cs typeface="Cormorant Garamond" pitchFamily="34" charset="-120"/>
              </a:rPr>
              <a:t>What moved when you tested your first read</a:t>
            </a:r>
            <a:endParaRPr lang="en-US" sz="25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One anonymous response. Nothing is collected and no state is shared.</a:t>
            </a:r>
            <a:endParaRPr lang="en-US" sz="1150" dirty="0"/>
          </a:p>
        </p:txBody>
      </p:sp>
      <p:sp>
        <p:nvSpPr>
          <p:cNvPr id="5" name="Shape 3"/>
          <p:cNvSpPr/>
          <p:nvPr/>
        </p:nvSpPr>
        <p:spPr>
          <a:xfrm>
            <a:off x="566928" y="1810512"/>
            <a:ext cx="8010144" cy="457200"/>
          </a:xfrm>
          <a:prstGeom prst="rect">
            <a:avLst/>
          </a:prstGeom>
          <a:solidFill>
            <a:srgbClr val="E9EDF3"/>
          </a:solidFill>
          <a:ln/>
        </p:spPr>
      </p:sp>
      <p:sp>
        <p:nvSpPr>
          <p:cNvPr id="6" name="Text 4"/>
          <p:cNvSpPr/>
          <p:nvPr/>
        </p:nvSpPr>
        <p:spPr>
          <a:xfrm>
            <a:off x="804672" y="1810512"/>
            <a:ext cx="7534656" cy="45720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After testing your first read against evidence, which is closest?</a:t>
            </a:r>
            <a:endParaRPr lang="en-US" sz="1250" dirty="0"/>
          </a:p>
        </p:txBody>
      </p:sp>
      <p:sp>
        <p:nvSpPr>
          <p:cNvPr id="7" name="Shape 5"/>
          <p:cNvSpPr/>
          <p:nvPr/>
        </p:nvSpPr>
        <p:spPr>
          <a:xfrm>
            <a:off x="566928" y="2432304"/>
            <a:ext cx="128016" cy="128016"/>
          </a:xfrm>
          <a:prstGeom prst="rect">
            <a:avLst/>
          </a:prstGeom>
          <a:solidFill>
            <a:srgbClr val="C9A84C"/>
          </a:solidFill>
          <a:ln/>
        </p:spPr>
      </p:sp>
      <p:sp>
        <p:nvSpPr>
          <p:cNvPr id="8" name="Text 6"/>
          <p:cNvSpPr/>
          <p:nvPr/>
        </p:nvSpPr>
        <p:spPr>
          <a:xfrm>
            <a:off x="877824" y="2377440"/>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totals moved meaningfully</a:t>
            </a:r>
            <a:endParaRPr lang="en-US" sz="1250" dirty="0"/>
          </a:p>
        </p:txBody>
      </p:sp>
      <p:sp>
        <p:nvSpPr>
          <p:cNvPr id="9" name="Shape 7"/>
          <p:cNvSpPr/>
          <p:nvPr/>
        </p:nvSpPr>
        <p:spPr>
          <a:xfrm>
            <a:off x="566928" y="2871216"/>
            <a:ext cx="128016" cy="128016"/>
          </a:xfrm>
          <a:prstGeom prst="rect">
            <a:avLst/>
          </a:prstGeom>
          <a:solidFill>
            <a:srgbClr val="C9A84C"/>
          </a:solidFill>
          <a:ln/>
        </p:spPr>
      </p:sp>
      <p:sp>
        <p:nvSpPr>
          <p:cNvPr id="10" name="Text 8"/>
          <p:cNvSpPr/>
          <p:nvPr/>
        </p:nvSpPr>
        <p:spPr>
          <a:xfrm>
            <a:off x="877824" y="2816352"/>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provisional position moved</a:t>
            </a:r>
            <a:endParaRPr lang="en-US" sz="1250" dirty="0"/>
          </a:p>
        </p:txBody>
      </p:sp>
      <p:sp>
        <p:nvSpPr>
          <p:cNvPr id="11" name="Shape 9"/>
          <p:cNvSpPr/>
          <p:nvPr/>
        </p:nvSpPr>
        <p:spPr>
          <a:xfrm>
            <a:off x="566928" y="3310128"/>
            <a:ext cx="128016" cy="128016"/>
          </a:xfrm>
          <a:prstGeom prst="rect">
            <a:avLst/>
          </a:prstGeom>
          <a:solidFill>
            <a:srgbClr val="C9A84C"/>
          </a:solidFill>
          <a:ln/>
        </p:spPr>
      </p:sp>
      <p:sp>
        <p:nvSpPr>
          <p:cNvPr id="12" name="Text 10"/>
          <p:cNvSpPr/>
          <p:nvPr/>
        </p:nvSpPr>
        <p:spPr>
          <a:xfrm>
            <a:off x="877824" y="3255264"/>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position stayed similar, but I trust the reading more</a:t>
            </a:r>
            <a:endParaRPr lang="en-US" sz="1250" dirty="0"/>
          </a:p>
        </p:txBody>
      </p:sp>
      <p:sp>
        <p:nvSpPr>
          <p:cNvPr id="13" name="Shape 11"/>
          <p:cNvSpPr/>
          <p:nvPr/>
        </p:nvSpPr>
        <p:spPr>
          <a:xfrm>
            <a:off x="566928" y="3749040"/>
            <a:ext cx="128016" cy="128016"/>
          </a:xfrm>
          <a:prstGeom prst="rect">
            <a:avLst/>
          </a:prstGeom>
          <a:solidFill>
            <a:srgbClr val="C9A84C"/>
          </a:solidFill>
          <a:ln/>
        </p:spPr>
      </p:sp>
      <p:sp>
        <p:nvSpPr>
          <p:cNvPr id="14" name="Text 12"/>
          <p:cNvSpPr/>
          <p:nvPr/>
        </p:nvSpPr>
        <p:spPr>
          <a:xfrm>
            <a:off x="877824" y="3694176"/>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evidence is still incomplete</a:t>
            </a:r>
            <a:endParaRPr lang="en-US" sz="1250" dirty="0"/>
          </a:p>
        </p:txBody>
      </p:sp>
      <p:sp>
        <p:nvSpPr>
          <p:cNvPr id="15" name="Text 13"/>
          <p:cNvSpPr/>
          <p:nvPr/>
        </p:nvSpPr>
        <p:spPr>
          <a:xfrm>
            <a:off x="566928" y="4261104"/>
            <a:ext cx="8010144" cy="274320"/>
          </a:xfrm>
          <a:prstGeom prst="rect">
            <a:avLst/>
          </a:prstGeom>
          <a:noFill/>
          <a:ln/>
        </p:spPr>
        <p:txBody>
          <a:bodyPr wrap="square" lIns="0" tIns="0" rIns="0" bIns="0" rtlCol="0" anchor="ctr"/>
          <a:lstStyle/>
          <a:p>
            <a:pPr indent="0" marL="0">
              <a:buNone/>
            </a:pPr>
            <a:r>
              <a:rPr lang="en-US" sz="1100" i="1" dirty="0">
                <a:solidFill>
                  <a:srgbClr val="5A6B84"/>
                </a:solidFill>
                <a:latin typeface="DM Sans" pitchFamily="34" charset="0"/>
                <a:ea typeface="DM Sans" pitchFamily="34" charset="-122"/>
                <a:cs typeface="DM Sans" pitchFamily="34" charset="-120"/>
              </a:rPr>
              <a:t>Every one of these is a legitimate outcome. Incomplete evidence is information, not failure.</a:t>
            </a:r>
            <a:endParaRPr lang="en-US" sz="1100" dirty="0"/>
          </a:p>
        </p:txBody>
      </p:sp>
      <p:sp>
        <p:nvSpPr>
          <p:cNvPr id="17" name="Text 14"/>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8" name="Text 15"/>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25</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STATE COSTS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What each state costs</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All four, briefly. The fuller treatment is downstream.</a:t>
            </a:r>
            <a:endParaRPr lang="en-US" sz="1150" dirty="0"/>
          </a:p>
        </p:txBody>
      </p:sp>
      <p:sp>
        <p:nvSpPr>
          <p:cNvPr id="5" name="Shape 3"/>
          <p:cNvSpPr/>
          <p:nvPr/>
        </p:nvSpPr>
        <p:spPr>
          <a:xfrm>
            <a:off x="566928" y="1865376"/>
            <a:ext cx="2148840" cy="457200"/>
          </a:xfrm>
          <a:prstGeom prst="rect">
            <a:avLst/>
          </a:prstGeom>
          <a:solidFill>
            <a:srgbClr val="0F2347"/>
          </a:solidFill>
          <a:ln/>
        </p:spPr>
      </p:sp>
      <p:sp>
        <p:nvSpPr>
          <p:cNvPr id="6" name="Text 4"/>
          <p:cNvSpPr/>
          <p:nvPr/>
        </p:nvSpPr>
        <p:spPr>
          <a:xfrm>
            <a:off x="749808" y="1865376"/>
            <a:ext cx="1828800" cy="457200"/>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DEPTH TRAP</a:t>
            </a:r>
            <a:endParaRPr lang="en-US" sz="1000" dirty="0"/>
          </a:p>
        </p:txBody>
      </p:sp>
      <p:sp>
        <p:nvSpPr>
          <p:cNvPr id="7" name="Text 5"/>
          <p:cNvSpPr/>
          <p:nvPr/>
        </p:nvSpPr>
        <p:spPr>
          <a:xfrm>
            <a:off x="2944368" y="1865376"/>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Value is deep but context-bound.</a:t>
            </a:r>
            <a:endParaRPr lang="en-US" sz="1250" dirty="0"/>
          </a:p>
        </p:txBody>
      </p:sp>
      <p:sp>
        <p:nvSpPr>
          <p:cNvPr id="8" name="Shape 6"/>
          <p:cNvSpPr/>
          <p:nvPr/>
        </p:nvSpPr>
        <p:spPr>
          <a:xfrm>
            <a:off x="566928" y="2432304"/>
            <a:ext cx="2148840" cy="457200"/>
          </a:xfrm>
          <a:prstGeom prst="rect">
            <a:avLst/>
          </a:prstGeom>
          <a:solidFill>
            <a:srgbClr val="E9EDF3"/>
          </a:solidFill>
          <a:ln/>
        </p:spPr>
      </p:sp>
      <p:sp>
        <p:nvSpPr>
          <p:cNvPr id="9" name="Text 7"/>
          <p:cNvSpPr/>
          <p:nvPr/>
        </p:nvSpPr>
        <p:spPr>
          <a:xfrm>
            <a:off x="749808" y="2432304"/>
            <a:ext cx="1828800" cy="457200"/>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COMPOUNDING</a:t>
            </a:r>
            <a:endParaRPr lang="en-US" sz="1000" dirty="0"/>
          </a:p>
        </p:txBody>
      </p:sp>
      <p:sp>
        <p:nvSpPr>
          <p:cNvPr id="10" name="Text 8"/>
          <p:cNvSpPr/>
          <p:nvPr/>
        </p:nvSpPr>
        <p:spPr>
          <a:xfrm>
            <a:off x="2944368" y="2432304"/>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A strong current position still requires renewal.</a:t>
            </a:r>
            <a:endParaRPr lang="en-US" sz="1250" dirty="0"/>
          </a:p>
        </p:txBody>
      </p:sp>
      <p:sp>
        <p:nvSpPr>
          <p:cNvPr id="11" name="Shape 9"/>
          <p:cNvSpPr/>
          <p:nvPr/>
        </p:nvSpPr>
        <p:spPr>
          <a:xfrm>
            <a:off x="566928" y="2999232"/>
            <a:ext cx="2148840" cy="457200"/>
          </a:xfrm>
          <a:prstGeom prst="rect">
            <a:avLst/>
          </a:prstGeom>
          <a:solidFill>
            <a:srgbClr val="0F2347"/>
          </a:solidFill>
          <a:ln/>
        </p:spPr>
      </p:sp>
      <p:sp>
        <p:nvSpPr>
          <p:cNvPr id="12" name="Text 10"/>
          <p:cNvSpPr/>
          <p:nvPr/>
        </p:nvSpPr>
        <p:spPr>
          <a:xfrm>
            <a:off x="749808" y="2999232"/>
            <a:ext cx="1828800" cy="457200"/>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STAGNANT</a:t>
            </a:r>
            <a:endParaRPr lang="en-US" sz="1000" dirty="0"/>
          </a:p>
        </p:txBody>
      </p:sp>
      <p:sp>
        <p:nvSpPr>
          <p:cNvPr id="13" name="Text 11"/>
          <p:cNvSpPr/>
          <p:nvPr/>
        </p:nvSpPr>
        <p:spPr>
          <a:xfrm>
            <a:off x="2944368" y="2999232"/>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Neither axis is accruing.</a:t>
            </a:r>
            <a:endParaRPr lang="en-US" sz="1250" dirty="0"/>
          </a:p>
        </p:txBody>
      </p:sp>
      <p:sp>
        <p:nvSpPr>
          <p:cNvPr id="14" name="Shape 12"/>
          <p:cNvSpPr/>
          <p:nvPr/>
        </p:nvSpPr>
        <p:spPr>
          <a:xfrm>
            <a:off x="566928" y="3566160"/>
            <a:ext cx="2148840" cy="457200"/>
          </a:xfrm>
          <a:prstGeom prst="rect">
            <a:avLst/>
          </a:prstGeom>
          <a:solidFill>
            <a:srgbClr val="E9EDF3"/>
          </a:solidFill>
          <a:ln/>
        </p:spPr>
      </p:sp>
      <p:sp>
        <p:nvSpPr>
          <p:cNvPr id="15" name="Text 13"/>
          <p:cNvSpPr/>
          <p:nvPr/>
        </p:nvSpPr>
        <p:spPr>
          <a:xfrm>
            <a:off x="749808" y="3566160"/>
            <a:ext cx="1828800" cy="457200"/>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FRAGILE</a:t>
            </a:r>
            <a:endParaRPr lang="en-US" sz="1000" dirty="0"/>
          </a:p>
        </p:txBody>
      </p:sp>
      <p:sp>
        <p:nvSpPr>
          <p:cNvPr id="16" name="Text 14"/>
          <p:cNvSpPr/>
          <p:nvPr/>
        </p:nvSpPr>
        <p:spPr>
          <a:xfrm>
            <a:off x="2944368" y="3566160"/>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What travels today is no longer being renewed.</a:t>
            </a:r>
            <a:endParaRPr lang="en-US" sz="1250" dirty="0"/>
          </a:p>
        </p:txBody>
      </p:sp>
      <p:sp>
        <p:nvSpPr>
          <p:cNvPr id="17" name="Text 15"/>
          <p:cNvSpPr/>
          <p:nvPr/>
        </p:nvSpPr>
        <p:spPr>
          <a:xfrm>
            <a:off x="566928" y="4169664"/>
            <a:ext cx="8010144" cy="512064"/>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This is the short reading. Working through the full cost of your own square — the immediate cost, the hidden cost, the cost of waiting, and the false reassurance that keeps you there — is what the Field Kit and a private read are for.</a:t>
            </a:r>
            <a:endParaRPr lang="en-US" sz="106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26</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MOVE CATEGORIES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Seven categories of move</a:t>
            </a:r>
            <a:endParaRPr lang="en-US" sz="27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Direction, not a plan. Your evidence helps you choose which category to test.</a:t>
            </a:r>
            <a:endParaRPr lang="en-US" sz="1150" dirty="0"/>
          </a:p>
        </p:txBody>
      </p:sp>
      <p:sp>
        <p:nvSpPr>
          <p:cNvPr id="5" name="Shape 3"/>
          <p:cNvSpPr/>
          <p:nvPr/>
        </p:nvSpPr>
        <p:spPr>
          <a:xfrm>
            <a:off x="566928" y="1792224"/>
            <a:ext cx="237744" cy="237744"/>
          </a:xfrm>
          <a:prstGeom prst="rect">
            <a:avLst/>
          </a:prstGeom>
          <a:solidFill>
            <a:srgbClr val="0F2347"/>
          </a:solidFill>
          <a:ln/>
        </p:spPr>
      </p:sp>
      <p:sp>
        <p:nvSpPr>
          <p:cNvPr id="6" name="Text 4"/>
          <p:cNvSpPr/>
          <p:nvPr/>
        </p:nvSpPr>
        <p:spPr>
          <a:xfrm>
            <a:off x="566928" y="179222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1</a:t>
            </a:r>
            <a:endParaRPr lang="en-US" sz="850" dirty="0"/>
          </a:p>
        </p:txBody>
      </p:sp>
      <p:sp>
        <p:nvSpPr>
          <p:cNvPr id="7" name="Text 5"/>
          <p:cNvSpPr/>
          <p:nvPr/>
        </p:nvSpPr>
        <p:spPr>
          <a:xfrm>
            <a:off x="950976" y="177393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Remain and deepen</a:t>
            </a:r>
            <a:endParaRPr lang="en-US" sz="1150" dirty="0"/>
          </a:p>
        </p:txBody>
      </p:sp>
      <p:sp>
        <p:nvSpPr>
          <p:cNvPr id="8" name="Text 6"/>
          <p:cNvSpPr/>
          <p:nvPr/>
        </p:nvSpPr>
        <p:spPr>
          <a:xfrm>
            <a:off x="3584448" y="177393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formation conditions are real and worth protecting.</a:t>
            </a:r>
            <a:endParaRPr lang="en-US" sz="1060" dirty="0"/>
          </a:p>
        </p:txBody>
      </p:sp>
      <p:sp>
        <p:nvSpPr>
          <p:cNvPr id="9" name="Shape 7"/>
          <p:cNvSpPr/>
          <p:nvPr/>
        </p:nvSpPr>
        <p:spPr>
          <a:xfrm>
            <a:off x="566928" y="2157984"/>
            <a:ext cx="237744" cy="237744"/>
          </a:xfrm>
          <a:prstGeom prst="rect">
            <a:avLst/>
          </a:prstGeom>
          <a:solidFill>
            <a:srgbClr val="0F2347"/>
          </a:solidFill>
          <a:ln/>
        </p:spPr>
      </p:sp>
      <p:sp>
        <p:nvSpPr>
          <p:cNvPr id="10" name="Text 8"/>
          <p:cNvSpPr/>
          <p:nvPr/>
        </p:nvSpPr>
        <p:spPr>
          <a:xfrm>
            <a:off x="566928" y="215798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2</a:t>
            </a:r>
            <a:endParaRPr lang="en-US" sz="850" dirty="0"/>
          </a:p>
        </p:txBody>
      </p:sp>
      <p:sp>
        <p:nvSpPr>
          <p:cNvPr id="11" name="Text 9"/>
          <p:cNvSpPr/>
          <p:nvPr/>
        </p:nvSpPr>
        <p:spPr>
          <a:xfrm>
            <a:off x="950976" y="213969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Translate what is built</a:t>
            </a:r>
            <a:endParaRPr lang="en-US" sz="1150" dirty="0"/>
          </a:p>
        </p:txBody>
      </p:sp>
      <p:sp>
        <p:nvSpPr>
          <p:cNvPr id="12" name="Text 10"/>
          <p:cNvSpPr/>
          <p:nvPr/>
        </p:nvSpPr>
        <p:spPr>
          <a:xfrm>
            <a:off x="3584448" y="213969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capability exists. The language for it does not.</a:t>
            </a:r>
            <a:endParaRPr lang="en-US" sz="1060" dirty="0"/>
          </a:p>
        </p:txBody>
      </p:sp>
      <p:sp>
        <p:nvSpPr>
          <p:cNvPr id="13" name="Shape 11"/>
          <p:cNvSpPr/>
          <p:nvPr/>
        </p:nvSpPr>
        <p:spPr>
          <a:xfrm>
            <a:off x="566928" y="2523744"/>
            <a:ext cx="237744" cy="237744"/>
          </a:xfrm>
          <a:prstGeom prst="rect">
            <a:avLst/>
          </a:prstGeom>
          <a:solidFill>
            <a:srgbClr val="0F2347"/>
          </a:solidFill>
          <a:ln/>
        </p:spPr>
      </p:sp>
      <p:sp>
        <p:nvSpPr>
          <p:cNvPr id="14" name="Text 12"/>
          <p:cNvSpPr/>
          <p:nvPr/>
        </p:nvSpPr>
        <p:spPr>
          <a:xfrm>
            <a:off x="566928" y="252374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3</a:t>
            </a:r>
            <a:endParaRPr lang="en-US" sz="850" dirty="0"/>
          </a:p>
        </p:txBody>
      </p:sp>
      <p:sp>
        <p:nvSpPr>
          <p:cNvPr id="15" name="Text 13"/>
          <p:cNvSpPr/>
          <p:nvPr/>
        </p:nvSpPr>
        <p:spPr>
          <a:xfrm>
            <a:off x="950976" y="250545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Widen exposure</a:t>
            </a:r>
            <a:endParaRPr lang="en-US" sz="1150" dirty="0"/>
          </a:p>
        </p:txBody>
      </p:sp>
      <p:sp>
        <p:nvSpPr>
          <p:cNvPr id="16" name="Text 14"/>
          <p:cNvSpPr/>
          <p:nvPr/>
        </p:nvSpPr>
        <p:spPr>
          <a:xfrm>
            <a:off x="3584448" y="250545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work is good and the wrong people have seen it.</a:t>
            </a:r>
            <a:endParaRPr lang="en-US" sz="1060" dirty="0"/>
          </a:p>
        </p:txBody>
      </p:sp>
      <p:sp>
        <p:nvSpPr>
          <p:cNvPr id="17" name="Shape 15"/>
          <p:cNvSpPr/>
          <p:nvPr/>
        </p:nvSpPr>
        <p:spPr>
          <a:xfrm>
            <a:off x="566928" y="2889504"/>
            <a:ext cx="237744" cy="237744"/>
          </a:xfrm>
          <a:prstGeom prst="rect">
            <a:avLst/>
          </a:prstGeom>
          <a:solidFill>
            <a:srgbClr val="0F2347"/>
          </a:solidFill>
          <a:ln/>
        </p:spPr>
      </p:sp>
      <p:sp>
        <p:nvSpPr>
          <p:cNvPr id="18" name="Text 16"/>
          <p:cNvSpPr/>
          <p:nvPr/>
        </p:nvSpPr>
        <p:spPr>
          <a:xfrm>
            <a:off x="566928" y="288950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4</a:t>
            </a:r>
            <a:endParaRPr lang="en-US" sz="850" dirty="0"/>
          </a:p>
        </p:txBody>
      </p:sp>
      <p:sp>
        <p:nvSpPr>
          <p:cNvPr id="19" name="Text 17"/>
          <p:cNvSpPr/>
          <p:nvPr/>
        </p:nvSpPr>
        <p:spPr>
          <a:xfrm>
            <a:off x="950976" y="287121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Test portability</a:t>
            </a:r>
            <a:endParaRPr lang="en-US" sz="1150" dirty="0"/>
          </a:p>
        </p:txBody>
      </p:sp>
      <p:sp>
        <p:nvSpPr>
          <p:cNvPr id="20" name="Text 18"/>
          <p:cNvSpPr/>
          <p:nvPr/>
        </p:nvSpPr>
        <p:spPr>
          <a:xfrm>
            <a:off x="3584448" y="287121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Find out what travels before you need it to.</a:t>
            </a:r>
            <a:endParaRPr lang="en-US" sz="1060" dirty="0"/>
          </a:p>
        </p:txBody>
      </p:sp>
      <p:sp>
        <p:nvSpPr>
          <p:cNvPr id="21" name="Shape 19"/>
          <p:cNvSpPr/>
          <p:nvPr/>
        </p:nvSpPr>
        <p:spPr>
          <a:xfrm>
            <a:off x="566928" y="3255264"/>
            <a:ext cx="237744" cy="237744"/>
          </a:xfrm>
          <a:prstGeom prst="rect">
            <a:avLst/>
          </a:prstGeom>
          <a:solidFill>
            <a:srgbClr val="0F2347"/>
          </a:solidFill>
          <a:ln/>
        </p:spPr>
      </p:sp>
      <p:sp>
        <p:nvSpPr>
          <p:cNvPr id="22" name="Text 20"/>
          <p:cNvSpPr/>
          <p:nvPr/>
        </p:nvSpPr>
        <p:spPr>
          <a:xfrm>
            <a:off x="566928" y="325526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5</a:t>
            </a:r>
            <a:endParaRPr lang="en-US" sz="850" dirty="0"/>
          </a:p>
        </p:txBody>
      </p:sp>
      <p:sp>
        <p:nvSpPr>
          <p:cNvPr id="23" name="Text 21"/>
          <p:cNvSpPr/>
          <p:nvPr/>
        </p:nvSpPr>
        <p:spPr>
          <a:xfrm>
            <a:off x="950976" y="323697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Repair formation conditions</a:t>
            </a:r>
            <a:endParaRPr lang="en-US" sz="1150" dirty="0"/>
          </a:p>
        </p:txBody>
      </p:sp>
      <p:sp>
        <p:nvSpPr>
          <p:cNvPr id="24" name="Text 22"/>
          <p:cNvSpPr/>
          <p:nvPr/>
        </p:nvSpPr>
        <p:spPr>
          <a:xfrm>
            <a:off x="3584448" y="323697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Change the work, not the employer, first.</a:t>
            </a:r>
            <a:endParaRPr lang="en-US" sz="1060" dirty="0"/>
          </a:p>
        </p:txBody>
      </p:sp>
      <p:sp>
        <p:nvSpPr>
          <p:cNvPr id="25" name="Shape 23"/>
          <p:cNvSpPr/>
          <p:nvPr/>
        </p:nvSpPr>
        <p:spPr>
          <a:xfrm>
            <a:off x="566928" y="3621024"/>
            <a:ext cx="237744" cy="237744"/>
          </a:xfrm>
          <a:prstGeom prst="rect">
            <a:avLst/>
          </a:prstGeom>
          <a:solidFill>
            <a:srgbClr val="0F2347"/>
          </a:solidFill>
          <a:ln/>
        </p:spPr>
      </p:sp>
      <p:sp>
        <p:nvSpPr>
          <p:cNvPr id="26" name="Text 24"/>
          <p:cNvSpPr/>
          <p:nvPr/>
        </p:nvSpPr>
        <p:spPr>
          <a:xfrm>
            <a:off x="566928" y="362102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6</a:t>
            </a:r>
            <a:endParaRPr lang="en-US" sz="850" dirty="0"/>
          </a:p>
        </p:txBody>
      </p:sp>
      <p:sp>
        <p:nvSpPr>
          <p:cNvPr id="27" name="Text 25"/>
          <p:cNvSpPr/>
          <p:nvPr/>
        </p:nvSpPr>
        <p:spPr>
          <a:xfrm>
            <a:off x="950976" y="360273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Prepare for exit</a:t>
            </a:r>
            <a:endParaRPr lang="en-US" sz="1150" dirty="0"/>
          </a:p>
        </p:txBody>
      </p:sp>
      <p:sp>
        <p:nvSpPr>
          <p:cNvPr id="28" name="Text 26"/>
          <p:cNvSpPr/>
          <p:nvPr/>
        </p:nvSpPr>
        <p:spPr>
          <a:xfrm>
            <a:off x="3584448" y="360273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Your evidence gives you reason to prepare in case the conditions do not repair.</a:t>
            </a:r>
            <a:endParaRPr lang="en-US" sz="1060" dirty="0"/>
          </a:p>
        </p:txBody>
      </p:sp>
      <p:sp>
        <p:nvSpPr>
          <p:cNvPr id="29" name="Shape 27"/>
          <p:cNvSpPr/>
          <p:nvPr/>
        </p:nvSpPr>
        <p:spPr>
          <a:xfrm>
            <a:off x="566928" y="3986784"/>
            <a:ext cx="237744" cy="237744"/>
          </a:xfrm>
          <a:prstGeom prst="rect">
            <a:avLst/>
          </a:prstGeom>
          <a:solidFill>
            <a:srgbClr val="0F2347"/>
          </a:solidFill>
          <a:ln/>
        </p:spPr>
      </p:sp>
      <p:sp>
        <p:nvSpPr>
          <p:cNvPr id="30" name="Text 28"/>
          <p:cNvSpPr/>
          <p:nvPr/>
        </p:nvSpPr>
        <p:spPr>
          <a:xfrm>
            <a:off x="566928" y="398678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7</a:t>
            </a:r>
            <a:endParaRPr lang="en-US" sz="850" dirty="0"/>
          </a:p>
        </p:txBody>
      </p:sp>
      <p:sp>
        <p:nvSpPr>
          <p:cNvPr id="31" name="Text 29"/>
          <p:cNvSpPr/>
          <p:nvPr/>
        </p:nvSpPr>
        <p:spPr>
          <a:xfrm>
            <a:off x="950976" y="396849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Seek an external perspective</a:t>
            </a:r>
            <a:endParaRPr lang="en-US" sz="1150" dirty="0"/>
          </a:p>
        </p:txBody>
      </p:sp>
      <p:sp>
        <p:nvSpPr>
          <p:cNvPr id="32" name="Text 30"/>
          <p:cNvSpPr/>
          <p:nvPr/>
        </p:nvSpPr>
        <p:spPr>
          <a:xfrm>
            <a:off x="3584448" y="396849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High stakes, incomplete evidence, or a boundary position.</a:t>
            </a:r>
            <a:endParaRPr lang="en-US" sz="1060" dirty="0"/>
          </a:p>
        </p:txBody>
      </p:sp>
      <p:sp>
        <p:nvSpPr>
          <p:cNvPr id="33" name="Shape 31"/>
          <p:cNvSpPr/>
          <p:nvPr/>
        </p:nvSpPr>
        <p:spPr>
          <a:xfrm>
            <a:off x="566928" y="4443984"/>
            <a:ext cx="8010144" cy="365760"/>
          </a:xfrm>
          <a:prstGeom prst="rect">
            <a:avLst/>
          </a:prstGeom>
          <a:solidFill>
            <a:srgbClr val="E9EDF3"/>
          </a:solidFill>
          <a:ln/>
        </p:spPr>
      </p:sp>
      <p:sp>
        <p:nvSpPr>
          <p:cNvPr id="34" name="Text 32"/>
          <p:cNvSpPr/>
          <p:nvPr/>
        </p:nvSpPr>
        <p:spPr>
          <a:xfrm>
            <a:off x="804672" y="4443984"/>
            <a:ext cx="7534656" cy="365760"/>
          </a:xfrm>
          <a:prstGeom prst="rect">
            <a:avLst/>
          </a:prstGeom>
          <a:noFill/>
          <a:ln/>
        </p:spPr>
        <p:txBody>
          <a:bodyPr wrap="square" lIns="0" tIns="0" rIns="0" bIns="0" rtlCol="0" anchor="ctr"/>
          <a:lstStyle/>
          <a:p>
            <a:pPr indent="0" marL="0">
              <a:buNone/>
            </a:pPr>
            <a:r>
              <a:rPr lang="en-US" sz="1100" b="1" dirty="0">
                <a:solidFill>
                  <a:srgbClr val="0F2347"/>
                </a:solidFill>
                <a:latin typeface="DM Sans" pitchFamily="34" charset="0"/>
                <a:ea typeface="DM Sans" pitchFamily="34" charset="-122"/>
                <a:cs typeface="DM Sans" pitchFamily="34" charset="-120"/>
              </a:rPr>
              <a:t>No square prescribes a category. Your evidence and constraints still apply.</a:t>
            </a:r>
            <a:endParaRPr lang="en-US" sz="1100" dirty="0"/>
          </a:p>
        </p:txBody>
      </p:sp>
      <p:sp>
        <p:nvSpPr>
          <p:cNvPr id="36" name="Text 3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37" name="Text 3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27</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ARTIFACT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The Next-Move Note</a:t>
            </a:r>
            <a:endParaRPr lang="en-US" sz="3000" dirty="0"/>
          </a:p>
        </p:txBody>
      </p:sp>
      <p:sp>
        <p:nvSpPr>
          <p:cNvPr id="4" name="Text 2"/>
          <p:cNvSpPr/>
          <p:nvPr/>
        </p:nvSpPr>
        <p:spPr>
          <a:xfrm>
            <a:off x="566928" y="1389888"/>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Three lines. Yours, private, and enough to act on.</a:t>
            </a:r>
            <a:endParaRPr lang="en-US" sz="1150" dirty="0"/>
          </a:p>
        </p:txBody>
      </p:sp>
      <p:sp>
        <p:nvSpPr>
          <p:cNvPr id="5" name="Shape 3"/>
          <p:cNvSpPr/>
          <p:nvPr/>
        </p:nvSpPr>
        <p:spPr>
          <a:xfrm>
            <a:off x="566928" y="1865376"/>
            <a:ext cx="25603" cy="713232"/>
          </a:xfrm>
          <a:prstGeom prst="rect">
            <a:avLst/>
          </a:prstGeom>
          <a:solidFill>
            <a:srgbClr val="C9A84C"/>
          </a:solidFill>
          <a:ln/>
        </p:spPr>
      </p:sp>
      <p:sp>
        <p:nvSpPr>
          <p:cNvPr id="6" name="Text 4"/>
          <p:cNvSpPr/>
          <p:nvPr/>
        </p:nvSpPr>
        <p:spPr>
          <a:xfrm>
            <a:off x="804672" y="1865376"/>
            <a:ext cx="7772400" cy="201168"/>
          </a:xfrm>
          <a:prstGeom prst="rect">
            <a:avLst/>
          </a:prstGeom>
          <a:noFill/>
          <a:ln/>
        </p:spPr>
        <p:txBody>
          <a:bodyPr wrap="square" lIns="0" tIns="0" rIns="0" bIns="0" rtlCol="0" anchor="ctr"/>
          <a:lstStyle/>
          <a:p>
            <a:pPr indent="0" marL="0">
              <a:buNone/>
            </a:pPr>
            <a:r>
              <a:rPr lang="en-US" sz="860" b="1" spc="120" kern="0" dirty="0">
                <a:solidFill>
                  <a:srgbClr val="C9A84C"/>
                </a:solidFill>
                <a:latin typeface="Montserrat" pitchFamily="34" charset="0"/>
                <a:ea typeface="Montserrat" pitchFamily="34" charset="-122"/>
                <a:cs typeface="Montserrat" pitchFamily="34" charset="-120"/>
              </a:rPr>
              <a:t>MY CURRENT READ</a:t>
            </a:r>
            <a:endParaRPr lang="en-US" sz="860" dirty="0"/>
          </a:p>
        </p:txBody>
      </p:sp>
      <p:sp>
        <p:nvSpPr>
          <p:cNvPr id="7" name="Text 5"/>
          <p:cNvSpPr/>
          <p:nvPr/>
        </p:nvSpPr>
        <p:spPr>
          <a:xfrm>
            <a:off x="804672" y="2103120"/>
            <a:ext cx="7772400" cy="219456"/>
          </a:xfrm>
          <a:prstGeom prst="rect">
            <a:avLst/>
          </a:prstGeom>
          <a:noFill/>
          <a:ln/>
        </p:spPr>
        <p:txBody>
          <a:bodyPr wrap="square" lIns="0" tIns="0" rIns="0" bIns="0" rtlCol="0" anchor="ctr"/>
          <a:lstStyle/>
          <a:p>
            <a:pPr indent="0" marL="0">
              <a:buNone/>
            </a:pPr>
            <a:r>
              <a:rPr lang="en-US" sz="1200" dirty="0">
                <a:solidFill>
                  <a:srgbClr val="0F2347"/>
                </a:solidFill>
                <a:latin typeface="DM Sans" pitchFamily="34" charset="0"/>
                <a:ea typeface="DM Sans" pitchFamily="34" charset="-122"/>
                <a:cs typeface="DM Sans" pitchFamily="34" charset="-120"/>
              </a:rPr>
              <a:t>My position appears to be:</a:t>
            </a:r>
            <a:endParaRPr lang="en-US" sz="1200" dirty="0"/>
          </a:p>
        </p:txBody>
      </p:sp>
      <p:sp>
        <p:nvSpPr>
          <p:cNvPr id="8" name="Text 6"/>
          <p:cNvSpPr/>
          <p:nvPr/>
        </p:nvSpPr>
        <p:spPr>
          <a:xfrm>
            <a:off x="804672" y="2340864"/>
            <a:ext cx="7772400" cy="237744"/>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State  /  boundary  /  incomplete</a:t>
            </a:r>
            <a:endParaRPr lang="en-US" sz="1150" dirty="0"/>
          </a:p>
        </p:txBody>
      </p:sp>
      <p:sp>
        <p:nvSpPr>
          <p:cNvPr id="9" name="Shape 7"/>
          <p:cNvSpPr/>
          <p:nvPr/>
        </p:nvSpPr>
        <p:spPr>
          <a:xfrm>
            <a:off x="566928" y="2706624"/>
            <a:ext cx="25603" cy="713232"/>
          </a:xfrm>
          <a:prstGeom prst="rect">
            <a:avLst/>
          </a:prstGeom>
          <a:solidFill>
            <a:srgbClr val="C9A84C"/>
          </a:solidFill>
          <a:ln/>
        </p:spPr>
      </p:sp>
      <p:sp>
        <p:nvSpPr>
          <p:cNvPr id="10" name="Text 8"/>
          <p:cNvSpPr/>
          <p:nvPr/>
        </p:nvSpPr>
        <p:spPr>
          <a:xfrm>
            <a:off x="804672" y="2706624"/>
            <a:ext cx="7772400" cy="201168"/>
          </a:xfrm>
          <a:prstGeom prst="rect">
            <a:avLst/>
          </a:prstGeom>
          <a:noFill/>
          <a:ln/>
        </p:spPr>
        <p:txBody>
          <a:bodyPr wrap="square" lIns="0" tIns="0" rIns="0" bIns="0" rtlCol="0" anchor="ctr"/>
          <a:lstStyle/>
          <a:p>
            <a:pPr indent="0" marL="0">
              <a:buNone/>
            </a:pPr>
            <a:r>
              <a:rPr lang="en-US" sz="860" b="1" spc="120" kern="0" dirty="0">
                <a:solidFill>
                  <a:srgbClr val="C9A84C"/>
                </a:solidFill>
                <a:latin typeface="Montserrat" pitchFamily="34" charset="0"/>
                <a:ea typeface="Montserrat" pitchFamily="34" charset="-122"/>
                <a:cs typeface="Montserrat" pitchFamily="34" charset="-120"/>
              </a:rPr>
              <a:t>WHAT I NEED TO TEST</a:t>
            </a:r>
            <a:endParaRPr lang="en-US" sz="860" dirty="0"/>
          </a:p>
        </p:txBody>
      </p:sp>
      <p:sp>
        <p:nvSpPr>
          <p:cNvPr id="11" name="Text 9"/>
          <p:cNvSpPr/>
          <p:nvPr/>
        </p:nvSpPr>
        <p:spPr>
          <a:xfrm>
            <a:off x="804672" y="2944368"/>
            <a:ext cx="7772400" cy="219456"/>
          </a:xfrm>
          <a:prstGeom prst="rect">
            <a:avLst/>
          </a:prstGeom>
          <a:noFill/>
          <a:ln/>
        </p:spPr>
        <p:txBody>
          <a:bodyPr wrap="square" lIns="0" tIns="0" rIns="0" bIns="0" rtlCol="0" anchor="ctr"/>
          <a:lstStyle/>
          <a:p>
            <a:pPr indent="0" marL="0">
              <a:buNone/>
            </a:pPr>
            <a:r>
              <a:rPr lang="en-US" sz="1200" dirty="0">
                <a:solidFill>
                  <a:srgbClr val="0F2347"/>
                </a:solidFill>
                <a:latin typeface="DM Sans" pitchFamily="34" charset="0"/>
                <a:ea typeface="DM Sans" pitchFamily="34" charset="-122"/>
                <a:cs typeface="DM Sans" pitchFamily="34" charset="-120"/>
              </a:rPr>
              <a:t>The category of move my evidence supports testing is:</a:t>
            </a:r>
            <a:endParaRPr lang="en-US" sz="1200" dirty="0"/>
          </a:p>
        </p:txBody>
      </p:sp>
      <p:sp>
        <p:nvSpPr>
          <p:cNvPr id="12" name="Text 10"/>
          <p:cNvSpPr/>
          <p:nvPr/>
        </p:nvSpPr>
        <p:spPr>
          <a:xfrm>
            <a:off x="804672" y="3182112"/>
            <a:ext cx="7772400" cy="237744"/>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____________________________</a:t>
            </a:r>
            <a:endParaRPr lang="en-US" sz="1150" dirty="0"/>
          </a:p>
        </p:txBody>
      </p:sp>
      <p:sp>
        <p:nvSpPr>
          <p:cNvPr id="13" name="Shape 11"/>
          <p:cNvSpPr/>
          <p:nvPr/>
        </p:nvSpPr>
        <p:spPr>
          <a:xfrm>
            <a:off x="566928" y="3547872"/>
            <a:ext cx="25603" cy="713232"/>
          </a:xfrm>
          <a:prstGeom prst="rect">
            <a:avLst/>
          </a:prstGeom>
          <a:solidFill>
            <a:srgbClr val="C9A84C"/>
          </a:solidFill>
          <a:ln/>
        </p:spPr>
      </p:sp>
      <p:sp>
        <p:nvSpPr>
          <p:cNvPr id="14" name="Text 12"/>
          <p:cNvSpPr/>
          <p:nvPr/>
        </p:nvSpPr>
        <p:spPr>
          <a:xfrm>
            <a:off x="804672" y="3547872"/>
            <a:ext cx="7772400" cy="201168"/>
          </a:xfrm>
          <a:prstGeom prst="rect">
            <a:avLst/>
          </a:prstGeom>
          <a:noFill/>
          <a:ln/>
        </p:spPr>
        <p:txBody>
          <a:bodyPr wrap="square" lIns="0" tIns="0" rIns="0" bIns="0" rtlCol="0" anchor="ctr"/>
          <a:lstStyle/>
          <a:p>
            <a:pPr indent="0" marL="0">
              <a:buNone/>
            </a:pPr>
            <a:r>
              <a:rPr lang="en-US" sz="860" b="1" spc="120" kern="0" dirty="0">
                <a:solidFill>
                  <a:srgbClr val="C9A84C"/>
                </a:solidFill>
                <a:latin typeface="Montserrat" pitchFamily="34" charset="0"/>
                <a:ea typeface="Montserrat" pitchFamily="34" charset="-122"/>
                <a:cs typeface="Montserrat" pitchFamily="34" charset="-120"/>
              </a:rPr>
              <a:t>WHAT HAPPENS NEXT</a:t>
            </a:r>
            <a:endParaRPr lang="en-US" sz="860" dirty="0"/>
          </a:p>
        </p:txBody>
      </p:sp>
      <p:sp>
        <p:nvSpPr>
          <p:cNvPr id="15" name="Text 13"/>
          <p:cNvSpPr/>
          <p:nvPr/>
        </p:nvSpPr>
        <p:spPr>
          <a:xfrm>
            <a:off x="804672" y="3785616"/>
            <a:ext cx="7772400" cy="219456"/>
          </a:xfrm>
          <a:prstGeom prst="rect">
            <a:avLst/>
          </a:prstGeom>
          <a:noFill/>
          <a:ln/>
        </p:spPr>
        <p:txBody>
          <a:bodyPr wrap="square" lIns="0" tIns="0" rIns="0" bIns="0" rtlCol="0" anchor="ctr"/>
          <a:lstStyle/>
          <a:p>
            <a:pPr indent="0" marL="0">
              <a:buNone/>
            </a:pPr>
            <a:r>
              <a:rPr lang="en-US" sz="1200" dirty="0">
                <a:solidFill>
                  <a:srgbClr val="0F2347"/>
                </a:solidFill>
                <a:latin typeface="DM Sans" pitchFamily="34" charset="0"/>
                <a:ea typeface="DM Sans" pitchFamily="34" charset="-122"/>
                <a:cs typeface="DM Sans" pitchFamily="34" charset="-120"/>
              </a:rPr>
              <a:t>One action, conversation, or piece of evidence I will pursue next is:</a:t>
            </a:r>
            <a:endParaRPr lang="en-US" sz="1200" dirty="0"/>
          </a:p>
        </p:txBody>
      </p:sp>
      <p:sp>
        <p:nvSpPr>
          <p:cNvPr id="16" name="Text 14"/>
          <p:cNvSpPr/>
          <p:nvPr/>
        </p:nvSpPr>
        <p:spPr>
          <a:xfrm>
            <a:off x="804672" y="4023360"/>
            <a:ext cx="7772400" cy="237744"/>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____________________________</a:t>
            </a:r>
            <a:endParaRPr lang="en-US" sz="1150" dirty="0"/>
          </a:p>
        </p:txBody>
      </p:sp>
      <p:sp>
        <p:nvSpPr>
          <p:cNvPr id="17" name="Text 15"/>
          <p:cNvSpPr/>
          <p:nvPr/>
        </p:nvSpPr>
        <p:spPr>
          <a:xfrm>
            <a:off x="566928" y="4443984"/>
            <a:ext cx="8010144" cy="274320"/>
          </a:xfrm>
          <a:prstGeom prst="rect">
            <a:avLst/>
          </a:prstGeom>
          <a:noFill/>
          <a:ln/>
        </p:spPr>
        <p:txBody>
          <a:bodyPr wrap="square" lIns="0" tIns="0" rIns="0" bIns="0" rtlCol="0" anchor="ctr"/>
          <a:lstStyle/>
          <a:p>
            <a:pPr indent="0" marL="0">
              <a:buNone/>
            </a:pPr>
            <a:r>
              <a:rPr lang="en-US" sz="1080" i="1" dirty="0">
                <a:solidFill>
                  <a:srgbClr val="5A6B84"/>
                </a:solidFill>
                <a:latin typeface="DM Sans" pitchFamily="34" charset="0"/>
                <a:ea typeface="DM Sans" pitchFamily="34" charset="-122"/>
                <a:cs typeface="DM Sans" pitchFamily="34" charset="-120"/>
              </a:rPr>
              <a:t>This is a note, not a decision. It records what your evidence supports testing next.</a:t>
            </a:r>
            <a:endParaRPr lang="en-US" sz="108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28</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WHERE TO GO DEEPER</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Two routes, if you want them</a:t>
            </a:r>
            <a:endParaRPr lang="en-US" sz="27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This session is complete on its own. Neither route is required.</a:t>
            </a:r>
            <a:endParaRPr lang="en-US" sz="1150" dirty="0"/>
          </a:p>
        </p:txBody>
      </p:sp>
      <p:sp>
        <p:nvSpPr>
          <p:cNvPr id="5" name="Shape 3"/>
          <p:cNvSpPr/>
          <p:nvPr/>
        </p:nvSpPr>
        <p:spPr>
          <a:xfrm>
            <a:off x="566928" y="1883664"/>
            <a:ext cx="3886200" cy="1975104"/>
          </a:xfrm>
          <a:prstGeom prst="rect">
            <a:avLst/>
          </a:prstGeom>
          <a:solidFill>
            <a:srgbClr val="E9EDF3"/>
          </a:solidFill>
          <a:ln/>
        </p:spPr>
      </p:sp>
      <p:sp>
        <p:nvSpPr>
          <p:cNvPr id="6" name="Text 4"/>
          <p:cNvSpPr/>
          <p:nvPr/>
        </p:nvSpPr>
        <p:spPr>
          <a:xfrm>
            <a:off x="804672" y="2048256"/>
            <a:ext cx="3383280" cy="182880"/>
          </a:xfrm>
          <a:prstGeom prst="rect">
            <a:avLst/>
          </a:prstGeom>
          <a:noFill/>
          <a:ln/>
        </p:spPr>
        <p:txBody>
          <a:bodyPr wrap="square" lIns="0" tIns="0" rIns="0" bIns="0" rtlCol="0" anchor="ctr"/>
          <a:lstStyle/>
          <a:p>
            <a:pPr indent="0" marL="0">
              <a:buNone/>
            </a:pPr>
            <a:r>
              <a:rPr lang="en-US" sz="840" b="1" spc="120" kern="0" dirty="0">
                <a:solidFill>
                  <a:srgbClr val="5A6B84"/>
                </a:solidFill>
                <a:latin typeface="Montserrat" pitchFamily="34" charset="0"/>
                <a:ea typeface="Montserrat" pitchFamily="34" charset="-122"/>
                <a:cs typeface="Montserrat" pitchFamily="34" charset="-120"/>
              </a:rPr>
              <a:t>SELF-GUIDED</a:t>
            </a:r>
            <a:endParaRPr lang="en-US" sz="840" dirty="0"/>
          </a:p>
        </p:txBody>
      </p:sp>
      <p:sp>
        <p:nvSpPr>
          <p:cNvPr id="7" name="Text 5"/>
          <p:cNvSpPr/>
          <p:nvPr/>
        </p:nvSpPr>
        <p:spPr>
          <a:xfrm>
            <a:off x="804672" y="2286000"/>
            <a:ext cx="3383280" cy="603504"/>
          </a:xfrm>
          <a:prstGeom prst="rect">
            <a:avLst/>
          </a:prstGeom>
          <a:noFill/>
          <a:ln/>
        </p:spPr>
        <p:txBody>
          <a:bodyPr wrap="square" lIns="0" tIns="0" rIns="0" bIns="0" rtlCol="0" anchor="ctr"/>
          <a:lstStyle/>
          <a:p>
            <a:pPr indent="0" marL="0">
              <a:lnSpc>
                <a:spcPts val="2200"/>
              </a:lnSpc>
              <a:buNone/>
            </a:pPr>
            <a:r>
              <a:rPr lang="en-US" sz="1900" b="1" dirty="0">
                <a:solidFill>
                  <a:srgbClr val="0F2347"/>
                </a:solidFill>
                <a:latin typeface="Cormorant Garamond" pitchFamily="34" charset="0"/>
                <a:ea typeface="Cormorant Garamond" pitchFamily="34" charset="-122"/>
                <a:cs typeface="Cormorant Garamond" pitchFamily="34" charset="-120"/>
              </a:rPr>
              <a:t>Capability Formation</a:t>
            </a:r>
            <a:endParaRPr lang="en-US" sz="1900" dirty="0"/>
          </a:p>
          <a:p>
            <a:pPr indent="0" marL="0">
              <a:lnSpc>
                <a:spcPts val="2200"/>
              </a:lnSpc>
              <a:buNone/>
            </a:pPr>
            <a:r>
              <a:rPr lang="en-US" sz="1900" b="1" dirty="0">
                <a:solidFill>
                  <a:srgbClr val="0F2347"/>
                </a:solidFill>
                <a:latin typeface="Cormorant Garamond" pitchFamily="34" charset="0"/>
                <a:ea typeface="Cormorant Garamond" pitchFamily="34" charset="-122"/>
                <a:cs typeface="Cormorant Garamond" pitchFamily="34" charset="-120"/>
              </a:rPr>
              <a:t>Field Kit</a:t>
            </a:r>
            <a:endParaRPr lang="en-US" sz="1900" dirty="0"/>
          </a:p>
        </p:txBody>
      </p:sp>
      <p:sp>
        <p:nvSpPr>
          <p:cNvPr id="8" name="Text 6"/>
          <p:cNvSpPr/>
          <p:nvPr/>
        </p:nvSpPr>
        <p:spPr>
          <a:xfrm>
            <a:off x="804672" y="2926080"/>
            <a:ext cx="3383280" cy="274320"/>
          </a:xfrm>
          <a:prstGeom prst="rect">
            <a:avLst/>
          </a:prstGeom>
          <a:noFill/>
          <a:ln/>
        </p:spPr>
        <p:txBody>
          <a:bodyPr wrap="square" lIns="0" tIns="0" rIns="0" bIns="0" rtlCol="0" anchor="ctr"/>
          <a:lstStyle/>
          <a:p>
            <a:pPr indent="0" marL="0">
              <a:buNone/>
            </a:pPr>
            <a:r>
              <a:rPr lang="en-US" sz="1300" b="1" dirty="0">
                <a:solidFill>
                  <a:srgbClr val="C9A84C"/>
                </a:solidFill>
                <a:latin typeface="Montserrat" pitchFamily="34" charset="0"/>
                <a:ea typeface="Montserrat" pitchFamily="34" charset="-122"/>
                <a:cs typeface="Montserrat" pitchFamily="34" charset="-120"/>
              </a:rPr>
              <a:t>$150</a:t>
            </a:r>
            <a:endParaRPr lang="en-US" sz="1300" dirty="0"/>
          </a:p>
        </p:txBody>
      </p:sp>
      <p:sp>
        <p:nvSpPr>
          <p:cNvPr id="9" name="Text 7"/>
          <p:cNvSpPr/>
          <p:nvPr/>
        </p:nvSpPr>
        <p:spPr>
          <a:xfrm>
            <a:off x="804672" y="3255264"/>
            <a:ext cx="3383280" cy="548640"/>
          </a:xfrm>
          <a:prstGeom prst="rect">
            <a:avLst/>
          </a:prstGeom>
          <a:noFill/>
          <a:ln/>
        </p:spPr>
        <p:txBody>
          <a:bodyPr wrap="square" lIns="0" tIns="0" rIns="0" bIns="0" rtlCol="0" anchor="ctr"/>
          <a:lstStyle/>
          <a:p>
            <a:pPr indent="0" marL="0">
              <a:lnSpc>
                <a:spcPts val="1400"/>
              </a:lnSpc>
              <a:buNone/>
            </a:pPr>
            <a:r>
              <a:rPr lang="en-US" sz="1060" dirty="0">
                <a:solidFill>
                  <a:srgbClr val="0F2347"/>
                </a:solidFill>
                <a:latin typeface="DM Sans" pitchFamily="34" charset="0"/>
                <a:ea typeface="DM Sans" pitchFamily="34" charset="-122"/>
                <a:cs typeface="DM Sans" pitchFamily="34" charset="-120"/>
              </a:rPr>
              <a:t>Work through the fuller state costs, the evidence process and your rescore privately, at your own pace.</a:t>
            </a:r>
            <a:endParaRPr lang="en-US" sz="1060" dirty="0"/>
          </a:p>
        </p:txBody>
      </p:sp>
      <p:sp>
        <p:nvSpPr>
          <p:cNvPr id="10" name="Shape 8"/>
          <p:cNvSpPr/>
          <p:nvPr/>
        </p:nvSpPr>
        <p:spPr>
          <a:xfrm>
            <a:off x="4690872" y="1883664"/>
            <a:ext cx="3886200" cy="1975104"/>
          </a:xfrm>
          <a:prstGeom prst="rect">
            <a:avLst/>
          </a:prstGeom>
          <a:solidFill>
            <a:srgbClr val="0F2347"/>
          </a:solidFill>
          <a:ln/>
        </p:spPr>
      </p:sp>
      <p:sp>
        <p:nvSpPr>
          <p:cNvPr id="11" name="Text 9"/>
          <p:cNvSpPr/>
          <p:nvPr/>
        </p:nvSpPr>
        <p:spPr>
          <a:xfrm>
            <a:off x="4928616" y="2048256"/>
            <a:ext cx="3383280" cy="182880"/>
          </a:xfrm>
          <a:prstGeom prst="rect">
            <a:avLst/>
          </a:prstGeom>
          <a:noFill/>
          <a:ln/>
        </p:spPr>
        <p:txBody>
          <a:bodyPr wrap="square" lIns="0" tIns="0" rIns="0" bIns="0" rtlCol="0" anchor="ctr"/>
          <a:lstStyle/>
          <a:p>
            <a:pPr indent="0" marL="0">
              <a:buNone/>
            </a:pPr>
            <a:r>
              <a:rPr lang="en-US" sz="840" b="1" spc="120" kern="0" dirty="0">
                <a:solidFill>
                  <a:srgbClr val="C9A84C"/>
                </a:solidFill>
                <a:latin typeface="Montserrat" pitchFamily="34" charset="0"/>
                <a:ea typeface="Montserrat" pitchFamily="34" charset="-122"/>
                <a:cs typeface="Montserrat" pitchFamily="34" charset="-120"/>
              </a:rPr>
              <a:t>HIGH-TOUCH</a:t>
            </a:r>
            <a:endParaRPr lang="en-US" sz="840" dirty="0"/>
          </a:p>
        </p:txBody>
      </p:sp>
      <p:sp>
        <p:nvSpPr>
          <p:cNvPr id="12" name="Text 10"/>
          <p:cNvSpPr/>
          <p:nvPr/>
        </p:nvSpPr>
        <p:spPr>
          <a:xfrm>
            <a:off x="4928616" y="2286000"/>
            <a:ext cx="3383280" cy="603504"/>
          </a:xfrm>
          <a:prstGeom prst="rect">
            <a:avLst/>
          </a:prstGeom>
          <a:noFill/>
          <a:ln/>
        </p:spPr>
        <p:txBody>
          <a:bodyPr wrap="square" lIns="0" tIns="0" rIns="0" bIns="0" rtlCol="0" anchor="ctr"/>
          <a:lstStyle/>
          <a:p>
            <a:pPr indent="0" marL="0">
              <a:lnSpc>
                <a:spcPts val="2200"/>
              </a:lnSpc>
              <a:buNone/>
            </a:pPr>
            <a:r>
              <a:rPr lang="en-US" sz="1900" b="1" dirty="0">
                <a:solidFill>
                  <a:srgbClr val="F5F0E8"/>
                </a:solidFill>
                <a:latin typeface="Cormorant Garamond" pitchFamily="34" charset="0"/>
                <a:ea typeface="Cormorant Garamond" pitchFamily="34" charset="-122"/>
                <a:cs typeface="Cormorant Garamond" pitchFamily="34" charset="-120"/>
              </a:rPr>
              <a:t>Private Capability</a:t>
            </a:r>
            <a:endParaRPr lang="en-US" sz="1900" dirty="0"/>
          </a:p>
          <a:p>
            <a:pPr indent="0" marL="0">
              <a:lnSpc>
                <a:spcPts val="2200"/>
              </a:lnSpc>
              <a:buNone/>
            </a:pPr>
            <a:r>
              <a:rPr lang="en-US" sz="1900" b="1" dirty="0">
                <a:solidFill>
                  <a:srgbClr val="F5F0E8"/>
                </a:solidFill>
                <a:latin typeface="Cormorant Garamond" pitchFamily="34" charset="0"/>
                <a:ea typeface="Cormorant Garamond" pitchFamily="34" charset="-122"/>
                <a:cs typeface="Cormorant Garamond" pitchFamily="34" charset="-120"/>
              </a:rPr>
              <a:t>Position Read</a:t>
            </a:r>
            <a:endParaRPr lang="en-US" sz="1900" dirty="0"/>
          </a:p>
        </p:txBody>
      </p:sp>
      <p:sp>
        <p:nvSpPr>
          <p:cNvPr id="13" name="Text 11"/>
          <p:cNvSpPr/>
          <p:nvPr/>
        </p:nvSpPr>
        <p:spPr>
          <a:xfrm>
            <a:off x="4928616" y="2926080"/>
            <a:ext cx="3383280" cy="274320"/>
          </a:xfrm>
          <a:prstGeom prst="rect">
            <a:avLst/>
          </a:prstGeom>
          <a:noFill/>
          <a:ln/>
        </p:spPr>
        <p:txBody>
          <a:bodyPr wrap="square" lIns="0" tIns="0" rIns="0" bIns="0" rtlCol="0" anchor="ctr"/>
          <a:lstStyle/>
          <a:p>
            <a:pPr indent="0" marL="0">
              <a:buNone/>
            </a:pPr>
            <a:r>
              <a:rPr lang="en-US" sz="1300" b="1" dirty="0">
                <a:solidFill>
                  <a:srgbClr val="C9A84C"/>
                </a:solidFill>
                <a:latin typeface="Montserrat" pitchFamily="34" charset="0"/>
                <a:ea typeface="Montserrat" pitchFamily="34" charset="-122"/>
                <a:cs typeface="Montserrat" pitchFamily="34" charset="-120"/>
              </a:rPr>
              <a:t>Starting at $500</a:t>
            </a:r>
            <a:endParaRPr lang="en-US" sz="1300" dirty="0"/>
          </a:p>
        </p:txBody>
      </p:sp>
      <p:sp>
        <p:nvSpPr>
          <p:cNvPr id="14" name="Text 12"/>
          <p:cNvSpPr/>
          <p:nvPr/>
        </p:nvSpPr>
        <p:spPr>
          <a:xfrm>
            <a:off x="4928616" y="3255264"/>
            <a:ext cx="3383280" cy="548640"/>
          </a:xfrm>
          <a:prstGeom prst="rect">
            <a:avLst/>
          </a:prstGeom>
          <a:noFill/>
          <a:ln/>
        </p:spPr>
        <p:txBody>
          <a:bodyPr wrap="square" lIns="0" tIns="0" rIns="0" bIns="0" rtlCol="0" anchor="ctr"/>
          <a:lstStyle/>
          <a:p>
            <a:pPr indent="0" marL="0">
              <a:lnSpc>
                <a:spcPts val="1400"/>
              </a:lnSpc>
              <a:buNone/>
            </a:pPr>
            <a:r>
              <a:rPr lang="en-US" sz="1060" dirty="0">
                <a:solidFill>
                  <a:srgbClr val="F5F0E8"/>
                </a:solidFill>
                <a:latin typeface="DM Sans" pitchFamily="34" charset="0"/>
                <a:ea typeface="DM Sans" pitchFamily="34" charset="-122"/>
                <a:cs typeface="DM Sans" pitchFamily="34" charset="-120"/>
              </a:rPr>
              <a:t>If the scores are clear but the decision is not, this applies the evidence to your actual context, constraints and next move.</a:t>
            </a:r>
            <a:endParaRPr lang="en-US" sz="1060" dirty="0"/>
          </a:p>
        </p:txBody>
      </p:sp>
      <p:sp>
        <p:nvSpPr>
          <p:cNvPr id="15" name="Text 13"/>
          <p:cNvSpPr/>
          <p:nvPr/>
        </p:nvSpPr>
        <p:spPr>
          <a:xfrm>
            <a:off x="566928" y="4114800"/>
            <a:ext cx="8010144" cy="310896"/>
          </a:xfrm>
          <a:prstGeom prst="rect">
            <a:avLst/>
          </a:prstGeom>
          <a:noFill/>
          <a:ln/>
        </p:spPr>
        <p:txBody>
          <a:bodyPr wrap="square" lIns="0" tIns="0" rIns="0" bIns="0" rtlCol="0" anchor="ctr"/>
          <a:lstStyle/>
          <a:p>
            <a:pPr algn="ctr" indent="0" marL="0">
              <a:buNone/>
            </a:pPr>
            <a:r>
              <a:rPr lang="en-US" sz="1150" i="1" dirty="0">
                <a:solidFill>
                  <a:srgbClr val="5A6B84"/>
                </a:solidFill>
                <a:latin typeface="DM Sans" pitchFamily="34" charset="0"/>
                <a:ea typeface="DM Sans" pitchFamily="34" charset="-122"/>
                <a:cs typeface="DM Sans" pitchFamily="34" charset="-120"/>
              </a:rPr>
              <a:t>The free session helps you read the position. The private read helps you apply the reading to the decision.</a:t>
            </a:r>
            <a:endParaRPr lang="en-US" sz="1150" dirty="0"/>
          </a:p>
        </p:txBody>
      </p:sp>
      <p:sp>
        <p:nvSpPr>
          <p:cNvPr id="17" name="Text 14"/>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8" name="Text 15"/>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29</a:t>
            </a:r>
            <a:endParaRPr lang="en-US" sz="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822960"/>
            <a:ext cx="8010144"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BEFORE YOU GO</a:t>
            </a:r>
            <a:endParaRPr lang="en-US" sz="900" dirty="0"/>
          </a:p>
        </p:txBody>
      </p:sp>
      <p:sp>
        <p:nvSpPr>
          <p:cNvPr id="3" name="Text 1"/>
          <p:cNvSpPr/>
          <p:nvPr/>
        </p:nvSpPr>
        <p:spPr>
          <a:xfrm>
            <a:off x="566928" y="1188720"/>
            <a:ext cx="8010144" cy="1188720"/>
          </a:xfrm>
          <a:prstGeom prst="rect">
            <a:avLst/>
          </a:prstGeom>
          <a:noFill/>
          <a:ln/>
        </p:spPr>
        <p:txBody>
          <a:bodyPr wrap="square" lIns="0" tIns="0" rIns="0" bIns="0" rtlCol="0" anchor="ctr"/>
          <a:lstStyle/>
          <a:p>
            <a:pPr indent="0" marL="0">
              <a:lnSpc>
                <a:spcPts val="3800"/>
              </a:lnSpc>
              <a:buNone/>
            </a:pPr>
            <a:r>
              <a:rPr lang="en-US" sz="3100" b="1" dirty="0">
                <a:solidFill>
                  <a:srgbClr val="F5F0E8"/>
                </a:solidFill>
                <a:latin typeface="Cormorant Garamond" pitchFamily="34" charset="0"/>
                <a:ea typeface="Cormorant Garamond" pitchFamily="34" charset="-122"/>
                <a:cs typeface="Cormorant Garamond" pitchFamily="34" charset="-120"/>
              </a:rPr>
              <a:t>You have read your position.</a:t>
            </a:r>
            <a:endParaRPr lang="en-US" sz="3100" dirty="0"/>
          </a:p>
          <a:p>
            <a:pPr indent="0" marL="0">
              <a:lnSpc>
                <a:spcPts val="3800"/>
              </a:lnSpc>
              <a:buNone/>
            </a:pPr>
            <a:r>
              <a:rPr lang="en-US" sz="3100" b="1" dirty="0">
                <a:solidFill>
                  <a:srgbClr val="F5F0E8"/>
                </a:solidFill>
                <a:latin typeface="Cormorant Garamond" pitchFamily="34" charset="0"/>
                <a:ea typeface="Cormorant Garamond" pitchFamily="34" charset="-122"/>
                <a:cs typeface="Cormorant Garamond" pitchFamily="34" charset="-120"/>
              </a:rPr>
              <a:t>The move is the next conversation.</a:t>
            </a:r>
            <a:endParaRPr lang="en-US" sz="3100" dirty="0"/>
          </a:p>
        </p:txBody>
      </p:sp>
      <p:sp>
        <p:nvSpPr>
          <p:cNvPr id="4" name="Shape 2"/>
          <p:cNvSpPr/>
          <p:nvPr/>
        </p:nvSpPr>
        <p:spPr>
          <a:xfrm>
            <a:off x="566928" y="2523744"/>
            <a:ext cx="2651760" cy="20117"/>
          </a:xfrm>
          <a:prstGeom prst="rect">
            <a:avLst/>
          </a:prstGeom>
          <a:solidFill>
            <a:srgbClr val="C9A84C"/>
          </a:solidFill>
          <a:ln/>
        </p:spPr>
      </p:sp>
      <p:sp>
        <p:nvSpPr>
          <p:cNvPr id="5" name="Text 3"/>
          <p:cNvSpPr/>
          <p:nvPr/>
        </p:nvSpPr>
        <p:spPr>
          <a:xfrm>
            <a:off x="566928" y="2761488"/>
            <a:ext cx="6309360" cy="731520"/>
          </a:xfrm>
          <a:prstGeom prst="rect">
            <a:avLst/>
          </a:prstGeom>
          <a:noFill/>
          <a:ln/>
        </p:spPr>
        <p:txBody>
          <a:bodyPr wrap="square" lIns="0" tIns="0" rIns="0" bIns="0" rtlCol="0" anchor="ctr"/>
          <a:lstStyle/>
          <a:p>
            <a:pPr indent="0" marL="0">
              <a:lnSpc>
                <a:spcPts val="1900"/>
              </a:lnSpc>
              <a:buNone/>
            </a:pPr>
            <a:r>
              <a:rPr lang="en-US" sz="1300" dirty="0">
                <a:solidFill>
                  <a:srgbClr val="B8C5D9"/>
                </a:solidFill>
                <a:latin typeface="DM Sans" pitchFamily="34" charset="0"/>
                <a:ea typeface="DM Sans" pitchFamily="34" charset="-122"/>
                <a:cs typeface="DM Sans" pitchFamily="34" charset="-120"/>
              </a:rPr>
              <a:t>Put a rescore date ninety days out before you close your notes. When your reading changes, notice what changed. Share it only if you choose.</a:t>
            </a:r>
            <a:endParaRPr lang="en-US" sz="1300" dirty="0"/>
          </a:p>
        </p:txBody>
      </p:sp>
      <p:sp>
        <p:nvSpPr>
          <p:cNvPr id="6" name="Text 4"/>
          <p:cNvSpPr/>
          <p:nvPr/>
        </p:nvSpPr>
        <p:spPr>
          <a:xfrm>
            <a:off x="566928" y="4261104"/>
            <a:ext cx="8010144" cy="219456"/>
          </a:xfrm>
          <a:prstGeom prst="rect">
            <a:avLst/>
          </a:prstGeom>
          <a:noFill/>
          <a:ln/>
        </p:spPr>
        <p:txBody>
          <a:bodyPr wrap="square" lIns="0" tIns="0" rIns="0" bIns="0" rtlCol="0" anchor="ctr"/>
          <a:lstStyle/>
          <a:p>
            <a:pPr indent="0" marL="0">
              <a:buNone/>
            </a:pPr>
            <a:r>
              <a:rPr lang="en-US" sz="860" b="1" spc="120" kern="0" dirty="0">
                <a:solidFill>
                  <a:srgbClr val="B8C5D9"/>
                </a:solidFill>
                <a:latin typeface="Montserrat" pitchFamily="34" charset="0"/>
                <a:ea typeface="Montserrat" pitchFamily="34" charset="-122"/>
                <a:cs typeface="Montserrat" pitchFamily="34" charset="-120"/>
              </a:rPr>
              <a:t>Capability Formation  ·  Temidayo Afonja  ·  The Density Group</a:t>
            </a:r>
            <a:endParaRPr lang="en-US" sz="860" dirty="0"/>
          </a:p>
        </p:txBody>
      </p:sp>
      <p:sp>
        <p:nvSpPr>
          <p:cNvPr id="8" name="Text 5"/>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9" name="Text 6"/>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30</a:t>
            </a:r>
            <a:endParaRPr lang="en-US" sz="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1440E"/>
                </a:solidFill>
                <a:latin typeface="Montserrat" pitchFamily="34" charset="0"/>
                <a:ea typeface="Montserrat" pitchFamily="34" charset="-122"/>
                <a:cs typeface="Montserrat" pitchFamily="34" charset="-120"/>
              </a:rPr>
              <a:t>LIVE ONLY  ·  NOT IN THE PUBLIC REPLAY</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958"/>
              </a:lnSpc>
              <a:buNone/>
            </a:pPr>
            <a:r>
              <a:rPr lang="en-US" sz="2900" b="1" dirty="0">
                <a:solidFill>
                  <a:srgbClr val="0F2347"/>
                </a:solidFill>
                <a:latin typeface="Cormorant Garamond" pitchFamily="34" charset="0"/>
                <a:ea typeface="Cormorant Garamond" pitchFamily="34" charset="-122"/>
                <a:cs typeface="Cormorant Garamond" pitchFamily="34" charset="-120"/>
              </a:rPr>
              <a:t>Questions &amp; Applications</a:t>
            </a:r>
            <a:endParaRPr lang="en-US" sz="2900" dirty="0"/>
          </a:p>
        </p:txBody>
      </p:sp>
      <p:sp>
        <p:nvSpPr>
          <p:cNvPr id="4" name="Text 2"/>
          <p:cNvSpPr/>
          <p:nvPr/>
        </p:nvSpPr>
        <p:spPr>
          <a:xfrm>
            <a:off x="566928" y="1389888"/>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Fifteen minutes. The recording has stopped.</a:t>
            </a:r>
            <a:endParaRPr lang="en-US" sz="1150" dirty="0"/>
          </a:p>
        </p:txBody>
      </p:sp>
      <p:sp>
        <p:nvSpPr>
          <p:cNvPr id="5" name="Shape 3"/>
          <p:cNvSpPr/>
          <p:nvPr/>
        </p:nvSpPr>
        <p:spPr>
          <a:xfrm>
            <a:off x="566928" y="1883664"/>
            <a:ext cx="8010144" cy="548640"/>
          </a:xfrm>
          <a:prstGeom prst="rect">
            <a:avLst/>
          </a:prstGeom>
          <a:solidFill>
            <a:srgbClr val="0F2347"/>
          </a:solidFill>
          <a:ln/>
        </p:spPr>
      </p:sp>
      <p:sp>
        <p:nvSpPr>
          <p:cNvPr id="6" name="Text 4"/>
          <p:cNvSpPr/>
          <p:nvPr/>
        </p:nvSpPr>
        <p:spPr>
          <a:xfrm>
            <a:off x="804672" y="1883664"/>
            <a:ext cx="7534656" cy="548640"/>
          </a:xfrm>
          <a:prstGeom prst="rect">
            <a:avLst/>
          </a:prstGeom>
          <a:noFill/>
          <a:ln/>
        </p:spPr>
        <p:txBody>
          <a:bodyPr wrap="square" lIns="0" tIns="0" rIns="0" bIns="0" rtlCol="0" anchor="ctr"/>
          <a:lstStyle/>
          <a:p>
            <a:pPr indent="0" marL="0">
              <a:buNone/>
            </a:pPr>
            <a:r>
              <a:rPr lang="en-US" sz="1650" b="1" dirty="0">
                <a:solidFill>
                  <a:srgbClr val="F5F0E8"/>
                </a:solidFill>
                <a:latin typeface="Cormorant Garamond" pitchFamily="34" charset="0"/>
                <a:ea typeface="Cormorant Garamond" pitchFamily="34" charset="-122"/>
                <a:cs typeface="Cormorant Garamond" pitchFamily="34" charset="-120"/>
              </a:rPr>
              <a:t>“I can help you clarify what your evidence supports. I cannot make the employment decision for you.”</a:t>
            </a:r>
            <a:endParaRPr lang="en-US" sz="1650" dirty="0"/>
          </a:p>
        </p:txBody>
      </p:sp>
      <p:sp>
        <p:nvSpPr>
          <p:cNvPr id="7" name="Text 5"/>
          <p:cNvSpPr/>
          <p:nvPr/>
        </p:nvSpPr>
        <p:spPr>
          <a:xfrm>
            <a:off x="566928" y="2615184"/>
            <a:ext cx="3840480" cy="182880"/>
          </a:xfrm>
          <a:prstGeom prst="rect">
            <a:avLst/>
          </a:prstGeom>
          <a:noFill/>
          <a:ln/>
        </p:spPr>
        <p:txBody>
          <a:bodyPr wrap="square" lIns="0" tIns="0" rIns="0" bIns="0" rtlCol="0" anchor="ctr"/>
          <a:lstStyle/>
          <a:p>
            <a:pPr indent="0" marL="0">
              <a:buNone/>
            </a:pPr>
            <a:r>
              <a:rPr lang="en-US" sz="840" b="1" spc="120" kern="0" dirty="0">
                <a:solidFill>
                  <a:srgbClr val="C9A84C"/>
                </a:solidFill>
                <a:latin typeface="Montserrat" pitchFamily="34" charset="0"/>
                <a:ea typeface="Montserrat" pitchFamily="34" charset="-122"/>
                <a:cs typeface="Montserrat" pitchFamily="34" charset="-120"/>
              </a:rPr>
              <a:t>WELCOME</a:t>
            </a:r>
            <a:endParaRPr lang="en-US" sz="840" dirty="0"/>
          </a:p>
        </p:txBody>
      </p:sp>
      <p:sp>
        <p:nvSpPr>
          <p:cNvPr id="8" name="Text 6"/>
          <p:cNvSpPr/>
          <p:nvPr/>
        </p:nvSpPr>
        <p:spPr>
          <a:xfrm>
            <a:off x="566928" y="2852928"/>
            <a:ext cx="3840480" cy="1097280"/>
          </a:xfrm>
          <a:prstGeom prst="rect">
            <a:avLst/>
          </a:prstGeom>
          <a:noFill/>
          <a:ln/>
        </p:spPr>
        <p:txBody>
          <a:bodyPr wrap="square" lIns="0" tIns="0" rIns="0" bIns="0" rtlCol="0" anchor="ctr"/>
          <a:lstStyle/>
          <a:p>
            <a:pPr indent="0" marL="0">
              <a:lnSpc>
                <a:spcPts val="1400"/>
              </a:lnSpc>
              <a:buNone/>
            </a:pPr>
            <a:r>
              <a:rPr lang="en-US" sz="1060" dirty="0">
                <a:solidFill>
                  <a:srgbClr val="0F2347"/>
                </a:solidFill>
                <a:latin typeface="DM Sans" pitchFamily="34" charset="0"/>
                <a:ea typeface="DM Sans" pitchFamily="34" charset="-122"/>
                <a:cs typeface="DM Sans" pitchFamily="34" charset="-120"/>
              </a:rPr>
              <a:t>Statement interpretation  ·  boundary and incomplete readings  ·  evidence questions  ·  move-category distinctions  ·  promotion and reorganisation applications  ·  what to investigate next</a:t>
            </a:r>
            <a:endParaRPr lang="en-US" sz="1060" dirty="0"/>
          </a:p>
        </p:txBody>
      </p:sp>
      <p:sp>
        <p:nvSpPr>
          <p:cNvPr id="9" name="Text 7"/>
          <p:cNvSpPr/>
          <p:nvPr/>
        </p:nvSpPr>
        <p:spPr>
          <a:xfrm>
            <a:off x="4690872" y="2615184"/>
            <a:ext cx="3886200" cy="182880"/>
          </a:xfrm>
          <a:prstGeom prst="rect">
            <a:avLst/>
          </a:prstGeom>
          <a:noFill/>
          <a:ln/>
        </p:spPr>
        <p:txBody>
          <a:bodyPr wrap="square" lIns="0" tIns="0" rIns="0" bIns="0" rtlCol="0" anchor="ctr"/>
          <a:lstStyle/>
          <a:p>
            <a:pPr indent="0" marL="0">
              <a:buNone/>
            </a:pPr>
            <a:r>
              <a:rPr lang="en-US" sz="840" b="1" spc="120" kern="0" dirty="0">
                <a:solidFill>
                  <a:srgbClr val="C1440E"/>
                </a:solidFill>
                <a:latin typeface="Montserrat" pitchFamily="34" charset="0"/>
                <a:ea typeface="Montserrat" pitchFamily="34" charset="-122"/>
                <a:cs typeface="Montserrat" pitchFamily="34" charset="-120"/>
              </a:rPr>
              <a:t>OUTSIDE THE BOUNDARY</a:t>
            </a:r>
            <a:endParaRPr lang="en-US" sz="840" dirty="0"/>
          </a:p>
        </p:txBody>
      </p:sp>
      <p:sp>
        <p:nvSpPr>
          <p:cNvPr id="10" name="Text 8"/>
          <p:cNvSpPr/>
          <p:nvPr/>
        </p:nvSpPr>
        <p:spPr>
          <a:xfrm>
            <a:off x="4690872" y="2852928"/>
            <a:ext cx="3886200" cy="1097280"/>
          </a:xfrm>
          <a:prstGeom prst="rect">
            <a:avLst/>
          </a:prstGeom>
          <a:noFill/>
          <a:ln/>
        </p:spPr>
        <p:txBody>
          <a:bodyPr wrap="square" lIns="0" tIns="0" rIns="0" bIns="0" rtlCol="0" anchor="ctr"/>
          <a:lstStyle/>
          <a:p>
            <a:pPr indent="0" marL="0">
              <a:lnSpc>
                <a:spcPts val="1400"/>
              </a:lnSpc>
              <a:buNone/>
            </a:pPr>
            <a:r>
              <a:rPr lang="en-US" sz="1060" dirty="0">
                <a:solidFill>
                  <a:srgbClr val="5A6B84"/>
                </a:solidFill>
                <a:latin typeface="DM Sans" pitchFamily="34" charset="0"/>
                <a:ea typeface="DM Sans" pitchFamily="34" charset="-122"/>
                <a:cs typeface="DM Sans" pitchFamily="34" charset="-120"/>
              </a:rPr>
              <a:t>Telling someone to resign  ·  predicting layoffs  ·  legal, immigration, medical, financial, compensation, contractual or tax questions  ·  diagnosing an employer  ·  asking for scores  ·  asking for employer names</a:t>
            </a:r>
            <a:endParaRPr lang="en-US" sz="1060" dirty="0"/>
          </a:p>
        </p:txBody>
      </p:sp>
      <p:sp>
        <p:nvSpPr>
          <p:cNvPr id="12"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3"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31</a:t>
            </a:r>
            <a:endParaRPr lang="en-US" sz="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name="Slide 3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Position Exposure Signals</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Questions to investigate, not predictions.</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Your current role</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Is the mandate being absorbed, narrowed, duplicated or repeatedly redefined?</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 role you are considering</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Does the position exist because of a strategy, or because of one sponsor?</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Either</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Who outside your manager would notice if the function disappeared?</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name="Slide 3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AI and Compounding</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An application of the two axes. Not a technology session.</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reading does not change</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Where AI makes routine output easier to reproduce, your position depends more heavily on judgment, learning velocity, and capability that travels across unfamiliar problems.</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Density and Optionality do not become less important</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They become more consequential.</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What this is not</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Not a prediction about jobs, tools or timelines. No tool names.</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name="Slide 3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translation actually means</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An application of the second move category.</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Legibility is not bragging</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It is evidence translated into language another context can understand.</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pattern</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Name the problem, the constraint, what you did, and what changed — without internal vocabulary.</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Why it matters</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Most low Optionality scores are translation and exposure problems, not ability problems.</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name="Slide 3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Promotion and formation</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same misreading, in the place it is hardest to see.</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 promotion can increase responsibility, visibility and dependence while reducing formation</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pattern</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high performer moves into approvals, representation and familiar judgment — more scope, fewer unfamiliar problems.</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test</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What capability do you have now that you did not have before your responsibilities increased?</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name="Slide 36">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658368"/>
            <a:ext cx="8010144" cy="201168"/>
          </a:xfrm>
          <a:prstGeom prst="rect">
            <a:avLst/>
          </a:prstGeom>
          <a:noFill/>
          <a:ln/>
        </p:spPr>
        <p:txBody>
          <a:bodyPr wrap="square" lIns="0" tIns="0" rIns="0" bIns="0" rtlCol="0" anchor="ctr"/>
          <a:lstStyle/>
          <a:p>
            <a:pPr indent="0" marL="0">
              <a:buNone/>
            </a:pPr>
            <a:r>
              <a:rPr lang="en-US" sz="900" b="1" spc="160" kern="0" dirty="0">
                <a:solidFill>
                  <a:srgbClr val="C9A84C"/>
                </a:solidFill>
                <a:latin typeface="Montserrat" pitchFamily="34" charset="0"/>
                <a:ea typeface="Montserrat" pitchFamily="34" charset="-122"/>
                <a:cs typeface="Montserrat" pitchFamily="34" charset="-120"/>
              </a:rPr>
              <a:t>INSTITUTIONAL DELIVERY CLOSE  ·  OPTIONAL</a:t>
            </a:r>
            <a:endParaRPr lang="en-US" sz="900" dirty="0"/>
          </a:p>
        </p:txBody>
      </p:sp>
      <p:sp>
        <p:nvSpPr>
          <p:cNvPr id="3" name="Text 1"/>
          <p:cNvSpPr/>
          <p:nvPr/>
        </p:nvSpPr>
        <p:spPr>
          <a:xfrm>
            <a:off x="566928" y="1225296"/>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has the journey built in you?</a:t>
            </a:r>
            <a:endParaRPr lang="en-US" sz="2900" dirty="0"/>
          </a:p>
        </p:txBody>
      </p:sp>
      <p:sp>
        <p:nvSpPr>
          <p:cNvPr id="4" name="Text 2"/>
          <p:cNvSpPr/>
          <p:nvPr/>
        </p:nvSpPr>
        <p:spPr>
          <a:xfrm>
            <a:off x="566928" y="1883664"/>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remains useful when the context changes?</a:t>
            </a:r>
            <a:endParaRPr lang="en-US" sz="2900" dirty="0"/>
          </a:p>
        </p:txBody>
      </p:sp>
      <p:sp>
        <p:nvSpPr>
          <p:cNvPr id="5" name="Text 3"/>
          <p:cNvSpPr/>
          <p:nvPr/>
        </p:nvSpPr>
        <p:spPr>
          <a:xfrm>
            <a:off x="566928" y="2542032"/>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can you do somewhere else?</a:t>
            </a:r>
            <a:endParaRPr lang="en-US" sz="2900" dirty="0"/>
          </a:p>
        </p:txBody>
      </p:sp>
      <p:sp>
        <p:nvSpPr>
          <p:cNvPr id="6" name="Shape 4"/>
          <p:cNvSpPr/>
          <p:nvPr/>
        </p:nvSpPr>
        <p:spPr>
          <a:xfrm>
            <a:off x="566928" y="3401568"/>
            <a:ext cx="2651760" cy="20117"/>
          </a:xfrm>
          <a:prstGeom prst="rect">
            <a:avLst/>
          </a:prstGeom>
          <a:solidFill>
            <a:srgbClr val="C9A84C"/>
          </a:solidFill>
          <a:ln/>
        </p:spPr>
      </p:sp>
      <p:sp>
        <p:nvSpPr>
          <p:cNvPr id="7" name="Text 5"/>
          <p:cNvSpPr/>
          <p:nvPr/>
        </p:nvSpPr>
        <p:spPr>
          <a:xfrm>
            <a:off x="566928" y="3657600"/>
            <a:ext cx="8010144" cy="274320"/>
          </a:xfrm>
          <a:prstGeom prst="rect">
            <a:avLst/>
          </a:prstGeom>
          <a:noFill/>
          <a:ln/>
        </p:spPr>
        <p:txBody>
          <a:bodyPr wrap="square" lIns="0" tIns="0" rIns="0" bIns="0" rtlCol="0" anchor="ctr"/>
          <a:lstStyle/>
          <a:p>
            <a:pPr indent="0" marL="0">
              <a:buNone/>
            </a:pPr>
            <a:r>
              <a:rPr lang="en-US" sz="1000" b="1" spc="120" kern="0" dirty="0">
                <a:solidFill>
                  <a:srgbClr val="B8C5D9"/>
                </a:solidFill>
                <a:latin typeface="Montserrat" pitchFamily="34" charset="0"/>
                <a:ea typeface="Montserrat" pitchFamily="34" charset="-122"/>
                <a:cs typeface="Montserrat" pitchFamily="34" charset="-120"/>
              </a:rPr>
              <a:t>Capability Formation  ·  Temidayo Afonja  ·  The Density Group</a:t>
            </a:r>
            <a:endParaRPr lang="en-US" sz="1000" dirty="0"/>
          </a:p>
        </p:txBody>
      </p:sp>
      <p:sp>
        <p:nvSpPr>
          <p:cNvPr id="9" name="Text 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name="Slide 37">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914400"/>
            <a:ext cx="8010144"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A CAPABILITY FORMATION EXPERIENCE</a:t>
            </a:r>
            <a:endParaRPr lang="en-US" sz="900" dirty="0"/>
          </a:p>
        </p:txBody>
      </p:sp>
      <p:sp>
        <p:nvSpPr>
          <p:cNvPr id="3" name="Text 1"/>
          <p:cNvSpPr/>
          <p:nvPr/>
        </p:nvSpPr>
        <p:spPr>
          <a:xfrm>
            <a:off x="566928" y="1316736"/>
            <a:ext cx="8010144" cy="73152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Decide Whether to Stay or Leave Your Job</a:t>
            </a:r>
            <a:endParaRPr lang="en-US" sz="3200" dirty="0"/>
          </a:p>
        </p:txBody>
      </p:sp>
      <p:sp>
        <p:nvSpPr>
          <p:cNvPr id="4" name="Text 2"/>
          <p:cNvSpPr/>
          <p:nvPr/>
        </p:nvSpPr>
        <p:spPr>
          <a:xfrm>
            <a:off x="566928" y="2103120"/>
            <a:ext cx="8010144" cy="274320"/>
          </a:xfrm>
          <a:prstGeom prst="rect">
            <a:avLst/>
          </a:prstGeom>
          <a:noFill/>
          <a:ln/>
        </p:spPr>
        <p:txBody>
          <a:bodyPr wrap="square" lIns="0" tIns="0" rIns="0" bIns="0" rtlCol="0" anchor="ctr"/>
          <a:lstStyle/>
          <a:p>
            <a:pPr indent="0" marL="0">
              <a:buNone/>
            </a:pPr>
            <a:r>
              <a:rPr lang="en-US" sz="1400" dirty="0">
                <a:solidFill>
                  <a:srgbClr val="B8C5D9"/>
                </a:solidFill>
                <a:latin typeface="DM Sans" pitchFamily="34" charset="0"/>
                <a:ea typeface="DM Sans" pitchFamily="34" charset="-122"/>
                <a:cs typeface="DM Sans" pitchFamily="34" charset="-120"/>
              </a:rPr>
              <a:t>A Live Career Growth Assessment  ·  The Capability Position Read</a:t>
            </a:r>
            <a:endParaRPr lang="en-US" sz="1400" dirty="0"/>
          </a:p>
        </p:txBody>
      </p:sp>
      <p:sp>
        <p:nvSpPr>
          <p:cNvPr id="5" name="Shape 3"/>
          <p:cNvSpPr/>
          <p:nvPr/>
        </p:nvSpPr>
        <p:spPr>
          <a:xfrm>
            <a:off x="566928" y="2615184"/>
            <a:ext cx="2651760" cy="20117"/>
          </a:xfrm>
          <a:prstGeom prst="rect">
            <a:avLst/>
          </a:prstGeom>
          <a:solidFill>
            <a:srgbClr val="C9A84C"/>
          </a:solidFill>
          <a:ln/>
        </p:spPr>
      </p:sp>
      <p:sp>
        <p:nvSpPr>
          <p:cNvPr id="6" name="Text 4"/>
          <p:cNvSpPr/>
          <p:nvPr/>
        </p:nvSpPr>
        <p:spPr>
          <a:xfrm>
            <a:off x="566928" y="2852928"/>
            <a:ext cx="8010144" cy="365760"/>
          </a:xfrm>
          <a:prstGeom prst="rect">
            <a:avLst/>
          </a:prstGeom>
          <a:noFill/>
          <a:ln/>
        </p:spPr>
        <p:txBody>
          <a:bodyPr wrap="square" lIns="0" tIns="0" rIns="0" bIns="0" rtlCol="0" anchor="ctr"/>
          <a:lstStyle/>
          <a:p>
            <a:pPr indent="0" marL="0">
              <a:buNone/>
            </a:pPr>
            <a:r>
              <a:rPr lang="en-US" sz="2400" b="1" dirty="0">
                <a:solidFill>
                  <a:srgbClr val="C9A84C"/>
                </a:solidFill>
                <a:latin typeface="Cormorant Garamond" pitchFamily="34" charset="0"/>
                <a:ea typeface="Cormorant Garamond" pitchFamily="34" charset="-122"/>
                <a:cs typeface="Cormorant Garamond" pitchFamily="34" charset="-120"/>
              </a:rPr>
              <a:t>Wednesday, September 16, 2026</a:t>
            </a:r>
            <a:endParaRPr lang="en-US" sz="2400" dirty="0"/>
          </a:p>
        </p:txBody>
      </p:sp>
      <p:sp>
        <p:nvSpPr>
          <p:cNvPr id="7" name="Text 5"/>
          <p:cNvSpPr/>
          <p:nvPr/>
        </p:nvSpPr>
        <p:spPr>
          <a:xfrm>
            <a:off x="566928" y="3291840"/>
            <a:ext cx="8010144" cy="274320"/>
          </a:xfrm>
          <a:prstGeom prst="rect">
            <a:avLst/>
          </a:prstGeom>
          <a:noFill/>
          <a:ln/>
        </p:spPr>
        <p:txBody>
          <a:bodyPr wrap="square" lIns="0" tIns="0" rIns="0" bIns="0" rtlCol="0" anchor="ctr"/>
          <a:lstStyle/>
          <a:p>
            <a:pPr indent="0" marL="0">
              <a:buNone/>
            </a:pPr>
            <a:r>
              <a:rPr lang="en-US" sz="1300" dirty="0">
                <a:solidFill>
                  <a:srgbClr val="B8C5D9"/>
                </a:solidFill>
                <a:latin typeface="DM Sans" pitchFamily="34" charset="0"/>
                <a:ea typeface="DM Sans" pitchFamily="34" charset="-122"/>
                <a:cs typeface="DM Sans" pitchFamily="34" charset="-120"/>
              </a:rPr>
              <a:t>6:00–7:30 PM Central Time  ·  Free  ·  We begin shortly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The Density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Decide Whether to Stay or Leave Your Job — Free Flagship</dc:title>
  <dc:subject>PptxGenJS Presentation</dc:subject>
  <dc:creator>Temidayo Afonja</dc:creator>
  <cp:lastModifiedBy>Temidayo Afonja</cp:lastModifiedBy>
  <cp:revision>1</cp:revision>
  <dcterms:created xsi:type="dcterms:W3CDTF">2026-08-14T11:49:21Z</dcterms:created>
  <dcterms:modified xsi:type="dcterms:W3CDTF">2026-08-14T11:49:21Z</dcterms:modified>
</cp:coreProperties>
</file>