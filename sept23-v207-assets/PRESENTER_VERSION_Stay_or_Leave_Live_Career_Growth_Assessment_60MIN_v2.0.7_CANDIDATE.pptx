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notesMasterIdLst>
    <p:notesMasterId r:id="rId3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notesMaster" Target="notesMasters/notes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START THE RECORDING ON THIS SLIDE. This is the first evergreen teaching slide. The dated holding slide is shown BEFORE recording begins and is never recorded.</a:t>
            </a:r>
          </a:p>
          <a:p/>
          <a:p>
            <a:r>
              <a:t>TIMING: 0:00-0:30. THIRTY SECONDS.</a:t>
            </a:r>
          </a:p>
          <a:p/>
          <a:p>
            <a:r>
              <a:t>FACILITATION: welcome, name the session, name the method, state the duration. Thirty seconds, and biography is capped at TWO SENTENCES. The lived example that earns the method comes on the next slide, so do not start it here.</a:t>
            </a:r>
          </a:p>
          <a:p/>
          <a:p>
            <a:r>
              <a:t>WHAT TO SAY: "This is a live guided assessment. In the next fifty minutes you will read your own position twice, once from memory and once against evidence, and leave with a note about what your evidence supports testing next. The last ten minutes are live questions and are not recorded."</a:t>
            </a:r>
          </a:p>
          <a:p/>
          <a:p>
            <a:r>
              <a:t>EVERGREEN-SAFE: no date on this slide by design.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RECORDING ON.</a:t>
            </a:r>
          </a:p>
          <a:p/>
          <a:p>
            <a:r>
              <a:t>TIMING: 0:30-1:20. FIFTY SECONDS. The reframe is the first fifteen. The rest is the story below.</a:t>
            </a:r>
          </a:p>
          <a:p/>
          <a:p>
            <a:r>
              <a:t>FACILITATION: read both boxes, then go straight into the story and let the story do the landing. Fifteen seconds on the reframe, the rest on the warrant. Recognition before terminology: the room needs to have heard one real example of what travels and what does not before Density and Optionality arrive as words.</a:t>
            </a:r>
          </a:p>
          <a:p/>
          <a:p>
            <a:r>
              <a:t>SPOKEN WARRANT - SAY IT, DO NOT SKIP IT. Approximately thirty to forty-five seconds, and no longer:</a:t>
            </a:r>
          </a:p>
          <a:p>
            <a:r>
              <a:t>"When I moved from audit into cybersecurity, I did not start from zero. Evidence, controls and risk travelled with me. Cybersecurity language, privacy frameworks and technical context did not. Portability was not plug-and-play. Something important came with me, and the new context still required real relearning."</a:t>
            </a:r>
          </a:p>
          <a:p/>
          <a:p>
            <a:r>
              <a:t>Then land the point in one line: I did not start from zero, and I did not carry everything either.</a:t>
            </a:r>
          </a:p>
          <a:p/>
          <a:p>
            <a:r>
              <a:t>DO NOT ADD TO THE STORY. No dates, no employers, no metrics, no reactions, no reason for the move, no outcome, and nothing further about what transferred. This is warrant, not biography. If you find yourself explaining the move, you have already gone too long.</a:t>
            </a:r>
          </a:p>
          <a:p/>
          <a:p>
            <a:r>
              <a:t>Do not answer the stay/leave question. Say plainly that the session reads the position underneath it.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RECORDING ON. THIS IS THE RECORDING AND PRIVACY DISCLOSURE. It must be delivered inside the first five minutes. Deliver it here, at minute 1:20.</a:t>
            </a:r>
          </a:p>
          <a:p/>
          <a:p>
            <a:r>
              <a:t>TIMING: 1:20-2:00. FORTY SECONDS.</a:t>
            </a:r>
          </a:p>
          <a:p/>
          <a:p>
            <a:r>
              <a:t>FACILITATION: deliver the disclosure, name the boundary, point at the workbook, move. Forty seconds total. Do not let this become a preamble.</a:t>
            </a:r>
          </a:p>
          <a:p/>
          <a:p>
            <a:r>
              <a:t>SAY IT ONCE, CALMLY, AND DO NOT EXPAND IT INTO A DISCLAIMER: "The teaching portion is recorded so people can revisit the method. Your scores and your private workbook stay yours. The live Q&amp;A at the end is not part of the evergreen replay."</a:t>
            </a:r>
          </a:p>
          <a:p/>
          <a:p>
            <a:r>
              <a:t>WORKBOOK: page 1 carries the same boundary and privacy language. Tell the room the workbook is open in full from the start. Nothing is released in stages.</a:t>
            </a:r>
          </a:p>
          <a:p/>
          <a:p>
            <a:r>
              <a:t>Participant microphones are muted by default for the whole recorded core.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RECORDING ON.</a:t>
            </a:r>
          </a:p>
          <a:p/>
          <a:p>
            <a:r>
              <a:t>TIMING: 2:00-3:30. NINETY SECONDS.</a:t>
            </a:r>
          </a:p>
          <a:p/>
          <a:p>
            <a:r>
              <a:t>FACILITATION: ask the question on the slide first and let it sit for a beat. Only then give it the name. The room recognizes the question before it learns the word.</a:t>
            </a:r>
          </a:p>
          <a:p/>
          <a:p>
            <a:r>
              <a:t>WHAT TO SAY, in your own words: is the work still asking more of your judgment than it used to? That is what Density reads. It is about your conditions, not your effort, which is why a role can be demanding and important and still stop forming you.</a:t>
            </a:r>
          </a:p>
          <a:p/>
          <a:p>
            <a:r>
              <a:t>Give the one correction that matters, that busy is not the same as forming, and stop. The full teaching treatment is downstream, not here.</a:t>
            </a:r>
          </a:p>
          <a:p/>
          <a:p>
            <a:r>
              <a:t>Do not take questions on the definition now. Say they will make more sense once people have scored.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RECORDING ON.</a:t>
            </a:r>
          </a:p>
          <a:p/>
          <a:p>
            <a:r>
              <a:t>TIMING: 3:30-5:00. NINETY SECONDS.</a:t>
            </a:r>
          </a:p>
          <a:p/>
          <a:p>
            <a:r>
              <a:t>FACILITATION: same shape as the last slide. Ask the question, let it sit, then name it. The story on slide 2 was the warrant for this slide, so you can refer back to it in a phrase rather than retelling it.</a:t>
            </a:r>
          </a:p>
          <a:p/>
          <a:p>
            <a:r>
              <a:t>WHAT TO SAY, in your own words: would what you are building still be useful somewhere else, and could you make it legible to someone outside your organization using evidence rather than your title? That is Optionality.</a:t>
            </a:r>
          </a:p>
          <a:p/>
          <a:p>
            <a:r>
              <a:t>SAY THE BOUNDARY AS WRITTEN. A low score is not a verdict on ability, and translation is not recognition. Making your capability legible removes a barrier. It does not decide what another organization does with what it sees, and this session does not predict hiring, promotion, sponsorship or pay.</a:t>
            </a:r>
          </a:p>
          <a:p/>
          <a:p>
            <a:r>
              <a:t>IF THE ROOM WANTS THE CAUSES, they are taught at slide 15 and in the appendix: a low score may mean the capability is context-bound, that the evidence is hard to read from outside, or that the right people have not seen the work. Do not rank them and do not imply one is more common than another. This session has no measurement that supports a prevalence claim.</a:t>
            </a:r>
          </a:p>
          <a:p/>
          <a:p>
            <a:r>
              <a:t>Next slide begins the private scoring. Tell the room to have the workbook open at page 2.</a:t>
            </a:r>
          </a:p>
          <a:p/>
          <a:p>
            <a:r>
              <a:t>WHAT THE OPTIONALITY SCORE IS, AND SAY THIS ONCE IF IT COMES UP: the six statements are a composite reading of portability conditions and signals. They are not a prediction. Nothing on this axis forecasts that another employer will value, hire, promote or pay anyone. If someone treats the number as a market verdict, correct it plainly: it reads the conditions you are working in, not a decision nobody has made yet.</a:t>
            </a:r>
          </a:p>
          <a:p>
            <a:r>
              <a:t>INTERNAL, NOT FOR THE ROOM: statements 7, 10 and 12 carry anticipated employer valuation, visibility and a one-year forecast, which sit less cleanly inside that reading than the other three. They are recorded in the change log as a post-September-23 instrument-review item. Do NOT reword them in delivery: the statements are locked and the workbook is built on them.</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PRIVATE WRITING.  WORKBOOK PAGE 2.
TIMING: 5:00-6:40.
FACILITATION: One hundred seconds. Read each statement once, then stay silent while people score. Do not fill the silence.
WHAT TO SAY: score each statement 1 to 5 against the last ninety days only. No evidence line yet — that is deliberate, and you will see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PRIVATE WRITING.  WORKBOOK PAGE 2.
TIMING: 6:40-8:10.
FACILITATION: Ninety seconds. Same rhythm. Do not signal that the scores are expected to change — that reveal has to be earned by the evidence pass.
WHAT TO SAY: score each statement 1 to 5 against the last ninety days only. No evidence line yet — that is deliberate, and you will see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PRIVATE WRITING.  WORKBOOK PAGE 2.
TIMING: 8:10-8:40.
FACILITATION: Thirty seconds. Total and hold. Do not explain the states yet.
THE BOUNDARY BAND OVERRIDES THE HIGH/LOW SPLIT. 19-30 high and 6-18 low are the ordinary classification. A total of 17 to 21 falls inside the boundary band, and the boundary reading takes precedence: no single state is assigned and the participant reads both neighbouring states. Say this now, not later — it prevents the most common placement error.
Do not ask for totals. Do not poll. Nothing is collected.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PRIVATE WRITING.  WORKBOOK PAGE 3.
TIMING: 8:40-10:10.
FACILITATION: Ninety seconds.
WHAT TO SAY: score each statement 1 to 5 against the last ninety days only. No evidence line yet — that is deliberate, and you will see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PRIVATE WRITING.  WORKBOOK PAGE 3.
TIMING: 10:10-11:40.
FACILITATION: Ninety seconds. This is the last block of the first pass.
WHAT TO SAY: score each statement 1 to 5 against the last ninety days only. No evidence line yet — that is deliberate, and you will see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PRIVATE WRITING.  WORKBOOK PAGE 3.
TIMING: 11:40-12:00.
FACILITATION: Twenty seconds. You now hold two numbers. The pair is the point of today.
THE BOUNDARY BAND OVERRIDES THE HIGH/LOW SPLIT. 19-30 high and 6-18 low are the ordinary classification. A total of 17 to 21 falls inside the boundary band, and the boundary reading takes precedence: no single state is assigned and the participant reads both neighbouring states. Say this now, not later — it prevents the most common placement error.
Do not ask for totals. Do not poll. Nothing is collected.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TIMING: 12:00-13:00. SIXTY SECONDS.
FACILITATION: name each square once. Do not teach the state costs here — that block is at 35:00. Do not ask which square anyone is in.
Compounding is set apart because it is the one square where both axes are high. It is a structural fact about the matrix, not a ranking, and not a square to aim for. Say "state is not identity" out loud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PRIVATE WRITING.  WORKBOOK PAGE 3.
TIMING: 13:00-14:00. SIXTY SECONDS.
FACILITATION: everyone proceeds on the clock. There is no readiness poll, no staged release and no waiting for the room — this has to work with a large audience.
Say "state is not identity" here, plainly, and say that boundary is a legitimate reading rather than a failure to decide.
Do not ask for a show of hands on states. Do not invite anyone to name their square, their employer or their situation.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WORKBOOK PAGE 4.
TIMING: 14:00-16:00. TWO MINUTES.
FACILITATION: the protocol is symmetric — that is the whole point. Low scores need evidence too, or the exercise becomes self-criticism.
The ? is not a softer 3. A 3 is a real reading of a mixed pattern. A ? means you could not support any number. One question mark only, and it stays inside the 1 to 5 scale: the workbook will not accept 0?, 6?, two question marks, or a question mark on its own.
Give permission for the ? BEFORE the rescore starts, or people round down to look rigorous and reproduce the artefact the rule exists to prevent.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WORKBOOK PAGE 4.
TIMING: 16:00-19:00. THREE MINUTES. Sixty seconds each.
FACILITATION: one minute per misreading, in order, then stop. Do not take questions here — hold them for minute 50.
This slide replaces three separate calibration slides. Do not expand it back out and do not add a fourth misreading.
ONE: this occurs when someone scores the work they are about to do rather than the work that actually occurred inside the evidence window. Do not describe it as common, typical or most frequent — this session has no measurement that supports a prevalence claim.
TWO: careful with tone. It can describe someone genuinely excellent at the work. Being needed is good; assuming it forms you is the misread.
THREE: say the panel as written. Do not rank the causes and do not imply one is more common than another.
Land the third one and move straight into the rescore. Do not take questions here — hold them for minute 50.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RECORDING ON. PRIVATE WRITING.  WORKBOOK PAGES 5 AND 6.</a:t>
            </a:r>
          </a:p>
          <a:p/>
          <a:p>
            <a:r>
              <a:t>TIMING: 19:00-31:00. TWELVE MINUTES. PROTECTED AND NON-NEGOTIABLE.</a:t>
            </a:r>
          </a:p>
          <a:p/>
          <a:p>
            <a:r>
              <a:t>FACILITATION: read the instruction once, then hold this slide and stay quiet. One short orientation cue at the midpoint, then the two warnings. Nothing else.</a:t>
            </a:r>
          </a:p>
          <a:p/>
          <a:p>
            <a:r>
              <a:t>NEVER RECOVER LOST TIME HERE. This block is the evidentiary centre of the session and the thing that makes it an assessment rather than a talk. If you are behind at minute 19, take the time from the 45:00-48:00 continuation sequence or the 48:00-50:00 buffer, never from this block.</a:t>
            </a:r>
          </a:p>
          <a:p/>
          <a:p>
            <a:r>
              <a:t>This slide holds for the full twelve minutes. Do not advance and do not fill the silence.</a:t>
            </a:r>
          </a:p>
          <a:p/>
          <a:p>
            <a:r>
              <a:t>ONE MIDPOINT CUE AT ABOUT 25:00. This is facilitator presence, not teaching. Say it once, quietly, then return to silence: "If you are around statement six, you are on pace. Keep the evidence phrases short." Do not add anything to it, do not answer a question in it, and do not restate the protocol.</a:t>
            </a:r>
          </a:p>
          <a:p/>
          <a:p>
            <a:r>
              <a:t>Give a two-minute warning at 29:00 and a thirty-second warning at 30:30. Keep your own microphone quiet the rest of the time.</a:t>
            </a:r>
          </a:p>
          <a:p/>
          <a:p>
            <a:r>
              <a:t>Short evidence phrases, not essays. Twelve statements in twelve minutes is sixty seconds each.</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PRIVATE WRITING.  WORKBOOK PAGES 5 AND 6.
TIMING: 31:00-32:30. NINETY SECONDS.
FACILITATION: insist on the re-total. People try to eyeball whether the square changed. The number has to be recomputed.
A marked score counts as its number when totalling — 3? totals as 3. The question mark changes what happens NEXT, on the sensitivity slide, not the arithmetic here.
Boundary band: a corrected total of 17 to 21 overrides the ordinary high/low split. Say it again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RECORDING ON.  WORKBOOK PAGE 7.</a:t>
            </a:r>
          </a:p>
          <a:p/>
          <a:p>
            <a:r>
              <a:t>TIMING: 32:30-34:00. NINETY SECONDS.</a:t>
            </a:r>
          </a:p>
          <a:p/>
          <a:p>
            <a:r>
              <a:t>FACILITATION: thirty seconds per tier. Teach all three even though most of the room will only need one.</a:t>
            </a:r>
          </a:p>
          <a:p/>
          <a:p>
            <a:r>
              <a:t>THE SLIDE IS NOW THE SUMMARY, NOT THE SPECIFICATION. The full procedure is on workbook page 4 and is repeated below. Read the three tiers off the slide and let the workbook carry the mechanics.</a:t>
            </a:r>
          </a:p>
          <a:p/>
          <a:p>
            <a:r>
              <a:t>Teach all three tiers explicitly. A participant with no marked items can sit through the procedure believing they must run it. Say plainly that they do not.</a:t>
            </a:r>
          </a:p>
          <a:p/>
          <a:p>
            <a:r>
              <a:t>NONE: no range required. 1 OR 2: the axis is provisional, run the check. 3 OR MORE: the axis is incomplete and you do not place on it today.</a:t>
            </a:r>
          </a:p>
          <a:p/>
          <a:p>
            <a:r>
              <a:t>THE FULL SENSITIVITY PROCEDURE, for the room that asks and for workbook page 4: total the axis using the numbers exactly as written; total it again with every marked item one point lower; total it again one point higher. Every neighbouring score stays bounded inside the 1 to 5 scale, so a 1? is never tested at 0 and a 5? never at 6. If the range includes any total from 17 to 21, do not force a state, and hold the axis as boundary.</a:t>
            </a:r>
          </a:p>
          <a:p/>
          <a:p>
            <a:r>
              <a:t>THE DUAL-AXIS BOUNDARY RULE, said plainly:</a:t>
            </a:r>
          </a:p>
          <a:p>
            <a:r>
              <a:t>If exactly ONE axis is inside 17 to 21, read the two adjacent states that the OTHER axis selects. A boundary Density with high Optionality reads across Compounding and Fragile.</a:t>
            </a:r>
          </a:p>
          <a:p>
            <a:r>
              <a:t>If BOTH axes are inside 17 to 21, record Boundary and assign no single state at all.</a:t>
            </a:r>
          </a:p>
          <a:p/>
          <a:p>
            <a:r>
              <a:t>The governing instrument (v5.3.1) states that when any total touches the band, no single state is assigned and the placement is provisional. The one-axis case follows directly. The instrument does not address the both-axes case, where four squares would qualify rather than two; recording Boundary is the reading consistent with "no single state is assigned". This is documented in the change log.</a:t>
            </a:r>
          </a:p>
          <a:p/>
          <a:p>
            <a:r>
              <a:t>Say the boundary out loud: this is an operational convention, not a statistical confidence interval, and it carries no margin of error. Boundary and incomplete are legitimate outcomes.</a:t>
            </a:r>
          </a:p>
          <a:p/>
          <a:p>
            <a:r>
              <a:t>METHOD UNCHANGED IN v2.0.6. Only the slide face was simplified. The tiers, the band, the bounded neighbouring scores and the dual-axis rule are exactly what v2.0.5 carried.</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RECORDING ON. PRIVATE WRITING.  WORKBOOK PAGE 7.</a:t>
            </a:r>
          </a:p>
          <a:p/>
          <a:p>
            <a:r>
              <a:t>TIMING: 34:00-35:00. SIXTY SECONDS.</a:t>
            </a:r>
          </a:p>
          <a:p/>
          <a:p>
            <a:r>
              <a:t>FACILITATION: give the instruction, then let them place. Do not narrate over the writing.</a:t>
            </a:r>
          </a:p>
          <a:p/>
          <a:p>
            <a:r>
              <a:t>State plainly that boundary and incomplete are real readings, not failures.</a:t>
            </a:r>
          </a:p>
          <a:p/>
          <a:p>
            <a:r>
              <a:t>NO DIAGNOSTIC POLL INSIDE THE RECORDED ASSESSMENT. No staged reveal, no room-level state distribution, no anonymous count, and nothing that asks anyone to reveal a score, a state, an employer or a decision. Scores, states, employers and circumstances stay private. The optional "what moved" interaction is in the appendix and is OUT of the timed core.</a:t>
            </a:r>
          </a:p>
          <a:p/>
          <a:p>
            <a:r>
              <a:t>The one poll this session permits is the optional anonymous arrival poll, which runs BEFORE the recording starts while the dated holding slide is up. It is specified in the SOP. It never runs here.</a:t>
            </a:r>
          </a:p>
          <a:p/>
          <a:p>
            <a:r>
              <a:t>Do not invite anyone to name their square, their confidence number, their employer or their circumstances.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RECORDING ON.</a:t>
            </a:r>
          </a:p>
          <a:p/>
          <a:p>
            <a:r>
              <a:t>TIMING: 35:00-38:00. THREE MINUTES. Forty-five seconds per state.</a:t>
            </a:r>
          </a:p>
          <a:p/>
          <a:p>
            <a:r>
              <a:t>FACILITATION: one pass, four states, no favourites. Keep your eye on the clock, this block overruns easily.</a:t>
            </a:r>
          </a:p>
          <a:p/>
          <a:p>
            <a:r>
              <a:t>Give each state its essential reading and stop. Do NOT teach the heaviest square for this room and do NOT deepen a state based on audience distribution. Those are Intensive Edition mechanics and there is no room for them in sixty minutes.</a:t>
            </a:r>
          </a:p>
          <a:p/>
          <a:p>
            <a:r>
              <a:t>TODAY IS COMPLETE. The closing line on this slide says the reading they have is the one this assessment gives, and that it is complete. Say it that way. Do not say the fuller cost is held back, and do not imply the real interpretation sits behind a paid product. What continued work adds is depth, repetition, a named destination and private use, not a withheld answer.</a:t>
            </a:r>
          </a:p>
          <a:p/>
          <a:p>
            <a:r>
              <a:t>If you are running behind, this is NOT the block to cut. Take it from 45:00-48:00.</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RECORDING ON.  WORKBOOK PAGE 8.</a:t>
            </a:r>
          </a:p>
          <a:p/>
          <a:p>
            <a:r>
              <a:t>TIMING: 38:00-41:00. THREE MINUTES. About twenty-five seconds each.</a:t>
            </a:r>
          </a:p>
          <a:p/>
          <a:p>
            <a:r>
              <a:t>FACILITATION: read the category and its line, move to the next. Resist elaborating.</a:t>
            </a:r>
          </a:p>
          <a:p/>
          <a:p>
            <a:r>
              <a:t>Read each category and its one-line reading. Do not work examples, there is no room for them in sixty minutes.</a:t>
            </a:r>
          </a:p>
          <a:p/>
          <a:p>
            <a:r>
              <a:t>THREE READINGS WERE REWRITTEN IN v2.0.6 AND THE WORDING MATTERS. Translate what is built is about making existing capability legible outside your own context, not about solving recognition. Widen exposure is about reaching people who can evaluate or use the capability, and the line says plainly that visibility is not evidence. Repair formation conditions is a category to test, not an instruction to stay.</a:t>
            </a:r>
          </a:p>
          <a:p/>
          <a:p>
            <a:r>
              <a:t>Prepare for exit is preparation, not a recommendation to resign. Say it that way.</a:t>
            </a:r>
          </a:p>
          <a:p/>
          <a:p>
            <a:r>
              <a:t>Say the bottom line as written: no square prescribes a category. Someone in Depth Trap is not instructed to translate; someone in Fragile is not instructed to exit.</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RECORDING ON. PRIVATE WRITING.  WORKBOOK PAGE 8.</a:t>
            </a:r>
          </a:p>
          <a:p/>
          <a:p>
            <a:r>
              <a:t>TIMING: 41:00-45:00. FOUR MINUTES. This is a real writing period, protect it.</a:t>
            </a:r>
          </a:p>
          <a:p/>
          <a:p>
            <a:r>
              <a:t>FACILITATION: read the four portability questions once, read the three prompts once, then stop talking for the rest of the block.</a:t>
            </a:r>
          </a:p>
          <a:p/>
          <a:p>
            <a:r>
              <a:t>THE FOUR-QUESTION PORTABILITY AUDIT IS ON THIS SLIDE AND IS SPOKEN ONCE, HERE. It is the interpretive frame for the note, not a new exercise: there is nothing to score and nothing to hand in. Read them and move on:</a:t>
            </a:r>
          </a:p>
          <a:p>
            <a:r>
              <a:t>What travels? What does not? What can I prove? What must I relearn?</a:t>
            </a:r>
          </a:p>
          <a:p/>
          <a:p>
            <a:r>
              <a:t>SAY THE DESTINATION BOUNDARY IN ONE LINE. You cannot fully answer what travels until you know where it is travelling to. Generic portability is not destination-specific portability, and this session has not named anyone's destination. What the four questions do here is tell you which of them your evidence can already answer and which one is still open.</a:t>
            </a:r>
          </a:p>
          <a:p/>
          <a:p>
            <a:r>
              <a:t>Read the three prompts once, then stop talking and let people write. Four minutes feels long from the front and short from the seat.</a:t>
            </a:r>
          </a:p>
          <a:p/>
          <a:p>
            <a:r>
              <a:t>Do not call it the Next-Move Decision. That is the Intensive Edition's artifact and it is a different, longer instrument.</a:t>
            </a:r>
          </a:p>
          <a:p/>
          <a:p>
            <a:r>
              <a:t>Do not ask anyone to read theirs aloud, and do not invite anyone to share a move category, an employer or a situation.</a:t>
            </a:r>
          </a:p>
          <a:p/>
          <a:p>
            <a:r>
              <a:t>Give a sixty-second warning at 44:00.</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RECORDING ON.</a:t>
            </a:r>
          </a:p>
          <a:p/>
          <a:p>
            <a:r>
              <a:t>TIMING: 45:00-46:00. SIXTY SECONDS. The continuation sequence is the first place to take time from if you are behind.</a:t>
            </a:r>
          </a:p>
          <a:p/>
          <a:p>
            <a:r>
              <a:t>FACILITATION: read the two routes in order, land route one, then move. Do not linger and do not add examples.</a:t>
            </a:r>
          </a:p>
          <a:p/>
          <a:p>
            <a:r>
              <a:t>ROUTE 1 IS NOT A THROWAWAY. Say it first and say it plainly. The credibility of the next slide depends on genuinely releasing the people who have enough.</a:t>
            </a:r>
          </a:p>
          <a:p/>
          <a:p>
            <a:r>
              <a:t>WHAT TO SAY: "Some of you now have enough to act. Good, you do not need anything else from me today. Some of you want a structured system you can keep working with privately. Different needs, different routes."</a:t>
            </a:r>
          </a:p>
          <a:p/>
          <a:p>
            <a:r>
              <a:t>TWO ROUTES ONLY IN THIS DELIVERY. Career Move Review is the current advisory offer for someone with a specific destination, and it is NOT on this slide, because its fulfillment route is not operational. Do not describe it, do not price it and do not take bookings for it from the stage. If a participant asks for a human read against a specific move, say that it is not open yet and take nothing further.</a:t>
            </a:r>
          </a:p>
          <a:p/>
          <a:p>
            <a:r>
              <a:t>Keep the Proof is not on this slide either, and that is deliberate. It answers a different problem and belongs in follow-up, not in the recorded continuation sequence.</a:t>
            </a:r>
          </a:p>
          <a:p/>
          <a:p>
            <a:r>
              <a:t>NO PRICING ON THIS SLIDE. Do not say "if you want to buy", "I have two offers" or "special opportunity".</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RECORDING ON.</a:t>
            </a:r>
          </a:p>
          <a:p/>
          <a:p>
            <a:r>
              <a:t>TIMING: 46:00-47:00. SIXTY SECONDS.</a:t>
            </a:r>
          </a:p>
          <a:p/>
          <a:p>
            <a:r>
              <a:t>FACILITATION: name what today already gave them, then name what the Field Kit adds. Sixty seconds. If you are behind, this is the first slide to shorten.</a:t>
            </a:r>
          </a:p>
          <a:p/>
          <a:p>
            <a:r>
              <a:t>TODAY IS COMPLETE. Say so. This session delivers a full guided reading. The Field Kit is not the rest of it. It is a private system they can own, revisit and rerun as conditions change.</a:t>
            </a:r>
          </a:p>
          <a:p/>
          <a:p>
            <a:r>
              <a:t>Do not call the Field Kit the complete version of the session, the full assessment, required, included, a bundle, or more worksheets.</a:t>
            </a:r>
          </a:p>
          <a:p/>
          <a:p>
            <a:r>
              <a:t>THE CURRENT INDIVIDUAL OFFER ARCHITECTURE, for your own reference and not for the stage: the Career Evidence Starter is free, Keep the Proof is $49, the Capability Formation Field Kit is $150, and the Career Move Review is $500 with qualification before payment. Only the Field Kit appears in this recorded continuation sequence.</a:t>
            </a:r>
          </a:p>
          <a:p/>
          <a:p>
            <a:r>
              <a:t>THE PRIVATE CAPABILITY POSITION READ IS RETIRED. It is not an offer, it is not coming back under that name, and it is not mentioned here, on slide 23 or in Q&amp;A. Career Move Review is the current advisory architecture, and it stays off the participant-facing sequence until its route is verified operational.</a:t>
            </a:r>
          </a:p>
          <a:p/>
          <a:p>
            <a:r>
              <a:t>IMMEDIATELY BEFORE DELIVERY, VERIFY THE CURRENT PUBLIC PRICE AND PURCHASE ROUTE. If both remain current, post the purchase link and current price in the live chat. The permanent replay slide remains price-free.</a:t>
            </a:r>
          </a:p>
          <a:p/>
          <a:p>
            <a:r>
              <a:t>PREBUILT CHAT MESSAGE:</a:t>
            </a:r>
          </a:p>
          <a:p>
            <a:r>
              <a:t>Continue privately with the Capability Formation Field Kit:</a:t>
            </a:r>
          </a:p>
          <a:p>
            <a:r>
              <a:t>https://temidayoafonja.com/fieldkit</a:t>
            </a:r>
          </a:p>
          <a:p/>
          <a:p>
            <a:r>
              <a:t>Visible branded route on the slide face: temidayoafonja.com/fieldkit. The CTA, the URL and the QR all resolve to that page, which is the stable evergreen destination, because a recorded replay outlives any storefront link. The live page remains the source of truth for current pricing.</a:t>
            </a:r>
          </a:p>
          <a:p/>
          <a:p>
            <a:r>
              <a:t>NO PRICE APPEARS ON THIS SLIDE FACE BY DESIGN. No discount, no attendee price, no coupon, no bundle, no crossed-out price, no urgency.</a:t>
            </a:r>
          </a:p>
          <a:p/>
          <a:p>
            <a:r>
              <a:t>The former paid group workshop is retired from active public sale and is NOT the current public next step. Do not mention it.</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RECORDING ON — THIS IS THE LAST RECORDED SLIDE.  WORKBOOK PAGE 8 (rescore date line).</a:t>
            </a:r>
          </a:p>
          <a:p/>
          <a:p>
            <a:r>
              <a:t>TIMING: 47:00-50:00. The close is delivered 47:00-48:00; 48:00-50:00 is FACILITATION BUFFER and this slide holds.</a:t>
            </a:r>
          </a:p>
          <a:p/>
          <a:p>
            <a:r>
              <a:t>FACILITATION: this close returns to the question the session opened with. Say it plainly and at the pace of ordinary speech. It is not a motivational ending, there is no call to believe in yourself, and it does not need lifting.</a:t>
            </a:r>
          </a:p>
          <a:p/>
          <a:p>
            <a:r>
              <a:t>WHAT TO SAY, close to the slide: you came in with a stay-or-leave question, I have not made that decision for you and I should not, and what you have now is a clearer read of what this work is building, what may travel, where the evidence is thin and what deserves testing next. Then the rescore date.</a:t>
            </a:r>
          </a:p>
          <a:p/>
          <a:p>
            <a:r>
              <a:t>If you are on time, use the buffer to restate the rescore date instruction and let the room finish writing. If you are behind, the buffer is where you absorb it.</a:t>
            </a:r>
          </a:p>
          <a:p/>
          <a:p>
            <a:r>
              <a:t>EVERGREEN-SAFE CLOSE. Do NOT say "tonight", "this cohort", "September 23", or "before enrollment closes". This has to work for someone watching the replay months from now.</a:t>
            </a:r>
          </a:p>
          <a:p/>
          <a:p>
            <a:r>
              <a:t>AT 50:00 — STOP THE RECORDING BEFORE ADVANCING. STOP IT; DO NOT PAUSE IT. Look at the screen and confirm it has actually stopped before the first question is taken. If the platform records the whole meeting automatically, keep the raw file private and trim the distributed replay to end here.</a:t>
            </a:r>
          </a:p>
          <a:p/>
          <a:p>
            <a:r>
              <a:t>PRE-SESSION: if the Maven/Zoom integration starts recording automatically when the host enters early, PAUSE during the pre-session holding period, then start or resume on slide 1 at 6:00 PM CT and STOP at 6:50 PM CT. Pausing belongs to the pre-session window only. The distributed recording must contain minutes 0-50 and nothing else.</a:t>
            </a:r>
          </a:p>
          <a:p/>
          <a:p>
            <a:r>
              <a:t>Then say out loud that the recording has stopped, and only then advance.</a:t>
            </a:r>
          </a:p>
          <a:p/>
          <a:p>
            <a:r>
              <a:t>RECORDING OFF.</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RECORDING OFF. CONFIRM ON SCREEN THAT IT HAS STOPPED BEFORE TAKING THE FIRST QUESTION.</a:t>
            </a:r>
          </a:p>
          <a:p/>
          <a:p>
            <a:r>
              <a:t>TIMING: 50:00-60:00. TEN MINUTES. HARD STOP AT 60:00.</a:t>
            </a:r>
          </a:p>
          <a:p/>
          <a:p>
            <a:r>
              <a:t>FACILITATION: confirm on screen that recording has stopped, say so aloud, then take the first question. Watch the clock and close at 60:00.</a:t>
            </a:r>
          </a:p>
          <a:p/>
          <a:p>
            <a:r>
              <a:t>This block is never distributed. It is excluded from the evergreen replay under every distribution model, including a registration-gated one. Participant questions can contain employer names, personal circumstances and third-party names, which is exactly why it sits outside the recorded core.</a:t>
            </a:r>
          </a:p>
          <a:p/>
          <a:p>
            <a:r>
              <a:t>Q&amp;A MAY clarify the method, the evidence protocol, boundary and incomplete readings, and move-category distinctions.</a:t>
            </a:r>
          </a:p>
          <a:p/>
          <a:p>
            <a:r>
              <a:t>Q&amp;A MUST NOT become individual stay/leave coaching. Do not tell anyone to resign or stay. Do not predict layoffs. Do not give legal, medical, financial, immigration or mental-health advice. Do not ask for scores, states or employer names.</a:t>
            </a:r>
          </a:p>
          <a:p/>
          <a:p>
            <a:r>
              <a:t>If a question is really a request for a personal decision, name the boundary once and stop there.</a:t>
            </a:r>
          </a:p>
          <a:p/>
          <a:p>
            <a:r>
              <a:t>ON DESTINATION-SPECIFIC PORTABILITY. If someone asks whether their experience will transfer to a named role, function, industry or employer, the honest answer is that this session did not read that destination. The four questions tell them what their evidence can already support and what is still open. Do not estimate their odds, and do not imply that better wording or better documentation decides what another organization will do.</a:t>
            </a:r>
          </a:p>
          <a:p/>
          <a:p>
            <a:r>
              <a:t>THE PRIVATE CAPABILITY POSITION READ IS RETIRED AND IS NOT OFFERED. Career Move Review is the current advisory architecture and is not being sold from this stage while its route is unverified. If someone asks for a human read against a specific move, say it is not open yet. You may point to the Field Kit if it genuinely fits the question, or to nothing at all. Neither is required.</a:t>
            </a:r>
          </a:p>
          <a:p/>
          <a:p>
            <a:r>
              <a:t>Appendix material may be used here if a question calls for it.</a:t>
            </a:r>
          </a:p>
          <a:p/>
          <a:p>
            <a:r>
              <a:t>Close at 60:00 and thank the room.</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 live-only. Not part of the recorded core.
Use during Q&amp;A if someone asks how to read organisational signals. These are questions to investigate, never predictions about a specific employer.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 live-only. Moved out of the timed core deliberately.
If asked: one application, sixty seconds, no tool names, no job-loss predictions, no industry forecasts.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APPENDIX — live-only. Useful when someone scores low on statement 8 and reads it as a verdict on ability.</a:t>
            </a:r>
          </a:p>
          <a:p/>
          <a:p>
            <a:r>
              <a:t>STATE THE LIMIT WHENEVER YOU USE THIS SLIDE: translation does not guarantee acceptance. Another organization still has to decide that this evidence is comparable enough to trust in its context. Legibility removes one barrier; it does not remove genuine experience gaps, market constraints or employer preferences, and nothing here should be heard as a promise that better wording will.</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 live-only. This is the sharpest version of misreading two and a useful answer in Q&amp;A.
Not a diagnosis of anyone's specific promotion.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INSTITUTIONAL CLOSE — use INSTEAD of the continuation slides 23 and 24 when delivering for a university, alumni association, professional body or employee group.
No pricing. No Field Kit or private-read pitch. No product CTA of any kind.
This lets the same core deck serve institutional outreach without building a second presentation.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 OPTIONAL, AND OUT OF THE TIMED CORE.
This interaction belonged to the earlier long-form build. The 60-minute run of show has no room for it and it is NOT part of the fifty-minute core. Do not insert it.
Use it only if a delivery genuinely runs ahead — which should not happen — or in a longer non-Lightning-Lesson delivery of the same material.
If it is ever used: DO NOT read singleton counts aloud. DO NOT ask anyone to reveal their state. DO NOT say "most people change" — that is a research claim this session cannot support.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PRE-SESSION HOLDING SLIDE. NOT RECORDED, EVER. It carries the only date in the deck and it is shown before the recording starts.</a:t>
            </a:r>
          </a:p>
          <a:p/>
          <a:p>
            <a:r>
              <a:t>Up from 5:45 PM CT with the recording OFF. At 6:00 PM CT start the recording on slide 1.</a:t>
            </a:r>
          </a:p>
          <a:p/>
          <a:p>
            <a:r>
              <a:t>OPTIONAL ANONYMOUS ARRIVAL POLL, PRE-RECORDING ONLY. If the platform makes an anonymous poll easy, it may run while this slide is up. If it does not, skip it. It is optional and nothing depends on it.</a:t>
            </a:r>
          </a:p>
          <a:p/>
          <a:p>
            <a:r>
              <a:t>The one question is "What brought you here?" and the options are: my work feels static; I am considering an internal move; I am considering a career pivot; my role has changed around me; I want to know what would still count somewhere else.</a:t>
            </a:r>
          </a:p>
          <a:p/>
          <a:p>
            <a:r>
              <a:t>NEVER ASK, HERE OR ANYWHERE: what state someone is in, their score, their employer, whether they plan to quit, or whether they expect layoffs. Nothing diagnostic, nothing score-revealing, nothing decision-revealing.</a:t>
            </a:r>
          </a:p>
          <a:p/>
          <a:p>
            <a:r>
              <a:t>Close the poll before the recording starts. Do not read individual answers aloud, do not report a distribution into the recorded core, and do not refer back to it once recording begins.</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hyperlink" Target="https://temidayoafonja.com/fieldkit" TargetMode="External"/><Relationship Id="rId4" Type="http://schemas.openxmlformats.org/officeDocument/2006/relationships/hyperlink" Target="https://temidayoafonja.com/fieldkit" TargetMode="External"/><Relationship Id="rId5" Type="http://schemas.openxmlformats.org/officeDocument/2006/relationships/hyperlink" Target="https://temidayoafonja.com/fieldkit" TargetMode="External"/><Relationship Id="rId6" Type="http://schemas.openxmlformats.org/officeDocument/2006/relationships/slideLayout" Target="../slideLayouts/slideLayout1.xml"/><Relationship Id="rId7"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347"/>
        </a:solidFill>
      </p:bgPr>
    </p:bg>
    <p:spTree>
      <p:nvGrpSpPr>
        <p:cNvPr id="1" name=""/>
        <p:cNvGrpSpPr/>
        <p:nvPr/>
      </p:nvGrpSpPr>
      <p:grpSpPr>
        <a:xfrm>
          <a:off x="0" y="0"/>
          <a:ext cx="0" cy="0"/>
          <a:chOff x="0" y="0"/>
          <a:chExt cx="0" cy="0"/>
        </a:xfrm>
      </p:grpSpPr>
      <p:sp>
        <p:nvSpPr>
          <p:cNvPr id="2" name="Text 0"/>
          <p:cNvSpPr/>
          <p:nvPr/>
        </p:nvSpPr>
        <p:spPr>
          <a:xfrm>
            <a:off x="566928" y="457200"/>
            <a:ext cx="6035040" cy="201168"/>
          </a:xfrm>
          <a:prstGeom prst="rect">
            <a:avLst/>
          </a:prstGeom>
          <a:noFill/>
          <a:ln/>
        </p:spPr>
        <p:txBody>
          <a:bodyPr wrap="square" lIns="0" tIns="0" rIns="0" bIns="0" rtlCol="0" anchor="ctr"/>
          <a:lstStyle/>
          <a:p>
            <a:pPr indent="0" marL="0">
              <a:buNone/>
            </a:pPr>
            <a:r>
              <a:rPr lang="en-US" sz="900" b="1" spc="180" kern="0" dirty="0">
                <a:solidFill>
                  <a:srgbClr val="C9A84C"/>
                </a:solidFill>
                <a:latin typeface="Montserrat" pitchFamily="34" charset="0"/>
                <a:ea typeface="Montserrat" pitchFamily="34" charset="-122"/>
                <a:cs typeface="Montserrat" pitchFamily="34" charset="-120"/>
              </a:rPr>
              <a:t>A CAPABILITY FORMATION EXPERIENCE</a:t>
            </a:r>
            <a:endParaRPr lang="en-US" sz="900" dirty="0"/>
          </a:p>
        </p:txBody>
      </p:sp>
      <p:sp>
        <p:nvSpPr>
          <p:cNvPr id="3" name="Text 1"/>
          <p:cNvSpPr/>
          <p:nvPr/>
        </p:nvSpPr>
        <p:spPr>
          <a:xfrm>
            <a:off x="566928" y="1170432"/>
            <a:ext cx="5943600" cy="731520"/>
          </a:xfrm>
          <a:prstGeom prst="rect">
            <a:avLst/>
          </a:prstGeom>
          <a:noFill/>
          <a:ln/>
        </p:spPr>
        <p:txBody>
          <a:bodyPr wrap="square" lIns="0" tIns="0" rIns="0" bIns="0" rtlCol="0" anchor="ctr"/>
          <a:lstStyle/>
          <a:p>
            <a:pPr indent="0" marL="0">
              <a:lnSpc>
                <a:spcPts val="4000"/>
              </a:lnSpc>
              <a:buNone/>
            </a:pPr>
            <a:r>
              <a:rPr lang="en-US" sz="3800" b="1" dirty="0">
                <a:solidFill>
                  <a:srgbClr val="F5F0E8"/>
                </a:solidFill>
                <a:latin typeface="Cormorant Garamond" pitchFamily="34" charset="0"/>
                <a:ea typeface="Cormorant Garamond" pitchFamily="34" charset="-122"/>
                <a:cs typeface="Cormorant Garamond" pitchFamily="34" charset="-120"/>
              </a:rPr>
              <a:t>Stay or Leave?</a:t>
            </a:r>
            <a:endParaRPr lang="en-US" sz="3800" dirty="0"/>
          </a:p>
        </p:txBody>
      </p:sp>
      <p:sp>
        <p:nvSpPr>
          <p:cNvPr id="4" name="Text 2"/>
          <p:cNvSpPr/>
          <p:nvPr/>
        </p:nvSpPr>
        <p:spPr>
          <a:xfrm>
            <a:off x="566928" y="2011680"/>
            <a:ext cx="5943600" cy="274320"/>
          </a:xfrm>
          <a:prstGeom prst="rect">
            <a:avLst/>
          </a:prstGeom>
          <a:noFill/>
          <a:ln/>
        </p:spPr>
        <p:txBody>
          <a:bodyPr wrap="square" lIns="0" tIns="0" rIns="0" bIns="0" rtlCol="0" anchor="ctr"/>
          <a:lstStyle/>
          <a:p>
            <a:pPr indent="0" marL="0">
              <a:buNone/>
            </a:pPr>
            <a:r>
              <a:rPr lang="en-US" sz="1500" dirty="0">
                <a:solidFill>
                  <a:srgbClr val="F5F0E8"/>
                </a:solidFill>
                <a:latin typeface="DM Sans" pitchFamily="34" charset="0"/>
                <a:ea typeface="DM Sans" pitchFamily="34" charset="-122"/>
                <a:cs typeface="DM Sans" pitchFamily="34" charset="-120"/>
              </a:rPr>
              <a:t>Live Career Growth Assessment</a:t>
            </a:r>
            <a:endParaRPr lang="en-US" sz="1500" dirty="0"/>
          </a:p>
        </p:txBody>
      </p:sp>
      <p:sp>
        <p:nvSpPr>
          <p:cNvPr id="5" name="Shape 3"/>
          <p:cNvSpPr/>
          <p:nvPr/>
        </p:nvSpPr>
        <p:spPr>
          <a:xfrm>
            <a:off x="566928" y="2670048"/>
            <a:ext cx="2651760" cy="20117"/>
          </a:xfrm>
          <a:prstGeom prst="rect">
            <a:avLst/>
          </a:prstGeom>
          <a:solidFill>
            <a:srgbClr val="C9A84C"/>
          </a:solidFill>
          <a:ln/>
        </p:spPr>
        <p:txBody>
          <a:bodyPr/>
          <a:p/>
        </p:txBody>
      </p:sp>
      <p:sp>
        <p:nvSpPr>
          <p:cNvPr id="6" name="Text 4"/>
          <p:cNvSpPr/>
          <p:nvPr/>
        </p:nvSpPr>
        <p:spPr>
          <a:xfrm>
            <a:off x="566928" y="2852928"/>
            <a:ext cx="5943600" cy="310896"/>
          </a:xfrm>
          <a:prstGeom prst="rect">
            <a:avLst/>
          </a:prstGeom>
          <a:noFill/>
          <a:ln/>
        </p:spPr>
        <p:txBody>
          <a:bodyPr wrap="square" lIns="0" tIns="0" rIns="0" bIns="0" rtlCol="0" anchor="ctr"/>
          <a:lstStyle/>
          <a:p>
            <a:pPr indent="0" marL="0">
              <a:buNone/>
            </a:pPr>
            <a:r>
              <a:rPr lang="en-US" sz="2000" b="1" dirty="0">
                <a:solidFill>
                  <a:srgbClr val="F5F0E8"/>
                </a:solidFill>
                <a:latin typeface="Cormorant Garamond" pitchFamily="34" charset="0"/>
                <a:ea typeface="Cormorant Garamond" pitchFamily="34" charset="-122"/>
                <a:cs typeface="Cormorant Garamond" pitchFamily="34" charset="-120"/>
              </a:rPr>
              <a:t>The Capability Position Read</a:t>
            </a:r>
            <a:endParaRPr lang="en-US" sz="2000" dirty="0"/>
          </a:p>
        </p:txBody>
      </p:sp>
      <p:sp>
        <p:nvSpPr>
          <p:cNvPr id="7" name="Text 5"/>
          <p:cNvSpPr/>
          <p:nvPr/>
        </p:nvSpPr>
        <p:spPr>
          <a:xfrm>
            <a:off x="566928" y="3218688"/>
            <a:ext cx="5943600" cy="256032"/>
          </a:xfrm>
          <a:prstGeom prst="rect">
            <a:avLst/>
          </a:prstGeom>
          <a:noFill/>
          <a:ln/>
        </p:spPr>
        <p:txBody>
          <a:bodyPr wrap="square" lIns="0" tIns="0" rIns="0" bIns="0" rtlCol="0" anchor="ctr"/>
          <a:lstStyle/>
          <a:p>
            <a:pPr indent="0" marL="0">
              <a:buNone/>
            </a:pPr>
            <a:r>
              <a:rPr lang="en-US" sz="1250" i="1" dirty="0">
                <a:solidFill>
                  <a:srgbClr val="C9A84C"/>
                </a:solidFill>
                <a:latin typeface="DM Sans" pitchFamily="34" charset="0"/>
                <a:ea typeface="DM Sans" pitchFamily="34" charset="-122"/>
                <a:cs typeface="DM Sans" pitchFamily="34" charset="-120"/>
              </a:rPr>
              <a:t>Read the Position Before You Make the Move</a:t>
            </a:r>
            <a:endParaRPr lang="en-US" sz="1250" dirty="0"/>
          </a:p>
        </p:txBody>
      </p:sp>
      <p:sp>
        <p:nvSpPr>
          <p:cNvPr id="8" name="Text 6"/>
          <p:cNvSpPr/>
          <p:nvPr/>
        </p:nvSpPr>
        <p:spPr>
          <a:xfrm>
            <a:off x="566928" y="3675888"/>
            <a:ext cx="5943600" cy="219456"/>
          </a:xfrm>
          <a:prstGeom prst="rect">
            <a:avLst/>
          </a:prstGeom>
          <a:noFill/>
          <a:ln/>
        </p:spPr>
        <p:txBody>
          <a:bodyPr wrap="square" lIns="0" tIns="0" rIns="0" bIns="0" rtlCol="0" anchor="ctr"/>
          <a:lstStyle/>
          <a:p>
            <a:pPr indent="0" marL="0">
              <a:buNone/>
            </a:pPr>
            <a:r>
              <a:rPr lang="en-US" sz="950" b="1" spc="140" kern="0" dirty="0">
                <a:solidFill>
                  <a:srgbClr val="B8C5D9"/>
                </a:solidFill>
                <a:latin typeface="Montserrat" pitchFamily="34" charset="0"/>
                <a:ea typeface="Montserrat" pitchFamily="34" charset="-122"/>
                <a:cs typeface="Montserrat" pitchFamily="34" charset="-120"/>
              </a:rPr>
              <a:t>FREE GUIDED ASSESSMENT  ·  60 MINUTES</a:t>
            </a:r>
            <a:endParaRPr lang="en-US" sz="950" dirty="0"/>
          </a:p>
        </p:txBody>
      </p:sp>
      <p:pic>
        <p:nvPicPr>
          <p:cNvPr id="9" name="Image 0" descr="preencoded.png">    </p:cNvPr>
          <p:cNvPicPr>
            <a:picLocks noChangeAspect="1"/>
          </p:cNvPicPr>
          <p:nvPr/>
        </p:nvPicPr>
        <p:blipFill>
          <a:blip r:embed="rId1"/>
          <a:stretch>
            <a:fillRect/>
          </a:stretch>
        </p:blipFill>
        <p:spPr>
          <a:xfrm>
            <a:off x="6903720" y="1572768"/>
            <a:ext cx="1691640" cy="1691640"/>
          </a:xfrm>
          <a:prstGeom prst="rect">
            <a:avLst/>
          </a:prstGeom>
        </p:spPr>
      </p:pic>
      <p:sp>
        <p:nvSpPr>
          <p:cNvPr id="10" name="Text 7"/>
          <p:cNvSpPr/>
          <p:nvPr/>
        </p:nvSpPr>
        <p:spPr>
          <a:xfrm>
            <a:off x="6537960" y="3346704"/>
            <a:ext cx="2423160" cy="237744"/>
          </a:xfrm>
          <a:prstGeom prst="rect">
            <a:avLst/>
          </a:prstGeom>
          <a:noFill/>
          <a:ln/>
        </p:spPr>
        <p:txBody>
          <a:bodyPr wrap="square" lIns="0" tIns="0" rIns="0" bIns="0" rtlCol="0" anchor="ctr"/>
          <a:lstStyle/>
          <a:p>
            <a:pPr algn="ctr" indent="0" marL="0">
              <a:buNone/>
            </a:pPr>
            <a:r>
              <a:rPr lang="en-US" sz="1500" b="1" dirty="0">
                <a:solidFill>
                  <a:srgbClr val="F5F0E8"/>
                </a:solidFill>
                <a:latin typeface="Cormorant Garamond" pitchFamily="34" charset="0"/>
                <a:ea typeface="Cormorant Garamond" pitchFamily="34" charset="-122"/>
                <a:cs typeface="Cormorant Garamond" pitchFamily="34" charset="-120"/>
              </a:rPr>
              <a:t>Temidayo Afonja</a:t>
            </a:r>
            <a:endParaRPr lang="en-US" sz="1500" dirty="0"/>
          </a:p>
        </p:txBody>
      </p:sp>
      <p:sp>
        <p:nvSpPr>
          <p:cNvPr id="11" name="Text 8"/>
          <p:cNvSpPr/>
          <p:nvPr/>
        </p:nvSpPr>
        <p:spPr>
          <a:xfrm>
            <a:off x="6446520" y="3602736"/>
            <a:ext cx="2606040" cy="402336"/>
          </a:xfrm>
          <a:prstGeom prst="rect">
            <a:avLst/>
          </a:prstGeom>
          <a:noFill/>
          <a:ln/>
        </p:spPr>
        <p:txBody>
          <a:bodyPr wrap="square" lIns="0" tIns="0" rIns="0" bIns="0" rtlCol="0" anchor="ctr"/>
          <a:lstStyle/>
          <a:p>
            <a:pPr algn="ctr" indent="0" marL="0">
              <a:buNone/>
            </a:pPr>
            <a:r>
              <a:rPr lang="en-US" sz="860" dirty="0">
                <a:solidFill>
                  <a:srgbClr val="B8C5D9"/>
                </a:solidFill>
                <a:latin typeface="DM Sans" pitchFamily="34" charset="0"/>
                <a:ea typeface="DM Sans" pitchFamily="34" charset="-122"/>
                <a:cs typeface="DM Sans" pitchFamily="34" charset="-120"/>
              </a:rPr>
              <a:t>Founder, The Density Group</a:t>
            </a:r>
            <a:endParaRPr lang="en-US" sz="860" dirty="0"/>
          </a:p>
          <a:p>
            <a:pPr algn="ctr" indent="0" marL="0">
              <a:buNone/>
            </a:pPr>
            <a:r>
              <a:rPr lang="en-US" sz="860" dirty="0">
                <a:solidFill>
                  <a:srgbClr val="B8C5D9"/>
                </a:solidFill>
                <a:latin typeface="DM Sans" pitchFamily="34" charset="0"/>
                <a:ea typeface="DM Sans" pitchFamily="34" charset="-122"/>
                <a:cs typeface="DM Sans" pitchFamily="34" charset="-120"/>
              </a:rPr>
              <a:t>Author, The Capability Audit</a:t>
            </a:r>
            <a:endParaRPr lang="en-US" sz="860" dirty="0"/>
          </a:p>
        </p:txBody>
      </p:sp>
      <p:sp>
        <p:nvSpPr>
          <p:cNvPr id="13" name="Text 9"/>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14" name="Text 10"/>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1</a:t>
            </a:r>
            <a:endParaRPr lang="en-US" sz="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THE REFRAME</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856"/>
              </a:lnSpc>
              <a:buNone/>
            </a:pPr>
            <a:r>
              <a:rPr lang="en-US" sz="2800" b="1" dirty="0">
                <a:solidFill>
                  <a:srgbClr val="0F2347"/>
                </a:solidFill>
                <a:latin typeface="Cormorant Garamond" pitchFamily="34" charset="0"/>
                <a:ea typeface="Cormorant Garamond" pitchFamily="34" charset="-122"/>
                <a:cs typeface="Cormorant Garamond" pitchFamily="34" charset="-120"/>
              </a:rPr>
              <a:t>The question underneath the question</a:t>
            </a:r>
            <a:endParaRPr lang="en-US" sz="28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A fair question, and a reading that sits upstream of it.</a:t>
            </a:r>
            <a:endParaRPr lang="en-US" sz="1150" dirty="0"/>
          </a:p>
        </p:txBody>
      </p:sp>
      <p:sp>
        <p:nvSpPr>
          <p:cNvPr id="5" name="Shape 3"/>
          <p:cNvSpPr/>
          <p:nvPr/>
        </p:nvSpPr>
        <p:spPr>
          <a:xfrm>
            <a:off x="566928" y="1847088"/>
            <a:ext cx="3886200" cy="1481328"/>
          </a:xfrm>
          <a:prstGeom prst="rect">
            <a:avLst/>
          </a:prstGeom>
          <a:solidFill>
            <a:srgbClr val="E9EDF3"/>
          </a:solidFill>
          <a:ln/>
        </p:spPr>
        <p:txBody>
          <a:bodyPr/>
          <a:p/>
        </p:txBody>
      </p:sp>
      <p:sp>
        <p:nvSpPr>
          <p:cNvPr id="6" name="Text 4"/>
          <p:cNvSpPr/>
          <p:nvPr/>
        </p:nvSpPr>
        <p:spPr>
          <a:xfrm>
            <a:off x="786384" y="1993392"/>
            <a:ext cx="3474720" cy="182880"/>
          </a:xfrm>
          <a:prstGeom prst="rect">
            <a:avLst/>
          </a:prstGeom>
          <a:noFill/>
          <a:ln/>
        </p:spPr>
        <p:txBody>
          <a:bodyPr wrap="square" lIns="0" tIns="0" rIns="0" bIns="0" rtlCol="0" anchor="ctr"/>
          <a:lstStyle/>
          <a:p>
            <a:pPr indent="0" marL="0">
              <a:buNone/>
            </a:pPr>
            <a:r>
              <a:rPr lang="en-US" sz="820" b="1" spc="110" kern="0" dirty="0">
                <a:solidFill>
                  <a:srgbClr val="5A6B84"/>
                </a:solidFill>
                <a:latin typeface="Montserrat" pitchFamily="34" charset="0"/>
                <a:ea typeface="Montserrat" pitchFamily="34" charset="-122"/>
                <a:cs typeface="Montserrat" pitchFamily="34" charset="-120"/>
              </a:rPr>
              <a:t>WHAT YOU CAME IN ASKING</a:t>
            </a:r>
            <a:endParaRPr lang="en-US" sz="820" dirty="0"/>
          </a:p>
        </p:txBody>
      </p:sp>
      <p:sp>
        <p:nvSpPr>
          <p:cNvPr id="7" name="Text 5"/>
          <p:cNvSpPr/>
          <p:nvPr/>
        </p:nvSpPr>
        <p:spPr>
          <a:xfrm>
            <a:off x="786384" y="2304288"/>
            <a:ext cx="3474720" cy="822960"/>
          </a:xfrm>
          <a:prstGeom prst="rect">
            <a:avLst/>
          </a:prstGeom>
          <a:noFill/>
          <a:ln/>
        </p:spPr>
        <p:txBody>
          <a:bodyPr wrap="square" lIns="0" tIns="0" rIns="0" bIns="0" rtlCol="0" anchor="ctr"/>
          <a:lstStyle/>
          <a:p>
            <a:pPr indent="0" marL="0">
              <a:lnSpc>
                <a:spcPts val="2400"/>
              </a:lnSpc>
              <a:buNone/>
            </a:pPr>
            <a:r>
              <a:rPr lang="en-US" sz="1800" b="1" dirty="0">
                <a:solidFill>
                  <a:srgbClr val="0F2347"/>
                </a:solidFill>
                <a:latin typeface="Cormorant Garamond" pitchFamily="34" charset="0"/>
                <a:ea typeface="Cormorant Garamond" pitchFamily="34" charset="-122"/>
                <a:cs typeface="Cormorant Garamond" pitchFamily="34" charset="-120"/>
              </a:rPr>
              <a:t>“Should I stay in this role,</a:t>
            </a:r>
            <a:endParaRPr lang="en-US" sz="1800" dirty="0"/>
          </a:p>
          <a:p>
            <a:pPr indent="0" marL="0">
              <a:lnSpc>
                <a:spcPts val="2400"/>
              </a:lnSpc>
              <a:buNone/>
            </a:pPr>
            <a:r>
              <a:rPr lang="en-US" sz="1800" b="1" dirty="0">
                <a:solidFill>
                  <a:srgbClr val="0F2347"/>
                </a:solidFill>
                <a:latin typeface="Cormorant Garamond" pitchFamily="34" charset="0"/>
                <a:ea typeface="Cormorant Garamond" pitchFamily="34" charset="-122"/>
                <a:cs typeface="Cormorant Garamond" pitchFamily="34" charset="-120"/>
              </a:rPr>
              <a:t>or should I go?”</a:t>
            </a:r>
            <a:endParaRPr lang="en-US" sz="1800" dirty="0"/>
          </a:p>
        </p:txBody>
      </p:sp>
      <p:sp>
        <p:nvSpPr>
          <p:cNvPr id="8" name="Shape 6"/>
          <p:cNvSpPr/>
          <p:nvPr/>
        </p:nvSpPr>
        <p:spPr>
          <a:xfrm>
            <a:off x="4690872" y="1847088"/>
            <a:ext cx="3886200" cy="1481328"/>
          </a:xfrm>
          <a:prstGeom prst="rect">
            <a:avLst/>
          </a:prstGeom>
          <a:solidFill>
            <a:srgbClr val="0F2347"/>
          </a:solidFill>
          <a:ln/>
        </p:spPr>
        <p:txBody>
          <a:bodyPr/>
          <a:p/>
        </p:txBody>
      </p:sp>
      <p:sp>
        <p:nvSpPr>
          <p:cNvPr id="9" name="Text 7"/>
          <p:cNvSpPr/>
          <p:nvPr/>
        </p:nvSpPr>
        <p:spPr>
          <a:xfrm>
            <a:off x="4910328" y="1993392"/>
            <a:ext cx="3474720" cy="182880"/>
          </a:xfrm>
          <a:prstGeom prst="rect">
            <a:avLst/>
          </a:prstGeom>
          <a:noFill/>
          <a:ln/>
        </p:spPr>
        <p:txBody>
          <a:bodyPr wrap="square" lIns="0" tIns="0" rIns="0" bIns="0" rtlCol="0" anchor="ctr"/>
          <a:lstStyle/>
          <a:p>
            <a:pPr indent="0" marL="0">
              <a:buNone/>
            </a:pPr>
            <a:r>
              <a:rPr lang="en-US" sz="820" b="1" spc="110" kern="0" dirty="0">
                <a:solidFill>
                  <a:srgbClr val="C9A84C"/>
                </a:solidFill>
                <a:latin typeface="Montserrat" pitchFamily="34" charset="0"/>
                <a:ea typeface="Montserrat" pitchFamily="34" charset="-122"/>
                <a:cs typeface="Montserrat" pitchFamily="34" charset="-120"/>
              </a:rPr>
              <a:t>WHAT YOU NEED TO READ FIRST</a:t>
            </a:r>
            <a:endParaRPr lang="en-US" sz="820" dirty="0"/>
          </a:p>
        </p:txBody>
      </p:sp>
      <p:sp>
        <p:nvSpPr>
          <p:cNvPr id="10" name="Text 8"/>
          <p:cNvSpPr/>
          <p:nvPr/>
        </p:nvSpPr>
        <p:spPr>
          <a:xfrm>
            <a:off x="4910328" y="2286000"/>
            <a:ext cx="3474720" cy="914400"/>
          </a:xfrm>
          <a:prstGeom prst="rect">
            <a:avLst/>
          </a:prstGeom>
          <a:noFill/>
          <a:ln/>
        </p:spPr>
        <p:txBody>
          <a:bodyPr wrap="square" lIns="0" tIns="0" rIns="0" bIns="0" rtlCol="0" anchor="ctr"/>
          <a:lstStyle/>
          <a:p>
            <a:pPr indent="0" marL="0">
              <a:lnSpc>
                <a:spcPts val="2000"/>
              </a:lnSpc>
              <a:buNone/>
            </a:pPr>
            <a:r>
              <a:rPr lang="en-US" sz="1500" b="1" dirty="0">
                <a:solidFill>
                  <a:srgbClr val="F5F0E8"/>
                </a:solidFill>
                <a:latin typeface="Cormorant Garamond" pitchFamily="34" charset="0"/>
                <a:ea typeface="Cormorant Garamond" pitchFamily="34" charset="-122"/>
                <a:cs typeface="Cormorant Garamond" pitchFamily="34" charset="-120"/>
              </a:rPr>
              <a:t>“Is this work still building me, and what would still travel if the context changed?”</a:t>
            </a:r>
            <a:endParaRPr lang="en-US" sz="1500" dirty="0"/>
          </a:p>
        </p:txBody>
      </p:sp>
      <p:sp>
        <p:nvSpPr>
          <p:cNvPr id="11" name="Text 9"/>
          <p:cNvSpPr/>
          <p:nvPr/>
        </p:nvSpPr>
        <p:spPr>
          <a:xfrm>
            <a:off x="566928" y="3584448"/>
            <a:ext cx="8010144" cy="365760"/>
          </a:xfrm>
          <a:prstGeom prst="rect">
            <a:avLst/>
          </a:prstGeom>
          <a:noFill/>
          <a:ln/>
        </p:spPr>
        <p:txBody>
          <a:bodyPr wrap="square" lIns="0" tIns="0" rIns="0" bIns="0" rtlCol="0" anchor="ctr"/>
          <a:lstStyle/>
          <a:p>
            <a:pPr indent="0" marL="0">
              <a:buNone/>
            </a:pPr>
            <a:r>
              <a:rPr lang="en-US" sz="1250" dirty="0">
                <a:solidFill>
                  <a:srgbClr val="0F2347"/>
                </a:solidFill>
                <a:latin typeface="DM Sans" pitchFamily="34" charset="0"/>
                <a:ea typeface="DM Sans" pitchFamily="34" charset="-122"/>
                <a:cs typeface="DM Sans" pitchFamily="34" charset="-120"/>
              </a:rPr>
              <a:t>The first question is yours alone. The second sits upstream of it, and this session can read it more rigorously.</a:t>
            </a:r>
            <a:endParaRPr lang="en-US" sz="1250" dirty="0"/>
          </a:p>
        </p:txBody>
      </p:sp>
      <p:sp>
        <p:nvSpPr>
          <p:cNvPr id="13" name="Text 10"/>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14" name="Text 11"/>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2</a:t>
            </a:r>
            <a:endParaRPr lang="en-US" sz="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BOUNDARY</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754"/>
              </a:lnSpc>
              <a:buNone/>
            </a:pPr>
            <a:r>
              <a:rPr lang="en-US" sz="2700" b="1" dirty="0">
                <a:solidFill>
                  <a:srgbClr val="0F2347"/>
                </a:solidFill>
                <a:latin typeface="Cormorant Garamond" pitchFamily="34" charset="0"/>
                <a:ea typeface="Cormorant Garamond" pitchFamily="34" charset="-122"/>
                <a:cs typeface="Cormorant Garamond" pitchFamily="34" charset="-120"/>
              </a:rPr>
              <a:t>What this read will and will not do</a:t>
            </a:r>
            <a:endParaRPr lang="en-US" sz="2700" dirty="0"/>
          </a:p>
        </p:txBody>
      </p:sp>
      <p:sp>
        <p:nvSpPr>
          <p:cNvPr id="4" name="Shape 2"/>
          <p:cNvSpPr/>
          <p:nvPr/>
        </p:nvSpPr>
        <p:spPr>
          <a:xfrm>
            <a:off x="566928" y="1371600"/>
            <a:ext cx="8010144" cy="475488"/>
          </a:xfrm>
          <a:prstGeom prst="rect">
            <a:avLst/>
          </a:prstGeom>
          <a:solidFill>
            <a:srgbClr val="0F2347"/>
          </a:solidFill>
          <a:ln/>
        </p:spPr>
        <p:txBody>
          <a:bodyPr/>
          <a:p/>
        </p:txBody>
      </p:sp>
      <p:sp>
        <p:nvSpPr>
          <p:cNvPr id="5" name="Text 3"/>
          <p:cNvSpPr/>
          <p:nvPr/>
        </p:nvSpPr>
        <p:spPr>
          <a:xfrm>
            <a:off x="804672" y="1371600"/>
            <a:ext cx="7534656" cy="475488"/>
          </a:xfrm>
          <a:prstGeom prst="rect">
            <a:avLst/>
          </a:prstGeom>
          <a:noFill/>
          <a:ln/>
        </p:spPr>
        <p:txBody>
          <a:bodyPr wrap="square" lIns="0" tIns="0" rIns="0" bIns="0" rtlCol="0" anchor="ctr"/>
          <a:lstStyle/>
          <a:p>
            <a:pPr indent="0" marL="0">
              <a:buNone/>
            </a:pPr>
            <a:r>
              <a:rPr lang="en-US" sz="1700" b="1" dirty="0">
                <a:solidFill>
                  <a:srgbClr val="F5F0E8"/>
                </a:solidFill>
                <a:latin typeface="Cormorant Garamond" pitchFamily="34" charset="0"/>
                <a:ea typeface="Cormorant Garamond" pitchFamily="34" charset="-122"/>
                <a:cs typeface="Cormorant Garamond" pitchFamily="34" charset="-120"/>
              </a:rPr>
              <a:t>This read will not tell you to stay or leave.</a:t>
            </a:r>
            <a:endParaRPr lang="en-US" sz="1700" dirty="0"/>
          </a:p>
        </p:txBody>
      </p:sp>
      <p:sp>
        <p:nvSpPr>
          <p:cNvPr id="6" name="Text 4"/>
          <p:cNvSpPr/>
          <p:nvPr/>
        </p:nvSpPr>
        <p:spPr>
          <a:xfrm>
            <a:off x="566928" y="2011680"/>
            <a:ext cx="1600200" cy="219456"/>
          </a:xfrm>
          <a:prstGeom prst="rect">
            <a:avLst/>
          </a:prstGeom>
          <a:noFill/>
          <a:ln/>
        </p:spPr>
        <p:txBody>
          <a:bodyPr wrap="square" lIns="0" tIns="0" rIns="0" bIns="0" rtlCol="0" anchor="ctr"/>
          <a:lstStyle/>
          <a:p>
            <a:pPr indent="0" marL="0">
              <a:buNone/>
            </a:pPr>
            <a:r>
              <a:rPr lang="en-US" sz="840" b="1" spc="110" kern="0" dirty="0">
                <a:solidFill>
                  <a:srgbClr val="0F2347"/>
                </a:solidFill>
                <a:latin typeface="Montserrat" pitchFamily="34" charset="0"/>
                <a:ea typeface="Montserrat" pitchFamily="34" charset="-122"/>
                <a:cs typeface="Montserrat" pitchFamily="34" charset="-120"/>
              </a:rPr>
              <a:t>IT WILL</a:t>
            </a:r>
            <a:endParaRPr lang="en-US" sz="840" dirty="0"/>
          </a:p>
        </p:txBody>
      </p:sp>
      <p:sp>
        <p:nvSpPr>
          <p:cNvPr id="7" name="Text 5"/>
          <p:cNvSpPr/>
          <p:nvPr/>
        </p:nvSpPr>
        <p:spPr>
          <a:xfrm>
            <a:off x="2304288" y="1975104"/>
            <a:ext cx="6272784" cy="512064"/>
          </a:xfrm>
          <a:prstGeom prst="rect">
            <a:avLst/>
          </a:prstGeom>
          <a:noFill/>
          <a:ln/>
        </p:spPr>
        <p:txBody>
          <a:bodyPr wrap="square" lIns="0" tIns="0" rIns="0" bIns="0" rtlCol="0" anchor="ctr"/>
          <a:lstStyle/>
          <a:p>
            <a:pPr indent="0" marL="0">
              <a:lnSpc>
                <a:spcPts val="1500"/>
              </a:lnSpc>
              <a:buNone/>
            </a:pPr>
            <a:r>
              <a:rPr lang="en-US" sz="1140" dirty="0">
                <a:solidFill>
                  <a:srgbClr val="0F2347"/>
                </a:solidFill>
                <a:latin typeface="DM Sans" pitchFamily="34" charset="0"/>
                <a:ea typeface="DM Sans" pitchFamily="34" charset="-122"/>
                <a:cs typeface="DM Sans" pitchFamily="34" charset="-120"/>
              </a:rPr>
              <a:t>Give you a defensible reading of your current position and one category of move your evidence supports testing.</a:t>
            </a:r>
            <a:endParaRPr lang="en-US" sz="1140" dirty="0"/>
          </a:p>
        </p:txBody>
      </p:sp>
      <p:sp>
        <p:nvSpPr>
          <p:cNvPr id="8" name="Text 6"/>
          <p:cNvSpPr/>
          <p:nvPr/>
        </p:nvSpPr>
        <p:spPr>
          <a:xfrm>
            <a:off x="566928" y="2615184"/>
            <a:ext cx="1600200" cy="219456"/>
          </a:xfrm>
          <a:prstGeom prst="rect">
            <a:avLst/>
          </a:prstGeom>
          <a:noFill/>
          <a:ln/>
        </p:spPr>
        <p:txBody>
          <a:bodyPr wrap="square" lIns="0" tIns="0" rIns="0" bIns="0" rtlCol="0" anchor="ctr"/>
          <a:lstStyle/>
          <a:p>
            <a:pPr indent="0" marL="0">
              <a:buNone/>
            </a:pPr>
            <a:r>
              <a:rPr lang="en-US" sz="840" b="1" spc="110" kern="0" dirty="0">
                <a:solidFill>
                  <a:srgbClr val="0F2347"/>
                </a:solidFill>
                <a:latin typeface="Montserrat" pitchFamily="34" charset="0"/>
                <a:ea typeface="Montserrat" pitchFamily="34" charset="-122"/>
                <a:cs typeface="Montserrat" pitchFamily="34" charset="-120"/>
              </a:rPr>
              <a:t>IT WILL NOT</a:t>
            </a:r>
            <a:endParaRPr lang="en-US" sz="840" dirty="0"/>
          </a:p>
        </p:txBody>
      </p:sp>
      <p:sp>
        <p:nvSpPr>
          <p:cNvPr id="9" name="Text 7"/>
          <p:cNvSpPr/>
          <p:nvPr/>
        </p:nvSpPr>
        <p:spPr>
          <a:xfrm>
            <a:off x="2304288" y="2578608"/>
            <a:ext cx="6272784" cy="512064"/>
          </a:xfrm>
          <a:prstGeom prst="rect">
            <a:avLst/>
          </a:prstGeom>
          <a:noFill/>
          <a:ln/>
        </p:spPr>
        <p:txBody>
          <a:bodyPr wrap="square" lIns="0" tIns="0" rIns="0" bIns="0" rtlCol="0" anchor="ctr"/>
          <a:lstStyle/>
          <a:p>
            <a:pPr indent="0" marL="0">
              <a:lnSpc>
                <a:spcPts val="1500"/>
              </a:lnSpc>
              <a:buNone/>
            </a:pPr>
            <a:r>
              <a:rPr lang="en-US" sz="1140" dirty="0">
                <a:solidFill>
                  <a:srgbClr val="0F2347"/>
                </a:solidFill>
                <a:latin typeface="DM Sans" pitchFamily="34" charset="0"/>
                <a:ea typeface="DM Sans" pitchFamily="34" charset="-122"/>
                <a:cs typeface="DM Sans" pitchFamily="34" charset="-120"/>
              </a:rPr>
              <a:t>Predict layoffs, diagnose your employer, or make an employment decision for you.</a:t>
            </a:r>
            <a:endParaRPr lang="en-US" sz="1140" dirty="0"/>
          </a:p>
        </p:txBody>
      </p:sp>
      <p:sp>
        <p:nvSpPr>
          <p:cNvPr id="10" name="Text 8"/>
          <p:cNvSpPr/>
          <p:nvPr/>
        </p:nvSpPr>
        <p:spPr>
          <a:xfrm>
            <a:off x="566928" y="3218688"/>
            <a:ext cx="1600200" cy="219456"/>
          </a:xfrm>
          <a:prstGeom prst="rect">
            <a:avLst/>
          </a:prstGeom>
          <a:noFill/>
          <a:ln/>
        </p:spPr>
        <p:txBody>
          <a:bodyPr wrap="square" lIns="0" tIns="0" rIns="0" bIns="0" rtlCol="0" anchor="ctr"/>
          <a:lstStyle/>
          <a:p>
            <a:pPr indent="0" marL="0">
              <a:buNone/>
            </a:pPr>
            <a:r>
              <a:rPr lang="en-US" sz="840" b="1" spc="110" kern="0" dirty="0">
                <a:solidFill>
                  <a:srgbClr val="0F2347"/>
                </a:solidFill>
                <a:latin typeface="Montserrat" pitchFamily="34" charset="0"/>
                <a:ea typeface="Montserrat" pitchFamily="34" charset="-122"/>
                <a:cs typeface="Montserrat" pitchFamily="34" charset="-120"/>
              </a:rPr>
              <a:t>YOUR SCORES</a:t>
            </a:r>
            <a:endParaRPr lang="en-US" sz="840" dirty="0"/>
          </a:p>
        </p:txBody>
      </p:sp>
      <p:sp>
        <p:nvSpPr>
          <p:cNvPr id="11" name="Text 9"/>
          <p:cNvSpPr/>
          <p:nvPr/>
        </p:nvSpPr>
        <p:spPr>
          <a:xfrm>
            <a:off x="2304288" y="3182112"/>
            <a:ext cx="6272784" cy="512064"/>
          </a:xfrm>
          <a:prstGeom prst="rect">
            <a:avLst/>
          </a:prstGeom>
          <a:noFill/>
          <a:ln/>
        </p:spPr>
        <p:txBody>
          <a:bodyPr wrap="square" lIns="0" tIns="0" rIns="0" bIns="0" rtlCol="0" anchor="ctr"/>
          <a:lstStyle/>
          <a:p>
            <a:pPr indent="0" marL="0">
              <a:lnSpc>
                <a:spcPts val="1500"/>
              </a:lnSpc>
              <a:buNone/>
            </a:pPr>
            <a:r>
              <a:rPr lang="en-US" sz="1140" dirty="0">
                <a:solidFill>
                  <a:srgbClr val="0F2347"/>
                </a:solidFill>
                <a:latin typeface="DM Sans" pitchFamily="34" charset="0"/>
                <a:ea typeface="DM Sans" pitchFamily="34" charset="-122"/>
                <a:cs typeface="DM Sans" pitchFamily="34" charset="-120"/>
              </a:rPr>
              <a:t>Stay private. Nothing is submitted, collected or shared at any point.</a:t>
            </a:r>
            <a:endParaRPr lang="en-US" sz="1140" dirty="0"/>
          </a:p>
        </p:txBody>
      </p:sp>
      <p:sp>
        <p:nvSpPr>
          <p:cNvPr id="12" name="Text 10"/>
          <p:cNvSpPr/>
          <p:nvPr/>
        </p:nvSpPr>
        <p:spPr>
          <a:xfrm>
            <a:off x="566928" y="3822192"/>
            <a:ext cx="1600200" cy="219456"/>
          </a:xfrm>
          <a:prstGeom prst="rect">
            <a:avLst/>
          </a:prstGeom>
          <a:noFill/>
          <a:ln/>
        </p:spPr>
        <p:txBody>
          <a:bodyPr wrap="square" lIns="0" tIns="0" rIns="0" bIns="0" rtlCol="0" anchor="ctr"/>
          <a:lstStyle/>
          <a:p>
            <a:pPr indent="0" marL="0">
              <a:buNone/>
            </a:pPr>
            <a:r>
              <a:rPr lang="en-US" sz="840" b="1" spc="110" kern="0" dirty="0">
                <a:solidFill>
                  <a:srgbClr val="0F2347"/>
                </a:solidFill>
                <a:latin typeface="Montserrat" pitchFamily="34" charset="0"/>
                <a:ea typeface="Montserrat" pitchFamily="34" charset="-122"/>
                <a:cs typeface="Montserrat" pitchFamily="34" charset="-120"/>
              </a:rPr>
              <a:t>THE RECORDING</a:t>
            </a:r>
            <a:endParaRPr lang="en-US" sz="840" dirty="0"/>
          </a:p>
        </p:txBody>
      </p:sp>
      <p:sp>
        <p:nvSpPr>
          <p:cNvPr id="13" name="Text 11"/>
          <p:cNvSpPr/>
          <p:nvPr/>
        </p:nvSpPr>
        <p:spPr>
          <a:xfrm>
            <a:off x="2304288" y="3785616"/>
            <a:ext cx="6272784" cy="512064"/>
          </a:xfrm>
          <a:prstGeom prst="rect">
            <a:avLst/>
          </a:prstGeom>
          <a:noFill/>
          <a:ln/>
        </p:spPr>
        <p:txBody>
          <a:bodyPr wrap="square" lIns="0" tIns="0" rIns="0" bIns="0" rtlCol="0" anchor="ctr"/>
          <a:lstStyle/>
          <a:p>
            <a:pPr indent="0" marL="0">
              <a:lnSpc>
                <a:spcPts val="1500"/>
              </a:lnSpc>
              <a:buNone/>
            </a:pPr>
            <a:r>
              <a:rPr lang="en-US" sz="1140" dirty="0">
                <a:solidFill>
                  <a:srgbClr val="0F2347"/>
                </a:solidFill>
                <a:latin typeface="DM Sans" pitchFamily="34" charset="0"/>
                <a:ea typeface="DM Sans" pitchFamily="34" charset="-122"/>
                <a:cs typeface="DM Sans" pitchFamily="34" charset="-120"/>
              </a:rPr>
              <a:t>The teaching runs to minute 50 and is recorded. The last ten minutes are live questions and are not recorded.</a:t>
            </a:r>
            <a:endParaRPr lang="en-US" sz="1140" dirty="0"/>
          </a:p>
        </p:txBody>
      </p:sp>
      <p:sp>
        <p:nvSpPr>
          <p:cNvPr id="14" name="Text 12"/>
          <p:cNvSpPr/>
          <p:nvPr/>
        </p:nvSpPr>
        <p:spPr>
          <a:xfrm>
            <a:off x="566928" y="4498848"/>
            <a:ext cx="8010144" cy="219456"/>
          </a:xfrm>
          <a:prstGeom prst="rect">
            <a:avLst/>
          </a:prstGeom>
          <a:noFill/>
          <a:ln/>
        </p:spPr>
        <p:txBody>
          <a:bodyPr wrap="square" lIns="0" tIns="0" rIns="0" bIns="0" rtlCol="0" anchor="ctr"/>
          <a:lstStyle/>
          <a:p>
            <a:pPr indent="0" marL="0">
              <a:buNone/>
            </a:pPr>
            <a:r>
              <a:rPr lang="en-US" sz="940" i="1" dirty="0">
                <a:solidFill>
                  <a:srgbClr val="5A6B84"/>
                </a:solidFill>
                <a:latin typeface="DM Sans" pitchFamily="34" charset="0"/>
                <a:ea typeface="DM Sans" pitchFamily="34" charset="-122"/>
                <a:cs typeface="DM Sans" pitchFamily="34" charset="-120"/>
              </a:rPr>
              <a:t>This is not legal, medical, financial, immigration or mental-health advice.</a:t>
            </a:r>
            <a:endParaRPr lang="en-US" sz="940" dirty="0"/>
          </a:p>
        </p:txBody>
      </p:sp>
      <p:sp>
        <p:nvSpPr>
          <p:cNvPr id="16" name="Text 13"/>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17" name="Text 14"/>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3</a:t>
            </a:r>
            <a:endParaRPr lang="en-US" sz="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DEFINITION ONE</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3468"/>
              </a:lnSpc>
              <a:buNone/>
            </a:pPr>
            <a:r>
              <a:rPr lang="en-US" sz="3400" b="1" dirty="0">
                <a:solidFill>
                  <a:srgbClr val="0F2347"/>
                </a:solidFill>
                <a:latin typeface="Cormorant Garamond" pitchFamily="34" charset="0"/>
                <a:ea typeface="Cormorant Garamond" pitchFamily="34" charset="-122"/>
                <a:cs typeface="Cormorant Garamond" pitchFamily="34" charset="-120"/>
              </a:rPr>
              <a:t>Is the work still building you?</a:t>
            </a:r>
            <a:endParaRPr lang="en-US" sz="34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This reading calls that Density.</a:t>
            </a:r>
            <a:endParaRPr lang="en-US" sz="1150" dirty="0"/>
          </a:p>
        </p:txBody>
      </p:sp>
      <p:sp>
        <p:nvSpPr>
          <p:cNvPr id="5" name="Text 3"/>
          <p:cNvSpPr/>
          <p:nvPr/>
        </p:nvSpPr>
        <p:spPr>
          <a:xfrm>
            <a:off x="566928" y="1828800"/>
            <a:ext cx="8010144" cy="640080"/>
          </a:xfrm>
          <a:prstGeom prst="rect">
            <a:avLst/>
          </a:prstGeom>
          <a:noFill/>
          <a:ln/>
        </p:spPr>
        <p:txBody>
          <a:bodyPr wrap="square" lIns="0" tIns="0" rIns="0" bIns="0" rtlCol="0" anchor="ctr"/>
          <a:lstStyle/>
          <a:p>
            <a:pPr indent="0" marL="0">
              <a:lnSpc>
                <a:spcPts val="2000"/>
              </a:lnSpc>
              <a:buNone/>
            </a:pPr>
            <a:r>
              <a:rPr lang="en-US" sz="1400" dirty="0">
                <a:solidFill>
                  <a:srgbClr val="0F2347"/>
                </a:solidFill>
                <a:latin typeface="DM Sans" pitchFamily="34" charset="0"/>
                <a:ea typeface="DM Sans" pitchFamily="34" charset="-122"/>
                <a:cs typeface="DM Sans" pitchFamily="34" charset="-120"/>
              </a:rPr>
              <a:t>Density reads whether this environment is still forming you. It reads your conditions, not your effort. A role can be demanding, important and exhausting and still stop building you.</a:t>
            </a:r>
            <a:endParaRPr lang="en-US" sz="1400" dirty="0"/>
          </a:p>
        </p:txBody>
      </p:sp>
      <p:sp>
        <p:nvSpPr>
          <p:cNvPr id="6" name="Shape 4"/>
          <p:cNvSpPr/>
          <p:nvPr/>
        </p:nvSpPr>
        <p:spPr>
          <a:xfrm>
            <a:off x="566928" y="2688336"/>
            <a:ext cx="8010144" cy="658368"/>
          </a:xfrm>
          <a:prstGeom prst="rect">
            <a:avLst/>
          </a:prstGeom>
          <a:solidFill>
            <a:srgbClr val="E9EDF3"/>
          </a:solidFill>
          <a:ln/>
        </p:spPr>
        <p:txBody>
          <a:bodyPr/>
          <a:p/>
        </p:txBody>
      </p:sp>
      <p:sp>
        <p:nvSpPr>
          <p:cNvPr id="7" name="Text 5"/>
          <p:cNvSpPr/>
          <p:nvPr/>
        </p:nvSpPr>
        <p:spPr>
          <a:xfrm>
            <a:off x="804672" y="2688336"/>
            <a:ext cx="7534656" cy="658368"/>
          </a:xfrm>
          <a:prstGeom prst="rect">
            <a:avLst/>
          </a:prstGeom>
          <a:noFill/>
          <a:ln/>
        </p:spPr>
        <p:txBody>
          <a:bodyPr wrap="square" lIns="0" tIns="0" rIns="0" bIns="0" rtlCol="0" anchor="ctr"/>
          <a:lstStyle/>
          <a:p>
            <a:pPr indent="0" marL="0">
              <a:lnSpc>
                <a:spcPts val="1600"/>
              </a:lnSpc>
              <a:buNone/>
            </a:pPr>
            <a:r>
              <a:rPr lang="en-US" sz="1200" b="1" dirty="0">
                <a:solidFill>
                  <a:srgbClr val="0F2347"/>
                </a:solidFill>
                <a:latin typeface="DM Sans" pitchFamily="34" charset="0"/>
                <a:ea typeface="DM Sans" pitchFamily="34" charset="-122"/>
                <a:cs typeface="DM Sans" pitchFamily="34" charset="-120"/>
              </a:rPr>
              <a:t>Not how busy you are. Not how much pressure you carry. Not how much the organization depends on you. The question is whether the work is still asking more of your judgment than it did ninety days ago.</a:t>
            </a:r>
            <a:endParaRPr lang="en-US" sz="1200" dirty="0"/>
          </a:p>
        </p:txBody>
      </p:sp>
      <p:sp>
        <p:nvSpPr>
          <p:cNvPr id="8" name="Text 6"/>
          <p:cNvSpPr/>
          <p:nvPr/>
        </p:nvSpPr>
        <p:spPr>
          <a:xfrm>
            <a:off x="566928" y="356616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Six statements measure it. You will score them in a moment.</a:t>
            </a:r>
            <a:endParaRPr lang="en-US" sz="1150" dirty="0"/>
          </a:p>
        </p:txBody>
      </p:sp>
      <p:sp>
        <p:nvSpPr>
          <p:cNvPr id="10" name="Text 7"/>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11" name="Text 8"/>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4</a:t>
            </a:r>
            <a:endParaRPr lang="en-US" sz="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DEFINITION TWO</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3468"/>
              </a:lnSpc>
              <a:buNone/>
            </a:pPr>
            <a:r>
              <a:rPr lang="en-US" sz="3400" b="1" dirty="0">
                <a:solidFill>
                  <a:srgbClr val="0F2347"/>
                </a:solidFill>
                <a:latin typeface="Cormorant Garamond" pitchFamily="34" charset="0"/>
                <a:ea typeface="Cormorant Garamond" pitchFamily="34" charset="-122"/>
                <a:cs typeface="Cormorant Garamond" pitchFamily="34" charset="-120"/>
              </a:rPr>
              <a:t>Will what you build still travel?</a:t>
            </a:r>
            <a:endParaRPr lang="en-US" sz="34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This reading calls that Optionality.</a:t>
            </a:r>
            <a:endParaRPr lang="en-US" sz="1150" dirty="0"/>
          </a:p>
        </p:txBody>
      </p:sp>
      <p:sp>
        <p:nvSpPr>
          <p:cNvPr id="5" name="Text 3"/>
          <p:cNvSpPr/>
          <p:nvPr/>
        </p:nvSpPr>
        <p:spPr>
          <a:xfrm>
            <a:off x="566928" y="1828800"/>
            <a:ext cx="8010144" cy="640080"/>
          </a:xfrm>
          <a:prstGeom prst="rect">
            <a:avLst/>
          </a:prstGeom>
          <a:noFill/>
          <a:ln/>
        </p:spPr>
        <p:txBody>
          <a:bodyPr wrap="square" lIns="0" tIns="0" rIns="0" bIns="0" rtlCol="0" anchor="ctr"/>
          <a:lstStyle/>
          <a:p>
            <a:pPr indent="0" marL="0">
              <a:lnSpc>
                <a:spcPts val="2000"/>
              </a:lnSpc>
              <a:buNone/>
            </a:pPr>
            <a:r>
              <a:rPr lang="en-US" sz="1400" dirty="0">
                <a:solidFill>
                  <a:srgbClr val="0F2347"/>
                </a:solidFill>
                <a:latin typeface="DM Sans" pitchFamily="34" charset="0"/>
                <a:ea typeface="DM Sans" pitchFamily="34" charset="-122"/>
                <a:cs typeface="DM Sans" pitchFamily="34" charset="-120"/>
              </a:rPr>
              <a:t>Optionality reads whether what this work is building stays useful beyond your current context, and whether you could make it legible to someone outside your organization using evidence rather than your title.</a:t>
            </a:r>
            <a:endParaRPr lang="en-US" sz="1400" dirty="0"/>
          </a:p>
        </p:txBody>
      </p:sp>
      <p:sp>
        <p:nvSpPr>
          <p:cNvPr id="6" name="Shape 4"/>
          <p:cNvSpPr/>
          <p:nvPr/>
        </p:nvSpPr>
        <p:spPr>
          <a:xfrm>
            <a:off x="566928" y="2688336"/>
            <a:ext cx="8010144" cy="658368"/>
          </a:xfrm>
          <a:prstGeom prst="rect">
            <a:avLst/>
          </a:prstGeom>
          <a:solidFill>
            <a:srgbClr val="E9EDF3"/>
          </a:solidFill>
          <a:ln/>
        </p:spPr>
        <p:txBody>
          <a:bodyPr/>
          <a:p/>
        </p:txBody>
      </p:sp>
      <p:sp>
        <p:nvSpPr>
          <p:cNvPr id="7" name="Text 5"/>
          <p:cNvSpPr/>
          <p:nvPr/>
        </p:nvSpPr>
        <p:spPr>
          <a:xfrm>
            <a:off x="804672" y="2688336"/>
            <a:ext cx="7534656" cy="658368"/>
          </a:xfrm>
          <a:prstGeom prst="rect">
            <a:avLst/>
          </a:prstGeom>
          <a:noFill/>
          <a:ln/>
        </p:spPr>
        <p:txBody>
          <a:bodyPr wrap="square" lIns="0" tIns="0" rIns="0" bIns="0" rtlCol="0" anchor="ctr"/>
          <a:lstStyle/>
          <a:p>
            <a:pPr indent="0" marL="0">
              <a:lnSpc>
                <a:spcPts val="1600"/>
              </a:lnSpc>
              <a:buNone/>
            </a:pPr>
            <a:r>
              <a:rPr lang="en-US" sz="1200" b="1" dirty="0">
                <a:solidFill>
                  <a:srgbClr val="0F2347"/>
                </a:solidFill>
                <a:latin typeface="DM Sans" pitchFamily="34" charset="0"/>
                <a:ea typeface="DM Sans" pitchFamily="34" charset="-122"/>
                <a:cs typeface="DM Sans" pitchFamily="34" charset="-120"/>
              </a:rPr>
              <a:t>A low score is not a verdict on your ability. And translation is not recognition. Making your work legible removes a barrier. It does not decide what another organization does with what it sees.</a:t>
            </a:r>
            <a:endParaRPr lang="en-US" sz="1200" dirty="0"/>
          </a:p>
        </p:txBody>
      </p:sp>
      <p:sp>
        <p:nvSpPr>
          <p:cNvPr id="8" name="Text 6"/>
          <p:cNvSpPr/>
          <p:nvPr/>
        </p:nvSpPr>
        <p:spPr>
          <a:xfrm>
            <a:off x="566928" y="356616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Six statements measure it. Same scale, same window.</a:t>
            </a:r>
            <a:endParaRPr lang="en-US" sz="1150" dirty="0"/>
          </a:p>
        </p:txBody>
      </p:sp>
      <p:sp>
        <p:nvSpPr>
          <p:cNvPr id="10" name="Text 7"/>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11" name="Text 8"/>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5</a:t>
            </a:r>
            <a:endParaRPr lang="en-US" sz="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INITIAL READ</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448"/>
              </a:lnSpc>
              <a:buNone/>
            </a:pPr>
            <a:r>
              <a:rPr lang="en-US" sz="2400" b="1" dirty="0">
                <a:solidFill>
                  <a:srgbClr val="0F2347"/>
                </a:solidFill>
                <a:latin typeface="Cormorant Garamond" pitchFamily="34" charset="0"/>
                <a:ea typeface="Cormorant Garamond" pitchFamily="34" charset="-122"/>
                <a:cs typeface="Cormorant Garamond" pitchFamily="34" charset="-120"/>
              </a:rPr>
              <a:t>Your initial read: statements 1 to 3</a:t>
            </a:r>
            <a:endParaRPr lang="en-US" sz="2400" dirty="0"/>
          </a:p>
        </p:txBody>
      </p:sp>
      <p:sp>
        <p:nvSpPr>
          <p:cNvPr id="4" name="Text 2"/>
          <p:cNvSpPr/>
          <p:nvPr/>
        </p:nvSpPr>
        <p:spPr>
          <a:xfrm>
            <a:off x="566928" y="1316736"/>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Density. Live, silent. 1 strongly disagree to 5 strongly agree.</a:t>
            </a:r>
            <a:endParaRPr lang="en-US" sz="1150" dirty="0"/>
          </a:p>
        </p:txBody>
      </p:sp>
      <p:sp>
        <p:nvSpPr>
          <p:cNvPr id="5" name="Shape 3"/>
          <p:cNvSpPr/>
          <p:nvPr/>
        </p:nvSpPr>
        <p:spPr>
          <a:xfrm>
            <a:off x="566928" y="1792224"/>
            <a:ext cx="292608" cy="292608"/>
          </a:xfrm>
          <a:prstGeom prst="rect">
            <a:avLst/>
          </a:prstGeom>
          <a:solidFill>
            <a:srgbClr val="0F2347"/>
          </a:solidFill>
          <a:ln/>
        </p:spPr>
        <p:txBody>
          <a:bodyPr/>
          <a:p/>
        </p:txBody>
      </p:sp>
      <p:sp>
        <p:nvSpPr>
          <p:cNvPr id="6" name="Text 4"/>
          <p:cNvSpPr/>
          <p:nvPr/>
        </p:nvSpPr>
        <p:spPr>
          <a:xfrm>
            <a:off x="566928" y="1792224"/>
            <a:ext cx="292608" cy="292608"/>
          </a:xfrm>
          <a:prstGeom prst="rect">
            <a:avLst/>
          </a:prstGeom>
          <a:noFill/>
          <a:ln/>
        </p:spPr>
        <p:txBody>
          <a:bodyPr wrap="square" lIns="0" tIns="0" rIns="0" bIns="0" rtlCol="0" anchor="ctr"/>
          <a:lstStyle/>
          <a:p>
            <a:pPr algn="ctr" indent="0" marL="0">
              <a:buNone/>
            </a:pPr>
            <a:r>
              <a:rPr lang="en-US" sz="1000" b="1" dirty="0">
                <a:solidFill>
                  <a:srgbClr val="F5F0E8"/>
                </a:solidFill>
                <a:latin typeface="Montserrat" pitchFamily="34" charset="0"/>
                <a:ea typeface="Montserrat" pitchFamily="34" charset="-122"/>
                <a:cs typeface="Montserrat" pitchFamily="34" charset="-120"/>
              </a:rPr>
              <a:t>1</a:t>
            </a:r>
            <a:endParaRPr lang="en-US" sz="1000" dirty="0"/>
          </a:p>
        </p:txBody>
      </p:sp>
      <p:sp>
        <p:nvSpPr>
          <p:cNvPr id="7" name="Text 5"/>
          <p:cNvSpPr/>
          <p:nvPr/>
        </p:nvSpPr>
        <p:spPr>
          <a:xfrm>
            <a:off x="1024128" y="1773936"/>
            <a:ext cx="6089904" cy="566928"/>
          </a:xfrm>
          <a:prstGeom prst="rect">
            <a:avLst/>
          </a:prstGeom>
          <a:noFill/>
          <a:ln/>
        </p:spPr>
        <p:txBody>
          <a:bodyPr wrap="square" lIns="0" tIns="0" rIns="0" bIns="0" rtlCol="0" anchor="ctr"/>
          <a:lstStyle/>
          <a:p>
            <a:pPr indent="0" marL="0">
              <a:lnSpc>
                <a:spcPts val="1700"/>
              </a:lnSpc>
              <a:buNone/>
            </a:pPr>
            <a:r>
              <a:rPr lang="en-US" sz="1250" dirty="0">
                <a:solidFill>
                  <a:srgbClr val="0F2347"/>
                </a:solidFill>
                <a:latin typeface="DM Sans" pitchFamily="34" charset="0"/>
                <a:ea typeface="DM Sans" pitchFamily="34" charset="-122"/>
                <a:cs typeface="DM Sans" pitchFamily="34" charset="-120"/>
              </a:rPr>
              <a:t>In the last ninety days I have been handed a problem I did not already know how to solve.</a:t>
            </a:r>
            <a:endParaRPr lang="en-US" sz="1250" dirty="0"/>
          </a:p>
        </p:txBody>
      </p:sp>
      <p:sp>
        <p:nvSpPr>
          <p:cNvPr id="8" name="Text 6"/>
          <p:cNvSpPr/>
          <p:nvPr/>
        </p:nvSpPr>
        <p:spPr>
          <a:xfrm>
            <a:off x="7205472" y="1828800"/>
            <a:ext cx="1371600" cy="182880"/>
          </a:xfrm>
          <a:prstGeom prst="rect">
            <a:avLst/>
          </a:prstGeom>
          <a:noFill/>
          <a:ln/>
        </p:spPr>
        <p:txBody>
          <a:bodyPr wrap="square" lIns="0" tIns="0" rIns="0" bIns="0" rtlCol="0" anchor="ctr"/>
          <a:lstStyle/>
          <a:p>
            <a:pPr algn="r" indent="0" marL="0">
              <a:buNone/>
            </a:pPr>
            <a:r>
              <a:rPr lang="en-US" sz="850" b="1" spc="50" kern="0" dirty="0">
                <a:solidFill>
                  <a:srgbClr val="5A6B84"/>
                </a:solidFill>
                <a:latin typeface="Montserrat" pitchFamily="34" charset="0"/>
                <a:ea typeface="Montserrat" pitchFamily="34" charset="-122"/>
                <a:cs typeface="Montserrat" pitchFamily="34" charset="-120"/>
              </a:rPr>
              <a:t>1    2    3    4    5</a:t>
            </a:r>
            <a:endParaRPr lang="en-US" sz="850" dirty="0"/>
          </a:p>
        </p:txBody>
      </p:sp>
      <p:sp>
        <p:nvSpPr>
          <p:cNvPr id="9" name="Shape 7"/>
          <p:cNvSpPr/>
          <p:nvPr/>
        </p:nvSpPr>
        <p:spPr>
          <a:xfrm>
            <a:off x="566928" y="2633472"/>
            <a:ext cx="292608" cy="292608"/>
          </a:xfrm>
          <a:prstGeom prst="rect">
            <a:avLst/>
          </a:prstGeom>
          <a:solidFill>
            <a:srgbClr val="0F2347"/>
          </a:solidFill>
          <a:ln/>
        </p:spPr>
        <p:txBody>
          <a:bodyPr/>
          <a:p/>
        </p:txBody>
      </p:sp>
      <p:sp>
        <p:nvSpPr>
          <p:cNvPr id="10" name="Text 8"/>
          <p:cNvSpPr/>
          <p:nvPr/>
        </p:nvSpPr>
        <p:spPr>
          <a:xfrm>
            <a:off x="566928" y="2633472"/>
            <a:ext cx="292608" cy="292608"/>
          </a:xfrm>
          <a:prstGeom prst="rect">
            <a:avLst/>
          </a:prstGeom>
          <a:noFill/>
          <a:ln/>
        </p:spPr>
        <p:txBody>
          <a:bodyPr wrap="square" lIns="0" tIns="0" rIns="0" bIns="0" rtlCol="0" anchor="ctr"/>
          <a:lstStyle/>
          <a:p>
            <a:pPr algn="ctr" indent="0" marL="0">
              <a:buNone/>
            </a:pPr>
            <a:r>
              <a:rPr lang="en-US" sz="1000" b="1" dirty="0">
                <a:solidFill>
                  <a:srgbClr val="F5F0E8"/>
                </a:solidFill>
                <a:latin typeface="Montserrat" pitchFamily="34" charset="0"/>
                <a:ea typeface="Montserrat" pitchFamily="34" charset="-122"/>
                <a:cs typeface="Montserrat" pitchFamily="34" charset="-120"/>
              </a:rPr>
              <a:t>2</a:t>
            </a:r>
            <a:endParaRPr lang="en-US" sz="1000" dirty="0"/>
          </a:p>
        </p:txBody>
      </p:sp>
      <p:sp>
        <p:nvSpPr>
          <p:cNvPr id="11" name="Text 9"/>
          <p:cNvSpPr/>
          <p:nvPr/>
        </p:nvSpPr>
        <p:spPr>
          <a:xfrm>
            <a:off x="1024128" y="2615184"/>
            <a:ext cx="6089904" cy="566928"/>
          </a:xfrm>
          <a:prstGeom prst="rect">
            <a:avLst/>
          </a:prstGeom>
          <a:noFill/>
          <a:ln/>
        </p:spPr>
        <p:txBody>
          <a:bodyPr wrap="square" lIns="0" tIns="0" rIns="0" bIns="0" rtlCol="0" anchor="ctr"/>
          <a:lstStyle/>
          <a:p>
            <a:pPr indent="0" marL="0">
              <a:lnSpc>
                <a:spcPts val="1700"/>
              </a:lnSpc>
              <a:buNone/>
            </a:pPr>
            <a:r>
              <a:rPr lang="en-US" sz="1250" dirty="0">
                <a:solidFill>
                  <a:srgbClr val="0F2347"/>
                </a:solidFill>
                <a:latin typeface="DM Sans" pitchFamily="34" charset="0"/>
                <a:ea typeface="DM Sans" pitchFamily="34" charset="-122"/>
                <a:cs typeface="DM Sans" pitchFamily="34" charset="-120"/>
              </a:rPr>
              <a:t>I work close enough to people who are better than me that I can watch how they think.</a:t>
            </a:r>
            <a:endParaRPr lang="en-US" sz="1250" dirty="0"/>
          </a:p>
        </p:txBody>
      </p:sp>
      <p:sp>
        <p:nvSpPr>
          <p:cNvPr id="12" name="Text 10"/>
          <p:cNvSpPr/>
          <p:nvPr/>
        </p:nvSpPr>
        <p:spPr>
          <a:xfrm>
            <a:off x="7205472" y="2670048"/>
            <a:ext cx="1371600" cy="182880"/>
          </a:xfrm>
          <a:prstGeom prst="rect">
            <a:avLst/>
          </a:prstGeom>
          <a:noFill/>
          <a:ln/>
        </p:spPr>
        <p:txBody>
          <a:bodyPr wrap="square" lIns="0" tIns="0" rIns="0" bIns="0" rtlCol="0" anchor="ctr"/>
          <a:lstStyle/>
          <a:p>
            <a:pPr algn="r" indent="0" marL="0">
              <a:buNone/>
            </a:pPr>
            <a:r>
              <a:rPr lang="en-US" sz="850" b="1" spc="50" kern="0" dirty="0">
                <a:solidFill>
                  <a:srgbClr val="5A6B84"/>
                </a:solidFill>
                <a:latin typeface="Montserrat" pitchFamily="34" charset="0"/>
                <a:ea typeface="Montserrat" pitchFamily="34" charset="-122"/>
                <a:cs typeface="Montserrat" pitchFamily="34" charset="-120"/>
              </a:rPr>
              <a:t>1    2    3    4    5</a:t>
            </a:r>
            <a:endParaRPr lang="en-US" sz="850" dirty="0"/>
          </a:p>
        </p:txBody>
      </p:sp>
      <p:sp>
        <p:nvSpPr>
          <p:cNvPr id="13" name="Shape 11"/>
          <p:cNvSpPr/>
          <p:nvPr/>
        </p:nvSpPr>
        <p:spPr>
          <a:xfrm>
            <a:off x="566928" y="3474720"/>
            <a:ext cx="292608" cy="292608"/>
          </a:xfrm>
          <a:prstGeom prst="rect">
            <a:avLst/>
          </a:prstGeom>
          <a:solidFill>
            <a:srgbClr val="0F2347"/>
          </a:solidFill>
          <a:ln/>
        </p:spPr>
        <p:txBody>
          <a:bodyPr/>
          <a:p/>
        </p:txBody>
      </p:sp>
      <p:sp>
        <p:nvSpPr>
          <p:cNvPr id="14" name="Text 12"/>
          <p:cNvSpPr/>
          <p:nvPr/>
        </p:nvSpPr>
        <p:spPr>
          <a:xfrm>
            <a:off x="566928" y="3474720"/>
            <a:ext cx="292608" cy="292608"/>
          </a:xfrm>
          <a:prstGeom prst="rect">
            <a:avLst/>
          </a:prstGeom>
          <a:noFill/>
          <a:ln/>
        </p:spPr>
        <p:txBody>
          <a:bodyPr wrap="square" lIns="0" tIns="0" rIns="0" bIns="0" rtlCol="0" anchor="ctr"/>
          <a:lstStyle/>
          <a:p>
            <a:pPr algn="ctr" indent="0" marL="0">
              <a:buNone/>
            </a:pPr>
            <a:r>
              <a:rPr lang="en-US" sz="1000" b="1" dirty="0">
                <a:solidFill>
                  <a:srgbClr val="F5F0E8"/>
                </a:solidFill>
                <a:latin typeface="Montserrat" pitchFamily="34" charset="0"/>
                <a:ea typeface="Montserrat" pitchFamily="34" charset="-122"/>
                <a:cs typeface="Montserrat" pitchFamily="34" charset="-120"/>
              </a:rPr>
              <a:t>3</a:t>
            </a:r>
            <a:endParaRPr lang="en-US" sz="1000" dirty="0"/>
          </a:p>
        </p:txBody>
      </p:sp>
      <p:sp>
        <p:nvSpPr>
          <p:cNvPr id="15" name="Text 13"/>
          <p:cNvSpPr/>
          <p:nvPr/>
        </p:nvSpPr>
        <p:spPr>
          <a:xfrm>
            <a:off x="1024128" y="3456432"/>
            <a:ext cx="6089904" cy="566928"/>
          </a:xfrm>
          <a:prstGeom prst="rect">
            <a:avLst/>
          </a:prstGeom>
          <a:noFill/>
          <a:ln/>
        </p:spPr>
        <p:txBody>
          <a:bodyPr wrap="square" lIns="0" tIns="0" rIns="0" bIns="0" rtlCol="0" anchor="ctr"/>
          <a:lstStyle/>
          <a:p>
            <a:pPr indent="0" marL="0">
              <a:lnSpc>
                <a:spcPts val="1700"/>
              </a:lnSpc>
              <a:buNone/>
            </a:pPr>
            <a:r>
              <a:rPr lang="en-US" sz="1250" dirty="0">
                <a:solidFill>
                  <a:srgbClr val="0F2347"/>
                </a:solidFill>
                <a:latin typeface="DM Sans" pitchFamily="34" charset="0"/>
                <a:ea typeface="DM Sans" pitchFamily="34" charset="-122"/>
                <a:cs typeface="DM Sans" pitchFamily="34" charset="-120"/>
              </a:rPr>
              <a:t>My work is reviewed by someone who can tell the difference between good and adequate, and who says so directly.</a:t>
            </a:r>
            <a:endParaRPr lang="en-US" sz="1250" dirty="0"/>
          </a:p>
        </p:txBody>
      </p:sp>
      <p:sp>
        <p:nvSpPr>
          <p:cNvPr id="16" name="Text 14"/>
          <p:cNvSpPr/>
          <p:nvPr/>
        </p:nvSpPr>
        <p:spPr>
          <a:xfrm>
            <a:off x="7205472" y="3511296"/>
            <a:ext cx="1371600" cy="182880"/>
          </a:xfrm>
          <a:prstGeom prst="rect">
            <a:avLst/>
          </a:prstGeom>
          <a:noFill/>
          <a:ln/>
        </p:spPr>
        <p:txBody>
          <a:bodyPr wrap="square" lIns="0" tIns="0" rIns="0" bIns="0" rtlCol="0" anchor="ctr"/>
          <a:lstStyle/>
          <a:p>
            <a:pPr algn="r" indent="0" marL="0">
              <a:buNone/>
            </a:pPr>
            <a:r>
              <a:rPr lang="en-US" sz="850" b="1" spc="50" kern="0" dirty="0">
                <a:solidFill>
                  <a:srgbClr val="5A6B84"/>
                </a:solidFill>
                <a:latin typeface="Montserrat" pitchFamily="34" charset="0"/>
                <a:ea typeface="Montserrat" pitchFamily="34" charset="-122"/>
                <a:cs typeface="Montserrat" pitchFamily="34" charset="-120"/>
              </a:rPr>
              <a:t>1    2    3    4    5</a:t>
            </a:r>
            <a:endParaRPr lang="en-US" sz="850" dirty="0"/>
          </a:p>
        </p:txBody>
      </p:sp>
      <p:sp>
        <p:nvSpPr>
          <p:cNvPr id="17" name="Text 15"/>
          <p:cNvSpPr/>
          <p:nvPr/>
        </p:nvSpPr>
        <p:spPr>
          <a:xfrm>
            <a:off x="566928" y="4315968"/>
            <a:ext cx="8010144" cy="237744"/>
          </a:xfrm>
          <a:prstGeom prst="rect">
            <a:avLst/>
          </a:prstGeom>
          <a:noFill/>
          <a:ln/>
        </p:spPr>
        <p:txBody>
          <a:bodyPr wrap="square" lIns="0" tIns="0" rIns="0" bIns="0" rtlCol="0" anchor="ctr"/>
          <a:lstStyle/>
          <a:p>
            <a:pPr indent="0" marL="0">
              <a:buNone/>
            </a:pPr>
            <a:r>
              <a:rPr lang="en-US" sz="1050" i="1" dirty="0">
                <a:solidFill>
                  <a:srgbClr val="5A6B84"/>
                </a:solidFill>
                <a:latin typeface="DM Sans" pitchFamily="34" charset="0"/>
                <a:ea typeface="DM Sans" pitchFamily="34" charset="-122"/>
                <a:cs typeface="DM Sans" pitchFamily="34" charset="-120"/>
              </a:rPr>
              <a:t>No evidence line yet — that is deliberate.</a:t>
            </a:r>
            <a:endParaRPr lang="en-US" sz="1050" dirty="0"/>
          </a:p>
        </p:txBody>
      </p:sp>
      <p:sp>
        <p:nvSpPr>
          <p:cNvPr id="19" name="Text 16"/>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20" name="Text 17"/>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6</a:t>
            </a:r>
            <a:endParaRPr lang="en-US" sz="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INITIAL READ</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448"/>
              </a:lnSpc>
              <a:buNone/>
            </a:pPr>
            <a:r>
              <a:rPr lang="en-US" sz="2400" b="1" dirty="0">
                <a:solidFill>
                  <a:srgbClr val="0F2347"/>
                </a:solidFill>
                <a:latin typeface="Cormorant Garamond" pitchFamily="34" charset="0"/>
                <a:ea typeface="Cormorant Garamond" pitchFamily="34" charset="-122"/>
                <a:cs typeface="Cormorant Garamond" pitchFamily="34" charset="-120"/>
              </a:rPr>
              <a:t>Your initial read: statements 4 to 6</a:t>
            </a:r>
            <a:endParaRPr lang="en-US" sz="2400" dirty="0"/>
          </a:p>
        </p:txBody>
      </p:sp>
      <p:sp>
        <p:nvSpPr>
          <p:cNvPr id="4" name="Text 2"/>
          <p:cNvSpPr/>
          <p:nvPr/>
        </p:nvSpPr>
        <p:spPr>
          <a:xfrm>
            <a:off x="566928" y="1316736"/>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Density, continued. Same window, same instruction.</a:t>
            </a:r>
            <a:endParaRPr lang="en-US" sz="1150" dirty="0"/>
          </a:p>
        </p:txBody>
      </p:sp>
      <p:sp>
        <p:nvSpPr>
          <p:cNvPr id="5" name="Shape 3"/>
          <p:cNvSpPr/>
          <p:nvPr/>
        </p:nvSpPr>
        <p:spPr>
          <a:xfrm>
            <a:off x="566928" y="1792224"/>
            <a:ext cx="292608" cy="292608"/>
          </a:xfrm>
          <a:prstGeom prst="rect">
            <a:avLst/>
          </a:prstGeom>
          <a:solidFill>
            <a:srgbClr val="0F2347"/>
          </a:solidFill>
          <a:ln/>
        </p:spPr>
        <p:txBody>
          <a:bodyPr/>
          <a:p/>
        </p:txBody>
      </p:sp>
      <p:sp>
        <p:nvSpPr>
          <p:cNvPr id="6" name="Text 4"/>
          <p:cNvSpPr/>
          <p:nvPr/>
        </p:nvSpPr>
        <p:spPr>
          <a:xfrm>
            <a:off x="566928" y="1792224"/>
            <a:ext cx="292608" cy="292608"/>
          </a:xfrm>
          <a:prstGeom prst="rect">
            <a:avLst/>
          </a:prstGeom>
          <a:noFill/>
          <a:ln/>
        </p:spPr>
        <p:txBody>
          <a:bodyPr wrap="square" lIns="0" tIns="0" rIns="0" bIns="0" rtlCol="0" anchor="ctr"/>
          <a:lstStyle/>
          <a:p>
            <a:pPr algn="ctr" indent="0" marL="0">
              <a:buNone/>
            </a:pPr>
            <a:r>
              <a:rPr lang="en-US" sz="1000" b="1" dirty="0">
                <a:solidFill>
                  <a:srgbClr val="F5F0E8"/>
                </a:solidFill>
                <a:latin typeface="Montserrat" pitchFamily="34" charset="0"/>
                <a:ea typeface="Montserrat" pitchFamily="34" charset="-122"/>
                <a:cs typeface="Montserrat" pitchFamily="34" charset="-120"/>
              </a:rPr>
              <a:t>4</a:t>
            </a:r>
            <a:endParaRPr lang="en-US" sz="1000" dirty="0"/>
          </a:p>
        </p:txBody>
      </p:sp>
      <p:sp>
        <p:nvSpPr>
          <p:cNvPr id="7" name="Text 5"/>
          <p:cNvSpPr/>
          <p:nvPr/>
        </p:nvSpPr>
        <p:spPr>
          <a:xfrm>
            <a:off x="1024128" y="1773936"/>
            <a:ext cx="6089904" cy="566928"/>
          </a:xfrm>
          <a:prstGeom prst="rect">
            <a:avLst/>
          </a:prstGeom>
          <a:noFill/>
          <a:ln/>
        </p:spPr>
        <p:txBody>
          <a:bodyPr wrap="square" lIns="0" tIns="0" rIns="0" bIns="0" rtlCol="0" anchor="ctr"/>
          <a:lstStyle/>
          <a:p>
            <a:pPr indent="0" marL="0">
              <a:lnSpc>
                <a:spcPts val="1700"/>
              </a:lnSpc>
              <a:buNone/>
            </a:pPr>
            <a:r>
              <a:rPr lang="en-US" sz="1250" dirty="0">
                <a:solidFill>
                  <a:srgbClr val="0F2347"/>
                </a:solidFill>
                <a:latin typeface="DM Sans" pitchFamily="34" charset="0"/>
                <a:ea typeface="DM Sans" pitchFamily="34" charset="-122"/>
                <a:cs typeface="DM Sans" pitchFamily="34" charset="-120"/>
              </a:rPr>
              <a:t>The feedback I receive changes what I do next, not just how I feel.</a:t>
            </a:r>
            <a:endParaRPr lang="en-US" sz="1250" dirty="0"/>
          </a:p>
        </p:txBody>
      </p:sp>
      <p:sp>
        <p:nvSpPr>
          <p:cNvPr id="8" name="Text 6"/>
          <p:cNvSpPr/>
          <p:nvPr/>
        </p:nvSpPr>
        <p:spPr>
          <a:xfrm>
            <a:off x="7205472" y="1828800"/>
            <a:ext cx="1371600" cy="182880"/>
          </a:xfrm>
          <a:prstGeom prst="rect">
            <a:avLst/>
          </a:prstGeom>
          <a:noFill/>
          <a:ln/>
        </p:spPr>
        <p:txBody>
          <a:bodyPr wrap="square" lIns="0" tIns="0" rIns="0" bIns="0" rtlCol="0" anchor="ctr"/>
          <a:lstStyle/>
          <a:p>
            <a:pPr algn="r" indent="0" marL="0">
              <a:buNone/>
            </a:pPr>
            <a:r>
              <a:rPr lang="en-US" sz="850" b="1" spc="50" kern="0" dirty="0">
                <a:solidFill>
                  <a:srgbClr val="5A6B84"/>
                </a:solidFill>
                <a:latin typeface="Montserrat" pitchFamily="34" charset="0"/>
                <a:ea typeface="Montserrat" pitchFamily="34" charset="-122"/>
                <a:cs typeface="Montserrat" pitchFamily="34" charset="-120"/>
              </a:rPr>
              <a:t>1    2    3    4    5</a:t>
            </a:r>
            <a:endParaRPr lang="en-US" sz="850" dirty="0"/>
          </a:p>
        </p:txBody>
      </p:sp>
      <p:sp>
        <p:nvSpPr>
          <p:cNvPr id="9" name="Shape 7"/>
          <p:cNvSpPr/>
          <p:nvPr/>
        </p:nvSpPr>
        <p:spPr>
          <a:xfrm>
            <a:off x="566928" y="2633472"/>
            <a:ext cx="292608" cy="292608"/>
          </a:xfrm>
          <a:prstGeom prst="rect">
            <a:avLst/>
          </a:prstGeom>
          <a:solidFill>
            <a:srgbClr val="0F2347"/>
          </a:solidFill>
          <a:ln/>
        </p:spPr>
        <p:txBody>
          <a:bodyPr/>
          <a:p/>
        </p:txBody>
      </p:sp>
      <p:sp>
        <p:nvSpPr>
          <p:cNvPr id="10" name="Text 8"/>
          <p:cNvSpPr/>
          <p:nvPr/>
        </p:nvSpPr>
        <p:spPr>
          <a:xfrm>
            <a:off x="566928" y="2633472"/>
            <a:ext cx="292608" cy="292608"/>
          </a:xfrm>
          <a:prstGeom prst="rect">
            <a:avLst/>
          </a:prstGeom>
          <a:noFill/>
          <a:ln/>
        </p:spPr>
        <p:txBody>
          <a:bodyPr wrap="square" lIns="0" tIns="0" rIns="0" bIns="0" rtlCol="0" anchor="ctr"/>
          <a:lstStyle/>
          <a:p>
            <a:pPr algn="ctr" indent="0" marL="0">
              <a:buNone/>
            </a:pPr>
            <a:r>
              <a:rPr lang="en-US" sz="1000" b="1" dirty="0">
                <a:solidFill>
                  <a:srgbClr val="F5F0E8"/>
                </a:solidFill>
                <a:latin typeface="Montserrat" pitchFamily="34" charset="0"/>
                <a:ea typeface="Montserrat" pitchFamily="34" charset="-122"/>
                <a:cs typeface="Montserrat" pitchFamily="34" charset="-120"/>
              </a:rPr>
              <a:t>5</a:t>
            </a:r>
            <a:endParaRPr lang="en-US" sz="1000" dirty="0"/>
          </a:p>
        </p:txBody>
      </p:sp>
      <p:sp>
        <p:nvSpPr>
          <p:cNvPr id="11" name="Text 9"/>
          <p:cNvSpPr/>
          <p:nvPr/>
        </p:nvSpPr>
        <p:spPr>
          <a:xfrm>
            <a:off x="1024128" y="2615184"/>
            <a:ext cx="6089904" cy="566928"/>
          </a:xfrm>
          <a:prstGeom prst="rect">
            <a:avLst/>
          </a:prstGeom>
          <a:noFill/>
          <a:ln/>
        </p:spPr>
        <p:txBody>
          <a:bodyPr wrap="square" lIns="0" tIns="0" rIns="0" bIns="0" rtlCol="0" anchor="ctr"/>
          <a:lstStyle/>
          <a:p>
            <a:pPr indent="0" marL="0">
              <a:lnSpc>
                <a:spcPts val="1700"/>
              </a:lnSpc>
              <a:buNone/>
            </a:pPr>
            <a:r>
              <a:rPr lang="en-US" sz="1250" dirty="0">
                <a:solidFill>
                  <a:srgbClr val="0F2347"/>
                </a:solidFill>
                <a:latin typeface="DM Sans" pitchFamily="34" charset="0"/>
                <a:ea typeface="DM Sans" pitchFamily="34" charset="-122"/>
                <a:cs typeface="DM Sans" pitchFamily="34" charset="-120"/>
              </a:rPr>
              <a:t>I regularly operate at the edge of my competence rather than the comfortable center of it.</a:t>
            </a:r>
            <a:endParaRPr lang="en-US" sz="1250" dirty="0"/>
          </a:p>
        </p:txBody>
      </p:sp>
      <p:sp>
        <p:nvSpPr>
          <p:cNvPr id="12" name="Text 10"/>
          <p:cNvSpPr/>
          <p:nvPr/>
        </p:nvSpPr>
        <p:spPr>
          <a:xfrm>
            <a:off x="7205472" y="2670048"/>
            <a:ext cx="1371600" cy="182880"/>
          </a:xfrm>
          <a:prstGeom prst="rect">
            <a:avLst/>
          </a:prstGeom>
          <a:noFill/>
          <a:ln/>
        </p:spPr>
        <p:txBody>
          <a:bodyPr wrap="square" lIns="0" tIns="0" rIns="0" bIns="0" rtlCol="0" anchor="ctr"/>
          <a:lstStyle/>
          <a:p>
            <a:pPr algn="r" indent="0" marL="0">
              <a:buNone/>
            </a:pPr>
            <a:r>
              <a:rPr lang="en-US" sz="850" b="1" spc="50" kern="0" dirty="0">
                <a:solidFill>
                  <a:srgbClr val="5A6B84"/>
                </a:solidFill>
                <a:latin typeface="Montserrat" pitchFamily="34" charset="0"/>
                <a:ea typeface="Montserrat" pitchFamily="34" charset="-122"/>
                <a:cs typeface="Montserrat" pitchFamily="34" charset="-120"/>
              </a:rPr>
              <a:t>1    2    3    4    5</a:t>
            </a:r>
            <a:endParaRPr lang="en-US" sz="850" dirty="0"/>
          </a:p>
        </p:txBody>
      </p:sp>
      <p:sp>
        <p:nvSpPr>
          <p:cNvPr id="13" name="Shape 11"/>
          <p:cNvSpPr/>
          <p:nvPr/>
        </p:nvSpPr>
        <p:spPr>
          <a:xfrm>
            <a:off x="566928" y="3474720"/>
            <a:ext cx="292608" cy="292608"/>
          </a:xfrm>
          <a:prstGeom prst="rect">
            <a:avLst/>
          </a:prstGeom>
          <a:solidFill>
            <a:srgbClr val="0F2347"/>
          </a:solidFill>
          <a:ln/>
        </p:spPr>
        <p:txBody>
          <a:bodyPr/>
          <a:p/>
        </p:txBody>
      </p:sp>
      <p:sp>
        <p:nvSpPr>
          <p:cNvPr id="14" name="Text 12"/>
          <p:cNvSpPr/>
          <p:nvPr/>
        </p:nvSpPr>
        <p:spPr>
          <a:xfrm>
            <a:off x="566928" y="3474720"/>
            <a:ext cx="292608" cy="292608"/>
          </a:xfrm>
          <a:prstGeom prst="rect">
            <a:avLst/>
          </a:prstGeom>
          <a:noFill/>
          <a:ln/>
        </p:spPr>
        <p:txBody>
          <a:bodyPr wrap="square" lIns="0" tIns="0" rIns="0" bIns="0" rtlCol="0" anchor="ctr"/>
          <a:lstStyle/>
          <a:p>
            <a:pPr algn="ctr" indent="0" marL="0">
              <a:buNone/>
            </a:pPr>
            <a:r>
              <a:rPr lang="en-US" sz="1000" b="1" dirty="0">
                <a:solidFill>
                  <a:srgbClr val="F5F0E8"/>
                </a:solidFill>
                <a:latin typeface="Montserrat" pitchFamily="34" charset="0"/>
                <a:ea typeface="Montserrat" pitchFamily="34" charset="-122"/>
                <a:cs typeface="Montserrat" pitchFamily="34" charset="-120"/>
              </a:rPr>
              <a:t>6</a:t>
            </a:r>
            <a:endParaRPr lang="en-US" sz="1000" dirty="0"/>
          </a:p>
        </p:txBody>
      </p:sp>
      <p:sp>
        <p:nvSpPr>
          <p:cNvPr id="15" name="Text 13"/>
          <p:cNvSpPr/>
          <p:nvPr/>
        </p:nvSpPr>
        <p:spPr>
          <a:xfrm>
            <a:off x="1024128" y="3456432"/>
            <a:ext cx="6089904" cy="566928"/>
          </a:xfrm>
          <a:prstGeom prst="rect">
            <a:avLst/>
          </a:prstGeom>
          <a:noFill/>
          <a:ln/>
        </p:spPr>
        <p:txBody>
          <a:bodyPr wrap="square" lIns="0" tIns="0" rIns="0" bIns="0" rtlCol="0" anchor="ctr"/>
          <a:lstStyle/>
          <a:p>
            <a:pPr indent="0" marL="0">
              <a:lnSpc>
                <a:spcPts val="1700"/>
              </a:lnSpc>
              <a:buNone/>
            </a:pPr>
            <a:r>
              <a:rPr lang="en-US" sz="1250" dirty="0">
                <a:solidFill>
                  <a:srgbClr val="0F2347"/>
                </a:solidFill>
                <a:latin typeface="DM Sans" pitchFamily="34" charset="0"/>
                <a:ea typeface="DM Sans" pitchFamily="34" charset="-122"/>
                <a:cs typeface="DM Sans" pitchFamily="34" charset="-120"/>
              </a:rPr>
              <a:t>Looking back six months, the work I do now would have been genuinely hard for me then.</a:t>
            </a:r>
            <a:endParaRPr lang="en-US" sz="1250" dirty="0"/>
          </a:p>
        </p:txBody>
      </p:sp>
      <p:sp>
        <p:nvSpPr>
          <p:cNvPr id="16" name="Text 14"/>
          <p:cNvSpPr/>
          <p:nvPr/>
        </p:nvSpPr>
        <p:spPr>
          <a:xfrm>
            <a:off x="7205472" y="3511296"/>
            <a:ext cx="1371600" cy="182880"/>
          </a:xfrm>
          <a:prstGeom prst="rect">
            <a:avLst/>
          </a:prstGeom>
          <a:noFill/>
          <a:ln/>
        </p:spPr>
        <p:txBody>
          <a:bodyPr wrap="square" lIns="0" tIns="0" rIns="0" bIns="0" rtlCol="0" anchor="ctr"/>
          <a:lstStyle/>
          <a:p>
            <a:pPr algn="r" indent="0" marL="0">
              <a:buNone/>
            </a:pPr>
            <a:r>
              <a:rPr lang="en-US" sz="850" b="1" spc="50" kern="0" dirty="0">
                <a:solidFill>
                  <a:srgbClr val="5A6B84"/>
                </a:solidFill>
                <a:latin typeface="Montserrat" pitchFamily="34" charset="0"/>
                <a:ea typeface="Montserrat" pitchFamily="34" charset="-122"/>
                <a:cs typeface="Montserrat" pitchFamily="34" charset="-120"/>
              </a:rPr>
              <a:t>1    2    3    4    5</a:t>
            </a:r>
            <a:endParaRPr lang="en-US" sz="850" dirty="0"/>
          </a:p>
        </p:txBody>
      </p:sp>
      <p:sp>
        <p:nvSpPr>
          <p:cNvPr id="17" name="Text 15"/>
          <p:cNvSpPr/>
          <p:nvPr/>
        </p:nvSpPr>
        <p:spPr>
          <a:xfrm>
            <a:off x="566928" y="4315968"/>
            <a:ext cx="8010144" cy="237744"/>
          </a:xfrm>
          <a:prstGeom prst="rect">
            <a:avLst/>
          </a:prstGeom>
          <a:noFill/>
          <a:ln/>
        </p:spPr>
        <p:txBody>
          <a:bodyPr wrap="square" lIns="0" tIns="0" rIns="0" bIns="0" rtlCol="0" anchor="ctr"/>
          <a:lstStyle/>
          <a:p>
            <a:pPr indent="0" marL="0">
              <a:buNone/>
            </a:pPr>
            <a:r>
              <a:rPr lang="en-US" sz="1050" i="1" dirty="0">
                <a:solidFill>
                  <a:srgbClr val="5A6B84"/>
                </a:solidFill>
                <a:latin typeface="DM Sans" pitchFamily="34" charset="0"/>
                <a:ea typeface="DM Sans" pitchFamily="34" charset="-122"/>
                <a:cs typeface="DM Sans" pitchFamily="34" charset="-120"/>
              </a:rPr>
              <a:t>No evidence line yet — that is deliberate.</a:t>
            </a:r>
            <a:endParaRPr lang="en-US" sz="1050" dirty="0"/>
          </a:p>
        </p:txBody>
      </p:sp>
      <p:sp>
        <p:nvSpPr>
          <p:cNvPr id="19" name="Text 16"/>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20" name="Text 17"/>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7</a:t>
            </a:r>
            <a:endParaRPr lang="en-US" sz="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INITIAL READ</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856"/>
              </a:lnSpc>
              <a:buNone/>
            </a:pPr>
            <a:r>
              <a:rPr lang="en-US" sz="2800" b="1" dirty="0">
                <a:solidFill>
                  <a:srgbClr val="0F2347"/>
                </a:solidFill>
                <a:latin typeface="Cormorant Garamond" pitchFamily="34" charset="0"/>
                <a:ea typeface="Cormorant Garamond" pitchFamily="34" charset="-122"/>
                <a:cs typeface="Cormorant Garamond" pitchFamily="34" charset="-120"/>
              </a:rPr>
              <a:t>Your initial Density reading</a:t>
            </a:r>
            <a:endParaRPr lang="en-US" sz="28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Add statements 1 to 6.</a:t>
            </a:r>
            <a:endParaRPr lang="en-US" sz="1150" dirty="0"/>
          </a:p>
        </p:txBody>
      </p:sp>
      <p:sp>
        <p:nvSpPr>
          <p:cNvPr id="5" name="Shape 3"/>
          <p:cNvSpPr/>
          <p:nvPr/>
        </p:nvSpPr>
        <p:spPr>
          <a:xfrm>
            <a:off x="566928" y="1920240"/>
            <a:ext cx="8010144" cy="1188720"/>
          </a:xfrm>
          <a:prstGeom prst="rect">
            <a:avLst/>
          </a:prstGeom>
          <a:solidFill>
            <a:srgbClr val="0F2347"/>
          </a:solidFill>
          <a:ln/>
        </p:spPr>
        <p:txBody>
          <a:bodyPr/>
          <a:p/>
        </p:txBody>
      </p:sp>
      <p:sp>
        <p:nvSpPr>
          <p:cNvPr id="6" name="Text 4"/>
          <p:cNvSpPr/>
          <p:nvPr/>
        </p:nvSpPr>
        <p:spPr>
          <a:xfrm>
            <a:off x="859536" y="2103120"/>
            <a:ext cx="4572000" cy="219456"/>
          </a:xfrm>
          <a:prstGeom prst="rect">
            <a:avLst/>
          </a:prstGeom>
          <a:noFill/>
          <a:ln/>
        </p:spPr>
        <p:txBody>
          <a:bodyPr wrap="square" lIns="0" tIns="0" rIns="0" bIns="0" rtlCol="0" anchor="ctr"/>
          <a:lstStyle/>
          <a:p>
            <a:pPr indent="0" marL="0">
              <a:buNone/>
            </a:pPr>
            <a:r>
              <a:rPr lang="en-US" sz="950" b="1" spc="130" kern="0" dirty="0">
                <a:solidFill>
                  <a:srgbClr val="C9A84C"/>
                </a:solidFill>
                <a:latin typeface="Montserrat" pitchFamily="34" charset="0"/>
                <a:ea typeface="Montserrat" pitchFamily="34" charset="-122"/>
                <a:cs typeface="Montserrat" pitchFamily="34" charset="-120"/>
              </a:rPr>
              <a:t>INITIAL DENSITY TOTAL</a:t>
            </a:r>
            <a:endParaRPr lang="en-US" sz="950" dirty="0"/>
          </a:p>
        </p:txBody>
      </p:sp>
      <p:sp>
        <p:nvSpPr>
          <p:cNvPr id="7" name="Text 5"/>
          <p:cNvSpPr/>
          <p:nvPr/>
        </p:nvSpPr>
        <p:spPr>
          <a:xfrm>
            <a:off x="859536" y="2414016"/>
            <a:ext cx="4572000" cy="548640"/>
          </a:xfrm>
          <a:prstGeom prst="rect">
            <a:avLst/>
          </a:prstGeom>
          <a:noFill/>
          <a:ln/>
        </p:spPr>
        <p:txBody>
          <a:bodyPr wrap="square" lIns="0" tIns="0" rIns="0" bIns="0" rtlCol="0" anchor="ctr"/>
          <a:lstStyle/>
          <a:p>
            <a:pPr indent="0" marL="0">
              <a:buNone/>
            </a:pPr>
            <a:r>
              <a:rPr lang="en-US" sz="3200" b="1" dirty="0">
                <a:solidFill>
                  <a:srgbClr val="F5F0E8"/>
                </a:solidFill>
                <a:latin typeface="Cormorant Garamond" pitchFamily="34" charset="0"/>
                <a:ea typeface="Cormorant Garamond" pitchFamily="34" charset="-122"/>
                <a:cs typeface="Cormorant Garamond" pitchFamily="34" charset="-120"/>
              </a:rPr>
              <a:t>________  / 30</a:t>
            </a:r>
            <a:endParaRPr lang="en-US" sz="3200" dirty="0"/>
          </a:p>
        </p:txBody>
      </p:sp>
      <p:sp>
        <p:nvSpPr>
          <p:cNvPr id="8" name="Text 6"/>
          <p:cNvSpPr/>
          <p:nvPr/>
        </p:nvSpPr>
        <p:spPr>
          <a:xfrm>
            <a:off x="5486400" y="2139696"/>
            <a:ext cx="2834640" cy="822960"/>
          </a:xfrm>
          <a:prstGeom prst="rect">
            <a:avLst/>
          </a:prstGeom>
          <a:noFill/>
          <a:ln/>
        </p:spPr>
        <p:txBody>
          <a:bodyPr wrap="square" lIns="0" tIns="0" rIns="0" bIns="0" rtlCol="0" anchor="ctr"/>
          <a:lstStyle/>
          <a:p>
            <a:pPr indent="0" marL="0">
              <a:lnSpc>
                <a:spcPts val="1600"/>
              </a:lnSpc>
              <a:buNone/>
            </a:pPr>
            <a:r>
              <a:rPr lang="en-US" sz="1150" dirty="0">
                <a:solidFill>
                  <a:srgbClr val="B8C5D9"/>
                </a:solidFill>
                <a:latin typeface="DM Sans" pitchFamily="34" charset="0"/>
                <a:ea typeface="DM Sans" pitchFamily="34" charset="-122"/>
                <a:cs typeface="DM Sans" pitchFamily="34" charset="-120"/>
              </a:rPr>
              <a:t>19 to 30 is high</a:t>
            </a:r>
            <a:endParaRPr lang="en-US" sz="1150" dirty="0"/>
          </a:p>
          <a:p>
            <a:pPr indent="0" marL="0">
              <a:lnSpc>
                <a:spcPts val="1600"/>
              </a:lnSpc>
              <a:buNone/>
            </a:pPr>
            <a:r>
              <a:rPr lang="en-US" sz="1150" dirty="0">
                <a:solidFill>
                  <a:srgbClr val="B8C5D9"/>
                </a:solidFill>
                <a:latin typeface="DM Sans" pitchFamily="34" charset="0"/>
                <a:ea typeface="DM Sans" pitchFamily="34" charset="-122"/>
                <a:cs typeface="DM Sans" pitchFamily="34" charset="-120"/>
              </a:rPr>
              <a:t>6 to 18 is low</a:t>
            </a:r>
            <a:endParaRPr lang="en-US" sz="1150" dirty="0"/>
          </a:p>
          <a:p>
            <a:pPr indent="0" marL="0">
              <a:lnSpc>
                <a:spcPts val="1600"/>
              </a:lnSpc>
              <a:buNone/>
            </a:pPr>
            <a:r>
              <a:rPr lang="en-US" sz="1150" dirty="0">
                <a:solidFill>
                  <a:srgbClr val="B8C5D9"/>
                </a:solidFill>
                <a:latin typeface="DM Sans" pitchFamily="34" charset="0"/>
                <a:ea typeface="DM Sans" pitchFamily="34" charset="-122"/>
                <a:cs typeface="DM Sans" pitchFamily="34" charset="-120"/>
              </a:rPr>
              <a:t>17 to 21 is the boundary band</a:t>
            </a:r>
            <a:endParaRPr lang="en-US" sz="1150" dirty="0"/>
          </a:p>
        </p:txBody>
      </p:sp>
      <p:sp>
        <p:nvSpPr>
          <p:cNvPr id="9" name="Text 7"/>
          <p:cNvSpPr/>
          <p:nvPr/>
        </p:nvSpPr>
        <p:spPr>
          <a:xfrm>
            <a:off x="566928" y="3346704"/>
            <a:ext cx="8010144" cy="274320"/>
          </a:xfrm>
          <a:prstGeom prst="rect">
            <a:avLst/>
          </a:prstGeom>
          <a:noFill/>
          <a:ln/>
        </p:spPr>
        <p:txBody>
          <a:bodyPr wrap="square" lIns="0" tIns="0" rIns="0" bIns="0" rtlCol="0" anchor="ctr"/>
          <a:lstStyle/>
          <a:p>
            <a:pPr indent="0" marL="0">
              <a:buNone/>
            </a:pPr>
            <a:r>
              <a:rPr lang="en-US" sz="1250" b="1" dirty="0">
                <a:solidFill>
                  <a:srgbClr val="0F2347"/>
                </a:solidFill>
                <a:latin typeface="DM Sans" pitchFamily="34" charset="0"/>
                <a:ea typeface="DM Sans" pitchFamily="34" charset="-122"/>
                <a:cs typeface="DM Sans" pitchFamily="34" charset="-120"/>
              </a:rPr>
              <a:t>Hold the number. Do not share it.</a:t>
            </a:r>
            <a:endParaRPr lang="en-US" sz="1250" dirty="0"/>
          </a:p>
        </p:txBody>
      </p:sp>
      <p:sp>
        <p:nvSpPr>
          <p:cNvPr id="10" name="Text 8"/>
          <p:cNvSpPr/>
          <p:nvPr/>
        </p:nvSpPr>
        <p:spPr>
          <a:xfrm>
            <a:off x="566928" y="3712464"/>
            <a:ext cx="8010144" cy="457200"/>
          </a:xfrm>
          <a:prstGeom prst="rect">
            <a:avLst/>
          </a:prstGeom>
          <a:noFill/>
          <a:ln/>
        </p:spPr>
        <p:txBody>
          <a:bodyPr wrap="square" lIns="0" tIns="0" rIns="0" bIns="0" rtlCol="0" anchor="ctr"/>
          <a:lstStyle/>
          <a:p>
            <a:pPr indent="0" marL="0">
              <a:lnSpc>
                <a:spcPts val="1400"/>
              </a:lnSpc>
              <a:buNone/>
            </a:pPr>
            <a:r>
              <a:rPr lang="en-US" sz="1060" i="1" dirty="0">
                <a:solidFill>
                  <a:srgbClr val="5A6B84"/>
                </a:solidFill>
                <a:latin typeface="DM Sans" pitchFamily="34" charset="0"/>
                <a:ea typeface="DM Sans" pitchFamily="34" charset="-122"/>
                <a:cs typeface="DM Sans" pitchFamily="34" charset="-120"/>
              </a:rPr>
              <a:t>A total inside 17 to 21 sits on the boundary. It does not resolve to high or low — you will read both neighbouring states rather than pick one.</a:t>
            </a:r>
            <a:endParaRPr lang="en-US" sz="1060" dirty="0"/>
          </a:p>
        </p:txBody>
      </p:sp>
      <p:sp>
        <p:nvSpPr>
          <p:cNvPr id="12" name="Text 9"/>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13" name="Text 10"/>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8</a:t>
            </a:r>
            <a:endParaRPr lang="en-US" sz="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INITIAL READ</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448"/>
              </a:lnSpc>
              <a:buNone/>
            </a:pPr>
            <a:r>
              <a:rPr lang="en-US" sz="2400" b="1" dirty="0">
                <a:solidFill>
                  <a:srgbClr val="0F2347"/>
                </a:solidFill>
                <a:latin typeface="Cormorant Garamond" pitchFamily="34" charset="0"/>
                <a:ea typeface="Cormorant Garamond" pitchFamily="34" charset="-122"/>
                <a:cs typeface="Cormorant Garamond" pitchFamily="34" charset="-120"/>
              </a:rPr>
              <a:t>Your initial read: statements 7 to 9</a:t>
            </a:r>
            <a:endParaRPr lang="en-US" sz="2400" dirty="0"/>
          </a:p>
        </p:txBody>
      </p:sp>
      <p:sp>
        <p:nvSpPr>
          <p:cNvPr id="4" name="Text 2"/>
          <p:cNvSpPr/>
          <p:nvPr/>
        </p:nvSpPr>
        <p:spPr>
          <a:xfrm>
            <a:off x="566928" y="1316736"/>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Optionality. Same scale, same window.</a:t>
            </a:r>
            <a:endParaRPr lang="en-US" sz="1150" dirty="0"/>
          </a:p>
        </p:txBody>
      </p:sp>
      <p:sp>
        <p:nvSpPr>
          <p:cNvPr id="5" name="Shape 3"/>
          <p:cNvSpPr/>
          <p:nvPr/>
        </p:nvSpPr>
        <p:spPr>
          <a:xfrm>
            <a:off x="566928" y="1792224"/>
            <a:ext cx="292608" cy="292608"/>
          </a:xfrm>
          <a:prstGeom prst="rect">
            <a:avLst/>
          </a:prstGeom>
          <a:solidFill>
            <a:srgbClr val="0F2347"/>
          </a:solidFill>
          <a:ln/>
        </p:spPr>
        <p:txBody>
          <a:bodyPr/>
          <a:p/>
        </p:txBody>
      </p:sp>
      <p:sp>
        <p:nvSpPr>
          <p:cNvPr id="6" name="Text 4"/>
          <p:cNvSpPr/>
          <p:nvPr/>
        </p:nvSpPr>
        <p:spPr>
          <a:xfrm>
            <a:off x="566928" y="1792224"/>
            <a:ext cx="292608" cy="292608"/>
          </a:xfrm>
          <a:prstGeom prst="rect">
            <a:avLst/>
          </a:prstGeom>
          <a:noFill/>
          <a:ln/>
        </p:spPr>
        <p:txBody>
          <a:bodyPr wrap="square" lIns="0" tIns="0" rIns="0" bIns="0" rtlCol="0" anchor="ctr"/>
          <a:lstStyle/>
          <a:p>
            <a:pPr algn="ctr" indent="0" marL="0">
              <a:buNone/>
            </a:pPr>
            <a:r>
              <a:rPr lang="en-US" sz="1000" b="1" dirty="0">
                <a:solidFill>
                  <a:srgbClr val="F5F0E8"/>
                </a:solidFill>
                <a:latin typeface="Montserrat" pitchFamily="34" charset="0"/>
                <a:ea typeface="Montserrat" pitchFamily="34" charset="-122"/>
                <a:cs typeface="Montserrat" pitchFamily="34" charset="-120"/>
              </a:rPr>
              <a:t>7</a:t>
            </a:r>
            <a:endParaRPr lang="en-US" sz="1000" dirty="0"/>
          </a:p>
        </p:txBody>
      </p:sp>
      <p:sp>
        <p:nvSpPr>
          <p:cNvPr id="7" name="Text 5"/>
          <p:cNvSpPr/>
          <p:nvPr/>
        </p:nvSpPr>
        <p:spPr>
          <a:xfrm>
            <a:off x="1024128" y="1773936"/>
            <a:ext cx="6089904" cy="566928"/>
          </a:xfrm>
          <a:prstGeom prst="rect">
            <a:avLst/>
          </a:prstGeom>
          <a:noFill/>
          <a:ln/>
        </p:spPr>
        <p:txBody>
          <a:bodyPr wrap="square" lIns="0" tIns="0" rIns="0" bIns="0" rtlCol="0" anchor="ctr"/>
          <a:lstStyle/>
          <a:p>
            <a:pPr indent="0" marL="0">
              <a:lnSpc>
                <a:spcPts val="1700"/>
              </a:lnSpc>
              <a:buNone/>
            </a:pPr>
            <a:r>
              <a:rPr lang="en-US" sz="1250" dirty="0">
                <a:solidFill>
                  <a:srgbClr val="0F2347"/>
                </a:solidFill>
                <a:latin typeface="DM Sans" pitchFamily="34" charset="0"/>
                <a:ea typeface="DM Sans" pitchFamily="34" charset="-122"/>
                <a:cs typeface="DM Sans" pitchFamily="34" charset="-120"/>
              </a:rPr>
              <a:t>The capability I am building would be valued by an employer in a different industry.</a:t>
            </a:r>
            <a:endParaRPr lang="en-US" sz="1250" dirty="0"/>
          </a:p>
        </p:txBody>
      </p:sp>
      <p:sp>
        <p:nvSpPr>
          <p:cNvPr id="8" name="Text 6"/>
          <p:cNvSpPr/>
          <p:nvPr/>
        </p:nvSpPr>
        <p:spPr>
          <a:xfrm>
            <a:off x="7205472" y="1828800"/>
            <a:ext cx="1371600" cy="182880"/>
          </a:xfrm>
          <a:prstGeom prst="rect">
            <a:avLst/>
          </a:prstGeom>
          <a:noFill/>
          <a:ln/>
        </p:spPr>
        <p:txBody>
          <a:bodyPr wrap="square" lIns="0" tIns="0" rIns="0" bIns="0" rtlCol="0" anchor="ctr"/>
          <a:lstStyle/>
          <a:p>
            <a:pPr algn="r" indent="0" marL="0">
              <a:buNone/>
            </a:pPr>
            <a:r>
              <a:rPr lang="en-US" sz="850" b="1" spc="50" kern="0" dirty="0">
                <a:solidFill>
                  <a:srgbClr val="5A6B84"/>
                </a:solidFill>
                <a:latin typeface="Montserrat" pitchFamily="34" charset="0"/>
                <a:ea typeface="Montserrat" pitchFamily="34" charset="-122"/>
                <a:cs typeface="Montserrat" pitchFamily="34" charset="-120"/>
              </a:rPr>
              <a:t>1    2    3    4    5</a:t>
            </a:r>
            <a:endParaRPr lang="en-US" sz="850" dirty="0"/>
          </a:p>
        </p:txBody>
      </p:sp>
      <p:sp>
        <p:nvSpPr>
          <p:cNvPr id="9" name="Shape 7"/>
          <p:cNvSpPr/>
          <p:nvPr/>
        </p:nvSpPr>
        <p:spPr>
          <a:xfrm>
            <a:off x="566928" y="2633472"/>
            <a:ext cx="292608" cy="292608"/>
          </a:xfrm>
          <a:prstGeom prst="rect">
            <a:avLst/>
          </a:prstGeom>
          <a:solidFill>
            <a:srgbClr val="0F2347"/>
          </a:solidFill>
          <a:ln/>
        </p:spPr>
        <p:txBody>
          <a:bodyPr/>
          <a:p/>
        </p:txBody>
      </p:sp>
      <p:sp>
        <p:nvSpPr>
          <p:cNvPr id="10" name="Text 8"/>
          <p:cNvSpPr/>
          <p:nvPr/>
        </p:nvSpPr>
        <p:spPr>
          <a:xfrm>
            <a:off x="566928" y="2633472"/>
            <a:ext cx="292608" cy="292608"/>
          </a:xfrm>
          <a:prstGeom prst="rect">
            <a:avLst/>
          </a:prstGeom>
          <a:noFill/>
          <a:ln/>
        </p:spPr>
        <p:txBody>
          <a:bodyPr wrap="square" lIns="0" tIns="0" rIns="0" bIns="0" rtlCol="0" anchor="ctr"/>
          <a:lstStyle/>
          <a:p>
            <a:pPr algn="ctr" indent="0" marL="0">
              <a:buNone/>
            </a:pPr>
            <a:r>
              <a:rPr lang="en-US" sz="1000" b="1" dirty="0">
                <a:solidFill>
                  <a:srgbClr val="F5F0E8"/>
                </a:solidFill>
                <a:latin typeface="Montserrat" pitchFamily="34" charset="0"/>
                <a:ea typeface="Montserrat" pitchFamily="34" charset="-122"/>
                <a:cs typeface="Montserrat" pitchFamily="34" charset="-120"/>
              </a:rPr>
              <a:t>8</a:t>
            </a:r>
            <a:endParaRPr lang="en-US" sz="1000" dirty="0"/>
          </a:p>
        </p:txBody>
      </p:sp>
      <p:sp>
        <p:nvSpPr>
          <p:cNvPr id="11" name="Text 9"/>
          <p:cNvSpPr/>
          <p:nvPr/>
        </p:nvSpPr>
        <p:spPr>
          <a:xfrm>
            <a:off x="1024128" y="2615184"/>
            <a:ext cx="6089904" cy="566928"/>
          </a:xfrm>
          <a:prstGeom prst="rect">
            <a:avLst/>
          </a:prstGeom>
          <a:noFill/>
          <a:ln/>
        </p:spPr>
        <p:txBody>
          <a:bodyPr wrap="square" lIns="0" tIns="0" rIns="0" bIns="0" rtlCol="0" anchor="ctr"/>
          <a:lstStyle/>
          <a:p>
            <a:pPr indent="0" marL="0">
              <a:lnSpc>
                <a:spcPts val="1700"/>
              </a:lnSpc>
              <a:buNone/>
            </a:pPr>
            <a:r>
              <a:rPr lang="en-US" sz="1250" dirty="0">
                <a:solidFill>
                  <a:srgbClr val="0F2347"/>
                </a:solidFill>
                <a:latin typeface="DM Sans" pitchFamily="34" charset="0"/>
                <a:ea typeface="DM Sans" pitchFamily="34" charset="-122"/>
                <a:cs typeface="DM Sans" pitchFamily="34" charset="-120"/>
              </a:rPr>
              <a:t>I can describe what I do in terms of outcomes, not just my company’s internal language.</a:t>
            </a:r>
            <a:endParaRPr lang="en-US" sz="1250" dirty="0"/>
          </a:p>
        </p:txBody>
      </p:sp>
      <p:sp>
        <p:nvSpPr>
          <p:cNvPr id="12" name="Text 10"/>
          <p:cNvSpPr/>
          <p:nvPr/>
        </p:nvSpPr>
        <p:spPr>
          <a:xfrm>
            <a:off x="7205472" y="2670048"/>
            <a:ext cx="1371600" cy="182880"/>
          </a:xfrm>
          <a:prstGeom prst="rect">
            <a:avLst/>
          </a:prstGeom>
          <a:noFill/>
          <a:ln/>
        </p:spPr>
        <p:txBody>
          <a:bodyPr wrap="square" lIns="0" tIns="0" rIns="0" bIns="0" rtlCol="0" anchor="ctr"/>
          <a:lstStyle/>
          <a:p>
            <a:pPr algn="r" indent="0" marL="0">
              <a:buNone/>
            </a:pPr>
            <a:r>
              <a:rPr lang="en-US" sz="850" b="1" spc="50" kern="0" dirty="0">
                <a:solidFill>
                  <a:srgbClr val="5A6B84"/>
                </a:solidFill>
                <a:latin typeface="Montserrat" pitchFamily="34" charset="0"/>
                <a:ea typeface="Montserrat" pitchFamily="34" charset="-122"/>
                <a:cs typeface="Montserrat" pitchFamily="34" charset="-120"/>
              </a:rPr>
              <a:t>1    2    3    4    5</a:t>
            </a:r>
            <a:endParaRPr lang="en-US" sz="850" dirty="0"/>
          </a:p>
        </p:txBody>
      </p:sp>
      <p:sp>
        <p:nvSpPr>
          <p:cNvPr id="13" name="Shape 11"/>
          <p:cNvSpPr/>
          <p:nvPr/>
        </p:nvSpPr>
        <p:spPr>
          <a:xfrm>
            <a:off x="566928" y="3474720"/>
            <a:ext cx="292608" cy="292608"/>
          </a:xfrm>
          <a:prstGeom prst="rect">
            <a:avLst/>
          </a:prstGeom>
          <a:solidFill>
            <a:srgbClr val="0F2347"/>
          </a:solidFill>
          <a:ln/>
        </p:spPr>
        <p:txBody>
          <a:bodyPr/>
          <a:p/>
        </p:txBody>
      </p:sp>
      <p:sp>
        <p:nvSpPr>
          <p:cNvPr id="14" name="Text 12"/>
          <p:cNvSpPr/>
          <p:nvPr/>
        </p:nvSpPr>
        <p:spPr>
          <a:xfrm>
            <a:off x="566928" y="3474720"/>
            <a:ext cx="292608" cy="292608"/>
          </a:xfrm>
          <a:prstGeom prst="rect">
            <a:avLst/>
          </a:prstGeom>
          <a:noFill/>
          <a:ln/>
        </p:spPr>
        <p:txBody>
          <a:bodyPr wrap="square" lIns="0" tIns="0" rIns="0" bIns="0" rtlCol="0" anchor="ctr"/>
          <a:lstStyle/>
          <a:p>
            <a:pPr algn="ctr" indent="0" marL="0">
              <a:buNone/>
            </a:pPr>
            <a:r>
              <a:rPr lang="en-US" sz="1000" b="1" dirty="0">
                <a:solidFill>
                  <a:srgbClr val="F5F0E8"/>
                </a:solidFill>
                <a:latin typeface="Montserrat" pitchFamily="34" charset="0"/>
                <a:ea typeface="Montserrat" pitchFamily="34" charset="-122"/>
                <a:cs typeface="Montserrat" pitchFamily="34" charset="-120"/>
              </a:rPr>
              <a:t>9</a:t>
            </a:r>
            <a:endParaRPr lang="en-US" sz="1000" dirty="0"/>
          </a:p>
        </p:txBody>
      </p:sp>
      <p:sp>
        <p:nvSpPr>
          <p:cNvPr id="15" name="Text 13"/>
          <p:cNvSpPr/>
          <p:nvPr/>
        </p:nvSpPr>
        <p:spPr>
          <a:xfrm>
            <a:off x="1024128" y="3456432"/>
            <a:ext cx="6089904" cy="566928"/>
          </a:xfrm>
          <a:prstGeom prst="rect">
            <a:avLst/>
          </a:prstGeom>
          <a:noFill/>
          <a:ln/>
        </p:spPr>
        <p:txBody>
          <a:bodyPr wrap="square" lIns="0" tIns="0" rIns="0" bIns="0" rtlCol="0" anchor="ctr"/>
          <a:lstStyle/>
          <a:p>
            <a:pPr indent="0" marL="0">
              <a:lnSpc>
                <a:spcPts val="1700"/>
              </a:lnSpc>
              <a:buNone/>
            </a:pPr>
            <a:r>
              <a:rPr lang="en-US" sz="1250" dirty="0">
                <a:solidFill>
                  <a:srgbClr val="0F2347"/>
                </a:solidFill>
                <a:latin typeface="DM Sans" pitchFamily="34" charset="0"/>
                <a:ea typeface="DM Sans" pitchFamily="34" charset="-122"/>
                <a:cs typeface="DM Sans" pitchFamily="34" charset="-120"/>
              </a:rPr>
              <a:t>If my role disappeared tomorrow, the capability I built would still be mine to carry.</a:t>
            </a:r>
            <a:endParaRPr lang="en-US" sz="1250" dirty="0"/>
          </a:p>
        </p:txBody>
      </p:sp>
      <p:sp>
        <p:nvSpPr>
          <p:cNvPr id="16" name="Text 14"/>
          <p:cNvSpPr/>
          <p:nvPr/>
        </p:nvSpPr>
        <p:spPr>
          <a:xfrm>
            <a:off x="7205472" y="3511296"/>
            <a:ext cx="1371600" cy="182880"/>
          </a:xfrm>
          <a:prstGeom prst="rect">
            <a:avLst/>
          </a:prstGeom>
          <a:noFill/>
          <a:ln/>
        </p:spPr>
        <p:txBody>
          <a:bodyPr wrap="square" lIns="0" tIns="0" rIns="0" bIns="0" rtlCol="0" anchor="ctr"/>
          <a:lstStyle/>
          <a:p>
            <a:pPr algn="r" indent="0" marL="0">
              <a:buNone/>
            </a:pPr>
            <a:r>
              <a:rPr lang="en-US" sz="850" b="1" spc="50" kern="0" dirty="0">
                <a:solidFill>
                  <a:srgbClr val="5A6B84"/>
                </a:solidFill>
                <a:latin typeface="Montserrat" pitchFamily="34" charset="0"/>
                <a:ea typeface="Montserrat" pitchFamily="34" charset="-122"/>
                <a:cs typeface="Montserrat" pitchFamily="34" charset="-120"/>
              </a:rPr>
              <a:t>1    2    3    4    5</a:t>
            </a:r>
            <a:endParaRPr lang="en-US" sz="850" dirty="0"/>
          </a:p>
        </p:txBody>
      </p:sp>
      <p:sp>
        <p:nvSpPr>
          <p:cNvPr id="17" name="Text 15"/>
          <p:cNvSpPr/>
          <p:nvPr/>
        </p:nvSpPr>
        <p:spPr>
          <a:xfrm>
            <a:off x="566928" y="4315968"/>
            <a:ext cx="8010144" cy="237744"/>
          </a:xfrm>
          <a:prstGeom prst="rect">
            <a:avLst/>
          </a:prstGeom>
          <a:noFill/>
          <a:ln/>
        </p:spPr>
        <p:txBody>
          <a:bodyPr wrap="square" lIns="0" tIns="0" rIns="0" bIns="0" rtlCol="0" anchor="ctr"/>
          <a:lstStyle/>
          <a:p>
            <a:pPr indent="0" marL="0">
              <a:buNone/>
            </a:pPr>
            <a:r>
              <a:rPr lang="en-US" sz="1050" i="1" dirty="0">
                <a:solidFill>
                  <a:srgbClr val="5A6B84"/>
                </a:solidFill>
                <a:latin typeface="DM Sans" pitchFamily="34" charset="0"/>
                <a:ea typeface="DM Sans" pitchFamily="34" charset="-122"/>
                <a:cs typeface="DM Sans" pitchFamily="34" charset="-120"/>
              </a:rPr>
              <a:t>No evidence line yet — that is deliberate.</a:t>
            </a:r>
            <a:endParaRPr lang="en-US" sz="1050" dirty="0"/>
          </a:p>
        </p:txBody>
      </p:sp>
      <p:sp>
        <p:nvSpPr>
          <p:cNvPr id="19" name="Text 16"/>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20" name="Text 17"/>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9</a:t>
            </a:r>
            <a:endParaRPr lang="en-US" sz="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INITIAL READ</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448"/>
              </a:lnSpc>
              <a:buNone/>
            </a:pPr>
            <a:r>
              <a:rPr lang="en-US" sz="2400" b="1" dirty="0">
                <a:solidFill>
                  <a:srgbClr val="0F2347"/>
                </a:solidFill>
                <a:latin typeface="Cormorant Garamond" pitchFamily="34" charset="0"/>
                <a:ea typeface="Cormorant Garamond" pitchFamily="34" charset="-122"/>
                <a:cs typeface="Cormorant Garamond" pitchFamily="34" charset="-120"/>
              </a:rPr>
              <a:t>Your initial read: statements 10 to 12</a:t>
            </a:r>
            <a:endParaRPr lang="en-US" sz="2400" dirty="0"/>
          </a:p>
        </p:txBody>
      </p:sp>
      <p:sp>
        <p:nvSpPr>
          <p:cNvPr id="4" name="Text 2"/>
          <p:cNvSpPr/>
          <p:nvPr/>
        </p:nvSpPr>
        <p:spPr>
          <a:xfrm>
            <a:off x="566928" y="1316736"/>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Optionality, continued. Last block of the first pass.</a:t>
            </a:r>
            <a:endParaRPr lang="en-US" sz="1150" dirty="0"/>
          </a:p>
        </p:txBody>
      </p:sp>
      <p:sp>
        <p:nvSpPr>
          <p:cNvPr id="5" name="Shape 3"/>
          <p:cNvSpPr/>
          <p:nvPr/>
        </p:nvSpPr>
        <p:spPr>
          <a:xfrm>
            <a:off x="566928" y="1792224"/>
            <a:ext cx="292608" cy="292608"/>
          </a:xfrm>
          <a:prstGeom prst="rect">
            <a:avLst/>
          </a:prstGeom>
          <a:solidFill>
            <a:srgbClr val="0F2347"/>
          </a:solidFill>
          <a:ln/>
        </p:spPr>
        <p:txBody>
          <a:bodyPr/>
          <a:p/>
        </p:txBody>
      </p:sp>
      <p:sp>
        <p:nvSpPr>
          <p:cNvPr id="6" name="Text 4"/>
          <p:cNvSpPr/>
          <p:nvPr/>
        </p:nvSpPr>
        <p:spPr>
          <a:xfrm>
            <a:off x="566928" y="1792224"/>
            <a:ext cx="292608" cy="292608"/>
          </a:xfrm>
          <a:prstGeom prst="rect">
            <a:avLst/>
          </a:prstGeom>
          <a:noFill/>
          <a:ln/>
        </p:spPr>
        <p:txBody>
          <a:bodyPr wrap="square" lIns="0" tIns="0" rIns="0" bIns="0" rtlCol="0" anchor="ctr"/>
          <a:lstStyle/>
          <a:p>
            <a:pPr algn="ctr" indent="0" marL="0">
              <a:buNone/>
            </a:pPr>
            <a:r>
              <a:rPr lang="en-US" sz="1000" b="1" dirty="0">
                <a:solidFill>
                  <a:srgbClr val="F5F0E8"/>
                </a:solidFill>
                <a:latin typeface="Montserrat" pitchFamily="34" charset="0"/>
                <a:ea typeface="Montserrat" pitchFamily="34" charset="-122"/>
                <a:cs typeface="Montserrat" pitchFamily="34" charset="-120"/>
              </a:rPr>
              <a:t>10</a:t>
            </a:r>
            <a:endParaRPr lang="en-US" sz="1000" dirty="0"/>
          </a:p>
        </p:txBody>
      </p:sp>
      <p:sp>
        <p:nvSpPr>
          <p:cNvPr id="7" name="Text 5"/>
          <p:cNvSpPr/>
          <p:nvPr/>
        </p:nvSpPr>
        <p:spPr>
          <a:xfrm>
            <a:off x="1024128" y="1773936"/>
            <a:ext cx="6089904" cy="566928"/>
          </a:xfrm>
          <a:prstGeom prst="rect">
            <a:avLst/>
          </a:prstGeom>
          <a:noFill/>
          <a:ln/>
        </p:spPr>
        <p:txBody>
          <a:bodyPr wrap="square" lIns="0" tIns="0" rIns="0" bIns="0" rtlCol="0" anchor="ctr"/>
          <a:lstStyle/>
          <a:p>
            <a:pPr indent="0" marL="0">
              <a:lnSpc>
                <a:spcPts val="1700"/>
              </a:lnSpc>
              <a:buNone/>
            </a:pPr>
            <a:r>
              <a:rPr lang="en-US" sz="1250" dirty="0">
                <a:solidFill>
                  <a:srgbClr val="0F2347"/>
                </a:solidFill>
                <a:latin typeface="DM Sans" pitchFamily="34" charset="0"/>
                <a:ea typeface="DM Sans" pitchFamily="34" charset="-122"/>
                <a:cs typeface="DM Sans" pitchFamily="34" charset="-120"/>
              </a:rPr>
              <a:t>People with the power to hire or advance me, inside or outside my company, can already see what I am good at.</a:t>
            </a:r>
            <a:endParaRPr lang="en-US" sz="1250" dirty="0"/>
          </a:p>
        </p:txBody>
      </p:sp>
      <p:sp>
        <p:nvSpPr>
          <p:cNvPr id="8" name="Text 6"/>
          <p:cNvSpPr/>
          <p:nvPr/>
        </p:nvSpPr>
        <p:spPr>
          <a:xfrm>
            <a:off x="7205472" y="1828800"/>
            <a:ext cx="1371600" cy="182880"/>
          </a:xfrm>
          <a:prstGeom prst="rect">
            <a:avLst/>
          </a:prstGeom>
          <a:noFill/>
          <a:ln/>
        </p:spPr>
        <p:txBody>
          <a:bodyPr wrap="square" lIns="0" tIns="0" rIns="0" bIns="0" rtlCol="0" anchor="ctr"/>
          <a:lstStyle/>
          <a:p>
            <a:pPr algn="r" indent="0" marL="0">
              <a:buNone/>
            </a:pPr>
            <a:r>
              <a:rPr lang="en-US" sz="850" b="1" spc="50" kern="0" dirty="0">
                <a:solidFill>
                  <a:srgbClr val="5A6B84"/>
                </a:solidFill>
                <a:latin typeface="Montserrat" pitchFamily="34" charset="0"/>
                <a:ea typeface="Montserrat" pitchFamily="34" charset="-122"/>
                <a:cs typeface="Montserrat" pitchFamily="34" charset="-120"/>
              </a:rPr>
              <a:t>1    2    3    4    5</a:t>
            </a:r>
            <a:endParaRPr lang="en-US" sz="850" dirty="0"/>
          </a:p>
        </p:txBody>
      </p:sp>
      <p:sp>
        <p:nvSpPr>
          <p:cNvPr id="9" name="Shape 7"/>
          <p:cNvSpPr/>
          <p:nvPr/>
        </p:nvSpPr>
        <p:spPr>
          <a:xfrm>
            <a:off x="566928" y="2633472"/>
            <a:ext cx="292608" cy="292608"/>
          </a:xfrm>
          <a:prstGeom prst="rect">
            <a:avLst/>
          </a:prstGeom>
          <a:solidFill>
            <a:srgbClr val="0F2347"/>
          </a:solidFill>
          <a:ln/>
        </p:spPr>
        <p:txBody>
          <a:bodyPr/>
          <a:p/>
        </p:txBody>
      </p:sp>
      <p:sp>
        <p:nvSpPr>
          <p:cNvPr id="10" name="Text 8"/>
          <p:cNvSpPr/>
          <p:nvPr/>
        </p:nvSpPr>
        <p:spPr>
          <a:xfrm>
            <a:off x="566928" y="2633472"/>
            <a:ext cx="292608" cy="292608"/>
          </a:xfrm>
          <a:prstGeom prst="rect">
            <a:avLst/>
          </a:prstGeom>
          <a:noFill/>
          <a:ln/>
        </p:spPr>
        <p:txBody>
          <a:bodyPr wrap="square" lIns="0" tIns="0" rIns="0" bIns="0" rtlCol="0" anchor="ctr"/>
          <a:lstStyle/>
          <a:p>
            <a:pPr algn="ctr" indent="0" marL="0">
              <a:buNone/>
            </a:pPr>
            <a:r>
              <a:rPr lang="en-US" sz="1000" b="1" dirty="0">
                <a:solidFill>
                  <a:srgbClr val="F5F0E8"/>
                </a:solidFill>
                <a:latin typeface="Montserrat" pitchFamily="34" charset="0"/>
                <a:ea typeface="Montserrat" pitchFamily="34" charset="-122"/>
                <a:cs typeface="Montserrat" pitchFamily="34" charset="-120"/>
              </a:rPr>
              <a:t>11</a:t>
            </a:r>
            <a:endParaRPr lang="en-US" sz="1000" dirty="0"/>
          </a:p>
        </p:txBody>
      </p:sp>
      <p:sp>
        <p:nvSpPr>
          <p:cNvPr id="11" name="Text 9"/>
          <p:cNvSpPr/>
          <p:nvPr/>
        </p:nvSpPr>
        <p:spPr>
          <a:xfrm>
            <a:off x="1024128" y="2615184"/>
            <a:ext cx="6089904" cy="566928"/>
          </a:xfrm>
          <a:prstGeom prst="rect">
            <a:avLst/>
          </a:prstGeom>
          <a:noFill/>
          <a:ln/>
        </p:spPr>
        <p:txBody>
          <a:bodyPr wrap="square" lIns="0" tIns="0" rIns="0" bIns="0" rtlCol="0" anchor="ctr"/>
          <a:lstStyle/>
          <a:p>
            <a:pPr indent="0" marL="0">
              <a:lnSpc>
                <a:spcPts val="1700"/>
              </a:lnSpc>
              <a:buNone/>
            </a:pPr>
            <a:r>
              <a:rPr lang="en-US" sz="1250" dirty="0">
                <a:solidFill>
                  <a:srgbClr val="0F2347"/>
                </a:solidFill>
                <a:latin typeface="DM Sans" pitchFamily="34" charset="0"/>
                <a:ea typeface="DM Sans" pitchFamily="34" charset="-122"/>
                <a:cs typeface="DM Sans" pitchFamily="34" charset="-120"/>
              </a:rPr>
              <a:t>What I am learning is a transferable capability rather than a company-specific procedure.</a:t>
            </a:r>
            <a:endParaRPr lang="en-US" sz="1250" dirty="0"/>
          </a:p>
        </p:txBody>
      </p:sp>
      <p:sp>
        <p:nvSpPr>
          <p:cNvPr id="12" name="Text 10"/>
          <p:cNvSpPr/>
          <p:nvPr/>
        </p:nvSpPr>
        <p:spPr>
          <a:xfrm>
            <a:off x="7205472" y="2670048"/>
            <a:ext cx="1371600" cy="182880"/>
          </a:xfrm>
          <a:prstGeom prst="rect">
            <a:avLst/>
          </a:prstGeom>
          <a:noFill/>
          <a:ln/>
        </p:spPr>
        <p:txBody>
          <a:bodyPr wrap="square" lIns="0" tIns="0" rIns="0" bIns="0" rtlCol="0" anchor="ctr"/>
          <a:lstStyle/>
          <a:p>
            <a:pPr algn="r" indent="0" marL="0">
              <a:buNone/>
            </a:pPr>
            <a:r>
              <a:rPr lang="en-US" sz="850" b="1" spc="50" kern="0" dirty="0">
                <a:solidFill>
                  <a:srgbClr val="5A6B84"/>
                </a:solidFill>
                <a:latin typeface="Montserrat" pitchFamily="34" charset="0"/>
                <a:ea typeface="Montserrat" pitchFamily="34" charset="-122"/>
                <a:cs typeface="Montserrat" pitchFamily="34" charset="-120"/>
              </a:rPr>
              <a:t>1    2    3    4    5</a:t>
            </a:r>
            <a:endParaRPr lang="en-US" sz="850" dirty="0"/>
          </a:p>
        </p:txBody>
      </p:sp>
      <p:sp>
        <p:nvSpPr>
          <p:cNvPr id="13" name="Shape 11"/>
          <p:cNvSpPr/>
          <p:nvPr/>
        </p:nvSpPr>
        <p:spPr>
          <a:xfrm>
            <a:off x="566928" y="3474720"/>
            <a:ext cx="292608" cy="292608"/>
          </a:xfrm>
          <a:prstGeom prst="rect">
            <a:avLst/>
          </a:prstGeom>
          <a:solidFill>
            <a:srgbClr val="0F2347"/>
          </a:solidFill>
          <a:ln/>
        </p:spPr>
        <p:txBody>
          <a:bodyPr/>
          <a:p/>
        </p:txBody>
      </p:sp>
      <p:sp>
        <p:nvSpPr>
          <p:cNvPr id="14" name="Text 12"/>
          <p:cNvSpPr/>
          <p:nvPr/>
        </p:nvSpPr>
        <p:spPr>
          <a:xfrm>
            <a:off x="566928" y="3474720"/>
            <a:ext cx="292608" cy="292608"/>
          </a:xfrm>
          <a:prstGeom prst="rect">
            <a:avLst/>
          </a:prstGeom>
          <a:noFill/>
          <a:ln/>
        </p:spPr>
        <p:txBody>
          <a:bodyPr wrap="square" lIns="0" tIns="0" rIns="0" bIns="0" rtlCol="0" anchor="ctr"/>
          <a:lstStyle/>
          <a:p>
            <a:pPr algn="ctr" indent="0" marL="0">
              <a:buNone/>
            </a:pPr>
            <a:r>
              <a:rPr lang="en-US" sz="1000" b="1" dirty="0">
                <a:solidFill>
                  <a:srgbClr val="F5F0E8"/>
                </a:solidFill>
                <a:latin typeface="Montserrat" pitchFamily="34" charset="0"/>
                <a:ea typeface="Montserrat" pitchFamily="34" charset="-122"/>
                <a:cs typeface="Montserrat" pitchFamily="34" charset="-120"/>
              </a:rPr>
              <a:t>12</a:t>
            </a:r>
            <a:endParaRPr lang="en-US" sz="1000" dirty="0"/>
          </a:p>
        </p:txBody>
      </p:sp>
      <p:sp>
        <p:nvSpPr>
          <p:cNvPr id="15" name="Text 13"/>
          <p:cNvSpPr/>
          <p:nvPr/>
        </p:nvSpPr>
        <p:spPr>
          <a:xfrm>
            <a:off x="1024128" y="3456432"/>
            <a:ext cx="6089904" cy="566928"/>
          </a:xfrm>
          <a:prstGeom prst="rect">
            <a:avLst/>
          </a:prstGeom>
          <a:noFill/>
          <a:ln/>
        </p:spPr>
        <p:txBody>
          <a:bodyPr wrap="square" lIns="0" tIns="0" rIns="0" bIns="0" rtlCol="0" anchor="ctr"/>
          <a:lstStyle/>
          <a:p>
            <a:pPr indent="0" marL="0">
              <a:lnSpc>
                <a:spcPts val="1700"/>
              </a:lnSpc>
              <a:buNone/>
            </a:pPr>
            <a:r>
              <a:rPr lang="en-US" sz="1250" dirty="0">
                <a:solidFill>
                  <a:srgbClr val="0F2347"/>
                </a:solidFill>
                <a:latin typeface="DM Sans" pitchFamily="34" charset="0"/>
                <a:ea typeface="DM Sans" pitchFamily="34" charset="-122"/>
                <a:cs typeface="DM Sans" pitchFamily="34" charset="-120"/>
              </a:rPr>
              <a:t>I could rebuild a strong position somewhere else within a year.</a:t>
            </a:r>
            <a:endParaRPr lang="en-US" sz="1250" dirty="0"/>
          </a:p>
        </p:txBody>
      </p:sp>
      <p:sp>
        <p:nvSpPr>
          <p:cNvPr id="16" name="Text 14"/>
          <p:cNvSpPr/>
          <p:nvPr/>
        </p:nvSpPr>
        <p:spPr>
          <a:xfrm>
            <a:off x="7205472" y="3511296"/>
            <a:ext cx="1371600" cy="182880"/>
          </a:xfrm>
          <a:prstGeom prst="rect">
            <a:avLst/>
          </a:prstGeom>
          <a:noFill/>
          <a:ln/>
        </p:spPr>
        <p:txBody>
          <a:bodyPr wrap="square" lIns="0" tIns="0" rIns="0" bIns="0" rtlCol="0" anchor="ctr"/>
          <a:lstStyle/>
          <a:p>
            <a:pPr algn="r" indent="0" marL="0">
              <a:buNone/>
            </a:pPr>
            <a:r>
              <a:rPr lang="en-US" sz="850" b="1" spc="50" kern="0" dirty="0">
                <a:solidFill>
                  <a:srgbClr val="5A6B84"/>
                </a:solidFill>
                <a:latin typeface="Montserrat" pitchFamily="34" charset="0"/>
                <a:ea typeface="Montserrat" pitchFamily="34" charset="-122"/>
                <a:cs typeface="Montserrat" pitchFamily="34" charset="-120"/>
              </a:rPr>
              <a:t>1    2    3    4    5</a:t>
            </a:r>
            <a:endParaRPr lang="en-US" sz="850" dirty="0"/>
          </a:p>
        </p:txBody>
      </p:sp>
      <p:sp>
        <p:nvSpPr>
          <p:cNvPr id="17" name="Text 15"/>
          <p:cNvSpPr/>
          <p:nvPr/>
        </p:nvSpPr>
        <p:spPr>
          <a:xfrm>
            <a:off x="566928" y="4315968"/>
            <a:ext cx="8010144" cy="237744"/>
          </a:xfrm>
          <a:prstGeom prst="rect">
            <a:avLst/>
          </a:prstGeom>
          <a:noFill/>
          <a:ln/>
        </p:spPr>
        <p:txBody>
          <a:bodyPr wrap="square" lIns="0" tIns="0" rIns="0" bIns="0" rtlCol="0" anchor="ctr"/>
          <a:lstStyle/>
          <a:p>
            <a:pPr indent="0" marL="0">
              <a:buNone/>
            </a:pPr>
            <a:r>
              <a:rPr lang="en-US" sz="1050" i="1" dirty="0">
                <a:solidFill>
                  <a:srgbClr val="5A6B84"/>
                </a:solidFill>
                <a:latin typeface="DM Sans" pitchFamily="34" charset="0"/>
                <a:ea typeface="DM Sans" pitchFamily="34" charset="-122"/>
                <a:cs typeface="DM Sans" pitchFamily="34" charset="-120"/>
              </a:rPr>
              <a:t>No evidence line yet — that is deliberate.</a:t>
            </a:r>
            <a:endParaRPr lang="en-US" sz="1050" dirty="0"/>
          </a:p>
        </p:txBody>
      </p:sp>
      <p:sp>
        <p:nvSpPr>
          <p:cNvPr id="19" name="Text 16"/>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20" name="Text 17"/>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10</a:t>
            </a:r>
            <a:endParaRPr lang="en-US" sz="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INITIAL READ</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856"/>
              </a:lnSpc>
              <a:buNone/>
            </a:pPr>
            <a:r>
              <a:rPr lang="en-US" sz="2800" b="1" dirty="0">
                <a:solidFill>
                  <a:srgbClr val="0F2347"/>
                </a:solidFill>
                <a:latin typeface="Cormorant Garamond" pitchFamily="34" charset="0"/>
                <a:ea typeface="Cormorant Garamond" pitchFamily="34" charset="-122"/>
                <a:cs typeface="Cormorant Garamond" pitchFamily="34" charset="-120"/>
              </a:rPr>
              <a:t>Your initial Optionality reading</a:t>
            </a:r>
            <a:endParaRPr lang="en-US" sz="28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Add statements 7 to 12.</a:t>
            </a:r>
            <a:endParaRPr lang="en-US" sz="1150" dirty="0"/>
          </a:p>
        </p:txBody>
      </p:sp>
      <p:sp>
        <p:nvSpPr>
          <p:cNvPr id="5" name="Shape 3"/>
          <p:cNvSpPr/>
          <p:nvPr/>
        </p:nvSpPr>
        <p:spPr>
          <a:xfrm>
            <a:off x="566928" y="1920240"/>
            <a:ext cx="8010144" cy="1188720"/>
          </a:xfrm>
          <a:prstGeom prst="rect">
            <a:avLst/>
          </a:prstGeom>
          <a:solidFill>
            <a:srgbClr val="0F2347"/>
          </a:solidFill>
          <a:ln/>
        </p:spPr>
        <p:txBody>
          <a:bodyPr/>
          <a:p/>
        </p:txBody>
      </p:sp>
      <p:sp>
        <p:nvSpPr>
          <p:cNvPr id="6" name="Text 4"/>
          <p:cNvSpPr/>
          <p:nvPr/>
        </p:nvSpPr>
        <p:spPr>
          <a:xfrm>
            <a:off x="859536" y="2103120"/>
            <a:ext cx="4572000" cy="219456"/>
          </a:xfrm>
          <a:prstGeom prst="rect">
            <a:avLst/>
          </a:prstGeom>
          <a:noFill/>
          <a:ln/>
        </p:spPr>
        <p:txBody>
          <a:bodyPr wrap="square" lIns="0" tIns="0" rIns="0" bIns="0" rtlCol="0" anchor="ctr"/>
          <a:lstStyle/>
          <a:p>
            <a:pPr indent="0" marL="0">
              <a:buNone/>
            </a:pPr>
            <a:r>
              <a:rPr lang="en-US" sz="950" b="1" spc="130" kern="0" dirty="0">
                <a:solidFill>
                  <a:srgbClr val="C9A84C"/>
                </a:solidFill>
                <a:latin typeface="Montserrat" pitchFamily="34" charset="0"/>
                <a:ea typeface="Montserrat" pitchFamily="34" charset="-122"/>
                <a:cs typeface="Montserrat" pitchFamily="34" charset="-120"/>
              </a:rPr>
              <a:t>INITIAL OPTIONALITY TOTAL</a:t>
            </a:r>
            <a:endParaRPr lang="en-US" sz="950" dirty="0"/>
          </a:p>
        </p:txBody>
      </p:sp>
      <p:sp>
        <p:nvSpPr>
          <p:cNvPr id="7" name="Text 5"/>
          <p:cNvSpPr/>
          <p:nvPr/>
        </p:nvSpPr>
        <p:spPr>
          <a:xfrm>
            <a:off x="859536" y="2414016"/>
            <a:ext cx="4572000" cy="548640"/>
          </a:xfrm>
          <a:prstGeom prst="rect">
            <a:avLst/>
          </a:prstGeom>
          <a:noFill/>
          <a:ln/>
        </p:spPr>
        <p:txBody>
          <a:bodyPr wrap="square" lIns="0" tIns="0" rIns="0" bIns="0" rtlCol="0" anchor="ctr"/>
          <a:lstStyle/>
          <a:p>
            <a:pPr indent="0" marL="0">
              <a:buNone/>
            </a:pPr>
            <a:r>
              <a:rPr lang="en-US" sz="3200" b="1" dirty="0">
                <a:solidFill>
                  <a:srgbClr val="F5F0E8"/>
                </a:solidFill>
                <a:latin typeface="Cormorant Garamond" pitchFamily="34" charset="0"/>
                <a:ea typeface="Cormorant Garamond" pitchFamily="34" charset="-122"/>
                <a:cs typeface="Cormorant Garamond" pitchFamily="34" charset="-120"/>
              </a:rPr>
              <a:t>________  / 30</a:t>
            </a:r>
            <a:endParaRPr lang="en-US" sz="3200" dirty="0"/>
          </a:p>
        </p:txBody>
      </p:sp>
      <p:sp>
        <p:nvSpPr>
          <p:cNvPr id="8" name="Text 6"/>
          <p:cNvSpPr/>
          <p:nvPr/>
        </p:nvSpPr>
        <p:spPr>
          <a:xfrm>
            <a:off x="5486400" y="2139696"/>
            <a:ext cx="2834640" cy="822960"/>
          </a:xfrm>
          <a:prstGeom prst="rect">
            <a:avLst/>
          </a:prstGeom>
          <a:noFill/>
          <a:ln/>
        </p:spPr>
        <p:txBody>
          <a:bodyPr wrap="square" lIns="0" tIns="0" rIns="0" bIns="0" rtlCol="0" anchor="ctr"/>
          <a:lstStyle/>
          <a:p>
            <a:pPr indent="0" marL="0">
              <a:lnSpc>
                <a:spcPts val="1600"/>
              </a:lnSpc>
              <a:buNone/>
            </a:pPr>
            <a:r>
              <a:rPr lang="en-US" sz="1150" dirty="0">
                <a:solidFill>
                  <a:srgbClr val="B8C5D9"/>
                </a:solidFill>
                <a:latin typeface="DM Sans" pitchFamily="34" charset="0"/>
                <a:ea typeface="DM Sans" pitchFamily="34" charset="-122"/>
                <a:cs typeface="DM Sans" pitchFamily="34" charset="-120"/>
              </a:rPr>
              <a:t>19 to 30 is high</a:t>
            </a:r>
            <a:endParaRPr lang="en-US" sz="1150" dirty="0"/>
          </a:p>
          <a:p>
            <a:pPr indent="0" marL="0">
              <a:lnSpc>
                <a:spcPts val="1600"/>
              </a:lnSpc>
              <a:buNone/>
            </a:pPr>
            <a:r>
              <a:rPr lang="en-US" sz="1150" dirty="0">
                <a:solidFill>
                  <a:srgbClr val="B8C5D9"/>
                </a:solidFill>
                <a:latin typeface="DM Sans" pitchFamily="34" charset="0"/>
                <a:ea typeface="DM Sans" pitchFamily="34" charset="-122"/>
                <a:cs typeface="DM Sans" pitchFamily="34" charset="-120"/>
              </a:rPr>
              <a:t>6 to 18 is low</a:t>
            </a:r>
            <a:endParaRPr lang="en-US" sz="1150" dirty="0"/>
          </a:p>
          <a:p>
            <a:pPr indent="0" marL="0">
              <a:lnSpc>
                <a:spcPts val="1600"/>
              </a:lnSpc>
              <a:buNone/>
            </a:pPr>
            <a:r>
              <a:rPr lang="en-US" sz="1150" dirty="0">
                <a:solidFill>
                  <a:srgbClr val="B8C5D9"/>
                </a:solidFill>
                <a:latin typeface="DM Sans" pitchFamily="34" charset="0"/>
                <a:ea typeface="DM Sans" pitchFamily="34" charset="-122"/>
                <a:cs typeface="DM Sans" pitchFamily="34" charset="-120"/>
              </a:rPr>
              <a:t>17 to 21 is the boundary band</a:t>
            </a:r>
            <a:endParaRPr lang="en-US" sz="1150" dirty="0"/>
          </a:p>
        </p:txBody>
      </p:sp>
      <p:sp>
        <p:nvSpPr>
          <p:cNvPr id="9" name="Text 7"/>
          <p:cNvSpPr/>
          <p:nvPr/>
        </p:nvSpPr>
        <p:spPr>
          <a:xfrm>
            <a:off x="566928" y="3346704"/>
            <a:ext cx="8010144" cy="274320"/>
          </a:xfrm>
          <a:prstGeom prst="rect">
            <a:avLst/>
          </a:prstGeom>
          <a:noFill/>
          <a:ln/>
        </p:spPr>
        <p:txBody>
          <a:bodyPr wrap="square" lIns="0" tIns="0" rIns="0" bIns="0" rtlCol="0" anchor="ctr"/>
          <a:lstStyle/>
          <a:p>
            <a:pPr indent="0" marL="0">
              <a:buNone/>
            </a:pPr>
            <a:r>
              <a:rPr lang="en-US" sz="1250" b="1" dirty="0">
                <a:solidFill>
                  <a:srgbClr val="0F2347"/>
                </a:solidFill>
                <a:latin typeface="DM Sans" pitchFamily="34" charset="0"/>
                <a:ea typeface="DM Sans" pitchFamily="34" charset="-122"/>
                <a:cs typeface="DM Sans" pitchFamily="34" charset="-120"/>
              </a:rPr>
              <a:t>Hold the number. Do not share it.</a:t>
            </a:r>
            <a:endParaRPr lang="en-US" sz="1250" dirty="0"/>
          </a:p>
        </p:txBody>
      </p:sp>
      <p:sp>
        <p:nvSpPr>
          <p:cNvPr id="10" name="Text 8"/>
          <p:cNvSpPr/>
          <p:nvPr/>
        </p:nvSpPr>
        <p:spPr>
          <a:xfrm>
            <a:off x="566928" y="3712464"/>
            <a:ext cx="8010144" cy="457200"/>
          </a:xfrm>
          <a:prstGeom prst="rect">
            <a:avLst/>
          </a:prstGeom>
          <a:noFill/>
          <a:ln/>
        </p:spPr>
        <p:txBody>
          <a:bodyPr wrap="square" lIns="0" tIns="0" rIns="0" bIns="0" rtlCol="0" anchor="ctr"/>
          <a:lstStyle/>
          <a:p>
            <a:pPr indent="0" marL="0">
              <a:lnSpc>
                <a:spcPts val="1400"/>
              </a:lnSpc>
              <a:buNone/>
            </a:pPr>
            <a:r>
              <a:rPr lang="en-US" sz="1060" i="1" dirty="0">
                <a:solidFill>
                  <a:srgbClr val="5A6B84"/>
                </a:solidFill>
                <a:latin typeface="DM Sans" pitchFamily="34" charset="0"/>
                <a:ea typeface="DM Sans" pitchFamily="34" charset="-122"/>
                <a:cs typeface="DM Sans" pitchFamily="34" charset="-120"/>
              </a:rPr>
              <a:t>A total inside 17 to 21 sits on the boundary. It does not resolve to high or low — you will read both neighbouring states rather than pick one.</a:t>
            </a:r>
            <a:endParaRPr lang="en-US" sz="1060" dirty="0"/>
          </a:p>
        </p:txBody>
      </p:sp>
      <p:sp>
        <p:nvSpPr>
          <p:cNvPr id="12" name="Text 9"/>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13" name="Text 10"/>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11</a:t>
            </a:r>
            <a:endParaRPr lang="en-US" sz="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THE MATRIX</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3060"/>
              </a:lnSpc>
              <a:buNone/>
            </a:pPr>
            <a:r>
              <a:rPr lang="en-US" sz="3000" b="1" dirty="0">
                <a:solidFill>
                  <a:srgbClr val="0F2347"/>
                </a:solidFill>
                <a:latin typeface="Cormorant Garamond" pitchFamily="34" charset="0"/>
                <a:ea typeface="Cormorant Garamond" pitchFamily="34" charset="-122"/>
                <a:cs typeface="Cormorant Garamond" pitchFamily="34" charset="-120"/>
              </a:rPr>
              <a:t>The four states</a:t>
            </a:r>
            <a:endParaRPr lang="en-US" sz="3000" dirty="0"/>
          </a:p>
        </p:txBody>
      </p:sp>
      <p:sp>
        <p:nvSpPr>
          <p:cNvPr id="4" name="Text 2"/>
          <p:cNvSpPr/>
          <p:nvPr/>
        </p:nvSpPr>
        <p:spPr>
          <a:xfrm>
            <a:off x="566928" y="1353312"/>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Density crossed with Optionality. Your state helps you see a form of exposure your job title cannot.</a:t>
            </a:r>
            <a:endParaRPr lang="en-US" sz="1150" dirty="0"/>
          </a:p>
        </p:txBody>
      </p:sp>
      <p:sp>
        <p:nvSpPr>
          <p:cNvPr id="5" name="Shape 3"/>
          <p:cNvSpPr/>
          <p:nvPr/>
        </p:nvSpPr>
        <p:spPr>
          <a:xfrm>
            <a:off x="1133856" y="1792224"/>
            <a:ext cx="3721608" cy="1207008"/>
          </a:xfrm>
          <a:prstGeom prst="rect">
            <a:avLst/>
          </a:prstGeom>
          <a:solidFill>
            <a:srgbClr val="E9EDF3"/>
          </a:solidFill>
          <a:ln/>
        </p:spPr>
        <p:txBody>
          <a:bodyPr/>
          <a:p/>
        </p:txBody>
      </p:sp>
      <p:sp>
        <p:nvSpPr>
          <p:cNvPr id="6" name="Text 4"/>
          <p:cNvSpPr/>
          <p:nvPr/>
        </p:nvSpPr>
        <p:spPr>
          <a:xfrm>
            <a:off x="1353312" y="1975104"/>
            <a:ext cx="3282696" cy="237744"/>
          </a:xfrm>
          <a:prstGeom prst="rect">
            <a:avLst/>
          </a:prstGeom>
          <a:noFill/>
          <a:ln/>
        </p:spPr>
        <p:txBody>
          <a:bodyPr wrap="square" lIns="0" tIns="0" rIns="0" bIns="0" rtlCol="0" anchor="ctr"/>
          <a:lstStyle/>
          <a:p>
            <a:pPr indent="0" marL="0">
              <a:buNone/>
            </a:pPr>
            <a:r>
              <a:rPr lang="en-US" sz="1000" b="1" spc="100" kern="0" dirty="0">
                <a:solidFill>
                  <a:srgbClr val="0F2347"/>
                </a:solidFill>
                <a:latin typeface="Montserrat" pitchFamily="34" charset="0"/>
                <a:ea typeface="Montserrat" pitchFamily="34" charset="-122"/>
                <a:cs typeface="Montserrat" pitchFamily="34" charset="-120"/>
              </a:rPr>
              <a:t>DEPTH TRAP</a:t>
            </a:r>
            <a:endParaRPr lang="en-US" sz="1000" dirty="0"/>
          </a:p>
        </p:txBody>
      </p:sp>
      <p:sp>
        <p:nvSpPr>
          <p:cNvPr id="7" name="Text 5"/>
          <p:cNvSpPr/>
          <p:nvPr/>
        </p:nvSpPr>
        <p:spPr>
          <a:xfrm>
            <a:off x="1353312" y="2286000"/>
            <a:ext cx="3282696" cy="457200"/>
          </a:xfrm>
          <a:prstGeom prst="rect">
            <a:avLst/>
          </a:prstGeom>
          <a:noFill/>
          <a:ln/>
        </p:spPr>
        <p:txBody>
          <a:bodyPr wrap="square" lIns="0" tIns="0" rIns="0" bIns="0" rtlCol="0" anchor="ctr"/>
          <a:lstStyle/>
          <a:p>
            <a:pPr indent="0" marL="0">
              <a:lnSpc>
                <a:spcPts val="1400"/>
              </a:lnSpc>
              <a:buNone/>
            </a:pPr>
            <a:r>
              <a:rPr lang="en-US" sz="1100" dirty="0">
                <a:solidFill>
                  <a:srgbClr val="5A6B84"/>
                </a:solidFill>
                <a:latin typeface="DM Sans" pitchFamily="34" charset="0"/>
                <a:ea typeface="DM Sans" pitchFamily="34" charset="-122"/>
                <a:cs typeface="DM Sans" pitchFamily="34" charset="-120"/>
              </a:rPr>
              <a:t>Deep expertise fused to one context.</a:t>
            </a:r>
            <a:endParaRPr lang="en-US" sz="1100" dirty="0"/>
          </a:p>
        </p:txBody>
      </p:sp>
      <p:sp>
        <p:nvSpPr>
          <p:cNvPr id="8" name="Shape 6"/>
          <p:cNvSpPr/>
          <p:nvPr/>
        </p:nvSpPr>
        <p:spPr>
          <a:xfrm>
            <a:off x="4855464" y="1792224"/>
            <a:ext cx="3721608" cy="1207008"/>
          </a:xfrm>
          <a:prstGeom prst="rect">
            <a:avLst/>
          </a:prstGeom>
          <a:solidFill>
            <a:srgbClr val="0F2347"/>
          </a:solidFill>
          <a:ln/>
        </p:spPr>
        <p:txBody>
          <a:bodyPr/>
          <a:p/>
        </p:txBody>
      </p:sp>
      <p:sp>
        <p:nvSpPr>
          <p:cNvPr id="9" name="Text 7"/>
          <p:cNvSpPr/>
          <p:nvPr/>
        </p:nvSpPr>
        <p:spPr>
          <a:xfrm>
            <a:off x="5074920" y="1975104"/>
            <a:ext cx="3282696" cy="237744"/>
          </a:xfrm>
          <a:prstGeom prst="rect">
            <a:avLst/>
          </a:prstGeom>
          <a:noFill/>
          <a:ln/>
        </p:spPr>
        <p:txBody>
          <a:bodyPr wrap="square" lIns="0" tIns="0" rIns="0" bIns="0" rtlCol="0" anchor="ctr"/>
          <a:lstStyle/>
          <a:p>
            <a:pPr indent="0" marL="0">
              <a:buNone/>
            </a:pPr>
            <a:r>
              <a:rPr lang="en-US" sz="1000" b="1" spc="100" kern="0" dirty="0">
                <a:solidFill>
                  <a:srgbClr val="C9A84C"/>
                </a:solidFill>
                <a:latin typeface="Montserrat" pitchFamily="34" charset="0"/>
                <a:ea typeface="Montserrat" pitchFamily="34" charset="-122"/>
                <a:cs typeface="Montserrat" pitchFamily="34" charset="-120"/>
              </a:rPr>
              <a:t>COMPOUNDING</a:t>
            </a:r>
            <a:endParaRPr lang="en-US" sz="1000" dirty="0"/>
          </a:p>
        </p:txBody>
      </p:sp>
      <p:sp>
        <p:nvSpPr>
          <p:cNvPr id="10" name="Text 8"/>
          <p:cNvSpPr/>
          <p:nvPr/>
        </p:nvSpPr>
        <p:spPr>
          <a:xfrm>
            <a:off x="5074920" y="2286000"/>
            <a:ext cx="3282696" cy="457200"/>
          </a:xfrm>
          <a:prstGeom prst="rect">
            <a:avLst/>
          </a:prstGeom>
          <a:noFill/>
          <a:ln/>
        </p:spPr>
        <p:txBody>
          <a:bodyPr wrap="square" lIns="0" tIns="0" rIns="0" bIns="0" rtlCol="0" anchor="ctr"/>
          <a:lstStyle/>
          <a:p>
            <a:pPr indent="0" marL="0">
              <a:lnSpc>
                <a:spcPts val="1400"/>
              </a:lnSpc>
              <a:buNone/>
            </a:pPr>
            <a:r>
              <a:rPr lang="en-US" sz="1100" dirty="0">
                <a:solidFill>
                  <a:srgbClr val="B8C5D9"/>
                </a:solidFill>
                <a:latin typeface="DM Sans" pitchFamily="34" charset="0"/>
                <a:ea typeface="DM Sans" pitchFamily="34" charset="-122"/>
                <a:cs typeface="DM Sans" pitchFamily="34" charset="-120"/>
              </a:rPr>
              <a:t>Deep capability that travels.</a:t>
            </a:r>
            <a:endParaRPr lang="en-US" sz="1100" dirty="0"/>
          </a:p>
        </p:txBody>
      </p:sp>
      <p:sp>
        <p:nvSpPr>
          <p:cNvPr id="11" name="Shape 9"/>
          <p:cNvSpPr/>
          <p:nvPr/>
        </p:nvSpPr>
        <p:spPr>
          <a:xfrm>
            <a:off x="1133856" y="2999232"/>
            <a:ext cx="3721608" cy="1207008"/>
          </a:xfrm>
          <a:prstGeom prst="rect">
            <a:avLst/>
          </a:prstGeom>
          <a:solidFill>
            <a:srgbClr val="E9EDF3"/>
          </a:solidFill>
          <a:ln/>
        </p:spPr>
        <p:txBody>
          <a:bodyPr/>
          <a:p/>
        </p:txBody>
      </p:sp>
      <p:sp>
        <p:nvSpPr>
          <p:cNvPr id="12" name="Text 10"/>
          <p:cNvSpPr/>
          <p:nvPr/>
        </p:nvSpPr>
        <p:spPr>
          <a:xfrm>
            <a:off x="1353312" y="3182112"/>
            <a:ext cx="3282696" cy="237744"/>
          </a:xfrm>
          <a:prstGeom prst="rect">
            <a:avLst/>
          </a:prstGeom>
          <a:noFill/>
          <a:ln/>
        </p:spPr>
        <p:txBody>
          <a:bodyPr wrap="square" lIns="0" tIns="0" rIns="0" bIns="0" rtlCol="0" anchor="ctr"/>
          <a:lstStyle/>
          <a:p>
            <a:pPr indent="0" marL="0">
              <a:buNone/>
            </a:pPr>
            <a:r>
              <a:rPr lang="en-US" sz="1000" b="1" spc="100" kern="0" dirty="0">
                <a:solidFill>
                  <a:srgbClr val="0F2347"/>
                </a:solidFill>
                <a:latin typeface="Montserrat" pitchFamily="34" charset="0"/>
                <a:ea typeface="Montserrat" pitchFamily="34" charset="-122"/>
                <a:cs typeface="Montserrat" pitchFamily="34" charset="-120"/>
              </a:rPr>
              <a:t>STAGNANT</a:t>
            </a:r>
            <a:endParaRPr lang="en-US" sz="1000" dirty="0"/>
          </a:p>
        </p:txBody>
      </p:sp>
      <p:sp>
        <p:nvSpPr>
          <p:cNvPr id="13" name="Text 11"/>
          <p:cNvSpPr/>
          <p:nvPr/>
        </p:nvSpPr>
        <p:spPr>
          <a:xfrm>
            <a:off x="1353312" y="3493008"/>
            <a:ext cx="3282696" cy="457200"/>
          </a:xfrm>
          <a:prstGeom prst="rect">
            <a:avLst/>
          </a:prstGeom>
          <a:noFill/>
          <a:ln/>
        </p:spPr>
        <p:txBody>
          <a:bodyPr wrap="square" lIns="0" tIns="0" rIns="0" bIns="0" rtlCol="0" anchor="ctr"/>
          <a:lstStyle/>
          <a:p>
            <a:pPr indent="0" marL="0">
              <a:lnSpc>
                <a:spcPts val="1400"/>
              </a:lnSpc>
              <a:buNone/>
            </a:pPr>
            <a:r>
              <a:rPr lang="en-US" sz="1100" dirty="0">
                <a:solidFill>
                  <a:srgbClr val="5A6B84"/>
                </a:solidFill>
                <a:latin typeface="DM Sans" pitchFamily="34" charset="0"/>
                <a:ea typeface="DM Sans" pitchFamily="34" charset="-122"/>
                <a:cs typeface="DM Sans" pitchFamily="34" charset="-120"/>
              </a:rPr>
              <a:t>The work stopped asking more of you.</a:t>
            </a:r>
            <a:endParaRPr lang="en-US" sz="1100" dirty="0"/>
          </a:p>
        </p:txBody>
      </p:sp>
      <p:sp>
        <p:nvSpPr>
          <p:cNvPr id="14" name="Shape 12"/>
          <p:cNvSpPr/>
          <p:nvPr/>
        </p:nvSpPr>
        <p:spPr>
          <a:xfrm>
            <a:off x="4855464" y="2999232"/>
            <a:ext cx="3721608" cy="1207008"/>
          </a:xfrm>
          <a:prstGeom prst="rect">
            <a:avLst/>
          </a:prstGeom>
          <a:solidFill>
            <a:srgbClr val="E9EDF3"/>
          </a:solidFill>
          <a:ln/>
        </p:spPr>
        <p:txBody>
          <a:bodyPr/>
          <a:p/>
        </p:txBody>
      </p:sp>
      <p:sp>
        <p:nvSpPr>
          <p:cNvPr id="15" name="Text 13"/>
          <p:cNvSpPr/>
          <p:nvPr/>
        </p:nvSpPr>
        <p:spPr>
          <a:xfrm>
            <a:off x="5074920" y="3182112"/>
            <a:ext cx="3282696" cy="237744"/>
          </a:xfrm>
          <a:prstGeom prst="rect">
            <a:avLst/>
          </a:prstGeom>
          <a:noFill/>
          <a:ln/>
        </p:spPr>
        <p:txBody>
          <a:bodyPr wrap="square" lIns="0" tIns="0" rIns="0" bIns="0" rtlCol="0" anchor="ctr"/>
          <a:lstStyle/>
          <a:p>
            <a:pPr indent="0" marL="0">
              <a:buNone/>
            </a:pPr>
            <a:r>
              <a:rPr lang="en-US" sz="1000" b="1" spc="100" kern="0" dirty="0">
                <a:solidFill>
                  <a:srgbClr val="0F2347"/>
                </a:solidFill>
                <a:latin typeface="Montserrat" pitchFamily="34" charset="0"/>
                <a:ea typeface="Montserrat" pitchFamily="34" charset="-122"/>
                <a:cs typeface="Montserrat" pitchFamily="34" charset="-120"/>
              </a:rPr>
              <a:t>FRAGILE</a:t>
            </a:r>
            <a:endParaRPr lang="en-US" sz="1000" dirty="0"/>
          </a:p>
        </p:txBody>
      </p:sp>
      <p:sp>
        <p:nvSpPr>
          <p:cNvPr id="16" name="Text 14"/>
          <p:cNvSpPr/>
          <p:nvPr/>
        </p:nvSpPr>
        <p:spPr>
          <a:xfrm>
            <a:off x="5074920" y="3493008"/>
            <a:ext cx="3282696" cy="457200"/>
          </a:xfrm>
          <a:prstGeom prst="rect">
            <a:avLst/>
          </a:prstGeom>
          <a:noFill/>
          <a:ln/>
        </p:spPr>
        <p:txBody>
          <a:bodyPr wrap="square" lIns="0" tIns="0" rIns="0" bIns="0" rtlCol="0" anchor="ctr"/>
          <a:lstStyle/>
          <a:p>
            <a:pPr indent="0" marL="0">
              <a:lnSpc>
                <a:spcPts val="1400"/>
              </a:lnSpc>
              <a:buNone/>
            </a:pPr>
            <a:r>
              <a:rPr lang="en-US" sz="1100" dirty="0">
                <a:solidFill>
                  <a:srgbClr val="5A6B84"/>
                </a:solidFill>
                <a:latin typeface="DM Sans" pitchFamily="34" charset="0"/>
                <a:ea typeface="DM Sans" pitchFamily="34" charset="-122"/>
                <a:cs typeface="DM Sans" pitchFamily="34" charset="-120"/>
              </a:rPr>
              <a:t>Options on paper, not enough depth beneath.</a:t>
            </a:r>
            <a:endParaRPr lang="en-US" sz="1100" dirty="0"/>
          </a:p>
        </p:txBody>
      </p:sp>
      <p:sp>
        <p:nvSpPr>
          <p:cNvPr id="17" name="Text 15"/>
          <p:cNvSpPr/>
          <p:nvPr/>
        </p:nvSpPr>
        <p:spPr>
          <a:xfrm rot="16200000">
            <a:off x="182880" y="2249424"/>
            <a:ext cx="1280160" cy="182880"/>
          </a:xfrm>
          <a:prstGeom prst="rect">
            <a:avLst/>
          </a:prstGeom>
          <a:noFill/>
          <a:ln/>
        </p:spPr>
        <p:txBody>
          <a:bodyPr wrap="square" lIns="0" tIns="0" rIns="0" bIns="0" rtlCol="0" anchor="ctr"/>
          <a:lstStyle/>
          <a:p>
            <a:pPr algn="ctr" indent="0" marL="0">
              <a:buNone/>
            </a:pPr>
            <a:r>
              <a:rPr lang="en-US" sz="740" b="1" dirty="0">
                <a:solidFill>
                  <a:srgbClr val="5A6B84"/>
                </a:solidFill>
                <a:latin typeface="Montserrat" pitchFamily="34" charset="0"/>
                <a:ea typeface="Montserrat" pitchFamily="34" charset="-122"/>
                <a:cs typeface="Montserrat" pitchFamily="34" charset="-120"/>
              </a:rPr>
              <a:t>DENSITY / HIGH</a:t>
            </a:r>
            <a:endParaRPr lang="en-US" sz="740" dirty="0"/>
          </a:p>
        </p:txBody>
      </p:sp>
      <p:sp>
        <p:nvSpPr>
          <p:cNvPr id="18" name="Text 16"/>
          <p:cNvSpPr/>
          <p:nvPr/>
        </p:nvSpPr>
        <p:spPr>
          <a:xfrm rot="16200000">
            <a:off x="182880" y="3456432"/>
            <a:ext cx="1280160" cy="182880"/>
          </a:xfrm>
          <a:prstGeom prst="rect">
            <a:avLst/>
          </a:prstGeom>
          <a:noFill/>
          <a:ln/>
        </p:spPr>
        <p:txBody>
          <a:bodyPr wrap="square" lIns="0" tIns="0" rIns="0" bIns="0" rtlCol="0" anchor="ctr"/>
          <a:lstStyle/>
          <a:p>
            <a:pPr algn="ctr" indent="0" marL="0">
              <a:buNone/>
            </a:pPr>
            <a:r>
              <a:rPr lang="en-US" sz="740" b="1" dirty="0">
                <a:solidFill>
                  <a:srgbClr val="5A6B84"/>
                </a:solidFill>
                <a:latin typeface="Montserrat" pitchFamily="34" charset="0"/>
                <a:ea typeface="Montserrat" pitchFamily="34" charset="-122"/>
                <a:cs typeface="Montserrat" pitchFamily="34" charset="-120"/>
              </a:rPr>
              <a:t>DENSITY / LOW</a:t>
            </a:r>
            <a:endParaRPr lang="en-US" sz="740" dirty="0"/>
          </a:p>
        </p:txBody>
      </p:sp>
      <p:sp>
        <p:nvSpPr>
          <p:cNvPr id="19" name="Text 17"/>
          <p:cNvSpPr/>
          <p:nvPr/>
        </p:nvSpPr>
        <p:spPr>
          <a:xfrm>
            <a:off x="1133856" y="4315968"/>
            <a:ext cx="7443216" cy="219456"/>
          </a:xfrm>
          <a:prstGeom prst="rect">
            <a:avLst/>
          </a:prstGeom>
          <a:noFill/>
          <a:ln/>
        </p:spPr>
        <p:txBody>
          <a:bodyPr wrap="square" lIns="0" tIns="0" rIns="0" bIns="0" rtlCol="0" anchor="ctr"/>
          <a:lstStyle/>
          <a:p>
            <a:pPr algn="ctr" indent="0" marL="0">
              <a:buNone/>
            </a:pPr>
            <a:r>
              <a:rPr lang="en-US" sz="760" b="1" spc="120" kern="0" dirty="0">
                <a:solidFill>
                  <a:srgbClr val="5A6B84"/>
                </a:solidFill>
                <a:latin typeface="Montserrat" pitchFamily="34" charset="0"/>
                <a:ea typeface="Montserrat" pitchFamily="34" charset="-122"/>
                <a:cs typeface="Montserrat" pitchFamily="34" charset="-120"/>
              </a:rPr>
              <a:t>OPTIONALITY:  LOW AT LEFT   →   HIGH AT RIGHT</a:t>
            </a:r>
            <a:endParaRPr lang="en-US" sz="760" dirty="0"/>
          </a:p>
        </p:txBody>
      </p:sp>
      <p:sp>
        <p:nvSpPr>
          <p:cNvPr id="21" name="Text 18"/>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22" name="Text 19"/>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12</a:t>
            </a:r>
            <a:endParaRPr lang="en-US" sz="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FIRST PLACEMENT</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652"/>
              </a:lnSpc>
              <a:buNone/>
            </a:pPr>
            <a:r>
              <a:rPr lang="en-US" sz="2600" b="1" dirty="0">
                <a:solidFill>
                  <a:srgbClr val="0F2347"/>
                </a:solidFill>
                <a:latin typeface="Cormorant Garamond" pitchFamily="34" charset="0"/>
                <a:ea typeface="Cormorant Garamond" pitchFamily="34" charset="-122"/>
                <a:cs typeface="Cormorant Garamond" pitchFamily="34" charset="-120"/>
              </a:rPr>
              <a:t>Place yourself. Privately, and provisionally.</a:t>
            </a:r>
            <a:endParaRPr lang="en-US" sz="26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Cross your two numbers, then rate your confidence in the placement from 1 to 5.</a:t>
            </a:r>
            <a:endParaRPr lang="en-US" sz="1150" dirty="0"/>
          </a:p>
        </p:txBody>
      </p:sp>
      <p:sp>
        <p:nvSpPr>
          <p:cNvPr id="5" name="Shape 3"/>
          <p:cNvSpPr/>
          <p:nvPr/>
        </p:nvSpPr>
        <p:spPr>
          <a:xfrm>
            <a:off x="566928" y="1938528"/>
            <a:ext cx="274320" cy="274320"/>
          </a:xfrm>
          <a:prstGeom prst="rect">
            <a:avLst/>
          </a:prstGeom>
          <a:solidFill>
            <a:srgbClr val="0F2347"/>
          </a:solidFill>
          <a:ln/>
        </p:spPr>
        <p:txBody>
          <a:bodyPr/>
          <a:p/>
        </p:txBody>
      </p:sp>
      <p:sp>
        <p:nvSpPr>
          <p:cNvPr id="6" name="Text 4"/>
          <p:cNvSpPr/>
          <p:nvPr/>
        </p:nvSpPr>
        <p:spPr>
          <a:xfrm>
            <a:off x="566928" y="1938528"/>
            <a:ext cx="274320" cy="274320"/>
          </a:xfrm>
          <a:prstGeom prst="rect">
            <a:avLst/>
          </a:prstGeom>
          <a:noFill/>
          <a:ln/>
        </p:spPr>
        <p:txBody>
          <a:bodyPr wrap="square" lIns="0" tIns="0" rIns="0" bIns="0" rtlCol="0" anchor="ctr"/>
          <a:lstStyle/>
          <a:p>
            <a:pPr algn="ctr" indent="0" marL="0">
              <a:buNone/>
            </a:pPr>
            <a:r>
              <a:rPr lang="en-US" sz="950" b="1" dirty="0">
                <a:solidFill>
                  <a:srgbClr val="F5F0E8"/>
                </a:solidFill>
                <a:latin typeface="Montserrat" pitchFamily="34" charset="0"/>
                <a:ea typeface="Montserrat" pitchFamily="34" charset="-122"/>
                <a:cs typeface="Montserrat" pitchFamily="34" charset="-120"/>
              </a:rPr>
              <a:t>1</a:t>
            </a:r>
            <a:endParaRPr lang="en-US" sz="950" dirty="0"/>
          </a:p>
        </p:txBody>
      </p:sp>
      <p:sp>
        <p:nvSpPr>
          <p:cNvPr id="7" name="Text 5"/>
          <p:cNvSpPr/>
          <p:nvPr/>
        </p:nvSpPr>
        <p:spPr>
          <a:xfrm>
            <a:off x="1005840" y="1911096"/>
            <a:ext cx="7571232" cy="256032"/>
          </a:xfrm>
          <a:prstGeom prst="rect">
            <a:avLst/>
          </a:prstGeom>
          <a:noFill/>
          <a:ln/>
        </p:spPr>
        <p:txBody>
          <a:bodyPr wrap="square" lIns="0" tIns="0" rIns="0" bIns="0" rtlCol="0" anchor="ctr"/>
          <a:lstStyle/>
          <a:p>
            <a:pPr indent="0" marL="0">
              <a:buNone/>
            </a:pPr>
            <a:r>
              <a:rPr lang="en-US" sz="1300" b="1" dirty="0">
                <a:solidFill>
                  <a:srgbClr val="0F2347"/>
                </a:solidFill>
                <a:latin typeface="DM Sans" pitchFamily="34" charset="0"/>
                <a:ea typeface="DM Sans" pitchFamily="34" charset="-122"/>
                <a:cs typeface="DM Sans" pitchFamily="34" charset="-120"/>
              </a:rPr>
              <a:t>Cross Density and Optionality</a:t>
            </a:r>
            <a:endParaRPr lang="en-US" sz="1300" dirty="0"/>
          </a:p>
        </p:txBody>
      </p:sp>
      <p:sp>
        <p:nvSpPr>
          <p:cNvPr id="8" name="Text 6"/>
          <p:cNvSpPr/>
          <p:nvPr/>
        </p:nvSpPr>
        <p:spPr>
          <a:xfrm>
            <a:off x="1005840" y="2167128"/>
            <a:ext cx="7571232" cy="256032"/>
          </a:xfrm>
          <a:prstGeom prst="rect">
            <a:avLst/>
          </a:prstGeom>
          <a:noFill/>
          <a:ln/>
        </p:spPr>
        <p:txBody>
          <a:bodyPr wrap="square" lIns="0" tIns="0" rIns="0" bIns="0" rtlCol="0" anchor="ctr"/>
          <a:lstStyle/>
          <a:p>
            <a:pPr indent="0" marL="0">
              <a:buNone/>
            </a:pPr>
            <a:r>
              <a:rPr lang="en-US" sz="1100" dirty="0">
                <a:solidFill>
                  <a:srgbClr val="5A6B84"/>
                </a:solidFill>
                <a:latin typeface="DM Sans" pitchFamily="34" charset="0"/>
                <a:ea typeface="DM Sans" pitchFamily="34" charset="-122"/>
                <a:cs typeface="DM Sans" pitchFamily="34" charset="-120"/>
              </a:rPr>
              <a:t>Two totals, one square. If either total sits inside 17 to 21, mark it boundary instead of picking a square.</a:t>
            </a:r>
            <a:endParaRPr lang="en-US" sz="1100" dirty="0"/>
          </a:p>
        </p:txBody>
      </p:sp>
      <p:sp>
        <p:nvSpPr>
          <p:cNvPr id="9" name="Shape 7"/>
          <p:cNvSpPr/>
          <p:nvPr/>
        </p:nvSpPr>
        <p:spPr>
          <a:xfrm>
            <a:off x="566928" y="2596896"/>
            <a:ext cx="274320" cy="274320"/>
          </a:xfrm>
          <a:prstGeom prst="rect">
            <a:avLst/>
          </a:prstGeom>
          <a:solidFill>
            <a:srgbClr val="0F2347"/>
          </a:solidFill>
          <a:ln/>
        </p:spPr>
        <p:txBody>
          <a:bodyPr/>
          <a:p/>
        </p:txBody>
      </p:sp>
      <p:sp>
        <p:nvSpPr>
          <p:cNvPr id="10" name="Text 8"/>
          <p:cNvSpPr/>
          <p:nvPr/>
        </p:nvSpPr>
        <p:spPr>
          <a:xfrm>
            <a:off x="566928" y="2596896"/>
            <a:ext cx="274320" cy="274320"/>
          </a:xfrm>
          <a:prstGeom prst="rect">
            <a:avLst/>
          </a:prstGeom>
          <a:noFill/>
          <a:ln/>
        </p:spPr>
        <p:txBody>
          <a:bodyPr wrap="square" lIns="0" tIns="0" rIns="0" bIns="0" rtlCol="0" anchor="ctr"/>
          <a:lstStyle/>
          <a:p>
            <a:pPr algn="ctr" indent="0" marL="0">
              <a:buNone/>
            </a:pPr>
            <a:r>
              <a:rPr lang="en-US" sz="950" b="1" dirty="0">
                <a:solidFill>
                  <a:srgbClr val="F5F0E8"/>
                </a:solidFill>
                <a:latin typeface="Montserrat" pitchFamily="34" charset="0"/>
                <a:ea typeface="Montserrat" pitchFamily="34" charset="-122"/>
                <a:cs typeface="Montserrat" pitchFamily="34" charset="-120"/>
              </a:rPr>
              <a:t>2</a:t>
            </a:r>
            <a:endParaRPr lang="en-US" sz="950" dirty="0"/>
          </a:p>
        </p:txBody>
      </p:sp>
      <p:sp>
        <p:nvSpPr>
          <p:cNvPr id="11" name="Text 9"/>
          <p:cNvSpPr/>
          <p:nvPr/>
        </p:nvSpPr>
        <p:spPr>
          <a:xfrm>
            <a:off x="1005840" y="2569464"/>
            <a:ext cx="7571232" cy="256032"/>
          </a:xfrm>
          <a:prstGeom prst="rect">
            <a:avLst/>
          </a:prstGeom>
          <a:noFill/>
          <a:ln/>
        </p:spPr>
        <p:txBody>
          <a:bodyPr wrap="square" lIns="0" tIns="0" rIns="0" bIns="0" rtlCol="0" anchor="ctr"/>
          <a:lstStyle/>
          <a:p>
            <a:pPr indent="0" marL="0">
              <a:buNone/>
            </a:pPr>
            <a:r>
              <a:rPr lang="en-US" sz="1300" b="1" dirty="0">
                <a:solidFill>
                  <a:srgbClr val="0F2347"/>
                </a:solidFill>
                <a:latin typeface="DM Sans" pitchFamily="34" charset="0"/>
                <a:ea typeface="DM Sans" pitchFamily="34" charset="-122"/>
                <a:cs typeface="DM Sans" pitchFamily="34" charset="-120"/>
              </a:rPr>
              <a:t>Rate your confidence from 1 to 5</a:t>
            </a:r>
            <a:endParaRPr lang="en-US" sz="1300" dirty="0"/>
          </a:p>
        </p:txBody>
      </p:sp>
      <p:sp>
        <p:nvSpPr>
          <p:cNvPr id="12" name="Text 10"/>
          <p:cNvSpPr/>
          <p:nvPr/>
        </p:nvSpPr>
        <p:spPr>
          <a:xfrm>
            <a:off x="1005840" y="2825496"/>
            <a:ext cx="7571232" cy="256032"/>
          </a:xfrm>
          <a:prstGeom prst="rect">
            <a:avLst/>
          </a:prstGeom>
          <a:noFill/>
          <a:ln/>
        </p:spPr>
        <p:txBody>
          <a:bodyPr wrap="square" lIns="0" tIns="0" rIns="0" bIns="0" rtlCol="0" anchor="ctr"/>
          <a:lstStyle/>
          <a:p>
            <a:pPr indent="0" marL="0">
              <a:buNone/>
            </a:pPr>
            <a:r>
              <a:rPr lang="en-US" sz="1100" dirty="0">
                <a:solidFill>
                  <a:srgbClr val="5A6B84"/>
                </a:solidFill>
                <a:latin typeface="DM Sans" pitchFamily="34" charset="0"/>
                <a:ea typeface="DM Sans" pitchFamily="34" charset="-122"/>
                <a:cs typeface="DM Sans" pitchFamily="34" charset="-120"/>
              </a:rPr>
              <a:t>Write the number privately. You will compare it against your confidence after the evidence pass.</a:t>
            </a:r>
            <a:endParaRPr lang="en-US" sz="1100" dirty="0"/>
          </a:p>
        </p:txBody>
      </p:sp>
      <p:sp>
        <p:nvSpPr>
          <p:cNvPr id="13" name="Shape 11"/>
          <p:cNvSpPr/>
          <p:nvPr/>
        </p:nvSpPr>
        <p:spPr>
          <a:xfrm>
            <a:off x="566928" y="3255264"/>
            <a:ext cx="274320" cy="274320"/>
          </a:xfrm>
          <a:prstGeom prst="rect">
            <a:avLst/>
          </a:prstGeom>
          <a:solidFill>
            <a:srgbClr val="0F2347"/>
          </a:solidFill>
          <a:ln/>
        </p:spPr>
        <p:txBody>
          <a:bodyPr/>
          <a:p/>
        </p:txBody>
      </p:sp>
      <p:sp>
        <p:nvSpPr>
          <p:cNvPr id="14" name="Text 12"/>
          <p:cNvSpPr/>
          <p:nvPr/>
        </p:nvSpPr>
        <p:spPr>
          <a:xfrm>
            <a:off x="566928" y="3255264"/>
            <a:ext cx="274320" cy="274320"/>
          </a:xfrm>
          <a:prstGeom prst="rect">
            <a:avLst/>
          </a:prstGeom>
          <a:noFill/>
          <a:ln/>
        </p:spPr>
        <p:txBody>
          <a:bodyPr wrap="square" lIns="0" tIns="0" rIns="0" bIns="0" rtlCol="0" anchor="ctr"/>
          <a:lstStyle/>
          <a:p>
            <a:pPr algn="ctr" indent="0" marL="0">
              <a:buNone/>
            </a:pPr>
            <a:r>
              <a:rPr lang="en-US" sz="950" b="1" dirty="0">
                <a:solidFill>
                  <a:srgbClr val="F5F0E8"/>
                </a:solidFill>
                <a:latin typeface="Montserrat" pitchFamily="34" charset="0"/>
                <a:ea typeface="Montserrat" pitchFamily="34" charset="-122"/>
                <a:cs typeface="Montserrat" pitchFamily="34" charset="-120"/>
              </a:rPr>
              <a:t>3</a:t>
            </a:r>
            <a:endParaRPr lang="en-US" sz="950" dirty="0"/>
          </a:p>
        </p:txBody>
      </p:sp>
      <p:sp>
        <p:nvSpPr>
          <p:cNvPr id="15" name="Text 13"/>
          <p:cNvSpPr/>
          <p:nvPr/>
        </p:nvSpPr>
        <p:spPr>
          <a:xfrm>
            <a:off x="1005840" y="3227832"/>
            <a:ext cx="7571232" cy="256032"/>
          </a:xfrm>
          <a:prstGeom prst="rect">
            <a:avLst/>
          </a:prstGeom>
          <a:noFill/>
          <a:ln/>
        </p:spPr>
        <p:txBody>
          <a:bodyPr wrap="square" lIns="0" tIns="0" rIns="0" bIns="0" rtlCol="0" anchor="ctr"/>
          <a:lstStyle/>
          <a:p>
            <a:pPr indent="0" marL="0">
              <a:buNone/>
            </a:pPr>
            <a:r>
              <a:rPr lang="en-US" sz="1300" b="1" dirty="0">
                <a:solidFill>
                  <a:srgbClr val="0F2347"/>
                </a:solidFill>
                <a:latin typeface="DM Sans" pitchFamily="34" charset="0"/>
                <a:ea typeface="DM Sans" pitchFamily="34" charset="-122"/>
                <a:cs typeface="DM Sans" pitchFamily="34" charset="-120"/>
              </a:rPr>
              <a:t>Hold it lightly</a:t>
            </a:r>
            <a:endParaRPr lang="en-US" sz="1300" dirty="0"/>
          </a:p>
        </p:txBody>
      </p:sp>
      <p:sp>
        <p:nvSpPr>
          <p:cNvPr id="16" name="Text 14"/>
          <p:cNvSpPr/>
          <p:nvPr/>
        </p:nvSpPr>
        <p:spPr>
          <a:xfrm>
            <a:off x="1005840" y="3483864"/>
            <a:ext cx="7571232" cy="256032"/>
          </a:xfrm>
          <a:prstGeom prst="rect">
            <a:avLst/>
          </a:prstGeom>
          <a:noFill/>
          <a:ln/>
        </p:spPr>
        <p:txBody>
          <a:bodyPr wrap="square" lIns="0" tIns="0" rIns="0" bIns="0" rtlCol="0" anchor="ctr"/>
          <a:lstStyle/>
          <a:p>
            <a:pPr indent="0" marL="0">
              <a:buNone/>
            </a:pPr>
            <a:r>
              <a:rPr lang="en-US" sz="1100" dirty="0">
                <a:solidFill>
                  <a:srgbClr val="5A6B84"/>
                </a:solidFill>
                <a:latin typeface="DM Sans" pitchFamily="34" charset="0"/>
                <a:ea typeface="DM Sans" pitchFamily="34" charset="-122"/>
                <a:cs typeface="DM Sans" pitchFamily="34" charset="-120"/>
              </a:rPr>
              <a:t>This is a first read, not a finding. State is not identity — it reads conditions in a ninety-day window, and it moves.</a:t>
            </a:r>
            <a:endParaRPr lang="en-US" sz="1100" dirty="0"/>
          </a:p>
        </p:txBody>
      </p:sp>
      <p:sp>
        <p:nvSpPr>
          <p:cNvPr id="17" name="Shape 15"/>
          <p:cNvSpPr/>
          <p:nvPr/>
        </p:nvSpPr>
        <p:spPr>
          <a:xfrm>
            <a:off x="566928" y="4005072"/>
            <a:ext cx="8010144" cy="512064"/>
          </a:xfrm>
          <a:prstGeom prst="rect">
            <a:avLst/>
          </a:prstGeom>
          <a:solidFill>
            <a:srgbClr val="E9EDF3"/>
          </a:solidFill>
          <a:ln/>
        </p:spPr>
        <p:txBody>
          <a:bodyPr/>
          <a:p/>
        </p:txBody>
      </p:sp>
      <p:sp>
        <p:nvSpPr>
          <p:cNvPr id="18" name="Text 16"/>
          <p:cNvSpPr/>
          <p:nvPr/>
        </p:nvSpPr>
        <p:spPr>
          <a:xfrm>
            <a:off x="804672" y="4005072"/>
            <a:ext cx="7534656" cy="512064"/>
          </a:xfrm>
          <a:prstGeom prst="rect">
            <a:avLst/>
          </a:prstGeom>
          <a:noFill/>
          <a:ln/>
        </p:spPr>
        <p:txBody>
          <a:bodyPr wrap="square" lIns="0" tIns="0" rIns="0" bIns="0" rtlCol="0" anchor="ctr"/>
          <a:lstStyle/>
          <a:p>
            <a:pPr indent="0" marL="0">
              <a:buNone/>
            </a:pPr>
            <a:r>
              <a:rPr lang="en-US" sz="1150" b="1" dirty="0">
                <a:solidFill>
                  <a:srgbClr val="0F2347"/>
                </a:solidFill>
                <a:latin typeface="DM Sans" pitchFamily="34" charset="0"/>
                <a:ea typeface="DM Sans" pitchFamily="34" charset="-122"/>
                <a:cs typeface="DM Sans" pitchFamily="34" charset="-120"/>
              </a:rPr>
              <a:t>No one is asked to share a square. Nothing is collected.</a:t>
            </a:r>
            <a:endParaRPr lang="en-US" sz="1150" dirty="0"/>
          </a:p>
        </p:txBody>
      </p:sp>
      <p:sp>
        <p:nvSpPr>
          <p:cNvPr id="20" name="Text 17"/>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21" name="Text 18"/>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13</a:t>
            </a:r>
            <a:endParaRPr lang="en-US" sz="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THE STANDARD</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3060"/>
              </a:lnSpc>
              <a:buNone/>
            </a:pPr>
            <a:r>
              <a:rPr lang="en-US" sz="3000" b="1" dirty="0">
                <a:solidFill>
                  <a:srgbClr val="0F2347"/>
                </a:solidFill>
                <a:latin typeface="Cormorant Garamond" pitchFamily="34" charset="0"/>
                <a:ea typeface="Cormorant Garamond" pitchFamily="34" charset="-122"/>
                <a:cs typeface="Cormorant Garamond" pitchFamily="34" charset="-120"/>
              </a:rPr>
              <a:t>The evidence protocol</a:t>
            </a:r>
            <a:endParaRPr lang="en-US" sz="30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This is what your second reading has to survive.</a:t>
            </a:r>
            <a:endParaRPr lang="en-US" sz="1150" dirty="0"/>
          </a:p>
        </p:txBody>
      </p:sp>
      <p:sp>
        <p:nvSpPr>
          <p:cNvPr id="5" name="Shape 3"/>
          <p:cNvSpPr/>
          <p:nvPr/>
        </p:nvSpPr>
        <p:spPr>
          <a:xfrm>
            <a:off x="566928" y="1810512"/>
            <a:ext cx="8010144" cy="512064"/>
          </a:xfrm>
          <a:prstGeom prst="rect">
            <a:avLst/>
          </a:prstGeom>
          <a:solidFill>
            <a:srgbClr val="0F2347"/>
          </a:solidFill>
          <a:ln/>
        </p:spPr>
        <p:txBody>
          <a:bodyPr/>
          <a:p/>
        </p:txBody>
      </p:sp>
      <p:sp>
        <p:nvSpPr>
          <p:cNvPr id="6" name="Text 4"/>
          <p:cNvSpPr/>
          <p:nvPr/>
        </p:nvSpPr>
        <p:spPr>
          <a:xfrm>
            <a:off x="804672" y="1810512"/>
            <a:ext cx="7534656" cy="512064"/>
          </a:xfrm>
          <a:prstGeom prst="rect">
            <a:avLst/>
          </a:prstGeom>
          <a:noFill/>
          <a:ln/>
        </p:spPr>
        <p:txBody>
          <a:bodyPr wrap="square" lIns="0" tIns="0" rIns="0" bIns="0" rtlCol="0" anchor="ctr"/>
          <a:lstStyle/>
          <a:p>
            <a:pPr indent="0" marL="0">
              <a:buNone/>
            </a:pPr>
            <a:r>
              <a:rPr lang="en-US" sz="1600" b="1" dirty="0">
                <a:solidFill>
                  <a:srgbClr val="F5F0E8"/>
                </a:solidFill>
                <a:latin typeface="Cormorant Garamond" pitchFamily="34" charset="0"/>
                <a:ea typeface="Cormorant Garamond" pitchFamily="34" charset="-122"/>
                <a:cs typeface="Cormorant Garamond" pitchFamily="34" charset="-120"/>
              </a:rPr>
              <a:t>Every corrected score requires an evidence line from the last ninety days. Every score, in both directions.</a:t>
            </a:r>
            <a:endParaRPr lang="en-US" sz="1600" dirty="0"/>
          </a:p>
        </p:txBody>
      </p:sp>
      <p:sp>
        <p:nvSpPr>
          <p:cNvPr id="7" name="Shape 5"/>
          <p:cNvSpPr/>
          <p:nvPr/>
        </p:nvSpPr>
        <p:spPr>
          <a:xfrm>
            <a:off x="566928" y="2468880"/>
            <a:ext cx="8010144" cy="402336"/>
          </a:xfrm>
          <a:prstGeom prst="rect">
            <a:avLst/>
          </a:prstGeom>
          <a:solidFill>
            <a:srgbClr val="E9EDF3"/>
          </a:solidFill>
          <a:ln/>
        </p:spPr>
        <p:txBody>
          <a:bodyPr/>
          <a:p/>
        </p:txBody>
      </p:sp>
      <p:sp>
        <p:nvSpPr>
          <p:cNvPr id="8" name="Text 6"/>
          <p:cNvSpPr/>
          <p:nvPr/>
        </p:nvSpPr>
        <p:spPr>
          <a:xfrm>
            <a:off x="768096" y="2468880"/>
            <a:ext cx="1097280" cy="402336"/>
          </a:xfrm>
          <a:prstGeom prst="rect">
            <a:avLst/>
          </a:prstGeom>
          <a:noFill/>
          <a:ln/>
        </p:spPr>
        <p:txBody>
          <a:bodyPr wrap="square" lIns="0" tIns="0" rIns="0" bIns="0" rtlCol="0" anchor="ctr"/>
          <a:lstStyle/>
          <a:p>
            <a:pPr indent="0" marL="0">
              <a:buNone/>
            </a:pPr>
            <a:r>
              <a:rPr lang="en-US" sz="900" b="1" dirty="0">
                <a:solidFill>
                  <a:srgbClr val="0F2347"/>
                </a:solidFill>
                <a:latin typeface="Montserrat" pitchFamily="34" charset="0"/>
                <a:ea typeface="Montserrat" pitchFamily="34" charset="-122"/>
                <a:cs typeface="Montserrat" pitchFamily="34" charset="-120"/>
              </a:rPr>
              <a:t>A 4 OR 5</a:t>
            </a:r>
            <a:endParaRPr lang="en-US" sz="900" dirty="0"/>
          </a:p>
        </p:txBody>
      </p:sp>
      <p:sp>
        <p:nvSpPr>
          <p:cNvPr id="9" name="Text 7"/>
          <p:cNvSpPr/>
          <p:nvPr/>
        </p:nvSpPr>
        <p:spPr>
          <a:xfrm>
            <a:off x="1984248" y="2468880"/>
            <a:ext cx="6391656" cy="402336"/>
          </a:xfrm>
          <a:prstGeom prst="rect">
            <a:avLst/>
          </a:prstGeom>
          <a:noFill/>
          <a:ln/>
        </p:spPr>
        <p:txBody>
          <a:bodyPr wrap="square" lIns="0" tIns="0" rIns="0" bIns="0" rtlCol="0" anchor="ctr"/>
          <a:lstStyle/>
          <a:p>
            <a:pPr indent="0" marL="0">
              <a:buNone/>
            </a:pPr>
            <a:r>
              <a:rPr lang="en-US" sz="1100" dirty="0">
                <a:solidFill>
                  <a:srgbClr val="0F2347"/>
                </a:solidFill>
                <a:latin typeface="DM Sans" pitchFamily="34" charset="0"/>
                <a:ea typeface="DM Sans" pitchFamily="34" charset="-122"/>
                <a:cs typeface="DM Sans" pitchFamily="34" charset="-120"/>
              </a:rPr>
              <a:t>At least one clear positive instance from within the window.</a:t>
            </a:r>
            <a:endParaRPr lang="en-US" sz="1100" dirty="0"/>
          </a:p>
        </p:txBody>
      </p:sp>
      <p:sp>
        <p:nvSpPr>
          <p:cNvPr id="10" name="Shape 8"/>
          <p:cNvSpPr/>
          <p:nvPr/>
        </p:nvSpPr>
        <p:spPr>
          <a:xfrm>
            <a:off x="566928" y="2944368"/>
            <a:ext cx="8010144" cy="402336"/>
          </a:xfrm>
          <a:prstGeom prst="rect">
            <a:avLst/>
          </a:prstGeom>
          <a:solidFill>
            <a:srgbClr val="E9EDF3"/>
          </a:solidFill>
          <a:ln/>
        </p:spPr>
        <p:txBody>
          <a:bodyPr/>
          <a:p/>
        </p:txBody>
      </p:sp>
      <p:sp>
        <p:nvSpPr>
          <p:cNvPr id="11" name="Text 9"/>
          <p:cNvSpPr/>
          <p:nvPr/>
        </p:nvSpPr>
        <p:spPr>
          <a:xfrm>
            <a:off x="768096" y="2944368"/>
            <a:ext cx="1097280" cy="402336"/>
          </a:xfrm>
          <a:prstGeom prst="rect">
            <a:avLst/>
          </a:prstGeom>
          <a:noFill/>
          <a:ln/>
        </p:spPr>
        <p:txBody>
          <a:bodyPr wrap="square" lIns="0" tIns="0" rIns="0" bIns="0" rtlCol="0" anchor="ctr"/>
          <a:lstStyle/>
          <a:p>
            <a:pPr indent="0" marL="0">
              <a:buNone/>
            </a:pPr>
            <a:r>
              <a:rPr lang="en-US" sz="900" b="1" dirty="0">
                <a:solidFill>
                  <a:srgbClr val="0F2347"/>
                </a:solidFill>
                <a:latin typeface="Montserrat" pitchFamily="34" charset="0"/>
                <a:ea typeface="Montserrat" pitchFamily="34" charset="-122"/>
                <a:cs typeface="Montserrat" pitchFamily="34" charset="-120"/>
              </a:rPr>
              <a:t>A 3</a:t>
            </a:r>
            <a:endParaRPr lang="en-US" sz="900" dirty="0"/>
          </a:p>
        </p:txBody>
      </p:sp>
      <p:sp>
        <p:nvSpPr>
          <p:cNvPr id="12" name="Text 10"/>
          <p:cNvSpPr/>
          <p:nvPr/>
        </p:nvSpPr>
        <p:spPr>
          <a:xfrm>
            <a:off x="1984248" y="2944368"/>
            <a:ext cx="6391656" cy="402336"/>
          </a:xfrm>
          <a:prstGeom prst="rect">
            <a:avLst/>
          </a:prstGeom>
          <a:noFill/>
          <a:ln/>
        </p:spPr>
        <p:txBody>
          <a:bodyPr wrap="square" lIns="0" tIns="0" rIns="0" bIns="0" rtlCol="0" anchor="ctr"/>
          <a:lstStyle/>
          <a:p>
            <a:pPr indent="0" marL="0">
              <a:buNone/>
            </a:pPr>
            <a:r>
              <a:rPr lang="en-US" sz="1100" dirty="0">
                <a:solidFill>
                  <a:srgbClr val="0F2347"/>
                </a:solidFill>
                <a:latin typeface="DM Sans" pitchFamily="34" charset="0"/>
                <a:ea typeface="DM Sans" pitchFamily="34" charset="-122"/>
                <a:cs typeface="DM Sans" pitchFamily="34" charset="-120"/>
              </a:rPr>
              <a:t>The mixed or inconsistent pattern. A 3 is a reading, not an absence of one.</a:t>
            </a:r>
            <a:endParaRPr lang="en-US" sz="1100" dirty="0"/>
          </a:p>
        </p:txBody>
      </p:sp>
      <p:sp>
        <p:nvSpPr>
          <p:cNvPr id="13" name="Shape 11"/>
          <p:cNvSpPr/>
          <p:nvPr/>
        </p:nvSpPr>
        <p:spPr>
          <a:xfrm>
            <a:off x="566928" y="3419856"/>
            <a:ext cx="8010144" cy="402336"/>
          </a:xfrm>
          <a:prstGeom prst="rect">
            <a:avLst/>
          </a:prstGeom>
          <a:solidFill>
            <a:srgbClr val="E9EDF3"/>
          </a:solidFill>
          <a:ln/>
        </p:spPr>
        <p:txBody>
          <a:bodyPr/>
          <a:p/>
        </p:txBody>
      </p:sp>
      <p:sp>
        <p:nvSpPr>
          <p:cNvPr id="14" name="Text 12"/>
          <p:cNvSpPr/>
          <p:nvPr/>
        </p:nvSpPr>
        <p:spPr>
          <a:xfrm>
            <a:off x="768096" y="3419856"/>
            <a:ext cx="1097280" cy="402336"/>
          </a:xfrm>
          <a:prstGeom prst="rect">
            <a:avLst/>
          </a:prstGeom>
          <a:noFill/>
          <a:ln/>
        </p:spPr>
        <p:txBody>
          <a:bodyPr wrap="square" lIns="0" tIns="0" rIns="0" bIns="0" rtlCol="0" anchor="ctr"/>
          <a:lstStyle/>
          <a:p>
            <a:pPr indent="0" marL="0">
              <a:buNone/>
            </a:pPr>
            <a:r>
              <a:rPr lang="en-US" sz="900" b="1" dirty="0">
                <a:solidFill>
                  <a:srgbClr val="0F2347"/>
                </a:solidFill>
                <a:latin typeface="Montserrat" pitchFamily="34" charset="0"/>
                <a:ea typeface="Montserrat" pitchFamily="34" charset="-122"/>
                <a:cs typeface="Montserrat" pitchFamily="34" charset="-120"/>
              </a:rPr>
              <a:t>A 1 OR 2</a:t>
            </a:r>
            <a:endParaRPr lang="en-US" sz="900" dirty="0"/>
          </a:p>
        </p:txBody>
      </p:sp>
      <p:sp>
        <p:nvSpPr>
          <p:cNvPr id="15" name="Text 13"/>
          <p:cNvSpPr/>
          <p:nvPr/>
        </p:nvSpPr>
        <p:spPr>
          <a:xfrm>
            <a:off x="1984248" y="3419856"/>
            <a:ext cx="6391656" cy="402336"/>
          </a:xfrm>
          <a:prstGeom prst="rect">
            <a:avLst/>
          </a:prstGeom>
          <a:noFill/>
          <a:ln/>
        </p:spPr>
        <p:txBody>
          <a:bodyPr wrap="square" lIns="0" tIns="0" rIns="0" bIns="0" rtlCol="0" anchor="ctr"/>
          <a:lstStyle/>
          <a:p>
            <a:pPr indent="0" marL="0">
              <a:buNone/>
            </a:pPr>
            <a:r>
              <a:rPr lang="en-US" sz="1100" dirty="0">
                <a:solidFill>
                  <a:srgbClr val="0F2347"/>
                </a:solidFill>
                <a:latin typeface="DM Sans" pitchFamily="34" charset="0"/>
                <a:ea typeface="DM Sans" pitchFamily="34" charset="-122"/>
                <a:cs typeface="DM Sans" pitchFamily="34" charset="-120"/>
              </a:rPr>
              <a:t>What repeatedly happened instead, a counterexample, or no qualifying instance in the window.</a:t>
            </a:r>
            <a:endParaRPr lang="en-US" sz="1100" dirty="0"/>
          </a:p>
        </p:txBody>
      </p:sp>
      <p:sp>
        <p:nvSpPr>
          <p:cNvPr id="16" name="Shape 14"/>
          <p:cNvSpPr/>
          <p:nvPr/>
        </p:nvSpPr>
        <p:spPr>
          <a:xfrm>
            <a:off x="566928" y="3895344"/>
            <a:ext cx="8010144" cy="402336"/>
          </a:xfrm>
          <a:prstGeom prst="rect">
            <a:avLst/>
          </a:prstGeom>
          <a:solidFill>
            <a:srgbClr val="C1440E"/>
          </a:solidFill>
          <a:ln/>
        </p:spPr>
        <p:txBody>
          <a:bodyPr/>
          <a:p/>
        </p:txBody>
      </p:sp>
      <p:sp>
        <p:nvSpPr>
          <p:cNvPr id="17" name="Text 15"/>
          <p:cNvSpPr/>
          <p:nvPr/>
        </p:nvSpPr>
        <p:spPr>
          <a:xfrm>
            <a:off x="768096" y="3895344"/>
            <a:ext cx="1097280" cy="402336"/>
          </a:xfrm>
          <a:prstGeom prst="rect">
            <a:avLst/>
          </a:prstGeom>
          <a:noFill/>
          <a:ln/>
        </p:spPr>
        <p:txBody>
          <a:bodyPr wrap="square" lIns="0" tIns="0" rIns="0" bIns="0" rtlCol="0" anchor="ctr"/>
          <a:lstStyle/>
          <a:p>
            <a:pPr indent="0" marL="0">
              <a:buNone/>
            </a:pPr>
            <a:r>
              <a:rPr lang="en-US" sz="900" b="1" dirty="0">
                <a:solidFill>
                  <a:srgbClr val="F5F0E8"/>
                </a:solidFill>
                <a:latin typeface="Montserrat" pitchFamily="34" charset="0"/>
                <a:ea typeface="Montserrat" pitchFamily="34" charset="-122"/>
                <a:cs typeface="Montserrat" pitchFamily="34" charset="-120"/>
              </a:rPr>
              <a:t>A  ?</a:t>
            </a:r>
            <a:endParaRPr lang="en-US" sz="900" dirty="0"/>
          </a:p>
        </p:txBody>
      </p:sp>
      <p:sp>
        <p:nvSpPr>
          <p:cNvPr id="18" name="Text 16"/>
          <p:cNvSpPr/>
          <p:nvPr/>
        </p:nvSpPr>
        <p:spPr>
          <a:xfrm>
            <a:off x="1984248" y="3895344"/>
            <a:ext cx="6391656" cy="402336"/>
          </a:xfrm>
          <a:prstGeom prst="rect">
            <a:avLst/>
          </a:prstGeom>
          <a:noFill/>
          <a:ln/>
        </p:spPr>
        <p:txBody>
          <a:bodyPr wrap="square" lIns="0" tIns="0" rIns="0" bIns="0" rtlCol="0" anchor="ctr"/>
          <a:lstStyle/>
          <a:p>
            <a:pPr indent="0" marL="0">
              <a:buNone/>
            </a:pPr>
            <a:r>
              <a:rPr lang="en-US" sz="1100" b="1" dirty="0">
                <a:solidFill>
                  <a:srgbClr val="F5F0E8"/>
                </a:solidFill>
                <a:latin typeface="DM Sans" pitchFamily="34" charset="0"/>
                <a:ea typeface="DM Sans" pitchFamily="34" charset="-122"/>
                <a:cs typeface="DM Sans" pitchFamily="34" charset="-120"/>
              </a:rPr>
              <a:t>Cannot support it either way? Write your most defensible number and add one question mark: 3?, 4?, 2?</a:t>
            </a:r>
            <a:endParaRPr lang="en-US" sz="1100" dirty="0"/>
          </a:p>
        </p:txBody>
      </p:sp>
      <p:sp>
        <p:nvSpPr>
          <p:cNvPr id="19" name="Text 17"/>
          <p:cNvSpPr/>
          <p:nvPr/>
        </p:nvSpPr>
        <p:spPr>
          <a:xfrm>
            <a:off x="566928" y="4443984"/>
            <a:ext cx="8010144" cy="237744"/>
          </a:xfrm>
          <a:prstGeom prst="rect">
            <a:avLst/>
          </a:prstGeom>
          <a:noFill/>
          <a:ln/>
        </p:spPr>
        <p:txBody>
          <a:bodyPr wrap="square" lIns="0" tIns="0" rIns="0" bIns="0" rtlCol="0" anchor="ctr"/>
          <a:lstStyle/>
          <a:p>
            <a:pPr algn="ctr" indent="0" marL="0">
              <a:buNone/>
            </a:pPr>
            <a:r>
              <a:rPr lang="en-US" sz="1150" b="1" dirty="0">
                <a:solidFill>
                  <a:srgbClr val="0F2347"/>
                </a:solidFill>
                <a:latin typeface="DM Sans" pitchFamily="34" charset="0"/>
                <a:ea typeface="DM Sans" pitchFamily="34" charset="-122"/>
                <a:cs typeface="DM Sans" pitchFamily="34" charset="-120"/>
              </a:rPr>
              <a:t>A 3 means mixed. A question mark means unsupported.</a:t>
            </a:r>
            <a:endParaRPr lang="en-US" sz="1150" dirty="0"/>
          </a:p>
        </p:txBody>
      </p:sp>
      <p:sp>
        <p:nvSpPr>
          <p:cNvPr id="21" name="Text 18"/>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22" name="Text 19"/>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14</a:t>
            </a:r>
            <a:endParaRPr lang="en-US" sz="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CALIBRATION</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856"/>
              </a:lnSpc>
              <a:buNone/>
            </a:pPr>
            <a:r>
              <a:rPr lang="en-US" sz="2800" b="1" dirty="0">
                <a:solidFill>
                  <a:srgbClr val="0F2347"/>
                </a:solidFill>
                <a:latin typeface="Cormorant Garamond" pitchFamily="34" charset="0"/>
                <a:ea typeface="Cormorant Garamond" pitchFamily="34" charset="-122"/>
                <a:cs typeface="Cormorant Garamond" pitchFamily="34" charset="-120"/>
              </a:rPr>
              <a:t>Three ways a self-score goes wrong</a:t>
            </a:r>
            <a:endParaRPr lang="en-US" sz="2800" dirty="0"/>
          </a:p>
        </p:txBody>
      </p:sp>
      <p:sp>
        <p:nvSpPr>
          <p:cNvPr id="4" name="Text 2"/>
          <p:cNvSpPr/>
          <p:nvPr/>
        </p:nvSpPr>
        <p:spPr>
          <a:xfrm>
            <a:off x="566928" y="1353312"/>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Run all three against your first numbers before you rescore.</a:t>
            </a:r>
            <a:endParaRPr lang="en-US" sz="1150" dirty="0"/>
          </a:p>
        </p:txBody>
      </p:sp>
      <p:sp>
        <p:nvSpPr>
          <p:cNvPr id="5" name="Shape 3"/>
          <p:cNvSpPr/>
          <p:nvPr/>
        </p:nvSpPr>
        <p:spPr>
          <a:xfrm>
            <a:off x="566928" y="1719072"/>
            <a:ext cx="8010144" cy="859536"/>
          </a:xfrm>
          <a:prstGeom prst="rect">
            <a:avLst/>
          </a:prstGeom>
          <a:solidFill>
            <a:srgbClr val="E9EDF3"/>
          </a:solidFill>
          <a:ln/>
        </p:spPr>
        <p:txBody>
          <a:bodyPr/>
          <a:p/>
        </p:txBody>
      </p:sp>
      <p:sp>
        <p:nvSpPr>
          <p:cNvPr id="6" name="Shape 4"/>
          <p:cNvSpPr/>
          <p:nvPr/>
        </p:nvSpPr>
        <p:spPr>
          <a:xfrm>
            <a:off x="566928" y="1719072"/>
            <a:ext cx="41148" cy="859536"/>
          </a:xfrm>
          <a:prstGeom prst="rect">
            <a:avLst/>
          </a:prstGeom>
          <a:solidFill>
            <a:srgbClr val="C9A84C"/>
          </a:solidFill>
          <a:ln/>
        </p:spPr>
        <p:txBody>
          <a:bodyPr/>
          <a:p/>
        </p:txBody>
      </p:sp>
      <p:sp>
        <p:nvSpPr>
          <p:cNvPr id="7" name="Text 5"/>
          <p:cNvSpPr/>
          <p:nvPr/>
        </p:nvSpPr>
        <p:spPr>
          <a:xfrm>
            <a:off x="804672" y="1783080"/>
            <a:ext cx="7552944" cy="201168"/>
          </a:xfrm>
          <a:prstGeom prst="rect">
            <a:avLst/>
          </a:prstGeom>
          <a:noFill/>
          <a:ln/>
        </p:spPr>
        <p:txBody>
          <a:bodyPr wrap="square" lIns="0" tIns="0" rIns="0" bIns="0" rtlCol="0" anchor="ctr"/>
          <a:lstStyle/>
          <a:p>
            <a:pPr indent="0" marL="0">
              <a:buNone/>
            </a:pPr>
            <a:r>
              <a:rPr lang="en-US" sz="860" b="1" spc="110" kern="0" dirty="0">
                <a:solidFill>
                  <a:srgbClr val="0F2347"/>
                </a:solidFill>
                <a:latin typeface="Montserrat" pitchFamily="34" charset="0"/>
                <a:ea typeface="Montserrat" pitchFamily="34" charset="-122"/>
                <a:cs typeface="Montserrat" pitchFamily="34" charset="-120"/>
              </a:rPr>
              <a:t>1.  SCORING THE INTENDED LIFE</a:t>
            </a:r>
            <a:endParaRPr lang="en-US" sz="860" dirty="0"/>
          </a:p>
        </p:txBody>
      </p:sp>
      <p:sp>
        <p:nvSpPr>
          <p:cNvPr id="8" name="Text 6"/>
          <p:cNvSpPr/>
          <p:nvPr/>
        </p:nvSpPr>
        <p:spPr>
          <a:xfrm>
            <a:off x="804672" y="1993392"/>
            <a:ext cx="7552944" cy="201168"/>
          </a:xfrm>
          <a:prstGeom prst="rect">
            <a:avLst/>
          </a:prstGeom>
          <a:noFill/>
          <a:ln/>
        </p:spPr>
        <p:txBody>
          <a:bodyPr wrap="square" lIns="0" tIns="0" rIns="0" bIns="0" rtlCol="0" anchor="ctr"/>
          <a:lstStyle/>
          <a:p>
            <a:pPr indent="0" marL="0">
              <a:buNone/>
            </a:pPr>
            <a:r>
              <a:rPr lang="en-US" sz="1040" i="1" dirty="0">
                <a:solidFill>
                  <a:srgbClr val="5A6B84"/>
                </a:solidFill>
                <a:latin typeface="DM Sans" pitchFamily="34" charset="0"/>
                <a:ea typeface="DM Sans" pitchFamily="34" charset="-122"/>
                <a:cs typeface="DM Sans" pitchFamily="34" charset="-120"/>
              </a:rPr>
              <a:t>“My rotation was approved last month. Statement 1 gets a 4.”</a:t>
            </a:r>
            <a:endParaRPr lang="en-US" sz="1040" dirty="0"/>
          </a:p>
        </p:txBody>
      </p:sp>
      <p:sp>
        <p:nvSpPr>
          <p:cNvPr id="9" name="Text 7"/>
          <p:cNvSpPr/>
          <p:nvPr/>
        </p:nvSpPr>
        <p:spPr>
          <a:xfrm>
            <a:off x="804672" y="2203704"/>
            <a:ext cx="7552944" cy="310896"/>
          </a:xfrm>
          <a:prstGeom prst="rect">
            <a:avLst/>
          </a:prstGeom>
          <a:noFill/>
          <a:ln/>
        </p:spPr>
        <p:txBody>
          <a:bodyPr wrap="square" lIns="0" tIns="0" rIns="0" bIns="0" rtlCol="0" anchor="ctr"/>
          <a:lstStyle/>
          <a:p>
            <a:pPr indent="0" marL="0">
              <a:lnSpc>
                <a:spcPts val="1350"/>
              </a:lnSpc>
              <a:buNone/>
            </a:pPr>
            <a:r>
              <a:rPr lang="en-US" sz="1060" b="1" dirty="0">
                <a:solidFill>
                  <a:srgbClr val="0F2347"/>
                </a:solidFill>
                <a:latin typeface="DM Sans" pitchFamily="34" charset="0"/>
                <a:ea typeface="DM Sans" pitchFamily="34" charset="-122"/>
                <a:cs typeface="DM Sans" pitchFamily="34" charset="-120"/>
              </a:rPr>
              <a:t>The window is the last ninety days of work that happened — not work that was approved, promised or planned.</a:t>
            </a:r>
            <a:endParaRPr lang="en-US" sz="1060" dirty="0"/>
          </a:p>
        </p:txBody>
      </p:sp>
      <p:sp>
        <p:nvSpPr>
          <p:cNvPr id="10" name="Shape 8"/>
          <p:cNvSpPr/>
          <p:nvPr/>
        </p:nvSpPr>
        <p:spPr>
          <a:xfrm>
            <a:off x="566928" y="2624328"/>
            <a:ext cx="8010144" cy="859536"/>
          </a:xfrm>
          <a:prstGeom prst="rect">
            <a:avLst/>
          </a:prstGeom>
          <a:solidFill>
            <a:srgbClr val="E9EDF3"/>
          </a:solidFill>
          <a:ln/>
        </p:spPr>
        <p:txBody>
          <a:bodyPr/>
          <a:p/>
        </p:txBody>
      </p:sp>
      <p:sp>
        <p:nvSpPr>
          <p:cNvPr id="11" name="Shape 9"/>
          <p:cNvSpPr/>
          <p:nvPr/>
        </p:nvSpPr>
        <p:spPr>
          <a:xfrm>
            <a:off x="566928" y="2624328"/>
            <a:ext cx="41148" cy="859536"/>
          </a:xfrm>
          <a:prstGeom prst="rect">
            <a:avLst/>
          </a:prstGeom>
          <a:solidFill>
            <a:srgbClr val="C9A84C"/>
          </a:solidFill>
          <a:ln/>
        </p:spPr>
        <p:txBody>
          <a:bodyPr/>
          <a:p/>
        </p:txBody>
      </p:sp>
      <p:sp>
        <p:nvSpPr>
          <p:cNvPr id="12" name="Text 10"/>
          <p:cNvSpPr/>
          <p:nvPr/>
        </p:nvSpPr>
        <p:spPr>
          <a:xfrm>
            <a:off x="804672" y="2688336"/>
            <a:ext cx="7552944" cy="201168"/>
          </a:xfrm>
          <a:prstGeom prst="rect">
            <a:avLst/>
          </a:prstGeom>
          <a:noFill/>
          <a:ln/>
        </p:spPr>
        <p:txBody>
          <a:bodyPr wrap="square" lIns="0" tIns="0" rIns="0" bIns="0" rtlCol="0" anchor="ctr"/>
          <a:lstStyle/>
          <a:p>
            <a:pPr indent="0" marL="0">
              <a:buNone/>
            </a:pPr>
            <a:r>
              <a:rPr lang="en-US" sz="860" b="1" spc="110" kern="0" dirty="0">
                <a:solidFill>
                  <a:srgbClr val="0F2347"/>
                </a:solidFill>
                <a:latin typeface="Montserrat" pitchFamily="34" charset="0"/>
                <a:ea typeface="Montserrat" pitchFamily="34" charset="-122"/>
                <a:cs typeface="Montserrat" pitchFamily="34" charset="-120"/>
              </a:rPr>
              <a:t>2.  CONFUSING VALUED WITH FORMED</a:t>
            </a:r>
            <a:endParaRPr lang="en-US" sz="860" dirty="0"/>
          </a:p>
        </p:txBody>
      </p:sp>
      <p:sp>
        <p:nvSpPr>
          <p:cNvPr id="13" name="Text 11"/>
          <p:cNvSpPr/>
          <p:nvPr/>
        </p:nvSpPr>
        <p:spPr>
          <a:xfrm>
            <a:off x="804672" y="2898648"/>
            <a:ext cx="7552944" cy="201168"/>
          </a:xfrm>
          <a:prstGeom prst="rect">
            <a:avLst/>
          </a:prstGeom>
          <a:noFill/>
          <a:ln/>
        </p:spPr>
        <p:txBody>
          <a:bodyPr wrap="square" lIns="0" tIns="0" rIns="0" bIns="0" rtlCol="0" anchor="ctr"/>
          <a:lstStyle/>
          <a:p>
            <a:pPr indent="0" marL="0">
              <a:buNone/>
            </a:pPr>
            <a:r>
              <a:rPr lang="en-US" sz="1040" i="1" dirty="0">
                <a:solidFill>
                  <a:srgbClr val="5A6B84"/>
                </a:solidFill>
                <a:latin typeface="DM Sans" pitchFamily="34" charset="0"/>
                <a:ea typeface="DM Sans" pitchFamily="34" charset="-122"/>
                <a:cs typeface="DM Sans" pitchFamily="34" charset="-120"/>
              </a:rPr>
              <a:t>“Three VPs ask for my read before anything ships. Statement 3 gets a 5.”</a:t>
            </a:r>
            <a:endParaRPr lang="en-US" sz="1040" dirty="0"/>
          </a:p>
        </p:txBody>
      </p:sp>
      <p:sp>
        <p:nvSpPr>
          <p:cNvPr id="14" name="Text 12"/>
          <p:cNvSpPr/>
          <p:nvPr/>
        </p:nvSpPr>
        <p:spPr>
          <a:xfrm>
            <a:off x="804672" y="3108960"/>
            <a:ext cx="7552944" cy="310896"/>
          </a:xfrm>
          <a:prstGeom prst="rect">
            <a:avLst/>
          </a:prstGeom>
          <a:noFill/>
          <a:ln/>
        </p:spPr>
        <p:txBody>
          <a:bodyPr wrap="square" lIns="0" tIns="0" rIns="0" bIns="0" rtlCol="0" anchor="ctr"/>
          <a:lstStyle/>
          <a:p>
            <a:pPr indent="0" marL="0">
              <a:lnSpc>
                <a:spcPts val="1350"/>
              </a:lnSpc>
              <a:buNone/>
            </a:pPr>
            <a:r>
              <a:rPr lang="en-US" sz="1060" b="1" dirty="0">
                <a:solidFill>
                  <a:srgbClr val="0F2347"/>
                </a:solidFill>
                <a:latin typeface="DM Sans" pitchFamily="34" charset="0"/>
                <a:ea typeface="DM Sans" pitchFamily="34" charset="-122"/>
                <a:cs typeface="DM Sans" pitchFamily="34" charset="-120"/>
              </a:rPr>
              <a:t>Being relied on is real. It is not the same as being developed.</a:t>
            </a:r>
            <a:endParaRPr lang="en-US" sz="1060" dirty="0"/>
          </a:p>
        </p:txBody>
      </p:sp>
      <p:sp>
        <p:nvSpPr>
          <p:cNvPr id="15" name="Shape 13"/>
          <p:cNvSpPr/>
          <p:nvPr/>
        </p:nvSpPr>
        <p:spPr>
          <a:xfrm>
            <a:off x="566928" y="3529584"/>
            <a:ext cx="8010144" cy="859536"/>
          </a:xfrm>
          <a:prstGeom prst="rect">
            <a:avLst/>
          </a:prstGeom>
          <a:solidFill>
            <a:srgbClr val="E9EDF3"/>
          </a:solidFill>
          <a:ln/>
        </p:spPr>
        <p:txBody>
          <a:bodyPr/>
          <a:p/>
        </p:txBody>
      </p:sp>
      <p:sp>
        <p:nvSpPr>
          <p:cNvPr id="16" name="Shape 14"/>
          <p:cNvSpPr/>
          <p:nvPr/>
        </p:nvSpPr>
        <p:spPr>
          <a:xfrm>
            <a:off x="566928" y="3529584"/>
            <a:ext cx="41148" cy="859536"/>
          </a:xfrm>
          <a:prstGeom prst="rect">
            <a:avLst/>
          </a:prstGeom>
          <a:solidFill>
            <a:srgbClr val="C9A84C"/>
          </a:solidFill>
          <a:ln/>
        </p:spPr>
        <p:txBody>
          <a:bodyPr/>
          <a:p/>
        </p:txBody>
      </p:sp>
      <p:sp>
        <p:nvSpPr>
          <p:cNvPr id="17" name="Text 15"/>
          <p:cNvSpPr/>
          <p:nvPr/>
        </p:nvSpPr>
        <p:spPr>
          <a:xfrm>
            <a:off x="804672" y="3593592"/>
            <a:ext cx="7552944" cy="201168"/>
          </a:xfrm>
          <a:prstGeom prst="rect">
            <a:avLst/>
          </a:prstGeom>
          <a:noFill/>
          <a:ln/>
        </p:spPr>
        <p:txBody>
          <a:bodyPr wrap="square" lIns="0" tIns="0" rIns="0" bIns="0" rtlCol="0" anchor="ctr"/>
          <a:lstStyle/>
          <a:p>
            <a:pPr indent="0" marL="0">
              <a:buNone/>
            </a:pPr>
            <a:r>
              <a:rPr lang="en-US" sz="860" b="1" spc="110" kern="0" dirty="0">
                <a:solidFill>
                  <a:srgbClr val="0F2347"/>
                </a:solidFill>
                <a:latin typeface="Montserrat" pitchFamily="34" charset="0"/>
                <a:ea typeface="Montserrat" pitchFamily="34" charset="-122"/>
                <a:cs typeface="Montserrat" pitchFamily="34" charset="-120"/>
              </a:rPr>
              <a:t>3.  READING LOW OPTIONALITY AS A VERDICT</a:t>
            </a:r>
            <a:endParaRPr lang="en-US" sz="860" dirty="0"/>
          </a:p>
        </p:txBody>
      </p:sp>
      <p:sp>
        <p:nvSpPr>
          <p:cNvPr id="18" name="Text 16"/>
          <p:cNvSpPr/>
          <p:nvPr/>
        </p:nvSpPr>
        <p:spPr>
          <a:xfrm>
            <a:off x="804672" y="3803904"/>
            <a:ext cx="7552944" cy="201168"/>
          </a:xfrm>
          <a:prstGeom prst="rect">
            <a:avLst/>
          </a:prstGeom>
          <a:noFill/>
          <a:ln/>
        </p:spPr>
        <p:txBody>
          <a:bodyPr wrap="square" lIns="0" tIns="0" rIns="0" bIns="0" rtlCol="0" anchor="ctr"/>
          <a:lstStyle/>
          <a:p>
            <a:pPr indent="0" marL="0">
              <a:buNone/>
            </a:pPr>
            <a:r>
              <a:rPr lang="en-US" sz="1040" i="1" dirty="0">
                <a:solidFill>
                  <a:srgbClr val="5A6B84"/>
                </a:solidFill>
                <a:latin typeface="DM Sans" pitchFamily="34" charset="0"/>
                <a:ea typeface="DM Sans" pitchFamily="34" charset="-122"/>
                <a:cs typeface="DM Sans" pitchFamily="34" charset="-120"/>
              </a:rPr>
              <a:t>“Statement 10 is a 2 because I am not senior enough.”</a:t>
            </a:r>
            <a:endParaRPr lang="en-US" sz="1040" dirty="0"/>
          </a:p>
        </p:txBody>
      </p:sp>
      <p:sp>
        <p:nvSpPr>
          <p:cNvPr id="19" name="Text 17"/>
          <p:cNvSpPr/>
          <p:nvPr/>
        </p:nvSpPr>
        <p:spPr>
          <a:xfrm>
            <a:off x="804672" y="4014216"/>
            <a:ext cx="7552944" cy="310896"/>
          </a:xfrm>
          <a:prstGeom prst="rect">
            <a:avLst/>
          </a:prstGeom>
          <a:noFill/>
          <a:ln/>
        </p:spPr>
        <p:txBody>
          <a:bodyPr wrap="square" lIns="0" tIns="0" rIns="0" bIns="0" rtlCol="0" anchor="ctr"/>
          <a:lstStyle/>
          <a:p>
            <a:pPr indent="0" marL="0">
              <a:lnSpc>
                <a:spcPts val="1350"/>
              </a:lnSpc>
              <a:buNone/>
            </a:pPr>
            <a:r>
              <a:rPr lang="en-US" sz="1060" b="1" dirty="0">
                <a:solidFill>
                  <a:srgbClr val="0F2347"/>
                </a:solidFill>
                <a:latin typeface="DM Sans" pitchFamily="34" charset="0"/>
                <a:ea typeface="DM Sans" pitchFamily="34" charset="-122"/>
                <a:cs typeface="DM Sans" pitchFamily="34" charset="-120"/>
              </a:rPr>
              <a:t>A low Optionality score may reflect context-bound capability, weak translation, limited exposure, or a combination. It is not a verdict on ability or worth.</a:t>
            </a:r>
            <a:endParaRPr lang="en-US" sz="1060" dirty="0"/>
          </a:p>
        </p:txBody>
      </p:sp>
      <p:sp>
        <p:nvSpPr>
          <p:cNvPr id="20" name="Text 18"/>
          <p:cNvSpPr/>
          <p:nvPr/>
        </p:nvSpPr>
        <p:spPr>
          <a:xfrm>
            <a:off x="566928" y="4443984"/>
            <a:ext cx="8010144" cy="219456"/>
          </a:xfrm>
          <a:prstGeom prst="rect">
            <a:avLst/>
          </a:prstGeom>
          <a:noFill/>
          <a:ln/>
        </p:spPr>
        <p:txBody>
          <a:bodyPr wrap="square" lIns="0" tIns="0" rIns="0" bIns="0" rtlCol="0" anchor="ctr"/>
          <a:lstStyle/>
          <a:p>
            <a:pPr indent="0" marL="0">
              <a:buNone/>
            </a:pPr>
            <a:r>
              <a:rPr lang="en-US" sz="1040" i="1" dirty="0">
                <a:solidFill>
                  <a:srgbClr val="5A6B84"/>
                </a:solidFill>
                <a:latin typeface="DM Sans" pitchFamily="34" charset="0"/>
                <a:ea typeface="DM Sans" pitchFamily="34" charset="-122"/>
                <a:cs typeface="DM Sans" pitchFamily="34" charset="-120"/>
              </a:rPr>
              <a:t>Three is the set. Run them, then rescore.</a:t>
            </a:r>
            <a:endParaRPr lang="en-US" sz="1040" dirty="0"/>
          </a:p>
        </p:txBody>
      </p:sp>
      <p:sp>
        <p:nvSpPr>
          <p:cNvPr id="22" name="Text 19"/>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23" name="Text 20"/>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15</a:t>
            </a:r>
            <a:endParaRPr lang="en-US" sz="7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EVIDENCE-BACKED READ</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3060"/>
              </a:lnSpc>
              <a:buNone/>
            </a:pPr>
            <a:r>
              <a:rPr lang="en-US" sz="3000" b="1" dirty="0">
                <a:solidFill>
                  <a:srgbClr val="0F2347"/>
                </a:solidFill>
                <a:latin typeface="Cormorant Garamond" pitchFamily="34" charset="0"/>
                <a:ea typeface="Cormorant Garamond" pitchFamily="34" charset="-122"/>
                <a:cs typeface="Cormorant Garamond" pitchFamily="34" charset="-120"/>
              </a:rPr>
              <a:t>Score all twelve again</a:t>
            </a:r>
            <a:endParaRPr lang="en-US" sz="30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Evidence in both directions. Do not change your first number.</a:t>
            </a:r>
            <a:endParaRPr lang="en-US" sz="1150" dirty="0"/>
          </a:p>
        </p:txBody>
      </p:sp>
      <p:sp>
        <p:nvSpPr>
          <p:cNvPr id="5" name="Shape 3"/>
          <p:cNvSpPr/>
          <p:nvPr/>
        </p:nvSpPr>
        <p:spPr>
          <a:xfrm>
            <a:off x="566928" y="1847088"/>
            <a:ext cx="8010144" cy="877824"/>
          </a:xfrm>
          <a:prstGeom prst="rect">
            <a:avLst/>
          </a:prstGeom>
          <a:solidFill>
            <a:srgbClr val="0F2347"/>
          </a:solidFill>
          <a:ln/>
        </p:spPr>
        <p:txBody>
          <a:bodyPr/>
          <a:p/>
        </p:txBody>
      </p:sp>
      <p:sp>
        <p:nvSpPr>
          <p:cNvPr id="6" name="Text 4"/>
          <p:cNvSpPr/>
          <p:nvPr/>
        </p:nvSpPr>
        <p:spPr>
          <a:xfrm>
            <a:off x="822960" y="1956816"/>
            <a:ext cx="3108960" cy="182880"/>
          </a:xfrm>
          <a:prstGeom prst="rect">
            <a:avLst/>
          </a:prstGeom>
          <a:noFill/>
          <a:ln/>
        </p:spPr>
        <p:txBody>
          <a:bodyPr wrap="square" lIns="0" tIns="0" rIns="0" bIns="0" rtlCol="0" anchor="ctr"/>
          <a:lstStyle/>
          <a:p>
            <a:pPr indent="0" marL="0">
              <a:buNone/>
            </a:pPr>
            <a:r>
              <a:rPr lang="en-US" sz="840" b="1" spc="120" kern="0" dirty="0">
                <a:solidFill>
                  <a:srgbClr val="C9A84C"/>
                </a:solidFill>
                <a:latin typeface="Montserrat" pitchFamily="34" charset="0"/>
                <a:ea typeface="Montserrat" pitchFamily="34" charset="-122"/>
                <a:cs typeface="Montserrat" pitchFamily="34" charset="-120"/>
              </a:rPr>
              <a:t>THE PROTOCOL, IN SHORT</a:t>
            </a:r>
            <a:endParaRPr lang="en-US" sz="840" dirty="0"/>
          </a:p>
        </p:txBody>
      </p:sp>
      <p:sp>
        <p:nvSpPr>
          <p:cNvPr id="7" name="Text 5"/>
          <p:cNvSpPr/>
          <p:nvPr/>
        </p:nvSpPr>
        <p:spPr>
          <a:xfrm>
            <a:off x="822960" y="2231136"/>
            <a:ext cx="658368" cy="219456"/>
          </a:xfrm>
          <a:prstGeom prst="rect">
            <a:avLst/>
          </a:prstGeom>
          <a:noFill/>
          <a:ln/>
        </p:spPr>
        <p:txBody>
          <a:bodyPr wrap="square" lIns="0" tIns="0" rIns="0" bIns="0" rtlCol="0" anchor="ctr"/>
          <a:lstStyle/>
          <a:p>
            <a:pPr indent="0" marL="0">
              <a:buNone/>
            </a:pPr>
            <a:r>
              <a:rPr lang="en-US" sz="950" b="1" dirty="0">
                <a:solidFill>
                  <a:srgbClr val="C9A84C"/>
                </a:solidFill>
                <a:latin typeface="Montserrat" pitchFamily="34" charset="0"/>
                <a:ea typeface="Montserrat" pitchFamily="34" charset="-122"/>
                <a:cs typeface="Montserrat" pitchFamily="34" charset="-120"/>
              </a:rPr>
              <a:t>4 or 5</a:t>
            </a:r>
            <a:endParaRPr lang="en-US" sz="950" dirty="0"/>
          </a:p>
        </p:txBody>
      </p:sp>
      <p:sp>
        <p:nvSpPr>
          <p:cNvPr id="8" name="Text 6"/>
          <p:cNvSpPr/>
          <p:nvPr/>
        </p:nvSpPr>
        <p:spPr>
          <a:xfrm>
            <a:off x="1517904" y="2231136"/>
            <a:ext cx="3108960" cy="219456"/>
          </a:xfrm>
          <a:prstGeom prst="rect">
            <a:avLst/>
          </a:prstGeom>
          <a:noFill/>
          <a:ln/>
        </p:spPr>
        <p:txBody>
          <a:bodyPr wrap="square" lIns="0" tIns="0" rIns="0" bIns="0" rtlCol="0" anchor="ctr"/>
          <a:lstStyle/>
          <a:p>
            <a:pPr indent="0" marL="0">
              <a:buNone/>
            </a:pPr>
            <a:r>
              <a:rPr lang="en-US" sz="1000" dirty="0">
                <a:solidFill>
                  <a:srgbClr val="F5F0E8"/>
                </a:solidFill>
                <a:latin typeface="DM Sans" pitchFamily="34" charset="0"/>
                <a:ea typeface="DM Sans" pitchFamily="34" charset="-122"/>
                <a:cs typeface="DM Sans" pitchFamily="34" charset="-120"/>
              </a:rPr>
              <a:t>one clear positive instance</a:t>
            </a:r>
            <a:endParaRPr lang="en-US" sz="1000" dirty="0"/>
          </a:p>
        </p:txBody>
      </p:sp>
      <p:sp>
        <p:nvSpPr>
          <p:cNvPr id="9" name="Text 7"/>
          <p:cNvSpPr/>
          <p:nvPr/>
        </p:nvSpPr>
        <p:spPr>
          <a:xfrm>
            <a:off x="4754880" y="2231136"/>
            <a:ext cx="658368" cy="219456"/>
          </a:xfrm>
          <a:prstGeom prst="rect">
            <a:avLst/>
          </a:prstGeom>
          <a:noFill/>
          <a:ln/>
        </p:spPr>
        <p:txBody>
          <a:bodyPr wrap="square" lIns="0" tIns="0" rIns="0" bIns="0" rtlCol="0" anchor="ctr"/>
          <a:lstStyle/>
          <a:p>
            <a:pPr indent="0" marL="0">
              <a:buNone/>
            </a:pPr>
            <a:r>
              <a:rPr lang="en-US" sz="950" b="1" dirty="0">
                <a:solidFill>
                  <a:srgbClr val="C9A84C"/>
                </a:solidFill>
                <a:latin typeface="Montserrat" pitchFamily="34" charset="0"/>
                <a:ea typeface="Montserrat" pitchFamily="34" charset="-122"/>
                <a:cs typeface="Montserrat" pitchFamily="34" charset="-120"/>
              </a:rPr>
              <a:t>3</a:t>
            </a:r>
            <a:endParaRPr lang="en-US" sz="950" dirty="0"/>
          </a:p>
        </p:txBody>
      </p:sp>
      <p:sp>
        <p:nvSpPr>
          <p:cNvPr id="10" name="Text 8"/>
          <p:cNvSpPr/>
          <p:nvPr/>
        </p:nvSpPr>
        <p:spPr>
          <a:xfrm>
            <a:off x="5449824" y="2231136"/>
            <a:ext cx="3108960" cy="219456"/>
          </a:xfrm>
          <a:prstGeom prst="rect">
            <a:avLst/>
          </a:prstGeom>
          <a:noFill/>
          <a:ln/>
        </p:spPr>
        <p:txBody>
          <a:bodyPr wrap="square" lIns="0" tIns="0" rIns="0" bIns="0" rtlCol="0" anchor="ctr"/>
          <a:lstStyle/>
          <a:p>
            <a:pPr indent="0" marL="0">
              <a:buNone/>
            </a:pPr>
            <a:r>
              <a:rPr lang="en-US" sz="1000" dirty="0">
                <a:solidFill>
                  <a:srgbClr val="F5F0E8"/>
                </a:solidFill>
                <a:latin typeface="DM Sans" pitchFamily="34" charset="0"/>
                <a:ea typeface="DM Sans" pitchFamily="34" charset="-122"/>
                <a:cs typeface="DM Sans" pitchFamily="34" charset="-120"/>
              </a:rPr>
              <a:t>the mixed or inconsistent pattern</a:t>
            </a:r>
            <a:endParaRPr lang="en-US" sz="1000" dirty="0"/>
          </a:p>
        </p:txBody>
      </p:sp>
      <p:sp>
        <p:nvSpPr>
          <p:cNvPr id="11" name="Text 9"/>
          <p:cNvSpPr/>
          <p:nvPr/>
        </p:nvSpPr>
        <p:spPr>
          <a:xfrm>
            <a:off x="822960" y="2487168"/>
            <a:ext cx="658368" cy="219456"/>
          </a:xfrm>
          <a:prstGeom prst="rect">
            <a:avLst/>
          </a:prstGeom>
          <a:noFill/>
          <a:ln/>
        </p:spPr>
        <p:txBody>
          <a:bodyPr wrap="square" lIns="0" tIns="0" rIns="0" bIns="0" rtlCol="0" anchor="ctr"/>
          <a:lstStyle/>
          <a:p>
            <a:pPr indent="0" marL="0">
              <a:buNone/>
            </a:pPr>
            <a:r>
              <a:rPr lang="en-US" sz="950" b="1" dirty="0">
                <a:solidFill>
                  <a:srgbClr val="C9A84C"/>
                </a:solidFill>
                <a:latin typeface="Montserrat" pitchFamily="34" charset="0"/>
                <a:ea typeface="Montserrat" pitchFamily="34" charset="-122"/>
                <a:cs typeface="Montserrat" pitchFamily="34" charset="-120"/>
              </a:rPr>
              <a:t>1 or 2</a:t>
            </a:r>
            <a:endParaRPr lang="en-US" sz="950" dirty="0"/>
          </a:p>
        </p:txBody>
      </p:sp>
      <p:sp>
        <p:nvSpPr>
          <p:cNvPr id="12" name="Text 10"/>
          <p:cNvSpPr/>
          <p:nvPr/>
        </p:nvSpPr>
        <p:spPr>
          <a:xfrm>
            <a:off x="1517904" y="2487168"/>
            <a:ext cx="3108960" cy="219456"/>
          </a:xfrm>
          <a:prstGeom prst="rect">
            <a:avLst/>
          </a:prstGeom>
          <a:noFill/>
          <a:ln/>
        </p:spPr>
        <p:txBody>
          <a:bodyPr wrap="square" lIns="0" tIns="0" rIns="0" bIns="0" rtlCol="0" anchor="ctr"/>
          <a:lstStyle/>
          <a:p>
            <a:pPr indent="0" marL="0">
              <a:buNone/>
            </a:pPr>
            <a:r>
              <a:rPr lang="en-US" sz="1000" dirty="0">
                <a:solidFill>
                  <a:srgbClr val="F5F0E8"/>
                </a:solidFill>
                <a:latin typeface="DM Sans" pitchFamily="34" charset="0"/>
                <a:ea typeface="DM Sans" pitchFamily="34" charset="-122"/>
                <a:cs typeface="DM Sans" pitchFamily="34" charset="-120"/>
              </a:rPr>
              <a:t>what happened instead, or no qualifying instance</a:t>
            </a:r>
            <a:endParaRPr lang="en-US" sz="1000" dirty="0"/>
          </a:p>
        </p:txBody>
      </p:sp>
      <p:sp>
        <p:nvSpPr>
          <p:cNvPr id="13" name="Text 11"/>
          <p:cNvSpPr/>
          <p:nvPr/>
        </p:nvSpPr>
        <p:spPr>
          <a:xfrm>
            <a:off x="4754880" y="2487168"/>
            <a:ext cx="658368" cy="219456"/>
          </a:xfrm>
          <a:prstGeom prst="rect">
            <a:avLst/>
          </a:prstGeom>
          <a:noFill/>
          <a:ln/>
        </p:spPr>
        <p:txBody>
          <a:bodyPr wrap="square" lIns="0" tIns="0" rIns="0" bIns="0" rtlCol="0" anchor="ctr"/>
          <a:lstStyle/>
          <a:p>
            <a:pPr indent="0" marL="0">
              <a:buNone/>
            </a:pPr>
            <a:r>
              <a:rPr lang="en-US" sz="950" b="1" dirty="0">
                <a:solidFill>
                  <a:srgbClr val="C9A84C"/>
                </a:solidFill>
                <a:latin typeface="Montserrat" pitchFamily="34" charset="0"/>
                <a:ea typeface="Montserrat" pitchFamily="34" charset="-122"/>
                <a:cs typeface="Montserrat" pitchFamily="34" charset="-120"/>
              </a:rPr>
              <a:t>?</a:t>
            </a:r>
            <a:endParaRPr lang="en-US" sz="950" dirty="0"/>
          </a:p>
        </p:txBody>
      </p:sp>
      <p:sp>
        <p:nvSpPr>
          <p:cNvPr id="14" name="Text 12"/>
          <p:cNvSpPr/>
          <p:nvPr/>
        </p:nvSpPr>
        <p:spPr>
          <a:xfrm>
            <a:off x="5449824" y="2487168"/>
            <a:ext cx="3108960" cy="219456"/>
          </a:xfrm>
          <a:prstGeom prst="rect">
            <a:avLst/>
          </a:prstGeom>
          <a:noFill/>
          <a:ln/>
        </p:spPr>
        <p:txBody>
          <a:bodyPr wrap="square" lIns="0" tIns="0" rIns="0" bIns="0" rtlCol="0" anchor="ctr"/>
          <a:lstStyle/>
          <a:p>
            <a:pPr indent="0" marL="0">
              <a:buNone/>
            </a:pPr>
            <a:r>
              <a:rPr lang="en-US" sz="1000" dirty="0">
                <a:solidFill>
                  <a:srgbClr val="F5F0E8"/>
                </a:solidFill>
                <a:latin typeface="DM Sans" pitchFamily="34" charset="0"/>
                <a:ea typeface="DM Sans" pitchFamily="34" charset="-122"/>
                <a:cs typeface="DM Sans" pitchFamily="34" charset="-120"/>
              </a:rPr>
              <a:t>most defensible number, marked once: 3?, 4?, 2?</a:t>
            </a:r>
            <a:endParaRPr lang="en-US" sz="1000" dirty="0"/>
          </a:p>
        </p:txBody>
      </p:sp>
      <p:sp>
        <p:nvSpPr>
          <p:cNvPr id="15" name="Text 13"/>
          <p:cNvSpPr/>
          <p:nvPr/>
        </p:nvSpPr>
        <p:spPr>
          <a:xfrm>
            <a:off x="566928" y="2944368"/>
            <a:ext cx="3840480" cy="274320"/>
          </a:xfrm>
          <a:prstGeom prst="rect">
            <a:avLst/>
          </a:prstGeom>
          <a:noFill/>
          <a:ln/>
        </p:spPr>
        <p:txBody>
          <a:bodyPr wrap="square" lIns="0" tIns="0" rIns="0" bIns="0" rtlCol="0" anchor="ctr"/>
          <a:lstStyle/>
          <a:p>
            <a:pPr indent="0" marL="0">
              <a:buNone/>
            </a:pPr>
            <a:r>
              <a:rPr lang="en-US" sz="1100" b="1" spc="80" kern="0" dirty="0">
                <a:solidFill>
                  <a:srgbClr val="0F2347"/>
                </a:solidFill>
                <a:latin typeface="Montserrat" pitchFamily="34" charset="0"/>
                <a:ea typeface="Montserrat" pitchFamily="34" charset="-122"/>
                <a:cs typeface="Montserrat" pitchFamily="34" charset="-120"/>
              </a:rPr>
              <a:t>Density   1 · 2 · 3 · 4 · 5 · 6</a:t>
            </a:r>
            <a:endParaRPr lang="en-US" sz="1100" dirty="0"/>
          </a:p>
        </p:txBody>
      </p:sp>
      <p:sp>
        <p:nvSpPr>
          <p:cNvPr id="16" name="Text 14"/>
          <p:cNvSpPr/>
          <p:nvPr/>
        </p:nvSpPr>
        <p:spPr>
          <a:xfrm>
            <a:off x="4754880" y="2944368"/>
            <a:ext cx="3840480" cy="274320"/>
          </a:xfrm>
          <a:prstGeom prst="rect">
            <a:avLst/>
          </a:prstGeom>
          <a:noFill/>
          <a:ln/>
        </p:spPr>
        <p:txBody>
          <a:bodyPr wrap="square" lIns="0" tIns="0" rIns="0" bIns="0" rtlCol="0" anchor="ctr"/>
          <a:lstStyle/>
          <a:p>
            <a:pPr indent="0" marL="0">
              <a:buNone/>
            </a:pPr>
            <a:r>
              <a:rPr lang="en-US" sz="1100" b="1" spc="80" kern="0" dirty="0">
                <a:solidFill>
                  <a:srgbClr val="0F2347"/>
                </a:solidFill>
                <a:latin typeface="Montserrat" pitchFamily="34" charset="0"/>
                <a:ea typeface="Montserrat" pitchFamily="34" charset="-122"/>
                <a:cs typeface="Montserrat" pitchFamily="34" charset="-120"/>
              </a:rPr>
              <a:t>Optionality   7 · 8 · 9 · 10 · 11 · 12</a:t>
            </a:r>
            <a:endParaRPr lang="en-US" sz="1100" dirty="0"/>
          </a:p>
        </p:txBody>
      </p:sp>
      <p:sp>
        <p:nvSpPr>
          <p:cNvPr id="17" name="Shape 15"/>
          <p:cNvSpPr/>
          <p:nvPr/>
        </p:nvSpPr>
        <p:spPr>
          <a:xfrm>
            <a:off x="566928" y="3401568"/>
            <a:ext cx="8010144" cy="786384"/>
          </a:xfrm>
          <a:prstGeom prst="rect">
            <a:avLst/>
          </a:prstGeom>
          <a:solidFill>
            <a:srgbClr val="E9EDF3"/>
          </a:solidFill>
          <a:ln/>
        </p:spPr>
        <p:txBody>
          <a:bodyPr/>
          <a:p/>
        </p:txBody>
      </p:sp>
      <p:sp>
        <p:nvSpPr>
          <p:cNvPr id="18" name="Text 16"/>
          <p:cNvSpPr/>
          <p:nvPr/>
        </p:nvSpPr>
        <p:spPr>
          <a:xfrm>
            <a:off x="822960" y="3401568"/>
            <a:ext cx="7498080" cy="786384"/>
          </a:xfrm>
          <a:prstGeom prst="rect">
            <a:avLst/>
          </a:prstGeom>
          <a:noFill/>
          <a:ln/>
        </p:spPr>
        <p:txBody>
          <a:bodyPr wrap="square" lIns="0" tIns="0" rIns="0" bIns="0" rtlCol="0" anchor="ctr"/>
          <a:lstStyle/>
          <a:p>
            <a:pPr indent="0" marL="0">
              <a:lnSpc>
                <a:spcPts val="1500"/>
              </a:lnSpc>
              <a:buNone/>
            </a:pPr>
            <a:r>
              <a:rPr lang="en-US" sz="1150" dirty="0">
                <a:solidFill>
                  <a:srgbClr val="0F2347"/>
                </a:solidFill>
                <a:latin typeface="DM Sans" pitchFamily="34" charset="0"/>
                <a:ea typeface="DM Sans" pitchFamily="34" charset="-122"/>
                <a:cs typeface="DM Sans" pitchFamily="34" charset="-120"/>
              </a:rPr>
              <a:t>Write the corrected number and a short evidence phrase under it. Your first number stays where it is. Phrases, not essays — twelve minutes for twelve statements.</a:t>
            </a:r>
            <a:endParaRPr lang="en-US" sz="1150" dirty="0"/>
          </a:p>
        </p:txBody>
      </p:sp>
      <p:sp>
        <p:nvSpPr>
          <p:cNvPr id="19" name="Text 17"/>
          <p:cNvSpPr/>
          <p:nvPr/>
        </p:nvSpPr>
        <p:spPr>
          <a:xfrm>
            <a:off x="566928" y="4334256"/>
            <a:ext cx="8010144" cy="237744"/>
          </a:xfrm>
          <a:prstGeom prst="rect">
            <a:avLst/>
          </a:prstGeom>
          <a:noFill/>
          <a:ln/>
        </p:spPr>
        <p:txBody>
          <a:bodyPr wrap="square" lIns="0" tIns="0" rIns="0" bIns="0" rtlCol="0" anchor="ctr"/>
          <a:lstStyle/>
          <a:p>
            <a:pPr indent="0" marL="0">
              <a:buNone/>
            </a:pPr>
            <a:r>
              <a:rPr lang="en-US" sz="1040" b="1" dirty="0">
                <a:solidFill>
                  <a:srgbClr val="C1440E"/>
                </a:solidFill>
                <a:latin typeface="DM Sans" pitchFamily="34" charset="0"/>
                <a:ea typeface="DM Sans" pitchFamily="34" charset="-122"/>
                <a:cs typeface="DM Sans" pitchFamily="34" charset="-120"/>
              </a:rPr>
              <a:t>Workbook pages 5 and 6.</a:t>
            </a:r>
            <a:endParaRPr lang="en-US" sz="1040" dirty="0"/>
          </a:p>
        </p:txBody>
      </p:sp>
      <p:sp>
        <p:nvSpPr>
          <p:cNvPr id="21" name="Text 18"/>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22" name="Text 19"/>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16</a:t>
            </a:r>
            <a:endParaRPr lang="en-US" sz="7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CORRECTED READ</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856"/>
              </a:lnSpc>
              <a:buNone/>
            </a:pPr>
            <a:r>
              <a:rPr lang="en-US" sz="2800" b="1" dirty="0">
                <a:solidFill>
                  <a:srgbClr val="0F2347"/>
                </a:solidFill>
                <a:latin typeface="Cormorant Garamond" pitchFamily="34" charset="0"/>
                <a:ea typeface="Cormorant Garamond" pitchFamily="34" charset="-122"/>
                <a:cs typeface="Cormorant Garamond" pitchFamily="34" charset="-120"/>
              </a:rPr>
              <a:t>Re-total before you place again</a:t>
            </a:r>
            <a:endParaRPr lang="en-US" sz="28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New numbers. A fresh placement, not a review of the first one.</a:t>
            </a:r>
            <a:endParaRPr lang="en-US" sz="1150" dirty="0"/>
          </a:p>
        </p:txBody>
      </p:sp>
      <p:sp>
        <p:nvSpPr>
          <p:cNvPr id="5" name="Shape 3"/>
          <p:cNvSpPr/>
          <p:nvPr/>
        </p:nvSpPr>
        <p:spPr>
          <a:xfrm>
            <a:off x="566928" y="1920240"/>
            <a:ext cx="3931920" cy="1097280"/>
          </a:xfrm>
          <a:prstGeom prst="rect">
            <a:avLst/>
          </a:prstGeom>
          <a:solidFill>
            <a:srgbClr val="0F2347"/>
          </a:solidFill>
          <a:ln/>
        </p:spPr>
        <p:txBody>
          <a:bodyPr/>
          <a:p/>
        </p:txBody>
      </p:sp>
      <p:sp>
        <p:nvSpPr>
          <p:cNvPr id="6" name="Text 4"/>
          <p:cNvSpPr/>
          <p:nvPr/>
        </p:nvSpPr>
        <p:spPr>
          <a:xfrm>
            <a:off x="841248" y="2084832"/>
            <a:ext cx="3383280" cy="201168"/>
          </a:xfrm>
          <a:prstGeom prst="rect">
            <a:avLst/>
          </a:prstGeom>
          <a:noFill/>
          <a:ln/>
        </p:spPr>
        <p:txBody>
          <a:bodyPr wrap="square" lIns="0" tIns="0" rIns="0" bIns="0" rtlCol="0" anchor="ctr"/>
          <a:lstStyle/>
          <a:p>
            <a:pPr indent="0" marL="0">
              <a:buNone/>
            </a:pPr>
            <a:r>
              <a:rPr lang="en-US" sz="900" b="1" spc="130" kern="0" dirty="0">
                <a:solidFill>
                  <a:srgbClr val="C9A84C"/>
                </a:solidFill>
                <a:latin typeface="Montserrat" pitchFamily="34" charset="0"/>
                <a:ea typeface="Montserrat" pitchFamily="34" charset="-122"/>
                <a:cs typeface="Montserrat" pitchFamily="34" charset="-120"/>
              </a:rPr>
              <a:t>DENSITY, CORRECTED</a:t>
            </a:r>
            <a:endParaRPr lang="en-US" sz="900" dirty="0"/>
          </a:p>
        </p:txBody>
      </p:sp>
      <p:sp>
        <p:nvSpPr>
          <p:cNvPr id="7" name="Text 5"/>
          <p:cNvSpPr/>
          <p:nvPr/>
        </p:nvSpPr>
        <p:spPr>
          <a:xfrm>
            <a:off x="841248" y="2359152"/>
            <a:ext cx="3383280" cy="512064"/>
          </a:xfrm>
          <a:prstGeom prst="rect">
            <a:avLst/>
          </a:prstGeom>
          <a:noFill/>
          <a:ln/>
        </p:spPr>
        <p:txBody>
          <a:bodyPr wrap="square" lIns="0" tIns="0" rIns="0" bIns="0" rtlCol="0" anchor="ctr"/>
          <a:lstStyle/>
          <a:p>
            <a:pPr indent="0" marL="0">
              <a:buNone/>
            </a:pPr>
            <a:r>
              <a:rPr lang="en-US" sz="2900" b="1" dirty="0">
                <a:solidFill>
                  <a:srgbClr val="F5F0E8"/>
                </a:solidFill>
                <a:latin typeface="Cormorant Garamond" pitchFamily="34" charset="0"/>
                <a:ea typeface="Cormorant Garamond" pitchFamily="34" charset="-122"/>
                <a:cs typeface="Cormorant Garamond" pitchFamily="34" charset="-120"/>
              </a:rPr>
              <a:t>________  / 30</a:t>
            </a:r>
            <a:endParaRPr lang="en-US" sz="2900" dirty="0"/>
          </a:p>
        </p:txBody>
      </p:sp>
      <p:sp>
        <p:nvSpPr>
          <p:cNvPr id="8" name="Shape 6"/>
          <p:cNvSpPr/>
          <p:nvPr/>
        </p:nvSpPr>
        <p:spPr>
          <a:xfrm>
            <a:off x="4690872" y="1920240"/>
            <a:ext cx="3886200" cy="1097280"/>
          </a:xfrm>
          <a:prstGeom prst="rect">
            <a:avLst/>
          </a:prstGeom>
          <a:solidFill>
            <a:srgbClr val="0F2347"/>
          </a:solidFill>
          <a:ln/>
        </p:spPr>
        <p:txBody>
          <a:bodyPr/>
          <a:p/>
        </p:txBody>
      </p:sp>
      <p:sp>
        <p:nvSpPr>
          <p:cNvPr id="9" name="Text 7"/>
          <p:cNvSpPr/>
          <p:nvPr/>
        </p:nvSpPr>
        <p:spPr>
          <a:xfrm>
            <a:off x="4965192" y="2084832"/>
            <a:ext cx="3383280" cy="201168"/>
          </a:xfrm>
          <a:prstGeom prst="rect">
            <a:avLst/>
          </a:prstGeom>
          <a:noFill/>
          <a:ln/>
        </p:spPr>
        <p:txBody>
          <a:bodyPr wrap="square" lIns="0" tIns="0" rIns="0" bIns="0" rtlCol="0" anchor="ctr"/>
          <a:lstStyle/>
          <a:p>
            <a:pPr indent="0" marL="0">
              <a:buNone/>
            </a:pPr>
            <a:r>
              <a:rPr lang="en-US" sz="900" b="1" spc="130" kern="0" dirty="0">
                <a:solidFill>
                  <a:srgbClr val="C9A84C"/>
                </a:solidFill>
                <a:latin typeface="Montserrat" pitchFamily="34" charset="0"/>
                <a:ea typeface="Montserrat" pitchFamily="34" charset="-122"/>
                <a:cs typeface="Montserrat" pitchFamily="34" charset="-120"/>
              </a:rPr>
              <a:t>OPTIONALITY, CORRECTED</a:t>
            </a:r>
            <a:endParaRPr lang="en-US" sz="900" dirty="0"/>
          </a:p>
        </p:txBody>
      </p:sp>
      <p:sp>
        <p:nvSpPr>
          <p:cNvPr id="10" name="Text 8"/>
          <p:cNvSpPr/>
          <p:nvPr/>
        </p:nvSpPr>
        <p:spPr>
          <a:xfrm>
            <a:off x="4965192" y="2359152"/>
            <a:ext cx="3383280" cy="512064"/>
          </a:xfrm>
          <a:prstGeom prst="rect">
            <a:avLst/>
          </a:prstGeom>
          <a:noFill/>
          <a:ln/>
        </p:spPr>
        <p:txBody>
          <a:bodyPr wrap="square" lIns="0" tIns="0" rIns="0" bIns="0" rtlCol="0" anchor="ctr"/>
          <a:lstStyle/>
          <a:p>
            <a:pPr indent="0" marL="0">
              <a:buNone/>
            </a:pPr>
            <a:r>
              <a:rPr lang="en-US" sz="2900" b="1" dirty="0">
                <a:solidFill>
                  <a:srgbClr val="F5F0E8"/>
                </a:solidFill>
                <a:latin typeface="Cormorant Garamond" pitchFamily="34" charset="0"/>
                <a:ea typeface="Cormorant Garamond" pitchFamily="34" charset="-122"/>
                <a:cs typeface="Cormorant Garamond" pitchFamily="34" charset="-120"/>
              </a:rPr>
              <a:t>________  / 30</a:t>
            </a:r>
            <a:endParaRPr lang="en-US" sz="2900" dirty="0"/>
          </a:p>
        </p:txBody>
      </p:sp>
      <p:sp>
        <p:nvSpPr>
          <p:cNvPr id="11" name="Text 9"/>
          <p:cNvSpPr/>
          <p:nvPr/>
        </p:nvSpPr>
        <p:spPr>
          <a:xfrm>
            <a:off x="566928" y="3200400"/>
            <a:ext cx="8010144" cy="274320"/>
          </a:xfrm>
          <a:prstGeom prst="rect">
            <a:avLst/>
          </a:prstGeom>
          <a:noFill/>
          <a:ln/>
        </p:spPr>
        <p:txBody>
          <a:bodyPr wrap="square" lIns="0" tIns="0" rIns="0" bIns="0" rtlCol="0" anchor="ctr"/>
          <a:lstStyle/>
          <a:p>
            <a:pPr algn="ctr" indent="0" marL="0">
              <a:buNone/>
            </a:pPr>
            <a:r>
              <a:rPr lang="en-US" sz="1200" b="1" dirty="0">
                <a:solidFill>
                  <a:srgbClr val="C1440E"/>
                </a:solidFill>
                <a:latin typeface="DM Sans" pitchFamily="34" charset="0"/>
                <a:ea typeface="DM Sans" pitchFamily="34" charset="-122"/>
                <a:cs typeface="DM Sans" pitchFamily="34" charset="-120"/>
              </a:rPr>
              <a:t>19 to 30 high  ·  6 to 18 low  ·  17 to 21 is the boundary band, and it overrides both</a:t>
            </a:r>
            <a:endParaRPr lang="en-US" sz="1200" dirty="0"/>
          </a:p>
        </p:txBody>
      </p:sp>
      <p:sp>
        <p:nvSpPr>
          <p:cNvPr id="12" name="Text 10"/>
          <p:cNvSpPr/>
          <p:nvPr/>
        </p:nvSpPr>
        <p:spPr>
          <a:xfrm>
            <a:off x="566928" y="3602736"/>
            <a:ext cx="8010144" cy="548640"/>
          </a:xfrm>
          <a:prstGeom prst="rect">
            <a:avLst/>
          </a:prstGeom>
          <a:noFill/>
          <a:ln/>
        </p:spPr>
        <p:txBody>
          <a:bodyPr wrap="square" lIns="0" tIns="0" rIns="0" bIns="0" rtlCol="0" anchor="ctr"/>
          <a:lstStyle/>
          <a:p>
            <a:pPr algn="ctr" indent="0" marL="0">
              <a:lnSpc>
                <a:spcPts val="1587"/>
              </a:lnSpc>
              <a:buNone/>
            </a:pPr>
            <a:r>
              <a:rPr lang="en-US" sz="1150" dirty="0">
                <a:solidFill>
                  <a:srgbClr val="5A6B84"/>
                </a:solidFill>
                <a:latin typeface="DM Sans" pitchFamily="34" charset="0"/>
                <a:ea typeface="DM Sans" pitchFamily="34" charset="-122"/>
                <a:cs typeface="DM Sans" pitchFamily="34" charset="-120"/>
              </a:rPr>
              <a:t>Total the axis using the numbers exactly as you wrote them. A question-marked score counts as its number. Rate your confidence in the corrected placement from 1 to 5.</a:t>
            </a:r>
            <a:endParaRPr lang="en-US" sz="1150" dirty="0"/>
          </a:p>
        </p:txBody>
      </p:sp>
      <p:sp>
        <p:nvSpPr>
          <p:cNvPr id="14" name="Text 11"/>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15" name="Text 12"/>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17</a:t>
            </a:r>
            <a:endParaRPr lang="en-US" sz="7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CORRECTED READ</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652"/>
              </a:lnSpc>
              <a:buNone/>
            </a:pPr>
            <a:r>
              <a:rPr lang="en-US" sz="2600" b="1" dirty="0">
                <a:solidFill>
                  <a:srgbClr val="0F2347"/>
                </a:solidFill>
                <a:latin typeface="Cormorant Garamond" pitchFamily="34" charset="0"/>
                <a:ea typeface="Cormorant Garamond" pitchFamily="34" charset="-122"/>
                <a:cs typeface="Cormorant Garamond" pitchFamily="34" charset="-120"/>
              </a:rPr>
              <a:t>When the evidence remains uncertain</a:t>
            </a:r>
            <a:endParaRPr lang="en-US" sz="2600" dirty="0"/>
          </a:p>
        </p:txBody>
      </p:sp>
      <p:sp>
        <p:nvSpPr>
          <p:cNvPr id="4" name="Text 2"/>
          <p:cNvSpPr/>
          <p:nvPr/>
        </p:nvSpPr>
        <p:spPr>
          <a:xfrm>
            <a:off x="566928" y="1335024"/>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The sensitivity check. An operational convention, not a statistical confidence interval.</a:t>
            </a:r>
            <a:endParaRPr lang="en-US" sz="1150" dirty="0"/>
          </a:p>
        </p:txBody>
      </p:sp>
      <p:sp>
        <p:nvSpPr>
          <p:cNvPr id="5" name="Shape 3"/>
          <p:cNvSpPr/>
          <p:nvPr/>
        </p:nvSpPr>
        <p:spPr>
          <a:xfrm>
            <a:off x="566928" y="1719072"/>
            <a:ext cx="676656" cy="438912"/>
          </a:xfrm>
          <a:prstGeom prst="rect">
            <a:avLst/>
          </a:prstGeom>
          <a:solidFill>
            <a:srgbClr val="E9EDF3"/>
          </a:solidFill>
          <a:ln/>
        </p:spPr>
        <p:txBody>
          <a:bodyPr/>
          <a:p/>
        </p:txBody>
      </p:sp>
      <p:sp>
        <p:nvSpPr>
          <p:cNvPr id="6" name="Text 4"/>
          <p:cNvSpPr/>
          <p:nvPr/>
        </p:nvSpPr>
        <p:spPr>
          <a:xfrm>
            <a:off x="566928" y="1719072"/>
            <a:ext cx="676656" cy="438912"/>
          </a:xfrm>
          <a:prstGeom prst="rect">
            <a:avLst/>
          </a:prstGeom>
          <a:noFill/>
          <a:ln/>
        </p:spPr>
        <p:txBody>
          <a:bodyPr wrap="square" lIns="0" tIns="0" rIns="0" bIns="0" rtlCol="0" anchor="ctr"/>
          <a:lstStyle/>
          <a:p>
            <a:pPr algn="ctr" indent="0" marL="0">
              <a:buNone/>
            </a:pPr>
            <a:r>
              <a:rPr lang="en-US" sz="900" b="1" spc="60" kern="0" dirty="0">
                <a:solidFill>
                  <a:srgbClr val="0F2347"/>
                </a:solidFill>
                <a:latin typeface="Montserrat" pitchFamily="34" charset="0"/>
                <a:ea typeface="Montserrat" pitchFamily="34" charset="-122"/>
                <a:cs typeface="Montserrat" pitchFamily="34" charset="-120"/>
              </a:rPr>
              <a:t>NONE</a:t>
            </a:r>
            <a:endParaRPr lang="en-US" sz="900" dirty="0"/>
          </a:p>
        </p:txBody>
      </p:sp>
      <p:sp>
        <p:nvSpPr>
          <p:cNvPr id="7" name="Text 5"/>
          <p:cNvSpPr/>
          <p:nvPr/>
        </p:nvSpPr>
        <p:spPr>
          <a:xfrm>
            <a:off x="1408176" y="1700784"/>
            <a:ext cx="7168896" cy="219456"/>
          </a:xfrm>
          <a:prstGeom prst="rect">
            <a:avLst/>
          </a:prstGeom>
          <a:noFill/>
          <a:ln/>
        </p:spPr>
        <p:txBody>
          <a:bodyPr wrap="square" lIns="0" tIns="0" rIns="0" bIns="0" rtlCol="0" anchor="ctr"/>
          <a:lstStyle/>
          <a:p>
            <a:pPr indent="0" marL="0">
              <a:buNone/>
            </a:pPr>
            <a:r>
              <a:rPr lang="en-US" sz="1150" b="1" dirty="0">
                <a:solidFill>
                  <a:srgbClr val="0F2347"/>
                </a:solidFill>
                <a:latin typeface="DM Sans" pitchFamily="34" charset="0"/>
                <a:ea typeface="DM Sans" pitchFamily="34" charset="-122"/>
                <a:cs typeface="DM Sans" pitchFamily="34" charset="-120"/>
              </a:rPr>
              <a:t>Use the corrected total normally.</a:t>
            </a:r>
            <a:endParaRPr lang="en-US" sz="1150" dirty="0"/>
          </a:p>
        </p:txBody>
      </p:sp>
      <p:sp>
        <p:nvSpPr>
          <p:cNvPr id="8" name="Text 6"/>
          <p:cNvSpPr/>
          <p:nvPr/>
        </p:nvSpPr>
        <p:spPr>
          <a:xfrm>
            <a:off x="1408176" y="1938528"/>
            <a:ext cx="7168896" cy="219456"/>
          </a:xfrm>
          <a:prstGeom prst="rect">
            <a:avLst/>
          </a:prstGeom>
          <a:noFill/>
          <a:ln/>
        </p:spPr>
        <p:txBody>
          <a:bodyPr wrap="square" lIns="0" tIns="0" rIns="0" bIns="0" rtlCol="0" anchor="ctr"/>
          <a:lstStyle/>
          <a:p>
            <a:pPr indent="0" marL="0">
              <a:buNone/>
            </a:pPr>
            <a:r>
              <a:rPr lang="en-US" sz="1020" dirty="0">
                <a:solidFill>
                  <a:srgbClr val="5A6B84"/>
                </a:solidFill>
                <a:latin typeface="DM Sans" pitchFamily="34" charset="0"/>
                <a:ea typeface="DM Sans" pitchFamily="34" charset="-122"/>
                <a:cs typeface="DM Sans" pitchFamily="34" charset="-120"/>
              </a:rPr>
              <a:t>No sensitivity range is required.</a:t>
            </a:r>
            <a:endParaRPr lang="en-US" sz="1020" dirty="0"/>
          </a:p>
        </p:txBody>
      </p:sp>
      <p:sp>
        <p:nvSpPr>
          <p:cNvPr id="9" name="Shape 7"/>
          <p:cNvSpPr/>
          <p:nvPr/>
        </p:nvSpPr>
        <p:spPr>
          <a:xfrm>
            <a:off x="566928" y="2286000"/>
            <a:ext cx="676656" cy="786384"/>
          </a:xfrm>
          <a:prstGeom prst="rect">
            <a:avLst/>
          </a:prstGeom>
          <a:solidFill>
            <a:srgbClr val="0F2347"/>
          </a:solidFill>
          <a:ln/>
        </p:spPr>
        <p:txBody>
          <a:bodyPr/>
          <a:p/>
        </p:txBody>
      </p:sp>
      <p:sp>
        <p:nvSpPr>
          <p:cNvPr id="10" name="Text 8"/>
          <p:cNvSpPr/>
          <p:nvPr/>
        </p:nvSpPr>
        <p:spPr>
          <a:xfrm>
            <a:off x="566928" y="2286000"/>
            <a:ext cx="676656" cy="786384"/>
          </a:xfrm>
          <a:prstGeom prst="rect">
            <a:avLst/>
          </a:prstGeom>
          <a:noFill/>
          <a:ln/>
        </p:spPr>
        <p:txBody>
          <a:bodyPr wrap="square" lIns="0" tIns="0" rIns="0" bIns="0" rtlCol="0" anchor="ctr"/>
          <a:lstStyle/>
          <a:p>
            <a:pPr algn="ctr" indent="0" marL="0">
              <a:buNone/>
            </a:pPr>
            <a:r>
              <a:rPr lang="en-US" sz="900" b="1" spc="60" kern="0" dirty="0">
                <a:solidFill>
                  <a:srgbClr val="C9A84C"/>
                </a:solidFill>
                <a:latin typeface="Montserrat" pitchFamily="34" charset="0"/>
                <a:ea typeface="Montserrat" pitchFamily="34" charset="-122"/>
                <a:cs typeface="Montserrat" pitchFamily="34" charset="-120"/>
              </a:rPr>
              <a:t>1 OR 2</a:t>
            </a:r>
            <a:endParaRPr lang="en-US" sz="900" dirty="0"/>
          </a:p>
        </p:txBody>
      </p:sp>
      <p:sp>
        <p:nvSpPr>
          <p:cNvPr id="11" name="Shape 9"/>
          <p:cNvSpPr/>
          <p:nvPr/>
        </p:nvSpPr>
        <p:spPr>
          <a:xfrm>
            <a:off x="1408176" y="2286000"/>
            <a:ext cx="7168896" cy="786384"/>
          </a:xfrm>
          <a:prstGeom prst="rect">
            <a:avLst/>
          </a:prstGeom>
          <a:solidFill>
            <a:srgbClr val="E9EDF3"/>
          </a:solidFill>
          <a:ln/>
        </p:spPr>
        <p:txBody>
          <a:bodyPr/>
          <a:p/>
        </p:txBody>
      </p:sp>
      <p:sp>
        <p:nvSpPr>
          <p:cNvPr id="12" name="Text 10"/>
          <p:cNvSpPr/>
          <p:nvPr/>
        </p:nvSpPr>
        <p:spPr>
          <a:xfrm>
            <a:off x="1609344" y="2395728"/>
            <a:ext cx="6766560" cy="201168"/>
          </a:xfrm>
          <a:prstGeom prst="rect">
            <a:avLst/>
          </a:prstGeom>
          <a:noFill/>
          <a:ln/>
        </p:spPr>
        <p:txBody>
          <a:bodyPr wrap="square" lIns="0" tIns="0" rIns="0" bIns="0" rtlCol="0" anchor="ctr"/>
          <a:lstStyle/>
          <a:p>
            <a:pPr indent="0" marL="0">
              <a:buNone/>
            </a:pPr>
            <a:r>
              <a:rPr lang="en-US" sz="840" b="1" spc="110" kern="0" dirty="0">
                <a:solidFill>
                  <a:srgbClr val="0F2347"/>
                </a:solidFill>
                <a:latin typeface="Montserrat" pitchFamily="34" charset="0"/>
                <a:ea typeface="Montserrat" pitchFamily="34" charset="-122"/>
                <a:cs typeface="Montserrat" pitchFamily="34" charset="-120"/>
              </a:rPr>
              <a:t>PROVISIONAL.  RUN THE NEIGHBORING-SCORE SENSITIVITY CHECK.</a:t>
            </a:r>
            <a:endParaRPr lang="en-US" sz="840" dirty="0"/>
          </a:p>
        </p:txBody>
      </p:sp>
      <p:sp>
        <p:nvSpPr>
          <p:cNvPr id="13" name="Shape 11"/>
          <p:cNvSpPr/>
          <p:nvPr/>
        </p:nvSpPr>
        <p:spPr>
          <a:xfrm>
            <a:off x="1609344" y="2724912"/>
            <a:ext cx="82296" cy="82296"/>
          </a:xfrm>
          <a:prstGeom prst="rect">
            <a:avLst/>
          </a:prstGeom>
          <a:solidFill>
            <a:srgbClr val="C9A84C"/>
          </a:solidFill>
          <a:ln/>
        </p:spPr>
        <p:txBody>
          <a:bodyPr/>
          <a:p/>
        </p:txBody>
      </p:sp>
      <p:sp>
        <p:nvSpPr>
          <p:cNvPr id="14" name="Text 12"/>
          <p:cNvSpPr/>
          <p:nvPr/>
        </p:nvSpPr>
        <p:spPr>
          <a:xfrm>
            <a:off x="1810512" y="2651760"/>
            <a:ext cx="6565392" cy="274320"/>
          </a:xfrm>
          <a:prstGeom prst="rect">
            <a:avLst/>
          </a:prstGeom>
          <a:noFill/>
          <a:ln/>
        </p:spPr>
        <p:txBody>
          <a:bodyPr wrap="square" lIns="0" tIns="0" rIns="0" bIns="0" rtlCol="0" anchor="ctr"/>
          <a:lstStyle/>
          <a:p>
            <a:pPr indent="0" marL="0">
              <a:buNone/>
            </a:pPr>
            <a:r>
              <a:rPr lang="en-US" sz="1050" dirty="0">
                <a:solidFill>
                  <a:srgbClr val="0F2347"/>
                </a:solidFill>
                <a:latin typeface="DM Sans" pitchFamily="34" charset="0"/>
                <a:ea typeface="DM Sans" pitchFamily="34" charset="-122"/>
                <a:cs typeface="DM Sans" pitchFamily="34" charset="-120"/>
              </a:rPr>
              <a:t>If the range touches 17 to 21, hold the axis as boundary.</a:t>
            </a:r>
            <a:endParaRPr lang="en-US" sz="1050" dirty="0"/>
          </a:p>
        </p:txBody>
      </p:sp>
      <p:sp>
        <p:nvSpPr>
          <p:cNvPr id="18" name="Text 16"/>
          <p:cNvSpPr/>
          <p:nvPr/>
        </p:nvSpPr>
        <p:spPr>
          <a:xfrm>
            <a:off x="566928" y="3822191"/>
            <a:ext cx="8010144" cy="256032"/>
          </a:xfrm>
          <a:prstGeom prst="rect">
            <a:avLst/>
          </a:prstGeom>
          <a:noFill/>
          <a:ln/>
        </p:spPr>
        <p:txBody>
          <a:bodyPr wrap="square" lIns="0" tIns="0" rIns="0" bIns="0" rtlCol="0" anchor="ctr"/>
          <a:lstStyle/>
          <a:p>
            <a:pPr indent="0" marL="0">
              <a:buNone/>
            </a:pPr>
            <a:r>
              <a:rPr lang="en-US" sz="1050" dirty="0" b="1">
                <a:solidFill>
                  <a:srgbClr val="0F2347"/>
                </a:solidFill>
                <a:latin typeface="DM Sans" pitchFamily="34" charset="0"/>
                <a:ea typeface="DM Sans" pitchFamily="34" charset="-122"/>
                <a:cs typeface="DM Sans" pitchFamily="34" charset="-120"/>
              </a:rPr>
              <a:t>17 TO 21 IS THE BOUNDARY BAND. A boundary reading overrides the normal high and low split.</a:t>
            </a:r>
            <a:endParaRPr lang="en-US" sz="1050" dirty="0"/>
          </a:p>
        </p:txBody>
      </p:sp>
      <p:sp>
        <p:nvSpPr>
          <p:cNvPr id="21" name="Shape 19"/>
          <p:cNvSpPr/>
          <p:nvPr/>
        </p:nvSpPr>
        <p:spPr>
          <a:xfrm>
            <a:off x="566928" y="3218688"/>
            <a:ext cx="676656" cy="457200"/>
          </a:xfrm>
          <a:prstGeom prst="rect">
            <a:avLst/>
          </a:prstGeom>
          <a:solidFill>
            <a:srgbClr val="C1440E"/>
          </a:solidFill>
          <a:ln/>
        </p:spPr>
        <p:txBody>
          <a:bodyPr/>
          <a:p/>
        </p:txBody>
      </p:sp>
      <p:sp>
        <p:nvSpPr>
          <p:cNvPr id="22" name="Text 20"/>
          <p:cNvSpPr/>
          <p:nvPr/>
        </p:nvSpPr>
        <p:spPr>
          <a:xfrm>
            <a:off x="566928" y="3218688"/>
            <a:ext cx="676656" cy="457200"/>
          </a:xfrm>
          <a:prstGeom prst="rect">
            <a:avLst/>
          </a:prstGeom>
          <a:noFill/>
          <a:ln/>
        </p:spPr>
        <p:txBody>
          <a:bodyPr wrap="square" lIns="0" tIns="0" rIns="0" bIns="0" rtlCol="0" anchor="ctr"/>
          <a:lstStyle/>
          <a:p>
            <a:pPr algn="ctr" indent="0" marL="0">
              <a:buNone/>
            </a:pPr>
            <a:r>
              <a:rPr lang="en-US" sz="900" b="1" spc="60" kern="0" dirty="0">
                <a:solidFill>
                  <a:srgbClr val="F5F0E8"/>
                </a:solidFill>
                <a:latin typeface="Montserrat" pitchFamily="34" charset="0"/>
                <a:ea typeface="Montserrat" pitchFamily="34" charset="-122"/>
                <a:cs typeface="Montserrat" pitchFamily="34" charset="-120"/>
              </a:rPr>
              <a:t>3+</a:t>
            </a:r>
            <a:endParaRPr lang="en-US" sz="900" dirty="0"/>
          </a:p>
        </p:txBody>
      </p:sp>
      <p:sp>
        <p:nvSpPr>
          <p:cNvPr id="23" name="Shape 21"/>
          <p:cNvSpPr/>
          <p:nvPr/>
        </p:nvSpPr>
        <p:spPr>
          <a:xfrm>
            <a:off x="1408176" y="3218688"/>
            <a:ext cx="7168896" cy="457200"/>
          </a:xfrm>
          <a:prstGeom prst="rect">
            <a:avLst/>
          </a:prstGeom>
          <a:solidFill>
            <a:srgbClr val="0F2347"/>
          </a:solidFill>
          <a:ln/>
        </p:spPr>
        <p:txBody>
          <a:bodyPr/>
          <a:p/>
        </p:txBody>
      </p:sp>
      <p:sp>
        <p:nvSpPr>
          <p:cNvPr id="24" name="Text 22"/>
          <p:cNvSpPr/>
          <p:nvPr/>
        </p:nvSpPr>
        <p:spPr>
          <a:xfrm>
            <a:off x="1609344" y="3218688"/>
            <a:ext cx="6766560" cy="457200"/>
          </a:xfrm>
          <a:prstGeom prst="rect">
            <a:avLst/>
          </a:prstGeom>
          <a:noFill/>
          <a:ln/>
        </p:spPr>
        <p:txBody>
          <a:bodyPr wrap="square" lIns="0" tIns="0" rIns="0" bIns="0" rtlCol="0" anchor="ctr"/>
          <a:lstStyle/>
          <a:p>
            <a:pPr indent="0" marL="0">
              <a:buNone/>
            </a:pPr>
            <a:r>
              <a:rPr lang="en-US" sz="1100" b="1" dirty="0">
                <a:solidFill>
                  <a:srgbClr val="F5F0E8"/>
                </a:solidFill>
                <a:latin typeface="DM Sans" pitchFamily="34" charset="0"/>
                <a:ea typeface="DM Sans" pitchFamily="34" charset="-122"/>
                <a:cs typeface="DM Sans" pitchFamily="34" charset="-120"/>
              </a:rPr>
              <a:t>INCOMPLETE. Do not place on that axis today. Incomplete is a legitimate reading, not a failure.</a:t>
            </a:r>
            <a:endParaRPr lang="en-US" sz="1100" dirty="0"/>
          </a:p>
        </p:txBody>
      </p:sp>
      <p:sp>
        <p:nvSpPr>
          <p:cNvPr id="25" name="Text 23"/>
          <p:cNvSpPr/>
          <p:nvPr/>
        </p:nvSpPr>
        <p:spPr>
          <a:xfrm>
            <a:off x="566928" y="4187952"/>
            <a:ext cx="8010144" cy="457200"/>
          </a:xfrm>
          <a:prstGeom prst="rect">
            <a:avLst/>
          </a:prstGeom>
          <a:noFill/>
          <a:ln/>
        </p:spPr>
        <p:txBody>
          <a:bodyPr wrap="square" lIns="0" tIns="0" rIns="0" bIns="0" rtlCol="0" anchor="ctr"/>
          <a:lstStyle/>
          <a:p>
            <a:pPr indent="0" marL="0">
              <a:lnSpc>
                <a:spcPts val="1250"/>
              </a:lnSpc>
              <a:buNone/>
            </a:pPr>
            <a:r>
              <a:rPr lang="en-US" sz="960" b="1" dirty="0">
                <a:solidFill>
                  <a:srgbClr val="C1440E"/>
                </a:solidFill>
                <a:latin typeface="DM Sans" pitchFamily="34" charset="0"/>
                <a:ea typeface="DM Sans" pitchFamily="34" charset="-122"/>
                <a:cs typeface="DM Sans" pitchFamily="34" charset="-120"/>
              </a:rPr>
              <a:t>ONE axis in the band: read the two adjacent states the other axis selects.</a:t>
            </a:r>
            <a:endParaRPr lang="en-US" sz="960" dirty="0"/>
          </a:p>
          <a:p>
            <a:pPr indent="0" marL="0">
              <a:lnSpc>
                <a:spcPts val="1250"/>
              </a:lnSpc>
              <a:buNone/>
            </a:pPr>
            <a:r>
              <a:rPr lang="en-US" sz="960" b="1" dirty="0">
                <a:solidFill>
                  <a:srgbClr val="C1440E"/>
                </a:solidFill>
                <a:latin typeface="DM Sans" pitchFamily="34" charset="0"/>
                <a:ea typeface="DM Sans" pitchFamily="34" charset="-122"/>
                <a:cs typeface="DM Sans" pitchFamily="34" charset="-120"/>
              </a:rPr>
              <a:t>BOTH axes in the band: record Boundary and assign no single state.</a:t>
            </a:r>
            <a:endParaRPr lang="en-US" sz="960" dirty="0"/>
          </a:p>
        </p:txBody>
      </p:sp>
      <p:sp>
        <p:nvSpPr>
          <p:cNvPr id="27" name="Text 24"/>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28" name="Text 25"/>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18</a:t>
            </a:r>
            <a:endParaRPr lang="en-US" sz="7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CORRECTED READ</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3060"/>
              </a:lnSpc>
              <a:buNone/>
            </a:pPr>
            <a:r>
              <a:rPr lang="en-US" sz="3000" b="1" dirty="0">
                <a:solidFill>
                  <a:srgbClr val="0F2347"/>
                </a:solidFill>
                <a:latin typeface="Cormorant Garamond" pitchFamily="34" charset="0"/>
                <a:ea typeface="Cormorant Garamond" pitchFamily="34" charset="-122"/>
                <a:cs typeface="Cormorant Garamond" pitchFamily="34" charset="-120"/>
              </a:rPr>
              <a:t>Your corrected position</a:t>
            </a:r>
            <a:endParaRPr lang="en-US" sz="30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Privately placed, provisionally held.</a:t>
            </a:r>
            <a:endParaRPr lang="en-US" sz="1150" dirty="0"/>
          </a:p>
        </p:txBody>
      </p:sp>
      <p:sp>
        <p:nvSpPr>
          <p:cNvPr id="5" name="Shape 3"/>
          <p:cNvSpPr/>
          <p:nvPr/>
        </p:nvSpPr>
        <p:spPr>
          <a:xfrm>
            <a:off x="566928" y="1920240"/>
            <a:ext cx="274320" cy="274320"/>
          </a:xfrm>
          <a:prstGeom prst="rect">
            <a:avLst/>
          </a:prstGeom>
          <a:solidFill>
            <a:srgbClr val="0F2347"/>
          </a:solidFill>
          <a:ln/>
        </p:spPr>
        <p:txBody>
          <a:bodyPr/>
          <a:p/>
        </p:txBody>
      </p:sp>
      <p:sp>
        <p:nvSpPr>
          <p:cNvPr id="6" name="Text 4"/>
          <p:cNvSpPr/>
          <p:nvPr/>
        </p:nvSpPr>
        <p:spPr>
          <a:xfrm>
            <a:off x="566928" y="1920240"/>
            <a:ext cx="274320" cy="274320"/>
          </a:xfrm>
          <a:prstGeom prst="rect">
            <a:avLst/>
          </a:prstGeom>
          <a:noFill/>
          <a:ln/>
        </p:spPr>
        <p:txBody>
          <a:bodyPr wrap="square" lIns="0" tIns="0" rIns="0" bIns="0" rtlCol="0" anchor="ctr"/>
          <a:lstStyle/>
          <a:p>
            <a:pPr algn="ctr" indent="0" marL="0">
              <a:buNone/>
            </a:pPr>
            <a:r>
              <a:rPr lang="en-US" sz="950" b="1" dirty="0">
                <a:solidFill>
                  <a:srgbClr val="F5F0E8"/>
                </a:solidFill>
                <a:latin typeface="Montserrat" pitchFamily="34" charset="0"/>
                <a:ea typeface="Montserrat" pitchFamily="34" charset="-122"/>
                <a:cs typeface="Montserrat" pitchFamily="34" charset="-120"/>
              </a:rPr>
              <a:t>1</a:t>
            </a:r>
            <a:endParaRPr lang="en-US" sz="950" dirty="0"/>
          </a:p>
        </p:txBody>
      </p:sp>
      <p:sp>
        <p:nvSpPr>
          <p:cNvPr id="7" name="Text 5"/>
          <p:cNvSpPr/>
          <p:nvPr/>
        </p:nvSpPr>
        <p:spPr>
          <a:xfrm>
            <a:off x="1005840" y="1892808"/>
            <a:ext cx="7571232" cy="256032"/>
          </a:xfrm>
          <a:prstGeom prst="rect">
            <a:avLst/>
          </a:prstGeom>
          <a:noFill/>
          <a:ln/>
        </p:spPr>
        <p:txBody>
          <a:bodyPr wrap="square" lIns="0" tIns="0" rIns="0" bIns="0" rtlCol="0" anchor="ctr"/>
          <a:lstStyle/>
          <a:p>
            <a:pPr indent="0" marL="0">
              <a:buNone/>
            </a:pPr>
            <a:r>
              <a:rPr lang="en-US" sz="1300" b="1" dirty="0">
                <a:solidFill>
                  <a:srgbClr val="0F2347"/>
                </a:solidFill>
                <a:latin typeface="DM Sans" pitchFamily="34" charset="0"/>
                <a:ea typeface="DM Sans" pitchFamily="34" charset="-122"/>
                <a:cs typeface="DM Sans" pitchFamily="34" charset="-120"/>
              </a:rPr>
              <a:t>Place your corrected square</a:t>
            </a:r>
            <a:endParaRPr lang="en-US" sz="1300" dirty="0"/>
          </a:p>
        </p:txBody>
      </p:sp>
      <p:sp>
        <p:nvSpPr>
          <p:cNvPr id="8" name="Text 6"/>
          <p:cNvSpPr/>
          <p:nvPr/>
        </p:nvSpPr>
        <p:spPr>
          <a:xfrm>
            <a:off x="1005840" y="2148840"/>
            <a:ext cx="7571232" cy="256032"/>
          </a:xfrm>
          <a:prstGeom prst="rect">
            <a:avLst/>
          </a:prstGeom>
          <a:noFill/>
          <a:ln/>
        </p:spPr>
        <p:txBody>
          <a:bodyPr wrap="square" lIns="0" tIns="0" rIns="0" bIns="0" rtlCol="0" anchor="ctr"/>
          <a:lstStyle/>
          <a:p>
            <a:pPr indent="0" marL="0">
              <a:buNone/>
            </a:pPr>
            <a:r>
              <a:rPr lang="en-US" sz="1100" dirty="0">
                <a:solidFill>
                  <a:srgbClr val="5A6B84"/>
                </a:solidFill>
                <a:latin typeface="DM Sans" pitchFamily="34" charset="0"/>
                <a:ea typeface="DM Sans" pitchFamily="34" charset="-122"/>
                <a:cs typeface="DM Sans" pitchFamily="34" charset="-120"/>
              </a:rPr>
              <a:t>Or mark boundary, or mark the axis incomplete. All three are legitimate readings.</a:t>
            </a:r>
            <a:endParaRPr lang="en-US" sz="1100" dirty="0"/>
          </a:p>
        </p:txBody>
      </p:sp>
      <p:sp>
        <p:nvSpPr>
          <p:cNvPr id="9" name="Shape 7"/>
          <p:cNvSpPr/>
          <p:nvPr/>
        </p:nvSpPr>
        <p:spPr>
          <a:xfrm>
            <a:off x="566928" y="2578608"/>
            <a:ext cx="274320" cy="274320"/>
          </a:xfrm>
          <a:prstGeom prst="rect">
            <a:avLst/>
          </a:prstGeom>
          <a:solidFill>
            <a:srgbClr val="0F2347"/>
          </a:solidFill>
          <a:ln/>
        </p:spPr>
        <p:txBody>
          <a:bodyPr/>
          <a:p/>
        </p:txBody>
      </p:sp>
      <p:sp>
        <p:nvSpPr>
          <p:cNvPr id="10" name="Text 8"/>
          <p:cNvSpPr/>
          <p:nvPr/>
        </p:nvSpPr>
        <p:spPr>
          <a:xfrm>
            <a:off x="566928" y="2578608"/>
            <a:ext cx="274320" cy="274320"/>
          </a:xfrm>
          <a:prstGeom prst="rect">
            <a:avLst/>
          </a:prstGeom>
          <a:noFill/>
          <a:ln/>
        </p:spPr>
        <p:txBody>
          <a:bodyPr wrap="square" lIns="0" tIns="0" rIns="0" bIns="0" rtlCol="0" anchor="ctr"/>
          <a:lstStyle/>
          <a:p>
            <a:pPr algn="ctr" indent="0" marL="0">
              <a:buNone/>
            </a:pPr>
            <a:r>
              <a:rPr lang="en-US" sz="950" b="1" dirty="0">
                <a:solidFill>
                  <a:srgbClr val="F5F0E8"/>
                </a:solidFill>
                <a:latin typeface="Montserrat" pitchFamily="34" charset="0"/>
                <a:ea typeface="Montserrat" pitchFamily="34" charset="-122"/>
                <a:cs typeface="Montserrat" pitchFamily="34" charset="-120"/>
              </a:rPr>
              <a:t>2</a:t>
            </a:r>
            <a:endParaRPr lang="en-US" sz="950" dirty="0"/>
          </a:p>
        </p:txBody>
      </p:sp>
      <p:sp>
        <p:nvSpPr>
          <p:cNvPr id="11" name="Text 9"/>
          <p:cNvSpPr/>
          <p:nvPr/>
        </p:nvSpPr>
        <p:spPr>
          <a:xfrm>
            <a:off x="1005840" y="2551176"/>
            <a:ext cx="7571232" cy="256032"/>
          </a:xfrm>
          <a:prstGeom prst="rect">
            <a:avLst/>
          </a:prstGeom>
          <a:noFill/>
          <a:ln/>
        </p:spPr>
        <p:txBody>
          <a:bodyPr wrap="square" lIns="0" tIns="0" rIns="0" bIns="0" rtlCol="0" anchor="ctr"/>
          <a:lstStyle/>
          <a:p>
            <a:pPr indent="0" marL="0">
              <a:buNone/>
            </a:pPr>
            <a:r>
              <a:rPr lang="en-US" sz="1300" b="1" dirty="0">
                <a:solidFill>
                  <a:srgbClr val="0F2347"/>
                </a:solidFill>
                <a:latin typeface="DM Sans" pitchFamily="34" charset="0"/>
                <a:ea typeface="DM Sans" pitchFamily="34" charset="-122"/>
                <a:cs typeface="DM Sans" pitchFamily="34" charset="-120"/>
              </a:rPr>
              <a:t>Rate your confidence from 1 to 5</a:t>
            </a:r>
            <a:endParaRPr lang="en-US" sz="1300" dirty="0"/>
          </a:p>
        </p:txBody>
      </p:sp>
      <p:sp>
        <p:nvSpPr>
          <p:cNvPr id="12" name="Text 10"/>
          <p:cNvSpPr/>
          <p:nvPr/>
        </p:nvSpPr>
        <p:spPr>
          <a:xfrm>
            <a:off x="1005840" y="2807208"/>
            <a:ext cx="7571232" cy="256032"/>
          </a:xfrm>
          <a:prstGeom prst="rect">
            <a:avLst/>
          </a:prstGeom>
          <a:noFill/>
          <a:ln/>
        </p:spPr>
        <p:txBody>
          <a:bodyPr wrap="square" lIns="0" tIns="0" rIns="0" bIns="0" rtlCol="0" anchor="ctr"/>
          <a:lstStyle/>
          <a:p>
            <a:pPr indent="0" marL="0">
              <a:buNone/>
            </a:pPr>
            <a:r>
              <a:rPr lang="en-US" sz="1100" dirty="0">
                <a:solidFill>
                  <a:srgbClr val="5A6B84"/>
                </a:solidFill>
                <a:latin typeface="DM Sans" pitchFamily="34" charset="0"/>
                <a:ea typeface="DM Sans" pitchFamily="34" charset="-122"/>
                <a:cs typeface="DM Sans" pitchFamily="34" charset="-120"/>
              </a:rPr>
              <a:t>Compare it with the confidence number from your first placement on workbook page 3. The comparison is private.</a:t>
            </a:r>
            <a:endParaRPr lang="en-US" sz="1100" dirty="0"/>
          </a:p>
        </p:txBody>
      </p:sp>
      <p:sp>
        <p:nvSpPr>
          <p:cNvPr id="13" name="Shape 11"/>
          <p:cNvSpPr/>
          <p:nvPr/>
        </p:nvSpPr>
        <p:spPr>
          <a:xfrm>
            <a:off x="566928" y="3236976"/>
            <a:ext cx="274320" cy="274320"/>
          </a:xfrm>
          <a:prstGeom prst="rect">
            <a:avLst/>
          </a:prstGeom>
          <a:solidFill>
            <a:srgbClr val="0F2347"/>
          </a:solidFill>
          <a:ln/>
        </p:spPr>
        <p:txBody>
          <a:bodyPr/>
          <a:p/>
        </p:txBody>
      </p:sp>
      <p:sp>
        <p:nvSpPr>
          <p:cNvPr id="14" name="Text 12"/>
          <p:cNvSpPr/>
          <p:nvPr/>
        </p:nvSpPr>
        <p:spPr>
          <a:xfrm>
            <a:off x="566928" y="3236976"/>
            <a:ext cx="274320" cy="274320"/>
          </a:xfrm>
          <a:prstGeom prst="rect">
            <a:avLst/>
          </a:prstGeom>
          <a:noFill/>
          <a:ln/>
        </p:spPr>
        <p:txBody>
          <a:bodyPr wrap="square" lIns="0" tIns="0" rIns="0" bIns="0" rtlCol="0" anchor="ctr"/>
          <a:lstStyle/>
          <a:p>
            <a:pPr algn="ctr" indent="0" marL="0">
              <a:buNone/>
            </a:pPr>
            <a:r>
              <a:rPr lang="en-US" sz="950" b="1" dirty="0">
                <a:solidFill>
                  <a:srgbClr val="F5F0E8"/>
                </a:solidFill>
                <a:latin typeface="Montserrat" pitchFamily="34" charset="0"/>
                <a:ea typeface="Montserrat" pitchFamily="34" charset="-122"/>
                <a:cs typeface="Montserrat" pitchFamily="34" charset="-120"/>
              </a:rPr>
              <a:t>3</a:t>
            </a:r>
            <a:endParaRPr lang="en-US" sz="950" dirty="0"/>
          </a:p>
        </p:txBody>
      </p:sp>
      <p:sp>
        <p:nvSpPr>
          <p:cNvPr id="15" name="Text 13"/>
          <p:cNvSpPr/>
          <p:nvPr/>
        </p:nvSpPr>
        <p:spPr>
          <a:xfrm>
            <a:off x="1005840" y="3209544"/>
            <a:ext cx="7571232" cy="256032"/>
          </a:xfrm>
          <a:prstGeom prst="rect">
            <a:avLst/>
          </a:prstGeom>
          <a:noFill/>
          <a:ln/>
        </p:spPr>
        <p:txBody>
          <a:bodyPr wrap="square" lIns="0" tIns="0" rIns="0" bIns="0" rtlCol="0" anchor="ctr"/>
          <a:lstStyle/>
          <a:p>
            <a:pPr indent="0" marL="0">
              <a:buNone/>
            </a:pPr>
            <a:r>
              <a:rPr lang="en-US" sz="1300" b="1" dirty="0">
                <a:solidFill>
                  <a:srgbClr val="0F2347"/>
                </a:solidFill>
                <a:latin typeface="DM Sans" pitchFamily="34" charset="0"/>
                <a:ea typeface="DM Sans" pitchFamily="34" charset="-122"/>
                <a:cs typeface="DM Sans" pitchFamily="34" charset="-120"/>
              </a:rPr>
              <a:t>Keep both readings visible</a:t>
            </a:r>
            <a:endParaRPr lang="en-US" sz="1300" dirty="0"/>
          </a:p>
        </p:txBody>
      </p:sp>
      <p:sp>
        <p:nvSpPr>
          <p:cNvPr id="16" name="Text 14"/>
          <p:cNvSpPr/>
          <p:nvPr/>
        </p:nvSpPr>
        <p:spPr>
          <a:xfrm>
            <a:off x="1005840" y="3465576"/>
            <a:ext cx="7571232" cy="256032"/>
          </a:xfrm>
          <a:prstGeom prst="rect">
            <a:avLst/>
          </a:prstGeom>
          <a:noFill/>
          <a:ln/>
        </p:spPr>
        <p:txBody>
          <a:bodyPr wrap="square" lIns="0" tIns="0" rIns="0" bIns="0" rtlCol="0" anchor="ctr"/>
          <a:lstStyle/>
          <a:p>
            <a:pPr indent="0" marL="0">
              <a:buNone/>
            </a:pPr>
            <a:r>
              <a:rPr lang="en-US" sz="1100" dirty="0">
                <a:solidFill>
                  <a:srgbClr val="5A6B84"/>
                </a:solidFill>
                <a:latin typeface="DM Sans" pitchFamily="34" charset="0"/>
                <a:ea typeface="DM Sans" pitchFamily="34" charset="-122"/>
                <a:cs typeface="DM Sans" pitchFamily="34" charset="-120"/>
              </a:rPr>
              <a:t>The first number and the corrected number sit side by side. The distance between them is the finding.</a:t>
            </a:r>
            <a:endParaRPr lang="en-US" sz="1100" dirty="0"/>
          </a:p>
        </p:txBody>
      </p:sp>
      <p:sp>
        <p:nvSpPr>
          <p:cNvPr id="17" name="Shape 15"/>
          <p:cNvSpPr/>
          <p:nvPr/>
        </p:nvSpPr>
        <p:spPr>
          <a:xfrm>
            <a:off x="566928" y="3968496"/>
            <a:ext cx="8010144" cy="548640"/>
          </a:xfrm>
          <a:prstGeom prst="rect">
            <a:avLst/>
          </a:prstGeom>
          <a:solidFill>
            <a:srgbClr val="0F2347"/>
          </a:solidFill>
          <a:ln/>
        </p:spPr>
        <p:txBody>
          <a:bodyPr/>
          <a:p/>
        </p:txBody>
      </p:sp>
      <p:sp>
        <p:nvSpPr>
          <p:cNvPr id="18" name="Text 16"/>
          <p:cNvSpPr/>
          <p:nvPr/>
        </p:nvSpPr>
        <p:spPr>
          <a:xfrm>
            <a:off x="804672" y="3968496"/>
            <a:ext cx="7534656" cy="548640"/>
          </a:xfrm>
          <a:prstGeom prst="rect">
            <a:avLst/>
          </a:prstGeom>
          <a:noFill/>
          <a:ln/>
        </p:spPr>
        <p:txBody>
          <a:bodyPr wrap="square" lIns="0" tIns="0" rIns="0" bIns="0" rtlCol="0" anchor="ctr"/>
          <a:lstStyle/>
          <a:p>
            <a:pPr indent="0" marL="0">
              <a:buNone/>
            </a:pPr>
            <a:r>
              <a:rPr lang="en-US" sz="1600" b="1" dirty="0">
                <a:solidFill>
                  <a:srgbClr val="F5F0E8"/>
                </a:solidFill>
                <a:latin typeface="Cormorant Garamond" pitchFamily="34" charset="0"/>
                <a:ea typeface="Cormorant Garamond" pitchFamily="34" charset="-122"/>
                <a:cs typeface="Cormorant Garamond" pitchFamily="34" charset="-120"/>
              </a:rPr>
              <a:t>A position you can defend with evidence is worth more than a position you feel confident about.</a:t>
            </a:r>
            <a:endParaRPr lang="en-US" sz="1600" dirty="0"/>
          </a:p>
        </p:txBody>
      </p:sp>
      <p:sp>
        <p:nvSpPr>
          <p:cNvPr id="20" name="Text 17"/>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21" name="Text 18"/>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19</a:t>
            </a:r>
            <a:endParaRPr lang="en-US" sz="7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STATE COSTS</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3060"/>
              </a:lnSpc>
              <a:buNone/>
            </a:pPr>
            <a:r>
              <a:rPr lang="en-US" sz="3000" b="1" dirty="0">
                <a:solidFill>
                  <a:srgbClr val="0F2347"/>
                </a:solidFill>
                <a:latin typeface="Cormorant Garamond" pitchFamily="34" charset="0"/>
                <a:ea typeface="Cormorant Garamond" pitchFamily="34" charset="-122"/>
                <a:cs typeface="Cormorant Garamond" pitchFamily="34" charset="-120"/>
              </a:rPr>
              <a:t>What each state costs</a:t>
            </a:r>
            <a:endParaRPr lang="en-US" sz="30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Four states. One immediate cost to notice in each.</a:t>
            </a:r>
            <a:endParaRPr lang="en-US" sz="1150" dirty="0"/>
          </a:p>
        </p:txBody>
      </p:sp>
      <p:sp>
        <p:nvSpPr>
          <p:cNvPr id="5" name="Shape 3"/>
          <p:cNvSpPr/>
          <p:nvPr/>
        </p:nvSpPr>
        <p:spPr>
          <a:xfrm>
            <a:off x="566928" y="1883664"/>
            <a:ext cx="2148840" cy="457200"/>
          </a:xfrm>
          <a:prstGeom prst="rect">
            <a:avLst/>
          </a:prstGeom>
          <a:solidFill>
            <a:srgbClr val="0F2347"/>
          </a:solidFill>
          <a:ln/>
        </p:spPr>
        <p:txBody>
          <a:bodyPr/>
          <a:p/>
        </p:txBody>
      </p:sp>
      <p:sp>
        <p:nvSpPr>
          <p:cNvPr id="6" name="Text 4"/>
          <p:cNvSpPr/>
          <p:nvPr/>
        </p:nvSpPr>
        <p:spPr>
          <a:xfrm>
            <a:off x="749808" y="1883664"/>
            <a:ext cx="1828800" cy="457200"/>
          </a:xfrm>
          <a:prstGeom prst="rect">
            <a:avLst/>
          </a:prstGeom>
          <a:noFill/>
          <a:ln/>
        </p:spPr>
        <p:txBody>
          <a:bodyPr wrap="square" lIns="0" tIns="0" rIns="0" bIns="0" rtlCol="0" anchor="ctr"/>
          <a:lstStyle/>
          <a:p>
            <a:pPr indent="0" marL="0">
              <a:buNone/>
            </a:pPr>
            <a:r>
              <a:rPr lang="en-US" sz="1000" b="1" spc="100" kern="0" dirty="0">
                <a:solidFill>
                  <a:srgbClr val="C9A84C"/>
                </a:solidFill>
                <a:latin typeface="Montserrat" pitchFamily="34" charset="0"/>
                <a:ea typeface="Montserrat" pitchFamily="34" charset="-122"/>
                <a:cs typeface="Montserrat" pitchFamily="34" charset="-120"/>
              </a:rPr>
              <a:t>DEPTH TRAP</a:t>
            </a:r>
            <a:endParaRPr lang="en-US" sz="1000" dirty="0"/>
          </a:p>
        </p:txBody>
      </p:sp>
      <p:sp>
        <p:nvSpPr>
          <p:cNvPr id="7" name="Text 5"/>
          <p:cNvSpPr/>
          <p:nvPr/>
        </p:nvSpPr>
        <p:spPr>
          <a:xfrm>
            <a:off x="2944368" y="1883664"/>
            <a:ext cx="5632704" cy="457200"/>
          </a:xfrm>
          <a:prstGeom prst="rect">
            <a:avLst/>
          </a:prstGeom>
          <a:noFill/>
          <a:ln/>
        </p:spPr>
        <p:txBody>
          <a:bodyPr wrap="square" lIns="0" tIns="0" rIns="0" bIns="0" rtlCol="0" anchor="ctr"/>
          <a:lstStyle/>
          <a:p>
            <a:pPr indent="0" marL="0">
              <a:buNone/>
            </a:pPr>
            <a:r>
              <a:rPr lang="en-US" sz="1250" dirty="0">
                <a:solidFill>
                  <a:srgbClr val="0F2347"/>
                </a:solidFill>
                <a:latin typeface="DM Sans" pitchFamily="34" charset="0"/>
                <a:ea typeface="DM Sans" pitchFamily="34" charset="-122"/>
                <a:cs typeface="DM Sans" pitchFamily="34" charset="-120"/>
              </a:rPr>
              <a:t>Value is deep but context-bound.</a:t>
            </a:r>
            <a:endParaRPr lang="en-US" sz="1250" dirty="0"/>
          </a:p>
        </p:txBody>
      </p:sp>
      <p:sp>
        <p:nvSpPr>
          <p:cNvPr id="8" name="Shape 6"/>
          <p:cNvSpPr/>
          <p:nvPr/>
        </p:nvSpPr>
        <p:spPr>
          <a:xfrm>
            <a:off x="566928" y="2450592"/>
            <a:ext cx="2148840" cy="457200"/>
          </a:xfrm>
          <a:prstGeom prst="rect">
            <a:avLst/>
          </a:prstGeom>
          <a:solidFill>
            <a:srgbClr val="E9EDF3"/>
          </a:solidFill>
          <a:ln/>
        </p:spPr>
        <p:txBody>
          <a:bodyPr/>
          <a:p/>
        </p:txBody>
      </p:sp>
      <p:sp>
        <p:nvSpPr>
          <p:cNvPr id="9" name="Text 7"/>
          <p:cNvSpPr/>
          <p:nvPr/>
        </p:nvSpPr>
        <p:spPr>
          <a:xfrm>
            <a:off x="749808" y="2450592"/>
            <a:ext cx="1828800" cy="457200"/>
          </a:xfrm>
          <a:prstGeom prst="rect">
            <a:avLst/>
          </a:prstGeom>
          <a:noFill/>
          <a:ln/>
        </p:spPr>
        <p:txBody>
          <a:bodyPr wrap="square" lIns="0" tIns="0" rIns="0" bIns="0" rtlCol="0" anchor="ctr"/>
          <a:lstStyle/>
          <a:p>
            <a:pPr indent="0" marL="0">
              <a:buNone/>
            </a:pPr>
            <a:r>
              <a:rPr lang="en-US" sz="1000" b="1" spc="100" kern="0" dirty="0">
                <a:solidFill>
                  <a:srgbClr val="0F2347"/>
                </a:solidFill>
                <a:latin typeface="Montserrat" pitchFamily="34" charset="0"/>
                <a:ea typeface="Montserrat" pitchFamily="34" charset="-122"/>
                <a:cs typeface="Montserrat" pitchFamily="34" charset="-120"/>
              </a:rPr>
              <a:t>COMPOUNDING</a:t>
            </a:r>
            <a:endParaRPr lang="en-US" sz="1000" dirty="0"/>
          </a:p>
        </p:txBody>
      </p:sp>
      <p:sp>
        <p:nvSpPr>
          <p:cNvPr id="10" name="Text 8"/>
          <p:cNvSpPr/>
          <p:nvPr/>
        </p:nvSpPr>
        <p:spPr>
          <a:xfrm>
            <a:off x="2944368" y="2450592"/>
            <a:ext cx="5632704" cy="457200"/>
          </a:xfrm>
          <a:prstGeom prst="rect">
            <a:avLst/>
          </a:prstGeom>
          <a:noFill/>
          <a:ln/>
        </p:spPr>
        <p:txBody>
          <a:bodyPr wrap="square" lIns="0" tIns="0" rIns="0" bIns="0" rtlCol="0" anchor="ctr"/>
          <a:lstStyle/>
          <a:p>
            <a:pPr indent="0" marL="0">
              <a:buNone/>
            </a:pPr>
            <a:r>
              <a:rPr lang="en-US" sz="1250" dirty="0">
                <a:solidFill>
                  <a:srgbClr val="0F2347"/>
                </a:solidFill>
                <a:latin typeface="DM Sans" pitchFamily="34" charset="0"/>
                <a:ea typeface="DM Sans" pitchFamily="34" charset="-122"/>
                <a:cs typeface="DM Sans" pitchFamily="34" charset="-120"/>
              </a:rPr>
              <a:t>A strong current position still requires renewal.</a:t>
            </a:r>
            <a:endParaRPr lang="en-US" sz="1250" dirty="0"/>
          </a:p>
        </p:txBody>
      </p:sp>
      <p:sp>
        <p:nvSpPr>
          <p:cNvPr id="11" name="Shape 9"/>
          <p:cNvSpPr/>
          <p:nvPr/>
        </p:nvSpPr>
        <p:spPr>
          <a:xfrm>
            <a:off x="566928" y="3017520"/>
            <a:ext cx="2148840" cy="457200"/>
          </a:xfrm>
          <a:prstGeom prst="rect">
            <a:avLst/>
          </a:prstGeom>
          <a:solidFill>
            <a:srgbClr val="0F2347"/>
          </a:solidFill>
          <a:ln/>
        </p:spPr>
        <p:txBody>
          <a:bodyPr/>
          <a:p/>
        </p:txBody>
      </p:sp>
      <p:sp>
        <p:nvSpPr>
          <p:cNvPr id="12" name="Text 10"/>
          <p:cNvSpPr/>
          <p:nvPr/>
        </p:nvSpPr>
        <p:spPr>
          <a:xfrm>
            <a:off x="749808" y="3017520"/>
            <a:ext cx="1828800" cy="457200"/>
          </a:xfrm>
          <a:prstGeom prst="rect">
            <a:avLst/>
          </a:prstGeom>
          <a:noFill/>
          <a:ln/>
        </p:spPr>
        <p:txBody>
          <a:bodyPr wrap="square" lIns="0" tIns="0" rIns="0" bIns="0" rtlCol="0" anchor="ctr"/>
          <a:lstStyle/>
          <a:p>
            <a:pPr indent="0" marL="0">
              <a:buNone/>
            </a:pPr>
            <a:r>
              <a:rPr lang="en-US" sz="1000" b="1" spc="100" kern="0" dirty="0">
                <a:solidFill>
                  <a:srgbClr val="C9A84C"/>
                </a:solidFill>
                <a:latin typeface="Montserrat" pitchFamily="34" charset="0"/>
                <a:ea typeface="Montserrat" pitchFamily="34" charset="-122"/>
                <a:cs typeface="Montserrat" pitchFamily="34" charset="-120"/>
              </a:rPr>
              <a:t>STAGNANT</a:t>
            </a:r>
            <a:endParaRPr lang="en-US" sz="1000" dirty="0"/>
          </a:p>
        </p:txBody>
      </p:sp>
      <p:sp>
        <p:nvSpPr>
          <p:cNvPr id="13" name="Text 11"/>
          <p:cNvSpPr/>
          <p:nvPr/>
        </p:nvSpPr>
        <p:spPr>
          <a:xfrm>
            <a:off x="2944368" y="3017520"/>
            <a:ext cx="5632704" cy="457200"/>
          </a:xfrm>
          <a:prstGeom prst="rect">
            <a:avLst/>
          </a:prstGeom>
          <a:noFill/>
          <a:ln/>
        </p:spPr>
        <p:txBody>
          <a:bodyPr wrap="square" lIns="0" tIns="0" rIns="0" bIns="0" rtlCol="0" anchor="ctr"/>
          <a:lstStyle/>
          <a:p>
            <a:pPr indent="0" marL="0">
              <a:buNone/>
            </a:pPr>
            <a:r>
              <a:rPr lang="en-US" sz="1250" dirty="0">
                <a:solidFill>
                  <a:srgbClr val="0F2347"/>
                </a:solidFill>
                <a:latin typeface="DM Sans" pitchFamily="34" charset="0"/>
                <a:ea typeface="DM Sans" pitchFamily="34" charset="-122"/>
                <a:cs typeface="DM Sans" pitchFamily="34" charset="-120"/>
              </a:rPr>
              <a:t>Neither axis is accruing.</a:t>
            </a:r>
            <a:endParaRPr lang="en-US" sz="1250" dirty="0"/>
          </a:p>
        </p:txBody>
      </p:sp>
      <p:sp>
        <p:nvSpPr>
          <p:cNvPr id="14" name="Shape 12"/>
          <p:cNvSpPr/>
          <p:nvPr/>
        </p:nvSpPr>
        <p:spPr>
          <a:xfrm>
            <a:off x="566928" y="3584448"/>
            <a:ext cx="2148840" cy="457200"/>
          </a:xfrm>
          <a:prstGeom prst="rect">
            <a:avLst/>
          </a:prstGeom>
          <a:solidFill>
            <a:srgbClr val="E9EDF3"/>
          </a:solidFill>
          <a:ln/>
        </p:spPr>
        <p:txBody>
          <a:bodyPr/>
          <a:p/>
        </p:txBody>
      </p:sp>
      <p:sp>
        <p:nvSpPr>
          <p:cNvPr id="15" name="Text 13"/>
          <p:cNvSpPr/>
          <p:nvPr/>
        </p:nvSpPr>
        <p:spPr>
          <a:xfrm>
            <a:off x="749808" y="3584448"/>
            <a:ext cx="1828800" cy="457200"/>
          </a:xfrm>
          <a:prstGeom prst="rect">
            <a:avLst/>
          </a:prstGeom>
          <a:noFill/>
          <a:ln/>
        </p:spPr>
        <p:txBody>
          <a:bodyPr wrap="square" lIns="0" tIns="0" rIns="0" bIns="0" rtlCol="0" anchor="ctr"/>
          <a:lstStyle/>
          <a:p>
            <a:pPr indent="0" marL="0">
              <a:buNone/>
            </a:pPr>
            <a:r>
              <a:rPr lang="en-US" sz="1000" b="1" spc="100" kern="0" dirty="0">
                <a:solidFill>
                  <a:srgbClr val="0F2347"/>
                </a:solidFill>
                <a:latin typeface="Montserrat" pitchFamily="34" charset="0"/>
                <a:ea typeface="Montserrat" pitchFamily="34" charset="-122"/>
                <a:cs typeface="Montserrat" pitchFamily="34" charset="-120"/>
              </a:rPr>
              <a:t>FRAGILE</a:t>
            </a:r>
            <a:endParaRPr lang="en-US" sz="1000" dirty="0"/>
          </a:p>
        </p:txBody>
      </p:sp>
      <p:sp>
        <p:nvSpPr>
          <p:cNvPr id="16" name="Text 14"/>
          <p:cNvSpPr/>
          <p:nvPr/>
        </p:nvSpPr>
        <p:spPr>
          <a:xfrm>
            <a:off x="2944368" y="3584448"/>
            <a:ext cx="5632704" cy="457200"/>
          </a:xfrm>
          <a:prstGeom prst="rect">
            <a:avLst/>
          </a:prstGeom>
          <a:noFill/>
          <a:ln/>
        </p:spPr>
        <p:txBody>
          <a:bodyPr wrap="square" lIns="0" tIns="0" rIns="0" bIns="0" rtlCol="0" anchor="ctr"/>
          <a:lstStyle/>
          <a:p>
            <a:pPr indent="0" marL="0">
              <a:buNone/>
            </a:pPr>
            <a:r>
              <a:rPr lang="en-US" sz="1250" dirty="0">
                <a:solidFill>
                  <a:srgbClr val="0F2347"/>
                </a:solidFill>
                <a:latin typeface="DM Sans" pitchFamily="34" charset="0"/>
                <a:ea typeface="DM Sans" pitchFamily="34" charset="-122"/>
                <a:cs typeface="DM Sans" pitchFamily="34" charset="-120"/>
              </a:rPr>
              <a:t>What travels today is no longer being renewed.</a:t>
            </a:r>
            <a:endParaRPr lang="en-US" sz="1250" dirty="0"/>
          </a:p>
        </p:txBody>
      </p:sp>
      <p:sp>
        <p:nvSpPr>
          <p:cNvPr id="17" name="Text 15"/>
          <p:cNvSpPr/>
          <p:nvPr/>
        </p:nvSpPr>
        <p:spPr>
          <a:xfrm>
            <a:off x="566928" y="4224528"/>
            <a:ext cx="8010144" cy="457200"/>
          </a:xfrm>
          <a:prstGeom prst="rect">
            <a:avLst/>
          </a:prstGeom>
          <a:noFill/>
          <a:ln/>
        </p:spPr>
        <p:txBody>
          <a:bodyPr wrap="square" lIns="0" tIns="0" rIns="0" bIns="0" rtlCol="0" anchor="ctr"/>
          <a:lstStyle/>
          <a:p>
            <a:pPr indent="0" marL="0">
              <a:lnSpc>
                <a:spcPts val="1400"/>
              </a:lnSpc>
              <a:buNone/>
            </a:pPr>
            <a:r>
              <a:rPr lang="en-US" sz="1060" i="1" dirty="0">
                <a:solidFill>
                  <a:srgbClr val="5A6B84"/>
                </a:solidFill>
                <a:latin typeface="DM Sans" pitchFamily="34" charset="0"/>
                <a:ea typeface="DM Sans" pitchFamily="34" charset="-122"/>
                <a:cs typeface="DM Sans" pitchFamily="34" charset="-120"/>
              </a:rPr>
              <a:t>That is the reading this assessment gives you today, and it is complete. Working a square in depth, against a named destination, and rerunning it as conditions change is what continued work adds.</a:t>
            </a:r>
            <a:endParaRPr lang="en-US" sz="1060" dirty="0"/>
          </a:p>
        </p:txBody>
      </p:sp>
      <p:sp>
        <p:nvSpPr>
          <p:cNvPr id="19" name="Text 16"/>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20" name="Text 17"/>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20</a:t>
            </a:r>
            <a:endParaRPr lang="en-US" sz="7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MOVE CATEGORIES</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3060"/>
              </a:lnSpc>
              <a:buNone/>
            </a:pPr>
            <a:r>
              <a:rPr lang="en-US" sz="3000" b="1" dirty="0">
                <a:solidFill>
                  <a:srgbClr val="0F2347"/>
                </a:solidFill>
                <a:latin typeface="Cormorant Garamond" pitchFamily="34" charset="0"/>
                <a:ea typeface="Cormorant Garamond" pitchFamily="34" charset="-122"/>
                <a:cs typeface="Cormorant Garamond" pitchFamily="34" charset="-120"/>
              </a:rPr>
              <a:t>Seven categories of move</a:t>
            </a:r>
            <a:endParaRPr lang="en-US" sz="3000" dirty="0"/>
          </a:p>
        </p:txBody>
      </p:sp>
      <p:sp>
        <p:nvSpPr>
          <p:cNvPr id="4" name="Text 2"/>
          <p:cNvSpPr/>
          <p:nvPr/>
        </p:nvSpPr>
        <p:spPr>
          <a:xfrm>
            <a:off x="566928" y="1353312"/>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Direction, not a plan. Your evidence helps you choose which category to test.</a:t>
            </a:r>
            <a:endParaRPr lang="en-US" sz="1150" dirty="0"/>
          </a:p>
        </p:txBody>
      </p:sp>
      <p:sp>
        <p:nvSpPr>
          <p:cNvPr id="5" name="Shape 3"/>
          <p:cNvSpPr/>
          <p:nvPr/>
        </p:nvSpPr>
        <p:spPr>
          <a:xfrm>
            <a:off x="566928" y="1773936"/>
            <a:ext cx="274320" cy="274320"/>
          </a:xfrm>
          <a:prstGeom prst="rect">
            <a:avLst/>
          </a:prstGeom>
          <a:solidFill>
            <a:srgbClr val="0F2347"/>
          </a:solidFill>
          <a:ln/>
        </p:spPr>
        <p:txBody>
          <a:bodyPr/>
          <a:p/>
        </p:txBody>
      </p:sp>
      <p:sp>
        <p:nvSpPr>
          <p:cNvPr id="6" name="Text 4"/>
          <p:cNvSpPr/>
          <p:nvPr/>
        </p:nvSpPr>
        <p:spPr>
          <a:xfrm>
            <a:off x="566928" y="1773936"/>
            <a:ext cx="274320" cy="274320"/>
          </a:xfrm>
          <a:prstGeom prst="rect">
            <a:avLst/>
          </a:prstGeom>
          <a:noFill/>
          <a:ln/>
        </p:spPr>
        <p:txBody>
          <a:bodyPr wrap="square" lIns="0" tIns="0" rIns="0" bIns="0" rtlCol="0" anchor="ctr"/>
          <a:lstStyle/>
          <a:p>
            <a:pPr algn="ctr" indent="0" marL="0">
              <a:buNone/>
            </a:pPr>
            <a:r>
              <a:rPr lang="en-US" sz="950" b="1" dirty="0">
                <a:solidFill>
                  <a:srgbClr val="F5F0E8"/>
                </a:solidFill>
                <a:latin typeface="Montserrat" pitchFamily="34" charset="0"/>
                <a:ea typeface="Montserrat" pitchFamily="34" charset="-122"/>
                <a:cs typeface="Montserrat" pitchFamily="34" charset="-120"/>
              </a:rPr>
              <a:t>1</a:t>
            </a:r>
            <a:endParaRPr lang="en-US" sz="950" dirty="0"/>
          </a:p>
        </p:txBody>
      </p:sp>
      <p:sp>
        <p:nvSpPr>
          <p:cNvPr id="7" name="Text 5"/>
          <p:cNvSpPr/>
          <p:nvPr/>
        </p:nvSpPr>
        <p:spPr>
          <a:xfrm>
            <a:off x="987552" y="1755648"/>
            <a:ext cx="2432304" cy="274320"/>
          </a:xfrm>
          <a:prstGeom prst="rect">
            <a:avLst/>
          </a:prstGeom>
          <a:noFill/>
          <a:ln/>
        </p:spPr>
        <p:txBody>
          <a:bodyPr wrap="square" lIns="0" tIns="0" rIns="0" bIns="0" rtlCol="0" anchor="ctr"/>
          <a:lstStyle/>
          <a:p>
            <a:pPr indent="0" marL="0">
              <a:buNone/>
            </a:pPr>
            <a:r>
              <a:rPr lang="en-US" sz="1160" b="1" dirty="0">
                <a:solidFill>
                  <a:srgbClr val="0F2347"/>
                </a:solidFill>
                <a:latin typeface="DM Sans" pitchFamily="34" charset="0"/>
                <a:ea typeface="DM Sans" pitchFamily="34" charset="-122"/>
                <a:cs typeface="DM Sans" pitchFamily="34" charset="-120"/>
              </a:rPr>
              <a:t>Remain and deepen</a:t>
            </a:r>
            <a:endParaRPr lang="en-US" sz="1160" dirty="0"/>
          </a:p>
        </p:txBody>
      </p:sp>
      <p:sp>
        <p:nvSpPr>
          <p:cNvPr id="8" name="Text 6"/>
          <p:cNvSpPr/>
          <p:nvPr/>
        </p:nvSpPr>
        <p:spPr>
          <a:xfrm>
            <a:off x="3566160" y="1755648"/>
            <a:ext cx="5010912" cy="274320"/>
          </a:xfrm>
          <a:prstGeom prst="rect">
            <a:avLst/>
          </a:prstGeom>
          <a:noFill/>
          <a:ln/>
        </p:spPr>
        <p:txBody>
          <a:bodyPr wrap="square" lIns="0" tIns="0" rIns="0" bIns="0" rtlCol="0" anchor="ctr"/>
          <a:lstStyle/>
          <a:p>
            <a:pPr indent="0" marL="0">
              <a:buNone/>
            </a:pPr>
            <a:r>
              <a:rPr lang="en-US" sz="1060" dirty="0">
                <a:solidFill>
                  <a:srgbClr val="5A6B84"/>
                </a:solidFill>
                <a:latin typeface="DM Sans" pitchFamily="34" charset="0"/>
                <a:ea typeface="DM Sans" pitchFamily="34" charset="-122"/>
                <a:cs typeface="DM Sans" pitchFamily="34" charset="-120"/>
              </a:rPr>
              <a:t>The formation conditions are real and worth protecting.</a:t>
            </a:r>
            <a:endParaRPr lang="en-US" sz="1060" dirty="0"/>
          </a:p>
        </p:txBody>
      </p:sp>
      <p:sp>
        <p:nvSpPr>
          <p:cNvPr id="9" name="Shape 7"/>
          <p:cNvSpPr/>
          <p:nvPr/>
        </p:nvSpPr>
        <p:spPr>
          <a:xfrm>
            <a:off x="566928" y="2139696"/>
            <a:ext cx="274320" cy="274320"/>
          </a:xfrm>
          <a:prstGeom prst="rect">
            <a:avLst/>
          </a:prstGeom>
          <a:solidFill>
            <a:srgbClr val="0F2347"/>
          </a:solidFill>
          <a:ln/>
        </p:spPr>
        <p:txBody>
          <a:bodyPr/>
          <a:p/>
        </p:txBody>
      </p:sp>
      <p:sp>
        <p:nvSpPr>
          <p:cNvPr id="10" name="Text 8"/>
          <p:cNvSpPr/>
          <p:nvPr/>
        </p:nvSpPr>
        <p:spPr>
          <a:xfrm>
            <a:off x="566928" y="2139696"/>
            <a:ext cx="274320" cy="274320"/>
          </a:xfrm>
          <a:prstGeom prst="rect">
            <a:avLst/>
          </a:prstGeom>
          <a:noFill/>
          <a:ln/>
        </p:spPr>
        <p:txBody>
          <a:bodyPr wrap="square" lIns="0" tIns="0" rIns="0" bIns="0" rtlCol="0" anchor="ctr"/>
          <a:lstStyle/>
          <a:p>
            <a:pPr algn="ctr" indent="0" marL="0">
              <a:buNone/>
            </a:pPr>
            <a:r>
              <a:rPr lang="en-US" sz="950" b="1" dirty="0">
                <a:solidFill>
                  <a:srgbClr val="F5F0E8"/>
                </a:solidFill>
                <a:latin typeface="Montserrat" pitchFamily="34" charset="0"/>
                <a:ea typeface="Montserrat" pitchFamily="34" charset="-122"/>
                <a:cs typeface="Montserrat" pitchFamily="34" charset="-120"/>
              </a:rPr>
              <a:t>2</a:t>
            </a:r>
            <a:endParaRPr lang="en-US" sz="950" dirty="0"/>
          </a:p>
        </p:txBody>
      </p:sp>
      <p:sp>
        <p:nvSpPr>
          <p:cNvPr id="11" name="Text 9"/>
          <p:cNvSpPr/>
          <p:nvPr/>
        </p:nvSpPr>
        <p:spPr>
          <a:xfrm>
            <a:off x="987552" y="2121408"/>
            <a:ext cx="2432304" cy="274320"/>
          </a:xfrm>
          <a:prstGeom prst="rect">
            <a:avLst/>
          </a:prstGeom>
          <a:noFill/>
          <a:ln/>
        </p:spPr>
        <p:txBody>
          <a:bodyPr wrap="square" lIns="0" tIns="0" rIns="0" bIns="0" rtlCol="0" anchor="ctr"/>
          <a:lstStyle/>
          <a:p>
            <a:pPr indent="0" marL="0">
              <a:buNone/>
            </a:pPr>
            <a:r>
              <a:rPr lang="en-US" sz="1160" b="1" dirty="0">
                <a:solidFill>
                  <a:srgbClr val="0F2347"/>
                </a:solidFill>
                <a:latin typeface="DM Sans" pitchFamily="34" charset="0"/>
                <a:ea typeface="DM Sans" pitchFamily="34" charset="-122"/>
                <a:cs typeface="DM Sans" pitchFamily="34" charset="-120"/>
              </a:rPr>
              <a:t>Translate what is built</a:t>
            </a:r>
            <a:endParaRPr lang="en-US" sz="1160" dirty="0"/>
          </a:p>
        </p:txBody>
      </p:sp>
      <p:sp>
        <p:nvSpPr>
          <p:cNvPr id="12" name="Text 10"/>
          <p:cNvSpPr/>
          <p:nvPr/>
        </p:nvSpPr>
        <p:spPr>
          <a:xfrm>
            <a:off x="3566160" y="2121408"/>
            <a:ext cx="5010912" cy="274320"/>
          </a:xfrm>
          <a:prstGeom prst="rect">
            <a:avLst/>
          </a:prstGeom>
          <a:noFill/>
          <a:ln/>
        </p:spPr>
        <p:txBody>
          <a:bodyPr wrap="square" lIns="0" tIns="0" rIns="0" bIns="0" rtlCol="0" anchor="ctr"/>
          <a:lstStyle/>
          <a:p>
            <a:pPr indent="0" marL="0">
              <a:buNone/>
            </a:pPr>
            <a:r>
              <a:rPr lang="en-US" sz="1060" dirty="0">
                <a:solidFill>
                  <a:srgbClr val="5A6B84"/>
                </a:solidFill>
                <a:latin typeface="DM Sans" pitchFamily="34" charset="0"/>
                <a:ea typeface="DM Sans" pitchFamily="34" charset="-122"/>
                <a:cs typeface="DM Sans" pitchFamily="34" charset="-120"/>
              </a:rPr>
              <a:t>The capability exists. The evidence for it is not yet legible outside.</a:t>
            </a:r>
            <a:endParaRPr lang="en-US" sz="1060" dirty="0"/>
          </a:p>
        </p:txBody>
      </p:sp>
      <p:sp>
        <p:nvSpPr>
          <p:cNvPr id="13" name="Shape 11"/>
          <p:cNvSpPr/>
          <p:nvPr/>
        </p:nvSpPr>
        <p:spPr>
          <a:xfrm>
            <a:off x="566928" y="2505456"/>
            <a:ext cx="274320" cy="274320"/>
          </a:xfrm>
          <a:prstGeom prst="rect">
            <a:avLst/>
          </a:prstGeom>
          <a:solidFill>
            <a:srgbClr val="0F2347"/>
          </a:solidFill>
          <a:ln/>
        </p:spPr>
        <p:txBody>
          <a:bodyPr/>
          <a:p/>
        </p:txBody>
      </p:sp>
      <p:sp>
        <p:nvSpPr>
          <p:cNvPr id="14" name="Text 12"/>
          <p:cNvSpPr/>
          <p:nvPr/>
        </p:nvSpPr>
        <p:spPr>
          <a:xfrm>
            <a:off x="566928" y="2505456"/>
            <a:ext cx="274320" cy="274320"/>
          </a:xfrm>
          <a:prstGeom prst="rect">
            <a:avLst/>
          </a:prstGeom>
          <a:noFill/>
          <a:ln/>
        </p:spPr>
        <p:txBody>
          <a:bodyPr wrap="square" lIns="0" tIns="0" rIns="0" bIns="0" rtlCol="0" anchor="ctr"/>
          <a:lstStyle/>
          <a:p>
            <a:pPr algn="ctr" indent="0" marL="0">
              <a:buNone/>
            </a:pPr>
            <a:r>
              <a:rPr lang="en-US" sz="950" b="1" dirty="0">
                <a:solidFill>
                  <a:srgbClr val="F5F0E8"/>
                </a:solidFill>
                <a:latin typeface="Montserrat" pitchFamily="34" charset="0"/>
                <a:ea typeface="Montserrat" pitchFamily="34" charset="-122"/>
                <a:cs typeface="Montserrat" pitchFamily="34" charset="-120"/>
              </a:rPr>
              <a:t>3</a:t>
            </a:r>
            <a:endParaRPr lang="en-US" sz="950" dirty="0"/>
          </a:p>
        </p:txBody>
      </p:sp>
      <p:sp>
        <p:nvSpPr>
          <p:cNvPr id="15" name="Text 13"/>
          <p:cNvSpPr/>
          <p:nvPr/>
        </p:nvSpPr>
        <p:spPr>
          <a:xfrm>
            <a:off x="987552" y="2487168"/>
            <a:ext cx="2432304" cy="274320"/>
          </a:xfrm>
          <a:prstGeom prst="rect">
            <a:avLst/>
          </a:prstGeom>
          <a:noFill/>
          <a:ln/>
        </p:spPr>
        <p:txBody>
          <a:bodyPr wrap="square" lIns="0" tIns="0" rIns="0" bIns="0" rtlCol="0" anchor="ctr"/>
          <a:lstStyle/>
          <a:p>
            <a:pPr indent="0" marL="0">
              <a:buNone/>
            </a:pPr>
            <a:r>
              <a:rPr lang="en-US" sz="1160" b="1" dirty="0">
                <a:solidFill>
                  <a:srgbClr val="0F2347"/>
                </a:solidFill>
                <a:latin typeface="DM Sans" pitchFamily="34" charset="0"/>
                <a:ea typeface="DM Sans" pitchFamily="34" charset="-122"/>
                <a:cs typeface="DM Sans" pitchFamily="34" charset="-120"/>
              </a:rPr>
              <a:t>Widen exposure</a:t>
            </a:r>
            <a:endParaRPr lang="en-US" sz="1160" dirty="0"/>
          </a:p>
        </p:txBody>
      </p:sp>
      <p:sp>
        <p:nvSpPr>
          <p:cNvPr id="16" name="Text 14"/>
          <p:cNvSpPr/>
          <p:nvPr/>
        </p:nvSpPr>
        <p:spPr>
          <a:xfrm>
            <a:off x="3566160" y="2487168"/>
            <a:ext cx="5010912" cy="274320"/>
          </a:xfrm>
          <a:prstGeom prst="rect">
            <a:avLst/>
          </a:prstGeom>
          <a:noFill/>
          <a:ln/>
        </p:spPr>
        <p:txBody>
          <a:bodyPr wrap="square" lIns="0" tIns="0" rIns="0" bIns="0" rtlCol="0" anchor="ctr"/>
          <a:lstStyle/>
          <a:p>
            <a:pPr indent="0" marL="0">
              <a:buNone/>
            </a:pPr>
            <a:r>
              <a:rPr lang="en-US" sz="1060" dirty="0">
                <a:solidFill>
                  <a:srgbClr val="5A6B84"/>
                </a:solidFill>
                <a:latin typeface="DM Sans" pitchFamily="34" charset="0"/>
                <a:ea typeface="DM Sans" pitchFamily="34" charset="-122"/>
                <a:cs typeface="DM Sans" pitchFamily="34" charset="-120"/>
              </a:rPr>
              <a:t>Reach people who can evaluate or use it. Visibility is not evidence.</a:t>
            </a:r>
            <a:endParaRPr lang="en-US" sz="1060" dirty="0"/>
          </a:p>
        </p:txBody>
      </p:sp>
      <p:sp>
        <p:nvSpPr>
          <p:cNvPr id="17" name="Shape 15"/>
          <p:cNvSpPr/>
          <p:nvPr/>
        </p:nvSpPr>
        <p:spPr>
          <a:xfrm>
            <a:off x="566928" y="2871216"/>
            <a:ext cx="274320" cy="274320"/>
          </a:xfrm>
          <a:prstGeom prst="rect">
            <a:avLst/>
          </a:prstGeom>
          <a:solidFill>
            <a:srgbClr val="0F2347"/>
          </a:solidFill>
          <a:ln/>
        </p:spPr>
        <p:txBody>
          <a:bodyPr/>
          <a:p/>
        </p:txBody>
      </p:sp>
      <p:sp>
        <p:nvSpPr>
          <p:cNvPr id="18" name="Text 16"/>
          <p:cNvSpPr/>
          <p:nvPr/>
        </p:nvSpPr>
        <p:spPr>
          <a:xfrm>
            <a:off x="566928" y="2871216"/>
            <a:ext cx="274320" cy="274320"/>
          </a:xfrm>
          <a:prstGeom prst="rect">
            <a:avLst/>
          </a:prstGeom>
          <a:noFill/>
          <a:ln/>
        </p:spPr>
        <p:txBody>
          <a:bodyPr wrap="square" lIns="0" tIns="0" rIns="0" bIns="0" rtlCol="0" anchor="ctr"/>
          <a:lstStyle/>
          <a:p>
            <a:pPr algn="ctr" indent="0" marL="0">
              <a:buNone/>
            </a:pPr>
            <a:r>
              <a:rPr lang="en-US" sz="950" b="1" dirty="0">
                <a:solidFill>
                  <a:srgbClr val="F5F0E8"/>
                </a:solidFill>
                <a:latin typeface="Montserrat" pitchFamily="34" charset="0"/>
                <a:ea typeface="Montserrat" pitchFamily="34" charset="-122"/>
                <a:cs typeface="Montserrat" pitchFamily="34" charset="-120"/>
              </a:rPr>
              <a:t>4</a:t>
            </a:r>
            <a:endParaRPr lang="en-US" sz="950" dirty="0"/>
          </a:p>
        </p:txBody>
      </p:sp>
      <p:sp>
        <p:nvSpPr>
          <p:cNvPr id="19" name="Text 17"/>
          <p:cNvSpPr/>
          <p:nvPr/>
        </p:nvSpPr>
        <p:spPr>
          <a:xfrm>
            <a:off x="987552" y="2852928"/>
            <a:ext cx="2432304" cy="274320"/>
          </a:xfrm>
          <a:prstGeom prst="rect">
            <a:avLst/>
          </a:prstGeom>
          <a:noFill/>
          <a:ln/>
        </p:spPr>
        <p:txBody>
          <a:bodyPr wrap="square" lIns="0" tIns="0" rIns="0" bIns="0" rtlCol="0" anchor="ctr"/>
          <a:lstStyle/>
          <a:p>
            <a:pPr indent="0" marL="0">
              <a:buNone/>
            </a:pPr>
            <a:r>
              <a:rPr lang="en-US" sz="1160" b="1" dirty="0">
                <a:solidFill>
                  <a:srgbClr val="0F2347"/>
                </a:solidFill>
                <a:latin typeface="DM Sans" pitchFamily="34" charset="0"/>
                <a:ea typeface="DM Sans" pitchFamily="34" charset="-122"/>
                <a:cs typeface="DM Sans" pitchFamily="34" charset="-120"/>
              </a:rPr>
              <a:t>Test portability</a:t>
            </a:r>
            <a:endParaRPr lang="en-US" sz="1160" dirty="0"/>
          </a:p>
        </p:txBody>
      </p:sp>
      <p:sp>
        <p:nvSpPr>
          <p:cNvPr id="20" name="Text 18"/>
          <p:cNvSpPr/>
          <p:nvPr/>
        </p:nvSpPr>
        <p:spPr>
          <a:xfrm>
            <a:off x="3566160" y="2852928"/>
            <a:ext cx="5010912" cy="274320"/>
          </a:xfrm>
          <a:prstGeom prst="rect">
            <a:avLst/>
          </a:prstGeom>
          <a:noFill/>
          <a:ln/>
        </p:spPr>
        <p:txBody>
          <a:bodyPr wrap="square" lIns="0" tIns="0" rIns="0" bIns="0" rtlCol="0" anchor="ctr"/>
          <a:lstStyle/>
          <a:p>
            <a:pPr indent="0" marL="0">
              <a:buNone/>
            </a:pPr>
            <a:r>
              <a:rPr lang="en-US" sz="1060" dirty="0">
                <a:solidFill>
                  <a:srgbClr val="5A6B84"/>
                </a:solidFill>
                <a:latin typeface="DM Sans" pitchFamily="34" charset="0"/>
                <a:ea typeface="DM Sans" pitchFamily="34" charset="-122"/>
                <a:cs typeface="DM Sans" pitchFamily="34" charset="-120"/>
              </a:rPr>
              <a:t>Find out what travels before you need it to.</a:t>
            </a:r>
            <a:endParaRPr lang="en-US" sz="1060" dirty="0"/>
          </a:p>
        </p:txBody>
      </p:sp>
      <p:sp>
        <p:nvSpPr>
          <p:cNvPr id="21" name="Shape 19"/>
          <p:cNvSpPr/>
          <p:nvPr/>
        </p:nvSpPr>
        <p:spPr>
          <a:xfrm>
            <a:off x="566928" y="3236976"/>
            <a:ext cx="274320" cy="274320"/>
          </a:xfrm>
          <a:prstGeom prst="rect">
            <a:avLst/>
          </a:prstGeom>
          <a:solidFill>
            <a:srgbClr val="0F2347"/>
          </a:solidFill>
          <a:ln/>
        </p:spPr>
        <p:txBody>
          <a:bodyPr/>
          <a:p/>
        </p:txBody>
      </p:sp>
      <p:sp>
        <p:nvSpPr>
          <p:cNvPr id="22" name="Text 20"/>
          <p:cNvSpPr/>
          <p:nvPr/>
        </p:nvSpPr>
        <p:spPr>
          <a:xfrm>
            <a:off x="566928" y="3236976"/>
            <a:ext cx="274320" cy="274320"/>
          </a:xfrm>
          <a:prstGeom prst="rect">
            <a:avLst/>
          </a:prstGeom>
          <a:noFill/>
          <a:ln/>
        </p:spPr>
        <p:txBody>
          <a:bodyPr wrap="square" lIns="0" tIns="0" rIns="0" bIns="0" rtlCol="0" anchor="ctr"/>
          <a:lstStyle/>
          <a:p>
            <a:pPr algn="ctr" indent="0" marL="0">
              <a:buNone/>
            </a:pPr>
            <a:r>
              <a:rPr lang="en-US" sz="950" b="1" dirty="0">
                <a:solidFill>
                  <a:srgbClr val="F5F0E8"/>
                </a:solidFill>
                <a:latin typeface="Montserrat" pitchFamily="34" charset="0"/>
                <a:ea typeface="Montserrat" pitchFamily="34" charset="-122"/>
                <a:cs typeface="Montserrat" pitchFamily="34" charset="-120"/>
              </a:rPr>
              <a:t>5</a:t>
            </a:r>
            <a:endParaRPr lang="en-US" sz="950" dirty="0"/>
          </a:p>
        </p:txBody>
      </p:sp>
      <p:sp>
        <p:nvSpPr>
          <p:cNvPr id="23" name="Text 21"/>
          <p:cNvSpPr/>
          <p:nvPr/>
        </p:nvSpPr>
        <p:spPr>
          <a:xfrm>
            <a:off x="987552" y="3218688"/>
            <a:ext cx="2432304" cy="274320"/>
          </a:xfrm>
          <a:prstGeom prst="rect">
            <a:avLst/>
          </a:prstGeom>
          <a:noFill/>
          <a:ln/>
        </p:spPr>
        <p:txBody>
          <a:bodyPr wrap="square" lIns="0" tIns="0" rIns="0" bIns="0" rtlCol="0" anchor="ctr"/>
          <a:lstStyle/>
          <a:p>
            <a:pPr indent="0" marL="0">
              <a:buNone/>
            </a:pPr>
            <a:r>
              <a:rPr lang="en-US" sz="1160" b="1" dirty="0">
                <a:solidFill>
                  <a:srgbClr val="0F2347"/>
                </a:solidFill>
                <a:latin typeface="DM Sans" pitchFamily="34" charset="0"/>
                <a:ea typeface="DM Sans" pitchFamily="34" charset="-122"/>
                <a:cs typeface="DM Sans" pitchFamily="34" charset="-120"/>
              </a:rPr>
              <a:t>Repair formation conditions</a:t>
            </a:r>
            <a:endParaRPr lang="en-US" sz="1160" dirty="0"/>
          </a:p>
        </p:txBody>
      </p:sp>
      <p:sp>
        <p:nvSpPr>
          <p:cNvPr id="24" name="Text 22"/>
          <p:cNvSpPr/>
          <p:nvPr/>
        </p:nvSpPr>
        <p:spPr>
          <a:xfrm>
            <a:off x="3566160" y="3218688"/>
            <a:ext cx="5010912" cy="274320"/>
          </a:xfrm>
          <a:prstGeom prst="rect">
            <a:avLst/>
          </a:prstGeom>
          <a:noFill/>
          <a:ln/>
        </p:spPr>
        <p:txBody>
          <a:bodyPr wrap="square" lIns="0" tIns="0" rIns="0" bIns="0" rtlCol="0" anchor="ctr"/>
          <a:lstStyle/>
          <a:p>
            <a:pPr indent="0" marL="0">
              <a:buNone/>
            </a:pPr>
            <a:r>
              <a:rPr lang="en-US" sz="1060" dirty="0">
                <a:solidFill>
                  <a:srgbClr val="5A6B84"/>
                </a:solidFill>
                <a:latin typeface="DM Sans" pitchFamily="34" charset="0"/>
                <a:ea typeface="DM Sans" pitchFamily="34" charset="-122"/>
                <a:cs typeface="DM Sans" pitchFamily="34" charset="-120"/>
              </a:rPr>
              <a:t>Test whether changing the work or conditions could repair the problem.</a:t>
            </a:r>
            <a:endParaRPr lang="en-US" sz="1060" dirty="0"/>
          </a:p>
        </p:txBody>
      </p:sp>
      <p:sp>
        <p:nvSpPr>
          <p:cNvPr id="25" name="Shape 23"/>
          <p:cNvSpPr/>
          <p:nvPr/>
        </p:nvSpPr>
        <p:spPr>
          <a:xfrm>
            <a:off x="566928" y="3602736"/>
            <a:ext cx="274320" cy="274320"/>
          </a:xfrm>
          <a:prstGeom prst="rect">
            <a:avLst/>
          </a:prstGeom>
          <a:solidFill>
            <a:srgbClr val="0F2347"/>
          </a:solidFill>
          <a:ln/>
        </p:spPr>
        <p:txBody>
          <a:bodyPr/>
          <a:p/>
        </p:txBody>
      </p:sp>
      <p:sp>
        <p:nvSpPr>
          <p:cNvPr id="26" name="Text 24"/>
          <p:cNvSpPr/>
          <p:nvPr/>
        </p:nvSpPr>
        <p:spPr>
          <a:xfrm>
            <a:off x="566928" y="3602736"/>
            <a:ext cx="274320" cy="274320"/>
          </a:xfrm>
          <a:prstGeom prst="rect">
            <a:avLst/>
          </a:prstGeom>
          <a:noFill/>
          <a:ln/>
        </p:spPr>
        <p:txBody>
          <a:bodyPr wrap="square" lIns="0" tIns="0" rIns="0" bIns="0" rtlCol="0" anchor="ctr"/>
          <a:lstStyle/>
          <a:p>
            <a:pPr algn="ctr" indent="0" marL="0">
              <a:buNone/>
            </a:pPr>
            <a:r>
              <a:rPr lang="en-US" sz="950" b="1" dirty="0">
                <a:solidFill>
                  <a:srgbClr val="F5F0E8"/>
                </a:solidFill>
                <a:latin typeface="Montserrat" pitchFamily="34" charset="0"/>
                <a:ea typeface="Montserrat" pitchFamily="34" charset="-122"/>
                <a:cs typeface="Montserrat" pitchFamily="34" charset="-120"/>
              </a:rPr>
              <a:t>6</a:t>
            </a:r>
            <a:endParaRPr lang="en-US" sz="950" dirty="0"/>
          </a:p>
        </p:txBody>
      </p:sp>
      <p:sp>
        <p:nvSpPr>
          <p:cNvPr id="27" name="Text 25"/>
          <p:cNvSpPr/>
          <p:nvPr/>
        </p:nvSpPr>
        <p:spPr>
          <a:xfrm>
            <a:off x="987552" y="3584448"/>
            <a:ext cx="2432304" cy="274320"/>
          </a:xfrm>
          <a:prstGeom prst="rect">
            <a:avLst/>
          </a:prstGeom>
          <a:noFill/>
          <a:ln/>
        </p:spPr>
        <p:txBody>
          <a:bodyPr wrap="square" lIns="0" tIns="0" rIns="0" bIns="0" rtlCol="0" anchor="ctr"/>
          <a:lstStyle/>
          <a:p>
            <a:pPr indent="0" marL="0">
              <a:buNone/>
            </a:pPr>
            <a:r>
              <a:rPr lang="en-US" sz="1160" b="1" dirty="0">
                <a:solidFill>
                  <a:srgbClr val="0F2347"/>
                </a:solidFill>
                <a:latin typeface="DM Sans" pitchFamily="34" charset="0"/>
                <a:ea typeface="DM Sans" pitchFamily="34" charset="-122"/>
                <a:cs typeface="DM Sans" pitchFamily="34" charset="-120"/>
              </a:rPr>
              <a:t>Prepare for exit</a:t>
            </a:r>
            <a:endParaRPr lang="en-US" sz="1160" dirty="0"/>
          </a:p>
        </p:txBody>
      </p:sp>
      <p:sp>
        <p:nvSpPr>
          <p:cNvPr id="28" name="Text 26"/>
          <p:cNvSpPr/>
          <p:nvPr/>
        </p:nvSpPr>
        <p:spPr>
          <a:xfrm>
            <a:off x="3566160" y="3584448"/>
            <a:ext cx="5010912" cy="274320"/>
          </a:xfrm>
          <a:prstGeom prst="rect">
            <a:avLst/>
          </a:prstGeom>
          <a:noFill/>
          <a:ln/>
        </p:spPr>
        <p:txBody>
          <a:bodyPr wrap="square" lIns="0" tIns="0" rIns="0" bIns="0" rtlCol="0" anchor="ctr"/>
          <a:lstStyle/>
          <a:p>
            <a:pPr indent="0" marL="0">
              <a:buNone/>
            </a:pPr>
            <a:r>
              <a:rPr lang="en-US" sz="1060" dirty="0">
                <a:solidFill>
                  <a:srgbClr val="5A6B84"/>
                </a:solidFill>
                <a:latin typeface="DM Sans" pitchFamily="34" charset="0"/>
                <a:ea typeface="DM Sans" pitchFamily="34" charset="-122"/>
                <a:cs typeface="DM Sans" pitchFamily="34" charset="-120"/>
              </a:rPr>
              <a:t>Your evidence gives you reason to prepare in case the conditions do not repair.</a:t>
            </a:r>
            <a:endParaRPr lang="en-US" sz="1060" dirty="0"/>
          </a:p>
        </p:txBody>
      </p:sp>
      <p:sp>
        <p:nvSpPr>
          <p:cNvPr id="29" name="Shape 27"/>
          <p:cNvSpPr/>
          <p:nvPr/>
        </p:nvSpPr>
        <p:spPr>
          <a:xfrm>
            <a:off x="566928" y="3968496"/>
            <a:ext cx="274320" cy="274320"/>
          </a:xfrm>
          <a:prstGeom prst="rect">
            <a:avLst/>
          </a:prstGeom>
          <a:solidFill>
            <a:srgbClr val="0F2347"/>
          </a:solidFill>
          <a:ln/>
        </p:spPr>
        <p:txBody>
          <a:bodyPr/>
          <a:p/>
        </p:txBody>
      </p:sp>
      <p:sp>
        <p:nvSpPr>
          <p:cNvPr id="30" name="Text 28"/>
          <p:cNvSpPr/>
          <p:nvPr/>
        </p:nvSpPr>
        <p:spPr>
          <a:xfrm>
            <a:off x="566928" y="3968496"/>
            <a:ext cx="274320" cy="274320"/>
          </a:xfrm>
          <a:prstGeom prst="rect">
            <a:avLst/>
          </a:prstGeom>
          <a:noFill/>
          <a:ln/>
        </p:spPr>
        <p:txBody>
          <a:bodyPr wrap="square" lIns="0" tIns="0" rIns="0" bIns="0" rtlCol="0" anchor="ctr"/>
          <a:lstStyle/>
          <a:p>
            <a:pPr algn="ctr" indent="0" marL="0">
              <a:buNone/>
            </a:pPr>
            <a:r>
              <a:rPr lang="en-US" sz="950" b="1" dirty="0">
                <a:solidFill>
                  <a:srgbClr val="F5F0E8"/>
                </a:solidFill>
                <a:latin typeface="Montserrat" pitchFamily="34" charset="0"/>
                <a:ea typeface="Montserrat" pitchFamily="34" charset="-122"/>
                <a:cs typeface="Montserrat" pitchFamily="34" charset="-120"/>
              </a:rPr>
              <a:t>7</a:t>
            </a:r>
            <a:endParaRPr lang="en-US" sz="950" dirty="0"/>
          </a:p>
        </p:txBody>
      </p:sp>
      <p:sp>
        <p:nvSpPr>
          <p:cNvPr id="31" name="Text 29"/>
          <p:cNvSpPr/>
          <p:nvPr/>
        </p:nvSpPr>
        <p:spPr>
          <a:xfrm>
            <a:off x="987552" y="3950208"/>
            <a:ext cx="2432304" cy="274320"/>
          </a:xfrm>
          <a:prstGeom prst="rect">
            <a:avLst/>
          </a:prstGeom>
          <a:noFill/>
          <a:ln/>
        </p:spPr>
        <p:txBody>
          <a:bodyPr wrap="square" lIns="0" tIns="0" rIns="0" bIns="0" rtlCol="0" anchor="ctr"/>
          <a:lstStyle/>
          <a:p>
            <a:pPr indent="0" marL="0">
              <a:buNone/>
            </a:pPr>
            <a:r>
              <a:rPr lang="en-US" sz="1160" b="1" dirty="0">
                <a:solidFill>
                  <a:srgbClr val="0F2347"/>
                </a:solidFill>
                <a:latin typeface="DM Sans" pitchFamily="34" charset="0"/>
                <a:ea typeface="DM Sans" pitchFamily="34" charset="-122"/>
                <a:cs typeface="DM Sans" pitchFamily="34" charset="-120"/>
              </a:rPr>
              <a:t>Seek an external perspective</a:t>
            </a:r>
            <a:endParaRPr lang="en-US" sz="1160" dirty="0"/>
          </a:p>
        </p:txBody>
      </p:sp>
      <p:sp>
        <p:nvSpPr>
          <p:cNvPr id="32" name="Text 30"/>
          <p:cNvSpPr/>
          <p:nvPr/>
        </p:nvSpPr>
        <p:spPr>
          <a:xfrm>
            <a:off x="3566160" y="3950208"/>
            <a:ext cx="5010912" cy="274320"/>
          </a:xfrm>
          <a:prstGeom prst="rect">
            <a:avLst/>
          </a:prstGeom>
          <a:noFill/>
          <a:ln/>
        </p:spPr>
        <p:txBody>
          <a:bodyPr wrap="square" lIns="0" tIns="0" rIns="0" bIns="0" rtlCol="0" anchor="ctr"/>
          <a:lstStyle/>
          <a:p>
            <a:pPr indent="0" marL="0">
              <a:buNone/>
            </a:pPr>
            <a:r>
              <a:rPr lang="en-US" sz="1060" dirty="0">
                <a:solidFill>
                  <a:srgbClr val="5A6B84"/>
                </a:solidFill>
                <a:latin typeface="DM Sans" pitchFamily="34" charset="0"/>
                <a:ea typeface="DM Sans" pitchFamily="34" charset="-122"/>
                <a:cs typeface="DM Sans" pitchFamily="34" charset="-120"/>
              </a:rPr>
              <a:t>High stakes, incomplete evidence, or a boundary position.</a:t>
            </a:r>
            <a:endParaRPr lang="en-US" sz="1060" dirty="0"/>
          </a:p>
        </p:txBody>
      </p:sp>
      <p:sp>
        <p:nvSpPr>
          <p:cNvPr id="33" name="Text 31"/>
          <p:cNvSpPr/>
          <p:nvPr/>
        </p:nvSpPr>
        <p:spPr>
          <a:xfrm>
            <a:off x="566928" y="4443984"/>
            <a:ext cx="8010144" cy="237744"/>
          </a:xfrm>
          <a:prstGeom prst="rect">
            <a:avLst/>
          </a:prstGeom>
          <a:noFill/>
          <a:ln/>
        </p:spPr>
        <p:txBody>
          <a:bodyPr wrap="square" lIns="0" tIns="0" rIns="0" bIns="0" rtlCol="0" anchor="ctr"/>
          <a:lstStyle/>
          <a:p>
            <a:pPr indent="0" marL="0">
              <a:buNone/>
            </a:pPr>
            <a:r>
              <a:rPr lang="en-US" sz="1100" b="1" dirty="0">
                <a:solidFill>
                  <a:srgbClr val="C1440E"/>
                </a:solidFill>
                <a:latin typeface="DM Sans" pitchFamily="34" charset="0"/>
                <a:ea typeface="DM Sans" pitchFamily="34" charset="-122"/>
                <a:cs typeface="DM Sans" pitchFamily="34" charset="-120"/>
              </a:rPr>
              <a:t>No square prescribes a category. Your evidence and constraints still apply.</a:t>
            </a:r>
            <a:endParaRPr lang="en-US" sz="1100" dirty="0"/>
          </a:p>
        </p:txBody>
      </p:sp>
      <p:sp>
        <p:nvSpPr>
          <p:cNvPr id="35" name="Text 32"/>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36" name="Text 33"/>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21</a:t>
            </a:r>
            <a:endParaRPr lang="en-US" sz="7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THE ARTIFACT</a:t>
            </a:r>
            <a:endParaRPr lang="en-US" sz="950" dirty="0"/>
          </a:p>
        </p:txBody>
      </p:sp>
      <p:sp>
        <p:nvSpPr>
          <p:cNvPr id="3" name="Text 1"/>
          <p:cNvSpPr/>
          <p:nvPr/>
        </p:nvSpPr>
        <p:spPr>
          <a:xfrm>
            <a:off x="566928" y="603504"/>
            <a:ext cx="8010144" cy="585216"/>
          </a:xfrm>
          <a:prstGeom prst="rect">
            <a:avLst/>
          </a:prstGeom>
          <a:noFill/>
          <a:ln/>
        </p:spPr>
        <p:txBody>
          <a:bodyPr wrap="square" lIns="0" tIns="0" rIns="0" bIns="0" rtlCol="0" anchor="ctr"/>
          <a:lstStyle/>
          <a:p>
            <a:pPr indent="0" marL="0">
              <a:lnSpc>
                <a:spcPts val="3264"/>
              </a:lnSpc>
              <a:buNone/>
            </a:pPr>
            <a:r>
              <a:rPr lang="en-US" sz="3200" b="1" dirty="0">
                <a:solidFill>
                  <a:srgbClr val="0F2347"/>
                </a:solidFill>
                <a:latin typeface="Cormorant Garamond" pitchFamily="34" charset="0"/>
                <a:ea typeface="Cormorant Garamond" pitchFamily="34" charset="-122"/>
                <a:cs typeface="Cormorant Garamond" pitchFamily="34" charset="-120"/>
              </a:rPr>
              <a:t>The Next-Move Note</a:t>
            </a:r>
            <a:endParaRPr lang="en-US" sz="3200" dirty="0"/>
          </a:p>
        </p:txBody>
      </p:sp>
      <p:sp>
        <p:nvSpPr>
          <p:cNvPr id="4" name="Text 2"/>
          <p:cNvSpPr/>
          <p:nvPr/>
        </p:nvSpPr>
        <p:spPr>
          <a:xfrm>
            <a:off x="566928" y="1207008"/>
            <a:ext cx="8010144" cy="219456"/>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Three lines. Yours, private, and enough to act on.</a:t>
            </a:r>
            <a:endParaRPr lang="en-US" sz="1150" dirty="0"/>
          </a:p>
        </p:txBody>
      </p:sp>
      <p:sp>
        <p:nvSpPr>
          <p:cNvPr id="5" name="Shape 3"/>
          <p:cNvSpPr/>
          <p:nvPr/>
        </p:nvSpPr>
        <p:spPr>
          <a:xfrm>
            <a:off x="566928" y="1847088"/>
            <a:ext cx="8010144" cy="658368"/>
          </a:xfrm>
          <a:prstGeom prst="rect">
            <a:avLst/>
          </a:prstGeom>
          <a:solidFill>
            <a:srgbClr val="E9EDF3"/>
          </a:solidFill>
          <a:ln/>
        </p:spPr>
        <p:txBody>
          <a:bodyPr/>
          <a:p/>
        </p:txBody>
      </p:sp>
      <p:sp>
        <p:nvSpPr>
          <p:cNvPr id="6" name="Shape 4"/>
          <p:cNvSpPr/>
          <p:nvPr/>
        </p:nvSpPr>
        <p:spPr>
          <a:xfrm>
            <a:off x="566928" y="1847088"/>
            <a:ext cx="41148" cy="658368"/>
          </a:xfrm>
          <a:prstGeom prst="rect">
            <a:avLst/>
          </a:prstGeom>
          <a:solidFill>
            <a:srgbClr val="C9A84C"/>
          </a:solidFill>
          <a:ln/>
        </p:spPr>
        <p:txBody>
          <a:bodyPr/>
          <a:p/>
        </p:txBody>
      </p:sp>
      <p:sp>
        <p:nvSpPr>
          <p:cNvPr id="7" name="Text 5"/>
          <p:cNvSpPr/>
          <p:nvPr/>
        </p:nvSpPr>
        <p:spPr>
          <a:xfrm>
            <a:off x="786384" y="1920240"/>
            <a:ext cx="7571232" cy="182880"/>
          </a:xfrm>
          <a:prstGeom prst="rect">
            <a:avLst/>
          </a:prstGeom>
          <a:noFill/>
          <a:ln/>
        </p:spPr>
        <p:txBody>
          <a:bodyPr wrap="square" lIns="0" tIns="0" rIns="0" bIns="0" rtlCol="0" anchor="ctr"/>
          <a:lstStyle/>
          <a:p>
            <a:pPr indent="0" marL="0">
              <a:buNone/>
            </a:pPr>
            <a:r>
              <a:rPr lang="en-US" sz="820" b="1" spc="110" kern="0" dirty="0">
                <a:solidFill>
                  <a:srgbClr val="0F2347"/>
                </a:solidFill>
                <a:latin typeface="Montserrat" pitchFamily="34" charset="0"/>
                <a:ea typeface="Montserrat" pitchFamily="34" charset="-122"/>
                <a:cs typeface="Montserrat" pitchFamily="34" charset="-120"/>
              </a:rPr>
              <a:t>MY CURRENT READ</a:t>
            </a:r>
            <a:endParaRPr lang="en-US" sz="820" dirty="0"/>
          </a:p>
        </p:txBody>
      </p:sp>
      <p:sp>
        <p:nvSpPr>
          <p:cNvPr id="8" name="Text 6"/>
          <p:cNvSpPr/>
          <p:nvPr/>
        </p:nvSpPr>
        <p:spPr>
          <a:xfrm>
            <a:off x="786384" y="2121408"/>
            <a:ext cx="4937760" cy="219456"/>
          </a:xfrm>
          <a:prstGeom prst="rect">
            <a:avLst/>
          </a:prstGeom>
          <a:noFill/>
          <a:ln/>
        </p:spPr>
        <p:txBody>
          <a:bodyPr wrap="square" lIns="0" tIns="0" rIns="0" bIns="0" rtlCol="0" anchor="ctr"/>
          <a:lstStyle/>
          <a:p>
            <a:pPr indent="0" marL="0">
              <a:buNone/>
            </a:pPr>
            <a:r>
              <a:rPr lang="en-US" sz="1140" dirty="0">
                <a:solidFill>
                  <a:srgbClr val="0F2347"/>
                </a:solidFill>
                <a:latin typeface="DM Sans" pitchFamily="34" charset="0"/>
                <a:ea typeface="DM Sans" pitchFamily="34" charset="-122"/>
                <a:cs typeface="DM Sans" pitchFamily="34" charset="-120"/>
              </a:rPr>
              <a:t>My position appears to be:</a:t>
            </a:r>
            <a:endParaRPr lang="en-US" sz="1140" dirty="0"/>
          </a:p>
        </p:txBody>
      </p:sp>
      <p:sp>
        <p:nvSpPr>
          <p:cNvPr id="9" name="Text 7"/>
          <p:cNvSpPr/>
          <p:nvPr/>
        </p:nvSpPr>
        <p:spPr>
          <a:xfrm>
            <a:off x="786384" y="2322576"/>
            <a:ext cx="4937760" cy="182880"/>
          </a:xfrm>
          <a:prstGeom prst="rect">
            <a:avLst/>
          </a:prstGeom>
          <a:noFill/>
          <a:ln/>
        </p:spPr>
        <p:txBody>
          <a:bodyPr wrap="square" lIns="0" tIns="0" rIns="0" bIns="0" rtlCol="0" anchor="ctr"/>
          <a:lstStyle/>
          <a:p>
            <a:pPr indent="0" marL="0">
              <a:buNone/>
            </a:pPr>
            <a:r>
              <a:rPr lang="en-US" sz="880" i="1" dirty="0">
                <a:solidFill>
                  <a:srgbClr val="5A6B84"/>
                </a:solidFill>
                <a:latin typeface="DM Sans" pitchFamily="34" charset="0"/>
                <a:ea typeface="DM Sans" pitchFamily="34" charset="-122"/>
                <a:cs typeface="DM Sans" pitchFamily="34" charset="-120"/>
              </a:rPr>
              <a:t>State  /  boundary  /  incomplete</a:t>
            </a:r>
            <a:endParaRPr lang="en-US" sz="880" dirty="0"/>
          </a:p>
        </p:txBody>
      </p:sp>
      <p:sp>
        <p:nvSpPr>
          <p:cNvPr id="10" name="Text 8"/>
          <p:cNvSpPr/>
          <p:nvPr/>
        </p:nvSpPr>
        <p:spPr>
          <a:xfrm>
            <a:off x="5577840" y="2121408"/>
            <a:ext cx="2999232" cy="219456"/>
          </a:xfrm>
          <a:prstGeom prst="rect">
            <a:avLst/>
          </a:prstGeom>
          <a:noFill/>
          <a:ln/>
        </p:spPr>
        <p:txBody>
          <a:bodyPr wrap="square" lIns="0" tIns="0" rIns="0" bIns="0" rtlCol="0" anchor="ctr"/>
          <a:lstStyle/>
          <a:p>
            <a:pPr indent="0" marL="0">
              <a:buNone/>
            </a:pPr>
            <a:r>
              <a:rPr lang="en-US" sz="1300" dirty="0">
                <a:solidFill>
                  <a:srgbClr val="5A6B84"/>
                </a:solidFill>
                <a:latin typeface="DM Sans" pitchFamily="34" charset="0"/>
                <a:ea typeface="DM Sans" pitchFamily="34" charset="-122"/>
                <a:cs typeface="DM Sans" pitchFamily="34" charset="-120"/>
              </a:rPr>
              <a:t>____________________</a:t>
            </a:r>
            <a:endParaRPr lang="en-US" sz="1300" dirty="0"/>
          </a:p>
        </p:txBody>
      </p:sp>
      <p:sp>
        <p:nvSpPr>
          <p:cNvPr id="11" name="Shape 9"/>
          <p:cNvSpPr/>
          <p:nvPr/>
        </p:nvSpPr>
        <p:spPr>
          <a:xfrm>
            <a:off x="566928" y="2596896"/>
            <a:ext cx="8010144" cy="658368"/>
          </a:xfrm>
          <a:prstGeom prst="rect">
            <a:avLst/>
          </a:prstGeom>
          <a:solidFill>
            <a:srgbClr val="E9EDF3"/>
          </a:solidFill>
          <a:ln/>
        </p:spPr>
        <p:txBody>
          <a:bodyPr/>
          <a:p/>
        </p:txBody>
      </p:sp>
      <p:sp>
        <p:nvSpPr>
          <p:cNvPr id="12" name="Shape 10"/>
          <p:cNvSpPr/>
          <p:nvPr/>
        </p:nvSpPr>
        <p:spPr>
          <a:xfrm>
            <a:off x="566928" y="2596896"/>
            <a:ext cx="41148" cy="658368"/>
          </a:xfrm>
          <a:prstGeom prst="rect">
            <a:avLst/>
          </a:prstGeom>
          <a:solidFill>
            <a:srgbClr val="C9A84C"/>
          </a:solidFill>
          <a:ln/>
        </p:spPr>
        <p:txBody>
          <a:bodyPr/>
          <a:p/>
        </p:txBody>
      </p:sp>
      <p:sp>
        <p:nvSpPr>
          <p:cNvPr id="13" name="Text 11"/>
          <p:cNvSpPr/>
          <p:nvPr/>
        </p:nvSpPr>
        <p:spPr>
          <a:xfrm>
            <a:off x="786384" y="2670048"/>
            <a:ext cx="7571232" cy="182880"/>
          </a:xfrm>
          <a:prstGeom prst="rect">
            <a:avLst/>
          </a:prstGeom>
          <a:noFill/>
          <a:ln/>
        </p:spPr>
        <p:txBody>
          <a:bodyPr wrap="square" lIns="0" tIns="0" rIns="0" bIns="0" rtlCol="0" anchor="ctr"/>
          <a:lstStyle/>
          <a:p>
            <a:pPr indent="0" marL="0">
              <a:buNone/>
            </a:pPr>
            <a:r>
              <a:rPr lang="en-US" sz="820" b="1" spc="110" kern="0" dirty="0">
                <a:solidFill>
                  <a:srgbClr val="0F2347"/>
                </a:solidFill>
                <a:latin typeface="Montserrat" pitchFamily="34" charset="0"/>
                <a:ea typeface="Montserrat" pitchFamily="34" charset="-122"/>
                <a:cs typeface="Montserrat" pitchFamily="34" charset="-120"/>
              </a:rPr>
              <a:t>WHAT I NEED TO TEST</a:t>
            </a:r>
            <a:endParaRPr lang="en-US" sz="820" dirty="0"/>
          </a:p>
        </p:txBody>
      </p:sp>
      <p:sp>
        <p:nvSpPr>
          <p:cNvPr id="14" name="Text 12"/>
          <p:cNvSpPr/>
          <p:nvPr/>
        </p:nvSpPr>
        <p:spPr>
          <a:xfrm>
            <a:off x="786384" y="2871216"/>
            <a:ext cx="4937760" cy="219456"/>
          </a:xfrm>
          <a:prstGeom prst="rect">
            <a:avLst/>
          </a:prstGeom>
          <a:noFill/>
          <a:ln/>
        </p:spPr>
        <p:txBody>
          <a:bodyPr wrap="square" lIns="0" tIns="0" rIns="0" bIns="0" rtlCol="0" anchor="ctr"/>
          <a:lstStyle/>
          <a:p>
            <a:pPr indent="0" marL="0">
              <a:buNone/>
            </a:pPr>
            <a:r>
              <a:rPr lang="en-US" sz="1140" dirty="0">
                <a:solidFill>
                  <a:srgbClr val="0F2347"/>
                </a:solidFill>
                <a:latin typeface="DM Sans" pitchFamily="34" charset="0"/>
                <a:ea typeface="DM Sans" pitchFamily="34" charset="-122"/>
                <a:cs typeface="DM Sans" pitchFamily="34" charset="-120"/>
              </a:rPr>
              <a:t>The category of move my evidence supports testing is:</a:t>
            </a:r>
            <a:endParaRPr lang="en-US" sz="1140" dirty="0"/>
          </a:p>
        </p:txBody>
      </p:sp>
      <p:sp>
        <p:nvSpPr>
          <p:cNvPr id="15" name="Text 13"/>
          <p:cNvSpPr/>
          <p:nvPr/>
        </p:nvSpPr>
        <p:spPr>
          <a:xfrm>
            <a:off x="786384" y="3072384"/>
            <a:ext cx="4937760" cy="182880"/>
          </a:xfrm>
          <a:prstGeom prst="rect">
            <a:avLst/>
          </a:prstGeom>
          <a:noFill/>
          <a:ln/>
        </p:spPr>
        <p:txBody>
          <a:bodyPr wrap="square" lIns="0" tIns="0" rIns="0" bIns="0" rtlCol="0" anchor="ctr"/>
          <a:lstStyle/>
          <a:p>
            <a:pPr indent="0" marL="0">
              <a:buNone/>
            </a:pPr>
            <a:r>
              <a:rPr lang="en-US" sz="880" i="1" dirty="0">
                <a:solidFill>
                  <a:srgbClr val="5A6B84"/>
                </a:solidFill>
                <a:latin typeface="DM Sans" pitchFamily="34" charset="0"/>
                <a:ea typeface="DM Sans" pitchFamily="34" charset="-122"/>
                <a:cs typeface="DM Sans" pitchFamily="34" charset="-120"/>
              </a:rPr>
              <a:t>One of the seven categories.</a:t>
            </a:r>
            <a:endParaRPr lang="en-US" sz="880" dirty="0"/>
          </a:p>
        </p:txBody>
      </p:sp>
      <p:sp>
        <p:nvSpPr>
          <p:cNvPr id="16" name="Text 14"/>
          <p:cNvSpPr/>
          <p:nvPr/>
        </p:nvSpPr>
        <p:spPr>
          <a:xfrm>
            <a:off x="5577840" y="2871216"/>
            <a:ext cx="2999232" cy="219456"/>
          </a:xfrm>
          <a:prstGeom prst="rect">
            <a:avLst/>
          </a:prstGeom>
          <a:noFill/>
          <a:ln/>
        </p:spPr>
        <p:txBody>
          <a:bodyPr wrap="square" lIns="0" tIns="0" rIns="0" bIns="0" rtlCol="0" anchor="ctr"/>
          <a:lstStyle/>
          <a:p>
            <a:pPr indent="0" marL="0">
              <a:buNone/>
            </a:pPr>
            <a:r>
              <a:rPr lang="en-US" sz="1300" dirty="0">
                <a:solidFill>
                  <a:srgbClr val="5A6B84"/>
                </a:solidFill>
                <a:latin typeface="DM Sans" pitchFamily="34" charset="0"/>
                <a:ea typeface="DM Sans" pitchFamily="34" charset="-122"/>
                <a:cs typeface="DM Sans" pitchFamily="34" charset="-120"/>
              </a:rPr>
              <a:t>____________________</a:t>
            </a:r>
            <a:endParaRPr lang="en-US" sz="1300" dirty="0"/>
          </a:p>
        </p:txBody>
      </p:sp>
      <p:sp>
        <p:nvSpPr>
          <p:cNvPr id="17" name="Shape 15"/>
          <p:cNvSpPr/>
          <p:nvPr/>
        </p:nvSpPr>
        <p:spPr>
          <a:xfrm>
            <a:off x="566928" y="3346704"/>
            <a:ext cx="8010144" cy="658368"/>
          </a:xfrm>
          <a:prstGeom prst="rect">
            <a:avLst/>
          </a:prstGeom>
          <a:solidFill>
            <a:srgbClr val="E9EDF3"/>
          </a:solidFill>
          <a:ln/>
        </p:spPr>
        <p:txBody>
          <a:bodyPr/>
          <a:p/>
        </p:txBody>
      </p:sp>
      <p:sp>
        <p:nvSpPr>
          <p:cNvPr id="18" name="Shape 16"/>
          <p:cNvSpPr/>
          <p:nvPr/>
        </p:nvSpPr>
        <p:spPr>
          <a:xfrm>
            <a:off x="566928" y="3346704"/>
            <a:ext cx="41148" cy="658368"/>
          </a:xfrm>
          <a:prstGeom prst="rect">
            <a:avLst/>
          </a:prstGeom>
          <a:solidFill>
            <a:srgbClr val="C9A84C"/>
          </a:solidFill>
          <a:ln/>
        </p:spPr>
        <p:txBody>
          <a:bodyPr/>
          <a:p/>
        </p:txBody>
      </p:sp>
      <p:sp>
        <p:nvSpPr>
          <p:cNvPr id="19" name="Text 17"/>
          <p:cNvSpPr/>
          <p:nvPr/>
        </p:nvSpPr>
        <p:spPr>
          <a:xfrm>
            <a:off x="786384" y="3419856"/>
            <a:ext cx="7571232" cy="182880"/>
          </a:xfrm>
          <a:prstGeom prst="rect">
            <a:avLst/>
          </a:prstGeom>
          <a:noFill/>
          <a:ln/>
        </p:spPr>
        <p:txBody>
          <a:bodyPr wrap="square" lIns="0" tIns="0" rIns="0" bIns="0" rtlCol="0" anchor="ctr"/>
          <a:lstStyle/>
          <a:p>
            <a:pPr indent="0" marL="0">
              <a:buNone/>
            </a:pPr>
            <a:r>
              <a:rPr lang="en-US" sz="820" b="1" spc="110" kern="0" dirty="0">
                <a:solidFill>
                  <a:srgbClr val="0F2347"/>
                </a:solidFill>
                <a:latin typeface="Montserrat" pitchFamily="34" charset="0"/>
                <a:ea typeface="Montserrat" pitchFamily="34" charset="-122"/>
                <a:cs typeface="Montserrat" pitchFamily="34" charset="-120"/>
              </a:rPr>
              <a:t>WHAT HAPPENS NEXT</a:t>
            </a:r>
            <a:endParaRPr lang="en-US" sz="820" dirty="0"/>
          </a:p>
        </p:txBody>
      </p:sp>
      <p:sp>
        <p:nvSpPr>
          <p:cNvPr id="20" name="Text 18"/>
          <p:cNvSpPr/>
          <p:nvPr/>
        </p:nvSpPr>
        <p:spPr>
          <a:xfrm>
            <a:off x="786384" y="3621024"/>
            <a:ext cx="4937760" cy="219456"/>
          </a:xfrm>
          <a:prstGeom prst="rect">
            <a:avLst/>
          </a:prstGeom>
          <a:noFill/>
          <a:ln/>
        </p:spPr>
        <p:txBody>
          <a:bodyPr wrap="square" lIns="0" tIns="0" rIns="0" bIns="0" rtlCol="0" anchor="ctr"/>
          <a:lstStyle/>
          <a:p>
            <a:pPr indent="0" marL="0">
              <a:buNone/>
            </a:pPr>
            <a:r>
              <a:rPr lang="en-US" sz="1140" dirty="0">
                <a:solidFill>
                  <a:srgbClr val="0F2347"/>
                </a:solidFill>
                <a:latin typeface="DM Sans" pitchFamily="34" charset="0"/>
                <a:ea typeface="DM Sans" pitchFamily="34" charset="-122"/>
                <a:cs typeface="DM Sans" pitchFamily="34" charset="-120"/>
              </a:rPr>
              <a:t>The next action, conversation or piece of evidence is:</a:t>
            </a:r>
            <a:endParaRPr lang="en-US" sz="1140" dirty="0"/>
          </a:p>
        </p:txBody>
      </p:sp>
      <p:sp>
        <p:nvSpPr>
          <p:cNvPr id="21" name="Text 19"/>
          <p:cNvSpPr/>
          <p:nvPr/>
        </p:nvSpPr>
        <p:spPr>
          <a:xfrm>
            <a:off x="786384" y="3822192"/>
            <a:ext cx="4937760" cy="182880"/>
          </a:xfrm>
          <a:prstGeom prst="rect">
            <a:avLst/>
          </a:prstGeom>
          <a:noFill/>
          <a:ln/>
        </p:spPr>
        <p:txBody>
          <a:bodyPr wrap="square" lIns="0" tIns="0" rIns="0" bIns="0" rtlCol="0" anchor="ctr"/>
          <a:lstStyle/>
          <a:p>
            <a:pPr indent="0" marL="0">
              <a:buNone/>
            </a:pPr>
            <a:r>
              <a:rPr lang="en-US" sz="880" i="1" dirty="0">
                <a:solidFill>
                  <a:srgbClr val="5A6B84"/>
                </a:solidFill>
                <a:latin typeface="DM Sans" pitchFamily="34" charset="0"/>
                <a:ea typeface="DM Sans" pitchFamily="34" charset="-122"/>
                <a:cs typeface="DM Sans" pitchFamily="34" charset="-120"/>
              </a:rPr>
              <a:t>One thing. Something you could begin this month.</a:t>
            </a:r>
            <a:endParaRPr lang="en-US" sz="880" dirty="0"/>
          </a:p>
        </p:txBody>
      </p:sp>
      <p:sp>
        <p:nvSpPr>
          <p:cNvPr id="22" name="Text 20"/>
          <p:cNvSpPr/>
          <p:nvPr/>
        </p:nvSpPr>
        <p:spPr>
          <a:xfrm>
            <a:off x="5577840" y="3621024"/>
            <a:ext cx="2999232" cy="219456"/>
          </a:xfrm>
          <a:prstGeom prst="rect">
            <a:avLst/>
          </a:prstGeom>
          <a:noFill/>
          <a:ln/>
        </p:spPr>
        <p:txBody>
          <a:bodyPr wrap="square" lIns="0" tIns="0" rIns="0" bIns="0" rtlCol="0" anchor="ctr"/>
          <a:lstStyle/>
          <a:p>
            <a:pPr indent="0" marL="0">
              <a:buNone/>
            </a:pPr>
            <a:r>
              <a:rPr lang="en-US" sz="1300" dirty="0">
                <a:solidFill>
                  <a:srgbClr val="5A6B84"/>
                </a:solidFill>
                <a:latin typeface="DM Sans" pitchFamily="34" charset="0"/>
                <a:ea typeface="DM Sans" pitchFamily="34" charset="-122"/>
                <a:cs typeface="DM Sans" pitchFamily="34" charset="-120"/>
              </a:rPr>
              <a:t>____________________</a:t>
            </a:r>
            <a:endParaRPr lang="en-US" sz="1300" dirty="0"/>
          </a:p>
        </p:txBody>
      </p:sp>
      <p:sp>
        <p:nvSpPr>
          <p:cNvPr id="23" name="Shape 21"/>
          <p:cNvSpPr/>
          <p:nvPr/>
        </p:nvSpPr>
        <p:spPr>
          <a:xfrm>
            <a:off x="566928" y="4151376"/>
            <a:ext cx="8010144" cy="457200"/>
          </a:xfrm>
          <a:prstGeom prst="rect">
            <a:avLst/>
          </a:prstGeom>
          <a:solidFill>
            <a:srgbClr val="0F2347"/>
          </a:solidFill>
          <a:ln/>
        </p:spPr>
        <p:txBody>
          <a:bodyPr/>
          <a:p/>
        </p:txBody>
      </p:sp>
      <p:sp>
        <p:nvSpPr>
          <p:cNvPr id="24" name="Text 22"/>
          <p:cNvSpPr/>
          <p:nvPr/>
        </p:nvSpPr>
        <p:spPr>
          <a:xfrm>
            <a:off x="804672" y="4151376"/>
            <a:ext cx="7534656" cy="457200"/>
          </a:xfrm>
          <a:prstGeom prst="rect">
            <a:avLst/>
          </a:prstGeom>
          <a:noFill/>
          <a:ln/>
        </p:spPr>
        <p:txBody>
          <a:bodyPr wrap="square" lIns="0" tIns="0" rIns="0" bIns="0" rtlCol="0" anchor="ctr"/>
          <a:lstStyle/>
          <a:p>
            <a:pPr algn="ctr" indent="0" marL="0">
              <a:buNone/>
            </a:pPr>
            <a:r>
              <a:rPr lang="en-US" sz="1550" b="1" dirty="0">
                <a:solidFill>
                  <a:srgbClr val="F5F0E8"/>
                </a:solidFill>
                <a:latin typeface="Cormorant Garamond" pitchFamily="34" charset="0"/>
                <a:ea typeface="Cormorant Garamond" pitchFamily="34" charset="-122"/>
                <a:cs typeface="Cormorant Garamond" pitchFamily="34" charset="-120"/>
              </a:rPr>
              <a:t>This is a note, not a decision. It records what your evidence supports testing next.</a:t>
            </a:r>
            <a:endParaRPr lang="en-US" sz="1550" dirty="0"/>
          </a:p>
        </p:txBody>
      </p:sp>
      <p:sp>
        <p:nvSpPr>
          <p:cNvPr id="26" name="Text 23"/>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27" name="Text 24"/>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22</a:t>
            </a:r>
            <a:endParaRPr lang="en-US" sz="700" dirty="0"/>
          </a:p>
        </p:txBody>
      </p:sp>
      <p:sp>
        <p:nvSpPr>
          <p:cNvPr id="5" name="Shape 3"/>
          <p:cNvSpPr/>
          <p:nvPr/>
        </p:nvSpPr>
        <p:spPr>
          <a:xfrm>
            <a:off x="566928" y="1481328"/>
            <a:ext cx="8010144" cy="274320"/>
          </a:xfrm>
          <a:prstGeom prst="rect">
            <a:avLst/>
          </a:prstGeom>
          <a:solidFill>
            <a:srgbClr val="E9EDF3"/>
          </a:solidFill>
          <a:ln/>
        </p:spPr>
        <p:txBody>
          <a:bodyPr/>
          <a:p/>
        </p:txBody>
      </p:sp>
      <p:sp>
        <p:nvSpPr>
          <p:cNvPr id="6" name="Shape 4"/>
          <p:cNvSpPr/>
          <p:nvPr/>
        </p:nvSpPr>
        <p:spPr>
          <a:xfrm>
            <a:off x="566928" y="1481328"/>
            <a:ext cx="36576" cy="274320"/>
          </a:xfrm>
          <a:prstGeom prst="rect">
            <a:avLst/>
          </a:prstGeom>
          <a:solidFill>
            <a:srgbClr val="C9A84C"/>
          </a:solidFill>
          <a:ln/>
        </p:spPr>
        <p:txBody>
          <a:bodyPr/>
          <a:p/>
        </p:txBody>
      </p:sp>
      <p:sp>
        <p:nvSpPr>
          <p:cNvPr id="8" name="Text 6"/>
          <p:cNvSpPr/>
          <p:nvPr/>
        </p:nvSpPr>
        <p:spPr>
          <a:xfrm>
            <a:off x="786384" y="1517904"/>
            <a:ext cx="7571231" cy="219456"/>
          </a:xfrm>
          <a:prstGeom prst="rect">
            <a:avLst/>
          </a:prstGeom>
          <a:noFill/>
          <a:ln/>
        </p:spPr>
        <p:txBody>
          <a:bodyPr wrap="square" lIns="0" tIns="0" rIns="0" bIns="0" rtlCol="0" anchor="ctr"/>
          <a:lstStyle/>
          <a:p>
            <a:pPr indent="0" marL="0">
              <a:buNone/>
            </a:pPr>
            <a:r>
              <a:rPr lang="en-US" sz="1150" dirty="0" b="1">
                <a:solidFill>
                  <a:srgbClr val="0F2347"/>
                </a:solidFill>
                <a:latin typeface="DM Sans" pitchFamily="34" charset="0"/>
                <a:ea typeface="DM Sans" pitchFamily="34" charset="-122"/>
                <a:cs typeface="DM Sans" pitchFamily="34" charset="-120"/>
              </a:rPr>
              <a:t>What travels?      What does not?      What can I prove?      What must I relearn?</a:t>
            </a:r>
            <a:endParaRPr lang="en-US" sz="114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WHERE TO GO FROM HERE</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754"/>
              </a:lnSpc>
              <a:buNone/>
            </a:pPr>
            <a:r>
              <a:rPr lang="en-US" sz="2700" b="1" dirty="0">
                <a:solidFill>
                  <a:srgbClr val="0F2347"/>
                </a:solidFill>
                <a:latin typeface="Cormorant Garamond" pitchFamily="34" charset="0"/>
                <a:ea typeface="Cormorant Garamond" pitchFamily="34" charset="-122"/>
                <a:cs typeface="Cormorant Garamond" pitchFamily="34" charset="-120"/>
              </a:rPr>
              <a:t>Choose How You Want to Continue the Read</a:t>
            </a:r>
            <a:endParaRPr lang="en-US" sz="27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Your read is complete. What you need next depends on what is still unresolved.</a:t>
            </a:r>
            <a:endParaRPr lang="en-US" sz="1150" dirty="0"/>
          </a:p>
        </p:txBody>
      </p:sp>
      <p:sp>
        <p:nvSpPr>
          <p:cNvPr id="5" name="Shape 3"/>
          <p:cNvSpPr/>
          <p:nvPr/>
        </p:nvSpPr>
        <p:spPr>
          <a:xfrm>
            <a:off x="566928" y="2011680"/>
            <a:ext cx="8010144" cy="768096"/>
          </a:xfrm>
          <a:prstGeom prst="rect">
            <a:avLst/>
          </a:prstGeom>
          <a:solidFill>
            <a:srgbClr val="E9EDF3"/>
          </a:solidFill>
          <a:ln/>
        </p:spPr>
        <p:txBody>
          <a:bodyPr/>
          <a:p/>
        </p:txBody>
      </p:sp>
      <p:sp>
        <p:nvSpPr>
          <p:cNvPr id="6" name="Shape 4"/>
          <p:cNvSpPr/>
          <p:nvPr/>
        </p:nvSpPr>
        <p:spPr>
          <a:xfrm>
            <a:off x="749808" y="2157984"/>
            <a:ext cx="292608" cy="292608"/>
          </a:xfrm>
          <a:prstGeom prst="rect">
            <a:avLst/>
          </a:prstGeom>
          <a:solidFill>
            <a:srgbClr val="0F2347"/>
          </a:solidFill>
          <a:ln/>
        </p:spPr>
        <p:txBody>
          <a:bodyPr/>
          <a:p/>
        </p:txBody>
      </p:sp>
      <p:sp>
        <p:nvSpPr>
          <p:cNvPr id="7" name="Text 5"/>
          <p:cNvSpPr/>
          <p:nvPr/>
        </p:nvSpPr>
        <p:spPr>
          <a:xfrm>
            <a:off x="749808" y="2157984"/>
            <a:ext cx="292608" cy="292608"/>
          </a:xfrm>
          <a:prstGeom prst="rect">
            <a:avLst/>
          </a:prstGeom>
          <a:noFill/>
          <a:ln/>
        </p:spPr>
        <p:txBody>
          <a:bodyPr wrap="square" lIns="0" tIns="0" rIns="0" bIns="0" rtlCol="0" anchor="ctr"/>
          <a:lstStyle/>
          <a:p>
            <a:pPr algn="ctr" indent="0" marL="0">
              <a:buNone/>
            </a:pPr>
            <a:r>
              <a:rPr lang="en-US" sz="1000" b="1" dirty="0">
                <a:solidFill>
                  <a:srgbClr val="F5F0E8"/>
                </a:solidFill>
                <a:latin typeface="Montserrat" pitchFamily="34" charset="0"/>
                <a:ea typeface="Montserrat" pitchFamily="34" charset="-122"/>
                <a:cs typeface="Montserrat" pitchFamily="34" charset="-120"/>
              </a:rPr>
              <a:t>1</a:t>
            </a:r>
            <a:endParaRPr lang="en-US" sz="1000" dirty="0"/>
          </a:p>
        </p:txBody>
      </p:sp>
      <p:sp>
        <p:nvSpPr>
          <p:cNvPr id="8" name="Text 6"/>
          <p:cNvSpPr/>
          <p:nvPr/>
        </p:nvSpPr>
        <p:spPr>
          <a:xfrm>
            <a:off x="1188720" y="2084832"/>
            <a:ext cx="7187184" cy="237744"/>
          </a:xfrm>
          <a:prstGeom prst="rect">
            <a:avLst/>
          </a:prstGeom>
          <a:noFill/>
          <a:ln/>
        </p:spPr>
        <p:txBody>
          <a:bodyPr wrap="square" lIns="0" tIns="0" rIns="0" bIns="0" rtlCol="0" anchor="ctr"/>
          <a:lstStyle/>
          <a:p>
            <a:pPr indent="0" marL="0">
              <a:buNone/>
            </a:pPr>
            <a:r>
              <a:rPr lang="en-US" sz="1350" b="1" dirty="0">
                <a:solidFill>
                  <a:srgbClr val="0F2347"/>
                </a:solidFill>
                <a:latin typeface="DM Sans" pitchFamily="34" charset="0"/>
                <a:ea typeface="DM Sans" pitchFamily="34" charset="-122"/>
                <a:cs typeface="DM Sans" pitchFamily="34" charset="-120"/>
              </a:rPr>
              <a:t>I have enough for now.</a:t>
            </a:r>
            <a:endParaRPr lang="en-US" sz="1350" dirty="0"/>
          </a:p>
        </p:txBody>
      </p:sp>
      <p:sp>
        <p:nvSpPr>
          <p:cNvPr id="9" name="Text 7"/>
          <p:cNvSpPr/>
          <p:nvPr/>
        </p:nvSpPr>
        <p:spPr>
          <a:xfrm>
            <a:off x="1188720" y="2322576"/>
            <a:ext cx="7187184" cy="219456"/>
          </a:xfrm>
          <a:prstGeom prst="rect">
            <a:avLst/>
          </a:prstGeom>
          <a:noFill/>
          <a:ln/>
        </p:spPr>
        <p:txBody>
          <a:bodyPr wrap="square" lIns="0" tIns="0" rIns="0" bIns="0" rtlCol="0" anchor="ctr"/>
          <a:lstStyle/>
          <a:p>
            <a:pPr indent="0" marL="0">
              <a:buNone/>
            </a:pPr>
            <a:r>
              <a:rPr lang="en-US" sz="1120" dirty="0">
                <a:solidFill>
                  <a:srgbClr val="C1440E"/>
                </a:solidFill>
                <a:latin typeface="DM Sans" pitchFamily="34" charset="0"/>
                <a:ea typeface="DM Sans" pitchFamily="34" charset="-122"/>
                <a:cs typeface="DM Sans" pitchFamily="34" charset="-120"/>
              </a:rPr>
              <a:t>Take your Next-Move Note and act on it.</a:t>
            </a:r>
            <a:endParaRPr lang="en-US" sz="1120" dirty="0"/>
          </a:p>
        </p:txBody>
      </p:sp>
      <p:sp>
        <p:nvSpPr>
          <p:cNvPr id="10" name="Text 8"/>
          <p:cNvSpPr/>
          <p:nvPr/>
        </p:nvSpPr>
        <p:spPr>
          <a:xfrm>
            <a:off x="1188720" y="2532888"/>
            <a:ext cx="7187184" cy="201168"/>
          </a:xfrm>
          <a:prstGeom prst="rect">
            <a:avLst/>
          </a:prstGeom>
          <a:noFill/>
          <a:ln/>
        </p:spPr>
        <p:txBody>
          <a:bodyPr wrap="square" lIns="0" tIns="0" rIns="0" bIns="0" rtlCol="0" anchor="ctr"/>
          <a:lstStyle/>
          <a:p>
            <a:pPr indent="0" marL="0">
              <a:buNone/>
            </a:pPr>
            <a:r>
              <a:rPr lang="en-US" sz="1000" dirty="0">
                <a:solidFill>
                  <a:srgbClr val="5A6B84"/>
                </a:solidFill>
                <a:latin typeface="DM Sans" pitchFamily="34" charset="0"/>
                <a:ea typeface="DM Sans" pitchFamily="34" charset="-122"/>
                <a:cs typeface="DM Sans" pitchFamily="34" charset="-120"/>
              </a:rPr>
              <a:t>Nothing further is required. The session was built to be complete on its own.</a:t>
            </a:r>
            <a:endParaRPr lang="en-US" sz="1000" dirty="0"/>
          </a:p>
        </p:txBody>
      </p:sp>
      <p:sp>
        <p:nvSpPr>
          <p:cNvPr id="11" name="Shape 9"/>
          <p:cNvSpPr/>
          <p:nvPr/>
        </p:nvSpPr>
        <p:spPr>
          <a:xfrm>
            <a:off x="566928" y="2871216"/>
            <a:ext cx="8010144" cy="768096"/>
          </a:xfrm>
          <a:prstGeom prst="rect">
            <a:avLst/>
          </a:prstGeom>
          <a:solidFill>
            <a:srgbClr val="E9EDF3"/>
          </a:solidFill>
          <a:ln/>
        </p:spPr>
        <p:txBody>
          <a:bodyPr/>
          <a:p/>
        </p:txBody>
      </p:sp>
      <p:sp>
        <p:nvSpPr>
          <p:cNvPr id="12" name="Shape 10"/>
          <p:cNvSpPr/>
          <p:nvPr/>
        </p:nvSpPr>
        <p:spPr>
          <a:xfrm>
            <a:off x="749808" y="3017520"/>
            <a:ext cx="292608" cy="292608"/>
          </a:xfrm>
          <a:prstGeom prst="rect">
            <a:avLst/>
          </a:prstGeom>
          <a:solidFill>
            <a:srgbClr val="0F2347"/>
          </a:solidFill>
          <a:ln/>
        </p:spPr>
        <p:txBody>
          <a:bodyPr/>
          <a:p/>
        </p:txBody>
      </p:sp>
      <p:sp>
        <p:nvSpPr>
          <p:cNvPr id="13" name="Text 11"/>
          <p:cNvSpPr/>
          <p:nvPr/>
        </p:nvSpPr>
        <p:spPr>
          <a:xfrm>
            <a:off x="749808" y="3017520"/>
            <a:ext cx="292608" cy="292608"/>
          </a:xfrm>
          <a:prstGeom prst="rect">
            <a:avLst/>
          </a:prstGeom>
          <a:noFill/>
          <a:ln/>
        </p:spPr>
        <p:txBody>
          <a:bodyPr wrap="square" lIns="0" tIns="0" rIns="0" bIns="0" rtlCol="0" anchor="ctr"/>
          <a:lstStyle/>
          <a:p>
            <a:pPr algn="ctr" indent="0" marL="0">
              <a:buNone/>
            </a:pPr>
            <a:r>
              <a:rPr lang="en-US" sz="1000" b="1" dirty="0">
                <a:solidFill>
                  <a:srgbClr val="F5F0E8"/>
                </a:solidFill>
                <a:latin typeface="Montserrat" pitchFamily="34" charset="0"/>
                <a:ea typeface="Montserrat" pitchFamily="34" charset="-122"/>
                <a:cs typeface="Montserrat" pitchFamily="34" charset="-120"/>
              </a:rPr>
              <a:t>2</a:t>
            </a:r>
            <a:endParaRPr lang="en-US" sz="1000" dirty="0"/>
          </a:p>
        </p:txBody>
      </p:sp>
      <p:sp>
        <p:nvSpPr>
          <p:cNvPr id="14" name="Text 12"/>
          <p:cNvSpPr/>
          <p:nvPr/>
        </p:nvSpPr>
        <p:spPr>
          <a:xfrm>
            <a:off x="1188720" y="2944368"/>
            <a:ext cx="7187184" cy="237744"/>
          </a:xfrm>
          <a:prstGeom prst="rect">
            <a:avLst/>
          </a:prstGeom>
          <a:noFill/>
          <a:ln/>
        </p:spPr>
        <p:txBody>
          <a:bodyPr wrap="square" lIns="0" tIns="0" rIns="0" bIns="0" rtlCol="0" anchor="ctr"/>
          <a:lstStyle/>
          <a:p>
            <a:pPr indent="0" marL="0">
              <a:buNone/>
            </a:pPr>
            <a:r>
              <a:rPr lang="en-US" sz="1350" b="1" dirty="0">
                <a:solidFill>
                  <a:srgbClr val="0F2347"/>
                </a:solidFill>
                <a:latin typeface="DM Sans" pitchFamily="34" charset="0"/>
                <a:ea typeface="DM Sans" pitchFamily="34" charset="-122"/>
                <a:cs typeface="DM Sans" pitchFamily="34" charset="-120"/>
              </a:rPr>
              <a:t>I want to keep working privately.</a:t>
            </a:r>
            <a:endParaRPr lang="en-US" sz="1350" dirty="0"/>
          </a:p>
        </p:txBody>
      </p:sp>
      <p:sp>
        <p:nvSpPr>
          <p:cNvPr id="15" name="Text 13"/>
          <p:cNvSpPr/>
          <p:nvPr/>
        </p:nvSpPr>
        <p:spPr>
          <a:xfrm>
            <a:off x="1188720" y="3182112"/>
            <a:ext cx="7187184" cy="219456"/>
          </a:xfrm>
          <a:prstGeom prst="rect">
            <a:avLst/>
          </a:prstGeom>
          <a:noFill/>
          <a:ln/>
        </p:spPr>
        <p:txBody>
          <a:bodyPr wrap="square" lIns="0" tIns="0" rIns="0" bIns="0" rtlCol="0" anchor="ctr"/>
          <a:lstStyle/>
          <a:p>
            <a:pPr indent="0" marL="0">
              <a:buNone/>
            </a:pPr>
            <a:r>
              <a:rPr lang="en-US" sz="1120" dirty="0">
                <a:solidFill>
                  <a:srgbClr val="C1440E"/>
                </a:solidFill>
                <a:latin typeface="DM Sans" pitchFamily="34" charset="0"/>
                <a:ea typeface="DM Sans" pitchFamily="34" charset="-122"/>
                <a:cs typeface="DM Sans" pitchFamily="34" charset="-120"/>
              </a:rPr>
              <a:t>Continue with the Capability Formation Field Kit.</a:t>
            </a:r>
            <a:endParaRPr lang="en-US" sz="1120" dirty="0"/>
          </a:p>
        </p:txBody>
      </p:sp>
      <p:sp>
        <p:nvSpPr>
          <p:cNvPr id="16" name="Text 14"/>
          <p:cNvSpPr/>
          <p:nvPr/>
        </p:nvSpPr>
        <p:spPr>
          <a:xfrm>
            <a:off x="1188720" y="3392424"/>
            <a:ext cx="7187184" cy="201168"/>
          </a:xfrm>
          <a:prstGeom prst="rect">
            <a:avLst/>
          </a:prstGeom>
          <a:noFill/>
          <a:ln/>
        </p:spPr>
        <p:txBody>
          <a:bodyPr wrap="square" lIns="0" tIns="0" rIns="0" bIns="0" rtlCol="0" anchor="ctr"/>
          <a:lstStyle/>
          <a:p>
            <a:pPr indent="0" marL="0">
              <a:buNone/>
            </a:pPr>
            <a:r>
              <a:rPr lang="en-US" sz="1000" dirty="0">
                <a:solidFill>
                  <a:srgbClr val="5A6B84"/>
                </a:solidFill>
                <a:latin typeface="DM Sans" pitchFamily="34" charset="0"/>
                <a:ea typeface="DM Sans" pitchFamily="34" charset="-122"/>
                <a:cs typeface="DM Sans" pitchFamily="34" charset="-120"/>
              </a:rPr>
              <a:t>You understand your reading and want a structured system you can return to on your own.</a:t>
            </a:r>
            <a:endParaRPr lang="en-US" sz="1000" dirty="0"/>
          </a:p>
        </p:txBody>
      </p:sp>
      <p:sp>
        <p:nvSpPr>
          <p:cNvPr id="17" name="Text 15"/>
          <p:cNvSpPr/>
          <p:nvPr/>
        </p:nvSpPr>
        <p:spPr>
          <a:xfrm>
            <a:off x="566928" y="3986784"/>
            <a:ext cx="8010144" cy="256032"/>
          </a:xfrm>
          <a:prstGeom prst="rect">
            <a:avLst/>
          </a:prstGeom>
          <a:noFill/>
          <a:ln/>
        </p:spPr>
        <p:txBody>
          <a:bodyPr wrap="square" lIns="0" tIns="0" rIns="0" bIns="0" rtlCol="0" anchor="ctr"/>
          <a:lstStyle/>
          <a:p>
            <a:pPr algn="ctr" indent="0" marL="0">
              <a:buNone/>
            </a:pPr>
            <a:r>
              <a:rPr lang="en-US" sz="1500" b="1" i="1" dirty="0">
                <a:solidFill>
                  <a:srgbClr val="0F2347"/>
                </a:solidFill>
                <a:latin typeface="Cormorant Garamond" pitchFamily="34" charset="0"/>
                <a:ea typeface="Cormorant Garamond" pitchFamily="34" charset="-122"/>
                <a:cs typeface="Cormorant Garamond" pitchFamily="34" charset="-120"/>
              </a:rPr>
              <a:t>Different unresolved needs require different levels of support.</a:t>
            </a:r>
            <a:endParaRPr lang="en-US" sz="1500" dirty="0"/>
          </a:p>
        </p:txBody>
      </p:sp>
      <p:sp>
        <p:nvSpPr>
          <p:cNvPr id="19" name="Text 16"/>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20" name="Text 17"/>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23</a:t>
            </a:r>
            <a:endParaRPr lang="en-US" sz="7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KEEP WORKING PRIVATELY</a:t>
            </a:r>
            <a:endParaRPr lang="en-US" sz="950" dirty="0"/>
          </a:p>
        </p:txBody>
      </p:sp>
      <p:sp>
        <p:nvSpPr>
          <p:cNvPr id="3" name="Text 1"/>
          <p:cNvSpPr/>
          <p:nvPr/>
        </p:nvSpPr>
        <p:spPr>
          <a:xfrm>
            <a:off x="566928" y="603504"/>
            <a:ext cx="8010144" cy="914400"/>
          </a:xfrm>
          <a:prstGeom prst="rect">
            <a:avLst/>
          </a:prstGeom>
          <a:noFill/>
          <a:ln/>
        </p:spPr>
        <p:txBody>
          <a:bodyPr wrap="square" lIns="0" tIns="0" rIns="0" bIns="0" rtlCol="0" anchor="ctr"/>
          <a:lstStyle/>
          <a:p>
            <a:pPr indent="0" marL="0">
              <a:lnSpc>
                <a:spcPts val="2091"/>
              </a:lnSpc>
              <a:buNone/>
            </a:pPr>
            <a:r>
              <a:rPr lang="en-US" sz="2050" b="1" dirty="0">
                <a:solidFill>
                  <a:srgbClr val="0F2347"/>
                </a:solidFill>
                <a:latin typeface="Cormorant Garamond" pitchFamily="34" charset="0"/>
                <a:ea typeface="Cormorant Garamond" pitchFamily="34" charset="-122"/>
                <a:cs typeface="Cormorant Garamond" pitchFamily="34" charset="-120"/>
              </a:rPr>
              <a:t>This session gives you a guided reading.</a:t>
            </a:r>
            <a:endParaRPr lang="en-US" sz="2050" dirty="0"/>
          </a:p>
          <a:p>
            <a:pPr indent="0" marL="0">
              <a:lnSpc>
                <a:spcPts val="2091"/>
              </a:lnSpc>
              <a:buNone/>
            </a:pPr>
            <a:r>
              <a:rPr lang="en-US" sz="2050" b="1" dirty="0">
                <a:solidFill>
                  <a:srgbClr val="0F2347"/>
                </a:solidFill>
                <a:latin typeface="Cormorant Garamond" pitchFamily="34" charset="0"/>
                <a:ea typeface="Cormorant Garamond" pitchFamily="34" charset="-122"/>
                <a:cs typeface="Cormorant Garamond" pitchFamily="34" charset="-120"/>
              </a:rPr>
              <a:t>The Field Kit gives you a system you can return to.</a:t>
            </a:r>
            <a:endParaRPr lang="en-US" sz="2050" dirty="0"/>
          </a:p>
        </p:txBody>
      </p:sp>
      <p:sp>
        <p:nvSpPr>
          <p:cNvPr id="4" name="Shape 2"/>
          <p:cNvSpPr/>
          <p:nvPr/>
        </p:nvSpPr>
        <p:spPr>
          <a:xfrm>
            <a:off x="566928" y="1755648"/>
            <a:ext cx="3712464" cy="2286000"/>
          </a:xfrm>
          <a:prstGeom prst="rect">
            <a:avLst/>
          </a:prstGeom>
          <a:solidFill>
            <a:srgbClr val="E9EDF3"/>
          </a:solidFill>
          <a:ln/>
        </p:spPr>
        <p:txBody>
          <a:bodyPr/>
          <a:p/>
        </p:txBody>
      </p:sp>
      <p:sp>
        <p:nvSpPr>
          <p:cNvPr id="5" name="Text 3"/>
          <p:cNvSpPr/>
          <p:nvPr/>
        </p:nvSpPr>
        <p:spPr>
          <a:xfrm>
            <a:off x="804672" y="1901952"/>
            <a:ext cx="3200400" cy="182880"/>
          </a:xfrm>
          <a:prstGeom prst="rect">
            <a:avLst/>
          </a:prstGeom>
          <a:noFill/>
          <a:ln/>
        </p:spPr>
        <p:txBody>
          <a:bodyPr wrap="square" lIns="0" tIns="0" rIns="0" bIns="0" rtlCol="0" anchor="ctr"/>
          <a:lstStyle/>
          <a:p>
            <a:pPr indent="0" marL="0">
              <a:buNone/>
            </a:pPr>
            <a:r>
              <a:rPr lang="en-US" sz="820" b="1" spc="120" kern="0" dirty="0">
                <a:solidFill>
                  <a:srgbClr val="5A6B84"/>
                </a:solidFill>
                <a:latin typeface="Montserrat" pitchFamily="34" charset="0"/>
                <a:ea typeface="Montserrat" pitchFamily="34" charset="-122"/>
                <a:cs typeface="Montserrat" pitchFamily="34" charset="-120"/>
              </a:rPr>
              <a:t>TODAY'S GUIDED READ</a:t>
            </a:r>
            <a:endParaRPr lang="en-US" sz="820" dirty="0"/>
          </a:p>
        </p:txBody>
      </p:sp>
      <p:sp>
        <p:nvSpPr>
          <p:cNvPr id="6" name="Shape 4"/>
          <p:cNvSpPr/>
          <p:nvPr/>
        </p:nvSpPr>
        <p:spPr>
          <a:xfrm>
            <a:off x="804672" y="2286000"/>
            <a:ext cx="64008" cy="64008"/>
          </a:xfrm>
          <a:prstGeom prst="rect">
            <a:avLst/>
          </a:prstGeom>
          <a:solidFill>
            <a:srgbClr val="C9A84C"/>
          </a:solidFill>
          <a:ln/>
        </p:spPr>
        <p:txBody>
          <a:bodyPr/>
          <a:p/>
        </p:txBody>
      </p:sp>
      <p:sp>
        <p:nvSpPr>
          <p:cNvPr id="7" name="Text 5"/>
          <p:cNvSpPr/>
          <p:nvPr/>
        </p:nvSpPr>
        <p:spPr>
          <a:xfrm>
            <a:off x="987552" y="2231136"/>
            <a:ext cx="3054096" cy="237744"/>
          </a:xfrm>
          <a:prstGeom prst="rect">
            <a:avLst/>
          </a:prstGeom>
          <a:noFill/>
          <a:ln/>
        </p:spPr>
        <p:txBody>
          <a:bodyPr wrap="square" lIns="0" tIns="0" rIns="0" bIns="0" rtlCol="0" anchor="ctr"/>
          <a:lstStyle/>
          <a:p>
            <a:pPr indent="0" marL="0">
              <a:buNone/>
            </a:pPr>
            <a:r>
              <a:rPr lang="en-US" sz="980" dirty="0">
                <a:solidFill>
                  <a:srgbClr val="0F2347"/>
                </a:solidFill>
                <a:latin typeface="DM Sans" pitchFamily="34" charset="0"/>
                <a:ea typeface="DM Sans" pitchFamily="34" charset="-122"/>
                <a:cs typeface="DM Sans" pitchFamily="34" charset="-120"/>
              </a:rPr>
              <a:t>An initial and evidence-backed reading</a:t>
            </a:r>
            <a:endParaRPr lang="en-US" sz="980" dirty="0"/>
          </a:p>
        </p:txBody>
      </p:sp>
      <p:sp>
        <p:nvSpPr>
          <p:cNvPr id="8" name="Shape 6"/>
          <p:cNvSpPr/>
          <p:nvPr/>
        </p:nvSpPr>
        <p:spPr>
          <a:xfrm>
            <a:off x="804672" y="2560320"/>
            <a:ext cx="64008" cy="64008"/>
          </a:xfrm>
          <a:prstGeom prst="rect">
            <a:avLst/>
          </a:prstGeom>
          <a:solidFill>
            <a:srgbClr val="C9A84C"/>
          </a:solidFill>
          <a:ln/>
        </p:spPr>
        <p:txBody>
          <a:bodyPr/>
          <a:p/>
        </p:txBody>
      </p:sp>
      <p:sp>
        <p:nvSpPr>
          <p:cNvPr id="9" name="Text 7"/>
          <p:cNvSpPr/>
          <p:nvPr/>
        </p:nvSpPr>
        <p:spPr>
          <a:xfrm>
            <a:off x="987552" y="2505456"/>
            <a:ext cx="3054096" cy="237744"/>
          </a:xfrm>
          <a:prstGeom prst="rect">
            <a:avLst/>
          </a:prstGeom>
          <a:noFill/>
          <a:ln/>
        </p:spPr>
        <p:txBody>
          <a:bodyPr wrap="square" lIns="0" tIns="0" rIns="0" bIns="0" rtlCol="0" anchor="ctr"/>
          <a:lstStyle/>
          <a:p>
            <a:pPr indent="0" marL="0">
              <a:buNone/>
            </a:pPr>
            <a:r>
              <a:rPr lang="en-US" sz="980" dirty="0">
                <a:solidFill>
                  <a:srgbClr val="0F2347"/>
                </a:solidFill>
                <a:latin typeface="DM Sans" pitchFamily="34" charset="0"/>
                <a:ea typeface="DM Sans" pitchFamily="34" charset="-122"/>
                <a:cs typeface="DM Sans" pitchFamily="34" charset="-120"/>
              </a:rPr>
              <a:t>A provisional position</a:t>
            </a:r>
            <a:endParaRPr lang="en-US" sz="980" dirty="0"/>
          </a:p>
        </p:txBody>
      </p:sp>
      <p:sp>
        <p:nvSpPr>
          <p:cNvPr id="10" name="Shape 8"/>
          <p:cNvSpPr/>
          <p:nvPr/>
        </p:nvSpPr>
        <p:spPr>
          <a:xfrm>
            <a:off x="804672" y="2834640"/>
            <a:ext cx="64008" cy="64008"/>
          </a:xfrm>
          <a:prstGeom prst="rect">
            <a:avLst/>
          </a:prstGeom>
          <a:solidFill>
            <a:srgbClr val="C9A84C"/>
          </a:solidFill>
          <a:ln/>
        </p:spPr>
        <p:txBody>
          <a:bodyPr/>
          <a:p/>
        </p:txBody>
      </p:sp>
      <p:sp>
        <p:nvSpPr>
          <p:cNvPr id="11" name="Text 9"/>
          <p:cNvSpPr/>
          <p:nvPr/>
        </p:nvSpPr>
        <p:spPr>
          <a:xfrm>
            <a:off x="987552" y="2779776"/>
            <a:ext cx="3054096" cy="237744"/>
          </a:xfrm>
          <a:prstGeom prst="rect">
            <a:avLst/>
          </a:prstGeom>
          <a:noFill/>
          <a:ln/>
        </p:spPr>
        <p:txBody>
          <a:bodyPr wrap="square" lIns="0" tIns="0" rIns="0" bIns="0" rtlCol="0" anchor="ctr"/>
          <a:lstStyle/>
          <a:p>
            <a:pPr indent="0" marL="0">
              <a:buNone/>
            </a:pPr>
            <a:r>
              <a:rPr lang="en-US" sz="980" dirty="0">
                <a:solidFill>
                  <a:srgbClr val="0F2347"/>
                </a:solidFill>
                <a:latin typeface="DM Sans" pitchFamily="34" charset="0"/>
                <a:ea typeface="DM Sans" pitchFamily="34" charset="-122"/>
                <a:cs typeface="DM Sans" pitchFamily="34" charset="-120"/>
              </a:rPr>
              <a:t>One move category to test</a:t>
            </a:r>
            <a:endParaRPr lang="en-US" sz="980" dirty="0"/>
          </a:p>
        </p:txBody>
      </p:sp>
      <p:sp>
        <p:nvSpPr>
          <p:cNvPr id="12" name="Shape 10"/>
          <p:cNvSpPr/>
          <p:nvPr/>
        </p:nvSpPr>
        <p:spPr>
          <a:xfrm>
            <a:off x="804672" y="3108960"/>
            <a:ext cx="64008" cy="64008"/>
          </a:xfrm>
          <a:prstGeom prst="rect">
            <a:avLst/>
          </a:prstGeom>
          <a:solidFill>
            <a:srgbClr val="C9A84C"/>
          </a:solidFill>
          <a:ln/>
        </p:spPr>
        <p:txBody>
          <a:bodyPr/>
          <a:p/>
        </p:txBody>
      </p:sp>
      <p:sp>
        <p:nvSpPr>
          <p:cNvPr id="13" name="Text 11"/>
          <p:cNvSpPr/>
          <p:nvPr/>
        </p:nvSpPr>
        <p:spPr>
          <a:xfrm>
            <a:off x="987552" y="3054096"/>
            <a:ext cx="3054096" cy="237744"/>
          </a:xfrm>
          <a:prstGeom prst="rect">
            <a:avLst/>
          </a:prstGeom>
          <a:noFill/>
          <a:ln/>
        </p:spPr>
        <p:txBody>
          <a:bodyPr wrap="square" lIns="0" tIns="0" rIns="0" bIns="0" rtlCol="0" anchor="ctr"/>
          <a:lstStyle/>
          <a:p>
            <a:pPr indent="0" marL="0">
              <a:buNone/>
            </a:pPr>
            <a:r>
              <a:rPr lang="en-US" sz="980" dirty="0">
                <a:solidFill>
                  <a:srgbClr val="0F2347"/>
                </a:solidFill>
                <a:latin typeface="DM Sans" pitchFamily="34" charset="0"/>
                <a:ea typeface="DM Sans" pitchFamily="34" charset="-122"/>
                <a:cs typeface="DM Sans" pitchFamily="34" charset="-120"/>
              </a:rPr>
              <a:t>A written Next-Move Note</a:t>
            </a:r>
            <a:endParaRPr lang="en-US" sz="980" dirty="0"/>
          </a:p>
        </p:txBody>
      </p:sp>
      <p:sp>
        <p:nvSpPr>
          <p:cNvPr id="14" name="Text 12"/>
          <p:cNvSpPr/>
          <p:nvPr/>
        </p:nvSpPr>
        <p:spPr>
          <a:xfrm>
            <a:off x="804672" y="3602736"/>
            <a:ext cx="3200400" cy="201168"/>
          </a:xfrm>
          <a:prstGeom prst="rect">
            <a:avLst/>
          </a:prstGeom>
          <a:noFill/>
          <a:ln/>
        </p:spPr>
        <p:txBody>
          <a:bodyPr wrap="square" lIns="0" tIns="0" rIns="0" bIns="0" rtlCol="0" anchor="ctr"/>
          <a:lstStyle/>
          <a:p>
            <a:pPr indent="0" marL="0">
              <a:buNone/>
            </a:pPr>
            <a:r>
              <a:rPr lang="en-US" sz="960" i="1" dirty="0">
                <a:solidFill>
                  <a:srgbClr val="5A6B84"/>
                </a:solidFill>
                <a:latin typeface="DM Sans" pitchFamily="34" charset="0"/>
                <a:ea typeface="DM Sans" pitchFamily="34" charset="-122"/>
                <a:cs typeface="DM Sans" pitchFamily="34" charset="-120"/>
              </a:rPr>
              <a:t>Complete on its own.</a:t>
            </a:r>
            <a:endParaRPr lang="en-US" sz="960" dirty="0"/>
          </a:p>
        </p:txBody>
      </p:sp>
      <p:sp>
        <p:nvSpPr>
          <p:cNvPr id="15" name="Shape 13"/>
          <p:cNvSpPr/>
          <p:nvPr/>
        </p:nvSpPr>
        <p:spPr>
          <a:xfrm>
            <a:off x="4443984" y="1755648"/>
            <a:ext cx="4133088" cy="2286000"/>
          </a:xfrm>
          <a:prstGeom prst="rect">
            <a:avLst/>
          </a:prstGeom>
          <a:solidFill>
            <a:srgbClr val="0F2347"/>
          </a:solidFill>
          <a:ln/>
        </p:spPr>
        <p:txBody>
          <a:bodyPr/>
          <a:p/>
        </p:txBody>
      </p:sp>
      <p:sp>
        <p:nvSpPr>
          <p:cNvPr id="16" name="Text 14"/>
          <p:cNvSpPr/>
          <p:nvPr/>
        </p:nvSpPr>
        <p:spPr>
          <a:xfrm>
            <a:off x="4681728" y="1901952"/>
            <a:ext cx="3108960" cy="182880"/>
          </a:xfrm>
          <a:prstGeom prst="rect">
            <a:avLst/>
          </a:prstGeom>
          <a:noFill/>
          <a:ln/>
        </p:spPr>
        <p:txBody>
          <a:bodyPr wrap="square" lIns="0" tIns="0" rIns="0" bIns="0" rtlCol="0" anchor="ctr"/>
          <a:lstStyle/>
          <a:p>
            <a:pPr indent="0" marL="0">
              <a:buNone/>
            </a:pPr>
            <a:r>
              <a:rPr lang="en-US" sz="820" b="1" spc="120" kern="0" dirty="0">
                <a:solidFill>
                  <a:srgbClr val="C9A84C"/>
                </a:solidFill>
                <a:latin typeface="Montserrat" pitchFamily="34" charset="0"/>
                <a:ea typeface="Montserrat" pitchFamily="34" charset="-122"/>
                <a:cs typeface="Montserrat" pitchFamily="34" charset="-120"/>
              </a:rPr>
              <a:t>CAPABILITY FORMATION FIELD KIT</a:t>
            </a:r>
            <a:endParaRPr lang="en-US" sz="820" dirty="0"/>
          </a:p>
        </p:txBody>
      </p:sp>
      <p:sp>
        <p:nvSpPr>
          <p:cNvPr id="17" name="Shape 15"/>
          <p:cNvSpPr/>
          <p:nvPr/>
        </p:nvSpPr>
        <p:spPr>
          <a:xfrm>
            <a:off x="4681728" y="2286000"/>
            <a:ext cx="64008" cy="64008"/>
          </a:xfrm>
          <a:prstGeom prst="rect">
            <a:avLst/>
          </a:prstGeom>
          <a:solidFill>
            <a:srgbClr val="C9A84C"/>
          </a:solidFill>
          <a:ln/>
        </p:spPr>
        <p:txBody>
          <a:bodyPr/>
          <a:p/>
        </p:txBody>
      </p:sp>
      <p:sp>
        <p:nvSpPr>
          <p:cNvPr id="18" name="Text 16"/>
          <p:cNvSpPr/>
          <p:nvPr/>
        </p:nvSpPr>
        <p:spPr>
          <a:xfrm>
            <a:off x="4864608" y="2231136"/>
            <a:ext cx="2834640" cy="237744"/>
          </a:xfrm>
          <a:prstGeom prst="rect">
            <a:avLst/>
          </a:prstGeom>
          <a:noFill/>
          <a:ln/>
        </p:spPr>
        <p:txBody>
          <a:bodyPr wrap="square" lIns="0" tIns="0" rIns="0" bIns="0" rtlCol="0" anchor="ctr"/>
          <a:lstStyle/>
          <a:p>
            <a:pPr indent="0" marL="0">
              <a:buNone/>
            </a:pPr>
            <a:r>
              <a:rPr lang="en-US" sz="980" dirty="0">
                <a:solidFill>
                  <a:srgbClr val="F5F0E8"/>
                </a:solidFill>
                <a:latin typeface="DM Sans" pitchFamily="34" charset="0"/>
                <a:ea typeface="DM Sans" pitchFamily="34" charset="-122"/>
                <a:cs typeface="DM Sans" pitchFamily="34" charset="-120"/>
              </a:rPr>
              <a:t>Fuller state-cost work</a:t>
            </a:r>
            <a:endParaRPr lang="en-US" sz="980" dirty="0"/>
          </a:p>
        </p:txBody>
      </p:sp>
      <p:sp>
        <p:nvSpPr>
          <p:cNvPr id="19" name="Shape 17"/>
          <p:cNvSpPr/>
          <p:nvPr/>
        </p:nvSpPr>
        <p:spPr>
          <a:xfrm>
            <a:off x="4681728" y="2560320"/>
            <a:ext cx="64008" cy="64008"/>
          </a:xfrm>
          <a:prstGeom prst="rect">
            <a:avLst/>
          </a:prstGeom>
          <a:solidFill>
            <a:srgbClr val="C9A84C"/>
          </a:solidFill>
          <a:ln/>
        </p:spPr>
        <p:txBody>
          <a:bodyPr/>
          <a:p/>
        </p:txBody>
      </p:sp>
      <p:sp>
        <p:nvSpPr>
          <p:cNvPr id="20" name="Text 18"/>
          <p:cNvSpPr/>
          <p:nvPr/>
        </p:nvSpPr>
        <p:spPr>
          <a:xfrm>
            <a:off x="4864608" y="2505456"/>
            <a:ext cx="2834640" cy="237744"/>
          </a:xfrm>
          <a:prstGeom prst="rect">
            <a:avLst/>
          </a:prstGeom>
          <a:noFill/>
          <a:ln/>
        </p:spPr>
        <p:txBody>
          <a:bodyPr wrap="square" lIns="0" tIns="0" rIns="0" bIns="0" rtlCol="0" anchor="ctr"/>
          <a:lstStyle/>
          <a:p>
            <a:pPr indent="0" marL="0">
              <a:buNone/>
            </a:pPr>
            <a:r>
              <a:rPr lang="en-US" sz="980" dirty="0">
                <a:solidFill>
                  <a:srgbClr val="F5F0E8"/>
                </a:solidFill>
                <a:latin typeface="DM Sans" pitchFamily="34" charset="0"/>
                <a:ea typeface="DM Sans" pitchFamily="34" charset="-122"/>
                <a:cs typeface="DM Sans" pitchFamily="34" charset="-120"/>
              </a:rPr>
              <a:t>A repeatable private evidence process</a:t>
            </a:r>
            <a:endParaRPr lang="en-US" sz="980" dirty="0"/>
          </a:p>
        </p:txBody>
      </p:sp>
      <p:sp>
        <p:nvSpPr>
          <p:cNvPr id="21" name="Shape 19"/>
          <p:cNvSpPr/>
          <p:nvPr/>
        </p:nvSpPr>
        <p:spPr>
          <a:xfrm>
            <a:off x="4681728" y="2834640"/>
            <a:ext cx="64008" cy="64008"/>
          </a:xfrm>
          <a:prstGeom prst="rect">
            <a:avLst/>
          </a:prstGeom>
          <a:solidFill>
            <a:srgbClr val="C9A84C"/>
          </a:solidFill>
          <a:ln/>
        </p:spPr>
        <p:txBody>
          <a:bodyPr/>
          <a:p/>
        </p:txBody>
      </p:sp>
      <p:sp>
        <p:nvSpPr>
          <p:cNvPr id="22" name="Text 20"/>
          <p:cNvSpPr/>
          <p:nvPr/>
        </p:nvSpPr>
        <p:spPr>
          <a:xfrm>
            <a:off x="4864608" y="2779776"/>
            <a:ext cx="2834640" cy="237744"/>
          </a:xfrm>
          <a:prstGeom prst="rect">
            <a:avLst/>
          </a:prstGeom>
          <a:noFill/>
          <a:ln/>
        </p:spPr>
        <p:txBody>
          <a:bodyPr wrap="square" lIns="0" tIns="0" rIns="0" bIns="0" rtlCol="0" anchor="ctr"/>
          <a:lstStyle/>
          <a:p>
            <a:pPr indent="0" marL="0">
              <a:buNone/>
            </a:pPr>
            <a:r>
              <a:rPr lang="en-US" sz="980" dirty="0">
                <a:solidFill>
                  <a:srgbClr val="F5F0E8"/>
                </a:solidFill>
                <a:latin typeface="DM Sans" pitchFamily="34" charset="0"/>
                <a:ea typeface="DM Sans" pitchFamily="34" charset="-122"/>
                <a:cs typeface="DM Sans" pitchFamily="34" charset="-120"/>
              </a:rPr>
              <a:t>Structured rescoring as conditions change</a:t>
            </a:r>
            <a:endParaRPr lang="en-US" sz="980" dirty="0"/>
          </a:p>
        </p:txBody>
      </p:sp>
      <p:sp>
        <p:nvSpPr>
          <p:cNvPr id="23" name="Shape 21"/>
          <p:cNvSpPr/>
          <p:nvPr/>
        </p:nvSpPr>
        <p:spPr>
          <a:xfrm>
            <a:off x="4681728" y="3108960"/>
            <a:ext cx="64008" cy="64008"/>
          </a:xfrm>
          <a:prstGeom prst="rect">
            <a:avLst/>
          </a:prstGeom>
          <a:solidFill>
            <a:srgbClr val="C9A84C"/>
          </a:solidFill>
          <a:ln/>
        </p:spPr>
        <p:txBody>
          <a:bodyPr/>
          <a:p/>
        </p:txBody>
      </p:sp>
      <p:sp>
        <p:nvSpPr>
          <p:cNvPr id="24" name="Text 22"/>
          <p:cNvSpPr/>
          <p:nvPr/>
        </p:nvSpPr>
        <p:spPr>
          <a:xfrm>
            <a:off x="4864608" y="3054096"/>
            <a:ext cx="2834640" cy="237744"/>
          </a:xfrm>
          <a:prstGeom prst="rect">
            <a:avLst/>
          </a:prstGeom>
          <a:noFill/>
          <a:ln/>
        </p:spPr>
        <p:txBody>
          <a:bodyPr wrap="square" lIns="0" tIns="0" rIns="0" bIns="0" rtlCol="0" anchor="ctr"/>
          <a:lstStyle/>
          <a:p>
            <a:pPr indent="0" marL="0">
              <a:buNone/>
            </a:pPr>
            <a:r>
              <a:rPr lang="en-US" sz="980" dirty="0">
                <a:solidFill>
                  <a:srgbClr val="F5F0E8"/>
                </a:solidFill>
                <a:latin typeface="DM Sans" pitchFamily="34" charset="0"/>
                <a:ea typeface="DM Sans" pitchFamily="34" charset="-122"/>
                <a:cs typeface="DM Sans" pitchFamily="34" charset="-120"/>
              </a:rPr>
              <a:t>A system you own and return to</a:t>
            </a:r>
            <a:endParaRPr lang="en-US" sz="980" dirty="0"/>
          </a:p>
        </p:txBody>
      </p:sp>
      <p:pic>
        <p:nvPicPr>
          <p:cNvPr id="25" name="Image 0" descr="preencoded.png">    </p:cNvPr>
          <p:cNvPicPr>
            <a:picLocks noChangeAspect="1"/>
          </p:cNvPicPr>
          <p:nvPr/>
        </p:nvPicPr>
        <p:blipFill>
          <a:blip r:embed="rId1"/>
          <a:stretch>
            <a:fillRect/>
          </a:stretch>
        </p:blipFill>
        <p:spPr>
          <a:xfrm>
            <a:off x="7827264" y="1883664"/>
            <a:ext cx="658368" cy="852221"/>
          </a:xfrm>
          <a:prstGeom prst="rect">
            <a:avLst/>
          </a:prstGeom>
        </p:spPr>
      </p:pic>
      <p:pic>
        <p:nvPicPr>
          <p:cNvPr id="26" name="Image 1" descr="preencoded.png">
            <a:hlinkClick r:id="rId3" tooltip=""/>
          </p:cNvPr>
          <p:cNvPicPr>
            <a:picLocks noChangeAspect="1"/>
          </p:cNvPicPr>
          <p:nvPr/>
        </p:nvPicPr>
        <p:blipFill>
          <a:blip r:embed="rId2"/>
          <a:stretch>
            <a:fillRect/>
          </a:stretch>
        </p:blipFill>
        <p:spPr>
          <a:xfrm>
            <a:off x="7818120" y="3035808"/>
            <a:ext cx="676656" cy="676656"/>
          </a:xfrm>
          <a:prstGeom prst="rect">
            <a:avLst/>
          </a:prstGeom>
        </p:spPr>
      </p:pic>
      <p:sp>
        <p:nvSpPr>
          <p:cNvPr id="27" name="Text 23">
            <a:hlinkClick r:id="rId4" tooltip=""/>
          </p:cNvPr>
          <p:cNvSpPr/>
          <p:nvPr/>
        </p:nvSpPr>
        <p:spPr>
          <a:xfrm>
            <a:off x="4681728" y="3364992"/>
            <a:ext cx="2743200" cy="219456"/>
          </a:xfrm>
          <a:prstGeom prst="rect">
            <a:avLst/>
          </a:prstGeom>
          <a:noFill/>
          <a:ln/>
        </p:spPr>
        <p:txBody>
          <a:bodyPr wrap="square" lIns="0" tIns="0" rIns="0" bIns="0" rtlCol="0" anchor="ctr"/>
          <a:lstStyle/>
          <a:p>
            <a:pPr indent="0" marL="0">
              <a:buNone/>
            </a:pPr>
            <a:r>
              <a:rPr lang="en-US" sz="1050" b="1" u="sng" spc="140" kern="0" dirty="0">
                <a:solidFill>
                  <a:srgbClr val="C9A84C"/>
                </a:solidFill>
                <a:latin typeface="Montserrat" pitchFamily="34" charset="0"/>
                <a:ea typeface="Montserrat" pitchFamily="34" charset="-122"/>
                <a:cs typeface="Montserrat" pitchFamily="34" charset="-120"/>
                <a:hlinkClick r:id="rId4" invalidUrl="" action="" tgtFrame="" tooltip="" history="1" highlightClick="0" endSnd="0">
                  <a:extLst>
                    <a:ext uri="{A12FA001-AC4F-418D-AE19-62706E023703}">
                      <ahyp:hlinkClr xmlns:ahyp="http://schemas.microsoft.com/office/drawing/2018/hyperlinkcolor" val="tx"/>
                    </a:ext>
                  </a:extLst>
                </a:hlinkClick>
              </a:rPr>
              <a:t>EXPLORE THE FIELD KIT</a:t>
            </a:r>
            <a:endParaRPr lang="en-US" sz="1050" dirty="0"/>
          </a:p>
        </p:txBody>
      </p:sp>
      <p:sp>
        <p:nvSpPr>
          <p:cNvPr id="28" name="Text 24">
            <a:hlinkClick r:id="rId5" tooltip=""/>
          </p:cNvPr>
          <p:cNvSpPr/>
          <p:nvPr/>
        </p:nvSpPr>
        <p:spPr>
          <a:xfrm>
            <a:off x="4681728" y="3639312"/>
            <a:ext cx="2743200" cy="219456"/>
          </a:xfrm>
          <a:prstGeom prst="rect">
            <a:avLst/>
          </a:prstGeom>
          <a:noFill/>
          <a:ln/>
        </p:spPr>
        <p:txBody>
          <a:bodyPr wrap="square" lIns="0" tIns="0" rIns="0" bIns="0" rtlCol="0" anchor="ctr"/>
          <a:lstStyle/>
          <a:p>
            <a:pPr indent="0" marL="0">
              <a:buNone/>
            </a:pPr>
            <a:r>
              <a:rPr lang="en-US" sz="1100" u="sng" dirty="0">
                <a:solidFill>
                  <a:srgbClr val="F5F0E8"/>
                </a:solidFill>
                <a:latin typeface="DM Sans" pitchFamily="34" charset="0"/>
                <a:ea typeface="DM Sans" pitchFamily="34" charset="-122"/>
                <a:cs typeface="DM Sans" pitchFamily="34" charset="-120"/>
                <a:hlinkClick r:id="rId5" invalidUrl="" action="" tgtFrame="" tooltip="" history="1" highlightClick="0" endSnd="0">
                  <a:extLst>
                    <a:ext uri="{A12FA001-AC4F-418D-AE19-62706E023703}">
                      <ahyp:hlinkClr xmlns:ahyp="http://schemas.microsoft.com/office/drawing/2018/hyperlinkcolor" val="tx"/>
                    </a:ext>
                  </a:extLst>
                </a:hlinkClick>
              </a:rPr>
              <a:t>temidayoafonja.com/fieldkit</a:t>
            </a:r>
            <a:endParaRPr lang="en-US" sz="1100" dirty="0"/>
          </a:p>
        </p:txBody>
      </p:sp>
      <p:sp>
        <p:nvSpPr>
          <p:cNvPr id="29" name="Text 25"/>
          <p:cNvSpPr/>
          <p:nvPr/>
        </p:nvSpPr>
        <p:spPr>
          <a:xfrm>
            <a:off x="566928" y="4187952"/>
            <a:ext cx="8010144" cy="310896"/>
          </a:xfrm>
          <a:prstGeom prst="rect">
            <a:avLst/>
          </a:prstGeom>
          <a:noFill/>
          <a:ln/>
        </p:spPr>
        <p:txBody>
          <a:bodyPr wrap="square" lIns="0" tIns="0" rIns="0" bIns="0" rtlCol="0" anchor="ctr"/>
          <a:lstStyle/>
          <a:p>
            <a:pPr algn="ctr" indent="0" marL="0">
              <a:buNone/>
            </a:pPr>
            <a:r>
              <a:rPr lang="en-US" sz="1100" i="1" dirty="0">
                <a:solidFill>
                  <a:srgbClr val="5A6B84"/>
                </a:solidFill>
                <a:latin typeface="DM Sans" pitchFamily="34" charset="0"/>
                <a:ea typeface="DM Sans" pitchFamily="34" charset="-122"/>
                <a:cs typeface="DM Sans" pitchFamily="34" charset="-120"/>
              </a:rPr>
              <a:t>Use the Field Kit when you want to keep reading the position without needing another live session.</a:t>
            </a:r>
            <a:endParaRPr lang="en-US" sz="1100" dirty="0"/>
          </a:p>
        </p:txBody>
      </p:sp>
      <p:sp>
        <p:nvSpPr>
          <p:cNvPr id="31" name="Text 26"/>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32" name="Text 27"/>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24</a:t>
            </a:r>
            <a:endParaRPr lang="en-US" sz="7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F2347"/>
        </a:solidFill>
      </p:bgPr>
    </p:bg>
    <p:spTree>
      <p:nvGrpSpPr>
        <p:cNvPr id="1" name=""/>
        <p:cNvGrpSpPr/>
        <p:nvPr/>
      </p:nvGrpSpPr>
      <p:grpSpPr>
        <a:xfrm>
          <a:off x="0" y="0"/>
          <a:ext cx="0" cy="0"/>
          <a:chOff x="0" y="0"/>
          <a:chExt cx="0" cy="0"/>
        </a:xfrm>
      </p:grpSpPr>
      <p:sp>
        <p:nvSpPr>
          <p:cNvPr id="2" name="Text 0"/>
          <p:cNvSpPr/>
          <p:nvPr/>
        </p:nvSpPr>
        <p:spPr>
          <a:xfrm>
            <a:off x="566928" y="822960"/>
            <a:ext cx="8010144" cy="201168"/>
          </a:xfrm>
          <a:prstGeom prst="rect">
            <a:avLst/>
          </a:prstGeom>
          <a:noFill/>
          <a:ln/>
        </p:spPr>
        <p:txBody>
          <a:bodyPr wrap="square" lIns="0" tIns="0" rIns="0" bIns="0" rtlCol="0" anchor="ctr"/>
          <a:lstStyle/>
          <a:p>
            <a:pPr indent="0" marL="0">
              <a:buNone/>
            </a:pPr>
            <a:r>
              <a:rPr lang="en-US" sz="900" b="1" spc="180" kern="0" dirty="0">
                <a:solidFill>
                  <a:srgbClr val="C9A84C"/>
                </a:solidFill>
                <a:latin typeface="Montserrat" pitchFamily="34" charset="0"/>
                <a:ea typeface="Montserrat" pitchFamily="34" charset="-122"/>
                <a:cs typeface="Montserrat" pitchFamily="34" charset="-120"/>
              </a:rPr>
              <a:t>BEFORE YOU GO</a:t>
            </a:r>
            <a:endParaRPr lang="en-US" sz="900" dirty="0"/>
          </a:p>
        </p:txBody>
      </p:sp>
      <p:sp>
        <p:nvSpPr>
          <p:cNvPr id="3" name="Text 1"/>
          <p:cNvSpPr/>
          <p:nvPr/>
        </p:nvSpPr>
        <p:spPr>
          <a:xfrm>
            <a:off x="566928" y="1188720"/>
            <a:ext cx="8010144" cy="1188720"/>
          </a:xfrm>
          <a:prstGeom prst="rect">
            <a:avLst/>
          </a:prstGeom>
          <a:noFill/>
          <a:ln/>
        </p:spPr>
        <p:txBody>
          <a:bodyPr wrap="square" lIns="0" tIns="0" rIns="0" bIns="0" rtlCol="0" anchor="ctr"/>
          <a:lstStyle/>
          <a:p>
            <a:pPr indent="0" marL="0">
              <a:lnSpc>
                <a:spcPts val="3800"/>
              </a:lnSpc>
              <a:buNone/>
            </a:pPr>
            <a:r>
              <a:rPr lang="en-US" sz="3100" b="1" dirty="0">
                <a:solidFill>
                  <a:srgbClr val="F5F0E8"/>
                </a:solidFill>
                <a:latin typeface="Cormorant Garamond" pitchFamily="34" charset="0"/>
                <a:ea typeface="Cormorant Garamond" pitchFamily="34" charset="-122"/>
                <a:cs typeface="Cormorant Garamond" pitchFamily="34" charset="-120"/>
              </a:rPr>
              <a:t>You came in asking stay or leave.</a:t>
            </a:r>
            <a:endParaRPr lang="en-US" sz="3100" dirty="0"/>
          </a:p>
          <a:p>
            <a:pPr indent="0" marL="0">
              <a:lnSpc>
                <a:spcPts val="3800"/>
              </a:lnSpc>
              <a:buNone/>
            </a:pPr>
            <a:r>
              <a:rPr lang="en-US" sz="3100" b="1" dirty="0">
                <a:solidFill>
                  <a:srgbClr val="F5F0E8"/>
                </a:solidFill>
                <a:latin typeface="Cormorant Garamond" pitchFamily="34" charset="0"/>
                <a:ea typeface="Cormorant Garamond" pitchFamily="34" charset="-122"/>
                <a:cs typeface="Cormorant Garamond" pitchFamily="34" charset="-120"/>
              </a:rPr>
              <a:t>You leave with a clearer read.</a:t>
            </a:r>
            <a:endParaRPr lang="en-US" sz="3100" dirty="0"/>
          </a:p>
        </p:txBody>
      </p:sp>
      <p:sp>
        <p:nvSpPr>
          <p:cNvPr id="4" name="Shape 2"/>
          <p:cNvSpPr/>
          <p:nvPr/>
        </p:nvSpPr>
        <p:spPr>
          <a:xfrm>
            <a:off x="566928" y="2523744"/>
            <a:ext cx="2651760" cy="20117"/>
          </a:xfrm>
          <a:prstGeom prst="rect">
            <a:avLst/>
          </a:prstGeom>
          <a:solidFill>
            <a:srgbClr val="C9A84C"/>
          </a:solidFill>
          <a:ln/>
        </p:spPr>
        <p:txBody>
          <a:bodyPr/>
          <a:p/>
        </p:txBody>
      </p:sp>
      <p:sp>
        <p:nvSpPr>
          <p:cNvPr id="5" name="Text 3"/>
          <p:cNvSpPr/>
          <p:nvPr/>
        </p:nvSpPr>
        <p:spPr>
          <a:xfrm>
            <a:off x="566928" y="2761488"/>
            <a:ext cx="6309360" cy="1097280"/>
          </a:xfrm>
          <a:prstGeom prst="rect">
            <a:avLst/>
          </a:prstGeom>
          <a:noFill/>
          <a:ln/>
        </p:spPr>
        <p:txBody>
          <a:bodyPr wrap="square" lIns="0" tIns="0" rIns="0" bIns="0" rtlCol="0" anchor="ctr"/>
          <a:lstStyle/>
          <a:p>
            <a:pPr indent="0" marL="0">
              <a:lnSpc>
                <a:spcPts val="1900"/>
              </a:lnSpc>
              <a:buNone/>
            </a:pPr>
            <a:r>
              <a:rPr lang="en-US" sz="1300" dirty="0">
                <a:solidFill>
                  <a:srgbClr val="B8C5D9"/>
                </a:solidFill>
                <a:latin typeface="DM Sans" pitchFamily="34" charset="0"/>
                <a:ea typeface="DM Sans" pitchFamily="34" charset="-122"/>
                <a:cs typeface="DM Sans" pitchFamily="34" charset="-120"/>
              </a:rPr>
              <a:t>I have not made that decision for you, and I should not. What you have is a clearer read of what this work is building, what may travel, where the evidence is thin, and what deserves testing next. Put a date ninety days from now on your note, then come back and see what changed.</a:t>
            </a:r>
            <a:endParaRPr lang="en-US" sz="1300" dirty="0"/>
          </a:p>
        </p:txBody>
      </p:sp>
      <p:sp>
        <p:nvSpPr>
          <p:cNvPr id="6" name="Text 4"/>
          <p:cNvSpPr/>
          <p:nvPr/>
        </p:nvSpPr>
        <p:spPr>
          <a:xfrm>
            <a:off x="566928" y="4261104"/>
            <a:ext cx="8010144" cy="219456"/>
          </a:xfrm>
          <a:prstGeom prst="rect">
            <a:avLst/>
          </a:prstGeom>
          <a:noFill/>
          <a:ln/>
        </p:spPr>
        <p:txBody>
          <a:bodyPr wrap="square" lIns="0" tIns="0" rIns="0" bIns="0" rtlCol="0" anchor="ctr"/>
          <a:lstStyle/>
          <a:p>
            <a:pPr indent="0" marL="0">
              <a:buNone/>
            </a:pPr>
            <a:r>
              <a:rPr lang="en-US" sz="860" b="1" spc="120" kern="0" dirty="0">
                <a:solidFill>
                  <a:srgbClr val="B8C5D9"/>
                </a:solidFill>
                <a:latin typeface="Montserrat" pitchFamily="34" charset="0"/>
                <a:ea typeface="Montserrat" pitchFamily="34" charset="-122"/>
                <a:cs typeface="Montserrat" pitchFamily="34" charset="-120"/>
              </a:rPr>
              <a:t>Capability Formation  ·  Temidayo Afonja  ·  The Density Group</a:t>
            </a:r>
            <a:endParaRPr lang="en-US" sz="860" dirty="0"/>
          </a:p>
        </p:txBody>
      </p:sp>
      <p:sp>
        <p:nvSpPr>
          <p:cNvPr id="8" name="Text 5"/>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B8C5D9"/>
                </a:solidFill>
                <a:latin typeface="Montserrat" pitchFamily="34" charset="0"/>
                <a:ea typeface="Montserrat" pitchFamily="34" charset="-122"/>
                <a:cs typeface="Montserrat" pitchFamily="34" charset="-120"/>
              </a:rPr>
              <a:t>TEMIDAYO AFONJA   |   THE DENSITY GROUP</a:t>
            </a:r>
            <a:endParaRPr lang="en-US" sz="700" dirty="0"/>
          </a:p>
        </p:txBody>
      </p:sp>
      <p:sp>
        <p:nvSpPr>
          <p:cNvPr id="9" name="Text 6"/>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B8C5D9"/>
                </a:solidFill>
                <a:latin typeface="Montserrat" pitchFamily="34" charset="0"/>
                <a:ea typeface="Montserrat" pitchFamily="34" charset="-122"/>
                <a:cs typeface="Montserrat" pitchFamily="34" charset="-120"/>
              </a:rPr>
              <a:t>25</a:t>
            </a:r>
            <a:endParaRPr lang="en-US" sz="7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1440E"/>
                </a:solidFill>
                <a:latin typeface="Montserrat" pitchFamily="34" charset="0"/>
                <a:ea typeface="Montserrat" pitchFamily="34" charset="-122"/>
                <a:cs typeface="Montserrat" pitchFamily="34" charset="-120"/>
              </a:rPr>
              <a:t>LIVE ONLY  ·  RECORDING OFF  ·  10 MINUTES</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3264"/>
              </a:lnSpc>
              <a:buNone/>
            </a:pPr>
            <a:r>
              <a:rPr lang="en-US" sz="3200" b="1" dirty="0">
                <a:solidFill>
                  <a:srgbClr val="0F2347"/>
                </a:solidFill>
                <a:latin typeface="Cormorant Garamond" pitchFamily="34" charset="0"/>
                <a:ea typeface="Cormorant Garamond" pitchFamily="34" charset="-122"/>
                <a:cs typeface="Cormorant Garamond" pitchFamily="34" charset="-120"/>
              </a:rPr>
              <a:t>Questions &amp; Applications</a:t>
            </a:r>
            <a:endParaRPr lang="en-US" sz="32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Ten minutes. The recording has stopped.</a:t>
            </a:r>
            <a:endParaRPr lang="en-US" sz="1150" dirty="0"/>
          </a:p>
        </p:txBody>
      </p:sp>
      <p:sp>
        <p:nvSpPr>
          <p:cNvPr id="5" name="Shape 3"/>
          <p:cNvSpPr/>
          <p:nvPr/>
        </p:nvSpPr>
        <p:spPr>
          <a:xfrm>
            <a:off x="566928" y="1773936"/>
            <a:ext cx="8010144" cy="548640"/>
          </a:xfrm>
          <a:prstGeom prst="rect">
            <a:avLst/>
          </a:prstGeom>
          <a:solidFill>
            <a:srgbClr val="0F2347"/>
          </a:solidFill>
          <a:ln/>
        </p:spPr>
        <p:txBody>
          <a:bodyPr/>
          <a:p/>
        </p:txBody>
      </p:sp>
      <p:sp>
        <p:nvSpPr>
          <p:cNvPr id="6" name="Text 4"/>
          <p:cNvSpPr/>
          <p:nvPr/>
        </p:nvSpPr>
        <p:spPr>
          <a:xfrm>
            <a:off x="804672" y="1773936"/>
            <a:ext cx="7534656" cy="548640"/>
          </a:xfrm>
          <a:prstGeom prst="rect">
            <a:avLst/>
          </a:prstGeom>
          <a:noFill/>
          <a:ln/>
        </p:spPr>
        <p:txBody>
          <a:bodyPr wrap="square" lIns="0" tIns="0" rIns="0" bIns="0" rtlCol="0" anchor="ctr"/>
          <a:lstStyle/>
          <a:p>
            <a:pPr indent="0" marL="0">
              <a:buNone/>
            </a:pPr>
            <a:r>
              <a:rPr lang="en-US" sz="1500" b="1" dirty="0">
                <a:solidFill>
                  <a:srgbClr val="F5F0E8"/>
                </a:solidFill>
                <a:latin typeface="Cormorant Garamond" pitchFamily="34" charset="0"/>
                <a:ea typeface="Cormorant Garamond" pitchFamily="34" charset="-122"/>
                <a:cs typeface="Cormorant Garamond" pitchFamily="34" charset="-120"/>
              </a:rPr>
              <a:t>“I can help you clarify what your evidence supports. I cannot make the employment decision for you.”</a:t>
            </a:r>
            <a:endParaRPr lang="en-US" sz="1500" dirty="0"/>
          </a:p>
        </p:txBody>
      </p:sp>
      <p:sp>
        <p:nvSpPr>
          <p:cNvPr id="7" name="Shape 5"/>
          <p:cNvSpPr/>
          <p:nvPr/>
        </p:nvSpPr>
        <p:spPr>
          <a:xfrm>
            <a:off x="566928" y="2487168"/>
            <a:ext cx="3886200" cy="1591056"/>
          </a:xfrm>
          <a:prstGeom prst="rect">
            <a:avLst/>
          </a:prstGeom>
          <a:solidFill>
            <a:srgbClr val="E9EDF3"/>
          </a:solidFill>
          <a:ln/>
        </p:spPr>
        <p:txBody>
          <a:bodyPr/>
          <a:p/>
        </p:txBody>
      </p:sp>
      <p:sp>
        <p:nvSpPr>
          <p:cNvPr id="8" name="Text 6"/>
          <p:cNvSpPr/>
          <p:nvPr/>
        </p:nvSpPr>
        <p:spPr>
          <a:xfrm>
            <a:off x="786384" y="2633472"/>
            <a:ext cx="3474720" cy="182880"/>
          </a:xfrm>
          <a:prstGeom prst="rect">
            <a:avLst/>
          </a:prstGeom>
          <a:noFill/>
          <a:ln/>
        </p:spPr>
        <p:txBody>
          <a:bodyPr wrap="square" lIns="0" tIns="0" rIns="0" bIns="0" rtlCol="0" anchor="ctr"/>
          <a:lstStyle/>
          <a:p>
            <a:pPr indent="0" marL="0">
              <a:buNone/>
            </a:pPr>
            <a:r>
              <a:rPr lang="en-US" sz="820" b="1" spc="120" kern="0" dirty="0">
                <a:solidFill>
                  <a:srgbClr val="0F2347"/>
                </a:solidFill>
                <a:latin typeface="Montserrat" pitchFamily="34" charset="0"/>
                <a:ea typeface="Montserrat" pitchFamily="34" charset="-122"/>
                <a:cs typeface="Montserrat" pitchFamily="34" charset="-120"/>
              </a:rPr>
              <a:t>WELCOME</a:t>
            </a:r>
            <a:endParaRPr lang="en-US" sz="820" dirty="0"/>
          </a:p>
        </p:txBody>
      </p:sp>
      <p:sp>
        <p:nvSpPr>
          <p:cNvPr id="9" name="Text 7"/>
          <p:cNvSpPr/>
          <p:nvPr/>
        </p:nvSpPr>
        <p:spPr>
          <a:xfrm>
            <a:off x="786384" y="2871216"/>
            <a:ext cx="3474720" cy="1097280"/>
          </a:xfrm>
          <a:prstGeom prst="rect">
            <a:avLst/>
          </a:prstGeom>
          <a:noFill/>
          <a:ln/>
        </p:spPr>
        <p:txBody>
          <a:bodyPr wrap="square" lIns="0" tIns="0" rIns="0" bIns="0" rtlCol="0" anchor="ctr"/>
          <a:lstStyle/>
          <a:p>
            <a:pPr indent="0" marL="0">
              <a:lnSpc>
                <a:spcPts val="1400"/>
              </a:lnSpc>
              <a:buNone/>
            </a:pPr>
            <a:r>
              <a:rPr lang="en-US" sz="1040" dirty="0">
                <a:solidFill>
                  <a:srgbClr val="0F2347"/>
                </a:solidFill>
                <a:latin typeface="DM Sans" pitchFamily="34" charset="0"/>
                <a:ea typeface="DM Sans" pitchFamily="34" charset="-122"/>
                <a:cs typeface="DM Sans" pitchFamily="34" charset="-120"/>
              </a:rPr>
              <a:t>Statement interpretation  ·  the evidence protocol  ·  boundary and incomplete readings  ·  move-category distinctions  ·  what to investigate next</a:t>
            </a:r>
            <a:endParaRPr lang="en-US" sz="1040" dirty="0"/>
          </a:p>
        </p:txBody>
      </p:sp>
      <p:sp>
        <p:nvSpPr>
          <p:cNvPr id="10" name="Shape 8"/>
          <p:cNvSpPr/>
          <p:nvPr/>
        </p:nvSpPr>
        <p:spPr>
          <a:xfrm>
            <a:off x="4690872" y="2487168"/>
            <a:ext cx="3886200" cy="1591056"/>
          </a:xfrm>
          <a:prstGeom prst="rect">
            <a:avLst/>
          </a:prstGeom>
          <a:solidFill>
            <a:srgbClr val="C1440E"/>
          </a:solidFill>
          <a:ln/>
        </p:spPr>
        <p:txBody>
          <a:bodyPr/>
          <a:p/>
        </p:txBody>
      </p:sp>
      <p:sp>
        <p:nvSpPr>
          <p:cNvPr id="11" name="Text 9"/>
          <p:cNvSpPr/>
          <p:nvPr/>
        </p:nvSpPr>
        <p:spPr>
          <a:xfrm>
            <a:off x="4910328" y="2633472"/>
            <a:ext cx="3474720" cy="182880"/>
          </a:xfrm>
          <a:prstGeom prst="rect">
            <a:avLst/>
          </a:prstGeom>
          <a:noFill/>
          <a:ln/>
        </p:spPr>
        <p:txBody>
          <a:bodyPr wrap="square" lIns="0" tIns="0" rIns="0" bIns="0" rtlCol="0" anchor="ctr"/>
          <a:lstStyle/>
          <a:p>
            <a:pPr indent="0" marL="0">
              <a:buNone/>
            </a:pPr>
            <a:r>
              <a:rPr lang="en-US" sz="820" b="1" spc="120" kern="0" dirty="0">
                <a:solidFill>
                  <a:srgbClr val="F5F0E8"/>
                </a:solidFill>
                <a:latin typeface="Montserrat" pitchFamily="34" charset="0"/>
                <a:ea typeface="Montserrat" pitchFamily="34" charset="-122"/>
                <a:cs typeface="Montserrat" pitchFamily="34" charset="-120"/>
              </a:rPr>
              <a:t>OUTSIDE THE BOUNDARY</a:t>
            </a:r>
            <a:endParaRPr lang="en-US" sz="820" dirty="0"/>
          </a:p>
        </p:txBody>
      </p:sp>
      <p:sp>
        <p:nvSpPr>
          <p:cNvPr id="12" name="Text 10"/>
          <p:cNvSpPr/>
          <p:nvPr/>
        </p:nvSpPr>
        <p:spPr>
          <a:xfrm>
            <a:off x="4910328" y="2871216"/>
            <a:ext cx="3474720" cy="1097280"/>
          </a:xfrm>
          <a:prstGeom prst="rect">
            <a:avLst/>
          </a:prstGeom>
          <a:noFill/>
          <a:ln/>
        </p:spPr>
        <p:txBody>
          <a:bodyPr wrap="square" lIns="0" tIns="0" rIns="0" bIns="0" rtlCol="0" anchor="ctr"/>
          <a:lstStyle/>
          <a:p>
            <a:pPr indent="0" marL="0">
              <a:lnSpc>
                <a:spcPts val="1400"/>
              </a:lnSpc>
              <a:buNone/>
            </a:pPr>
            <a:r>
              <a:rPr lang="en-US" sz="1040" dirty="0">
                <a:solidFill>
                  <a:srgbClr val="F5F0E8"/>
                </a:solidFill>
                <a:latin typeface="DM Sans" pitchFamily="34" charset="0"/>
                <a:ea typeface="DM Sans" pitchFamily="34" charset="-122"/>
                <a:cs typeface="DM Sans" pitchFamily="34" charset="-120"/>
              </a:rPr>
              <a:t>Telling someone to stay or leave  ·  predicting layoffs  ·  legal, medical, financial, immigration or tax questions  ·  diagnosing an employer  ·  asking for scores, states or employer names</a:t>
            </a:r>
            <a:endParaRPr lang="en-US" sz="1040" dirty="0"/>
          </a:p>
        </p:txBody>
      </p:sp>
      <p:sp>
        <p:nvSpPr>
          <p:cNvPr id="13" name="Text 11"/>
          <p:cNvSpPr/>
          <p:nvPr/>
        </p:nvSpPr>
        <p:spPr>
          <a:xfrm>
            <a:off x="566928" y="4224528"/>
            <a:ext cx="8010144" cy="256032"/>
          </a:xfrm>
          <a:prstGeom prst="rect">
            <a:avLst/>
          </a:prstGeom>
          <a:noFill/>
          <a:ln/>
        </p:spPr>
        <p:txBody>
          <a:bodyPr wrap="square" lIns="0" tIns="0" rIns="0" bIns="0" rtlCol="0" anchor="ctr"/>
          <a:lstStyle/>
          <a:p>
            <a:pPr algn="ctr" indent="0" marL="0">
              <a:buNone/>
            </a:pPr>
            <a:r>
              <a:rPr lang="en-US" sz="1150" b="1" dirty="0">
                <a:solidFill>
                  <a:srgbClr val="0F2347"/>
                </a:solidFill>
                <a:latin typeface="DM Sans" pitchFamily="34" charset="0"/>
                <a:ea typeface="DM Sans" pitchFamily="34" charset="-122"/>
                <a:cs typeface="DM Sans" pitchFamily="34" charset="-120"/>
              </a:rPr>
              <a:t>Close at 60:00.</a:t>
            </a:r>
            <a:endParaRPr lang="en-US" sz="1150" dirty="0"/>
          </a:p>
        </p:txBody>
      </p:sp>
      <p:sp>
        <p:nvSpPr>
          <p:cNvPr id="15" name="Text 12"/>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16" name="Text 13"/>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26</a:t>
            </a:r>
            <a:endParaRPr lang="en-US" sz="7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name="Slide 27">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5A6B84"/>
                </a:solidFill>
                <a:latin typeface="Montserrat" pitchFamily="34" charset="0"/>
                <a:ea typeface="Montserrat" pitchFamily="34" charset="-122"/>
                <a:cs typeface="Montserrat" pitchFamily="34" charset="-120"/>
              </a:rPr>
              <a:t>APPENDIX  ·  NOT PART OF THE RECORDED CORE</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652"/>
              </a:lnSpc>
              <a:buNone/>
            </a:pPr>
            <a:r>
              <a:rPr lang="en-US" sz="2600" b="1" dirty="0">
                <a:solidFill>
                  <a:srgbClr val="0F2347"/>
                </a:solidFill>
                <a:latin typeface="Cormorant Garamond" pitchFamily="34" charset="0"/>
                <a:ea typeface="Cormorant Garamond" pitchFamily="34" charset="-122"/>
                <a:cs typeface="Cormorant Garamond" pitchFamily="34" charset="-120"/>
              </a:rPr>
              <a:t>Position Exposure Signals</a:t>
            </a:r>
            <a:endParaRPr lang="en-US" sz="26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Questions to investigate, not predictions.</a:t>
            </a:r>
            <a:endParaRPr lang="en-US" sz="1150" dirty="0"/>
          </a:p>
        </p:txBody>
      </p:sp>
      <p:sp>
        <p:nvSpPr>
          <p:cNvPr id="5" name="Shape 3"/>
          <p:cNvSpPr/>
          <p:nvPr/>
        </p:nvSpPr>
        <p:spPr>
          <a:xfrm>
            <a:off x="566928" y="1883664"/>
            <a:ext cx="25603" cy="566928"/>
          </a:xfrm>
          <a:prstGeom prst="rect">
            <a:avLst/>
          </a:prstGeom>
          <a:solidFill>
            <a:srgbClr val="C9A84C"/>
          </a:solidFill>
          <a:ln/>
        </p:spPr>
        <p:txBody>
          <a:bodyPr/>
          <a:p/>
        </p:txBody>
      </p:sp>
      <p:sp>
        <p:nvSpPr>
          <p:cNvPr id="6" name="Text 4"/>
          <p:cNvSpPr/>
          <p:nvPr/>
        </p:nvSpPr>
        <p:spPr>
          <a:xfrm>
            <a:off x="804672" y="1883664"/>
            <a:ext cx="7772400" cy="237744"/>
          </a:xfrm>
          <a:prstGeom prst="rect">
            <a:avLst/>
          </a:prstGeom>
          <a:noFill/>
          <a:ln/>
        </p:spPr>
        <p:txBody>
          <a:bodyPr wrap="square" lIns="0" tIns="0" rIns="0" bIns="0" rtlCol="0" anchor="ctr"/>
          <a:lstStyle/>
          <a:p>
            <a:pPr indent="0" marL="0">
              <a:buNone/>
            </a:pPr>
            <a:r>
              <a:rPr lang="en-US" sz="1250" b="1" dirty="0">
                <a:solidFill>
                  <a:srgbClr val="0F2347"/>
                </a:solidFill>
                <a:latin typeface="DM Sans" pitchFamily="34" charset="0"/>
                <a:ea typeface="DM Sans" pitchFamily="34" charset="-122"/>
                <a:cs typeface="DM Sans" pitchFamily="34" charset="-120"/>
              </a:rPr>
              <a:t>Your current role</a:t>
            </a:r>
            <a:endParaRPr lang="en-US" sz="1250" dirty="0"/>
          </a:p>
        </p:txBody>
      </p:sp>
      <p:sp>
        <p:nvSpPr>
          <p:cNvPr id="7" name="Text 5"/>
          <p:cNvSpPr/>
          <p:nvPr/>
        </p:nvSpPr>
        <p:spPr>
          <a:xfrm>
            <a:off x="804672" y="2139696"/>
            <a:ext cx="7772400" cy="384048"/>
          </a:xfrm>
          <a:prstGeom prst="rect">
            <a:avLst/>
          </a:prstGeom>
          <a:noFill/>
          <a:ln/>
        </p:spPr>
        <p:txBody>
          <a:bodyPr wrap="square" lIns="0" tIns="0" rIns="0" bIns="0" rtlCol="0" anchor="ctr"/>
          <a:lstStyle/>
          <a:p>
            <a:pPr indent="0" marL="0">
              <a:lnSpc>
                <a:spcPts val="1400"/>
              </a:lnSpc>
              <a:buNone/>
            </a:pPr>
            <a:r>
              <a:rPr lang="en-US" sz="1100" dirty="0">
                <a:solidFill>
                  <a:srgbClr val="5A6B84"/>
                </a:solidFill>
                <a:latin typeface="DM Sans" pitchFamily="34" charset="0"/>
                <a:ea typeface="DM Sans" pitchFamily="34" charset="-122"/>
                <a:cs typeface="DM Sans" pitchFamily="34" charset="-120"/>
              </a:rPr>
              <a:t>Is the mandate being absorbed, narrowed, duplicated or repeatedly redefined?</a:t>
            </a:r>
            <a:endParaRPr lang="en-US" sz="1100" dirty="0"/>
          </a:p>
        </p:txBody>
      </p:sp>
      <p:sp>
        <p:nvSpPr>
          <p:cNvPr id="8" name="Shape 6"/>
          <p:cNvSpPr/>
          <p:nvPr/>
        </p:nvSpPr>
        <p:spPr>
          <a:xfrm>
            <a:off x="566928" y="2596896"/>
            <a:ext cx="25603" cy="566928"/>
          </a:xfrm>
          <a:prstGeom prst="rect">
            <a:avLst/>
          </a:prstGeom>
          <a:solidFill>
            <a:srgbClr val="C9A84C"/>
          </a:solidFill>
          <a:ln/>
        </p:spPr>
        <p:txBody>
          <a:bodyPr/>
          <a:p/>
        </p:txBody>
      </p:sp>
      <p:sp>
        <p:nvSpPr>
          <p:cNvPr id="9" name="Text 7"/>
          <p:cNvSpPr/>
          <p:nvPr/>
        </p:nvSpPr>
        <p:spPr>
          <a:xfrm>
            <a:off x="804672" y="2596896"/>
            <a:ext cx="7772400" cy="237744"/>
          </a:xfrm>
          <a:prstGeom prst="rect">
            <a:avLst/>
          </a:prstGeom>
          <a:noFill/>
          <a:ln/>
        </p:spPr>
        <p:txBody>
          <a:bodyPr wrap="square" lIns="0" tIns="0" rIns="0" bIns="0" rtlCol="0" anchor="ctr"/>
          <a:lstStyle/>
          <a:p>
            <a:pPr indent="0" marL="0">
              <a:buNone/>
            </a:pPr>
            <a:r>
              <a:rPr lang="en-US" sz="1250" b="1" dirty="0">
                <a:solidFill>
                  <a:srgbClr val="0F2347"/>
                </a:solidFill>
                <a:latin typeface="DM Sans" pitchFamily="34" charset="0"/>
                <a:ea typeface="DM Sans" pitchFamily="34" charset="-122"/>
                <a:cs typeface="DM Sans" pitchFamily="34" charset="-120"/>
              </a:rPr>
              <a:t>A role you are considering</a:t>
            </a:r>
            <a:endParaRPr lang="en-US" sz="1250" dirty="0"/>
          </a:p>
        </p:txBody>
      </p:sp>
      <p:sp>
        <p:nvSpPr>
          <p:cNvPr id="10" name="Text 8"/>
          <p:cNvSpPr/>
          <p:nvPr/>
        </p:nvSpPr>
        <p:spPr>
          <a:xfrm>
            <a:off x="804672" y="2852928"/>
            <a:ext cx="7772400" cy="384048"/>
          </a:xfrm>
          <a:prstGeom prst="rect">
            <a:avLst/>
          </a:prstGeom>
          <a:noFill/>
          <a:ln/>
        </p:spPr>
        <p:txBody>
          <a:bodyPr wrap="square" lIns="0" tIns="0" rIns="0" bIns="0" rtlCol="0" anchor="ctr"/>
          <a:lstStyle/>
          <a:p>
            <a:pPr indent="0" marL="0">
              <a:lnSpc>
                <a:spcPts val="1400"/>
              </a:lnSpc>
              <a:buNone/>
            </a:pPr>
            <a:r>
              <a:rPr lang="en-US" sz="1100" dirty="0">
                <a:solidFill>
                  <a:srgbClr val="5A6B84"/>
                </a:solidFill>
                <a:latin typeface="DM Sans" pitchFamily="34" charset="0"/>
                <a:ea typeface="DM Sans" pitchFamily="34" charset="-122"/>
                <a:cs typeface="DM Sans" pitchFamily="34" charset="-120"/>
              </a:rPr>
              <a:t>Does the position exist because of a strategy, or because of one sponsor?</a:t>
            </a:r>
            <a:endParaRPr lang="en-US" sz="1100" dirty="0"/>
          </a:p>
        </p:txBody>
      </p:sp>
      <p:sp>
        <p:nvSpPr>
          <p:cNvPr id="11" name="Shape 9"/>
          <p:cNvSpPr/>
          <p:nvPr/>
        </p:nvSpPr>
        <p:spPr>
          <a:xfrm>
            <a:off x="566928" y="3310128"/>
            <a:ext cx="25603" cy="566928"/>
          </a:xfrm>
          <a:prstGeom prst="rect">
            <a:avLst/>
          </a:prstGeom>
          <a:solidFill>
            <a:srgbClr val="C9A84C"/>
          </a:solidFill>
          <a:ln/>
        </p:spPr>
        <p:txBody>
          <a:bodyPr/>
          <a:p/>
        </p:txBody>
      </p:sp>
      <p:sp>
        <p:nvSpPr>
          <p:cNvPr id="12" name="Text 10"/>
          <p:cNvSpPr/>
          <p:nvPr/>
        </p:nvSpPr>
        <p:spPr>
          <a:xfrm>
            <a:off x="804672" y="3310128"/>
            <a:ext cx="7772400" cy="237744"/>
          </a:xfrm>
          <a:prstGeom prst="rect">
            <a:avLst/>
          </a:prstGeom>
          <a:noFill/>
          <a:ln/>
        </p:spPr>
        <p:txBody>
          <a:bodyPr wrap="square" lIns="0" tIns="0" rIns="0" bIns="0" rtlCol="0" anchor="ctr"/>
          <a:lstStyle/>
          <a:p>
            <a:pPr indent="0" marL="0">
              <a:buNone/>
            </a:pPr>
            <a:r>
              <a:rPr lang="en-US" sz="1250" b="1" dirty="0">
                <a:solidFill>
                  <a:srgbClr val="0F2347"/>
                </a:solidFill>
                <a:latin typeface="DM Sans" pitchFamily="34" charset="0"/>
                <a:ea typeface="DM Sans" pitchFamily="34" charset="-122"/>
                <a:cs typeface="DM Sans" pitchFamily="34" charset="-120"/>
              </a:rPr>
              <a:t>Either</a:t>
            </a:r>
            <a:endParaRPr lang="en-US" sz="1250" dirty="0"/>
          </a:p>
        </p:txBody>
      </p:sp>
      <p:sp>
        <p:nvSpPr>
          <p:cNvPr id="13" name="Text 11"/>
          <p:cNvSpPr/>
          <p:nvPr/>
        </p:nvSpPr>
        <p:spPr>
          <a:xfrm>
            <a:off x="804672" y="3566160"/>
            <a:ext cx="7772400" cy="384048"/>
          </a:xfrm>
          <a:prstGeom prst="rect">
            <a:avLst/>
          </a:prstGeom>
          <a:noFill/>
          <a:ln/>
        </p:spPr>
        <p:txBody>
          <a:bodyPr wrap="square" lIns="0" tIns="0" rIns="0" bIns="0" rtlCol="0" anchor="ctr"/>
          <a:lstStyle/>
          <a:p>
            <a:pPr indent="0" marL="0">
              <a:lnSpc>
                <a:spcPts val="1400"/>
              </a:lnSpc>
              <a:buNone/>
            </a:pPr>
            <a:r>
              <a:rPr lang="en-US" sz="1100" dirty="0">
                <a:solidFill>
                  <a:srgbClr val="5A6B84"/>
                </a:solidFill>
                <a:latin typeface="DM Sans" pitchFamily="34" charset="0"/>
                <a:ea typeface="DM Sans" pitchFamily="34" charset="-122"/>
                <a:cs typeface="DM Sans" pitchFamily="34" charset="-120"/>
              </a:rPr>
              <a:t>Who outside your manager would notice if the function disappeared?</a:t>
            </a:r>
            <a:endParaRPr lang="en-US" sz="1100" dirty="0"/>
          </a:p>
        </p:txBody>
      </p:sp>
      <p:sp>
        <p:nvSpPr>
          <p:cNvPr id="15" name="Text 12"/>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name="Slide 28">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5A6B84"/>
                </a:solidFill>
                <a:latin typeface="Montserrat" pitchFamily="34" charset="0"/>
                <a:ea typeface="Montserrat" pitchFamily="34" charset="-122"/>
                <a:cs typeface="Montserrat" pitchFamily="34" charset="-120"/>
              </a:rPr>
              <a:t>APPENDIX  ·  NOT PART OF THE RECORDED CORE</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652"/>
              </a:lnSpc>
              <a:buNone/>
            </a:pPr>
            <a:r>
              <a:rPr lang="en-US" sz="2600" b="1" dirty="0">
                <a:solidFill>
                  <a:srgbClr val="0F2347"/>
                </a:solidFill>
                <a:latin typeface="Cormorant Garamond" pitchFamily="34" charset="0"/>
                <a:ea typeface="Cormorant Garamond" pitchFamily="34" charset="-122"/>
                <a:cs typeface="Cormorant Garamond" pitchFamily="34" charset="-120"/>
              </a:rPr>
              <a:t>AI and Compounding</a:t>
            </a:r>
            <a:endParaRPr lang="en-US" sz="26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An application of the two axes. Not a technology session.</a:t>
            </a:r>
            <a:endParaRPr lang="en-US" sz="1150" dirty="0"/>
          </a:p>
        </p:txBody>
      </p:sp>
      <p:sp>
        <p:nvSpPr>
          <p:cNvPr id="5" name="Shape 3"/>
          <p:cNvSpPr/>
          <p:nvPr/>
        </p:nvSpPr>
        <p:spPr>
          <a:xfrm>
            <a:off x="566928" y="1883664"/>
            <a:ext cx="25603" cy="566928"/>
          </a:xfrm>
          <a:prstGeom prst="rect">
            <a:avLst/>
          </a:prstGeom>
          <a:solidFill>
            <a:srgbClr val="C9A84C"/>
          </a:solidFill>
          <a:ln/>
        </p:spPr>
        <p:txBody>
          <a:bodyPr/>
          <a:p/>
        </p:txBody>
      </p:sp>
      <p:sp>
        <p:nvSpPr>
          <p:cNvPr id="6" name="Text 4"/>
          <p:cNvSpPr/>
          <p:nvPr/>
        </p:nvSpPr>
        <p:spPr>
          <a:xfrm>
            <a:off x="804672" y="1883664"/>
            <a:ext cx="7772400" cy="237744"/>
          </a:xfrm>
          <a:prstGeom prst="rect">
            <a:avLst/>
          </a:prstGeom>
          <a:noFill/>
          <a:ln/>
        </p:spPr>
        <p:txBody>
          <a:bodyPr wrap="square" lIns="0" tIns="0" rIns="0" bIns="0" rtlCol="0" anchor="ctr"/>
          <a:lstStyle/>
          <a:p>
            <a:pPr indent="0" marL="0">
              <a:buNone/>
            </a:pPr>
            <a:r>
              <a:rPr lang="en-US" sz="1250" b="1" dirty="0">
                <a:solidFill>
                  <a:srgbClr val="0F2347"/>
                </a:solidFill>
                <a:latin typeface="DM Sans" pitchFamily="34" charset="0"/>
                <a:ea typeface="DM Sans" pitchFamily="34" charset="-122"/>
                <a:cs typeface="DM Sans" pitchFamily="34" charset="-120"/>
              </a:rPr>
              <a:t>The reading does not change</a:t>
            </a:r>
            <a:endParaRPr lang="en-US" sz="1250" dirty="0"/>
          </a:p>
        </p:txBody>
      </p:sp>
      <p:sp>
        <p:nvSpPr>
          <p:cNvPr id="7" name="Text 5"/>
          <p:cNvSpPr/>
          <p:nvPr/>
        </p:nvSpPr>
        <p:spPr>
          <a:xfrm>
            <a:off x="804672" y="2139696"/>
            <a:ext cx="7772400" cy="384048"/>
          </a:xfrm>
          <a:prstGeom prst="rect">
            <a:avLst/>
          </a:prstGeom>
          <a:noFill/>
          <a:ln/>
        </p:spPr>
        <p:txBody>
          <a:bodyPr wrap="square" lIns="0" tIns="0" rIns="0" bIns="0" rtlCol="0" anchor="ctr"/>
          <a:lstStyle/>
          <a:p>
            <a:pPr indent="0" marL="0">
              <a:lnSpc>
                <a:spcPts val="1400"/>
              </a:lnSpc>
              <a:buNone/>
            </a:pPr>
            <a:r>
              <a:rPr lang="en-US" sz="1100" dirty="0">
                <a:solidFill>
                  <a:srgbClr val="5A6B84"/>
                </a:solidFill>
                <a:latin typeface="DM Sans" pitchFamily="34" charset="0"/>
                <a:ea typeface="DM Sans" pitchFamily="34" charset="-122"/>
                <a:cs typeface="DM Sans" pitchFamily="34" charset="-120"/>
              </a:rPr>
              <a:t>Where AI makes routine output easier to reproduce, your position depends more heavily on judgment, learning velocity, and capability that travels across unfamiliar problems.</a:t>
            </a:r>
            <a:endParaRPr lang="en-US" sz="1100" dirty="0"/>
          </a:p>
        </p:txBody>
      </p:sp>
      <p:sp>
        <p:nvSpPr>
          <p:cNvPr id="8" name="Shape 6"/>
          <p:cNvSpPr/>
          <p:nvPr/>
        </p:nvSpPr>
        <p:spPr>
          <a:xfrm>
            <a:off x="566928" y="2596896"/>
            <a:ext cx="25603" cy="566928"/>
          </a:xfrm>
          <a:prstGeom prst="rect">
            <a:avLst/>
          </a:prstGeom>
          <a:solidFill>
            <a:srgbClr val="C9A84C"/>
          </a:solidFill>
          <a:ln/>
        </p:spPr>
        <p:txBody>
          <a:bodyPr/>
          <a:p/>
        </p:txBody>
      </p:sp>
      <p:sp>
        <p:nvSpPr>
          <p:cNvPr id="9" name="Text 7"/>
          <p:cNvSpPr/>
          <p:nvPr/>
        </p:nvSpPr>
        <p:spPr>
          <a:xfrm>
            <a:off x="804672" y="2596896"/>
            <a:ext cx="7772400" cy="237744"/>
          </a:xfrm>
          <a:prstGeom prst="rect">
            <a:avLst/>
          </a:prstGeom>
          <a:noFill/>
          <a:ln/>
        </p:spPr>
        <p:txBody>
          <a:bodyPr wrap="square" lIns="0" tIns="0" rIns="0" bIns="0" rtlCol="0" anchor="ctr"/>
          <a:lstStyle/>
          <a:p>
            <a:pPr indent="0" marL="0">
              <a:buNone/>
            </a:pPr>
            <a:r>
              <a:rPr lang="en-US" sz="1250" b="1" dirty="0">
                <a:solidFill>
                  <a:srgbClr val="0F2347"/>
                </a:solidFill>
                <a:latin typeface="DM Sans" pitchFamily="34" charset="0"/>
                <a:ea typeface="DM Sans" pitchFamily="34" charset="-122"/>
                <a:cs typeface="DM Sans" pitchFamily="34" charset="-120"/>
              </a:rPr>
              <a:t>Density and Optionality do not become less important</a:t>
            </a:r>
            <a:endParaRPr lang="en-US" sz="1250" dirty="0"/>
          </a:p>
        </p:txBody>
      </p:sp>
      <p:sp>
        <p:nvSpPr>
          <p:cNvPr id="10" name="Text 8"/>
          <p:cNvSpPr/>
          <p:nvPr/>
        </p:nvSpPr>
        <p:spPr>
          <a:xfrm>
            <a:off x="804672" y="2852928"/>
            <a:ext cx="7772400" cy="384048"/>
          </a:xfrm>
          <a:prstGeom prst="rect">
            <a:avLst/>
          </a:prstGeom>
          <a:noFill/>
          <a:ln/>
        </p:spPr>
        <p:txBody>
          <a:bodyPr wrap="square" lIns="0" tIns="0" rIns="0" bIns="0" rtlCol="0" anchor="ctr"/>
          <a:lstStyle/>
          <a:p>
            <a:pPr indent="0" marL="0">
              <a:lnSpc>
                <a:spcPts val="1400"/>
              </a:lnSpc>
              <a:buNone/>
            </a:pPr>
            <a:r>
              <a:rPr lang="en-US" sz="1100" dirty="0">
                <a:solidFill>
                  <a:srgbClr val="5A6B84"/>
                </a:solidFill>
                <a:latin typeface="DM Sans" pitchFamily="34" charset="0"/>
                <a:ea typeface="DM Sans" pitchFamily="34" charset="-122"/>
                <a:cs typeface="DM Sans" pitchFamily="34" charset="-120"/>
              </a:rPr>
              <a:t>They become more consequential.</a:t>
            </a:r>
            <a:endParaRPr lang="en-US" sz="1100" dirty="0"/>
          </a:p>
        </p:txBody>
      </p:sp>
      <p:sp>
        <p:nvSpPr>
          <p:cNvPr id="11" name="Shape 9"/>
          <p:cNvSpPr/>
          <p:nvPr/>
        </p:nvSpPr>
        <p:spPr>
          <a:xfrm>
            <a:off x="566928" y="3310128"/>
            <a:ext cx="25603" cy="566928"/>
          </a:xfrm>
          <a:prstGeom prst="rect">
            <a:avLst/>
          </a:prstGeom>
          <a:solidFill>
            <a:srgbClr val="C9A84C"/>
          </a:solidFill>
          <a:ln/>
        </p:spPr>
        <p:txBody>
          <a:bodyPr/>
          <a:p/>
        </p:txBody>
      </p:sp>
      <p:sp>
        <p:nvSpPr>
          <p:cNvPr id="12" name="Text 10"/>
          <p:cNvSpPr/>
          <p:nvPr/>
        </p:nvSpPr>
        <p:spPr>
          <a:xfrm>
            <a:off x="804672" y="3310128"/>
            <a:ext cx="7772400" cy="237744"/>
          </a:xfrm>
          <a:prstGeom prst="rect">
            <a:avLst/>
          </a:prstGeom>
          <a:noFill/>
          <a:ln/>
        </p:spPr>
        <p:txBody>
          <a:bodyPr wrap="square" lIns="0" tIns="0" rIns="0" bIns="0" rtlCol="0" anchor="ctr"/>
          <a:lstStyle/>
          <a:p>
            <a:pPr indent="0" marL="0">
              <a:buNone/>
            </a:pPr>
            <a:r>
              <a:rPr lang="en-US" sz="1250" b="1" dirty="0">
                <a:solidFill>
                  <a:srgbClr val="0F2347"/>
                </a:solidFill>
                <a:latin typeface="DM Sans" pitchFamily="34" charset="0"/>
                <a:ea typeface="DM Sans" pitchFamily="34" charset="-122"/>
                <a:cs typeface="DM Sans" pitchFamily="34" charset="-120"/>
              </a:rPr>
              <a:t>What this is not</a:t>
            </a:r>
            <a:endParaRPr lang="en-US" sz="1250" dirty="0"/>
          </a:p>
        </p:txBody>
      </p:sp>
      <p:sp>
        <p:nvSpPr>
          <p:cNvPr id="13" name="Text 11"/>
          <p:cNvSpPr/>
          <p:nvPr/>
        </p:nvSpPr>
        <p:spPr>
          <a:xfrm>
            <a:off x="804672" y="3566160"/>
            <a:ext cx="7772400" cy="384048"/>
          </a:xfrm>
          <a:prstGeom prst="rect">
            <a:avLst/>
          </a:prstGeom>
          <a:noFill/>
          <a:ln/>
        </p:spPr>
        <p:txBody>
          <a:bodyPr wrap="square" lIns="0" tIns="0" rIns="0" bIns="0" rtlCol="0" anchor="ctr"/>
          <a:lstStyle/>
          <a:p>
            <a:pPr indent="0" marL="0">
              <a:lnSpc>
                <a:spcPts val="1400"/>
              </a:lnSpc>
              <a:buNone/>
            </a:pPr>
            <a:r>
              <a:rPr lang="en-US" sz="1100" dirty="0">
                <a:solidFill>
                  <a:srgbClr val="5A6B84"/>
                </a:solidFill>
                <a:latin typeface="DM Sans" pitchFamily="34" charset="0"/>
                <a:ea typeface="DM Sans" pitchFamily="34" charset="-122"/>
                <a:cs typeface="DM Sans" pitchFamily="34" charset="-120"/>
              </a:rPr>
              <a:t>Not a prediction about jobs, tools or timelines. No tool names.</a:t>
            </a:r>
            <a:endParaRPr lang="en-US" sz="1100" dirty="0"/>
          </a:p>
        </p:txBody>
      </p:sp>
      <p:sp>
        <p:nvSpPr>
          <p:cNvPr id="15" name="Text 12"/>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name="Slide 29">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5A6B84"/>
                </a:solidFill>
                <a:latin typeface="Montserrat" pitchFamily="34" charset="0"/>
                <a:ea typeface="Montserrat" pitchFamily="34" charset="-122"/>
                <a:cs typeface="Montserrat" pitchFamily="34" charset="-120"/>
              </a:rPr>
              <a:t>APPENDIX  ·  NOT PART OF THE RECORDED CORE</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652"/>
              </a:lnSpc>
              <a:buNone/>
            </a:pPr>
            <a:r>
              <a:rPr lang="en-US" sz="2600" b="1" dirty="0">
                <a:solidFill>
                  <a:srgbClr val="0F2347"/>
                </a:solidFill>
                <a:latin typeface="Cormorant Garamond" pitchFamily="34" charset="0"/>
                <a:ea typeface="Cormorant Garamond" pitchFamily="34" charset="-122"/>
                <a:cs typeface="Cormorant Garamond" pitchFamily="34" charset="-120"/>
              </a:rPr>
              <a:t>What translation actually means</a:t>
            </a:r>
            <a:endParaRPr lang="en-US" sz="26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An application of the second move category.</a:t>
            </a:r>
            <a:endParaRPr lang="en-US" sz="1150" dirty="0"/>
          </a:p>
        </p:txBody>
      </p:sp>
      <p:sp>
        <p:nvSpPr>
          <p:cNvPr id="5" name="Shape 3"/>
          <p:cNvSpPr/>
          <p:nvPr/>
        </p:nvSpPr>
        <p:spPr>
          <a:xfrm>
            <a:off x="566928" y="1883664"/>
            <a:ext cx="25603" cy="566928"/>
          </a:xfrm>
          <a:prstGeom prst="rect">
            <a:avLst/>
          </a:prstGeom>
          <a:solidFill>
            <a:srgbClr val="C9A84C"/>
          </a:solidFill>
          <a:ln/>
        </p:spPr>
        <p:txBody>
          <a:bodyPr/>
          <a:p/>
        </p:txBody>
      </p:sp>
      <p:sp>
        <p:nvSpPr>
          <p:cNvPr id="6" name="Text 4"/>
          <p:cNvSpPr/>
          <p:nvPr/>
        </p:nvSpPr>
        <p:spPr>
          <a:xfrm>
            <a:off x="804672" y="1883664"/>
            <a:ext cx="7772400" cy="237744"/>
          </a:xfrm>
          <a:prstGeom prst="rect">
            <a:avLst/>
          </a:prstGeom>
          <a:noFill/>
          <a:ln/>
        </p:spPr>
        <p:txBody>
          <a:bodyPr wrap="square" lIns="0" tIns="0" rIns="0" bIns="0" rtlCol="0" anchor="ctr"/>
          <a:lstStyle/>
          <a:p>
            <a:pPr indent="0" marL="0">
              <a:buNone/>
            </a:pPr>
            <a:r>
              <a:rPr lang="en-US" sz="1250" b="1" dirty="0">
                <a:solidFill>
                  <a:srgbClr val="0F2347"/>
                </a:solidFill>
                <a:latin typeface="DM Sans" pitchFamily="34" charset="0"/>
                <a:ea typeface="DM Sans" pitchFamily="34" charset="-122"/>
                <a:cs typeface="DM Sans" pitchFamily="34" charset="-120"/>
              </a:rPr>
              <a:t>Legibility is not bragging</a:t>
            </a:r>
            <a:endParaRPr lang="en-US" sz="1250" dirty="0"/>
          </a:p>
        </p:txBody>
      </p:sp>
      <p:sp>
        <p:nvSpPr>
          <p:cNvPr id="7" name="Text 5"/>
          <p:cNvSpPr/>
          <p:nvPr/>
        </p:nvSpPr>
        <p:spPr>
          <a:xfrm>
            <a:off x="804672" y="2139696"/>
            <a:ext cx="7772400" cy="384048"/>
          </a:xfrm>
          <a:prstGeom prst="rect">
            <a:avLst/>
          </a:prstGeom>
          <a:noFill/>
          <a:ln/>
        </p:spPr>
        <p:txBody>
          <a:bodyPr wrap="square" lIns="0" tIns="0" rIns="0" bIns="0" rtlCol="0" anchor="ctr"/>
          <a:lstStyle/>
          <a:p>
            <a:pPr indent="0" marL="0">
              <a:lnSpc>
                <a:spcPts val="1400"/>
              </a:lnSpc>
              <a:buNone/>
            </a:pPr>
            <a:r>
              <a:rPr lang="en-US" sz="1100" dirty="0">
                <a:solidFill>
                  <a:srgbClr val="5A6B84"/>
                </a:solidFill>
                <a:latin typeface="DM Sans" pitchFamily="34" charset="0"/>
                <a:ea typeface="DM Sans" pitchFamily="34" charset="-122"/>
                <a:cs typeface="DM Sans" pitchFamily="34" charset="-120"/>
              </a:rPr>
              <a:t>It is evidence translated into language another context can understand.</a:t>
            </a:r>
            <a:endParaRPr lang="en-US" sz="1100" dirty="0"/>
          </a:p>
        </p:txBody>
      </p:sp>
      <p:sp>
        <p:nvSpPr>
          <p:cNvPr id="8" name="Shape 6"/>
          <p:cNvSpPr/>
          <p:nvPr/>
        </p:nvSpPr>
        <p:spPr>
          <a:xfrm>
            <a:off x="566928" y="2596896"/>
            <a:ext cx="25603" cy="566928"/>
          </a:xfrm>
          <a:prstGeom prst="rect">
            <a:avLst/>
          </a:prstGeom>
          <a:solidFill>
            <a:srgbClr val="C9A84C"/>
          </a:solidFill>
          <a:ln/>
        </p:spPr>
        <p:txBody>
          <a:bodyPr/>
          <a:p/>
        </p:txBody>
      </p:sp>
      <p:sp>
        <p:nvSpPr>
          <p:cNvPr id="9" name="Text 7"/>
          <p:cNvSpPr/>
          <p:nvPr/>
        </p:nvSpPr>
        <p:spPr>
          <a:xfrm>
            <a:off x="804672" y="2596896"/>
            <a:ext cx="7772400" cy="237744"/>
          </a:xfrm>
          <a:prstGeom prst="rect">
            <a:avLst/>
          </a:prstGeom>
          <a:noFill/>
          <a:ln/>
        </p:spPr>
        <p:txBody>
          <a:bodyPr wrap="square" lIns="0" tIns="0" rIns="0" bIns="0" rtlCol="0" anchor="ctr"/>
          <a:lstStyle/>
          <a:p>
            <a:pPr indent="0" marL="0">
              <a:buNone/>
            </a:pPr>
            <a:r>
              <a:rPr lang="en-US" sz="1250" b="1" dirty="0">
                <a:solidFill>
                  <a:srgbClr val="0F2347"/>
                </a:solidFill>
                <a:latin typeface="DM Sans" pitchFamily="34" charset="0"/>
                <a:ea typeface="DM Sans" pitchFamily="34" charset="-122"/>
                <a:cs typeface="DM Sans" pitchFamily="34" charset="-120"/>
              </a:rPr>
              <a:t>The pattern</a:t>
            </a:r>
            <a:endParaRPr lang="en-US" sz="1250" dirty="0"/>
          </a:p>
        </p:txBody>
      </p:sp>
      <p:sp>
        <p:nvSpPr>
          <p:cNvPr id="10" name="Text 8"/>
          <p:cNvSpPr/>
          <p:nvPr/>
        </p:nvSpPr>
        <p:spPr>
          <a:xfrm>
            <a:off x="804672" y="2852928"/>
            <a:ext cx="7772400" cy="384048"/>
          </a:xfrm>
          <a:prstGeom prst="rect">
            <a:avLst/>
          </a:prstGeom>
          <a:noFill/>
          <a:ln/>
        </p:spPr>
        <p:txBody>
          <a:bodyPr wrap="square" lIns="0" tIns="0" rIns="0" bIns="0" rtlCol="0" anchor="ctr"/>
          <a:lstStyle/>
          <a:p>
            <a:pPr indent="0" marL="0">
              <a:lnSpc>
                <a:spcPts val="1400"/>
              </a:lnSpc>
              <a:buNone/>
            </a:pPr>
            <a:r>
              <a:rPr lang="en-US" sz="1100" dirty="0">
                <a:solidFill>
                  <a:srgbClr val="5A6B84"/>
                </a:solidFill>
                <a:latin typeface="DM Sans" pitchFamily="34" charset="0"/>
                <a:ea typeface="DM Sans" pitchFamily="34" charset="-122"/>
                <a:cs typeface="DM Sans" pitchFamily="34" charset="-120"/>
              </a:rPr>
              <a:t>Name the problem, the constraint, what you did, and what changed — without internal vocabulary.</a:t>
            </a:r>
            <a:endParaRPr lang="en-US" sz="1100" dirty="0"/>
          </a:p>
        </p:txBody>
      </p:sp>
      <p:sp>
        <p:nvSpPr>
          <p:cNvPr id="11" name="Shape 9"/>
          <p:cNvSpPr/>
          <p:nvPr/>
        </p:nvSpPr>
        <p:spPr>
          <a:xfrm>
            <a:off x="566928" y="3310128"/>
            <a:ext cx="25603" cy="566928"/>
          </a:xfrm>
          <a:prstGeom prst="rect">
            <a:avLst/>
          </a:prstGeom>
          <a:solidFill>
            <a:srgbClr val="C9A84C"/>
          </a:solidFill>
          <a:ln/>
        </p:spPr>
        <p:txBody>
          <a:bodyPr/>
          <a:p/>
        </p:txBody>
      </p:sp>
      <p:sp>
        <p:nvSpPr>
          <p:cNvPr id="12" name="Text 10"/>
          <p:cNvSpPr/>
          <p:nvPr/>
        </p:nvSpPr>
        <p:spPr>
          <a:xfrm>
            <a:off x="804672" y="3310128"/>
            <a:ext cx="7772400" cy="237744"/>
          </a:xfrm>
          <a:prstGeom prst="rect">
            <a:avLst/>
          </a:prstGeom>
          <a:noFill/>
          <a:ln/>
        </p:spPr>
        <p:txBody>
          <a:bodyPr wrap="square" lIns="0" tIns="0" rIns="0" bIns="0" rtlCol="0" anchor="ctr"/>
          <a:lstStyle/>
          <a:p>
            <a:pPr indent="0" marL="0">
              <a:buNone/>
            </a:pPr>
            <a:r>
              <a:rPr lang="en-US" sz="1250" b="1" dirty="0">
                <a:solidFill>
                  <a:srgbClr val="0F2347"/>
                </a:solidFill>
                <a:latin typeface="DM Sans" pitchFamily="34" charset="0"/>
                <a:ea typeface="DM Sans" pitchFamily="34" charset="-122"/>
                <a:cs typeface="DM Sans" pitchFamily="34" charset="-120"/>
              </a:rPr>
              <a:t>Why it matters</a:t>
            </a:r>
            <a:endParaRPr lang="en-US" sz="1250" dirty="0"/>
          </a:p>
        </p:txBody>
      </p:sp>
      <p:sp>
        <p:nvSpPr>
          <p:cNvPr id="13" name="Text 11"/>
          <p:cNvSpPr/>
          <p:nvPr/>
        </p:nvSpPr>
        <p:spPr>
          <a:xfrm>
            <a:off x="804672" y="3566160"/>
            <a:ext cx="7772400" cy="384048"/>
          </a:xfrm>
          <a:prstGeom prst="rect">
            <a:avLst/>
          </a:prstGeom>
          <a:noFill/>
          <a:ln/>
        </p:spPr>
        <p:txBody>
          <a:bodyPr wrap="square" lIns="0" tIns="0" rIns="0" bIns="0" rtlCol="0" anchor="ctr"/>
          <a:lstStyle/>
          <a:p>
            <a:pPr indent="0" marL="0">
              <a:lnSpc>
                <a:spcPts val="1400"/>
              </a:lnSpc>
              <a:buNone/>
            </a:pPr>
            <a:r>
              <a:rPr lang="en-US" sz="1100" dirty="0">
                <a:solidFill>
                  <a:srgbClr val="5A6B84"/>
                </a:solidFill>
                <a:latin typeface="DM Sans" pitchFamily="34" charset="0"/>
                <a:ea typeface="DM Sans" pitchFamily="34" charset="-122"/>
                <a:cs typeface="DM Sans" pitchFamily="34" charset="-120"/>
              </a:rPr>
              <a:t>A low Optionality score may reflect context-bound capability, weak translation, limited exposure, or a combination. It is not a verdict on ability or worth.</a:t>
            </a:r>
            <a:endParaRPr lang="en-US" sz="1100" dirty="0"/>
          </a:p>
        </p:txBody>
      </p:sp>
      <p:sp>
        <p:nvSpPr>
          <p:cNvPr id="15" name="Text 12"/>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name="Slide 30">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5A6B84"/>
                </a:solidFill>
                <a:latin typeface="Montserrat" pitchFamily="34" charset="0"/>
                <a:ea typeface="Montserrat" pitchFamily="34" charset="-122"/>
                <a:cs typeface="Montserrat" pitchFamily="34" charset="-120"/>
              </a:rPr>
              <a:t>APPENDIX  ·  NOT PART OF THE RECORDED CORE</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652"/>
              </a:lnSpc>
              <a:buNone/>
            </a:pPr>
            <a:r>
              <a:rPr lang="en-US" sz="2600" b="1" dirty="0">
                <a:solidFill>
                  <a:srgbClr val="0F2347"/>
                </a:solidFill>
                <a:latin typeface="Cormorant Garamond" pitchFamily="34" charset="0"/>
                <a:ea typeface="Cormorant Garamond" pitchFamily="34" charset="-122"/>
                <a:cs typeface="Cormorant Garamond" pitchFamily="34" charset="-120"/>
              </a:rPr>
              <a:t>Promotion and formation</a:t>
            </a:r>
            <a:endParaRPr lang="en-US" sz="26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The same misreading, in the place it is hardest to see.</a:t>
            </a:r>
            <a:endParaRPr lang="en-US" sz="1150" dirty="0"/>
          </a:p>
        </p:txBody>
      </p:sp>
      <p:sp>
        <p:nvSpPr>
          <p:cNvPr id="5" name="Shape 3"/>
          <p:cNvSpPr/>
          <p:nvPr/>
        </p:nvSpPr>
        <p:spPr>
          <a:xfrm>
            <a:off x="566928" y="1883664"/>
            <a:ext cx="25603" cy="566928"/>
          </a:xfrm>
          <a:prstGeom prst="rect">
            <a:avLst/>
          </a:prstGeom>
          <a:solidFill>
            <a:srgbClr val="C9A84C"/>
          </a:solidFill>
          <a:ln/>
        </p:spPr>
        <p:txBody>
          <a:bodyPr/>
          <a:p/>
        </p:txBody>
      </p:sp>
      <p:sp>
        <p:nvSpPr>
          <p:cNvPr id="6" name="Text 4"/>
          <p:cNvSpPr/>
          <p:nvPr/>
        </p:nvSpPr>
        <p:spPr>
          <a:xfrm>
            <a:off x="804672" y="1883664"/>
            <a:ext cx="7772400" cy="237744"/>
          </a:xfrm>
          <a:prstGeom prst="rect">
            <a:avLst/>
          </a:prstGeom>
          <a:noFill/>
          <a:ln/>
        </p:spPr>
        <p:txBody>
          <a:bodyPr wrap="square" lIns="0" tIns="0" rIns="0" bIns="0" rtlCol="0" anchor="ctr"/>
          <a:lstStyle/>
          <a:p>
            <a:pPr indent="0" marL="0">
              <a:buNone/>
            </a:pPr>
            <a:r>
              <a:rPr lang="en-US" sz="1250" b="1" dirty="0">
                <a:solidFill>
                  <a:srgbClr val="0F2347"/>
                </a:solidFill>
                <a:latin typeface="DM Sans" pitchFamily="34" charset="0"/>
                <a:ea typeface="DM Sans" pitchFamily="34" charset="-122"/>
                <a:cs typeface="DM Sans" pitchFamily="34" charset="-120"/>
              </a:rPr>
              <a:t>The tension</a:t>
            </a:r>
            <a:endParaRPr lang="en-US" sz="1250" dirty="0"/>
          </a:p>
        </p:txBody>
      </p:sp>
      <p:sp>
        <p:nvSpPr>
          <p:cNvPr id="7" name="Text 5"/>
          <p:cNvSpPr/>
          <p:nvPr/>
        </p:nvSpPr>
        <p:spPr>
          <a:xfrm>
            <a:off x="804672" y="2139696"/>
            <a:ext cx="7772400" cy="384048"/>
          </a:xfrm>
          <a:prstGeom prst="rect">
            <a:avLst/>
          </a:prstGeom>
          <a:noFill/>
          <a:ln/>
        </p:spPr>
        <p:txBody>
          <a:bodyPr wrap="square" lIns="0" tIns="0" rIns="0" bIns="0" rtlCol="0" anchor="ctr"/>
          <a:lstStyle/>
          <a:p>
            <a:pPr indent="0" marL="0">
              <a:lnSpc>
                <a:spcPts val="1400"/>
              </a:lnSpc>
              <a:buNone/>
            </a:pPr>
            <a:r>
              <a:rPr lang="en-US" sz="1100" dirty="0">
                <a:solidFill>
                  <a:srgbClr val="5A6B84"/>
                </a:solidFill>
                <a:latin typeface="DM Sans" pitchFamily="34" charset="0"/>
                <a:ea typeface="DM Sans" pitchFamily="34" charset="-122"/>
                <a:cs typeface="DM Sans" pitchFamily="34" charset="-120"/>
              </a:rPr>
              <a:t>A promotion can increase responsibility, visibility and dependence while reducing formation.</a:t>
            </a:r>
            <a:endParaRPr lang="en-US" sz="1100" dirty="0"/>
          </a:p>
        </p:txBody>
      </p:sp>
      <p:sp>
        <p:nvSpPr>
          <p:cNvPr id="8" name="Shape 6"/>
          <p:cNvSpPr/>
          <p:nvPr/>
        </p:nvSpPr>
        <p:spPr>
          <a:xfrm>
            <a:off x="566928" y="2596896"/>
            <a:ext cx="25603" cy="566928"/>
          </a:xfrm>
          <a:prstGeom prst="rect">
            <a:avLst/>
          </a:prstGeom>
          <a:solidFill>
            <a:srgbClr val="C9A84C"/>
          </a:solidFill>
          <a:ln/>
        </p:spPr>
        <p:txBody>
          <a:bodyPr/>
          <a:p/>
        </p:txBody>
      </p:sp>
      <p:sp>
        <p:nvSpPr>
          <p:cNvPr id="9" name="Text 7"/>
          <p:cNvSpPr/>
          <p:nvPr/>
        </p:nvSpPr>
        <p:spPr>
          <a:xfrm>
            <a:off x="804672" y="2596896"/>
            <a:ext cx="7772400" cy="237744"/>
          </a:xfrm>
          <a:prstGeom prst="rect">
            <a:avLst/>
          </a:prstGeom>
          <a:noFill/>
          <a:ln/>
        </p:spPr>
        <p:txBody>
          <a:bodyPr wrap="square" lIns="0" tIns="0" rIns="0" bIns="0" rtlCol="0" anchor="ctr"/>
          <a:lstStyle/>
          <a:p>
            <a:pPr indent="0" marL="0">
              <a:buNone/>
            </a:pPr>
            <a:r>
              <a:rPr lang="en-US" sz="1250" b="1" dirty="0">
                <a:solidFill>
                  <a:srgbClr val="0F2347"/>
                </a:solidFill>
                <a:latin typeface="DM Sans" pitchFamily="34" charset="0"/>
                <a:ea typeface="DM Sans" pitchFamily="34" charset="-122"/>
                <a:cs typeface="DM Sans" pitchFamily="34" charset="-120"/>
              </a:rPr>
              <a:t>The pattern</a:t>
            </a:r>
            <a:endParaRPr lang="en-US" sz="1250" dirty="0"/>
          </a:p>
        </p:txBody>
      </p:sp>
      <p:sp>
        <p:nvSpPr>
          <p:cNvPr id="10" name="Text 8"/>
          <p:cNvSpPr/>
          <p:nvPr/>
        </p:nvSpPr>
        <p:spPr>
          <a:xfrm>
            <a:off x="804672" y="2852928"/>
            <a:ext cx="7772400" cy="384048"/>
          </a:xfrm>
          <a:prstGeom prst="rect">
            <a:avLst/>
          </a:prstGeom>
          <a:noFill/>
          <a:ln/>
        </p:spPr>
        <p:txBody>
          <a:bodyPr wrap="square" lIns="0" tIns="0" rIns="0" bIns="0" rtlCol="0" anchor="ctr"/>
          <a:lstStyle/>
          <a:p>
            <a:pPr indent="0" marL="0">
              <a:lnSpc>
                <a:spcPts val="1400"/>
              </a:lnSpc>
              <a:buNone/>
            </a:pPr>
            <a:r>
              <a:rPr lang="en-US" sz="1100" dirty="0">
                <a:solidFill>
                  <a:srgbClr val="5A6B84"/>
                </a:solidFill>
                <a:latin typeface="DM Sans" pitchFamily="34" charset="0"/>
                <a:ea typeface="DM Sans" pitchFamily="34" charset="-122"/>
                <a:cs typeface="DM Sans" pitchFamily="34" charset="-120"/>
              </a:rPr>
              <a:t>A high performer moves into approvals, representation and familiar judgment — more scope, fewer unfamiliar problems.</a:t>
            </a:r>
            <a:endParaRPr lang="en-US" sz="1100" dirty="0"/>
          </a:p>
        </p:txBody>
      </p:sp>
      <p:sp>
        <p:nvSpPr>
          <p:cNvPr id="11" name="Shape 9"/>
          <p:cNvSpPr/>
          <p:nvPr/>
        </p:nvSpPr>
        <p:spPr>
          <a:xfrm>
            <a:off x="566928" y="3310128"/>
            <a:ext cx="25603" cy="566928"/>
          </a:xfrm>
          <a:prstGeom prst="rect">
            <a:avLst/>
          </a:prstGeom>
          <a:solidFill>
            <a:srgbClr val="C9A84C"/>
          </a:solidFill>
          <a:ln/>
        </p:spPr>
        <p:txBody>
          <a:bodyPr/>
          <a:p/>
        </p:txBody>
      </p:sp>
      <p:sp>
        <p:nvSpPr>
          <p:cNvPr id="12" name="Text 10"/>
          <p:cNvSpPr/>
          <p:nvPr/>
        </p:nvSpPr>
        <p:spPr>
          <a:xfrm>
            <a:off x="804672" y="3310128"/>
            <a:ext cx="7772400" cy="237744"/>
          </a:xfrm>
          <a:prstGeom prst="rect">
            <a:avLst/>
          </a:prstGeom>
          <a:noFill/>
          <a:ln/>
        </p:spPr>
        <p:txBody>
          <a:bodyPr wrap="square" lIns="0" tIns="0" rIns="0" bIns="0" rtlCol="0" anchor="ctr"/>
          <a:lstStyle/>
          <a:p>
            <a:pPr indent="0" marL="0">
              <a:buNone/>
            </a:pPr>
            <a:r>
              <a:rPr lang="en-US" sz="1250" b="1" dirty="0">
                <a:solidFill>
                  <a:srgbClr val="0F2347"/>
                </a:solidFill>
                <a:latin typeface="DM Sans" pitchFamily="34" charset="0"/>
                <a:ea typeface="DM Sans" pitchFamily="34" charset="-122"/>
                <a:cs typeface="DM Sans" pitchFamily="34" charset="-120"/>
              </a:rPr>
              <a:t>The test</a:t>
            </a:r>
            <a:endParaRPr lang="en-US" sz="1250" dirty="0"/>
          </a:p>
        </p:txBody>
      </p:sp>
      <p:sp>
        <p:nvSpPr>
          <p:cNvPr id="13" name="Text 11"/>
          <p:cNvSpPr/>
          <p:nvPr/>
        </p:nvSpPr>
        <p:spPr>
          <a:xfrm>
            <a:off x="804672" y="3566160"/>
            <a:ext cx="7772400" cy="384048"/>
          </a:xfrm>
          <a:prstGeom prst="rect">
            <a:avLst/>
          </a:prstGeom>
          <a:noFill/>
          <a:ln/>
        </p:spPr>
        <p:txBody>
          <a:bodyPr wrap="square" lIns="0" tIns="0" rIns="0" bIns="0" rtlCol="0" anchor="ctr"/>
          <a:lstStyle/>
          <a:p>
            <a:pPr indent="0" marL="0">
              <a:lnSpc>
                <a:spcPts val="1400"/>
              </a:lnSpc>
              <a:buNone/>
            </a:pPr>
            <a:r>
              <a:rPr lang="en-US" sz="1100" dirty="0">
                <a:solidFill>
                  <a:srgbClr val="5A6B84"/>
                </a:solidFill>
                <a:latin typeface="DM Sans" pitchFamily="34" charset="0"/>
                <a:ea typeface="DM Sans" pitchFamily="34" charset="-122"/>
                <a:cs typeface="DM Sans" pitchFamily="34" charset="-120"/>
              </a:rPr>
              <a:t>What capability do you have now that you did not have before your responsibilities increased?</a:t>
            </a:r>
            <a:endParaRPr lang="en-US" sz="1100" dirty="0"/>
          </a:p>
        </p:txBody>
      </p:sp>
      <p:sp>
        <p:nvSpPr>
          <p:cNvPr id="15" name="Text 12"/>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name="Slide 31">
    <p:bg>
      <p:bgPr>
        <a:solidFill>
          <a:srgbClr val="0F2347"/>
        </a:solidFill>
      </p:bgPr>
    </p:bg>
    <p:spTree>
      <p:nvGrpSpPr>
        <p:cNvPr id="1" name=""/>
        <p:cNvGrpSpPr/>
        <p:nvPr/>
      </p:nvGrpSpPr>
      <p:grpSpPr>
        <a:xfrm>
          <a:off x="0" y="0"/>
          <a:ext cx="0" cy="0"/>
          <a:chOff x="0" y="0"/>
          <a:chExt cx="0" cy="0"/>
        </a:xfrm>
      </p:grpSpPr>
      <p:sp>
        <p:nvSpPr>
          <p:cNvPr id="2" name="Text 0"/>
          <p:cNvSpPr/>
          <p:nvPr/>
        </p:nvSpPr>
        <p:spPr>
          <a:xfrm>
            <a:off x="566928" y="658368"/>
            <a:ext cx="8010144" cy="201168"/>
          </a:xfrm>
          <a:prstGeom prst="rect">
            <a:avLst/>
          </a:prstGeom>
          <a:noFill/>
          <a:ln/>
        </p:spPr>
        <p:txBody>
          <a:bodyPr wrap="square" lIns="0" tIns="0" rIns="0" bIns="0" rtlCol="0" anchor="ctr"/>
          <a:lstStyle/>
          <a:p>
            <a:pPr indent="0" marL="0">
              <a:buNone/>
            </a:pPr>
            <a:r>
              <a:rPr lang="en-US" sz="900" b="1" spc="160" kern="0" dirty="0">
                <a:solidFill>
                  <a:srgbClr val="C9A84C"/>
                </a:solidFill>
                <a:latin typeface="Montserrat" pitchFamily="34" charset="0"/>
                <a:ea typeface="Montserrat" pitchFamily="34" charset="-122"/>
                <a:cs typeface="Montserrat" pitchFamily="34" charset="-120"/>
              </a:rPr>
              <a:t>INSTITUTIONAL DELIVERY CLOSE  ·  OPTIONAL</a:t>
            </a:r>
            <a:endParaRPr lang="en-US" sz="900" dirty="0"/>
          </a:p>
        </p:txBody>
      </p:sp>
      <p:sp>
        <p:nvSpPr>
          <p:cNvPr id="3" name="Text 1"/>
          <p:cNvSpPr/>
          <p:nvPr/>
        </p:nvSpPr>
        <p:spPr>
          <a:xfrm>
            <a:off x="566928" y="1225296"/>
            <a:ext cx="8010144" cy="566928"/>
          </a:xfrm>
          <a:prstGeom prst="rect">
            <a:avLst/>
          </a:prstGeom>
          <a:noFill/>
          <a:ln/>
        </p:spPr>
        <p:txBody>
          <a:bodyPr wrap="square" lIns="0" tIns="0" rIns="0" bIns="0" rtlCol="0" anchor="ctr"/>
          <a:lstStyle/>
          <a:p>
            <a:pPr indent="0" marL="0">
              <a:buNone/>
            </a:pPr>
            <a:r>
              <a:rPr lang="en-US" sz="2900" b="1" dirty="0">
                <a:solidFill>
                  <a:srgbClr val="F5F0E8"/>
                </a:solidFill>
                <a:latin typeface="Cormorant Garamond" pitchFamily="34" charset="0"/>
                <a:ea typeface="Cormorant Garamond" pitchFamily="34" charset="-122"/>
                <a:cs typeface="Cormorant Garamond" pitchFamily="34" charset="-120"/>
              </a:rPr>
              <a:t>What has the journey built in you?</a:t>
            </a:r>
            <a:endParaRPr lang="en-US" sz="2900" dirty="0"/>
          </a:p>
        </p:txBody>
      </p:sp>
      <p:sp>
        <p:nvSpPr>
          <p:cNvPr id="4" name="Text 2"/>
          <p:cNvSpPr/>
          <p:nvPr/>
        </p:nvSpPr>
        <p:spPr>
          <a:xfrm>
            <a:off x="566928" y="1883664"/>
            <a:ext cx="8010144" cy="566928"/>
          </a:xfrm>
          <a:prstGeom prst="rect">
            <a:avLst/>
          </a:prstGeom>
          <a:noFill/>
          <a:ln/>
        </p:spPr>
        <p:txBody>
          <a:bodyPr wrap="square" lIns="0" tIns="0" rIns="0" bIns="0" rtlCol="0" anchor="ctr"/>
          <a:lstStyle/>
          <a:p>
            <a:pPr indent="0" marL="0">
              <a:buNone/>
            </a:pPr>
            <a:r>
              <a:rPr lang="en-US" sz="2900" b="1" dirty="0">
                <a:solidFill>
                  <a:srgbClr val="F5F0E8"/>
                </a:solidFill>
                <a:latin typeface="Cormorant Garamond" pitchFamily="34" charset="0"/>
                <a:ea typeface="Cormorant Garamond" pitchFamily="34" charset="-122"/>
                <a:cs typeface="Cormorant Garamond" pitchFamily="34" charset="-120"/>
              </a:rPr>
              <a:t>What remains useful when the context changes?</a:t>
            </a:r>
            <a:endParaRPr lang="en-US" sz="2900" dirty="0"/>
          </a:p>
        </p:txBody>
      </p:sp>
      <p:sp>
        <p:nvSpPr>
          <p:cNvPr id="5" name="Text 3"/>
          <p:cNvSpPr/>
          <p:nvPr/>
        </p:nvSpPr>
        <p:spPr>
          <a:xfrm>
            <a:off x="566928" y="2542032"/>
            <a:ext cx="8010144" cy="566928"/>
          </a:xfrm>
          <a:prstGeom prst="rect">
            <a:avLst/>
          </a:prstGeom>
          <a:noFill/>
          <a:ln/>
        </p:spPr>
        <p:txBody>
          <a:bodyPr wrap="square" lIns="0" tIns="0" rIns="0" bIns="0" rtlCol="0" anchor="ctr"/>
          <a:lstStyle/>
          <a:p>
            <a:pPr indent="0" marL="0">
              <a:buNone/>
            </a:pPr>
            <a:r>
              <a:rPr lang="en-US" sz="2900" b="1" dirty="0">
                <a:solidFill>
                  <a:srgbClr val="F5F0E8"/>
                </a:solidFill>
                <a:latin typeface="Cormorant Garamond" pitchFamily="34" charset="0"/>
                <a:ea typeface="Cormorant Garamond" pitchFamily="34" charset="-122"/>
                <a:cs typeface="Cormorant Garamond" pitchFamily="34" charset="-120"/>
              </a:rPr>
              <a:t>What can you do somewhere else?</a:t>
            </a:r>
            <a:endParaRPr lang="en-US" sz="2900" dirty="0"/>
          </a:p>
        </p:txBody>
      </p:sp>
      <p:sp>
        <p:nvSpPr>
          <p:cNvPr id="6" name="Shape 4"/>
          <p:cNvSpPr/>
          <p:nvPr/>
        </p:nvSpPr>
        <p:spPr>
          <a:xfrm>
            <a:off x="566928" y="3401568"/>
            <a:ext cx="2651760" cy="20117"/>
          </a:xfrm>
          <a:prstGeom prst="rect">
            <a:avLst/>
          </a:prstGeom>
          <a:solidFill>
            <a:srgbClr val="C9A84C"/>
          </a:solidFill>
          <a:ln/>
        </p:spPr>
        <p:txBody>
          <a:bodyPr/>
          <a:p/>
        </p:txBody>
      </p:sp>
      <p:sp>
        <p:nvSpPr>
          <p:cNvPr id="7" name="Text 5"/>
          <p:cNvSpPr/>
          <p:nvPr/>
        </p:nvSpPr>
        <p:spPr>
          <a:xfrm>
            <a:off x="566928" y="3657600"/>
            <a:ext cx="8010144" cy="274320"/>
          </a:xfrm>
          <a:prstGeom prst="rect">
            <a:avLst/>
          </a:prstGeom>
          <a:noFill/>
          <a:ln/>
        </p:spPr>
        <p:txBody>
          <a:bodyPr wrap="square" lIns="0" tIns="0" rIns="0" bIns="0" rtlCol="0" anchor="ctr"/>
          <a:lstStyle/>
          <a:p>
            <a:pPr indent="0" marL="0">
              <a:buNone/>
            </a:pPr>
            <a:r>
              <a:rPr lang="en-US" sz="1000" b="1" spc="120" kern="0" dirty="0">
                <a:solidFill>
                  <a:srgbClr val="B8C5D9"/>
                </a:solidFill>
                <a:latin typeface="Montserrat" pitchFamily="34" charset="0"/>
                <a:ea typeface="Montserrat" pitchFamily="34" charset="-122"/>
                <a:cs typeface="Montserrat" pitchFamily="34" charset="-120"/>
              </a:rPr>
              <a:t>Capability Formation  ·  Temidayo Afonja  ·  The Density Group</a:t>
            </a:r>
            <a:endParaRPr lang="en-US" sz="1000" dirty="0"/>
          </a:p>
        </p:txBody>
      </p:sp>
      <p:sp>
        <p:nvSpPr>
          <p:cNvPr id="9" name="Text 6"/>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name="Slide 32">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5A6B84"/>
                </a:solidFill>
                <a:latin typeface="Montserrat" pitchFamily="34" charset="0"/>
                <a:ea typeface="Montserrat" pitchFamily="34" charset="-122"/>
                <a:cs typeface="Montserrat" pitchFamily="34" charset="-120"/>
              </a:rPr>
              <a:t>APPENDIX  ·  OPTIONAL  ·  NOT PART OF THE TIMED CORE</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652"/>
              </a:lnSpc>
              <a:buNone/>
            </a:pPr>
            <a:r>
              <a:rPr lang="en-US" sz="2600" b="1" dirty="0">
                <a:solidFill>
                  <a:srgbClr val="0F2347"/>
                </a:solidFill>
                <a:latin typeface="Cormorant Garamond" pitchFamily="34" charset="0"/>
                <a:ea typeface="Cormorant Garamond" pitchFamily="34" charset="-122"/>
                <a:cs typeface="Cormorant Garamond" pitchFamily="34" charset="-120"/>
              </a:rPr>
              <a:t>What moved when you tested your first read</a:t>
            </a:r>
            <a:endParaRPr lang="en-US" sz="2600" dirty="0"/>
          </a:p>
        </p:txBody>
      </p:sp>
      <p:sp>
        <p:nvSpPr>
          <p:cNvPr id="4" name="Text 2"/>
          <p:cNvSpPr/>
          <p:nvPr/>
        </p:nvSpPr>
        <p:spPr>
          <a:xfrm>
            <a:off x="566928" y="1335024"/>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One anonymous response. No score, state, employer, or identifying information is requested.</a:t>
            </a:r>
            <a:endParaRPr lang="en-US" sz="1150" dirty="0"/>
          </a:p>
        </p:txBody>
      </p:sp>
      <p:sp>
        <p:nvSpPr>
          <p:cNvPr id="5" name="Shape 3"/>
          <p:cNvSpPr/>
          <p:nvPr/>
        </p:nvSpPr>
        <p:spPr>
          <a:xfrm>
            <a:off x="566928" y="1810512"/>
            <a:ext cx="8010144" cy="457200"/>
          </a:xfrm>
          <a:prstGeom prst="rect">
            <a:avLst/>
          </a:prstGeom>
          <a:solidFill>
            <a:srgbClr val="E9EDF3"/>
          </a:solidFill>
          <a:ln/>
        </p:spPr>
        <p:txBody>
          <a:bodyPr/>
          <a:p/>
        </p:txBody>
      </p:sp>
      <p:sp>
        <p:nvSpPr>
          <p:cNvPr id="6" name="Text 4"/>
          <p:cNvSpPr/>
          <p:nvPr/>
        </p:nvSpPr>
        <p:spPr>
          <a:xfrm>
            <a:off x="804672" y="1810512"/>
            <a:ext cx="7534656" cy="457200"/>
          </a:xfrm>
          <a:prstGeom prst="rect">
            <a:avLst/>
          </a:prstGeom>
          <a:noFill/>
          <a:ln/>
        </p:spPr>
        <p:txBody>
          <a:bodyPr wrap="square" lIns="0" tIns="0" rIns="0" bIns="0" rtlCol="0" anchor="ctr"/>
          <a:lstStyle/>
          <a:p>
            <a:pPr indent="0" marL="0">
              <a:buNone/>
            </a:pPr>
            <a:r>
              <a:rPr lang="en-US" sz="1250" b="1" dirty="0">
                <a:solidFill>
                  <a:srgbClr val="0F2347"/>
                </a:solidFill>
                <a:latin typeface="DM Sans" pitchFamily="34" charset="0"/>
                <a:ea typeface="DM Sans" pitchFamily="34" charset="-122"/>
                <a:cs typeface="DM Sans" pitchFamily="34" charset="-120"/>
              </a:rPr>
              <a:t>After testing your first read against evidence, which is closest?</a:t>
            </a:r>
            <a:endParaRPr lang="en-US" sz="1250" dirty="0"/>
          </a:p>
        </p:txBody>
      </p:sp>
      <p:sp>
        <p:nvSpPr>
          <p:cNvPr id="7" name="Shape 5"/>
          <p:cNvSpPr/>
          <p:nvPr/>
        </p:nvSpPr>
        <p:spPr>
          <a:xfrm>
            <a:off x="566928" y="2432304"/>
            <a:ext cx="128016" cy="128016"/>
          </a:xfrm>
          <a:prstGeom prst="rect">
            <a:avLst/>
          </a:prstGeom>
          <a:solidFill>
            <a:srgbClr val="C9A84C"/>
          </a:solidFill>
          <a:ln/>
        </p:spPr>
        <p:txBody>
          <a:bodyPr/>
          <a:p/>
        </p:txBody>
      </p:sp>
      <p:sp>
        <p:nvSpPr>
          <p:cNvPr id="8" name="Text 6"/>
          <p:cNvSpPr/>
          <p:nvPr/>
        </p:nvSpPr>
        <p:spPr>
          <a:xfrm>
            <a:off x="877824" y="2377440"/>
            <a:ext cx="7699248" cy="256032"/>
          </a:xfrm>
          <a:prstGeom prst="rect">
            <a:avLst/>
          </a:prstGeom>
          <a:noFill/>
          <a:ln/>
        </p:spPr>
        <p:txBody>
          <a:bodyPr wrap="square" lIns="0" tIns="0" rIns="0" bIns="0" rtlCol="0" anchor="ctr"/>
          <a:lstStyle/>
          <a:p>
            <a:pPr indent="0" marL="0">
              <a:buNone/>
            </a:pPr>
            <a:r>
              <a:rPr lang="en-US" sz="1250" dirty="0">
                <a:solidFill>
                  <a:srgbClr val="0F2347"/>
                </a:solidFill>
                <a:latin typeface="DM Sans" pitchFamily="34" charset="0"/>
                <a:ea typeface="DM Sans" pitchFamily="34" charset="-122"/>
                <a:cs typeface="DM Sans" pitchFamily="34" charset="-120"/>
              </a:rPr>
              <a:t>My totals moved meaningfully</a:t>
            </a:r>
            <a:endParaRPr lang="en-US" sz="1250" dirty="0"/>
          </a:p>
        </p:txBody>
      </p:sp>
      <p:sp>
        <p:nvSpPr>
          <p:cNvPr id="9" name="Shape 7"/>
          <p:cNvSpPr/>
          <p:nvPr/>
        </p:nvSpPr>
        <p:spPr>
          <a:xfrm>
            <a:off x="566928" y="2871216"/>
            <a:ext cx="128016" cy="128016"/>
          </a:xfrm>
          <a:prstGeom prst="rect">
            <a:avLst/>
          </a:prstGeom>
          <a:solidFill>
            <a:srgbClr val="C9A84C"/>
          </a:solidFill>
          <a:ln/>
        </p:spPr>
        <p:txBody>
          <a:bodyPr/>
          <a:p/>
        </p:txBody>
      </p:sp>
      <p:sp>
        <p:nvSpPr>
          <p:cNvPr id="10" name="Text 8"/>
          <p:cNvSpPr/>
          <p:nvPr/>
        </p:nvSpPr>
        <p:spPr>
          <a:xfrm>
            <a:off x="877824" y="2816352"/>
            <a:ext cx="7699248" cy="256032"/>
          </a:xfrm>
          <a:prstGeom prst="rect">
            <a:avLst/>
          </a:prstGeom>
          <a:noFill/>
          <a:ln/>
        </p:spPr>
        <p:txBody>
          <a:bodyPr wrap="square" lIns="0" tIns="0" rIns="0" bIns="0" rtlCol="0" anchor="ctr"/>
          <a:lstStyle/>
          <a:p>
            <a:pPr indent="0" marL="0">
              <a:buNone/>
            </a:pPr>
            <a:r>
              <a:rPr lang="en-US" sz="1250" dirty="0">
                <a:solidFill>
                  <a:srgbClr val="0F2347"/>
                </a:solidFill>
                <a:latin typeface="DM Sans" pitchFamily="34" charset="0"/>
                <a:ea typeface="DM Sans" pitchFamily="34" charset="-122"/>
                <a:cs typeface="DM Sans" pitchFamily="34" charset="-120"/>
              </a:rPr>
              <a:t>My provisional position moved</a:t>
            </a:r>
            <a:endParaRPr lang="en-US" sz="1250" dirty="0"/>
          </a:p>
        </p:txBody>
      </p:sp>
      <p:sp>
        <p:nvSpPr>
          <p:cNvPr id="11" name="Shape 9"/>
          <p:cNvSpPr/>
          <p:nvPr/>
        </p:nvSpPr>
        <p:spPr>
          <a:xfrm>
            <a:off x="566928" y="3310128"/>
            <a:ext cx="128016" cy="128016"/>
          </a:xfrm>
          <a:prstGeom prst="rect">
            <a:avLst/>
          </a:prstGeom>
          <a:solidFill>
            <a:srgbClr val="C9A84C"/>
          </a:solidFill>
          <a:ln/>
        </p:spPr>
        <p:txBody>
          <a:bodyPr/>
          <a:p/>
        </p:txBody>
      </p:sp>
      <p:sp>
        <p:nvSpPr>
          <p:cNvPr id="12" name="Text 10"/>
          <p:cNvSpPr/>
          <p:nvPr/>
        </p:nvSpPr>
        <p:spPr>
          <a:xfrm>
            <a:off x="877824" y="3255264"/>
            <a:ext cx="7699248" cy="256032"/>
          </a:xfrm>
          <a:prstGeom prst="rect">
            <a:avLst/>
          </a:prstGeom>
          <a:noFill/>
          <a:ln/>
        </p:spPr>
        <p:txBody>
          <a:bodyPr wrap="square" lIns="0" tIns="0" rIns="0" bIns="0" rtlCol="0" anchor="ctr"/>
          <a:lstStyle/>
          <a:p>
            <a:pPr indent="0" marL="0">
              <a:buNone/>
            </a:pPr>
            <a:r>
              <a:rPr lang="en-US" sz="1250" dirty="0">
                <a:solidFill>
                  <a:srgbClr val="0F2347"/>
                </a:solidFill>
                <a:latin typeface="DM Sans" pitchFamily="34" charset="0"/>
                <a:ea typeface="DM Sans" pitchFamily="34" charset="-122"/>
                <a:cs typeface="DM Sans" pitchFamily="34" charset="-120"/>
              </a:rPr>
              <a:t>My position stayed similar, but I trust the reading more</a:t>
            </a:r>
            <a:endParaRPr lang="en-US" sz="1250" dirty="0"/>
          </a:p>
        </p:txBody>
      </p:sp>
      <p:sp>
        <p:nvSpPr>
          <p:cNvPr id="13" name="Shape 11"/>
          <p:cNvSpPr/>
          <p:nvPr/>
        </p:nvSpPr>
        <p:spPr>
          <a:xfrm>
            <a:off x="566928" y="3749040"/>
            <a:ext cx="128016" cy="128016"/>
          </a:xfrm>
          <a:prstGeom prst="rect">
            <a:avLst/>
          </a:prstGeom>
          <a:solidFill>
            <a:srgbClr val="C9A84C"/>
          </a:solidFill>
          <a:ln/>
        </p:spPr>
        <p:txBody>
          <a:bodyPr/>
          <a:p/>
        </p:txBody>
      </p:sp>
      <p:sp>
        <p:nvSpPr>
          <p:cNvPr id="14" name="Text 12"/>
          <p:cNvSpPr/>
          <p:nvPr/>
        </p:nvSpPr>
        <p:spPr>
          <a:xfrm>
            <a:off x="877824" y="3694176"/>
            <a:ext cx="7699248" cy="256032"/>
          </a:xfrm>
          <a:prstGeom prst="rect">
            <a:avLst/>
          </a:prstGeom>
          <a:noFill/>
          <a:ln/>
        </p:spPr>
        <p:txBody>
          <a:bodyPr wrap="square" lIns="0" tIns="0" rIns="0" bIns="0" rtlCol="0" anchor="ctr"/>
          <a:lstStyle/>
          <a:p>
            <a:pPr indent="0" marL="0">
              <a:buNone/>
            </a:pPr>
            <a:r>
              <a:rPr lang="en-US" sz="1250" dirty="0">
                <a:solidFill>
                  <a:srgbClr val="0F2347"/>
                </a:solidFill>
                <a:latin typeface="DM Sans" pitchFamily="34" charset="0"/>
                <a:ea typeface="DM Sans" pitchFamily="34" charset="-122"/>
                <a:cs typeface="DM Sans" pitchFamily="34" charset="-120"/>
              </a:rPr>
              <a:t>My evidence is still incomplete</a:t>
            </a:r>
            <a:endParaRPr lang="en-US" sz="1250" dirty="0"/>
          </a:p>
        </p:txBody>
      </p:sp>
      <p:sp>
        <p:nvSpPr>
          <p:cNvPr id="15" name="Text 13"/>
          <p:cNvSpPr/>
          <p:nvPr/>
        </p:nvSpPr>
        <p:spPr>
          <a:xfrm>
            <a:off x="566928" y="4261104"/>
            <a:ext cx="8010144" cy="274320"/>
          </a:xfrm>
          <a:prstGeom prst="rect">
            <a:avLst/>
          </a:prstGeom>
          <a:noFill/>
          <a:ln/>
        </p:spPr>
        <p:txBody>
          <a:bodyPr wrap="square" lIns="0" tIns="0" rIns="0" bIns="0" rtlCol="0" anchor="ctr"/>
          <a:lstStyle/>
          <a:p>
            <a:pPr indent="0" marL="0">
              <a:buNone/>
            </a:pPr>
            <a:r>
              <a:rPr lang="en-US" sz="1100" i="1" dirty="0">
                <a:solidFill>
                  <a:srgbClr val="5A6B84"/>
                </a:solidFill>
                <a:latin typeface="DM Sans" pitchFamily="34" charset="0"/>
                <a:ea typeface="DM Sans" pitchFamily="34" charset="-122"/>
                <a:cs typeface="DM Sans" pitchFamily="34" charset="-120"/>
              </a:rPr>
              <a:t>Every one of these is a legitimate outcome. Incomplete evidence is information, not failure.</a:t>
            </a:r>
            <a:endParaRPr lang="en-US" sz="1100" dirty="0"/>
          </a:p>
        </p:txBody>
      </p:sp>
      <p:sp>
        <p:nvSpPr>
          <p:cNvPr id="17" name="Text 14"/>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name="Slide 33">
    <p:bg>
      <p:bgPr>
        <a:solidFill>
          <a:srgbClr val="0F2347"/>
        </a:solidFill>
      </p:bgPr>
    </p:bg>
    <p:spTree>
      <p:nvGrpSpPr>
        <p:cNvPr id="1" name=""/>
        <p:cNvGrpSpPr/>
        <p:nvPr/>
      </p:nvGrpSpPr>
      <p:grpSpPr>
        <a:xfrm>
          <a:off x="0" y="0"/>
          <a:ext cx="0" cy="0"/>
          <a:chOff x="0" y="0"/>
          <a:chExt cx="0" cy="0"/>
        </a:xfrm>
      </p:grpSpPr>
      <p:sp>
        <p:nvSpPr>
          <p:cNvPr id="2" name="Text 0"/>
          <p:cNvSpPr/>
          <p:nvPr/>
        </p:nvSpPr>
        <p:spPr>
          <a:xfrm>
            <a:off x="566928" y="914400"/>
            <a:ext cx="8010144" cy="201168"/>
          </a:xfrm>
          <a:prstGeom prst="rect">
            <a:avLst/>
          </a:prstGeom>
          <a:noFill/>
          <a:ln/>
        </p:spPr>
        <p:txBody>
          <a:bodyPr wrap="square" lIns="0" tIns="0" rIns="0" bIns="0" rtlCol="0" anchor="ctr"/>
          <a:lstStyle/>
          <a:p>
            <a:pPr indent="0" marL="0">
              <a:buNone/>
            </a:pPr>
            <a:r>
              <a:rPr lang="en-US" sz="900" b="1" spc="180" kern="0" dirty="0">
                <a:solidFill>
                  <a:srgbClr val="C9A84C"/>
                </a:solidFill>
                <a:latin typeface="Montserrat" pitchFamily="34" charset="0"/>
                <a:ea typeface="Montserrat" pitchFamily="34" charset="-122"/>
                <a:cs typeface="Montserrat" pitchFamily="34" charset="-120"/>
              </a:rPr>
              <a:t>A CAPABILITY FORMATION EXPERIENCE</a:t>
            </a:r>
            <a:endParaRPr lang="en-US" sz="900" dirty="0"/>
          </a:p>
        </p:txBody>
      </p:sp>
      <p:sp>
        <p:nvSpPr>
          <p:cNvPr id="3" name="Text 1"/>
          <p:cNvSpPr/>
          <p:nvPr/>
        </p:nvSpPr>
        <p:spPr>
          <a:xfrm>
            <a:off x="566928" y="1316736"/>
            <a:ext cx="8010144" cy="731520"/>
          </a:xfrm>
          <a:prstGeom prst="rect">
            <a:avLst/>
          </a:prstGeom>
          <a:noFill/>
          <a:ln/>
        </p:spPr>
        <p:txBody>
          <a:bodyPr wrap="square" lIns="0" tIns="0" rIns="0" bIns="0" rtlCol="0" anchor="ctr"/>
          <a:lstStyle/>
          <a:p>
            <a:pPr indent="0" marL="0">
              <a:buNone/>
            </a:pPr>
            <a:r>
              <a:rPr lang="en-US" sz="3200" b="1" dirty="0">
                <a:solidFill>
                  <a:srgbClr val="F5F0E8"/>
                </a:solidFill>
                <a:latin typeface="Cormorant Garamond" pitchFamily="34" charset="0"/>
                <a:ea typeface="Cormorant Garamond" pitchFamily="34" charset="-122"/>
                <a:cs typeface="Cormorant Garamond" pitchFamily="34" charset="-120"/>
              </a:rPr>
              <a:t>Stay or Leave?</a:t>
            </a:r>
            <a:endParaRPr lang="en-US" sz="3200" dirty="0"/>
          </a:p>
        </p:txBody>
      </p:sp>
      <p:sp>
        <p:nvSpPr>
          <p:cNvPr id="4" name="Text 2"/>
          <p:cNvSpPr/>
          <p:nvPr/>
        </p:nvSpPr>
        <p:spPr>
          <a:xfrm>
            <a:off x="566928" y="2103120"/>
            <a:ext cx="8010144" cy="274320"/>
          </a:xfrm>
          <a:prstGeom prst="rect">
            <a:avLst/>
          </a:prstGeom>
          <a:noFill/>
          <a:ln/>
        </p:spPr>
        <p:txBody>
          <a:bodyPr wrap="square" lIns="0" tIns="0" rIns="0" bIns="0" rtlCol="0" anchor="ctr"/>
          <a:lstStyle/>
          <a:p>
            <a:pPr indent="0" marL="0">
              <a:buNone/>
            </a:pPr>
            <a:r>
              <a:rPr lang="en-US" sz="1400" dirty="0">
                <a:solidFill>
                  <a:srgbClr val="B8C5D9"/>
                </a:solidFill>
                <a:latin typeface="DM Sans" pitchFamily="34" charset="0"/>
                <a:ea typeface="DM Sans" pitchFamily="34" charset="-122"/>
                <a:cs typeface="DM Sans" pitchFamily="34" charset="-120"/>
              </a:rPr>
              <a:t>Live Career Growth Assessment  ·  The Capability Position Read</a:t>
            </a:r>
            <a:endParaRPr lang="en-US" sz="1400" dirty="0"/>
          </a:p>
        </p:txBody>
      </p:sp>
      <p:sp>
        <p:nvSpPr>
          <p:cNvPr id="5" name="Shape 3"/>
          <p:cNvSpPr/>
          <p:nvPr/>
        </p:nvSpPr>
        <p:spPr>
          <a:xfrm>
            <a:off x="566928" y="2615184"/>
            <a:ext cx="2651760" cy="20117"/>
          </a:xfrm>
          <a:prstGeom prst="rect">
            <a:avLst/>
          </a:prstGeom>
          <a:solidFill>
            <a:srgbClr val="C9A84C"/>
          </a:solidFill>
          <a:ln/>
        </p:spPr>
        <p:txBody>
          <a:bodyPr/>
          <a:p/>
        </p:txBody>
      </p:sp>
      <p:sp>
        <p:nvSpPr>
          <p:cNvPr id="6" name="Text 4"/>
          <p:cNvSpPr/>
          <p:nvPr/>
        </p:nvSpPr>
        <p:spPr>
          <a:xfrm>
            <a:off x="566928" y="2852928"/>
            <a:ext cx="8010144" cy="365760"/>
          </a:xfrm>
          <a:prstGeom prst="rect">
            <a:avLst/>
          </a:prstGeom>
          <a:noFill/>
          <a:ln/>
        </p:spPr>
        <p:txBody>
          <a:bodyPr wrap="square" lIns="0" tIns="0" rIns="0" bIns="0" rtlCol="0" anchor="ctr"/>
          <a:lstStyle/>
          <a:p>
            <a:pPr indent="0" marL="0">
              <a:buNone/>
            </a:pPr>
            <a:r>
              <a:rPr lang="en-US" sz="2400" b="1" dirty="0">
                <a:solidFill>
                  <a:srgbClr val="C9A84C"/>
                </a:solidFill>
                <a:latin typeface="Cormorant Garamond" pitchFamily="34" charset="0"/>
                <a:ea typeface="Cormorant Garamond" pitchFamily="34" charset="-122"/>
                <a:cs typeface="Cormorant Garamond" pitchFamily="34" charset="-120"/>
              </a:rPr>
              <a:t>Wednesday, September 23, 2026</a:t>
            </a:r>
            <a:endParaRPr lang="en-US" sz="2400" dirty="0"/>
          </a:p>
        </p:txBody>
      </p:sp>
      <p:sp>
        <p:nvSpPr>
          <p:cNvPr id="7" name="Text 5"/>
          <p:cNvSpPr/>
          <p:nvPr/>
        </p:nvSpPr>
        <p:spPr>
          <a:xfrm>
            <a:off x="566928" y="3291840"/>
            <a:ext cx="8010144" cy="274320"/>
          </a:xfrm>
          <a:prstGeom prst="rect">
            <a:avLst/>
          </a:prstGeom>
          <a:noFill/>
          <a:ln/>
        </p:spPr>
        <p:txBody>
          <a:bodyPr wrap="square" lIns="0" tIns="0" rIns="0" bIns="0" rtlCol="0" anchor="ctr"/>
          <a:lstStyle/>
          <a:p>
            <a:pPr indent="0" marL="0">
              <a:buNone/>
            </a:pPr>
            <a:r>
              <a:rPr lang="en-US" sz="1300" dirty="0">
                <a:solidFill>
                  <a:srgbClr val="B8C5D9"/>
                </a:solidFill>
                <a:latin typeface="DM Sans" pitchFamily="34" charset="0"/>
                <a:ea typeface="DM Sans" pitchFamily="34" charset="-122"/>
                <a:cs typeface="DM Sans" pitchFamily="34" charset="-120"/>
              </a:rPr>
              <a:t>6:00–7:00 PM Central Time  ·  Free  ·  60 minutes  ·  We begin shortly</a:t>
            </a:r>
            <a:endParaRPr lang="en-US" sz="1300" dirty="0"/>
          </a:p>
        </p:txBody>
      </p:sp>
      <p:sp>
        <p:nvSpPr>
          <p:cNvPr id="8" name="Text 6"/>
          <p:cNvSpPr/>
          <p:nvPr/>
        </p:nvSpPr>
        <p:spPr>
          <a:xfrm>
            <a:off x="566928" y="3657600"/>
            <a:ext cx="8010144" cy="274320"/>
          </a:xfrm>
          <a:prstGeom prst="rect">
            <a:avLst/>
          </a:prstGeom>
          <a:noFill/>
          <a:ln/>
        </p:spPr>
        <p:txBody>
          <a:bodyPr wrap="square" lIns="0" tIns="0" rIns="0" bIns="0" rtlCol="0" anchor="ctr"/>
          <a:lstStyle/>
          <a:p>
            <a:pPr indent="0" marL="0">
              <a:buNone/>
            </a:pPr>
            <a:r>
              <a:rPr lang="en-US" sz="1150" i="1" dirty="0">
                <a:solidFill>
                  <a:srgbClr val="B8C5D9"/>
                </a:solidFill>
                <a:latin typeface="DM Sans" pitchFamily="34" charset="0"/>
                <a:ea typeface="DM Sans" pitchFamily="34" charset="-122"/>
                <a:cs typeface="DM Sans" pitchFamily="34" charset="-120"/>
              </a:rPr>
              <a:t>Have the workbook open. Nothing is submitted or collected at any point.</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33</Slides>
  <Notes>33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vector>
  </TitlesOfParts>
  <Company>The Density Group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Stay or Leave? Live Career Growth Assessment</dc:title>
  <dc:subject>PptxGenJS Presentation</dc:subject>
  <dc:creator>Temidayo Afonja</dc:creator>
  <cp:lastModifiedBy>Temidayo Afonja</cp:lastModifiedBy>
  <cp:revision>1</cp:revision>
  <dcterms:created xsi:type="dcterms:W3CDTF">2026-08-30T18:07:34Z</dcterms:created>
  <dcterms:modified xsi:type="dcterms:W3CDTF">2026-08-30T18:07:34Z</dcterms:modified>
</cp:coreProperties>
</file>