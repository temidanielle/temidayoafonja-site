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Lst>
  <p:sldSz cy="5143500" cx="9144000"/>
  <p:notesSz cx="5143500" cy="9144000"/>
  <p:embeddedFontLst>
    <p:embeddedFont>
      <p:font typeface="Cormorant Garamond"/>
      <p:regular r:id="rId39"/>
      <p:bold r:id="rId40"/>
      <p:italic r:id="rId41"/>
      <p:boldItalic r:id="rId42"/>
    </p:embeddedFont>
    <p:embeddedFont>
      <p:font typeface="Montserrat"/>
      <p:regular r:id="rId43"/>
      <p:bold r:id="rId44"/>
      <p:italic r:id="rId45"/>
      <p:boldItalic r:id="rId46"/>
    </p:embeddedFont>
    <p:embeddedFont>
      <p:font typeface="DM Sans"/>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jAMAQtVqM+80vD4hfHyeKlEoWT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font" Target="fonts/CormorantGaramond-regular.fntdata"/><Relationship Id="rId40" Type="http://schemas.openxmlformats.org/officeDocument/2006/relationships/font" Target="fonts/CormorantGaramond-bold.fntdata"/><Relationship Id="rId41" Type="http://schemas.openxmlformats.org/officeDocument/2006/relationships/font" Target="fonts/CormorantGaramond-italic.fntdata"/><Relationship Id="rId42" Type="http://schemas.openxmlformats.org/officeDocument/2006/relationships/font" Target="fonts/CormorantGaramond-boldItalic.fntdata"/><Relationship Id="rId43" Type="http://schemas.openxmlformats.org/officeDocument/2006/relationships/font" Target="fonts/Montserrat-regular.fntdata"/><Relationship Id="rId44" Type="http://schemas.openxmlformats.org/officeDocument/2006/relationships/font" Target="fonts/Montserrat-bold.fntdata"/><Relationship Id="rId45" Type="http://schemas.openxmlformats.org/officeDocument/2006/relationships/font" Target="fonts/Montserrat-italic.fntdata"/><Relationship Id="rId46" Type="http://schemas.openxmlformats.org/officeDocument/2006/relationships/font" Target="fonts/Montserrat-boldItalic.fntdata"/><Relationship Id="rId47" Type="http://schemas.openxmlformats.org/officeDocument/2006/relationships/font" Target="fonts/DMSans-regular.fntdata"/><Relationship Id="rId48" Type="http://schemas.openxmlformats.org/officeDocument/2006/relationships/font" Target="fonts/DMSans-bold.fntdata"/><Relationship Id="rId49" Type="http://schemas.openxmlformats.org/officeDocument/2006/relationships/font" Target="fonts/DMSans-italic.fntdata"/><Relationship Id="rId50" Type="http://schemas.openxmlformats.org/officeDocument/2006/relationships/font" Target="fonts/DMSans-boldItalic.fntdata"/><Relationship Id="rId51"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START THE RECORDING ON THIS SLIDE. This is the first evergreen teaching slide. The dated holding slide is shown BEFORE recording begins and is never recorded.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0:00-0:30. THIRTY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welcome, name the session, name the method, state the duration. Thirty seconds, and biography is capped at TWO SENTENCES. The lived example that earns the method comes on the next slide, so do not start it 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TO SAY: "This is a live guided assessment. In the next fifty minutes you will read your own position twice, once from memory and once against evidence, and leave with a note about what your evidence supports testing next. The last ten minutes are live questions and are not recorded."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EVERGREEN-SAFE: no date on this slide by design.</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0:30-1:20. FIFTY SECONDS. The reframe is the first fifteen. The rest is the story below.</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read both boxes, then go straight into the story and let the story do the landing. Fifteen seconds on the reframe, the rest on the warrant. Recognition before terminology: the room needs to have heard one real example of what travels and what does not before Density and Optionality arrive as words.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SPOKEN WARRANT - SAY IT, DO NOT SKIP IT. Approximately thirty to forty-five seconds, and no longer: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"When I moved from audit into cybersecurity, I did not start from zero. Evidence, controls and risk travelled with me. Cybersecurity language, privacy frameworks and technical context did not. Portability was not plug-and-play. Something important came with me, and the new context still required real relearning."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Then land the point in one line: I did not start from zero, and I did not carry everything either.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ADD TO THE STORY. No dates, no employers, no metrics, no reactions, no reason for the move, no outcome, and nothing further about what transferred. This is warrant, not biography. If you find yourself explaining the move, you have already gone too long.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answer the stay/leave question. Say plainly that the session reads the position underneath it.</a:t>
            </a:r>
            <a:endParaRPr/>
          </a:p>
        </p:txBody>
      </p:sp>
      <p:sp>
        <p:nvSpPr>
          <p:cNvPr id="31" name="Google Shape;3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 THIS IS THE RECORDING AND PRIVACY DISCLOSURE. It must be delivered inside the first five minutes. Deliver it here, at minute 1:20.</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1:20-2:00. FORTY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deliver the disclosure, name the boundary, point at the workbook, move. Forty seconds total. Do not let this become a preamble.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SAY IT ONCE, CALMLY, AND DO NOT EXPAND IT INTO A DISCLAIMER: "The teaching portion is recorded so people can revisit the method. Your scores and your private workbook stay yours. The live Q&amp;A at the end is not part of the evergreen replay."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WORKBOOK: page 1 carries the same boundary and privacy language. Tell the room the workbook is open in full from the start. Nothing is released in stages.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Participant microphones are muted by default for the whole recorded core.</a:t>
            </a:r>
            <a:endParaRPr/>
          </a:p>
        </p:txBody>
      </p:sp>
      <p:sp>
        <p:nvSpPr>
          <p:cNvPr id="48" name="Google Shape;4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2:00-3:30. NINETY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ask the question on the slide first and let it sit for a beat. Only then give it the name. The room recognizes the question before it learns the word.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TO SAY, in your own words: is the work still asking more of your judgment than it used to? That is what Density reads. It is about your conditions, not your effort, which is why a role can be demanding and important and still stop forming you.</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the one correction that matters, that busy is not the same as forming, and stop. The full teaching treatment is downstream, not 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take questions on the definition now. Say they will make more sense once people have scored.</a:t>
            </a:r>
            <a:endParaRPr/>
          </a:p>
        </p:txBody>
      </p:sp>
      <p:sp>
        <p:nvSpPr>
          <p:cNvPr id="68" name="Google Shape;6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3:30-5:00. NINETY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same shape as the last slide. Ask the question, let it sit, then name it. The story on slide 2 was the warrant for this slide, so you can refer back to it in a phrase rather than retelling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TO SAY, in your own words: would what you are building still be useful somewhere else, and could you make it legible to someone outside your organization using evidence rather than your title? That is Optionality.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SAY THE BOUNDARY AS WRITTEN. A low score is not a verdict on ability, and translation is not recognition. Making your capability legible removes a barrier. It does not decide what another organization does with what it sees, and this session does not predict hiring, promotion, sponsorship or pay.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THE ROOM WANTS THE CAUSES, they are taught at slide 15 and in the appendix: a low score may mean the capability is context-bound, that the evidence is hard to read from outside, or that the right people have not seen the work. Do not rank them and do not imply one is more common than another. This session has no measurement that supports a prevalence claim.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Next slide begins the private scoring. Tell the room to have the workbook open at page 2.</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THE OPTIONALITY SCORE IS, AND SAY THIS ONCE IF IT COMES UP: the six statements are a composite reading of portability conditions and signals. They are not a prediction. Nothing on this axis forecasts that another employer will value, hire, promote or pay anyone. If someone treats the number as a market verdict, correct it plainly: it reads the conditions you are working in, not a decision nobody has made yet.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INTERNAL, NOT FOR THE ROOM: statements 7, 10 and 12 carry anticipated employer valuation, visibility and a one-year forecast, which sit less cleanly inside that reading than the other three. They are recorded in the change log as a post-September-23 instrument-review item. Do NOT reword them in delivery: the statements are locked and the workbook is built on them.</a:t>
            </a:r>
            <a:endParaRPr/>
          </a:p>
        </p:txBody>
      </p:sp>
      <p:sp>
        <p:nvSpPr>
          <p:cNvPr id="82" name="Google Shape;8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 2.</a:t>
            </a:r>
            <a:br>
              <a:rPr lang="en-US"/>
            </a:br>
            <a:br>
              <a:rPr lang="en-US"/>
            </a:br>
            <a:r>
              <a:rPr lang="en-US"/>
              <a:t>TIMING: 5:00-6:40.</a:t>
            </a:r>
            <a:br>
              <a:rPr lang="en-US"/>
            </a:br>
            <a:br>
              <a:rPr lang="en-US"/>
            </a:br>
            <a:r>
              <a:rPr lang="en-US"/>
              <a:t>FACILITATION: One hundred seconds. Read each statement once, then stay silent while people score. Do not fill the silence.</a:t>
            </a:r>
            <a:br>
              <a:rPr lang="en-US"/>
            </a:br>
            <a:br>
              <a:rPr lang="en-US"/>
            </a:br>
            <a:r>
              <a:rPr lang="en-US"/>
              <a:t>WHAT TO SAY: score each statement 1 to 5 against the last ninety days only. No evidence line yet — that is deliberate, and you will see why.</a:t>
            </a:r>
            <a:endParaRPr/>
          </a:p>
        </p:txBody>
      </p:sp>
      <p:sp>
        <p:nvSpPr>
          <p:cNvPr id="96" name="Google Shape;9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 2.</a:t>
            </a:r>
            <a:br>
              <a:rPr lang="en-US"/>
            </a:br>
            <a:br>
              <a:rPr lang="en-US"/>
            </a:br>
            <a:r>
              <a:rPr lang="en-US"/>
              <a:t>TIMING: 6:40-8:10.</a:t>
            </a:r>
            <a:br>
              <a:rPr lang="en-US"/>
            </a:br>
            <a:br>
              <a:rPr lang="en-US"/>
            </a:br>
            <a:r>
              <a:rPr lang="en-US"/>
              <a:t>FACILITATION: Ninety seconds. Same rhythm. Do not signal that the scores are expected to change — that reveal has to be earned by the evidence pass.</a:t>
            </a:r>
            <a:br>
              <a:rPr lang="en-US"/>
            </a:br>
            <a:br>
              <a:rPr lang="en-US"/>
            </a:br>
            <a:r>
              <a:rPr lang="en-US"/>
              <a:t>WHAT TO SAY: score each statement 1 to 5 against the last ninety days only. No evidence line yet — that is deliberate, and you will see why.</a:t>
            </a:r>
            <a:endParaRPr/>
          </a:p>
        </p:txBody>
      </p:sp>
      <p:sp>
        <p:nvSpPr>
          <p:cNvPr id="119" name="Google Shape;11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 2.</a:t>
            </a:r>
            <a:br>
              <a:rPr lang="en-US"/>
            </a:br>
            <a:br>
              <a:rPr lang="en-US"/>
            </a:br>
            <a:r>
              <a:rPr lang="en-US"/>
              <a:t>TIMING: 8:10-8:40.</a:t>
            </a:r>
            <a:br>
              <a:rPr lang="en-US"/>
            </a:br>
            <a:br>
              <a:rPr lang="en-US"/>
            </a:br>
            <a:r>
              <a:rPr lang="en-US"/>
              <a:t>FACILITATION: Thirty seconds. Total and hold. Do not explain the states yet.</a:t>
            </a:r>
            <a:br>
              <a:rPr lang="en-US"/>
            </a:br>
            <a:br>
              <a:rPr lang="en-US"/>
            </a:br>
            <a:r>
              <a:rPr lang="en-US"/>
              <a:t>THE BOUNDARY BAND OVERRIDES THE HIGH/LOW SPLIT. 19-30 high and 6-18 low are the ordinary classification. A total of 17 to 21 falls inside the boundary band, and the boundary reading takes precedence: no single state is assigned and the participant reads both neighbouring states. Say this now, not later — it prevents the most common placement error.</a:t>
            </a:r>
            <a:br>
              <a:rPr lang="en-US"/>
            </a:br>
            <a:br>
              <a:rPr lang="en-US"/>
            </a:br>
            <a:r>
              <a:rPr lang="en-US"/>
              <a:t>Do not ask for totals. Do not poll. Nothing is collected.</a:t>
            </a:r>
            <a:endParaRPr/>
          </a:p>
        </p:txBody>
      </p:sp>
      <p:sp>
        <p:nvSpPr>
          <p:cNvPr id="142" name="Google Shape;14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 3.</a:t>
            </a:r>
            <a:br>
              <a:rPr lang="en-US"/>
            </a:br>
            <a:br>
              <a:rPr lang="en-US"/>
            </a:br>
            <a:r>
              <a:rPr lang="en-US"/>
              <a:t>TIMING: 8:40-10:10.</a:t>
            </a:r>
            <a:br>
              <a:rPr lang="en-US"/>
            </a:br>
            <a:br>
              <a:rPr lang="en-US"/>
            </a:br>
            <a:r>
              <a:rPr lang="en-US"/>
              <a:t>FACILITATION: Ninety seconds.</a:t>
            </a:r>
            <a:br>
              <a:rPr lang="en-US"/>
            </a:br>
            <a:br>
              <a:rPr lang="en-US"/>
            </a:br>
            <a:r>
              <a:rPr lang="en-US"/>
              <a:t>WHAT TO SAY: score each statement 1 to 5 against the last ninety days only. No evidence line yet — that is deliberate, and you will see why.</a:t>
            </a:r>
            <a:endParaRPr/>
          </a:p>
        </p:txBody>
      </p:sp>
      <p:sp>
        <p:nvSpPr>
          <p:cNvPr id="158" name="Google Shape;15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 3.</a:t>
            </a:r>
            <a:br>
              <a:rPr lang="en-US"/>
            </a:br>
            <a:br>
              <a:rPr lang="en-US"/>
            </a:br>
            <a:r>
              <a:rPr lang="en-US"/>
              <a:t>TIMING: 10:10-11:40.</a:t>
            </a:r>
            <a:br>
              <a:rPr lang="en-US"/>
            </a:br>
            <a:br>
              <a:rPr lang="en-US"/>
            </a:br>
            <a:r>
              <a:rPr lang="en-US"/>
              <a:t>FACILITATION: Ninety seconds. This is the last block of the first pass.</a:t>
            </a:r>
            <a:br>
              <a:rPr lang="en-US"/>
            </a:br>
            <a:br>
              <a:rPr lang="en-US"/>
            </a:br>
            <a:r>
              <a:rPr lang="en-US"/>
              <a:t>WHAT TO SAY: score each statement 1 to 5 against the last ninety days only. No evidence line yet — that is deliberate, and you will see why.</a:t>
            </a:r>
            <a:endParaRPr/>
          </a:p>
        </p:txBody>
      </p:sp>
      <p:sp>
        <p:nvSpPr>
          <p:cNvPr id="181" name="Google Shape;18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 3.</a:t>
            </a:r>
            <a:br>
              <a:rPr lang="en-US"/>
            </a:br>
            <a:br>
              <a:rPr lang="en-US"/>
            </a:br>
            <a:r>
              <a:rPr lang="en-US"/>
              <a:t>TIMING: 11:40-12:00.</a:t>
            </a:r>
            <a:br>
              <a:rPr lang="en-US"/>
            </a:br>
            <a:br>
              <a:rPr lang="en-US"/>
            </a:br>
            <a:r>
              <a:rPr lang="en-US"/>
              <a:t>FACILITATION: Twenty seconds. You now hold two numbers. The pair is the point of today.</a:t>
            </a:r>
            <a:br>
              <a:rPr lang="en-US"/>
            </a:br>
            <a:br>
              <a:rPr lang="en-US"/>
            </a:br>
            <a:r>
              <a:rPr lang="en-US"/>
              <a:t>THE BOUNDARY BAND OVERRIDES THE HIGH/LOW SPLIT. 19-30 high and 6-18 low are the ordinary classification. A total of 17 to 21 falls inside the boundary band, and the boundary reading takes precedence: no single state is assigned and the participant reads both neighbouring states. Say this now, not later — it prevents the most common placement error.</a:t>
            </a:r>
            <a:br>
              <a:rPr lang="en-US"/>
            </a:br>
            <a:br>
              <a:rPr lang="en-US"/>
            </a:br>
            <a:r>
              <a:rPr lang="en-US"/>
              <a:t>Do not ask for totals. Do not poll. Nothing is collected.</a:t>
            </a:r>
            <a:endParaRPr/>
          </a:p>
        </p:txBody>
      </p:sp>
      <p:sp>
        <p:nvSpPr>
          <p:cNvPr id="204" name="Google Shape;20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a:t>
            </a:r>
            <a:br>
              <a:rPr lang="en-US"/>
            </a:br>
            <a:br>
              <a:rPr lang="en-US"/>
            </a:br>
            <a:r>
              <a:rPr lang="en-US"/>
              <a:t>TIMING: 12:00-13:00. SIXTY SECONDS.</a:t>
            </a:r>
            <a:br>
              <a:rPr lang="en-US"/>
            </a:br>
            <a:br>
              <a:rPr lang="en-US"/>
            </a:br>
            <a:r>
              <a:rPr lang="en-US"/>
              <a:t>FACILITATION: name each square once. Do not teach the state costs here — that block is at 35:00. Do not ask which square anyone is in.</a:t>
            </a:r>
            <a:br>
              <a:rPr lang="en-US"/>
            </a:br>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Lowest: Stagnant.</a:t>
            </a:r>
            <a:r>
              <a:rPr lang="en-US" sz="1100">
                <a:latin typeface="Arial"/>
                <a:ea typeface="Arial"/>
                <a:cs typeface="Arial"/>
                <a:sym typeface="Arial"/>
              </a:rPr>
              <a:t> Bottom-left, both axes low. "The work stopped asking more of you" plus no portability. Nothing is accruing in either direction.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Then Depth Trap.</a:t>
            </a:r>
            <a:r>
              <a:rPr lang="en-US" sz="1100">
                <a:latin typeface="Arial"/>
                <a:ea typeface="Arial"/>
                <a:cs typeface="Arial"/>
                <a:sym typeface="Arial"/>
              </a:rPr>
              <a:t> Top-left. High Density, low Optionality. Reads as second-lowest but clearly above Stagnant, because something real is still being built — it just doesn't travel.</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Then Fragile.</a:t>
            </a:r>
            <a:r>
              <a:rPr lang="en-US" sz="1100">
                <a:latin typeface="Arial"/>
                <a:ea typeface="Arial"/>
                <a:cs typeface="Arial"/>
                <a:sym typeface="Arial"/>
              </a:rPr>
              <a:t> Bottom-right. Low Density, high Optionality. What you have moves, but nothing new is being added underneath it.</a:t>
            </a:r>
            <a:endParaRPr sz="1100">
              <a:latin typeface="Arial"/>
              <a:ea typeface="Arial"/>
              <a:cs typeface="Arial"/>
              <a:sym typeface="Arial"/>
            </a:endParaRPr>
          </a:p>
          <a:p>
            <a:pPr indent="0" lvl="0" marL="0" rtl="0" algn="l">
              <a:lnSpc>
                <a:spcPct val="115000"/>
              </a:lnSpc>
              <a:spcBef>
                <a:spcPts val="1200"/>
              </a:spcBef>
              <a:spcAft>
                <a:spcPts val="1200"/>
              </a:spcAft>
              <a:buSzPts val="1100"/>
              <a:buNone/>
            </a:pPr>
            <a:r>
              <a:rPr b="1" lang="en-US" sz="1100">
                <a:latin typeface="Arial"/>
                <a:ea typeface="Arial"/>
                <a:cs typeface="Arial"/>
                <a:sym typeface="Arial"/>
              </a:rPr>
              <a:t>Highest: Compounding.</a:t>
            </a:r>
            <a:r>
              <a:rPr lang="en-US" sz="1100">
                <a:latin typeface="Arial"/>
                <a:ea typeface="Arial"/>
                <a:cs typeface="Arial"/>
                <a:sym typeface="Arial"/>
              </a:rPr>
              <a:t> Top-right, both high, and the only square you inverted to navy.</a:t>
            </a:r>
            <a:br>
              <a:rPr lang="en-US"/>
            </a:br>
            <a:r>
              <a:rPr lang="en-US"/>
              <a:t>Compounding is set apart because it is the one square where both axes are high. It is a structural fact about the matrix, not a ranking, and not a square to aim for. Say "state is not identity" out loud on the next slide.</a:t>
            </a:r>
            <a:endParaRPr/>
          </a:p>
        </p:txBody>
      </p:sp>
      <p:sp>
        <p:nvSpPr>
          <p:cNvPr id="220" name="Google Shape;22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 3.</a:t>
            </a:r>
            <a:br>
              <a:rPr lang="en-US"/>
            </a:br>
            <a:br>
              <a:rPr lang="en-US"/>
            </a:br>
            <a:r>
              <a:rPr lang="en-US"/>
              <a:t>TIMING: 13:00-14:00. SIXTY SECONDS.</a:t>
            </a:r>
            <a:br>
              <a:rPr lang="en-US"/>
            </a:br>
            <a:br>
              <a:rPr lang="en-US"/>
            </a:br>
            <a:r>
              <a:rPr lang="en-US"/>
              <a:t>FACILITATION: everyone proceeds on the clock. There is no readiness poll, no staged release and no waiting for the room — this has to work with a large audience.</a:t>
            </a:r>
            <a:br>
              <a:rPr lang="en-US"/>
            </a:br>
            <a:br>
              <a:rPr lang="en-US"/>
            </a:br>
            <a:r>
              <a:rPr lang="en-US"/>
              <a:t>Say "state is not identity" here, plainly, and say that boundary is a legitimate reading rather than a failure to decide.</a:t>
            </a:r>
            <a:br>
              <a:rPr lang="en-US"/>
            </a:br>
            <a:br>
              <a:rPr lang="en-US"/>
            </a:br>
            <a:r>
              <a:rPr lang="en-US"/>
              <a:t>Do not ask for a show of hands on states. Do not invite anyone to name their square, their employer or their situation.</a:t>
            </a:r>
            <a:endParaRPr/>
          </a:p>
        </p:txBody>
      </p:sp>
      <p:sp>
        <p:nvSpPr>
          <p:cNvPr id="245" name="Google Shape;24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WORKBOOK PAGE 4.</a:t>
            </a:r>
            <a:br>
              <a:rPr lang="en-US"/>
            </a:br>
            <a:br>
              <a:rPr lang="en-US"/>
            </a:br>
            <a:r>
              <a:rPr lang="en-US"/>
              <a:t>TIMING: 14:00-16:00. TWO MINUTES.</a:t>
            </a:r>
            <a:br>
              <a:rPr lang="en-US"/>
            </a:br>
            <a:br>
              <a:rPr lang="en-US"/>
            </a:br>
            <a:r>
              <a:rPr lang="en-US"/>
              <a:t>FACILITATION: the protocol is symmetric — that is the whole point. Low scores need evidence too, or the exercise becomes self-criticism.</a:t>
            </a:r>
            <a:br>
              <a:rPr lang="en-US"/>
            </a:br>
            <a:br>
              <a:rPr lang="en-US"/>
            </a:br>
            <a:r>
              <a:rPr lang="en-US"/>
              <a:t>The ? is not a softer 3. A 3 is a real reading of a mixed pattern. A ? means you could not support any number. One question mark only, and it stays inside the 1 to 5 scale: the workbook will not accept 0?, 6?, two question marks, or a question mark on its own.</a:t>
            </a:r>
            <a:br>
              <a:rPr lang="en-US"/>
            </a:br>
            <a:br>
              <a:rPr lang="en-US"/>
            </a:br>
            <a:r>
              <a:rPr lang="en-US"/>
              <a:t>Give permission for the ? BEFORE the rescore starts, or people round down to look rigorous and reproduce the artefact the rule exists to prevent.</a:t>
            </a:r>
            <a:endParaRPr/>
          </a:p>
        </p:txBody>
      </p:sp>
      <p:sp>
        <p:nvSpPr>
          <p:cNvPr id="269" name="Google Shape;26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WORKBOOK PAGE 4.</a:t>
            </a:r>
            <a:br>
              <a:rPr lang="en-US"/>
            </a:br>
            <a:br>
              <a:rPr lang="en-US"/>
            </a:br>
            <a:r>
              <a:rPr lang="en-US"/>
              <a:t>TIMING: 16:00-19:00. THREE MINUTES. Sixty seconds each.</a:t>
            </a:r>
            <a:br>
              <a:rPr lang="en-US"/>
            </a:br>
            <a:br>
              <a:rPr lang="en-US"/>
            </a:br>
            <a:r>
              <a:rPr lang="en-US"/>
              <a:t>FACILITATION: one minute per misreading, in order, then stop. Do not take questions here — hold them for minute 50.</a:t>
            </a:r>
            <a:br>
              <a:rPr lang="en-US"/>
            </a:br>
            <a:br>
              <a:rPr lang="en-US"/>
            </a:br>
            <a:r>
              <a:rPr lang="en-US"/>
              <a:t>This slide replaces three separate calibration slides. Do not expand it back out and do not add a fourth misreading.</a:t>
            </a:r>
            <a:br>
              <a:rPr lang="en-US"/>
            </a:br>
            <a:br>
              <a:rPr lang="en-US"/>
            </a:br>
            <a:r>
              <a:rPr lang="en-US"/>
              <a:t>ONE: this occurs when someone scores the work they are about to do rather than the work that actually occurred inside the evidence window. Do not describe it as common, typical or most frequent — this session has no measurement that supports a prevalence claim.</a:t>
            </a:r>
            <a:br>
              <a:rPr lang="en-US"/>
            </a:br>
            <a:br>
              <a:rPr lang="en-US"/>
            </a:br>
            <a:r>
              <a:rPr lang="en-US"/>
              <a:t>TWO: careful with tone. It can describe someone genuinely excellent at the work. Being needed is good; assuming it forms you is the misread.</a:t>
            </a:r>
            <a:br>
              <a:rPr lang="en-US"/>
            </a:br>
            <a:br>
              <a:rPr lang="en-US"/>
            </a:br>
            <a:r>
              <a:rPr lang="en-US"/>
              <a:t>THREE: say the panel as written. Do not rank the causes and do not imply one is more common than another.</a:t>
            </a:r>
            <a:br>
              <a:rPr lang="en-US"/>
            </a:br>
            <a:br>
              <a:rPr lang="en-US"/>
            </a:br>
            <a:r>
              <a:rPr lang="en-US"/>
              <a:t>Land the third one and move straight into the rescore. Do not take questions here — hold them for minute 50.</a:t>
            </a:r>
            <a:endParaRPr/>
          </a:p>
        </p:txBody>
      </p:sp>
      <p:sp>
        <p:nvSpPr>
          <p:cNvPr id="294" name="Google Shape;29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 PRIVATE WRITING.  WORKBOOK PAGES 5 AND 6.</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19:00-31:00. TWELVE MINUTES. PROTECTED AND NON-NEGOTIABLE.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read the instruction once, then hold this slide and stay quiet. One short orientation cue at the midpoint, then the two warnings. Nothing else.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NEVER RECOVER LOST TIME HERE. This block is the evidentiary centre of the session and the thing that makes it an assessment rather than a talk. If you are behind at minute 19, take the time from the 45:00-48:00 continuation sequence or the 48:00-50:00 buffer, never from this block.</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slide holds for the full twelve minutes. Do not advance and do not fill the silence.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ONE MIDPOINT CUE AT ABOUT 25:00. This is facilitator presence, not teaching. Say it once, quietly, then return to silence: "If you are around statement six, you are on pace. Keep the evidence phrases short." Do not add anything to it, do not answer a question in it, and do not restate the protocol.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a two-minute warning at 29:00 and a thirty-second warning at 30:30. Keep your own microphone quiet the rest of the time.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Short evidence phrases, not essays. Twelve statements in twelve minutes is sixty seconds each.</a:t>
            </a:r>
            <a:endParaRPr/>
          </a:p>
        </p:txBody>
      </p:sp>
      <p:sp>
        <p:nvSpPr>
          <p:cNvPr id="320" name="Google Shape;32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PAGES 5 AND 6.</a:t>
            </a:r>
            <a:br>
              <a:rPr lang="en-US"/>
            </a:br>
            <a:br>
              <a:rPr lang="en-US"/>
            </a:br>
            <a:r>
              <a:rPr lang="en-US"/>
              <a:t>TIMING: 31:00-32:30. NINETY SECONDS.</a:t>
            </a:r>
            <a:br>
              <a:rPr lang="en-US"/>
            </a:br>
            <a:br>
              <a:rPr lang="en-US"/>
            </a:br>
            <a:r>
              <a:rPr lang="en-US"/>
              <a:t>FACILITATION: insist on the re-total. People try to eyeball whether the square changed. The number has to be recomputed.</a:t>
            </a:r>
            <a:br>
              <a:rPr lang="en-US"/>
            </a:br>
            <a:br>
              <a:rPr lang="en-US"/>
            </a:br>
            <a:r>
              <a:rPr lang="en-US"/>
              <a:t>A marked score counts as its number when totalling — 3? totals as 3. The question mark changes what happens NEXT, on the sensitivity slide, not the arithmetic here.</a:t>
            </a:r>
            <a:br>
              <a:rPr lang="en-US"/>
            </a:br>
            <a:br>
              <a:rPr lang="en-US"/>
            </a:br>
            <a:r>
              <a:rPr lang="en-US"/>
              <a:t>Boundary band: a corrected total of 17 to 21 overrides the ordinary high/low split. Say it again here.</a:t>
            </a:r>
            <a:endParaRPr/>
          </a:p>
        </p:txBody>
      </p:sp>
      <p:sp>
        <p:nvSpPr>
          <p:cNvPr id="345" name="Google Shape;34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  WORKBOOK PAGE 7.</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32:30-34:00. NINETY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thirty seconds per tier. Teach all three even though most of the room will only need one.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SLIDE IS NOW THE SUMMARY, NOT THE SPECIFICATION. The full procedure is on workbook page 4 and is repeated below. Read the three tiers off the slide and let the workbook carry the mechanics.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Teach all three tiers explicitly. A participant with no marked items can sit through the procedure believing they must run it. Say plainly that they do not.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NONE: no range required. 1 OR 2: the axis is provisional, run the check. 3 OR MORE: the axis is incomplete and you do not place on it today.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FULL SENSITIVITY PROCEDURE, for the room that asks and for workbook page 4: total the axis using the numbers exactly as written; total it again with every marked item one point lower; total it again one point higher. Every neighbouring score stays bounded inside the 1 to 5 scale, so a 1? is never tested at 0 and a 5? never at 6. If the range includes any total from 17 to 21, do not force a state, and hold the axis as boundary.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DUAL-AXIS BOUNDARY RULE, said plainly: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exactly ONE axis is inside 17 to 21, read the two adjacent states that the OTHER axis selects. A boundary Density with high Optionality reads across Compounding and Fragile.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BOTH axes are inside 17 to 21, record Boundary and assign no single state at all.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governing instrument (v5.3.1) states that when any total touches the band, no single state is assigned and the placement is provisional. The one-axis case follows directly. The instrument does not address the both-axes case, where four squares would qualify rather than two; recording Boundary is the reading consistent with "no single state is assigned". This is documented in the change log.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Say the boundary out loud: this is an operational convention, not a statistical confidence interval, and it carries no margin of error. Boundary and incomplete are legitimate outcomes.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METHOD UNCHANGED IN v2.0.6. Only the slide face was simplified. The tiers, the band, the bounded neighbouring scores and the dual-axis rule are exactly what v2.0.5 carried.</a:t>
            </a:r>
            <a:endParaRPr/>
          </a:p>
        </p:txBody>
      </p:sp>
      <p:sp>
        <p:nvSpPr>
          <p:cNvPr id="363" name="Google Shape;36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 PRIVATE WRITING.  WORKBOOK PAGE 7.</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34:00-35:00. SIXTY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give the instruction, then let them place. Do not narrate over the writing.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State plainly that boundary and incomplete are real readings, not failures.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 DIAGNOSTIC POLL INSIDE THE RECORDED ASSESSMENT. No staged reveal, no room-level state distribution, no anonymous count, and nothing that asks anyone to reveal a score, a state, an employer or a decision. Scores, states, employers and circumstances stay private. The optional "what moved" interaction is in the appendix and is OUT of the timed core.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one poll this session permits is the optional anonymous arrival poll, which runs BEFORE the recording starts while the dated holding slide is up. It is specified in the SOP. It never runs 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invite anyone to name their square, their confidence number, their employer or their circumstances.</a:t>
            </a:r>
            <a:endParaRPr/>
          </a:p>
        </p:txBody>
      </p:sp>
      <p:sp>
        <p:nvSpPr>
          <p:cNvPr id="389" name="Google Shape;38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35:00-38:00. THREE MINUTES. Forty-five seconds per state.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one pass, four states, no favourites. Keep your eye on the clock, this block overruns easily.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each state its essential reading and stop. Do NOT teach the heaviest square for this room and do NOT deepen a state based on audience distribution. Those are Intensive Edition mechanics and there is no room for them in sixty minutes.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TODAY IS COMPLETE. The closing line on this slide says the reading they have is the one this assessment gives, and that it is complete. Say it that way. Do not say the fuller cost is held back, and do not imply the real interpretation sits behind a paid product. What continued work adds is depth, repetition, a named destination and private use, not a withheld answer.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you are running behind, this is NOT the block to cut. Take it from 45:00-48:00.</a:t>
            </a:r>
            <a:endParaRPr/>
          </a:p>
        </p:txBody>
      </p:sp>
      <p:sp>
        <p:nvSpPr>
          <p:cNvPr id="413" name="Google Shape;41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  WORKBOOK PAGE 8.</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38:00-41:00. THREE MINUTES. About twenty-five seconds each.</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read the category and its line, move to the next. Resist elaborating.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Read each category and its one-line reading. Do not work examples, there is no room for them in sixty minutes.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THREE READINGS WERE REWRITTEN IN v2.0.6 AND THE WORDING MATTERS. Translate what is built is about making existing capability legible outside your own context, not about solving recognition. Widen exposure is about reaching people who can evaluate or use the capability, and the line says plainly that visibility is not evidence. Repair formation conditions is a category to test, not an instruction to stay.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Prepare for exit is preparation, not a recommendation to resign. Say it that way.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Say the bottom line as written: no square prescribes a category. Someone in Depth Trap is not instructed to translate; someone in Fragile is not instructed to exit.</a:t>
            </a:r>
            <a:endParaRPr/>
          </a:p>
        </p:txBody>
      </p:sp>
      <p:sp>
        <p:nvSpPr>
          <p:cNvPr id="459" name="Google Shape;45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 name="Google Shape;49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 PRIVATE WRITING.  WORKBOOK PAGE 8.</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41:00-45:00. FOUR MINUTES. This is a real writing period, protect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read the four portability questions once, read the three prompts once, then stop talking for the rest of the block.</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FOUR-QUESTION PORTABILITY AUDIT IS ON THIS SLIDE AND IS SPOKEN ONCE, HERE. It is the interpretive frame for the note, not a new exercise: there is nothing to score and nothing to hand in. Read them and move 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travels? What does not? What can I prove? What must I relearn?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SAY THE DESTINATION BOUNDARY IN ONE LINE. You cannot fully answer what travels until you know where it is travelling to. Generic portability is not destination-specific portability, and this session has not named anyone's destination. What the four questions do here is tell you which of them your evidence can already answer and which one is still open.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Read the three prompts once, then stop talking and let people write. Four minutes feels long from the front and short from the seat.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call it the Next-Move Decision. That is the Intensive Edition's artifact and it is a different, longer instrument.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ask anyone to read theirs aloud, and do not invite anyone to share a move category, an employer or a situation.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a sixty-second warning at 44:00.</a:t>
            </a:r>
            <a:endParaRPr/>
          </a:p>
        </p:txBody>
      </p:sp>
      <p:sp>
        <p:nvSpPr>
          <p:cNvPr id="498" name="Google Shape;49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0" name="Google Shape;53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45:00-46:00. SIXTY SECONDS. The continuation sequence is the first place to take time from if you are behind.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read the two routes in order, land route one, then move. Do not linger and do not add examples.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ROUTE 1 IS NOT A THROWAWAY. Say it first and say it plainly. The credibility of the next slide depends on genuinely releasing the people who have enough.</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TO SAY: "Some of you now have enough to act. Good, you do not need anything else from me today. Some of you want a structured system you can keep working with privately. Different needs, different routes."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TWO ROUTES ONLY IN THIS DELIVERY. Career Move Review is the current advisory offer for someone with a specific destination, and it is NOT on this slide, because its fulfillment route is not operational. Do not describe it, do not price it and do not take bookings for it from the stage. If a participant asks for a human read against a specific move, say that it is not open yet and take nothing further.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Keep the Proof is not on this slide either, and that is deliberate. It answers a different problem and belongs in follow-up, not in the recorded continuation sequence.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 PRICING ON THIS SLIDE. Do not say "if you want to buy", "I have two offers" or "special opportunity".</a:t>
            </a:r>
            <a:endParaRPr/>
          </a:p>
        </p:txBody>
      </p:sp>
      <p:sp>
        <p:nvSpPr>
          <p:cNvPr id="531" name="Google Shape;531;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3" name="Google Shape;553;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46:00-47:00. SIXTY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name what today already gave them, then name what the Field Kit adds. Sixty seconds. If you are behind, this is the first slide to shorten.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TODAY IS COMPLETE. Say so. This session delivers a full guided reading. The Field Kit is not the rest of it. It is a private system they can own, revisit and rerun as conditions change.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call the Field Kit the complete version of the session, the full assessment, required, included, a bundle, or more worksheets.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CURRENT INDIVIDUAL OFFER ARCHITECTURE, for your own reference and not for the stage: the Career Evidence Starter is free, Keep the Proof is $49, the Capability Formation Field Kit is $150, and the Career Move Review is $500 with qualification before payment. Only the Field Kit appears in this recorded continuation sequence.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PRIVATE CAPABILITY POSITION READ IS RETIRED. It is not an offer, it is not coming back under that name, and it is not mentioned here, on slide 23 or in Q&amp;A. Career Move Review is the current advisory architecture, and it stays off the participant-facing sequence until its route is verified operational.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IMMEDIATELY BEFORE DELIVERY, VERIFY THE CURRENT PUBLIC PRICE AND PURCHASE ROUTE. If both remain current, post the purchase link and current price in the live chat. The permanent replay slide remains price-free.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PREBUILT CHAT MESSAGE: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Continue privately with the Capability Formation Field Kit: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https://temidayoafonja.com/fieldkit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Visible branded route on the slide face: temidayoafonja.com/fieldkit. The CTA, the URL and the QR all resolve to that page, which is the stable evergreen destination, because a recorded replay outlives any storefront link. The live page remains the source of truth for current pricing.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 PRICE APPEARS ON THIS SLIDE FACE BY DESIGN. No discount, no attendee price, no coupon, no bundle, no crossed-out price, no urgency.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former paid group workshop is retired from active public sale and is NOT the current public next step. Do not mention it.</a:t>
            </a:r>
            <a:endParaRPr/>
          </a:p>
        </p:txBody>
      </p:sp>
      <p:sp>
        <p:nvSpPr>
          <p:cNvPr id="554" name="Google Shape;554;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8" name="Google Shape;588;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 — THIS IS THE LAST RECORDED SLIDE.  WORKBOOK PAGE 8 (rescore date line).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47:00-50:00. The close is delivered 47:00-48:00; 48:00-50:00 is FACILITATION BUFFER and this slide holds.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this close returns to the question the session opened with. Say it plainly and at the pace of ordinary speech. It is not a motivational ending, there is no call to believe in yourself, and it does not need lifting.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TO SAY, close to the slide: you came in with a stay-or-leave question, I have not made that decision for you and I should not, and what you have now is a clearer read of what this work is building, what may travel, where the evidence is thin and what deserves testing next. Then the rescore date.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you are on time, use the buffer to restate the rescore date instruction and let the room finish writing. If you are behind, the buffer is where you absorb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EVERGREEN-SAFE CLOSE. Do NOT say "tonight", "this cohort", "September 23", or "before enrollment closes". This has to work for someone watching the replay months from now.</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AT 50:00 — STOP THE RECORDING BEFORE ADVANCING. STOP IT; DO NOT PAUSE IT. Look at the screen and confirm it has actually stopped before the first question is taken. If the platform records the whole meeting automatically, keep the raw file private and trim the distributed replay to end 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PRE-SESSION: if the Maven/Zoom integration starts recording automatically when the host enters early, PAUSE during the pre-session holding period, then start or resume on slide 1 at 6:00 PM CT and STOP at 6:50 PM CT. Pausing belongs to the pre-session window only. The distributed recording must contain minutes 0-50 and nothing else.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Then say out loud that the recording has stopped, and only then advance.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RECORDING OFF.</a:t>
            </a:r>
            <a:endParaRPr/>
          </a:p>
        </p:txBody>
      </p:sp>
      <p:sp>
        <p:nvSpPr>
          <p:cNvPr id="589" name="Google Shape;589;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0" name="Google Shape;600;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OFF. CONFIRM ON SCREEN THAT IT HAS STOPPED BEFORE TAKING THE FIRST QUESTION.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50:00-60:00. TEN MINUTES. HARD STOP AT 60:00.</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confirm on screen that recording has stopped, say so aloud, then take the first question. Watch the clock and close at 60:00.</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block is never distributed. It is excluded from the evergreen replay under every distribution model, including a registration-gated one. Participant questions can contain employer names, personal circumstances and third-party names, which is exactly why it sits outside the recorded core.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Q&amp;A MAY clarify the method, the evidence protocol, boundary and incomplete readings, and move-category distinctions.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Q&amp;A MUST NOT become individual stay/leave coaching. Do not tell anyone to resign or stay. Do not predict layoffs. Do not give legal, medical, financial, immigration or mental-health advice. Do not ask for scores, states or employer names.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a question is really a request for a personal decision, name the boundary once and stop there.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ON DESTINATION-SPECIFIC PORTABILITY. If someone asks whether their experience will transfer to a named role, function, industry or employer, the honest answer is that this session did not read that destination. The four questions tell them what their evidence can already support and what is still open. Do not estimate their odds, and do not imply that better wording or better documentation decides what another organization will do.</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PRIVATE CAPABILITY POSITION READ IS RETIRED AND IS NOT OFFERED. Career Move Review is the current advisory architecture and is not being sold from this stage while its route is unverified. If someone asks for a human read against a specific move, say it is not open yet. You may point to the Field Kit if it genuinely fits the question, or to nothing at all. Neither is required.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Appendix material may be used here if a question calls for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Close at 60:00 and thank the room.</a:t>
            </a:r>
            <a:endParaRPr/>
          </a:p>
        </p:txBody>
      </p:sp>
      <p:sp>
        <p:nvSpPr>
          <p:cNvPr id="601" name="Google Shape;601;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9" name="Google Shape;61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 live-only. Not part of the recorded core.</a:t>
            </a:r>
            <a:br>
              <a:rPr lang="en-US"/>
            </a:br>
            <a:br>
              <a:rPr lang="en-US"/>
            </a:br>
            <a:r>
              <a:rPr lang="en-US"/>
              <a:t>Use during Q&amp;A if someone asks how to read organisational signals. These are questions to investigate, never predictions about a specific employer.</a:t>
            </a:r>
            <a:endParaRPr/>
          </a:p>
        </p:txBody>
      </p:sp>
      <p:sp>
        <p:nvSpPr>
          <p:cNvPr id="620" name="Google Shape;620;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7" name="Google Shape;63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 live-only. Moved out of the timed core deliberately.</a:t>
            </a:r>
            <a:br>
              <a:rPr lang="en-US"/>
            </a:br>
            <a:br>
              <a:rPr lang="en-US"/>
            </a:br>
            <a:r>
              <a:rPr lang="en-US"/>
              <a:t>If asked: one application, sixty seconds, no tool names, no job-loss predictions, no industry forecasts.</a:t>
            </a:r>
            <a:endParaRPr/>
          </a:p>
        </p:txBody>
      </p:sp>
      <p:sp>
        <p:nvSpPr>
          <p:cNvPr id="638" name="Google Shape;638;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5" name="Google Shape;65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APPENDIX — live-only. Useful when someone scores low on statement 8 and reads it as a verdict on ability.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STATE THE LIMIT WHENEVER YOU USE THIS SLIDE: translation does not guarantee acceptance. Another organization still has to decide that this evidence is comparable enough to trust in its context. Legibility removes one barrier; it does not remove genuine experience gaps, market constraints or employer preferences, and nothing here should be heard as a promise that better wording will.</a:t>
            </a:r>
            <a:endParaRPr/>
          </a:p>
        </p:txBody>
      </p:sp>
      <p:sp>
        <p:nvSpPr>
          <p:cNvPr id="656" name="Google Shape;656;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3" name="Google Shape;673;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 live-only. This is the sharpest version of misreading two and a useful answer in Q&amp;A.</a:t>
            </a:r>
            <a:br>
              <a:rPr lang="en-US"/>
            </a:br>
            <a:br>
              <a:rPr lang="en-US"/>
            </a:br>
            <a:r>
              <a:rPr lang="en-US"/>
              <a:t>Not a diagnosis of anyone's specific promotion.</a:t>
            </a:r>
            <a:endParaRPr/>
          </a:p>
        </p:txBody>
      </p:sp>
      <p:sp>
        <p:nvSpPr>
          <p:cNvPr id="674" name="Google Shape;674;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1" name="Google Shape;691;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OPTIONAL INSTITUTIONAL CLOSE — use INSTEAD of the continuation slides 23 and 24 when delivering for a university, alumni association, professional body or employee group.</a:t>
            </a:r>
            <a:br>
              <a:rPr lang="en-US"/>
            </a:br>
            <a:br>
              <a:rPr lang="en-US"/>
            </a:br>
            <a:r>
              <a:rPr lang="en-US"/>
              <a:t>No pricing. No Field Kit or private-read pitch. No product CTA of any kind.</a:t>
            </a:r>
            <a:br>
              <a:rPr lang="en-US"/>
            </a:br>
            <a:br>
              <a:rPr lang="en-US"/>
            </a:br>
            <a:r>
              <a:rPr lang="en-US"/>
              <a:t>This lets the same core deck serve institutional outreach without building a second presentation.</a:t>
            </a:r>
            <a:endParaRPr/>
          </a:p>
        </p:txBody>
      </p:sp>
      <p:sp>
        <p:nvSpPr>
          <p:cNvPr id="692" name="Google Shape;692;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3" name="Google Shape;703;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 OPTIONAL, AND OUT OF THE TIMED CORE.</a:t>
            </a:r>
            <a:br>
              <a:rPr lang="en-US"/>
            </a:br>
            <a:br>
              <a:rPr lang="en-US"/>
            </a:br>
            <a:r>
              <a:rPr lang="en-US"/>
              <a:t>This interaction belonged to the earlier long-form build. The 60-minute run of show has no room for it and it is NOT part of the fifty-minute core. Do not insert it.</a:t>
            </a:r>
            <a:br>
              <a:rPr lang="en-US"/>
            </a:br>
            <a:br>
              <a:rPr lang="en-US"/>
            </a:br>
            <a:r>
              <a:rPr lang="en-US"/>
              <a:t>Use it only if a delivery genuinely runs ahead — which should not happen — or in a longer non-Lightning-Lesson delivery of the same material.</a:t>
            </a:r>
            <a:br>
              <a:rPr lang="en-US"/>
            </a:br>
            <a:br>
              <a:rPr lang="en-US"/>
            </a:br>
            <a:r>
              <a:rPr lang="en-US"/>
              <a:t>If it is ever used: DO NOT read singleton counts aloud. DO NOT ask anyone to reveal their state. DO NOT say "most people change" — that is a research claim this session cannot support.</a:t>
            </a:r>
            <a:endParaRPr/>
          </a:p>
        </p:txBody>
      </p:sp>
      <p:sp>
        <p:nvSpPr>
          <p:cNvPr id="704" name="Google Shape;704;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3" name="Google Shape;72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PRE-SESSION HOLDING SLIDE. NOT RECORDED, EVER. It carries the only date in the deck and it is shown before the recording starts.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Up from 5:45 PM CT with the recording OFF. At 6:00 PM CT start the recording on slide 1.</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OPTIONAL ANONYMOUS ARRIVAL POLL, PRE-RECORDING ONLY. If the platform makes an anonymous poll easy, it may run while this slide is up. If it does not, skip it. It is optional and nothing depends on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one question is "What brought you here?" and the options are: my work feels static; I am considering an internal move; I am considering a career pivot; my role has changed around me; I want to know what would still count somewhere else.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NEVER ASK, HERE OR ANYWHERE: what state someone is in, their score, their employer, whether they plan to quit, or whether they expect layoffs. Nothing diagnostic, nothing score-revealing, nothing decision-revealing.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Close the poll before the recording starts. Do not read individual answers aloud, do not report a distribution into the recorded core, and do not refer back to it once recording begins.</a:t>
            </a:r>
            <a:endParaRPr/>
          </a:p>
        </p:txBody>
      </p:sp>
      <p:sp>
        <p:nvSpPr>
          <p:cNvPr id="724" name="Google Shape;724;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hyperlink" Target="https://temidayoafonja.com/fieldkit" TargetMode="External"/><Relationship Id="rId5" Type="http://schemas.openxmlformats.org/officeDocument/2006/relationships/image" Target="../media/image3.png"/><Relationship Id="rId6" Type="http://schemas.openxmlformats.org/officeDocument/2006/relationships/hyperlink" Target="https://temidayoafonja.com/fieldkit" TargetMode="External"/><Relationship Id="rId7" Type="http://schemas.openxmlformats.org/officeDocument/2006/relationships/hyperlink" Target="https://temidayoafonja.com/fieldkit" TargetMode="External"/><Relationship Id="rId8" Type="http://schemas.openxmlformats.org/officeDocument/2006/relationships/hyperlink" Target="https://temidayoafonja.com/fieldkit" TargetMode="External"/><Relationship Id="rId9" Type="http://schemas.openxmlformats.org/officeDocument/2006/relationships/hyperlink" Target="https://temidayoafonja.com/fieldkit"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15" name="Shape 15"/>
        <p:cNvGrpSpPr/>
        <p:nvPr/>
      </p:nvGrpSpPr>
      <p:grpSpPr>
        <a:xfrm>
          <a:off x="0" y="0"/>
          <a:ext cx="0" cy="0"/>
          <a:chOff x="0" y="0"/>
          <a:chExt cx="0" cy="0"/>
        </a:xfrm>
      </p:grpSpPr>
      <p:sp>
        <p:nvSpPr>
          <p:cNvPr id="16" name="Google Shape;16;p1"/>
          <p:cNvSpPr/>
          <p:nvPr/>
        </p:nvSpPr>
        <p:spPr>
          <a:xfrm>
            <a:off x="566928" y="457200"/>
            <a:ext cx="60350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Montserrat"/>
              <a:buNone/>
            </a:pPr>
            <a:r>
              <a:rPr b="1" i="0" lang="en-US" sz="900" u="none" cap="none" strike="noStrike">
                <a:solidFill>
                  <a:srgbClr val="C9A84C"/>
                </a:solidFill>
                <a:latin typeface="Montserrat"/>
                <a:ea typeface="Montserrat"/>
                <a:cs typeface="Montserrat"/>
                <a:sym typeface="Montserrat"/>
              </a:rPr>
              <a:t>A CAPABILITY FORMATION EXPERIENCE</a:t>
            </a:r>
            <a:endParaRPr b="0" i="0" sz="900" u="none" cap="none" strike="noStrike">
              <a:solidFill>
                <a:schemeClr val="dk1"/>
              </a:solidFill>
              <a:latin typeface="Calibri"/>
              <a:ea typeface="Calibri"/>
              <a:cs typeface="Calibri"/>
              <a:sym typeface="Calibri"/>
            </a:endParaRPr>
          </a:p>
        </p:txBody>
      </p:sp>
      <p:sp>
        <p:nvSpPr>
          <p:cNvPr id="17" name="Google Shape;17;p1"/>
          <p:cNvSpPr/>
          <p:nvPr/>
        </p:nvSpPr>
        <p:spPr>
          <a:xfrm>
            <a:off x="566928" y="1170432"/>
            <a:ext cx="5943600" cy="731520"/>
          </a:xfrm>
          <a:prstGeom prst="rect">
            <a:avLst/>
          </a:prstGeom>
          <a:noFill/>
          <a:ln>
            <a:noFill/>
          </a:ln>
        </p:spPr>
        <p:txBody>
          <a:bodyPr anchorCtr="0" anchor="ctr" bIns="0" lIns="0" spcFirstLastPara="1" rIns="0" wrap="square" tIns="0">
            <a:noAutofit/>
          </a:bodyPr>
          <a:lstStyle/>
          <a:p>
            <a:pPr indent="0" lvl="0" marL="0" marR="0" rtl="0" algn="l">
              <a:lnSpc>
                <a:spcPct val="105263"/>
              </a:lnSpc>
              <a:spcBef>
                <a:spcPts val="0"/>
              </a:spcBef>
              <a:spcAft>
                <a:spcPts val="0"/>
              </a:spcAft>
              <a:buClr>
                <a:srgbClr val="F5F0E8"/>
              </a:buClr>
              <a:buSzPts val="3800"/>
              <a:buFont typeface="Cormorant Garamond"/>
              <a:buNone/>
            </a:pPr>
            <a:r>
              <a:rPr b="1" i="0" lang="en-US" sz="3800" u="none" cap="none" strike="noStrike">
                <a:solidFill>
                  <a:srgbClr val="F5F0E8"/>
                </a:solidFill>
                <a:latin typeface="Cormorant Garamond"/>
                <a:ea typeface="Cormorant Garamond"/>
                <a:cs typeface="Cormorant Garamond"/>
                <a:sym typeface="Cormorant Garamond"/>
              </a:rPr>
              <a:t>Stay or Leave?</a:t>
            </a:r>
            <a:endParaRPr b="0" i="0" sz="3800" u="none" cap="none" strike="noStrike">
              <a:solidFill>
                <a:schemeClr val="dk1"/>
              </a:solidFill>
              <a:latin typeface="Calibri"/>
              <a:ea typeface="Calibri"/>
              <a:cs typeface="Calibri"/>
              <a:sym typeface="Calibri"/>
            </a:endParaRPr>
          </a:p>
        </p:txBody>
      </p:sp>
      <p:sp>
        <p:nvSpPr>
          <p:cNvPr id="18" name="Google Shape;18;p1"/>
          <p:cNvSpPr/>
          <p:nvPr/>
        </p:nvSpPr>
        <p:spPr>
          <a:xfrm>
            <a:off x="566928" y="2011680"/>
            <a:ext cx="5943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500"/>
              <a:buFont typeface="DM Sans"/>
              <a:buNone/>
            </a:pPr>
            <a:r>
              <a:rPr b="0" i="0" lang="en-US" sz="1500" u="none" cap="none" strike="noStrike">
                <a:solidFill>
                  <a:srgbClr val="F5F0E8"/>
                </a:solidFill>
                <a:latin typeface="DM Sans"/>
                <a:ea typeface="DM Sans"/>
                <a:cs typeface="DM Sans"/>
                <a:sym typeface="DM Sans"/>
              </a:rPr>
              <a:t>Live Career Growth Assessment</a:t>
            </a:r>
            <a:endParaRPr b="0" i="0" sz="1500" u="none" cap="none" strike="noStrike">
              <a:solidFill>
                <a:schemeClr val="dk1"/>
              </a:solidFill>
              <a:latin typeface="Calibri"/>
              <a:ea typeface="Calibri"/>
              <a:cs typeface="Calibri"/>
              <a:sym typeface="Calibri"/>
            </a:endParaRPr>
          </a:p>
        </p:txBody>
      </p:sp>
      <p:sp>
        <p:nvSpPr>
          <p:cNvPr id="19" name="Google Shape;19;p1"/>
          <p:cNvSpPr/>
          <p:nvPr/>
        </p:nvSpPr>
        <p:spPr>
          <a:xfrm>
            <a:off x="566928" y="2670048"/>
            <a:ext cx="2651760" cy="20117"/>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566928" y="2852928"/>
            <a:ext cx="5943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2000"/>
              <a:buFont typeface="Cormorant Garamond"/>
              <a:buNone/>
            </a:pPr>
            <a:r>
              <a:rPr b="1" lang="en-US" sz="2000">
                <a:solidFill>
                  <a:srgbClr val="F5F0E8"/>
                </a:solidFill>
                <a:latin typeface="Cormorant Garamond"/>
                <a:ea typeface="Cormorant Garamond"/>
                <a:cs typeface="Cormorant Garamond"/>
                <a:sym typeface="Cormorant Garamond"/>
              </a:rPr>
              <a:t>The Capability Position Read</a:t>
            </a:r>
            <a:endParaRPr sz="2000">
              <a:solidFill>
                <a:schemeClr val="dk1"/>
              </a:solidFill>
              <a:latin typeface="Calibri"/>
              <a:ea typeface="Calibri"/>
              <a:cs typeface="Calibri"/>
              <a:sym typeface="Calibri"/>
            </a:endParaRPr>
          </a:p>
        </p:txBody>
      </p:sp>
      <p:sp>
        <p:nvSpPr>
          <p:cNvPr id="21" name="Google Shape;21;p1"/>
          <p:cNvSpPr/>
          <p:nvPr/>
        </p:nvSpPr>
        <p:spPr>
          <a:xfrm>
            <a:off x="566928" y="3218688"/>
            <a:ext cx="5943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1250"/>
              <a:buFont typeface="DM Sans"/>
              <a:buNone/>
            </a:pPr>
            <a:r>
              <a:rPr i="1" lang="en-US" sz="1250">
                <a:solidFill>
                  <a:srgbClr val="C9A84C"/>
                </a:solidFill>
                <a:latin typeface="DM Sans"/>
                <a:ea typeface="DM Sans"/>
                <a:cs typeface="DM Sans"/>
                <a:sym typeface="DM Sans"/>
              </a:rPr>
              <a:t>Read the Position Before You Make the Move</a:t>
            </a:r>
            <a:endParaRPr sz="1250">
              <a:solidFill>
                <a:schemeClr val="dk1"/>
              </a:solidFill>
              <a:latin typeface="Calibri"/>
              <a:ea typeface="Calibri"/>
              <a:cs typeface="Calibri"/>
              <a:sym typeface="Calibri"/>
            </a:endParaRPr>
          </a:p>
        </p:txBody>
      </p:sp>
      <p:sp>
        <p:nvSpPr>
          <p:cNvPr id="22" name="Google Shape;22;p1"/>
          <p:cNvSpPr/>
          <p:nvPr/>
        </p:nvSpPr>
        <p:spPr>
          <a:xfrm>
            <a:off x="566928" y="3675888"/>
            <a:ext cx="5943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950"/>
              <a:buFont typeface="Montserrat"/>
              <a:buNone/>
            </a:pPr>
            <a:r>
              <a:rPr b="1" lang="en-US" sz="950">
                <a:solidFill>
                  <a:srgbClr val="B8C5D9"/>
                </a:solidFill>
                <a:latin typeface="Montserrat"/>
                <a:ea typeface="Montserrat"/>
                <a:cs typeface="Montserrat"/>
                <a:sym typeface="Montserrat"/>
              </a:rPr>
              <a:t>FREE GUIDED ASSESSMENT  ·  60 MINUTES</a:t>
            </a:r>
            <a:endParaRPr sz="950">
              <a:solidFill>
                <a:schemeClr val="dk1"/>
              </a:solidFill>
              <a:latin typeface="Calibri"/>
              <a:ea typeface="Calibri"/>
              <a:cs typeface="Calibri"/>
              <a:sym typeface="Calibri"/>
            </a:endParaRPr>
          </a:p>
        </p:txBody>
      </p:sp>
      <p:pic>
        <p:nvPicPr>
          <p:cNvPr descr="preencoded.png" id="23" name="Google Shape;23;p1"/>
          <p:cNvPicPr preferRelativeResize="0"/>
          <p:nvPr/>
        </p:nvPicPr>
        <p:blipFill rotWithShape="1">
          <a:blip r:embed="rId3">
            <a:alphaModFix/>
          </a:blip>
          <a:srcRect b="0" l="0" r="0" t="0"/>
          <a:stretch/>
        </p:blipFill>
        <p:spPr>
          <a:xfrm>
            <a:off x="6903720" y="1572768"/>
            <a:ext cx="1691640" cy="1691640"/>
          </a:xfrm>
          <a:prstGeom prst="rect">
            <a:avLst/>
          </a:prstGeom>
          <a:noFill/>
          <a:ln>
            <a:noFill/>
          </a:ln>
        </p:spPr>
      </p:pic>
      <p:sp>
        <p:nvSpPr>
          <p:cNvPr id="24" name="Google Shape;24;p1"/>
          <p:cNvSpPr/>
          <p:nvPr/>
        </p:nvSpPr>
        <p:spPr>
          <a:xfrm>
            <a:off x="6537960" y="3346704"/>
            <a:ext cx="242316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500"/>
              <a:buFont typeface="Cormorant Garamond"/>
              <a:buNone/>
            </a:pPr>
            <a:r>
              <a:rPr b="1" lang="en-US" sz="1500">
                <a:solidFill>
                  <a:srgbClr val="F5F0E8"/>
                </a:solidFill>
                <a:latin typeface="Cormorant Garamond"/>
                <a:ea typeface="Cormorant Garamond"/>
                <a:cs typeface="Cormorant Garamond"/>
                <a:sym typeface="Cormorant Garamond"/>
              </a:rPr>
              <a:t>Temidayo Afonja</a:t>
            </a:r>
            <a:endParaRPr sz="1500">
              <a:solidFill>
                <a:schemeClr val="dk1"/>
              </a:solidFill>
              <a:latin typeface="Calibri"/>
              <a:ea typeface="Calibri"/>
              <a:cs typeface="Calibri"/>
              <a:sym typeface="Calibri"/>
            </a:endParaRPr>
          </a:p>
        </p:txBody>
      </p:sp>
      <p:sp>
        <p:nvSpPr>
          <p:cNvPr id="25" name="Google Shape;25;p1"/>
          <p:cNvSpPr/>
          <p:nvPr/>
        </p:nvSpPr>
        <p:spPr>
          <a:xfrm>
            <a:off x="6446520" y="3602736"/>
            <a:ext cx="2606040"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C5D9"/>
              </a:buClr>
              <a:buSzPts val="860"/>
              <a:buFont typeface="DM Sans"/>
              <a:buNone/>
            </a:pPr>
            <a:r>
              <a:rPr lang="en-US" sz="860">
                <a:solidFill>
                  <a:srgbClr val="B8C5D9"/>
                </a:solidFill>
                <a:latin typeface="DM Sans"/>
                <a:ea typeface="DM Sans"/>
                <a:cs typeface="DM Sans"/>
                <a:sym typeface="DM Sans"/>
              </a:rPr>
              <a:t>Founder, The Density Group</a:t>
            </a:r>
            <a:endParaRPr sz="860">
              <a:solidFill>
                <a:schemeClr val="dk1"/>
              </a:solidFill>
              <a:latin typeface="Calibri"/>
              <a:ea typeface="Calibri"/>
              <a:cs typeface="Calibri"/>
              <a:sym typeface="Calibri"/>
            </a:endParaRPr>
          </a:p>
          <a:p>
            <a:pPr indent="0" lvl="0" marL="0" marR="0" rtl="0" algn="ctr">
              <a:spcBef>
                <a:spcPts val="0"/>
              </a:spcBef>
              <a:spcAft>
                <a:spcPts val="0"/>
              </a:spcAft>
              <a:buClr>
                <a:srgbClr val="B8C5D9"/>
              </a:buClr>
              <a:buSzPts val="860"/>
              <a:buFont typeface="DM Sans"/>
              <a:buNone/>
            </a:pPr>
            <a:r>
              <a:rPr lang="en-US" sz="860">
                <a:solidFill>
                  <a:srgbClr val="B8C5D9"/>
                </a:solidFill>
                <a:latin typeface="DM Sans"/>
                <a:ea typeface="DM Sans"/>
                <a:cs typeface="DM Sans"/>
                <a:sym typeface="DM Sans"/>
              </a:rPr>
              <a:t>Author, The Capability Audit</a:t>
            </a:r>
            <a:endParaRPr sz="860">
              <a:solidFill>
                <a:schemeClr val="dk1"/>
              </a:solidFill>
              <a:latin typeface="Calibri"/>
              <a:ea typeface="Calibri"/>
              <a:cs typeface="Calibri"/>
              <a:sym typeface="Calibri"/>
            </a:endParaRPr>
          </a:p>
        </p:txBody>
      </p:sp>
      <p:sp>
        <p:nvSpPr>
          <p:cNvPr id="26" name="Google Shape;26;p1"/>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27" name="Google Shape;27;p1"/>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a:t>
            </a:r>
            <a:endParaRPr sz="7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2" name="Shape 32"/>
        <p:cNvGrpSpPr/>
        <p:nvPr/>
      </p:nvGrpSpPr>
      <p:grpSpPr>
        <a:xfrm>
          <a:off x="0" y="0"/>
          <a:ext cx="0" cy="0"/>
          <a:chOff x="0" y="0"/>
          <a:chExt cx="0" cy="0"/>
        </a:xfrm>
      </p:grpSpPr>
      <p:sp>
        <p:nvSpPr>
          <p:cNvPr id="33" name="Google Shape;33;p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THE REFRAME</a:t>
            </a:r>
            <a:endParaRPr sz="950">
              <a:solidFill>
                <a:schemeClr val="dk1"/>
              </a:solidFill>
              <a:latin typeface="Calibri"/>
              <a:ea typeface="Calibri"/>
              <a:cs typeface="Calibri"/>
              <a:sym typeface="Calibri"/>
            </a:endParaRPr>
          </a:p>
        </p:txBody>
      </p:sp>
      <p:sp>
        <p:nvSpPr>
          <p:cNvPr id="34" name="Google Shape;34;p2"/>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lang="en-US" sz="2800">
                <a:solidFill>
                  <a:srgbClr val="0F2347"/>
                </a:solidFill>
                <a:latin typeface="Cormorant Garamond"/>
                <a:ea typeface="Cormorant Garamond"/>
                <a:cs typeface="Cormorant Garamond"/>
                <a:sym typeface="Cormorant Garamond"/>
              </a:rPr>
              <a:t>The question underneath the question</a:t>
            </a:r>
            <a:endParaRPr sz="2800">
              <a:solidFill>
                <a:schemeClr val="dk1"/>
              </a:solidFill>
              <a:latin typeface="Calibri"/>
              <a:ea typeface="Calibri"/>
              <a:cs typeface="Calibri"/>
              <a:sym typeface="Calibri"/>
            </a:endParaRPr>
          </a:p>
        </p:txBody>
      </p:sp>
      <p:sp>
        <p:nvSpPr>
          <p:cNvPr id="35" name="Google Shape;35;p2"/>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A fair question, and a reading that sits upstream of it.</a:t>
            </a:r>
            <a:endParaRPr sz="1150">
              <a:solidFill>
                <a:schemeClr val="dk1"/>
              </a:solidFill>
              <a:latin typeface="Calibri"/>
              <a:ea typeface="Calibri"/>
              <a:cs typeface="Calibri"/>
              <a:sym typeface="Calibri"/>
            </a:endParaRPr>
          </a:p>
        </p:txBody>
      </p:sp>
      <p:sp>
        <p:nvSpPr>
          <p:cNvPr id="36" name="Google Shape;36;p2"/>
          <p:cNvSpPr/>
          <p:nvPr/>
        </p:nvSpPr>
        <p:spPr>
          <a:xfrm>
            <a:off x="566928" y="1847088"/>
            <a:ext cx="3886200" cy="148132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 name="Google Shape;37;p2"/>
          <p:cNvSpPr/>
          <p:nvPr/>
        </p:nvSpPr>
        <p:spPr>
          <a:xfrm>
            <a:off x="786384" y="1993392"/>
            <a:ext cx="34747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820"/>
              <a:buFont typeface="Montserrat"/>
              <a:buNone/>
            </a:pPr>
            <a:r>
              <a:rPr b="1" lang="en-US" sz="820">
                <a:solidFill>
                  <a:srgbClr val="5A6B84"/>
                </a:solidFill>
                <a:latin typeface="Montserrat"/>
                <a:ea typeface="Montserrat"/>
                <a:cs typeface="Montserrat"/>
                <a:sym typeface="Montserrat"/>
              </a:rPr>
              <a:t>WHAT YOU CAME IN ASKING</a:t>
            </a:r>
            <a:endParaRPr sz="820">
              <a:solidFill>
                <a:schemeClr val="dk1"/>
              </a:solidFill>
              <a:latin typeface="Calibri"/>
              <a:ea typeface="Calibri"/>
              <a:cs typeface="Calibri"/>
              <a:sym typeface="Calibri"/>
            </a:endParaRPr>
          </a:p>
        </p:txBody>
      </p:sp>
      <p:sp>
        <p:nvSpPr>
          <p:cNvPr id="38" name="Google Shape;38;p2"/>
          <p:cNvSpPr/>
          <p:nvPr/>
        </p:nvSpPr>
        <p:spPr>
          <a:xfrm>
            <a:off x="786384" y="2304288"/>
            <a:ext cx="3474720" cy="82296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F2347"/>
              </a:buClr>
              <a:buSzPts val="1800"/>
              <a:buFont typeface="Cormorant Garamond"/>
              <a:buNone/>
            </a:pPr>
            <a:r>
              <a:rPr b="1" lang="en-US" sz="1800">
                <a:solidFill>
                  <a:srgbClr val="0F2347"/>
                </a:solidFill>
                <a:latin typeface="Cormorant Garamond"/>
                <a:ea typeface="Cormorant Garamond"/>
                <a:cs typeface="Cormorant Garamond"/>
                <a:sym typeface="Cormorant Garamond"/>
              </a:rPr>
              <a:t>“Should I stay in this role,</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0F2347"/>
              </a:buClr>
              <a:buSzPts val="1800"/>
              <a:buFont typeface="Cormorant Garamond"/>
              <a:buNone/>
            </a:pPr>
            <a:r>
              <a:rPr b="1" lang="en-US" sz="1800">
                <a:solidFill>
                  <a:srgbClr val="0F2347"/>
                </a:solidFill>
                <a:latin typeface="Cormorant Garamond"/>
                <a:ea typeface="Cormorant Garamond"/>
                <a:cs typeface="Cormorant Garamond"/>
                <a:sym typeface="Cormorant Garamond"/>
              </a:rPr>
              <a:t>or should I go?”</a:t>
            </a:r>
            <a:endParaRPr sz="1800">
              <a:solidFill>
                <a:schemeClr val="dk1"/>
              </a:solidFill>
              <a:latin typeface="Calibri"/>
              <a:ea typeface="Calibri"/>
              <a:cs typeface="Calibri"/>
              <a:sym typeface="Calibri"/>
            </a:endParaRPr>
          </a:p>
        </p:txBody>
      </p:sp>
      <p:sp>
        <p:nvSpPr>
          <p:cNvPr id="39" name="Google Shape;39;p2"/>
          <p:cNvSpPr/>
          <p:nvPr/>
        </p:nvSpPr>
        <p:spPr>
          <a:xfrm>
            <a:off x="4690872" y="1847088"/>
            <a:ext cx="3886200" cy="148132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 name="Google Shape;40;p2"/>
          <p:cNvSpPr/>
          <p:nvPr/>
        </p:nvSpPr>
        <p:spPr>
          <a:xfrm>
            <a:off x="4910328" y="1993392"/>
            <a:ext cx="34747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820"/>
              <a:buFont typeface="Montserrat"/>
              <a:buNone/>
            </a:pPr>
            <a:r>
              <a:rPr b="1" lang="en-US" sz="820">
                <a:solidFill>
                  <a:srgbClr val="C9A84C"/>
                </a:solidFill>
                <a:latin typeface="Montserrat"/>
                <a:ea typeface="Montserrat"/>
                <a:cs typeface="Montserrat"/>
                <a:sym typeface="Montserrat"/>
              </a:rPr>
              <a:t>WHAT YOU NEED TO READ FIRST</a:t>
            </a:r>
            <a:endParaRPr sz="820">
              <a:solidFill>
                <a:schemeClr val="dk1"/>
              </a:solidFill>
              <a:latin typeface="Calibri"/>
              <a:ea typeface="Calibri"/>
              <a:cs typeface="Calibri"/>
              <a:sym typeface="Calibri"/>
            </a:endParaRPr>
          </a:p>
        </p:txBody>
      </p:sp>
      <p:sp>
        <p:nvSpPr>
          <p:cNvPr id="41" name="Google Shape;41;p2"/>
          <p:cNvSpPr/>
          <p:nvPr/>
        </p:nvSpPr>
        <p:spPr>
          <a:xfrm>
            <a:off x="4910328" y="2286000"/>
            <a:ext cx="3474720" cy="9144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F5F0E8"/>
              </a:buClr>
              <a:buSzPts val="1500"/>
              <a:buFont typeface="Cormorant Garamond"/>
              <a:buNone/>
            </a:pPr>
            <a:r>
              <a:rPr b="1" lang="en-US" sz="1500">
                <a:solidFill>
                  <a:srgbClr val="F5F0E8"/>
                </a:solidFill>
                <a:latin typeface="Cormorant Garamond"/>
                <a:ea typeface="Cormorant Garamond"/>
                <a:cs typeface="Cormorant Garamond"/>
                <a:sym typeface="Cormorant Garamond"/>
              </a:rPr>
              <a:t>“Is this work still building me, and what would still travel if the context changed?”</a:t>
            </a:r>
            <a:endParaRPr sz="1500">
              <a:solidFill>
                <a:schemeClr val="dk1"/>
              </a:solidFill>
              <a:latin typeface="Calibri"/>
              <a:ea typeface="Calibri"/>
              <a:cs typeface="Calibri"/>
              <a:sym typeface="Calibri"/>
            </a:endParaRPr>
          </a:p>
        </p:txBody>
      </p:sp>
      <p:sp>
        <p:nvSpPr>
          <p:cNvPr id="42" name="Google Shape;42;p2"/>
          <p:cNvSpPr/>
          <p:nvPr/>
        </p:nvSpPr>
        <p:spPr>
          <a:xfrm>
            <a:off x="566928" y="3584448"/>
            <a:ext cx="801014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The first question is yours alone. The second sits upstream of it, and this session can read it more rigorously.</a:t>
            </a:r>
            <a:endParaRPr sz="1250">
              <a:solidFill>
                <a:schemeClr val="dk1"/>
              </a:solidFill>
              <a:latin typeface="Calibri"/>
              <a:ea typeface="Calibri"/>
              <a:cs typeface="Calibri"/>
              <a:sym typeface="Calibri"/>
            </a:endParaRPr>
          </a:p>
        </p:txBody>
      </p:sp>
      <p:sp>
        <p:nvSpPr>
          <p:cNvPr id="43" name="Google Shape;43;p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44" name="Google Shape;44;p2"/>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a:t>
            </a:r>
            <a:endParaRPr sz="7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9" name="Shape 49"/>
        <p:cNvGrpSpPr/>
        <p:nvPr/>
      </p:nvGrpSpPr>
      <p:grpSpPr>
        <a:xfrm>
          <a:off x="0" y="0"/>
          <a:ext cx="0" cy="0"/>
          <a:chOff x="0" y="0"/>
          <a:chExt cx="0" cy="0"/>
        </a:xfrm>
      </p:grpSpPr>
      <p:sp>
        <p:nvSpPr>
          <p:cNvPr id="50" name="Google Shape;50;p3"/>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BOUNDARY</a:t>
            </a:r>
            <a:endParaRPr sz="950">
              <a:solidFill>
                <a:schemeClr val="dk1"/>
              </a:solidFill>
              <a:latin typeface="Calibri"/>
              <a:ea typeface="Calibri"/>
              <a:cs typeface="Calibri"/>
              <a:sym typeface="Calibri"/>
            </a:endParaRPr>
          </a:p>
        </p:txBody>
      </p:sp>
      <p:sp>
        <p:nvSpPr>
          <p:cNvPr id="51" name="Google Shape;51;p3"/>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700"/>
              <a:buFont typeface="Cormorant Garamond"/>
              <a:buNone/>
            </a:pPr>
            <a:r>
              <a:rPr b="1" lang="en-US" sz="2700">
                <a:solidFill>
                  <a:srgbClr val="0F2347"/>
                </a:solidFill>
                <a:latin typeface="Cormorant Garamond"/>
                <a:ea typeface="Cormorant Garamond"/>
                <a:cs typeface="Cormorant Garamond"/>
                <a:sym typeface="Cormorant Garamond"/>
              </a:rPr>
              <a:t>What this read will and will not do</a:t>
            </a:r>
            <a:endParaRPr sz="2700">
              <a:solidFill>
                <a:schemeClr val="dk1"/>
              </a:solidFill>
              <a:latin typeface="Calibri"/>
              <a:ea typeface="Calibri"/>
              <a:cs typeface="Calibri"/>
              <a:sym typeface="Calibri"/>
            </a:endParaRPr>
          </a:p>
        </p:txBody>
      </p:sp>
      <p:sp>
        <p:nvSpPr>
          <p:cNvPr id="52" name="Google Shape;52;p3"/>
          <p:cNvSpPr/>
          <p:nvPr/>
        </p:nvSpPr>
        <p:spPr>
          <a:xfrm>
            <a:off x="566928" y="1371600"/>
            <a:ext cx="8010144" cy="47548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 name="Google Shape;53;p3"/>
          <p:cNvSpPr/>
          <p:nvPr/>
        </p:nvSpPr>
        <p:spPr>
          <a:xfrm>
            <a:off x="804672" y="1371600"/>
            <a:ext cx="7534656"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700"/>
              <a:buFont typeface="Cormorant Garamond"/>
              <a:buNone/>
            </a:pPr>
            <a:r>
              <a:rPr b="1" lang="en-US" sz="1700">
                <a:solidFill>
                  <a:srgbClr val="F5F0E8"/>
                </a:solidFill>
                <a:latin typeface="Cormorant Garamond"/>
                <a:ea typeface="Cormorant Garamond"/>
                <a:cs typeface="Cormorant Garamond"/>
                <a:sym typeface="Cormorant Garamond"/>
              </a:rPr>
              <a:t>This read will not tell you to stay or leave.</a:t>
            </a:r>
            <a:endParaRPr sz="1700">
              <a:solidFill>
                <a:schemeClr val="dk1"/>
              </a:solidFill>
              <a:latin typeface="Calibri"/>
              <a:ea typeface="Calibri"/>
              <a:cs typeface="Calibri"/>
              <a:sym typeface="Calibri"/>
            </a:endParaRPr>
          </a:p>
        </p:txBody>
      </p:sp>
      <p:sp>
        <p:nvSpPr>
          <p:cNvPr id="54" name="Google Shape;54;p3"/>
          <p:cNvSpPr/>
          <p:nvPr/>
        </p:nvSpPr>
        <p:spPr>
          <a:xfrm>
            <a:off x="566928" y="2011680"/>
            <a:ext cx="1600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39"/>
              <a:buFont typeface="Montserrat"/>
              <a:buNone/>
            </a:pPr>
            <a:r>
              <a:rPr b="1" lang="en-US" sz="840">
                <a:solidFill>
                  <a:srgbClr val="0F2347"/>
                </a:solidFill>
                <a:latin typeface="Montserrat"/>
                <a:ea typeface="Montserrat"/>
                <a:cs typeface="Montserrat"/>
                <a:sym typeface="Montserrat"/>
              </a:rPr>
              <a:t>IT WILL</a:t>
            </a:r>
            <a:endParaRPr sz="840">
              <a:solidFill>
                <a:schemeClr val="dk1"/>
              </a:solidFill>
              <a:latin typeface="Calibri"/>
              <a:ea typeface="Calibri"/>
              <a:cs typeface="Calibri"/>
              <a:sym typeface="Calibri"/>
            </a:endParaRPr>
          </a:p>
        </p:txBody>
      </p:sp>
      <p:sp>
        <p:nvSpPr>
          <p:cNvPr id="55" name="Google Shape;55;p3"/>
          <p:cNvSpPr/>
          <p:nvPr/>
        </p:nvSpPr>
        <p:spPr>
          <a:xfrm>
            <a:off x="2304288" y="1975104"/>
            <a:ext cx="6272784" cy="512064"/>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lang="en-US" sz="1140" b="0">
                <a:solidFill>
                  <a:srgbClr val="0F2347"/>
                </a:solidFill>
                <a:latin typeface="DM Sans"/>
                <a:ea typeface="DM Sans"/>
                <a:cs typeface="DM Sans"/>
                <a:sym typeface="DM Sans"/>
              </a:rPr>
              <a:t>Give you a defensible reading of your current position, and at minute 38, </a:t>
            </a:r>
            <a:r>
              <a:rPr lang="en-US" sz="1140" b="1">
                <a:solidFill>
                  <a:srgbClr val="0F2347"/>
                </a:solidFill>
                <a:latin typeface="DM Sans"/>
                <a:ea typeface="DM Sans"/>
                <a:cs typeface="DM Sans"/>
                <a:sym typeface="DM Sans"/>
              </a:rPr>
              <a:t>all seven categories of move</a:t>
            </a:r>
            <a:r>
              <a:rPr lang="en-US" sz="1140" b="0">
                <a:solidFill>
                  <a:srgbClr val="0F2347"/>
                </a:solidFill>
                <a:latin typeface="DM Sans"/>
                <a:ea typeface="DM Sans"/>
                <a:cs typeface="DM Sans"/>
                <a:sym typeface="DM Sans"/>
              </a:rPr>
              <a:t>, then the one your evidence supports testing.</a:t>
            </a:r>
            <a:endParaRPr sz="1140">
              <a:solidFill>
                <a:schemeClr val="dk1"/>
              </a:solidFill>
              <a:latin typeface="Calibri"/>
              <a:ea typeface="Calibri"/>
              <a:cs typeface="Calibri"/>
              <a:sym typeface="Calibri"/>
            </a:endParaRPr>
          </a:p>
        </p:txBody>
      </p:sp>
      <p:sp>
        <p:nvSpPr>
          <p:cNvPr id="56" name="Google Shape;56;p3"/>
          <p:cNvSpPr/>
          <p:nvPr/>
        </p:nvSpPr>
        <p:spPr>
          <a:xfrm>
            <a:off x="566928" y="2615184"/>
            <a:ext cx="1600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39"/>
              <a:buFont typeface="Montserrat"/>
              <a:buNone/>
            </a:pPr>
            <a:r>
              <a:rPr b="1" lang="en-US" sz="840">
                <a:solidFill>
                  <a:srgbClr val="0F2347"/>
                </a:solidFill>
                <a:latin typeface="Montserrat"/>
                <a:ea typeface="Montserrat"/>
                <a:cs typeface="Montserrat"/>
                <a:sym typeface="Montserrat"/>
              </a:rPr>
              <a:t>IT WILL NOT</a:t>
            </a:r>
            <a:endParaRPr sz="840">
              <a:solidFill>
                <a:schemeClr val="dk1"/>
              </a:solidFill>
              <a:latin typeface="Calibri"/>
              <a:ea typeface="Calibri"/>
              <a:cs typeface="Calibri"/>
              <a:sym typeface="Calibri"/>
            </a:endParaRPr>
          </a:p>
        </p:txBody>
      </p:sp>
      <p:sp>
        <p:nvSpPr>
          <p:cNvPr id="57" name="Google Shape;57;p3"/>
          <p:cNvSpPr/>
          <p:nvPr/>
        </p:nvSpPr>
        <p:spPr>
          <a:xfrm>
            <a:off x="2304288" y="2578608"/>
            <a:ext cx="6272784" cy="512064"/>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lang="en-US" sz="1140">
                <a:solidFill>
                  <a:srgbClr val="0F2347"/>
                </a:solidFill>
                <a:latin typeface="DM Sans"/>
                <a:ea typeface="DM Sans"/>
                <a:cs typeface="DM Sans"/>
                <a:sym typeface="DM Sans"/>
              </a:rPr>
              <a:t>Predict layoffs, diagnose your employer, or make an employment decision for you.</a:t>
            </a:r>
            <a:endParaRPr sz="1140">
              <a:solidFill>
                <a:schemeClr val="dk1"/>
              </a:solidFill>
              <a:latin typeface="Calibri"/>
              <a:ea typeface="Calibri"/>
              <a:cs typeface="Calibri"/>
              <a:sym typeface="Calibri"/>
            </a:endParaRPr>
          </a:p>
        </p:txBody>
      </p:sp>
      <p:sp>
        <p:nvSpPr>
          <p:cNvPr id="58" name="Google Shape;58;p3"/>
          <p:cNvSpPr/>
          <p:nvPr/>
        </p:nvSpPr>
        <p:spPr>
          <a:xfrm>
            <a:off x="566928" y="3218688"/>
            <a:ext cx="1600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39"/>
              <a:buFont typeface="Montserrat"/>
              <a:buNone/>
            </a:pPr>
            <a:r>
              <a:rPr b="1" lang="en-US" sz="840">
                <a:solidFill>
                  <a:srgbClr val="0F2347"/>
                </a:solidFill>
                <a:latin typeface="Montserrat"/>
                <a:ea typeface="Montserrat"/>
                <a:cs typeface="Montserrat"/>
                <a:sym typeface="Montserrat"/>
              </a:rPr>
              <a:t>YOUR SCORES</a:t>
            </a:r>
            <a:endParaRPr sz="840">
              <a:solidFill>
                <a:schemeClr val="dk1"/>
              </a:solidFill>
              <a:latin typeface="Calibri"/>
              <a:ea typeface="Calibri"/>
              <a:cs typeface="Calibri"/>
              <a:sym typeface="Calibri"/>
            </a:endParaRPr>
          </a:p>
        </p:txBody>
      </p:sp>
      <p:sp>
        <p:nvSpPr>
          <p:cNvPr id="59" name="Google Shape;59;p3"/>
          <p:cNvSpPr/>
          <p:nvPr/>
        </p:nvSpPr>
        <p:spPr>
          <a:xfrm>
            <a:off x="2304288" y="3182112"/>
            <a:ext cx="6272784" cy="512064"/>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lang="en-US" sz="1140">
                <a:solidFill>
                  <a:srgbClr val="0F2347"/>
                </a:solidFill>
                <a:latin typeface="DM Sans"/>
                <a:ea typeface="DM Sans"/>
                <a:cs typeface="DM Sans"/>
                <a:sym typeface="DM Sans"/>
              </a:rPr>
              <a:t>Stay private. Nothing is submitted, collected or shared at any point.</a:t>
            </a:r>
            <a:endParaRPr sz="1140">
              <a:solidFill>
                <a:schemeClr val="dk1"/>
              </a:solidFill>
              <a:latin typeface="Calibri"/>
              <a:ea typeface="Calibri"/>
              <a:cs typeface="Calibri"/>
              <a:sym typeface="Calibri"/>
            </a:endParaRPr>
          </a:p>
        </p:txBody>
      </p:sp>
      <p:sp>
        <p:nvSpPr>
          <p:cNvPr id="60" name="Google Shape;60;p3"/>
          <p:cNvSpPr/>
          <p:nvPr/>
        </p:nvSpPr>
        <p:spPr>
          <a:xfrm>
            <a:off x="566928" y="3822192"/>
            <a:ext cx="1600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39"/>
              <a:buFont typeface="Montserrat"/>
              <a:buNone/>
            </a:pPr>
            <a:r>
              <a:rPr b="1" lang="en-US" sz="840">
                <a:solidFill>
                  <a:srgbClr val="0F2347"/>
                </a:solidFill>
                <a:latin typeface="Montserrat"/>
                <a:ea typeface="Montserrat"/>
                <a:cs typeface="Montserrat"/>
                <a:sym typeface="Montserrat"/>
              </a:rPr>
              <a:t>THE RECORDING</a:t>
            </a:r>
            <a:endParaRPr sz="840">
              <a:solidFill>
                <a:schemeClr val="dk1"/>
              </a:solidFill>
              <a:latin typeface="Calibri"/>
              <a:ea typeface="Calibri"/>
              <a:cs typeface="Calibri"/>
              <a:sym typeface="Calibri"/>
            </a:endParaRPr>
          </a:p>
        </p:txBody>
      </p:sp>
      <p:sp>
        <p:nvSpPr>
          <p:cNvPr id="61" name="Google Shape;61;p3"/>
          <p:cNvSpPr/>
          <p:nvPr/>
        </p:nvSpPr>
        <p:spPr>
          <a:xfrm>
            <a:off x="2304288" y="3785616"/>
            <a:ext cx="6272784" cy="512064"/>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lang="en-US" sz="1140">
                <a:solidFill>
                  <a:srgbClr val="0F2347"/>
                </a:solidFill>
                <a:latin typeface="DM Sans"/>
                <a:ea typeface="DM Sans"/>
                <a:cs typeface="DM Sans"/>
                <a:sym typeface="DM Sans"/>
              </a:rPr>
              <a:t>The teaching runs to minute 50 and is recorded. The last ten minutes are live questions and are not recorded.</a:t>
            </a:r>
            <a:endParaRPr sz="1140">
              <a:solidFill>
                <a:schemeClr val="dk1"/>
              </a:solidFill>
              <a:latin typeface="Calibri"/>
              <a:ea typeface="Calibri"/>
              <a:cs typeface="Calibri"/>
              <a:sym typeface="Calibri"/>
            </a:endParaRPr>
          </a:p>
        </p:txBody>
      </p:sp>
      <p:sp>
        <p:nvSpPr>
          <p:cNvPr id="62" name="Google Shape;62;p3"/>
          <p:cNvSpPr/>
          <p:nvPr/>
        </p:nvSpPr>
        <p:spPr>
          <a:xfrm>
            <a:off x="566928" y="4498848"/>
            <a:ext cx="801014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39"/>
              <a:buFont typeface="DM Sans"/>
              <a:buNone/>
            </a:pPr>
            <a:r>
              <a:rPr i="1" lang="en-US" sz="940">
                <a:solidFill>
                  <a:srgbClr val="5A6B84"/>
                </a:solidFill>
                <a:latin typeface="DM Sans"/>
                <a:ea typeface="DM Sans"/>
                <a:cs typeface="DM Sans"/>
                <a:sym typeface="DM Sans"/>
              </a:rPr>
              <a:t>This is not legal, medical, financial, immigration or mental-health advice.</a:t>
            </a:r>
            <a:endParaRPr sz="940">
              <a:solidFill>
                <a:schemeClr val="dk1"/>
              </a:solidFill>
              <a:latin typeface="Calibri"/>
              <a:ea typeface="Calibri"/>
              <a:cs typeface="Calibri"/>
              <a:sym typeface="Calibri"/>
            </a:endParaRPr>
          </a:p>
        </p:txBody>
      </p:sp>
      <p:sp>
        <p:nvSpPr>
          <p:cNvPr id="63" name="Google Shape;63;p3"/>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64" name="Google Shape;64;p3"/>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3</a:t>
            </a:r>
            <a:endParaRPr sz="7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9" name="Shape 69"/>
        <p:cNvGrpSpPr/>
        <p:nvPr/>
      </p:nvGrpSpPr>
      <p:grpSpPr>
        <a:xfrm>
          <a:off x="0" y="0"/>
          <a:ext cx="0" cy="0"/>
          <a:chOff x="0" y="0"/>
          <a:chExt cx="0" cy="0"/>
        </a:xfrm>
      </p:grpSpPr>
      <p:sp>
        <p:nvSpPr>
          <p:cNvPr id="70" name="Google Shape;70;p4"/>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DEFINITION ONE </a:t>
            </a:r>
            <a:endParaRPr sz="950">
              <a:solidFill>
                <a:schemeClr val="dk1"/>
              </a:solidFill>
              <a:latin typeface="Calibri"/>
              <a:ea typeface="Calibri"/>
              <a:cs typeface="Calibri"/>
              <a:sym typeface="Calibri"/>
            </a:endParaRPr>
          </a:p>
        </p:txBody>
      </p:sp>
      <p:sp>
        <p:nvSpPr>
          <p:cNvPr id="71" name="Google Shape;71;p4"/>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400"/>
              <a:buFont typeface="Cormorant Garamond"/>
              <a:buNone/>
            </a:pPr>
            <a:r>
              <a:rPr b="1" lang="en-US" sz="3400">
                <a:solidFill>
                  <a:srgbClr val="0F2347"/>
                </a:solidFill>
                <a:latin typeface="Cormorant Garamond"/>
                <a:ea typeface="Cormorant Garamond"/>
                <a:cs typeface="Cormorant Garamond"/>
                <a:sym typeface="Cormorant Garamond"/>
              </a:rPr>
              <a:t>Is the work still building you?</a:t>
            </a:r>
            <a:endParaRPr sz="3400">
              <a:solidFill>
                <a:schemeClr val="dk1"/>
              </a:solidFill>
              <a:latin typeface="Calibri"/>
              <a:ea typeface="Calibri"/>
              <a:cs typeface="Calibri"/>
              <a:sym typeface="Calibri"/>
            </a:endParaRPr>
          </a:p>
        </p:txBody>
      </p:sp>
      <p:sp>
        <p:nvSpPr>
          <p:cNvPr id="72" name="Google Shape;72;p4"/>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This reading calls that Density.</a:t>
            </a:r>
            <a:endParaRPr sz="1150">
              <a:solidFill>
                <a:schemeClr val="dk1"/>
              </a:solidFill>
              <a:latin typeface="Calibri"/>
              <a:ea typeface="Calibri"/>
              <a:cs typeface="Calibri"/>
              <a:sym typeface="Calibri"/>
            </a:endParaRPr>
          </a:p>
        </p:txBody>
      </p:sp>
      <p:sp>
        <p:nvSpPr>
          <p:cNvPr id="73" name="Google Shape;73;p4"/>
          <p:cNvSpPr/>
          <p:nvPr/>
        </p:nvSpPr>
        <p:spPr>
          <a:xfrm>
            <a:off x="566928" y="1828800"/>
            <a:ext cx="8010144" cy="640080"/>
          </a:xfrm>
          <a:prstGeom prst="rect">
            <a:avLst/>
          </a:prstGeom>
          <a:noFill/>
          <a:ln>
            <a:noFill/>
          </a:ln>
        </p:spPr>
        <p:txBody>
          <a:bodyPr anchorCtr="0" anchor="ctr" bIns="0" lIns="0" spcFirstLastPara="1" rIns="0" wrap="square" tIns="0">
            <a:noAutofit/>
          </a:bodyPr>
          <a:lstStyle/>
          <a:p>
            <a:pPr indent="0" lvl="0" marL="0" marR="0" rtl="0" algn="l">
              <a:lnSpc>
                <a:spcPct val="142857"/>
              </a:lnSpc>
              <a:spcBef>
                <a:spcPts val="0"/>
              </a:spcBef>
              <a:spcAft>
                <a:spcPts val="0"/>
              </a:spcAft>
              <a:buClr>
                <a:srgbClr val="0F2347"/>
              </a:buClr>
              <a:buSzPts val="1400"/>
              <a:buFont typeface="DM Sans"/>
              <a:buNone/>
            </a:pPr>
            <a:r>
              <a:rPr lang="en-US" sz="1400">
                <a:solidFill>
                  <a:srgbClr val="0F2347"/>
                </a:solidFill>
                <a:latin typeface="DM Sans"/>
                <a:ea typeface="DM Sans"/>
                <a:cs typeface="DM Sans"/>
                <a:sym typeface="DM Sans"/>
              </a:rPr>
              <a:t>Density reads whether this environment is still forming you. It reads your conditions, not your effort. A role can be demanding, important and exhausting and still stop building you.</a:t>
            </a:r>
            <a:endParaRPr sz="1400">
              <a:solidFill>
                <a:schemeClr val="dk1"/>
              </a:solidFill>
              <a:latin typeface="Calibri"/>
              <a:ea typeface="Calibri"/>
              <a:cs typeface="Calibri"/>
              <a:sym typeface="Calibri"/>
            </a:endParaRPr>
          </a:p>
        </p:txBody>
      </p:sp>
      <p:sp>
        <p:nvSpPr>
          <p:cNvPr id="74" name="Google Shape;74;p4"/>
          <p:cNvSpPr/>
          <p:nvPr/>
        </p:nvSpPr>
        <p:spPr>
          <a:xfrm>
            <a:off x="566928" y="2688336"/>
            <a:ext cx="8010144" cy="65836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 name="Google Shape;75;p4"/>
          <p:cNvSpPr/>
          <p:nvPr/>
        </p:nvSpPr>
        <p:spPr>
          <a:xfrm>
            <a:off x="804672" y="2688336"/>
            <a:ext cx="7534656" cy="65836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F2347"/>
              </a:buClr>
              <a:buSzPts val="1200"/>
              <a:buFont typeface="DM Sans"/>
              <a:buNone/>
            </a:pPr>
            <a:r>
              <a:rPr b="1" lang="en-US" sz="1200">
                <a:solidFill>
                  <a:srgbClr val="0F2347"/>
                </a:solidFill>
                <a:latin typeface="DM Sans"/>
                <a:ea typeface="DM Sans"/>
                <a:cs typeface="DM Sans"/>
                <a:sym typeface="DM Sans"/>
              </a:rPr>
              <a:t>Not how busy you are. Not how much pressure you carry. Not how much the organization depends on you. The question is whether the work is still asking more of your judgment than it did ninety days ago.</a:t>
            </a:r>
            <a:endParaRPr sz="1200">
              <a:solidFill>
                <a:schemeClr val="dk1"/>
              </a:solidFill>
              <a:latin typeface="Calibri"/>
              <a:ea typeface="Calibri"/>
              <a:cs typeface="Calibri"/>
              <a:sym typeface="Calibri"/>
            </a:endParaRPr>
          </a:p>
        </p:txBody>
      </p:sp>
      <p:sp>
        <p:nvSpPr>
          <p:cNvPr id="76" name="Google Shape;76;p4"/>
          <p:cNvSpPr/>
          <p:nvPr/>
        </p:nvSpPr>
        <p:spPr>
          <a:xfrm>
            <a:off x="566928" y="356616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Six statements measure it. You will score them in a moment.</a:t>
            </a:r>
            <a:endParaRPr sz="1150">
              <a:solidFill>
                <a:schemeClr val="dk1"/>
              </a:solidFill>
              <a:latin typeface="Calibri"/>
              <a:ea typeface="Calibri"/>
              <a:cs typeface="Calibri"/>
              <a:sym typeface="Calibri"/>
            </a:endParaRPr>
          </a:p>
        </p:txBody>
      </p:sp>
      <p:sp>
        <p:nvSpPr>
          <p:cNvPr id="77" name="Google Shape;77;p4"/>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78" name="Google Shape;78;p4"/>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4</a:t>
            </a:r>
            <a:endParaRPr sz="7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83" name="Shape 83"/>
        <p:cNvGrpSpPr/>
        <p:nvPr/>
      </p:nvGrpSpPr>
      <p:grpSpPr>
        <a:xfrm>
          <a:off x="0" y="0"/>
          <a:ext cx="0" cy="0"/>
          <a:chOff x="0" y="0"/>
          <a:chExt cx="0" cy="0"/>
        </a:xfrm>
      </p:grpSpPr>
      <p:sp>
        <p:nvSpPr>
          <p:cNvPr id="84" name="Google Shape;84;p5"/>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DEFINITION TWO</a:t>
            </a:r>
            <a:endParaRPr sz="950">
              <a:solidFill>
                <a:schemeClr val="dk1"/>
              </a:solidFill>
              <a:latin typeface="Calibri"/>
              <a:ea typeface="Calibri"/>
              <a:cs typeface="Calibri"/>
              <a:sym typeface="Calibri"/>
            </a:endParaRPr>
          </a:p>
        </p:txBody>
      </p:sp>
      <p:sp>
        <p:nvSpPr>
          <p:cNvPr id="85" name="Google Shape;85;p5"/>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400"/>
              <a:buFont typeface="Cormorant Garamond"/>
              <a:buNone/>
            </a:pPr>
            <a:r>
              <a:rPr b="1" lang="en-US" sz="3400">
                <a:solidFill>
                  <a:srgbClr val="0F2347"/>
                </a:solidFill>
                <a:latin typeface="Cormorant Garamond"/>
                <a:ea typeface="Cormorant Garamond"/>
                <a:cs typeface="Cormorant Garamond"/>
                <a:sym typeface="Cormorant Garamond"/>
              </a:rPr>
              <a:t>Will what you build still travel?</a:t>
            </a:r>
            <a:endParaRPr sz="3400">
              <a:solidFill>
                <a:schemeClr val="dk1"/>
              </a:solidFill>
              <a:latin typeface="Calibri"/>
              <a:ea typeface="Calibri"/>
              <a:cs typeface="Calibri"/>
              <a:sym typeface="Calibri"/>
            </a:endParaRPr>
          </a:p>
        </p:txBody>
      </p:sp>
      <p:sp>
        <p:nvSpPr>
          <p:cNvPr id="86" name="Google Shape;86;p5"/>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This reading calls that Optionality.</a:t>
            </a:r>
            <a:endParaRPr sz="1150">
              <a:solidFill>
                <a:schemeClr val="dk1"/>
              </a:solidFill>
              <a:latin typeface="Calibri"/>
              <a:ea typeface="Calibri"/>
              <a:cs typeface="Calibri"/>
              <a:sym typeface="Calibri"/>
            </a:endParaRPr>
          </a:p>
        </p:txBody>
      </p:sp>
      <p:sp>
        <p:nvSpPr>
          <p:cNvPr id="87" name="Google Shape;87;p5"/>
          <p:cNvSpPr/>
          <p:nvPr/>
        </p:nvSpPr>
        <p:spPr>
          <a:xfrm>
            <a:off x="566928" y="1828800"/>
            <a:ext cx="8010144" cy="640080"/>
          </a:xfrm>
          <a:prstGeom prst="rect">
            <a:avLst/>
          </a:prstGeom>
          <a:noFill/>
          <a:ln>
            <a:noFill/>
          </a:ln>
        </p:spPr>
        <p:txBody>
          <a:bodyPr anchorCtr="0" anchor="ctr" bIns="0" lIns="0" spcFirstLastPara="1" rIns="0" wrap="square" tIns="0">
            <a:noAutofit/>
          </a:bodyPr>
          <a:lstStyle/>
          <a:p>
            <a:pPr indent="0" lvl="0" marL="0" marR="0" rtl="0" algn="l">
              <a:lnSpc>
                <a:spcPct val="142857"/>
              </a:lnSpc>
              <a:spcBef>
                <a:spcPts val="0"/>
              </a:spcBef>
              <a:spcAft>
                <a:spcPts val="0"/>
              </a:spcAft>
              <a:buClr>
                <a:srgbClr val="0F2347"/>
              </a:buClr>
              <a:buSzPts val="1400"/>
              <a:buFont typeface="DM Sans"/>
              <a:buNone/>
            </a:pPr>
            <a:r>
              <a:rPr lang="en-US" sz="1400">
                <a:solidFill>
                  <a:srgbClr val="0F2347"/>
                </a:solidFill>
                <a:latin typeface="DM Sans"/>
                <a:ea typeface="DM Sans"/>
                <a:cs typeface="DM Sans"/>
                <a:sym typeface="DM Sans"/>
              </a:rPr>
              <a:t>Optionality reads whether what this work is building stays useful beyond your current context, and whether you could make it legible to someone outside your organization using evidence rather than your title.</a:t>
            </a:r>
            <a:endParaRPr sz="1400">
              <a:solidFill>
                <a:schemeClr val="dk1"/>
              </a:solidFill>
              <a:latin typeface="Calibri"/>
              <a:ea typeface="Calibri"/>
              <a:cs typeface="Calibri"/>
              <a:sym typeface="Calibri"/>
            </a:endParaRPr>
          </a:p>
        </p:txBody>
      </p:sp>
      <p:sp>
        <p:nvSpPr>
          <p:cNvPr id="88" name="Google Shape;88;p5"/>
          <p:cNvSpPr/>
          <p:nvPr/>
        </p:nvSpPr>
        <p:spPr>
          <a:xfrm>
            <a:off x="566928" y="2688336"/>
            <a:ext cx="8010144" cy="65836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 name="Google Shape;89;p5"/>
          <p:cNvSpPr/>
          <p:nvPr/>
        </p:nvSpPr>
        <p:spPr>
          <a:xfrm>
            <a:off x="804672" y="2688336"/>
            <a:ext cx="7534656" cy="65836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F2347"/>
              </a:buClr>
              <a:buSzPts val="1200"/>
              <a:buFont typeface="DM Sans"/>
              <a:buNone/>
            </a:pPr>
            <a:r>
              <a:rPr b="1" lang="en-US" sz="1200">
                <a:solidFill>
                  <a:srgbClr val="0F2347"/>
                </a:solidFill>
                <a:latin typeface="DM Sans"/>
                <a:ea typeface="DM Sans"/>
                <a:cs typeface="DM Sans"/>
                <a:sym typeface="DM Sans"/>
              </a:rPr>
              <a:t>A low score is not a verdict on your ability. And translation is not recognition. Making your work legible removes a barrier. It does not decide what another organization does with what it sees.</a:t>
            </a:r>
            <a:endParaRPr sz="1200">
              <a:solidFill>
                <a:schemeClr val="dk1"/>
              </a:solidFill>
              <a:latin typeface="Calibri"/>
              <a:ea typeface="Calibri"/>
              <a:cs typeface="Calibri"/>
              <a:sym typeface="Calibri"/>
            </a:endParaRPr>
          </a:p>
        </p:txBody>
      </p:sp>
      <p:sp>
        <p:nvSpPr>
          <p:cNvPr id="90" name="Google Shape;90;p5"/>
          <p:cNvSpPr/>
          <p:nvPr/>
        </p:nvSpPr>
        <p:spPr>
          <a:xfrm>
            <a:off x="566928" y="356616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Six statements measure it. Same scale, same window.</a:t>
            </a:r>
            <a:endParaRPr sz="1150">
              <a:solidFill>
                <a:schemeClr val="dk1"/>
              </a:solidFill>
              <a:latin typeface="Calibri"/>
              <a:ea typeface="Calibri"/>
              <a:cs typeface="Calibri"/>
              <a:sym typeface="Calibri"/>
            </a:endParaRPr>
          </a:p>
        </p:txBody>
      </p:sp>
      <p:sp>
        <p:nvSpPr>
          <p:cNvPr id="91" name="Google Shape;91;p5"/>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92" name="Google Shape;92;p5"/>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5</a:t>
            </a:r>
            <a:endParaRPr sz="7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7" name="Shape 97"/>
        <p:cNvGrpSpPr/>
        <p:nvPr/>
      </p:nvGrpSpPr>
      <p:grpSpPr>
        <a:xfrm>
          <a:off x="0" y="0"/>
          <a:ext cx="0" cy="0"/>
          <a:chOff x="0" y="0"/>
          <a:chExt cx="0" cy="0"/>
        </a:xfrm>
      </p:grpSpPr>
      <p:sp>
        <p:nvSpPr>
          <p:cNvPr id="98" name="Google Shape;98;p6"/>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READ</a:t>
            </a:r>
            <a:endParaRPr sz="950">
              <a:solidFill>
                <a:schemeClr val="dk1"/>
              </a:solidFill>
              <a:latin typeface="Calibri"/>
              <a:ea typeface="Calibri"/>
              <a:cs typeface="Calibri"/>
              <a:sym typeface="Calibri"/>
            </a:endParaRPr>
          </a:p>
        </p:txBody>
      </p:sp>
      <p:sp>
        <p:nvSpPr>
          <p:cNvPr id="99" name="Google Shape;99;p6"/>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lang="en-US" sz="2400">
                <a:solidFill>
                  <a:srgbClr val="0F2347"/>
                </a:solidFill>
                <a:latin typeface="Cormorant Garamond"/>
                <a:ea typeface="Cormorant Garamond"/>
                <a:cs typeface="Cormorant Garamond"/>
                <a:sym typeface="Cormorant Garamond"/>
              </a:rPr>
              <a:t>Your initial read: statements 1 to 3</a:t>
            </a:r>
            <a:endParaRPr sz="2400">
              <a:solidFill>
                <a:schemeClr val="dk1"/>
              </a:solidFill>
              <a:latin typeface="Calibri"/>
              <a:ea typeface="Calibri"/>
              <a:cs typeface="Calibri"/>
              <a:sym typeface="Calibri"/>
            </a:endParaRPr>
          </a:p>
        </p:txBody>
      </p:sp>
      <p:sp>
        <p:nvSpPr>
          <p:cNvPr id="100" name="Google Shape;100;p6"/>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Density. Live, silent. 1 strongly disagree to 5 strongly agree.</a:t>
            </a:r>
            <a:endParaRPr sz="1150">
              <a:solidFill>
                <a:schemeClr val="dk1"/>
              </a:solidFill>
              <a:latin typeface="Calibri"/>
              <a:ea typeface="Calibri"/>
              <a:cs typeface="Calibri"/>
              <a:sym typeface="Calibri"/>
            </a:endParaRPr>
          </a:p>
        </p:txBody>
      </p:sp>
      <p:sp>
        <p:nvSpPr>
          <p:cNvPr id="101" name="Google Shape;101;p6"/>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6"/>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1</a:t>
            </a:r>
            <a:endParaRPr sz="1000">
              <a:solidFill>
                <a:schemeClr val="dk1"/>
              </a:solidFill>
              <a:latin typeface="Calibri"/>
              <a:ea typeface="Calibri"/>
              <a:cs typeface="Calibri"/>
              <a:sym typeface="Calibri"/>
            </a:endParaRPr>
          </a:p>
        </p:txBody>
      </p:sp>
      <p:sp>
        <p:nvSpPr>
          <p:cNvPr id="103" name="Google Shape;103;p6"/>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In the last ninety days I have been handed a problem I did not already know how to solve.</a:t>
            </a:r>
            <a:endParaRPr sz="1250">
              <a:solidFill>
                <a:schemeClr val="dk1"/>
              </a:solidFill>
              <a:latin typeface="Calibri"/>
              <a:ea typeface="Calibri"/>
              <a:cs typeface="Calibri"/>
              <a:sym typeface="Calibri"/>
            </a:endParaRPr>
          </a:p>
        </p:txBody>
      </p:sp>
      <p:sp>
        <p:nvSpPr>
          <p:cNvPr id="104" name="Google Shape;104;p6"/>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05" name="Google Shape;105;p6"/>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6"/>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2</a:t>
            </a:r>
            <a:endParaRPr sz="1000">
              <a:solidFill>
                <a:schemeClr val="dk1"/>
              </a:solidFill>
              <a:latin typeface="Calibri"/>
              <a:ea typeface="Calibri"/>
              <a:cs typeface="Calibri"/>
              <a:sym typeface="Calibri"/>
            </a:endParaRPr>
          </a:p>
        </p:txBody>
      </p:sp>
      <p:sp>
        <p:nvSpPr>
          <p:cNvPr id="107" name="Google Shape;107;p6"/>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I work close enough to people who are better than me that I can watch how they think.</a:t>
            </a:r>
            <a:endParaRPr sz="1250">
              <a:solidFill>
                <a:schemeClr val="dk1"/>
              </a:solidFill>
              <a:latin typeface="Calibri"/>
              <a:ea typeface="Calibri"/>
              <a:cs typeface="Calibri"/>
              <a:sym typeface="Calibri"/>
            </a:endParaRPr>
          </a:p>
        </p:txBody>
      </p:sp>
      <p:sp>
        <p:nvSpPr>
          <p:cNvPr id="108" name="Google Shape;108;p6"/>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09" name="Google Shape;109;p6"/>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6"/>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3</a:t>
            </a:r>
            <a:endParaRPr sz="1000">
              <a:solidFill>
                <a:schemeClr val="dk1"/>
              </a:solidFill>
              <a:latin typeface="Calibri"/>
              <a:ea typeface="Calibri"/>
              <a:cs typeface="Calibri"/>
              <a:sym typeface="Calibri"/>
            </a:endParaRPr>
          </a:p>
        </p:txBody>
      </p:sp>
      <p:sp>
        <p:nvSpPr>
          <p:cNvPr id="111" name="Google Shape;111;p6"/>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My work is reviewed by someone who can tell the difference between good and adequate, and who says so directly.</a:t>
            </a:r>
            <a:endParaRPr sz="1250">
              <a:solidFill>
                <a:schemeClr val="dk1"/>
              </a:solidFill>
              <a:latin typeface="Calibri"/>
              <a:ea typeface="Calibri"/>
              <a:cs typeface="Calibri"/>
              <a:sym typeface="Calibri"/>
            </a:endParaRPr>
          </a:p>
        </p:txBody>
      </p:sp>
      <p:sp>
        <p:nvSpPr>
          <p:cNvPr id="112" name="Google Shape;112;p6"/>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13" name="Google Shape;113;p6"/>
          <p:cNvSpPr/>
          <p:nvPr/>
        </p:nvSpPr>
        <p:spPr>
          <a:xfrm>
            <a:off x="566928" y="4315968"/>
            <a:ext cx="801014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50"/>
              <a:buFont typeface="DM Sans"/>
              <a:buNone/>
            </a:pPr>
            <a:r>
              <a:rPr i="1" lang="en-US" sz="1050">
                <a:solidFill>
                  <a:srgbClr val="5A6B84"/>
                </a:solidFill>
                <a:latin typeface="DM Sans"/>
                <a:ea typeface="DM Sans"/>
                <a:cs typeface="DM Sans"/>
                <a:sym typeface="DM Sans"/>
              </a:rPr>
              <a:t>No evidence line yet — that is deliberate.</a:t>
            </a:r>
            <a:endParaRPr sz="1050">
              <a:solidFill>
                <a:schemeClr val="dk1"/>
              </a:solidFill>
              <a:latin typeface="Calibri"/>
              <a:ea typeface="Calibri"/>
              <a:cs typeface="Calibri"/>
              <a:sym typeface="Calibri"/>
            </a:endParaRPr>
          </a:p>
        </p:txBody>
      </p:sp>
      <p:sp>
        <p:nvSpPr>
          <p:cNvPr id="114" name="Google Shape;114;p6"/>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115" name="Google Shape;115;p6"/>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6</a:t>
            </a:r>
            <a:endParaRPr sz="7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20" name="Shape 120"/>
        <p:cNvGrpSpPr/>
        <p:nvPr/>
      </p:nvGrpSpPr>
      <p:grpSpPr>
        <a:xfrm>
          <a:off x="0" y="0"/>
          <a:ext cx="0" cy="0"/>
          <a:chOff x="0" y="0"/>
          <a:chExt cx="0" cy="0"/>
        </a:xfrm>
      </p:grpSpPr>
      <p:sp>
        <p:nvSpPr>
          <p:cNvPr id="121" name="Google Shape;121;p7"/>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READ</a:t>
            </a:r>
            <a:endParaRPr sz="950">
              <a:solidFill>
                <a:schemeClr val="dk1"/>
              </a:solidFill>
              <a:latin typeface="Calibri"/>
              <a:ea typeface="Calibri"/>
              <a:cs typeface="Calibri"/>
              <a:sym typeface="Calibri"/>
            </a:endParaRPr>
          </a:p>
        </p:txBody>
      </p:sp>
      <p:sp>
        <p:nvSpPr>
          <p:cNvPr id="122" name="Google Shape;122;p7"/>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lang="en-US" sz="2400">
                <a:solidFill>
                  <a:srgbClr val="0F2347"/>
                </a:solidFill>
                <a:latin typeface="Cormorant Garamond"/>
                <a:ea typeface="Cormorant Garamond"/>
                <a:cs typeface="Cormorant Garamond"/>
                <a:sym typeface="Cormorant Garamond"/>
              </a:rPr>
              <a:t>Your initial read: statements 4 to 6</a:t>
            </a:r>
            <a:endParaRPr sz="2400">
              <a:solidFill>
                <a:schemeClr val="dk1"/>
              </a:solidFill>
              <a:latin typeface="Calibri"/>
              <a:ea typeface="Calibri"/>
              <a:cs typeface="Calibri"/>
              <a:sym typeface="Calibri"/>
            </a:endParaRPr>
          </a:p>
        </p:txBody>
      </p:sp>
      <p:sp>
        <p:nvSpPr>
          <p:cNvPr id="123" name="Google Shape;123;p7"/>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Density, continued. Same window, same instruction.</a:t>
            </a:r>
            <a:endParaRPr sz="1150">
              <a:solidFill>
                <a:schemeClr val="dk1"/>
              </a:solidFill>
              <a:latin typeface="Calibri"/>
              <a:ea typeface="Calibri"/>
              <a:cs typeface="Calibri"/>
              <a:sym typeface="Calibri"/>
            </a:endParaRPr>
          </a:p>
        </p:txBody>
      </p:sp>
      <p:sp>
        <p:nvSpPr>
          <p:cNvPr id="124" name="Google Shape;124;p7"/>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7"/>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4</a:t>
            </a:r>
            <a:endParaRPr sz="1000">
              <a:solidFill>
                <a:schemeClr val="dk1"/>
              </a:solidFill>
              <a:latin typeface="Calibri"/>
              <a:ea typeface="Calibri"/>
              <a:cs typeface="Calibri"/>
              <a:sym typeface="Calibri"/>
            </a:endParaRPr>
          </a:p>
        </p:txBody>
      </p:sp>
      <p:sp>
        <p:nvSpPr>
          <p:cNvPr id="126" name="Google Shape;126;p7"/>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The feedback I receive changes what I do next, not just how I feel.</a:t>
            </a:r>
            <a:endParaRPr sz="1250">
              <a:solidFill>
                <a:schemeClr val="dk1"/>
              </a:solidFill>
              <a:latin typeface="Calibri"/>
              <a:ea typeface="Calibri"/>
              <a:cs typeface="Calibri"/>
              <a:sym typeface="Calibri"/>
            </a:endParaRPr>
          </a:p>
        </p:txBody>
      </p:sp>
      <p:sp>
        <p:nvSpPr>
          <p:cNvPr id="127" name="Google Shape;127;p7"/>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28" name="Google Shape;128;p7"/>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7"/>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5</a:t>
            </a:r>
            <a:endParaRPr sz="1000">
              <a:solidFill>
                <a:schemeClr val="dk1"/>
              </a:solidFill>
              <a:latin typeface="Calibri"/>
              <a:ea typeface="Calibri"/>
              <a:cs typeface="Calibri"/>
              <a:sym typeface="Calibri"/>
            </a:endParaRPr>
          </a:p>
        </p:txBody>
      </p:sp>
      <p:sp>
        <p:nvSpPr>
          <p:cNvPr id="130" name="Google Shape;130;p7"/>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I regularly operate at the edge of my competence rather than the comfortable center of it.</a:t>
            </a:r>
            <a:endParaRPr sz="1250">
              <a:solidFill>
                <a:schemeClr val="dk1"/>
              </a:solidFill>
              <a:latin typeface="Calibri"/>
              <a:ea typeface="Calibri"/>
              <a:cs typeface="Calibri"/>
              <a:sym typeface="Calibri"/>
            </a:endParaRPr>
          </a:p>
        </p:txBody>
      </p:sp>
      <p:sp>
        <p:nvSpPr>
          <p:cNvPr id="131" name="Google Shape;131;p7"/>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32" name="Google Shape;132;p7"/>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7"/>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6</a:t>
            </a:r>
            <a:endParaRPr sz="1000">
              <a:solidFill>
                <a:schemeClr val="dk1"/>
              </a:solidFill>
              <a:latin typeface="Calibri"/>
              <a:ea typeface="Calibri"/>
              <a:cs typeface="Calibri"/>
              <a:sym typeface="Calibri"/>
            </a:endParaRPr>
          </a:p>
        </p:txBody>
      </p:sp>
      <p:sp>
        <p:nvSpPr>
          <p:cNvPr id="134" name="Google Shape;134;p7"/>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Looking back six months, the work I do now would have been genuinely hard for me then.</a:t>
            </a:r>
            <a:endParaRPr sz="1250">
              <a:solidFill>
                <a:schemeClr val="dk1"/>
              </a:solidFill>
              <a:latin typeface="Calibri"/>
              <a:ea typeface="Calibri"/>
              <a:cs typeface="Calibri"/>
              <a:sym typeface="Calibri"/>
            </a:endParaRPr>
          </a:p>
        </p:txBody>
      </p:sp>
      <p:sp>
        <p:nvSpPr>
          <p:cNvPr id="135" name="Google Shape;135;p7"/>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36" name="Google Shape;136;p7"/>
          <p:cNvSpPr/>
          <p:nvPr/>
        </p:nvSpPr>
        <p:spPr>
          <a:xfrm>
            <a:off x="566928" y="4315968"/>
            <a:ext cx="801014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50"/>
              <a:buFont typeface="DM Sans"/>
              <a:buNone/>
            </a:pPr>
            <a:r>
              <a:rPr i="1" lang="en-US" sz="1050">
                <a:solidFill>
                  <a:srgbClr val="5A6B84"/>
                </a:solidFill>
                <a:latin typeface="DM Sans"/>
                <a:ea typeface="DM Sans"/>
                <a:cs typeface="DM Sans"/>
                <a:sym typeface="DM Sans"/>
              </a:rPr>
              <a:t>No evidence line yet — that is deliberate.</a:t>
            </a:r>
            <a:endParaRPr sz="1050">
              <a:solidFill>
                <a:schemeClr val="dk1"/>
              </a:solidFill>
              <a:latin typeface="Calibri"/>
              <a:ea typeface="Calibri"/>
              <a:cs typeface="Calibri"/>
              <a:sym typeface="Calibri"/>
            </a:endParaRPr>
          </a:p>
        </p:txBody>
      </p:sp>
      <p:sp>
        <p:nvSpPr>
          <p:cNvPr id="137" name="Google Shape;137;p7"/>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138" name="Google Shape;138;p7"/>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7</a:t>
            </a:r>
            <a:endParaRPr sz="7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43" name="Shape 143"/>
        <p:cNvGrpSpPr/>
        <p:nvPr/>
      </p:nvGrpSpPr>
      <p:grpSpPr>
        <a:xfrm>
          <a:off x="0" y="0"/>
          <a:ext cx="0" cy="0"/>
          <a:chOff x="0" y="0"/>
          <a:chExt cx="0" cy="0"/>
        </a:xfrm>
      </p:grpSpPr>
      <p:sp>
        <p:nvSpPr>
          <p:cNvPr id="144" name="Google Shape;144;p8"/>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READ</a:t>
            </a:r>
            <a:endParaRPr sz="950">
              <a:solidFill>
                <a:schemeClr val="dk1"/>
              </a:solidFill>
              <a:latin typeface="Calibri"/>
              <a:ea typeface="Calibri"/>
              <a:cs typeface="Calibri"/>
              <a:sym typeface="Calibri"/>
            </a:endParaRPr>
          </a:p>
        </p:txBody>
      </p:sp>
      <p:sp>
        <p:nvSpPr>
          <p:cNvPr id="145" name="Google Shape;145;p8"/>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lang="en-US" sz="2800">
                <a:solidFill>
                  <a:srgbClr val="0F2347"/>
                </a:solidFill>
                <a:latin typeface="Cormorant Garamond"/>
                <a:ea typeface="Cormorant Garamond"/>
                <a:cs typeface="Cormorant Garamond"/>
                <a:sym typeface="Cormorant Garamond"/>
              </a:rPr>
              <a:t>Your initial Density reading</a:t>
            </a:r>
            <a:endParaRPr sz="2800">
              <a:solidFill>
                <a:schemeClr val="dk1"/>
              </a:solidFill>
              <a:latin typeface="Calibri"/>
              <a:ea typeface="Calibri"/>
              <a:cs typeface="Calibri"/>
              <a:sym typeface="Calibri"/>
            </a:endParaRPr>
          </a:p>
        </p:txBody>
      </p:sp>
      <p:sp>
        <p:nvSpPr>
          <p:cNvPr id="146" name="Google Shape;146;p8"/>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Add statements 1 to 6.</a:t>
            </a:r>
            <a:endParaRPr sz="1150">
              <a:solidFill>
                <a:schemeClr val="dk1"/>
              </a:solidFill>
              <a:latin typeface="Calibri"/>
              <a:ea typeface="Calibri"/>
              <a:cs typeface="Calibri"/>
              <a:sym typeface="Calibri"/>
            </a:endParaRPr>
          </a:p>
        </p:txBody>
      </p:sp>
      <p:sp>
        <p:nvSpPr>
          <p:cNvPr id="147" name="Google Shape;147;p8"/>
          <p:cNvSpPr/>
          <p:nvPr/>
        </p:nvSpPr>
        <p:spPr>
          <a:xfrm>
            <a:off x="566928" y="1920240"/>
            <a:ext cx="8010144" cy="11887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8"/>
          <p:cNvSpPr/>
          <p:nvPr/>
        </p:nvSpPr>
        <p:spPr>
          <a:xfrm>
            <a:off x="859536" y="2103120"/>
            <a:ext cx="45720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DENSITY TOTAL</a:t>
            </a:r>
            <a:endParaRPr sz="950">
              <a:solidFill>
                <a:schemeClr val="dk1"/>
              </a:solidFill>
              <a:latin typeface="Calibri"/>
              <a:ea typeface="Calibri"/>
              <a:cs typeface="Calibri"/>
              <a:sym typeface="Calibri"/>
            </a:endParaRPr>
          </a:p>
        </p:txBody>
      </p:sp>
      <p:sp>
        <p:nvSpPr>
          <p:cNvPr id="149" name="Google Shape;149;p8"/>
          <p:cNvSpPr/>
          <p:nvPr/>
        </p:nvSpPr>
        <p:spPr>
          <a:xfrm>
            <a:off x="859536" y="2414016"/>
            <a:ext cx="4572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3200"/>
              <a:buFont typeface="Cormorant Garamond"/>
              <a:buNone/>
            </a:pPr>
            <a:r>
              <a:rPr b="1" lang="en-US" sz="3200">
                <a:solidFill>
                  <a:srgbClr val="F5F0E8"/>
                </a:solidFill>
                <a:latin typeface="Cormorant Garamond"/>
                <a:ea typeface="Cormorant Garamond"/>
                <a:cs typeface="Cormorant Garamond"/>
                <a:sym typeface="Cormorant Garamond"/>
              </a:rPr>
              <a:t>________  / 30</a:t>
            </a:r>
            <a:endParaRPr sz="3200">
              <a:solidFill>
                <a:schemeClr val="dk1"/>
              </a:solidFill>
              <a:latin typeface="Calibri"/>
              <a:ea typeface="Calibri"/>
              <a:cs typeface="Calibri"/>
              <a:sym typeface="Calibri"/>
            </a:endParaRPr>
          </a:p>
        </p:txBody>
      </p:sp>
      <p:sp>
        <p:nvSpPr>
          <p:cNvPr id="150" name="Google Shape;150;p8"/>
          <p:cNvSpPr/>
          <p:nvPr/>
        </p:nvSpPr>
        <p:spPr>
          <a:xfrm>
            <a:off x="5486400" y="2139696"/>
            <a:ext cx="2834640" cy="822960"/>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B8C5D9"/>
              </a:buClr>
              <a:buSzPts val="1150"/>
              <a:buFont typeface="DM Sans"/>
              <a:buNone/>
            </a:pPr>
            <a:r>
              <a:rPr lang="en-US" sz="1150">
                <a:solidFill>
                  <a:srgbClr val="B8C5D9"/>
                </a:solidFill>
                <a:latin typeface="DM Sans"/>
                <a:ea typeface="DM Sans"/>
                <a:cs typeface="DM Sans"/>
                <a:sym typeface="DM Sans"/>
              </a:rPr>
              <a:t>19 to 30 is high</a:t>
            </a:r>
            <a:endParaRPr sz="1150">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lang="en-US" sz="1150">
                <a:solidFill>
                  <a:srgbClr val="B8C5D9"/>
                </a:solidFill>
                <a:latin typeface="DM Sans"/>
                <a:ea typeface="DM Sans"/>
                <a:cs typeface="DM Sans"/>
                <a:sym typeface="DM Sans"/>
              </a:rPr>
              <a:t>6 to 18 is low</a:t>
            </a:r>
            <a:endParaRPr sz="1150">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lang="en-US" sz="1150">
                <a:solidFill>
                  <a:srgbClr val="B8C5D9"/>
                </a:solidFill>
                <a:latin typeface="DM Sans"/>
                <a:ea typeface="DM Sans"/>
                <a:cs typeface="DM Sans"/>
                <a:sym typeface="DM Sans"/>
              </a:rPr>
              <a:t>17 to 21 is the boundary band</a:t>
            </a:r>
            <a:endParaRPr sz="1150">
              <a:solidFill>
                <a:schemeClr val="dk1"/>
              </a:solidFill>
              <a:latin typeface="Calibri"/>
              <a:ea typeface="Calibri"/>
              <a:cs typeface="Calibri"/>
              <a:sym typeface="Calibri"/>
            </a:endParaRPr>
          </a:p>
        </p:txBody>
      </p:sp>
      <p:sp>
        <p:nvSpPr>
          <p:cNvPr id="151" name="Google Shape;151;p8"/>
          <p:cNvSpPr/>
          <p:nvPr/>
        </p:nvSpPr>
        <p:spPr>
          <a:xfrm>
            <a:off x="566928" y="3346704"/>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Hold the number. Do not share it.</a:t>
            </a:r>
            <a:endParaRPr sz="1250">
              <a:solidFill>
                <a:schemeClr val="dk1"/>
              </a:solidFill>
              <a:latin typeface="Calibri"/>
              <a:ea typeface="Calibri"/>
              <a:cs typeface="Calibri"/>
              <a:sym typeface="Calibri"/>
            </a:endParaRPr>
          </a:p>
        </p:txBody>
      </p:sp>
      <p:sp>
        <p:nvSpPr>
          <p:cNvPr id="152" name="Google Shape;152;p8"/>
          <p:cNvSpPr/>
          <p:nvPr/>
        </p:nvSpPr>
        <p:spPr>
          <a:xfrm>
            <a:off x="566928" y="3712464"/>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2075"/>
              </a:lnSpc>
              <a:spcBef>
                <a:spcPts val="0"/>
              </a:spcBef>
              <a:spcAft>
                <a:spcPts val="0"/>
              </a:spcAft>
              <a:buClr>
                <a:srgbClr val="5A6B84"/>
              </a:buClr>
              <a:buSzPts val="1060"/>
              <a:buFont typeface="DM Sans"/>
              <a:buNone/>
            </a:pPr>
            <a:r>
              <a:rPr i="1" lang="en-US" sz="1060">
                <a:solidFill>
                  <a:srgbClr val="5A6B84"/>
                </a:solidFill>
                <a:latin typeface="DM Sans"/>
                <a:ea typeface="DM Sans"/>
                <a:cs typeface="DM Sans"/>
                <a:sym typeface="DM Sans"/>
              </a:rPr>
              <a:t>A total inside 17 to 21 sits on the boundary. It does not resolve to high or low — you will read both neighbouring states rather than pick one.</a:t>
            </a:r>
            <a:endParaRPr sz="1060">
              <a:solidFill>
                <a:schemeClr val="dk1"/>
              </a:solidFill>
              <a:latin typeface="Calibri"/>
              <a:ea typeface="Calibri"/>
              <a:cs typeface="Calibri"/>
              <a:sym typeface="Calibri"/>
            </a:endParaRPr>
          </a:p>
        </p:txBody>
      </p:sp>
      <p:sp>
        <p:nvSpPr>
          <p:cNvPr id="153" name="Google Shape;153;p8"/>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154" name="Google Shape;154;p8"/>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8</a:t>
            </a:r>
            <a:endParaRPr sz="7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59" name="Shape 159"/>
        <p:cNvGrpSpPr/>
        <p:nvPr/>
      </p:nvGrpSpPr>
      <p:grpSpPr>
        <a:xfrm>
          <a:off x="0" y="0"/>
          <a:ext cx="0" cy="0"/>
          <a:chOff x="0" y="0"/>
          <a:chExt cx="0" cy="0"/>
        </a:xfrm>
      </p:grpSpPr>
      <p:sp>
        <p:nvSpPr>
          <p:cNvPr id="160" name="Google Shape;160;p9"/>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READ</a:t>
            </a:r>
            <a:endParaRPr sz="950">
              <a:solidFill>
                <a:schemeClr val="dk1"/>
              </a:solidFill>
              <a:latin typeface="Calibri"/>
              <a:ea typeface="Calibri"/>
              <a:cs typeface="Calibri"/>
              <a:sym typeface="Calibri"/>
            </a:endParaRPr>
          </a:p>
        </p:txBody>
      </p:sp>
      <p:sp>
        <p:nvSpPr>
          <p:cNvPr id="161" name="Google Shape;161;p9"/>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lang="en-US" sz="2400">
                <a:solidFill>
                  <a:srgbClr val="0F2347"/>
                </a:solidFill>
                <a:latin typeface="Cormorant Garamond"/>
                <a:ea typeface="Cormorant Garamond"/>
                <a:cs typeface="Cormorant Garamond"/>
                <a:sym typeface="Cormorant Garamond"/>
              </a:rPr>
              <a:t>Your initial read: statements 7 to 9</a:t>
            </a:r>
            <a:endParaRPr sz="2400">
              <a:solidFill>
                <a:schemeClr val="dk1"/>
              </a:solidFill>
              <a:latin typeface="Calibri"/>
              <a:ea typeface="Calibri"/>
              <a:cs typeface="Calibri"/>
              <a:sym typeface="Calibri"/>
            </a:endParaRPr>
          </a:p>
        </p:txBody>
      </p:sp>
      <p:sp>
        <p:nvSpPr>
          <p:cNvPr id="162" name="Google Shape;162;p9"/>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Optionality. Same scale, same window.</a:t>
            </a:r>
            <a:endParaRPr sz="1150">
              <a:solidFill>
                <a:schemeClr val="dk1"/>
              </a:solidFill>
              <a:latin typeface="Calibri"/>
              <a:ea typeface="Calibri"/>
              <a:cs typeface="Calibri"/>
              <a:sym typeface="Calibri"/>
            </a:endParaRPr>
          </a:p>
        </p:txBody>
      </p:sp>
      <p:sp>
        <p:nvSpPr>
          <p:cNvPr id="163" name="Google Shape;163;p9"/>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 name="Google Shape;164;p9"/>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7</a:t>
            </a:r>
            <a:endParaRPr sz="1000">
              <a:solidFill>
                <a:schemeClr val="dk1"/>
              </a:solidFill>
              <a:latin typeface="Calibri"/>
              <a:ea typeface="Calibri"/>
              <a:cs typeface="Calibri"/>
              <a:sym typeface="Calibri"/>
            </a:endParaRPr>
          </a:p>
        </p:txBody>
      </p:sp>
      <p:sp>
        <p:nvSpPr>
          <p:cNvPr id="165" name="Google Shape;165;p9"/>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The capability I am building would be valued by an employer in a different industry.</a:t>
            </a:r>
            <a:endParaRPr sz="1250">
              <a:solidFill>
                <a:schemeClr val="dk1"/>
              </a:solidFill>
              <a:latin typeface="Calibri"/>
              <a:ea typeface="Calibri"/>
              <a:cs typeface="Calibri"/>
              <a:sym typeface="Calibri"/>
            </a:endParaRPr>
          </a:p>
        </p:txBody>
      </p:sp>
      <p:sp>
        <p:nvSpPr>
          <p:cNvPr id="166" name="Google Shape;166;p9"/>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67" name="Google Shape;167;p9"/>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8" name="Google Shape;168;p9"/>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8</a:t>
            </a:r>
            <a:endParaRPr sz="1000">
              <a:solidFill>
                <a:schemeClr val="dk1"/>
              </a:solidFill>
              <a:latin typeface="Calibri"/>
              <a:ea typeface="Calibri"/>
              <a:cs typeface="Calibri"/>
              <a:sym typeface="Calibri"/>
            </a:endParaRPr>
          </a:p>
        </p:txBody>
      </p:sp>
      <p:sp>
        <p:nvSpPr>
          <p:cNvPr id="169" name="Google Shape;169;p9"/>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I can describe what I do in terms of outcomes, not just my company’s internal language.</a:t>
            </a:r>
            <a:endParaRPr sz="1250">
              <a:solidFill>
                <a:schemeClr val="dk1"/>
              </a:solidFill>
              <a:latin typeface="Calibri"/>
              <a:ea typeface="Calibri"/>
              <a:cs typeface="Calibri"/>
              <a:sym typeface="Calibri"/>
            </a:endParaRPr>
          </a:p>
        </p:txBody>
      </p:sp>
      <p:sp>
        <p:nvSpPr>
          <p:cNvPr id="170" name="Google Shape;170;p9"/>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71" name="Google Shape;171;p9"/>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 name="Google Shape;172;p9"/>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9</a:t>
            </a:r>
            <a:endParaRPr sz="1000">
              <a:solidFill>
                <a:schemeClr val="dk1"/>
              </a:solidFill>
              <a:latin typeface="Calibri"/>
              <a:ea typeface="Calibri"/>
              <a:cs typeface="Calibri"/>
              <a:sym typeface="Calibri"/>
            </a:endParaRPr>
          </a:p>
        </p:txBody>
      </p:sp>
      <p:sp>
        <p:nvSpPr>
          <p:cNvPr id="173" name="Google Shape;173;p9"/>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If my role disappeared tomorrow, the capability I built would still be mine to carry.</a:t>
            </a:r>
            <a:endParaRPr sz="1250">
              <a:solidFill>
                <a:schemeClr val="dk1"/>
              </a:solidFill>
              <a:latin typeface="Calibri"/>
              <a:ea typeface="Calibri"/>
              <a:cs typeface="Calibri"/>
              <a:sym typeface="Calibri"/>
            </a:endParaRPr>
          </a:p>
        </p:txBody>
      </p:sp>
      <p:sp>
        <p:nvSpPr>
          <p:cNvPr id="174" name="Google Shape;174;p9"/>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75" name="Google Shape;175;p9"/>
          <p:cNvSpPr/>
          <p:nvPr/>
        </p:nvSpPr>
        <p:spPr>
          <a:xfrm>
            <a:off x="566928" y="4315968"/>
            <a:ext cx="801014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50"/>
              <a:buFont typeface="DM Sans"/>
              <a:buNone/>
            </a:pPr>
            <a:r>
              <a:rPr i="1" lang="en-US" sz="1050">
                <a:solidFill>
                  <a:srgbClr val="5A6B84"/>
                </a:solidFill>
                <a:latin typeface="DM Sans"/>
                <a:ea typeface="DM Sans"/>
                <a:cs typeface="DM Sans"/>
                <a:sym typeface="DM Sans"/>
              </a:rPr>
              <a:t>No evidence line yet — that is deliberate.</a:t>
            </a:r>
            <a:endParaRPr sz="1050">
              <a:solidFill>
                <a:schemeClr val="dk1"/>
              </a:solidFill>
              <a:latin typeface="Calibri"/>
              <a:ea typeface="Calibri"/>
              <a:cs typeface="Calibri"/>
              <a:sym typeface="Calibri"/>
            </a:endParaRPr>
          </a:p>
        </p:txBody>
      </p:sp>
      <p:sp>
        <p:nvSpPr>
          <p:cNvPr id="176" name="Google Shape;176;p9"/>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177" name="Google Shape;177;p9"/>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9</a:t>
            </a:r>
            <a:endParaRPr sz="7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82" name="Shape 182"/>
        <p:cNvGrpSpPr/>
        <p:nvPr/>
      </p:nvGrpSpPr>
      <p:grpSpPr>
        <a:xfrm>
          <a:off x="0" y="0"/>
          <a:ext cx="0" cy="0"/>
          <a:chOff x="0" y="0"/>
          <a:chExt cx="0" cy="0"/>
        </a:xfrm>
      </p:grpSpPr>
      <p:sp>
        <p:nvSpPr>
          <p:cNvPr id="183" name="Google Shape;183;p1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READ</a:t>
            </a:r>
            <a:endParaRPr sz="950">
              <a:solidFill>
                <a:schemeClr val="dk1"/>
              </a:solidFill>
              <a:latin typeface="Calibri"/>
              <a:ea typeface="Calibri"/>
              <a:cs typeface="Calibri"/>
              <a:sym typeface="Calibri"/>
            </a:endParaRPr>
          </a:p>
        </p:txBody>
      </p:sp>
      <p:sp>
        <p:nvSpPr>
          <p:cNvPr id="184" name="Google Shape;184;p10"/>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lang="en-US" sz="2400">
                <a:solidFill>
                  <a:srgbClr val="0F2347"/>
                </a:solidFill>
                <a:latin typeface="Cormorant Garamond"/>
                <a:ea typeface="Cormorant Garamond"/>
                <a:cs typeface="Cormorant Garamond"/>
                <a:sym typeface="Cormorant Garamond"/>
              </a:rPr>
              <a:t>Your initial read: statements 10 to 12</a:t>
            </a:r>
            <a:endParaRPr sz="2400">
              <a:solidFill>
                <a:schemeClr val="dk1"/>
              </a:solidFill>
              <a:latin typeface="Calibri"/>
              <a:ea typeface="Calibri"/>
              <a:cs typeface="Calibri"/>
              <a:sym typeface="Calibri"/>
            </a:endParaRPr>
          </a:p>
        </p:txBody>
      </p:sp>
      <p:sp>
        <p:nvSpPr>
          <p:cNvPr id="185" name="Google Shape;185;p10"/>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Optionality, continued. Last block of the first pass.</a:t>
            </a:r>
            <a:endParaRPr sz="1150">
              <a:solidFill>
                <a:schemeClr val="dk1"/>
              </a:solidFill>
              <a:latin typeface="Calibri"/>
              <a:ea typeface="Calibri"/>
              <a:cs typeface="Calibri"/>
              <a:sym typeface="Calibri"/>
            </a:endParaRPr>
          </a:p>
        </p:txBody>
      </p:sp>
      <p:sp>
        <p:nvSpPr>
          <p:cNvPr id="186" name="Google Shape;186;p10"/>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 name="Google Shape;187;p10"/>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10</a:t>
            </a:r>
            <a:endParaRPr sz="1000">
              <a:solidFill>
                <a:schemeClr val="dk1"/>
              </a:solidFill>
              <a:latin typeface="Calibri"/>
              <a:ea typeface="Calibri"/>
              <a:cs typeface="Calibri"/>
              <a:sym typeface="Calibri"/>
            </a:endParaRPr>
          </a:p>
        </p:txBody>
      </p:sp>
      <p:sp>
        <p:nvSpPr>
          <p:cNvPr id="188" name="Google Shape;188;p10"/>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People with the power to hire or advance me, inside or outside my company, can already see what I am good at.</a:t>
            </a:r>
            <a:endParaRPr sz="1250">
              <a:solidFill>
                <a:schemeClr val="dk1"/>
              </a:solidFill>
              <a:latin typeface="Calibri"/>
              <a:ea typeface="Calibri"/>
              <a:cs typeface="Calibri"/>
              <a:sym typeface="Calibri"/>
            </a:endParaRPr>
          </a:p>
        </p:txBody>
      </p:sp>
      <p:sp>
        <p:nvSpPr>
          <p:cNvPr id="189" name="Google Shape;189;p10"/>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90" name="Google Shape;190;p10"/>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10"/>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11</a:t>
            </a:r>
            <a:endParaRPr sz="1000">
              <a:solidFill>
                <a:schemeClr val="dk1"/>
              </a:solidFill>
              <a:latin typeface="Calibri"/>
              <a:ea typeface="Calibri"/>
              <a:cs typeface="Calibri"/>
              <a:sym typeface="Calibri"/>
            </a:endParaRPr>
          </a:p>
        </p:txBody>
      </p:sp>
      <p:sp>
        <p:nvSpPr>
          <p:cNvPr id="192" name="Google Shape;192;p10"/>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What I am learning is a transferable capability rather than a company-specific procedure.</a:t>
            </a:r>
            <a:endParaRPr sz="1250">
              <a:solidFill>
                <a:schemeClr val="dk1"/>
              </a:solidFill>
              <a:latin typeface="Calibri"/>
              <a:ea typeface="Calibri"/>
              <a:cs typeface="Calibri"/>
              <a:sym typeface="Calibri"/>
            </a:endParaRPr>
          </a:p>
        </p:txBody>
      </p:sp>
      <p:sp>
        <p:nvSpPr>
          <p:cNvPr id="193" name="Google Shape;193;p10"/>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94" name="Google Shape;194;p10"/>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10"/>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12</a:t>
            </a:r>
            <a:endParaRPr sz="1000">
              <a:solidFill>
                <a:schemeClr val="dk1"/>
              </a:solidFill>
              <a:latin typeface="Calibri"/>
              <a:ea typeface="Calibri"/>
              <a:cs typeface="Calibri"/>
              <a:sym typeface="Calibri"/>
            </a:endParaRPr>
          </a:p>
        </p:txBody>
      </p:sp>
      <p:sp>
        <p:nvSpPr>
          <p:cNvPr id="196" name="Google Shape;196;p10"/>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I could rebuild a strong position somewhere else within a year.</a:t>
            </a:r>
            <a:endParaRPr sz="1250">
              <a:solidFill>
                <a:schemeClr val="dk1"/>
              </a:solidFill>
              <a:latin typeface="Calibri"/>
              <a:ea typeface="Calibri"/>
              <a:cs typeface="Calibri"/>
              <a:sym typeface="Calibri"/>
            </a:endParaRPr>
          </a:p>
        </p:txBody>
      </p:sp>
      <p:sp>
        <p:nvSpPr>
          <p:cNvPr id="197" name="Google Shape;197;p10"/>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98" name="Google Shape;198;p10"/>
          <p:cNvSpPr/>
          <p:nvPr/>
        </p:nvSpPr>
        <p:spPr>
          <a:xfrm>
            <a:off x="566928" y="4315968"/>
            <a:ext cx="801014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50"/>
              <a:buFont typeface="DM Sans"/>
              <a:buNone/>
            </a:pPr>
            <a:r>
              <a:rPr i="1" lang="en-US" sz="1050">
                <a:solidFill>
                  <a:srgbClr val="5A6B84"/>
                </a:solidFill>
                <a:latin typeface="DM Sans"/>
                <a:ea typeface="DM Sans"/>
                <a:cs typeface="DM Sans"/>
                <a:sym typeface="DM Sans"/>
              </a:rPr>
              <a:t>No evidence line yet — that is deliberate.</a:t>
            </a:r>
            <a:endParaRPr sz="1050">
              <a:solidFill>
                <a:schemeClr val="dk1"/>
              </a:solidFill>
              <a:latin typeface="Calibri"/>
              <a:ea typeface="Calibri"/>
              <a:cs typeface="Calibri"/>
              <a:sym typeface="Calibri"/>
            </a:endParaRPr>
          </a:p>
        </p:txBody>
      </p:sp>
      <p:sp>
        <p:nvSpPr>
          <p:cNvPr id="199" name="Google Shape;199;p10"/>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200" name="Google Shape;200;p10"/>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10</a:t>
            </a:r>
            <a:endParaRPr sz="7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05" name="Shape 205"/>
        <p:cNvGrpSpPr/>
        <p:nvPr/>
      </p:nvGrpSpPr>
      <p:grpSpPr>
        <a:xfrm>
          <a:off x="0" y="0"/>
          <a:ext cx="0" cy="0"/>
          <a:chOff x="0" y="0"/>
          <a:chExt cx="0" cy="0"/>
        </a:xfrm>
      </p:grpSpPr>
      <p:sp>
        <p:nvSpPr>
          <p:cNvPr id="206" name="Google Shape;206;p11"/>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READ</a:t>
            </a:r>
            <a:endParaRPr sz="950">
              <a:solidFill>
                <a:schemeClr val="dk1"/>
              </a:solidFill>
              <a:latin typeface="Calibri"/>
              <a:ea typeface="Calibri"/>
              <a:cs typeface="Calibri"/>
              <a:sym typeface="Calibri"/>
            </a:endParaRPr>
          </a:p>
        </p:txBody>
      </p:sp>
      <p:sp>
        <p:nvSpPr>
          <p:cNvPr id="207" name="Google Shape;207;p11"/>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lang="en-US" sz="2800">
                <a:solidFill>
                  <a:srgbClr val="0F2347"/>
                </a:solidFill>
                <a:latin typeface="Cormorant Garamond"/>
                <a:ea typeface="Cormorant Garamond"/>
                <a:cs typeface="Cormorant Garamond"/>
                <a:sym typeface="Cormorant Garamond"/>
              </a:rPr>
              <a:t>Your initial Optionality reading</a:t>
            </a:r>
            <a:endParaRPr sz="2800">
              <a:solidFill>
                <a:schemeClr val="dk1"/>
              </a:solidFill>
              <a:latin typeface="Calibri"/>
              <a:ea typeface="Calibri"/>
              <a:cs typeface="Calibri"/>
              <a:sym typeface="Calibri"/>
            </a:endParaRPr>
          </a:p>
        </p:txBody>
      </p:sp>
      <p:sp>
        <p:nvSpPr>
          <p:cNvPr id="208" name="Google Shape;208;p11"/>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Add statements 7 to 12.</a:t>
            </a:r>
            <a:endParaRPr sz="1150">
              <a:solidFill>
                <a:schemeClr val="dk1"/>
              </a:solidFill>
              <a:latin typeface="Calibri"/>
              <a:ea typeface="Calibri"/>
              <a:cs typeface="Calibri"/>
              <a:sym typeface="Calibri"/>
            </a:endParaRPr>
          </a:p>
        </p:txBody>
      </p:sp>
      <p:sp>
        <p:nvSpPr>
          <p:cNvPr id="209" name="Google Shape;209;p11"/>
          <p:cNvSpPr/>
          <p:nvPr/>
        </p:nvSpPr>
        <p:spPr>
          <a:xfrm>
            <a:off x="566928" y="1920240"/>
            <a:ext cx="8010144" cy="11887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p11"/>
          <p:cNvSpPr/>
          <p:nvPr/>
        </p:nvSpPr>
        <p:spPr>
          <a:xfrm>
            <a:off x="859536" y="2103120"/>
            <a:ext cx="45720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OPTIONALITY TOTAL</a:t>
            </a:r>
            <a:endParaRPr sz="950">
              <a:solidFill>
                <a:schemeClr val="dk1"/>
              </a:solidFill>
              <a:latin typeface="Calibri"/>
              <a:ea typeface="Calibri"/>
              <a:cs typeface="Calibri"/>
              <a:sym typeface="Calibri"/>
            </a:endParaRPr>
          </a:p>
        </p:txBody>
      </p:sp>
      <p:sp>
        <p:nvSpPr>
          <p:cNvPr id="211" name="Google Shape;211;p11"/>
          <p:cNvSpPr/>
          <p:nvPr/>
        </p:nvSpPr>
        <p:spPr>
          <a:xfrm>
            <a:off x="859536" y="2414016"/>
            <a:ext cx="4572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3200"/>
              <a:buFont typeface="Cormorant Garamond"/>
              <a:buNone/>
            </a:pPr>
            <a:r>
              <a:rPr b="1" lang="en-US" sz="3200">
                <a:solidFill>
                  <a:srgbClr val="F5F0E8"/>
                </a:solidFill>
                <a:latin typeface="Cormorant Garamond"/>
                <a:ea typeface="Cormorant Garamond"/>
                <a:cs typeface="Cormorant Garamond"/>
                <a:sym typeface="Cormorant Garamond"/>
              </a:rPr>
              <a:t>________  / 30</a:t>
            </a:r>
            <a:endParaRPr sz="3200">
              <a:solidFill>
                <a:schemeClr val="dk1"/>
              </a:solidFill>
              <a:latin typeface="Calibri"/>
              <a:ea typeface="Calibri"/>
              <a:cs typeface="Calibri"/>
              <a:sym typeface="Calibri"/>
            </a:endParaRPr>
          </a:p>
        </p:txBody>
      </p:sp>
      <p:sp>
        <p:nvSpPr>
          <p:cNvPr id="212" name="Google Shape;212;p11"/>
          <p:cNvSpPr/>
          <p:nvPr/>
        </p:nvSpPr>
        <p:spPr>
          <a:xfrm>
            <a:off x="5486400" y="2139696"/>
            <a:ext cx="2834640" cy="822960"/>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B8C5D9"/>
              </a:buClr>
              <a:buSzPts val="1150"/>
              <a:buFont typeface="DM Sans"/>
              <a:buNone/>
            </a:pPr>
            <a:r>
              <a:rPr lang="en-US" sz="1150">
                <a:solidFill>
                  <a:srgbClr val="B8C5D9"/>
                </a:solidFill>
                <a:latin typeface="DM Sans"/>
                <a:ea typeface="DM Sans"/>
                <a:cs typeface="DM Sans"/>
                <a:sym typeface="DM Sans"/>
              </a:rPr>
              <a:t>19 to 30 is high</a:t>
            </a:r>
            <a:endParaRPr sz="1150">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lang="en-US" sz="1150">
                <a:solidFill>
                  <a:srgbClr val="B8C5D9"/>
                </a:solidFill>
                <a:latin typeface="DM Sans"/>
                <a:ea typeface="DM Sans"/>
                <a:cs typeface="DM Sans"/>
                <a:sym typeface="DM Sans"/>
              </a:rPr>
              <a:t>6 to 18 is low</a:t>
            </a:r>
            <a:endParaRPr sz="1150">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lang="en-US" sz="1150">
                <a:solidFill>
                  <a:srgbClr val="B8C5D9"/>
                </a:solidFill>
                <a:latin typeface="DM Sans"/>
                <a:ea typeface="DM Sans"/>
                <a:cs typeface="DM Sans"/>
                <a:sym typeface="DM Sans"/>
              </a:rPr>
              <a:t>17 to 21 is the boundary band</a:t>
            </a:r>
            <a:endParaRPr sz="1150">
              <a:solidFill>
                <a:schemeClr val="dk1"/>
              </a:solidFill>
              <a:latin typeface="Calibri"/>
              <a:ea typeface="Calibri"/>
              <a:cs typeface="Calibri"/>
              <a:sym typeface="Calibri"/>
            </a:endParaRPr>
          </a:p>
        </p:txBody>
      </p:sp>
      <p:sp>
        <p:nvSpPr>
          <p:cNvPr id="213" name="Google Shape;213;p11"/>
          <p:cNvSpPr/>
          <p:nvPr/>
        </p:nvSpPr>
        <p:spPr>
          <a:xfrm>
            <a:off x="566928" y="3346704"/>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Hold the number. Do not share it.</a:t>
            </a:r>
            <a:endParaRPr sz="1250">
              <a:solidFill>
                <a:schemeClr val="dk1"/>
              </a:solidFill>
              <a:latin typeface="Calibri"/>
              <a:ea typeface="Calibri"/>
              <a:cs typeface="Calibri"/>
              <a:sym typeface="Calibri"/>
            </a:endParaRPr>
          </a:p>
        </p:txBody>
      </p:sp>
      <p:sp>
        <p:nvSpPr>
          <p:cNvPr id="214" name="Google Shape;214;p11"/>
          <p:cNvSpPr/>
          <p:nvPr/>
        </p:nvSpPr>
        <p:spPr>
          <a:xfrm>
            <a:off x="566928" y="3712464"/>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2075"/>
              </a:lnSpc>
              <a:spcBef>
                <a:spcPts val="0"/>
              </a:spcBef>
              <a:spcAft>
                <a:spcPts val="0"/>
              </a:spcAft>
              <a:buClr>
                <a:srgbClr val="5A6B84"/>
              </a:buClr>
              <a:buSzPts val="1060"/>
              <a:buFont typeface="DM Sans"/>
              <a:buNone/>
            </a:pPr>
            <a:r>
              <a:rPr i="1" lang="en-US" sz="1060">
                <a:solidFill>
                  <a:srgbClr val="5A6B84"/>
                </a:solidFill>
                <a:latin typeface="DM Sans"/>
                <a:ea typeface="DM Sans"/>
                <a:cs typeface="DM Sans"/>
                <a:sym typeface="DM Sans"/>
              </a:rPr>
              <a:t>A total inside 17 to 21 sits on the boundary. It does not resolve to high or low — you will read both neighbouring states rather than pick one.</a:t>
            </a:r>
            <a:endParaRPr sz="1060">
              <a:solidFill>
                <a:schemeClr val="dk1"/>
              </a:solidFill>
              <a:latin typeface="Calibri"/>
              <a:ea typeface="Calibri"/>
              <a:cs typeface="Calibri"/>
              <a:sym typeface="Calibri"/>
            </a:endParaRPr>
          </a:p>
        </p:txBody>
      </p:sp>
      <p:sp>
        <p:nvSpPr>
          <p:cNvPr id="215" name="Google Shape;215;p11"/>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216" name="Google Shape;216;p11"/>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11</a:t>
            </a:r>
            <a:endParaRPr sz="7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21" name="Shape 221"/>
        <p:cNvGrpSpPr/>
        <p:nvPr/>
      </p:nvGrpSpPr>
      <p:grpSpPr>
        <a:xfrm>
          <a:off x="0" y="0"/>
          <a:ext cx="0" cy="0"/>
          <a:chOff x="0" y="0"/>
          <a:chExt cx="0" cy="0"/>
        </a:xfrm>
      </p:grpSpPr>
      <p:sp>
        <p:nvSpPr>
          <p:cNvPr id="222" name="Google Shape;222;p1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THE MATRIX</a:t>
            </a:r>
            <a:endParaRPr sz="950">
              <a:solidFill>
                <a:schemeClr val="dk1"/>
              </a:solidFill>
              <a:latin typeface="Calibri"/>
              <a:ea typeface="Calibri"/>
              <a:cs typeface="Calibri"/>
              <a:sym typeface="Calibri"/>
            </a:endParaRPr>
          </a:p>
        </p:txBody>
      </p:sp>
      <p:sp>
        <p:nvSpPr>
          <p:cNvPr id="223" name="Google Shape;223;p12"/>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lang="en-US" sz="3000">
                <a:solidFill>
                  <a:srgbClr val="0F2347"/>
                </a:solidFill>
                <a:latin typeface="Cormorant Garamond"/>
                <a:ea typeface="Cormorant Garamond"/>
                <a:cs typeface="Cormorant Garamond"/>
                <a:sym typeface="Cormorant Garamond"/>
              </a:rPr>
              <a:t>The four states</a:t>
            </a:r>
            <a:endParaRPr sz="3000">
              <a:solidFill>
                <a:schemeClr val="dk1"/>
              </a:solidFill>
              <a:latin typeface="Calibri"/>
              <a:ea typeface="Calibri"/>
              <a:cs typeface="Calibri"/>
              <a:sym typeface="Calibri"/>
            </a:endParaRPr>
          </a:p>
        </p:txBody>
      </p:sp>
      <p:sp>
        <p:nvSpPr>
          <p:cNvPr id="224" name="Google Shape;224;p12"/>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Density crossed with Optionality. Your state helps you see a form of exposure your job title cannot.</a:t>
            </a:r>
            <a:endParaRPr sz="1150">
              <a:solidFill>
                <a:schemeClr val="dk1"/>
              </a:solidFill>
              <a:latin typeface="Calibri"/>
              <a:ea typeface="Calibri"/>
              <a:cs typeface="Calibri"/>
              <a:sym typeface="Calibri"/>
            </a:endParaRPr>
          </a:p>
        </p:txBody>
      </p:sp>
      <p:sp>
        <p:nvSpPr>
          <p:cNvPr id="225" name="Google Shape;225;p12"/>
          <p:cNvSpPr/>
          <p:nvPr/>
        </p:nvSpPr>
        <p:spPr>
          <a:xfrm>
            <a:off x="1133856" y="1792224"/>
            <a:ext cx="3721608" cy="120700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 name="Google Shape;226;p12"/>
          <p:cNvSpPr/>
          <p:nvPr/>
        </p:nvSpPr>
        <p:spPr>
          <a:xfrm>
            <a:off x="1353312" y="1975104"/>
            <a:ext cx="32826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00"/>
              <a:buFont typeface="Montserrat"/>
              <a:buNone/>
            </a:pPr>
            <a:r>
              <a:rPr b="1" lang="en-US" sz="1000">
                <a:solidFill>
                  <a:srgbClr val="C9A84C"/>
                </a:solidFill>
                <a:latin typeface="Montserrat"/>
                <a:ea typeface="Montserrat"/>
                <a:cs typeface="Montserrat"/>
                <a:sym typeface="Montserrat"/>
              </a:rPr>
              <a:t>2   </a:t>
            </a:r>
            <a:r>
              <a:rPr b="1" lang="en-US" sz="1000">
                <a:solidFill>
                  <a:srgbClr val="0F2347"/>
                </a:solidFill>
                <a:latin typeface="Montserrat"/>
                <a:ea typeface="Montserrat"/>
                <a:cs typeface="Montserrat"/>
                <a:sym typeface="Montserrat"/>
              </a:rPr>
              <a:t>DEPTH TRAP</a:t>
            </a:r>
            <a:endParaRPr sz="1000">
              <a:solidFill>
                <a:schemeClr val="dk1"/>
              </a:solidFill>
              <a:latin typeface="Calibri"/>
              <a:ea typeface="Calibri"/>
              <a:cs typeface="Calibri"/>
              <a:sym typeface="Calibri"/>
            </a:endParaRPr>
          </a:p>
        </p:txBody>
      </p:sp>
      <p:sp>
        <p:nvSpPr>
          <p:cNvPr id="227" name="Google Shape;227;p12"/>
          <p:cNvSpPr/>
          <p:nvPr/>
        </p:nvSpPr>
        <p:spPr>
          <a:xfrm>
            <a:off x="1353312" y="2286000"/>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Deep expertise fused to one context.</a:t>
            </a:r>
            <a:endParaRPr sz="1100">
              <a:solidFill>
                <a:schemeClr val="dk1"/>
              </a:solidFill>
              <a:latin typeface="Calibri"/>
              <a:ea typeface="Calibri"/>
              <a:cs typeface="Calibri"/>
              <a:sym typeface="Calibri"/>
            </a:endParaRPr>
          </a:p>
        </p:txBody>
      </p:sp>
      <p:sp>
        <p:nvSpPr>
          <p:cNvPr id="228" name="Google Shape;228;p12"/>
          <p:cNvSpPr/>
          <p:nvPr/>
        </p:nvSpPr>
        <p:spPr>
          <a:xfrm>
            <a:off x="4855464" y="1792224"/>
            <a:ext cx="3721608" cy="12070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12"/>
          <p:cNvSpPr/>
          <p:nvPr/>
        </p:nvSpPr>
        <p:spPr>
          <a:xfrm>
            <a:off x="5074920" y="1975104"/>
            <a:ext cx="32826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1000"/>
              <a:buFont typeface="Montserrat"/>
              <a:buNone/>
            </a:pPr>
            <a:r>
              <a:rPr b="1" lang="en-US" sz="1000">
                <a:solidFill>
                  <a:srgbClr val="B8C5D9"/>
                </a:solidFill>
                <a:latin typeface="Montserrat"/>
                <a:ea typeface="Montserrat"/>
                <a:cs typeface="Montserrat"/>
                <a:sym typeface="Montserrat"/>
              </a:rPr>
              <a:t>4   </a:t>
            </a:r>
            <a:r>
              <a:rPr b="1" lang="en-US" sz="1000">
                <a:solidFill>
                  <a:srgbClr val="C9A84C"/>
                </a:solidFill>
                <a:latin typeface="Montserrat"/>
                <a:ea typeface="Montserrat"/>
                <a:cs typeface="Montserrat"/>
                <a:sym typeface="Montserrat"/>
              </a:rPr>
              <a:t>COMPOUNDING</a:t>
            </a:r>
            <a:endParaRPr sz="1000">
              <a:solidFill>
                <a:schemeClr val="dk1"/>
              </a:solidFill>
              <a:latin typeface="Calibri"/>
              <a:ea typeface="Calibri"/>
              <a:cs typeface="Calibri"/>
              <a:sym typeface="Calibri"/>
            </a:endParaRPr>
          </a:p>
        </p:txBody>
      </p:sp>
      <p:sp>
        <p:nvSpPr>
          <p:cNvPr id="230" name="Google Shape;230;p12"/>
          <p:cNvSpPr/>
          <p:nvPr/>
        </p:nvSpPr>
        <p:spPr>
          <a:xfrm>
            <a:off x="5074920" y="2286000"/>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B8C5D9"/>
              </a:buClr>
              <a:buSzPts val="1100"/>
              <a:buFont typeface="DM Sans"/>
              <a:buNone/>
            </a:pPr>
            <a:r>
              <a:rPr lang="en-US" sz="1100">
                <a:solidFill>
                  <a:srgbClr val="B8C5D9"/>
                </a:solidFill>
                <a:latin typeface="DM Sans"/>
                <a:ea typeface="DM Sans"/>
                <a:cs typeface="DM Sans"/>
                <a:sym typeface="DM Sans"/>
              </a:rPr>
              <a:t>Deep capability that travels.</a:t>
            </a:r>
            <a:endParaRPr sz="1100">
              <a:solidFill>
                <a:schemeClr val="dk1"/>
              </a:solidFill>
              <a:latin typeface="Calibri"/>
              <a:ea typeface="Calibri"/>
              <a:cs typeface="Calibri"/>
              <a:sym typeface="Calibri"/>
            </a:endParaRPr>
          </a:p>
        </p:txBody>
      </p:sp>
      <p:sp>
        <p:nvSpPr>
          <p:cNvPr id="231" name="Google Shape;231;p12"/>
          <p:cNvSpPr/>
          <p:nvPr/>
        </p:nvSpPr>
        <p:spPr>
          <a:xfrm>
            <a:off x="1133856" y="2999232"/>
            <a:ext cx="3721608" cy="120700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12"/>
          <p:cNvSpPr/>
          <p:nvPr/>
        </p:nvSpPr>
        <p:spPr>
          <a:xfrm>
            <a:off x="1353312" y="3182112"/>
            <a:ext cx="32826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00"/>
              <a:buFont typeface="Montserrat"/>
              <a:buNone/>
            </a:pPr>
            <a:r>
              <a:rPr b="1" lang="en-US" sz="1000">
                <a:solidFill>
                  <a:srgbClr val="C9A84C"/>
                </a:solidFill>
                <a:latin typeface="Montserrat"/>
                <a:ea typeface="Montserrat"/>
                <a:cs typeface="Montserrat"/>
                <a:sym typeface="Montserrat"/>
              </a:rPr>
              <a:t>1   </a:t>
            </a:r>
            <a:r>
              <a:rPr b="1" lang="en-US" sz="1000">
                <a:solidFill>
                  <a:srgbClr val="0F2347"/>
                </a:solidFill>
                <a:latin typeface="Montserrat"/>
                <a:ea typeface="Montserrat"/>
                <a:cs typeface="Montserrat"/>
                <a:sym typeface="Montserrat"/>
              </a:rPr>
              <a:t>STAGNANT</a:t>
            </a:r>
            <a:endParaRPr sz="1000">
              <a:solidFill>
                <a:schemeClr val="dk1"/>
              </a:solidFill>
              <a:latin typeface="Calibri"/>
              <a:ea typeface="Calibri"/>
              <a:cs typeface="Calibri"/>
              <a:sym typeface="Calibri"/>
            </a:endParaRPr>
          </a:p>
        </p:txBody>
      </p:sp>
      <p:sp>
        <p:nvSpPr>
          <p:cNvPr id="233" name="Google Shape;233;p12"/>
          <p:cNvSpPr/>
          <p:nvPr/>
        </p:nvSpPr>
        <p:spPr>
          <a:xfrm>
            <a:off x="1353312" y="3493008"/>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The work stopped asking more of you.</a:t>
            </a:r>
            <a:endParaRPr sz="1100">
              <a:solidFill>
                <a:schemeClr val="dk1"/>
              </a:solidFill>
              <a:latin typeface="Calibri"/>
              <a:ea typeface="Calibri"/>
              <a:cs typeface="Calibri"/>
              <a:sym typeface="Calibri"/>
            </a:endParaRPr>
          </a:p>
        </p:txBody>
      </p:sp>
      <p:sp>
        <p:nvSpPr>
          <p:cNvPr id="234" name="Google Shape;234;p12"/>
          <p:cNvSpPr/>
          <p:nvPr/>
        </p:nvSpPr>
        <p:spPr>
          <a:xfrm>
            <a:off x="4855464" y="2999232"/>
            <a:ext cx="3721608" cy="120700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12"/>
          <p:cNvSpPr/>
          <p:nvPr/>
        </p:nvSpPr>
        <p:spPr>
          <a:xfrm>
            <a:off x="5074920" y="3182112"/>
            <a:ext cx="32826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00"/>
              <a:buFont typeface="Montserrat"/>
              <a:buNone/>
            </a:pPr>
            <a:r>
              <a:rPr b="1" lang="en-US" sz="1000">
                <a:solidFill>
                  <a:srgbClr val="C9A84C"/>
                </a:solidFill>
                <a:latin typeface="Montserrat"/>
                <a:ea typeface="Montserrat"/>
                <a:cs typeface="Montserrat"/>
                <a:sym typeface="Montserrat"/>
              </a:rPr>
              <a:t>3   </a:t>
            </a:r>
            <a:r>
              <a:rPr b="1" lang="en-US" sz="1000">
                <a:solidFill>
                  <a:srgbClr val="0F2347"/>
                </a:solidFill>
                <a:latin typeface="Montserrat"/>
                <a:ea typeface="Montserrat"/>
                <a:cs typeface="Montserrat"/>
                <a:sym typeface="Montserrat"/>
              </a:rPr>
              <a:t>FRAGILE</a:t>
            </a:r>
            <a:endParaRPr sz="1000">
              <a:solidFill>
                <a:schemeClr val="dk1"/>
              </a:solidFill>
              <a:latin typeface="Calibri"/>
              <a:ea typeface="Calibri"/>
              <a:cs typeface="Calibri"/>
              <a:sym typeface="Calibri"/>
            </a:endParaRPr>
          </a:p>
        </p:txBody>
      </p:sp>
      <p:sp>
        <p:nvSpPr>
          <p:cNvPr id="236" name="Google Shape;236;p12"/>
          <p:cNvSpPr/>
          <p:nvPr/>
        </p:nvSpPr>
        <p:spPr>
          <a:xfrm>
            <a:off x="5074920" y="3493008"/>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Options on paper, not enough depth beneath.</a:t>
            </a:r>
            <a:endParaRPr sz="1100">
              <a:solidFill>
                <a:schemeClr val="dk1"/>
              </a:solidFill>
              <a:latin typeface="Calibri"/>
              <a:ea typeface="Calibri"/>
              <a:cs typeface="Calibri"/>
              <a:sym typeface="Calibri"/>
            </a:endParaRPr>
          </a:p>
        </p:txBody>
      </p:sp>
      <p:sp>
        <p:nvSpPr>
          <p:cNvPr id="237" name="Google Shape;237;p12"/>
          <p:cNvSpPr/>
          <p:nvPr/>
        </p:nvSpPr>
        <p:spPr>
          <a:xfrm rot="-5400000">
            <a:off x="182880" y="2249424"/>
            <a:ext cx="128016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4"/>
              </a:buClr>
              <a:buSzPts val="740"/>
              <a:buFont typeface="Montserrat"/>
              <a:buNone/>
            </a:pPr>
            <a:r>
              <a:rPr b="1" lang="en-US" sz="740">
                <a:solidFill>
                  <a:srgbClr val="5A6B84"/>
                </a:solidFill>
                <a:latin typeface="Montserrat"/>
                <a:ea typeface="Montserrat"/>
                <a:cs typeface="Montserrat"/>
                <a:sym typeface="Montserrat"/>
              </a:rPr>
              <a:t>DENSITY / HIGH</a:t>
            </a:r>
            <a:endParaRPr sz="740">
              <a:solidFill>
                <a:schemeClr val="dk1"/>
              </a:solidFill>
              <a:latin typeface="Calibri"/>
              <a:ea typeface="Calibri"/>
              <a:cs typeface="Calibri"/>
              <a:sym typeface="Calibri"/>
            </a:endParaRPr>
          </a:p>
        </p:txBody>
      </p:sp>
      <p:sp>
        <p:nvSpPr>
          <p:cNvPr id="238" name="Google Shape;238;p12"/>
          <p:cNvSpPr/>
          <p:nvPr/>
        </p:nvSpPr>
        <p:spPr>
          <a:xfrm rot="-5400000">
            <a:off x="182880" y="3456432"/>
            <a:ext cx="128016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4"/>
              </a:buClr>
              <a:buSzPts val="740"/>
              <a:buFont typeface="Montserrat"/>
              <a:buNone/>
            </a:pPr>
            <a:r>
              <a:rPr b="1" lang="en-US" sz="740">
                <a:solidFill>
                  <a:srgbClr val="5A6B84"/>
                </a:solidFill>
                <a:latin typeface="Montserrat"/>
                <a:ea typeface="Montserrat"/>
                <a:cs typeface="Montserrat"/>
                <a:sym typeface="Montserrat"/>
              </a:rPr>
              <a:t>DENSITY / LOW</a:t>
            </a:r>
            <a:endParaRPr sz="740">
              <a:solidFill>
                <a:schemeClr val="dk1"/>
              </a:solidFill>
              <a:latin typeface="Calibri"/>
              <a:ea typeface="Calibri"/>
              <a:cs typeface="Calibri"/>
              <a:sym typeface="Calibri"/>
            </a:endParaRPr>
          </a:p>
        </p:txBody>
      </p:sp>
      <p:sp>
        <p:nvSpPr>
          <p:cNvPr id="239" name="Google Shape;239;p12"/>
          <p:cNvSpPr/>
          <p:nvPr/>
        </p:nvSpPr>
        <p:spPr>
          <a:xfrm>
            <a:off x="1133856" y="4315968"/>
            <a:ext cx="744321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4"/>
              </a:buClr>
              <a:buSzPts val="760"/>
              <a:buFont typeface="Montserrat"/>
              <a:buNone/>
            </a:pPr>
            <a:r>
              <a:rPr b="1" lang="en-US" sz="760">
                <a:solidFill>
                  <a:srgbClr val="5A6B84"/>
                </a:solidFill>
                <a:latin typeface="Montserrat"/>
                <a:ea typeface="Montserrat"/>
                <a:cs typeface="Montserrat"/>
                <a:sym typeface="Montserrat"/>
              </a:rPr>
              <a:t>OPTIONALITY:  LOW AT LEFT   →   HIGH AT RIGHT</a:t>
            </a:r>
            <a:endParaRPr sz="760">
              <a:solidFill>
                <a:schemeClr val="dk1"/>
              </a:solidFill>
              <a:latin typeface="Calibri"/>
              <a:ea typeface="Calibri"/>
              <a:cs typeface="Calibri"/>
              <a:sym typeface="Calibri"/>
            </a:endParaRPr>
          </a:p>
        </p:txBody>
      </p:sp>
      <p:sp>
        <p:nvSpPr>
          <p:cNvPr id="240" name="Google Shape;240;p1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241" name="Google Shape;241;p12"/>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12</a:t>
            </a:r>
            <a:endParaRPr sz="700">
              <a:solidFill>
                <a:schemeClr val="dk1"/>
              </a:solidFill>
              <a:latin typeface="Calibri"/>
              <a:ea typeface="Calibri"/>
              <a:cs typeface="Calibri"/>
              <a:sym typeface="Calibri"/>
            </a:endParaRPr>
          </a:p>
        </p:txBody>
      </p:sp>
      <p:sp>
        <p:nvSpPr>
          <p:cNvPr id="242" name="Clarifier;242;p12"/>
          <p:cNvSpPr/>
          <p:nvPr/>
        </p:nvSpPr>
        <p:spPr>
          <a:xfrm>
            <a:off x="1353312" y="3822191"/>
            <a:ext cx="3282696" cy="36576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950">
                <a:solidFill>
                  <a:srgbClr val="5A6B84"/>
                </a:solidFill>
                <a:latin typeface="DM Sans"/>
                <a:ea typeface="DM Sans"/>
                <a:cs typeface="DM Sans"/>
                <a:sym typeface="DM Sans"/>
              </a:rPr>
              <a:t>Neither axis is moving.</a:t>
            </a:r>
            <a:endParaRPr sz="1100">
              <a:solidFill>
                <a:schemeClr val="dk1"/>
              </a:solidFill>
              <a:latin typeface="Calibri"/>
              <a:ea typeface="Calibri"/>
              <a:cs typeface="Calibri"/>
              <a:sym typeface="Calibri"/>
            </a:endParaRPr>
          </a:p>
        </p:txBody>
      </p:sp>
      <p:sp>
        <p:nvSpPr>
          <p:cNvPr id="243" name="Clarifier;243;p12"/>
          <p:cNvSpPr/>
          <p:nvPr/>
        </p:nvSpPr>
        <p:spPr>
          <a:xfrm>
            <a:off x="5074920" y="3822191"/>
            <a:ext cx="3282696" cy="36576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950">
                <a:solidFill>
                  <a:srgbClr val="5A6B84"/>
                </a:solidFill>
                <a:latin typeface="DM Sans"/>
                <a:ea typeface="DM Sans"/>
                <a:cs typeface="DM Sans"/>
                <a:sym typeface="DM Sans"/>
              </a:rPr>
              <a:t>What you built travels. It is just not being added to.</a:t>
            </a:r>
            <a:endParaRPr sz="11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46" name="Shape 246"/>
        <p:cNvGrpSpPr/>
        <p:nvPr/>
      </p:nvGrpSpPr>
      <p:grpSpPr>
        <a:xfrm>
          <a:off x="0" y="0"/>
          <a:ext cx="0" cy="0"/>
          <a:chOff x="0" y="0"/>
          <a:chExt cx="0" cy="0"/>
        </a:xfrm>
      </p:grpSpPr>
      <p:sp>
        <p:nvSpPr>
          <p:cNvPr id="247" name="Google Shape;247;p13"/>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FIRST PLACEMENT</a:t>
            </a:r>
            <a:endParaRPr sz="950">
              <a:solidFill>
                <a:schemeClr val="dk1"/>
              </a:solidFill>
              <a:latin typeface="Calibri"/>
              <a:ea typeface="Calibri"/>
              <a:cs typeface="Calibri"/>
              <a:sym typeface="Calibri"/>
            </a:endParaRPr>
          </a:p>
        </p:txBody>
      </p:sp>
      <p:sp>
        <p:nvSpPr>
          <p:cNvPr id="248" name="Google Shape;248;p13"/>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lang="en-US" sz="2600">
                <a:solidFill>
                  <a:srgbClr val="0F2347"/>
                </a:solidFill>
                <a:latin typeface="Cormorant Garamond"/>
                <a:ea typeface="Cormorant Garamond"/>
                <a:cs typeface="Cormorant Garamond"/>
                <a:sym typeface="Cormorant Garamond"/>
              </a:rPr>
              <a:t>Place yourself. Privately, and provisionally.</a:t>
            </a:r>
            <a:endParaRPr sz="2600">
              <a:solidFill>
                <a:schemeClr val="dk1"/>
              </a:solidFill>
              <a:latin typeface="Calibri"/>
              <a:ea typeface="Calibri"/>
              <a:cs typeface="Calibri"/>
              <a:sym typeface="Calibri"/>
            </a:endParaRPr>
          </a:p>
        </p:txBody>
      </p:sp>
      <p:sp>
        <p:nvSpPr>
          <p:cNvPr id="249" name="Google Shape;249;p13"/>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Cross your two numbers, then rate your confidence in the placement from 1 to 5.</a:t>
            </a:r>
            <a:endParaRPr sz="1150">
              <a:solidFill>
                <a:schemeClr val="dk1"/>
              </a:solidFill>
              <a:latin typeface="Calibri"/>
              <a:ea typeface="Calibri"/>
              <a:cs typeface="Calibri"/>
              <a:sym typeface="Calibri"/>
            </a:endParaRPr>
          </a:p>
        </p:txBody>
      </p:sp>
      <p:sp>
        <p:nvSpPr>
          <p:cNvPr id="250" name="Google Shape;250;p13"/>
          <p:cNvSpPr/>
          <p:nvPr/>
        </p:nvSpPr>
        <p:spPr>
          <a:xfrm>
            <a:off x="566928" y="1938528"/>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13"/>
          <p:cNvSpPr/>
          <p:nvPr/>
        </p:nvSpPr>
        <p:spPr>
          <a:xfrm>
            <a:off x="566928" y="193852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1</a:t>
            </a:r>
            <a:endParaRPr sz="950">
              <a:solidFill>
                <a:schemeClr val="dk1"/>
              </a:solidFill>
              <a:latin typeface="Calibri"/>
              <a:ea typeface="Calibri"/>
              <a:cs typeface="Calibri"/>
              <a:sym typeface="Calibri"/>
            </a:endParaRPr>
          </a:p>
        </p:txBody>
      </p:sp>
      <p:sp>
        <p:nvSpPr>
          <p:cNvPr id="252" name="Google Shape;252;p13"/>
          <p:cNvSpPr/>
          <p:nvPr/>
        </p:nvSpPr>
        <p:spPr>
          <a:xfrm>
            <a:off x="1005840" y="1911096"/>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00"/>
              <a:buFont typeface="DM Sans"/>
              <a:buNone/>
            </a:pPr>
            <a:r>
              <a:rPr b="1" lang="en-US" sz="1300">
                <a:solidFill>
                  <a:srgbClr val="0F2347"/>
                </a:solidFill>
                <a:latin typeface="DM Sans"/>
                <a:ea typeface="DM Sans"/>
                <a:cs typeface="DM Sans"/>
                <a:sym typeface="DM Sans"/>
              </a:rPr>
              <a:t>Cross Density and Optionality</a:t>
            </a:r>
            <a:endParaRPr sz="1300">
              <a:solidFill>
                <a:schemeClr val="dk1"/>
              </a:solidFill>
              <a:latin typeface="Calibri"/>
              <a:ea typeface="Calibri"/>
              <a:cs typeface="Calibri"/>
              <a:sym typeface="Calibri"/>
            </a:endParaRPr>
          </a:p>
        </p:txBody>
      </p:sp>
      <p:sp>
        <p:nvSpPr>
          <p:cNvPr id="253" name="Google Shape;253;p13"/>
          <p:cNvSpPr/>
          <p:nvPr/>
        </p:nvSpPr>
        <p:spPr>
          <a:xfrm>
            <a:off x="1005840" y="2167128"/>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Two totals, one square. If either total sits inside 17 to 21, mark it boundary instead of picking a square.</a:t>
            </a:r>
            <a:endParaRPr sz="1100">
              <a:solidFill>
                <a:schemeClr val="dk1"/>
              </a:solidFill>
              <a:latin typeface="Calibri"/>
              <a:ea typeface="Calibri"/>
              <a:cs typeface="Calibri"/>
              <a:sym typeface="Calibri"/>
            </a:endParaRPr>
          </a:p>
        </p:txBody>
      </p:sp>
      <p:sp>
        <p:nvSpPr>
          <p:cNvPr id="254" name="Google Shape;254;p13"/>
          <p:cNvSpPr/>
          <p:nvPr/>
        </p:nvSpPr>
        <p:spPr>
          <a:xfrm>
            <a:off x="566928" y="259689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 name="Google Shape;255;p13"/>
          <p:cNvSpPr/>
          <p:nvPr/>
        </p:nvSpPr>
        <p:spPr>
          <a:xfrm>
            <a:off x="566928" y="259689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2</a:t>
            </a:r>
            <a:endParaRPr sz="950">
              <a:solidFill>
                <a:schemeClr val="dk1"/>
              </a:solidFill>
              <a:latin typeface="Calibri"/>
              <a:ea typeface="Calibri"/>
              <a:cs typeface="Calibri"/>
              <a:sym typeface="Calibri"/>
            </a:endParaRPr>
          </a:p>
        </p:txBody>
      </p:sp>
      <p:sp>
        <p:nvSpPr>
          <p:cNvPr id="256" name="Google Shape;256;p13"/>
          <p:cNvSpPr/>
          <p:nvPr/>
        </p:nvSpPr>
        <p:spPr>
          <a:xfrm>
            <a:off x="1005840" y="2569464"/>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00"/>
              <a:buFont typeface="DM Sans"/>
              <a:buNone/>
            </a:pPr>
            <a:r>
              <a:rPr b="1" lang="en-US" sz="1300">
                <a:solidFill>
                  <a:srgbClr val="0F2347"/>
                </a:solidFill>
                <a:latin typeface="DM Sans"/>
                <a:ea typeface="DM Sans"/>
                <a:cs typeface="DM Sans"/>
                <a:sym typeface="DM Sans"/>
              </a:rPr>
              <a:t>Rate your confidence from 1 to 5</a:t>
            </a:r>
            <a:endParaRPr sz="1300">
              <a:solidFill>
                <a:schemeClr val="dk1"/>
              </a:solidFill>
              <a:latin typeface="Calibri"/>
              <a:ea typeface="Calibri"/>
              <a:cs typeface="Calibri"/>
              <a:sym typeface="Calibri"/>
            </a:endParaRPr>
          </a:p>
        </p:txBody>
      </p:sp>
      <p:sp>
        <p:nvSpPr>
          <p:cNvPr id="257" name="Google Shape;257;p13"/>
          <p:cNvSpPr/>
          <p:nvPr/>
        </p:nvSpPr>
        <p:spPr>
          <a:xfrm>
            <a:off x="1005840" y="2825496"/>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Write the number privately. You will compare it against your confidence after the evidence pass.</a:t>
            </a:r>
            <a:endParaRPr sz="1100">
              <a:solidFill>
                <a:schemeClr val="dk1"/>
              </a:solidFill>
              <a:latin typeface="Calibri"/>
              <a:ea typeface="Calibri"/>
              <a:cs typeface="Calibri"/>
              <a:sym typeface="Calibri"/>
            </a:endParaRPr>
          </a:p>
        </p:txBody>
      </p:sp>
      <p:sp>
        <p:nvSpPr>
          <p:cNvPr id="258" name="Google Shape;258;p13"/>
          <p:cNvSpPr/>
          <p:nvPr/>
        </p:nvSpPr>
        <p:spPr>
          <a:xfrm>
            <a:off x="566928" y="3255264"/>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13"/>
          <p:cNvSpPr/>
          <p:nvPr/>
        </p:nvSpPr>
        <p:spPr>
          <a:xfrm>
            <a:off x="566928" y="325526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3</a:t>
            </a:r>
            <a:endParaRPr sz="950">
              <a:solidFill>
                <a:schemeClr val="dk1"/>
              </a:solidFill>
              <a:latin typeface="Calibri"/>
              <a:ea typeface="Calibri"/>
              <a:cs typeface="Calibri"/>
              <a:sym typeface="Calibri"/>
            </a:endParaRPr>
          </a:p>
        </p:txBody>
      </p:sp>
      <p:sp>
        <p:nvSpPr>
          <p:cNvPr id="260" name="Google Shape;260;p13"/>
          <p:cNvSpPr/>
          <p:nvPr/>
        </p:nvSpPr>
        <p:spPr>
          <a:xfrm>
            <a:off x="1005840" y="3227832"/>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00"/>
              <a:buFont typeface="DM Sans"/>
              <a:buNone/>
            </a:pPr>
            <a:r>
              <a:rPr b="1" lang="en-US" sz="1300">
                <a:solidFill>
                  <a:srgbClr val="0F2347"/>
                </a:solidFill>
                <a:latin typeface="DM Sans"/>
                <a:ea typeface="DM Sans"/>
                <a:cs typeface="DM Sans"/>
                <a:sym typeface="DM Sans"/>
              </a:rPr>
              <a:t>Hold it lightly</a:t>
            </a:r>
            <a:endParaRPr sz="1300">
              <a:solidFill>
                <a:schemeClr val="dk1"/>
              </a:solidFill>
              <a:latin typeface="Calibri"/>
              <a:ea typeface="Calibri"/>
              <a:cs typeface="Calibri"/>
              <a:sym typeface="Calibri"/>
            </a:endParaRPr>
          </a:p>
        </p:txBody>
      </p:sp>
      <p:sp>
        <p:nvSpPr>
          <p:cNvPr id="261" name="Google Shape;261;p13"/>
          <p:cNvSpPr/>
          <p:nvPr/>
        </p:nvSpPr>
        <p:spPr>
          <a:xfrm>
            <a:off x="1005840" y="3483864"/>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This is a first read, not a finding. State is not identity — it reads conditions in a ninety-day window, and it moves.</a:t>
            </a:r>
            <a:endParaRPr sz="1100">
              <a:solidFill>
                <a:schemeClr val="dk1"/>
              </a:solidFill>
              <a:latin typeface="Calibri"/>
              <a:ea typeface="Calibri"/>
              <a:cs typeface="Calibri"/>
              <a:sym typeface="Calibri"/>
            </a:endParaRPr>
          </a:p>
        </p:txBody>
      </p:sp>
      <p:sp>
        <p:nvSpPr>
          <p:cNvPr id="262" name="Google Shape;262;p13"/>
          <p:cNvSpPr/>
          <p:nvPr/>
        </p:nvSpPr>
        <p:spPr>
          <a:xfrm>
            <a:off x="566928" y="4005072"/>
            <a:ext cx="8010144" cy="512064"/>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3" name="Google Shape;263;p13"/>
          <p:cNvSpPr/>
          <p:nvPr/>
        </p:nvSpPr>
        <p:spPr>
          <a:xfrm>
            <a:off x="804672" y="4005072"/>
            <a:ext cx="7534656"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50"/>
              <a:buFont typeface="DM Sans"/>
              <a:buNone/>
            </a:pPr>
            <a:r>
              <a:rPr b="1" lang="en-US" sz="1150">
                <a:solidFill>
                  <a:srgbClr val="0F2347"/>
                </a:solidFill>
                <a:latin typeface="DM Sans"/>
                <a:ea typeface="DM Sans"/>
                <a:cs typeface="DM Sans"/>
                <a:sym typeface="DM Sans"/>
              </a:rPr>
              <a:t>No one is asked to share a square. Nothing is collected.</a:t>
            </a:r>
            <a:endParaRPr sz="1150">
              <a:solidFill>
                <a:schemeClr val="dk1"/>
              </a:solidFill>
              <a:latin typeface="Calibri"/>
              <a:ea typeface="Calibri"/>
              <a:cs typeface="Calibri"/>
              <a:sym typeface="Calibri"/>
            </a:endParaRPr>
          </a:p>
        </p:txBody>
      </p:sp>
      <p:sp>
        <p:nvSpPr>
          <p:cNvPr id="264" name="Google Shape;264;p13"/>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265" name="Google Shape;265;p13"/>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13</a:t>
            </a:r>
            <a:endParaRPr sz="7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70" name="Shape 270"/>
        <p:cNvGrpSpPr/>
        <p:nvPr/>
      </p:nvGrpSpPr>
      <p:grpSpPr>
        <a:xfrm>
          <a:off x="0" y="0"/>
          <a:ext cx="0" cy="0"/>
          <a:chOff x="0" y="0"/>
          <a:chExt cx="0" cy="0"/>
        </a:xfrm>
      </p:grpSpPr>
      <p:sp>
        <p:nvSpPr>
          <p:cNvPr id="271" name="Google Shape;271;p14"/>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THE STANDARD</a:t>
            </a:r>
            <a:endParaRPr sz="950">
              <a:solidFill>
                <a:schemeClr val="dk1"/>
              </a:solidFill>
              <a:latin typeface="Calibri"/>
              <a:ea typeface="Calibri"/>
              <a:cs typeface="Calibri"/>
              <a:sym typeface="Calibri"/>
            </a:endParaRPr>
          </a:p>
        </p:txBody>
      </p:sp>
      <p:sp>
        <p:nvSpPr>
          <p:cNvPr id="272" name="Google Shape;272;p14"/>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lang="en-US" sz="3000">
                <a:solidFill>
                  <a:srgbClr val="0F2347"/>
                </a:solidFill>
                <a:latin typeface="Cormorant Garamond"/>
                <a:ea typeface="Cormorant Garamond"/>
                <a:cs typeface="Cormorant Garamond"/>
                <a:sym typeface="Cormorant Garamond"/>
              </a:rPr>
              <a:t>The evidence protocol</a:t>
            </a:r>
            <a:endParaRPr sz="3000">
              <a:solidFill>
                <a:schemeClr val="dk1"/>
              </a:solidFill>
              <a:latin typeface="Calibri"/>
              <a:ea typeface="Calibri"/>
              <a:cs typeface="Calibri"/>
              <a:sym typeface="Calibri"/>
            </a:endParaRPr>
          </a:p>
        </p:txBody>
      </p:sp>
      <p:sp>
        <p:nvSpPr>
          <p:cNvPr id="273" name="Google Shape;273;p14"/>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This is what your second reading has to survive.</a:t>
            </a:r>
            <a:endParaRPr sz="1150">
              <a:solidFill>
                <a:schemeClr val="dk1"/>
              </a:solidFill>
              <a:latin typeface="Calibri"/>
              <a:ea typeface="Calibri"/>
              <a:cs typeface="Calibri"/>
              <a:sym typeface="Calibri"/>
            </a:endParaRPr>
          </a:p>
        </p:txBody>
      </p:sp>
      <p:sp>
        <p:nvSpPr>
          <p:cNvPr id="274" name="Google Shape;274;p14"/>
          <p:cNvSpPr/>
          <p:nvPr/>
        </p:nvSpPr>
        <p:spPr>
          <a:xfrm>
            <a:off x="566928" y="1810512"/>
            <a:ext cx="8010144" cy="512064"/>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14"/>
          <p:cNvSpPr/>
          <p:nvPr/>
        </p:nvSpPr>
        <p:spPr>
          <a:xfrm>
            <a:off x="804672" y="1810512"/>
            <a:ext cx="7534656"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600"/>
              <a:buFont typeface="Cormorant Garamond"/>
              <a:buNone/>
            </a:pPr>
            <a:r>
              <a:rPr b="1" lang="en-US" sz="1600">
                <a:solidFill>
                  <a:srgbClr val="F5F0E8"/>
                </a:solidFill>
                <a:latin typeface="Cormorant Garamond"/>
                <a:ea typeface="Cormorant Garamond"/>
                <a:cs typeface="Cormorant Garamond"/>
                <a:sym typeface="Cormorant Garamond"/>
              </a:rPr>
              <a:t>Every corrected score requires an evidence line from the last ninety days. Every score, in both directions.</a:t>
            </a:r>
            <a:endParaRPr sz="1600">
              <a:solidFill>
                <a:schemeClr val="dk1"/>
              </a:solidFill>
              <a:latin typeface="Calibri"/>
              <a:ea typeface="Calibri"/>
              <a:cs typeface="Calibri"/>
              <a:sym typeface="Calibri"/>
            </a:endParaRPr>
          </a:p>
        </p:txBody>
      </p:sp>
      <p:sp>
        <p:nvSpPr>
          <p:cNvPr id="276" name="Google Shape;276;p14"/>
          <p:cNvSpPr/>
          <p:nvPr/>
        </p:nvSpPr>
        <p:spPr>
          <a:xfrm>
            <a:off x="566928" y="2468880"/>
            <a:ext cx="8010144" cy="4023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14"/>
          <p:cNvSpPr/>
          <p:nvPr/>
        </p:nvSpPr>
        <p:spPr>
          <a:xfrm>
            <a:off x="768096" y="2468880"/>
            <a:ext cx="10972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00"/>
              <a:buFont typeface="Montserrat"/>
              <a:buNone/>
            </a:pPr>
            <a:r>
              <a:rPr b="1" lang="en-US" sz="900">
                <a:solidFill>
                  <a:srgbClr val="0F2347"/>
                </a:solidFill>
                <a:latin typeface="Montserrat"/>
                <a:ea typeface="Montserrat"/>
                <a:cs typeface="Montserrat"/>
                <a:sym typeface="Montserrat"/>
              </a:rPr>
              <a:t>A 4 OR 5</a:t>
            </a:r>
            <a:endParaRPr sz="900">
              <a:solidFill>
                <a:schemeClr val="dk1"/>
              </a:solidFill>
              <a:latin typeface="Calibri"/>
              <a:ea typeface="Calibri"/>
              <a:cs typeface="Calibri"/>
              <a:sym typeface="Calibri"/>
            </a:endParaRPr>
          </a:p>
        </p:txBody>
      </p:sp>
      <p:sp>
        <p:nvSpPr>
          <p:cNvPr id="278" name="Google Shape;278;p14"/>
          <p:cNvSpPr/>
          <p:nvPr/>
        </p:nvSpPr>
        <p:spPr>
          <a:xfrm>
            <a:off x="1984248" y="2468880"/>
            <a:ext cx="6391656"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00"/>
              <a:buFont typeface="DM Sans"/>
              <a:buNone/>
            </a:pPr>
            <a:r>
              <a:rPr lang="en-US" sz="1100">
                <a:solidFill>
                  <a:srgbClr val="0F2347"/>
                </a:solidFill>
                <a:latin typeface="DM Sans"/>
                <a:ea typeface="DM Sans"/>
                <a:cs typeface="DM Sans"/>
                <a:sym typeface="DM Sans"/>
              </a:rPr>
              <a:t>At least one clear positive instance from within the window.</a:t>
            </a:r>
            <a:endParaRPr sz="1100">
              <a:solidFill>
                <a:schemeClr val="dk1"/>
              </a:solidFill>
              <a:latin typeface="Calibri"/>
              <a:ea typeface="Calibri"/>
              <a:cs typeface="Calibri"/>
              <a:sym typeface="Calibri"/>
            </a:endParaRPr>
          </a:p>
        </p:txBody>
      </p:sp>
      <p:sp>
        <p:nvSpPr>
          <p:cNvPr id="279" name="Google Shape;279;p14"/>
          <p:cNvSpPr/>
          <p:nvPr/>
        </p:nvSpPr>
        <p:spPr>
          <a:xfrm>
            <a:off x="566928" y="2944368"/>
            <a:ext cx="8010144" cy="4023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14"/>
          <p:cNvSpPr/>
          <p:nvPr/>
        </p:nvSpPr>
        <p:spPr>
          <a:xfrm>
            <a:off x="768096" y="2944368"/>
            <a:ext cx="10972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00"/>
              <a:buFont typeface="Montserrat"/>
              <a:buNone/>
            </a:pPr>
            <a:r>
              <a:rPr b="1" lang="en-US" sz="900">
                <a:solidFill>
                  <a:srgbClr val="0F2347"/>
                </a:solidFill>
                <a:latin typeface="Montserrat"/>
                <a:ea typeface="Montserrat"/>
                <a:cs typeface="Montserrat"/>
                <a:sym typeface="Montserrat"/>
              </a:rPr>
              <a:t>A 3</a:t>
            </a:r>
            <a:endParaRPr sz="900">
              <a:solidFill>
                <a:schemeClr val="dk1"/>
              </a:solidFill>
              <a:latin typeface="Calibri"/>
              <a:ea typeface="Calibri"/>
              <a:cs typeface="Calibri"/>
              <a:sym typeface="Calibri"/>
            </a:endParaRPr>
          </a:p>
        </p:txBody>
      </p:sp>
      <p:sp>
        <p:nvSpPr>
          <p:cNvPr id="281" name="Google Shape;281;p14"/>
          <p:cNvSpPr/>
          <p:nvPr/>
        </p:nvSpPr>
        <p:spPr>
          <a:xfrm>
            <a:off x="1984248" y="2944368"/>
            <a:ext cx="6391656"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00"/>
              <a:buFont typeface="DM Sans"/>
              <a:buNone/>
            </a:pPr>
            <a:r>
              <a:rPr lang="en-US" sz="1100">
                <a:solidFill>
                  <a:srgbClr val="0F2347"/>
                </a:solidFill>
                <a:latin typeface="DM Sans"/>
                <a:ea typeface="DM Sans"/>
                <a:cs typeface="DM Sans"/>
                <a:sym typeface="DM Sans"/>
              </a:rPr>
              <a:t>The mixed or inconsistent pattern. A 3 is a reading, not an absence of one.</a:t>
            </a:r>
            <a:endParaRPr sz="1100">
              <a:solidFill>
                <a:schemeClr val="dk1"/>
              </a:solidFill>
              <a:latin typeface="Calibri"/>
              <a:ea typeface="Calibri"/>
              <a:cs typeface="Calibri"/>
              <a:sym typeface="Calibri"/>
            </a:endParaRPr>
          </a:p>
        </p:txBody>
      </p:sp>
      <p:sp>
        <p:nvSpPr>
          <p:cNvPr id="282" name="Google Shape;282;p14"/>
          <p:cNvSpPr/>
          <p:nvPr/>
        </p:nvSpPr>
        <p:spPr>
          <a:xfrm>
            <a:off x="566928" y="3419856"/>
            <a:ext cx="8010144" cy="4023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3" name="Google Shape;283;p14"/>
          <p:cNvSpPr/>
          <p:nvPr/>
        </p:nvSpPr>
        <p:spPr>
          <a:xfrm>
            <a:off x="768096" y="3419856"/>
            <a:ext cx="10972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00"/>
              <a:buFont typeface="Montserrat"/>
              <a:buNone/>
            </a:pPr>
            <a:r>
              <a:rPr b="1" lang="en-US" sz="900">
                <a:solidFill>
                  <a:srgbClr val="0F2347"/>
                </a:solidFill>
                <a:latin typeface="Montserrat"/>
                <a:ea typeface="Montserrat"/>
                <a:cs typeface="Montserrat"/>
                <a:sym typeface="Montserrat"/>
              </a:rPr>
              <a:t>A 1 OR 2</a:t>
            </a:r>
            <a:endParaRPr sz="900">
              <a:solidFill>
                <a:schemeClr val="dk1"/>
              </a:solidFill>
              <a:latin typeface="Calibri"/>
              <a:ea typeface="Calibri"/>
              <a:cs typeface="Calibri"/>
              <a:sym typeface="Calibri"/>
            </a:endParaRPr>
          </a:p>
        </p:txBody>
      </p:sp>
      <p:sp>
        <p:nvSpPr>
          <p:cNvPr id="284" name="Google Shape;284;p14"/>
          <p:cNvSpPr/>
          <p:nvPr/>
        </p:nvSpPr>
        <p:spPr>
          <a:xfrm>
            <a:off x="1984248" y="3419856"/>
            <a:ext cx="6391656"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00"/>
              <a:buFont typeface="DM Sans"/>
              <a:buNone/>
            </a:pPr>
            <a:r>
              <a:rPr lang="en-US" sz="1100">
                <a:solidFill>
                  <a:srgbClr val="0F2347"/>
                </a:solidFill>
                <a:latin typeface="DM Sans"/>
                <a:ea typeface="DM Sans"/>
                <a:cs typeface="DM Sans"/>
                <a:sym typeface="DM Sans"/>
              </a:rPr>
              <a:t>What repeatedly happened instead, a counterexample, or no qualifying instance in the window.</a:t>
            </a:r>
            <a:endParaRPr sz="1100">
              <a:solidFill>
                <a:schemeClr val="dk1"/>
              </a:solidFill>
              <a:latin typeface="Calibri"/>
              <a:ea typeface="Calibri"/>
              <a:cs typeface="Calibri"/>
              <a:sym typeface="Calibri"/>
            </a:endParaRPr>
          </a:p>
        </p:txBody>
      </p:sp>
      <p:sp>
        <p:nvSpPr>
          <p:cNvPr id="285" name="Google Shape;285;p14"/>
          <p:cNvSpPr/>
          <p:nvPr/>
        </p:nvSpPr>
        <p:spPr>
          <a:xfrm>
            <a:off x="566928" y="3895344"/>
            <a:ext cx="8010144" cy="402336"/>
          </a:xfrm>
          <a:prstGeom prst="rect">
            <a:avLst/>
          </a:prstGeom>
          <a:solidFill>
            <a:srgbClr val="C1440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14"/>
          <p:cNvSpPr/>
          <p:nvPr/>
        </p:nvSpPr>
        <p:spPr>
          <a:xfrm>
            <a:off x="768096" y="3895344"/>
            <a:ext cx="10972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00"/>
              <a:buFont typeface="Montserrat"/>
              <a:buNone/>
            </a:pPr>
            <a:r>
              <a:rPr b="1" lang="en-US" sz="900">
                <a:solidFill>
                  <a:srgbClr val="F5F0E8"/>
                </a:solidFill>
                <a:latin typeface="Montserrat"/>
                <a:ea typeface="Montserrat"/>
                <a:cs typeface="Montserrat"/>
                <a:sym typeface="Montserrat"/>
              </a:rPr>
              <a:t>A  ?</a:t>
            </a:r>
            <a:endParaRPr sz="900">
              <a:solidFill>
                <a:schemeClr val="dk1"/>
              </a:solidFill>
              <a:latin typeface="Calibri"/>
              <a:ea typeface="Calibri"/>
              <a:cs typeface="Calibri"/>
              <a:sym typeface="Calibri"/>
            </a:endParaRPr>
          </a:p>
        </p:txBody>
      </p:sp>
      <p:sp>
        <p:nvSpPr>
          <p:cNvPr id="287" name="Google Shape;287;p14"/>
          <p:cNvSpPr/>
          <p:nvPr/>
        </p:nvSpPr>
        <p:spPr>
          <a:xfrm>
            <a:off x="1984248" y="3895344"/>
            <a:ext cx="6391656"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100"/>
              <a:buFont typeface="DM Sans"/>
              <a:buNone/>
            </a:pPr>
            <a:r>
              <a:rPr b="1" lang="en-US" sz="1100">
                <a:solidFill>
                  <a:srgbClr val="F5F0E8"/>
                </a:solidFill>
                <a:latin typeface="DM Sans"/>
                <a:ea typeface="DM Sans"/>
                <a:cs typeface="DM Sans"/>
                <a:sym typeface="DM Sans"/>
              </a:rPr>
              <a:t>Cannot support it either way? Write your most defensible number and add one question mark: 3?, 4?, 2?</a:t>
            </a:r>
            <a:endParaRPr sz="1100">
              <a:solidFill>
                <a:schemeClr val="dk1"/>
              </a:solidFill>
              <a:latin typeface="Calibri"/>
              <a:ea typeface="Calibri"/>
              <a:cs typeface="Calibri"/>
              <a:sym typeface="Calibri"/>
            </a:endParaRPr>
          </a:p>
        </p:txBody>
      </p:sp>
      <p:sp>
        <p:nvSpPr>
          <p:cNvPr id="288" name="Google Shape;288;p14"/>
          <p:cNvSpPr/>
          <p:nvPr/>
        </p:nvSpPr>
        <p:spPr>
          <a:xfrm>
            <a:off x="566928" y="4443984"/>
            <a:ext cx="80101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347"/>
              </a:buClr>
              <a:buSzPts val="1150"/>
              <a:buFont typeface="DM Sans"/>
              <a:buNone/>
            </a:pPr>
            <a:r>
              <a:rPr b="1" lang="en-US" sz="1150">
                <a:solidFill>
                  <a:srgbClr val="0F2347"/>
                </a:solidFill>
                <a:latin typeface="DM Sans"/>
                <a:ea typeface="DM Sans"/>
                <a:cs typeface="DM Sans"/>
                <a:sym typeface="DM Sans"/>
              </a:rPr>
              <a:t>A 3 means mixed. A question mark means unsupported.</a:t>
            </a:r>
            <a:endParaRPr sz="1150">
              <a:solidFill>
                <a:schemeClr val="dk1"/>
              </a:solidFill>
              <a:latin typeface="Calibri"/>
              <a:ea typeface="Calibri"/>
              <a:cs typeface="Calibri"/>
              <a:sym typeface="Calibri"/>
            </a:endParaRPr>
          </a:p>
        </p:txBody>
      </p:sp>
      <p:sp>
        <p:nvSpPr>
          <p:cNvPr id="289" name="Google Shape;289;p14"/>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290" name="Google Shape;290;p14"/>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14</a:t>
            </a:r>
            <a:endParaRPr sz="7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95" name="Shape 295"/>
        <p:cNvGrpSpPr/>
        <p:nvPr/>
      </p:nvGrpSpPr>
      <p:grpSpPr>
        <a:xfrm>
          <a:off x="0" y="0"/>
          <a:ext cx="0" cy="0"/>
          <a:chOff x="0" y="0"/>
          <a:chExt cx="0" cy="0"/>
        </a:xfrm>
      </p:grpSpPr>
      <p:sp>
        <p:nvSpPr>
          <p:cNvPr id="296" name="Google Shape;296;p15"/>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CALIBRATION</a:t>
            </a:r>
            <a:endParaRPr sz="950">
              <a:solidFill>
                <a:schemeClr val="dk1"/>
              </a:solidFill>
              <a:latin typeface="Calibri"/>
              <a:ea typeface="Calibri"/>
              <a:cs typeface="Calibri"/>
              <a:sym typeface="Calibri"/>
            </a:endParaRPr>
          </a:p>
        </p:txBody>
      </p:sp>
      <p:sp>
        <p:nvSpPr>
          <p:cNvPr id="297" name="Google Shape;297;p15"/>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lang="en-US" sz="2800">
                <a:solidFill>
                  <a:srgbClr val="0F2347"/>
                </a:solidFill>
                <a:latin typeface="Cormorant Garamond"/>
                <a:ea typeface="Cormorant Garamond"/>
                <a:cs typeface="Cormorant Garamond"/>
                <a:sym typeface="Cormorant Garamond"/>
              </a:rPr>
              <a:t>Three ways a self-score goes wrong</a:t>
            </a:r>
            <a:endParaRPr sz="2800">
              <a:solidFill>
                <a:schemeClr val="dk1"/>
              </a:solidFill>
              <a:latin typeface="Calibri"/>
              <a:ea typeface="Calibri"/>
              <a:cs typeface="Calibri"/>
              <a:sym typeface="Calibri"/>
            </a:endParaRPr>
          </a:p>
        </p:txBody>
      </p:sp>
      <p:sp>
        <p:nvSpPr>
          <p:cNvPr id="298" name="Google Shape;298;p15"/>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Run all three against your first numbers before you rescore.</a:t>
            </a:r>
            <a:endParaRPr sz="1150">
              <a:solidFill>
                <a:schemeClr val="dk1"/>
              </a:solidFill>
              <a:latin typeface="Calibri"/>
              <a:ea typeface="Calibri"/>
              <a:cs typeface="Calibri"/>
              <a:sym typeface="Calibri"/>
            </a:endParaRPr>
          </a:p>
        </p:txBody>
      </p:sp>
      <p:sp>
        <p:nvSpPr>
          <p:cNvPr id="299" name="Google Shape;299;p15"/>
          <p:cNvSpPr/>
          <p:nvPr/>
        </p:nvSpPr>
        <p:spPr>
          <a:xfrm>
            <a:off x="566928" y="1719072"/>
            <a:ext cx="8010144" cy="8595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15"/>
          <p:cNvSpPr/>
          <p:nvPr/>
        </p:nvSpPr>
        <p:spPr>
          <a:xfrm>
            <a:off x="566928" y="1719072"/>
            <a:ext cx="41148" cy="85953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1" name="Google Shape;301;p15"/>
          <p:cNvSpPr/>
          <p:nvPr/>
        </p:nvSpPr>
        <p:spPr>
          <a:xfrm>
            <a:off x="804672" y="1783080"/>
            <a:ext cx="75529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60"/>
              <a:buFont typeface="Montserrat"/>
              <a:buNone/>
            </a:pPr>
            <a:r>
              <a:rPr b="1" lang="en-US" sz="860">
                <a:solidFill>
                  <a:srgbClr val="0F2347"/>
                </a:solidFill>
                <a:latin typeface="Montserrat"/>
                <a:ea typeface="Montserrat"/>
                <a:cs typeface="Montserrat"/>
                <a:sym typeface="Montserrat"/>
              </a:rPr>
              <a:t>1.  SCORING THE INTENDED LIFE</a:t>
            </a:r>
            <a:endParaRPr sz="860">
              <a:solidFill>
                <a:schemeClr val="dk1"/>
              </a:solidFill>
              <a:latin typeface="Calibri"/>
              <a:ea typeface="Calibri"/>
              <a:cs typeface="Calibri"/>
              <a:sym typeface="Calibri"/>
            </a:endParaRPr>
          </a:p>
        </p:txBody>
      </p:sp>
      <p:sp>
        <p:nvSpPr>
          <p:cNvPr id="302" name="Google Shape;302;p15"/>
          <p:cNvSpPr/>
          <p:nvPr/>
        </p:nvSpPr>
        <p:spPr>
          <a:xfrm>
            <a:off x="804672" y="1993392"/>
            <a:ext cx="75529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40"/>
              <a:buFont typeface="DM Sans"/>
              <a:buNone/>
            </a:pPr>
            <a:r>
              <a:rPr i="1" lang="en-US" sz="1040">
                <a:solidFill>
                  <a:srgbClr val="5A6B84"/>
                </a:solidFill>
                <a:latin typeface="DM Sans"/>
                <a:ea typeface="DM Sans"/>
                <a:cs typeface="DM Sans"/>
                <a:sym typeface="DM Sans"/>
              </a:rPr>
              <a:t>“My rotation was approved last month. Statement 1 gets a 4.”</a:t>
            </a:r>
            <a:endParaRPr sz="1040">
              <a:solidFill>
                <a:schemeClr val="dk1"/>
              </a:solidFill>
              <a:latin typeface="Calibri"/>
              <a:ea typeface="Calibri"/>
              <a:cs typeface="Calibri"/>
              <a:sym typeface="Calibri"/>
            </a:endParaRPr>
          </a:p>
        </p:txBody>
      </p:sp>
      <p:sp>
        <p:nvSpPr>
          <p:cNvPr id="303" name="Google Shape;303;p15"/>
          <p:cNvSpPr/>
          <p:nvPr/>
        </p:nvSpPr>
        <p:spPr>
          <a:xfrm>
            <a:off x="804672" y="2203704"/>
            <a:ext cx="7552944" cy="310896"/>
          </a:xfrm>
          <a:prstGeom prst="rect">
            <a:avLst/>
          </a:prstGeom>
          <a:noFill/>
          <a:ln>
            <a:noFill/>
          </a:ln>
        </p:spPr>
        <p:txBody>
          <a:bodyPr anchorCtr="0" anchor="ctr" bIns="0" lIns="0" spcFirstLastPara="1" rIns="0" wrap="square" tIns="0">
            <a:noAutofit/>
          </a:bodyPr>
          <a:lstStyle/>
          <a:p>
            <a:pPr indent="0" lvl="0" marL="0" marR="0" rtl="0" algn="l">
              <a:lnSpc>
                <a:spcPct val="127358"/>
              </a:lnSpc>
              <a:spcBef>
                <a:spcPts val="0"/>
              </a:spcBef>
              <a:spcAft>
                <a:spcPts val="0"/>
              </a:spcAft>
              <a:buClr>
                <a:srgbClr val="0F2347"/>
              </a:buClr>
              <a:buSzPts val="1060"/>
              <a:buFont typeface="DM Sans"/>
              <a:buNone/>
            </a:pPr>
            <a:r>
              <a:rPr b="1" lang="en-US" sz="1060">
                <a:solidFill>
                  <a:srgbClr val="0F2347"/>
                </a:solidFill>
                <a:latin typeface="DM Sans"/>
                <a:ea typeface="DM Sans"/>
                <a:cs typeface="DM Sans"/>
                <a:sym typeface="DM Sans"/>
              </a:rPr>
              <a:t>The window is the last ninety days of work that happened — not work that was approved, promised or planned.</a:t>
            </a:r>
            <a:endParaRPr sz="1060">
              <a:solidFill>
                <a:schemeClr val="dk1"/>
              </a:solidFill>
              <a:latin typeface="Calibri"/>
              <a:ea typeface="Calibri"/>
              <a:cs typeface="Calibri"/>
              <a:sym typeface="Calibri"/>
            </a:endParaRPr>
          </a:p>
        </p:txBody>
      </p:sp>
      <p:sp>
        <p:nvSpPr>
          <p:cNvPr id="304" name="Google Shape;304;p15"/>
          <p:cNvSpPr/>
          <p:nvPr/>
        </p:nvSpPr>
        <p:spPr>
          <a:xfrm>
            <a:off x="566928" y="2624328"/>
            <a:ext cx="8010144" cy="8595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5" name="Google Shape;305;p15"/>
          <p:cNvSpPr/>
          <p:nvPr/>
        </p:nvSpPr>
        <p:spPr>
          <a:xfrm>
            <a:off x="566928" y="2624328"/>
            <a:ext cx="41148" cy="85953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15"/>
          <p:cNvSpPr/>
          <p:nvPr/>
        </p:nvSpPr>
        <p:spPr>
          <a:xfrm>
            <a:off x="804672" y="2688336"/>
            <a:ext cx="75529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60"/>
              <a:buFont typeface="Montserrat"/>
              <a:buNone/>
            </a:pPr>
            <a:r>
              <a:rPr b="1" lang="en-US" sz="860">
                <a:solidFill>
                  <a:srgbClr val="0F2347"/>
                </a:solidFill>
                <a:latin typeface="Montserrat"/>
                <a:ea typeface="Montserrat"/>
                <a:cs typeface="Montserrat"/>
                <a:sym typeface="Montserrat"/>
              </a:rPr>
              <a:t>2.  CONFUSING VALUED WITH FORMED</a:t>
            </a:r>
            <a:endParaRPr sz="860">
              <a:solidFill>
                <a:schemeClr val="dk1"/>
              </a:solidFill>
              <a:latin typeface="Calibri"/>
              <a:ea typeface="Calibri"/>
              <a:cs typeface="Calibri"/>
              <a:sym typeface="Calibri"/>
            </a:endParaRPr>
          </a:p>
        </p:txBody>
      </p:sp>
      <p:sp>
        <p:nvSpPr>
          <p:cNvPr id="307" name="Google Shape;307;p15"/>
          <p:cNvSpPr/>
          <p:nvPr/>
        </p:nvSpPr>
        <p:spPr>
          <a:xfrm>
            <a:off x="804672" y="2898648"/>
            <a:ext cx="75529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40"/>
              <a:buFont typeface="DM Sans"/>
              <a:buNone/>
            </a:pPr>
            <a:r>
              <a:rPr i="1" lang="en-US" sz="1040">
                <a:solidFill>
                  <a:srgbClr val="5A6B84"/>
                </a:solidFill>
                <a:latin typeface="DM Sans"/>
                <a:ea typeface="DM Sans"/>
                <a:cs typeface="DM Sans"/>
                <a:sym typeface="DM Sans"/>
              </a:rPr>
              <a:t>“Three VPs ask for my read before anything ships. Statement 3 gets a 5.”</a:t>
            </a:r>
            <a:endParaRPr sz="1040">
              <a:solidFill>
                <a:schemeClr val="dk1"/>
              </a:solidFill>
              <a:latin typeface="Calibri"/>
              <a:ea typeface="Calibri"/>
              <a:cs typeface="Calibri"/>
              <a:sym typeface="Calibri"/>
            </a:endParaRPr>
          </a:p>
        </p:txBody>
      </p:sp>
      <p:sp>
        <p:nvSpPr>
          <p:cNvPr id="308" name="Google Shape;308;p15"/>
          <p:cNvSpPr/>
          <p:nvPr/>
        </p:nvSpPr>
        <p:spPr>
          <a:xfrm>
            <a:off x="804672" y="3108960"/>
            <a:ext cx="7552944" cy="310896"/>
          </a:xfrm>
          <a:prstGeom prst="rect">
            <a:avLst/>
          </a:prstGeom>
          <a:noFill/>
          <a:ln>
            <a:noFill/>
          </a:ln>
        </p:spPr>
        <p:txBody>
          <a:bodyPr anchorCtr="0" anchor="ctr" bIns="0" lIns="0" spcFirstLastPara="1" rIns="0" wrap="square" tIns="0">
            <a:noAutofit/>
          </a:bodyPr>
          <a:lstStyle/>
          <a:p>
            <a:pPr indent="0" lvl="0" marL="0" marR="0" rtl="0" algn="l">
              <a:lnSpc>
                <a:spcPct val="127358"/>
              </a:lnSpc>
              <a:spcBef>
                <a:spcPts val="0"/>
              </a:spcBef>
              <a:spcAft>
                <a:spcPts val="0"/>
              </a:spcAft>
              <a:buClr>
                <a:srgbClr val="0F2347"/>
              </a:buClr>
              <a:buSzPts val="1060"/>
              <a:buFont typeface="DM Sans"/>
              <a:buNone/>
            </a:pPr>
            <a:r>
              <a:rPr b="1" lang="en-US" sz="1060">
                <a:solidFill>
                  <a:srgbClr val="0F2347"/>
                </a:solidFill>
                <a:latin typeface="DM Sans"/>
                <a:ea typeface="DM Sans"/>
                <a:cs typeface="DM Sans"/>
                <a:sym typeface="DM Sans"/>
              </a:rPr>
              <a:t>Being relied on is real. It is not the same as being developed.</a:t>
            </a:r>
            <a:endParaRPr sz="1060">
              <a:solidFill>
                <a:schemeClr val="dk1"/>
              </a:solidFill>
              <a:latin typeface="Calibri"/>
              <a:ea typeface="Calibri"/>
              <a:cs typeface="Calibri"/>
              <a:sym typeface="Calibri"/>
            </a:endParaRPr>
          </a:p>
        </p:txBody>
      </p:sp>
      <p:sp>
        <p:nvSpPr>
          <p:cNvPr id="309" name="Google Shape;309;p15"/>
          <p:cNvSpPr/>
          <p:nvPr/>
        </p:nvSpPr>
        <p:spPr>
          <a:xfrm>
            <a:off x="566928" y="3529584"/>
            <a:ext cx="8010144" cy="8595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15"/>
          <p:cNvSpPr/>
          <p:nvPr/>
        </p:nvSpPr>
        <p:spPr>
          <a:xfrm>
            <a:off x="566928" y="3529584"/>
            <a:ext cx="41148" cy="85953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15"/>
          <p:cNvSpPr/>
          <p:nvPr/>
        </p:nvSpPr>
        <p:spPr>
          <a:xfrm>
            <a:off x="804672" y="3593592"/>
            <a:ext cx="75529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60"/>
              <a:buFont typeface="Montserrat"/>
              <a:buNone/>
            </a:pPr>
            <a:r>
              <a:rPr b="1" lang="en-US" sz="860">
                <a:solidFill>
                  <a:srgbClr val="0F2347"/>
                </a:solidFill>
                <a:latin typeface="Montserrat"/>
                <a:ea typeface="Montserrat"/>
                <a:cs typeface="Montserrat"/>
                <a:sym typeface="Montserrat"/>
              </a:rPr>
              <a:t>3.  READING LOW OPTIONALITY AS A VERDICT</a:t>
            </a:r>
            <a:endParaRPr sz="860">
              <a:solidFill>
                <a:schemeClr val="dk1"/>
              </a:solidFill>
              <a:latin typeface="Calibri"/>
              <a:ea typeface="Calibri"/>
              <a:cs typeface="Calibri"/>
              <a:sym typeface="Calibri"/>
            </a:endParaRPr>
          </a:p>
        </p:txBody>
      </p:sp>
      <p:sp>
        <p:nvSpPr>
          <p:cNvPr id="312" name="Google Shape;312;p15"/>
          <p:cNvSpPr/>
          <p:nvPr/>
        </p:nvSpPr>
        <p:spPr>
          <a:xfrm>
            <a:off x="804672" y="3803904"/>
            <a:ext cx="75529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40"/>
              <a:buFont typeface="DM Sans"/>
              <a:buNone/>
            </a:pPr>
            <a:r>
              <a:rPr i="1" lang="en-US" sz="1040">
                <a:solidFill>
                  <a:srgbClr val="5A6B84"/>
                </a:solidFill>
                <a:latin typeface="DM Sans"/>
                <a:ea typeface="DM Sans"/>
                <a:cs typeface="DM Sans"/>
                <a:sym typeface="DM Sans"/>
              </a:rPr>
              <a:t>“Statement 10 is a 2 because I am not senior enough.”</a:t>
            </a:r>
            <a:endParaRPr sz="1040">
              <a:solidFill>
                <a:schemeClr val="dk1"/>
              </a:solidFill>
              <a:latin typeface="Calibri"/>
              <a:ea typeface="Calibri"/>
              <a:cs typeface="Calibri"/>
              <a:sym typeface="Calibri"/>
            </a:endParaRPr>
          </a:p>
        </p:txBody>
      </p:sp>
      <p:sp>
        <p:nvSpPr>
          <p:cNvPr id="313" name="Google Shape;313;p15"/>
          <p:cNvSpPr/>
          <p:nvPr/>
        </p:nvSpPr>
        <p:spPr>
          <a:xfrm>
            <a:off x="804672" y="4014216"/>
            <a:ext cx="7552944" cy="310896"/>
          </a:xfrm>
          <a:prstGeom prst="rect">
            <a:avLst/>
          </a:prstGeom>
          <a:noFill/>
          <a:ln>
            <a:noFill/>
          </a:ln>
        </p:spPr>
        <p:txBody>
          <a:bodyPr anchorCtr="0" anchor="ctr" bIns="0" lIns="0" spcFirstLastPara="1" rIns="0" wrap="square" tIns="0">
            <a:noAutofit/>
          </a:bodyPr>
          <a:lstStyle/>
          <a:p>
            <a:pPr indent="0" lvl="0" marL="0" marR="0" rtl="0" algn="l">
              <a:lnSpc>
                <a:spcPct val="127358"/>
              </a:lnSpc>
              <a:spcBef>
                <a:spcPts val="0"/>
              </a:spcBef>
              <a:spcAft>
                <a:spcPts val="0"/>
              </a:spcAft>
              <a:buClr>
                <a:srgbClr val="0F2347"/>
              </a:buClr>
              <a:buSzPts val="1060"/>
              <a:buFont typeface="DM Sans"/>
              <a:buNone/>
            </a:pPr>
            <a:r>
              <a:rPr b="1" lang="en-US" sz="1060">
                <a:solidFill>
                  <a:srgbClr val="0F2347"/>
                </a:solidFill>
                <a:latin typeface="DM Sans"/>
                <a:ea typeface="DM Sans"/>
                <a:cs typeface="DM Sans"/>
                <a:sym typeface="DM Sans"/>
              </a:rPr>
              <a:t>A low Optionality score may reflect context-bound capability, weak translation, limited exposure, or a combination. It is not a verdict on ability or worth.</a:t>
            </a:r>
            <a:endParaRPr sz="1060">
              <a:solidFill>
                <a:schemeClr val="dk1"/>
              </a:solidFill>
              <a:latin typeface="Calibri"/>
              <a:ea typeface="Calibri"/>
              <a:cs typeface="Calibri"/>
              <a:sym typeface="Calibri"/>
            </a:endParaRPr>
          </a:p>
        </p:txBody>
      </p:sp>
      <p:sp>
        <p:nvSpPr>
          <p:cNvPr id="314" name="Google Shape;314;p15"/>
          <p:cNvSpPr/>
          <p:nvPr/>
        </p:nvSpPr>
        <p:spPr>
          <a:xfrm>
            <a:off x="566928" y="4443984"/>
            <a:ext cx="801014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40"/>
              <a:buFont typeface="DM Sans"/>
              <a:buNone/>
            </a:pPr>
            <a:r>
              <a:rPr i="1" lang="en-US" sz="1040">
                <a:solidFill>
                  <a:srgbClr val="5A6B84"/>
                </a:solidFill>
                <a:latin typeface="DM Sans"/>
                <a:ea typeface="DM Sans"/>
                <a:cs typeface="DM Sans"/>
                <a:sym typeface="DM Sans"/>
              </a:rPr>
              <a:t>Three is the set. Run them, then rescore.</a:t>
            </a:r>
            <a:endParaRPr sz="1040">
              <a:solidFill>
                <a:schemeClr val="dk1"/>
              </a:solidFill>
              <a:latin typeface="Calibri"/>
              <a:ea typeface="Calibri"/>
              <a:cs typeface="Calibri"/>
              <a:sym typeface="Calibri"/>
            </a:endParaRPr>
          </a:p>
        </p:txBody>
      </p:sp>
      <p:sp>
        <p:nvSpPr>
          <p:cNvPr id="315" name="Google Shape;315;p15"/>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316" name="Google Shape;316;p15"/>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15</a:t>
            </a:r>
            <a:endParaRPr sz="7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21" name="Shape 321"/>
        <p:cNvGrpSpPr/>
        <p:nvPr/>
      </p:nvGrpSpPr>
      <p:grpSpPr>
        <a:xfrm>
          <a:off x="0" y="0"/>
          <a:ext cx="0" cy="0"/>
          <a:chOff x="0" y="0"/>
          <a:chExt cx="0" cy="0"/>
        </a:xfrm>
      </p:grpSpPr>
      <p:sp>
        <p:nvSpPr>
          <p:cNvPr id="322" name="Google Shape;322;p16"/>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EVIDENCE-BACKED READ</a:t>
            </a:r>
            <a:endParaRPr sz="950">
              <a:solidFill>
                <a:schemeClr val="dk1"/>
              </a:solidFill>
              <a:latin typeface="Calibri"/>
              <a:ea typeface="Calibri"/>
              <a:cs typeface="Calibri"/>
              <a:sym typeface="Calibri"/>
            </a:endParaRPr>
          </a:p>
        </p:txBody>
      </p:sp>
      <p:sp>
        <p:nvSpPr>
          <p:cNvPr id="323" name="Google Shape;323;p16"/>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lang="en-US" sz="3000">
                <a:solidFill>
                  <a:srgbClr val="0F2347"/>
                </a:solidFill>
                <a:latin typeface="Cormorant Garamond"/>
                <a:ea typeface="Cormorant Garamond"/>
                <a:cs typeface="Cormorant Garamond"/>
                <a:sym typeface="Cormorant Garamond"/>
              </a:rPr>
              <a:t>Score all twelve again</a:t>
            </a:r>
            <a:endParaRPr sz="3000">
              <a:solidFill>
                <a:schemeClr val="dk1"/>
              </a:solidFill>
              <a:latin typeface="Calibri"/>
              <a:ea typeface="Calibri"/>
              <a:cs typeface="Calibri"/>
              <a:sym typeface="Calibri"/>
            </a:endParaRPr>
          </a:p>
        </p:txBody>
      </p:sp>
      <p:sp>
        <p:nvSpPr>
          <p:cNvPr id="324" name="Google Shape;324;p16"/>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Evidence in both directions. Do not change your first number.</a:t>
            </a:r>
            <a:endParaRPr sz="1150">
              <a:solidFill>
                <a:schemeClr val="dk1"/>
              </a:solidFill>
              <a:latin typeface="Calibri"/>
              <a:ea typeface="Calibri"/>
              <a:cs typeface="Calibri"/>
              <a:sym typeface="Calibri"/>
            </a:endParaRPr>
          </a:p>
        </p:txBody>
      </p:sp>
      <p:sp>
        <p:nvSpPr>
          <p:cNvPr id="325" name="Google Shape;325;p16"/>
          <p:cNvSpPr/>
          <p:nvPr/>
        </p:nvSpPr>
        <p:spPr>
          <a:xfrm>
            <a:off x="566928" y="1847088"/>
            <a:ext cx="8010144" cy="877824"/>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16"/>
          <p:cNvSpPr/>
          <p:nvPr/>
        </p:nvSpPr>
        <p:spPr>
          <a:xfrm>
            <a:off x="822960" y="1956816"/>
            <a:ext cx="3108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839"/>
              <a:buFont typeface="Montserrat"/>
              <a:buNone/>
            </a:pPr>
            <a:r>
              <a:rPr b="1" lang="en-US" sz="840">
                <a:solidFill>
                  <a:srgbClr val="C9A84C"/>
                </a:solidFill>
                <a:latin typeface="Montserrat"/>
                <a:ea typeface="Montserrat"/>
                <a:cs typeface="Montserrat"/>
                <a:sym typeface="Montserrat"/>
              </a:rPr>
              <a:t>THE PROTOCOL, IN SHORT</a:t>
            </a:r>
            <a:endParaRPr sz="840">
              <a:solidFill>
                <a:schemeClr val="dk1"/>
              </a:solidFill>
              <a:latin typeface="Calibri"/>
              <a:ea typeface="Calibri"/>
              <a:cs typeface="Calibri"/>
              <a:sym typeface="Calibri"/>
            </a:endParaRPr>
          </a:p>
        </p:txBody>
      </p:sp>
      <p:sp>
        <p:nvSpPr>
          <p:cNvPr id="327" name="Google Shape;327;p16"/>
          <p:cNvSpPr/>
          <p:nvPr/>
        </p:nvSpPr>
        <p:spPr>
          <a:xfrm>
            <a:off x="822960" y="2231136"/>
            <a:ext cx="65836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4 or 5</a:t>
            </a:r>
            <a:endParaRPr sz="950">
              <a:solidFill>
                <a:schemeClr val="dk1"/>
              </a:solidFill>
              <a:latin typeface="Calibri"/>
              <a:ea typeface="Calibri"/>
              <a:cs typeface="Calibri"/>
              <a:sym typeface="Calibri"/>
            </a:endParaRPr>
          </a:p>
        </p:txBody>
      </p:sp>
      <p:sp>
        <p:nvSpPr>
          <p:cNvPr id="328" name="Google Shape;328;p16"/>
          <p:cNvSpPr/>
          <p:nvPr/>
        </p:nvSpPr>
        <p:spPr>
          <a:xfrm>
            <a:off x="1517904" y="2231136"/>
            <a:ext cx="31089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000"/>
              <a:buFont typeface="DM Sans"/>
              <a:buNone/>
            </a:pPr>
            <a:r>
              <a:rPr lang="en-US" sz="1000">
                <a:solidFill>
                  <a:srgbClr val="F5F0E8"/>
                </a:solidFill>
                <a:latin typeface="DM Sans"/>
                <a:ea typeface="DM Sans"/>
                <a:cs typeface="DM Sans"/>
                <a:sym typeface="DM Sans"/>
              </a:rPr>
              <a:t>one clear positive instance</a:t>
            </a:r>
            <a:endParaRPr sz="1000">
              <a:solidFill>
                <a:schemeClr val="dk1"/>
              </a:solidFill>
              <a:latin typeface="Calibri"/>
              <a:ea typeface="Calibri"/>
              <a:cs typeface="Calibri"/>
              <a:sym typeface="Calibri"/>
            </a:endParaRPr>
          </a:p>
        </p:txBody>
      </p:sp>
      <p:sp>
        <p:nvSpPr>
          <p:cNvPr id="329" name="Google Shape;329;p16"/>
          <p:cNvSpPr/>
          <p:nvPr/>
        </p:nvSpPr>
        <p:spPr>
          <a:xfrm>
            <a:off x="4754880" y="2231136"/>
            <a:ext cx="65836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3</a:t>
            </a:r>
            <a:endParaRPr sz="950">
              <a:solidFill>
                <a:schemeClr val="dk1"/>
              </a:solidFill>
              <a:latin typeface="Calibri"/>
              <a:ea typeface="Calibri"/>
              <a:cs typeface="Calibri"/>
              <a:sym typeface="Calibri"/>
            </a:endParaRPr>
          </a:p>
        </p:txBody>
      </p:sp>
      <p:sp>
        <p:nvSpPr>
          <p:cNvPr id="330" name="Google Shape;330;p16"/>
          <p:cNvSpPr/>
          <p:nvPr/>
        </p:nvSpPr>
        <p:spPr>
          <a:xfrm>
            <a:off x="5449824" y="2231136"/>
            <a:ext cx="31089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000"/>
              <a:buFont typeface="DM Sans"/>
              <a:buNone/>
            </a:pPr>
            <a:r>
              <a:rPr lang="en-US" sz="1000">
                <a:solidFill>
                  <a:srgbClr val="F5F0E8"/>
                </a:solidFill>
                <a:latin typeface="DM Sans"/>
                <a:ea typeface="DM Sans"/>
                <a:cs typeface="DM Sans"/>
                <a:sym typeface="DM Sans"/>
              </a:rPr>
              <a:t>the mixed or inconsistent pattern</a:t>
            </a:r>
            <a:endParaRPr sz="1000">
              <a:solidFill>
                <a:schemeClr val="dk1"/>
              </a:solidFill>
              <a:latin typeface="Calibri"/>
              <a:ea typeface="Calibri"/>
              <a:cs typeface="Calibri"/>
              <a:sym typeface="Calibri"/>
            </a:endParaRPr>
          </a:p>
        </p:txBody>
      </p:sp>
      <p:sp>
        <p:nvSpPr>
          <p:cNvPr id="331" name="Google Shape;331;p16"/>
          <p:cNvSpPr/>
          <p:nvPr/>
        </p:nvSpPr>
        <p:spPr>
          <a:xfrm>
            <a:off x="822960" y="2487168"/>
            <a:ext cx="65836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1 or 2</a:t>
            </a:r>
            <a:endParaRPr sz="950">
              <a:solidFill>
                <a:schemeClr val="dk1"/>
              </a:solidFill>
              <a:latin typeface="Calibri"/>
              <a:ea typeface="Calibri"/>
              <a:cs typeface="Calibri"/>
              <a:sym typeface="Calibri"/>
            </a:endParaRPr>
          </a:p>
        </p:txBody>
      </p:sp>
      <p:sp>
        <p:nvSpPr>
          <p:cNvPr id="332" name="Google Shape;332;p16"/>
          <p:cNvSpPr/>
          <p:nvPr/>
        </p:nvSpPr>
        <p:spPr>
          <a:xfrm>
            <a:off x="1517904" y="2487168"/>
            <a:ext cx="31089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000"/>
              <a:buFont typeface="DM Sans"/>
              <a:buNone/>
            </a:pPr>
            <a:r>
              <a:rPr lang="en-US" sz="1000">
                <a:solidFill>
                  <a:srgbClr val="F5F0E8"/>
                </a:solidFill>
                <a:latin typeface="DM Sans"/>
                <a:ea typeface="DM Sans"/>
                <a:cs typeface="DM Sans"/>
                <a:sym typeface="DM Sans"/>
              </a:rPr>
              <a:t>what happened instead, or no qualifying instance</a:t>
            </a:r>
            <a:endParaRPr sz="1000">
              <a:solidFill>
                <a:schemeClr val="dk1"/>
              </a:solidFill>
              <a:latin typeface="Calibri"/>
              <a:ea typeface="Calibri"/>
              <a:cs typeface="Calibri"/>
              <a:sym typeface="Calibri"/>
            </a:endParaRPr>
          </a:p>
        </p:txBody>
      </p:sp>
      <p:sp>
        <p:nvSpPr>
          <p:cNvPr id="333" name="Google Shape;333;p16"/>
          <p:cNvSpPr/>
          <p:nvPr/>
        </p:nvSpPr>
        <p:spPr>
          <a:xfrm>
            <a:off x="4754880" y="2487168"/>
            <a:ext cx="65836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a:t>
            </a:r>
            <a:endParaRPr sz="950">
              <a:solidFill>
                <a:schemeClr val="dk1"/>
              </a:solidFill>
              <a:latin typeface="Calibri"/>
              <a:ea typeface="Calibri"/>
              <a:cs typeface="Calibri"/>
              <a:sym typeface="Calibri"/>
            </a:endParaRPr>
          </a:p>
        </p:txBody>
      </p:sp>
      <p:sp>
        <p:nvSpPr>
          <p:cNvPr id="334" name="Google Shape;334;p16"/>
          <p:cNvSpPr/>
          <p:nvPr/>
        </p:nvSpPr>
        <p:spPr>
          <a:xfrm>
            <a:off x="5449824" y="2487168"/>
            <a:ext cx="31089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000"/>
              <a:buFont typeface="DM Sans"/>
              <a:buNone/>
            </a:pPr>
            <a:r>
              <a:rPr lang="en-US" sz="1000">
                <a:solidFill>
                  <a:srgbClr val="F5F0E8"/>
                </a:solidFill>
                <a:latin typeface="DM Sans"/>
                <a:ea typeface="DM Sans"/>
                <a:cs typeface="DM Sans"/>
                <a:sym typeface="DM Sans"/>
              </a:rPr>
              <a:t>most defensible number, marked once: 3?, 4?, 2?</a:t>
            </a:r>
            <a:endParaRPr sz="1000">
              <a:solidFill>
                <a:schemeClr val="dk1"/>
              </a:solidFill>
              <a:latin typeface="Calibri"/>
              <a:ea typeface="Calibri"/>
              <a:cs typeface="Calibri"/>
              <a:sym typeface="Calibri"/>
            </a:endParaRPr>
          </a:p>
        </p:txBody>
      </p:sp>
      <p:sp>
        <p:nvSpPr>
          <p:cNvPr id="335" name="Google Shape;335;p16"/>
          <p:cNvSpPr/>
          <p:nvPr/>
        </p:nvSpPr>
        <p:spPr>
          <a:xfrm>
            <a:off x="566928" y="2944368"/>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00"/>
              <a:buFont typeface="Montserrat"/>
              <a:buNone/>
            </a:pPr>
            <a:r>
              <a:rPr b="1" lang="en-US" sz="1100">
                <a:solidFill>
                  <a:srgbClr val="0F2347"/>
                </a:solidFill>
                <a:latin typeface="Montserrat"/>
                <a:ea typeface="Montserrat"/>
                <a:cs typeface="Montserrat"/>
                <a:sym typeface="Montserrat"/>
              </a:rPr>
              <a:t>Density   1 · 2 · 3 · 4 · 5 · 6</a:t>
            </a:r>
            <a:endParaRPr sz="1100">
              <a:solidFill>
                <a:schemeClr val="dk1"/>
              </a:solidFill>
              <a:latin typeface="Calibri"/>
              <a:ea typeface="Calibri"/>
              <a:cs typeface="Calibri"/>
              <a:sym typeface="Calibri"/>
            </a:endParaRPr>
          </a:p>
        </p:txBody>
      </p:sp>
      <p:sp>
        <p:nvSpPr>
          <p:cNvPr id="336" name="Google Shape;336;p16"/>
          <p:cNvSpPr/>
          <p:nvPr/>
        </p:nvSpPr>
        <p:spPr>
          <a:xfrm>
            <a:off x="4754880" y="2944368"/>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00"/>
              <a:buFont typeface="Montserrat"/>
              <a:buNone/>
            </a:pPr>
            <a:r>
              <a:rPr b="1" lang="en-US" sz="1100">
                <a:solidFill>
                  <a:srgbClr val="0F2347"/>
                </a:solidFill>
                <a:latin typeface="Montserrat"/>
                <a:ea typeface="Montserrat"/>
                <a:cs typeface="Montserrat"/>
                <a:sym typeface="Montserrat"/>
              </a:rPr>
              <a:t>Optionality   7 · 8 · 9 · 10 · 11 · 12</a:t>
            </a:r>
            <a:endParaRPr sz="1100">
              <a:solidFill>
                <a:schemeClr val="dk1"/>
              </a:solidFill>
              <a:latin typeface="Calibri"/>
              <a:ea typeface="Calibri"/>
              <a:cs typeface="Calibri"/>
              <a:sym typeface="Calibri"/>
            </a:endParaRPr>
          </a:p>
        </p:txBody>
      </p:sp>
      <p:sp>
        <p:nvSpPr>
          <p:cNvPr id="337" name="Google Shape;337;p16"/>
          <p:cNvSpPr/>
          <p:nvPr/>
        </p:nvSpPr>
        <p:spPr>
          <a:xfrm>
            <a:off x="566928" y="3401568"/>
            <a:ext cx="8010144" cy="786384"/>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8" name="Google Shape;338;p16"/>
          <p:cNvSpPr/>
          <p:nvPr/>
        </p:nvSpPr>
        <p:spPr>
          <a:xfrm>
            <a:off x="822960" y="3401568"/>
            <a:ext cx="7498080" cy="786384"/>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0F2347"/>
              </a:buClr>
              <a:buSzPts val="1150"/>
              <a:buFont typeface="DM Sans"/>
              <a:buNone/>
            </a:pPr>
            <a:r>
              <a:rPr lang="en-US" sz="1150">
                <a:solidFill>
                  <a:srgbClr val="0F2347"/>
                </a:solidFill>
                <a:latin typeface="DM Sans"/>
                <a:ea typeface="DM Sans"/>
                <a:cs typeface="DM Sans"/>
                <a:sym typeface="DM Sans"/>
              </a:rPr>
              <a:t>Write the corrected number and a short evidence phrase under it. Your first number stays where it is. Phrases, not essays — twelve minutes for twelve statements.</a:t>
            </a:r>
            <a:endParaRPr sz="1150">
              <a:solidFill>
                <a:schemeClr val="dk1"/>
              </a:solidFill>
              <a:latin typeface="Calibri"/>
              <a:ea typeface="Calibri"/>
              <a:cs typeface="Calibri"/>
              <a:sym typeface="Calibri"/>
            </a:endParaRPr>
          </a:p>
        </p:txBody>
      </p:sp>
      <p:sp>
        <p:nvSpPr>
          <p:cNvPr id="339" name="Google Shape;339;p16"/>
          <p:cNvSpPr/>
          <p:nvPr/>
        </p:nvSpPr>
        <p:spPr>
          <a:xfrm>
            <a:off x="566928" y="4334256"/>
            <a:ext cx="801014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1440E"/>
              </a:buClr>
              <a:buSzPts val="1040"/>
              <a:buFont typeface="DM Sans"/>
              <a:buNone/>
            </a:pPr>
            <a:r>
              <a:rPr b="1" lang="en-US" sz="1040">
                <a:solidFill>
                  <a:srgbClr val="C1440E"/>
                </a:solidFill>
                <a:latin typeface="DM Sans"/>
                <a:ea typeface="DM Sans"/>
                <a:cs typeface="DM Sans"/>
                <a:sym typeface="DM Sans"/>
              </a:rPr>
              <a:t>Workbook pages 5 and 6.</a:t>
            </a:r>
            <a:endParaRPr sz="1040">
              <a:solidFill>
                <a:schemeClr val="dk1"/>
              </a:solidFill>
              <a:latin typeface="Calibri"/>
              <a:ea typeface="Calibri"/>
              <a:cs typeface="Calibri"/>
              <a:sym typeface="Calibri"/>
            </a:endParaRPr>
          </a:p>
        </p:txBody>
      </p:sp>
      <p:sp>
        <p:nvSpPr>
          <p:cNvPr id="340" name="Google Shape;340;p16"/>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341" name="Google Shape;341;p16"/>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16</a:t>
            </a:r>
            <a:endParaRPr sz="7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46" name="Shape 346"/>
        <p:cNvGrpSpPr/>
        <p:nvPr/>
      </p:nvGrpSpPr>
      <p:grpSpPr>
        <a:xfrm>
          <a:off x="0" y="0"/>
          <a:ext cx="0" cy="0"/>
          <a:chOff x="0" y="0"/>
          <a:chExt cx="0" cy="0"/>
        </a:xfrm>
      </p:grpSpPr>
      <p:sp>
        <p:nvSpPr>
          <p:cNvPr id="347" name="Google Shape;347;p17"/>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CORRECTED READ</a:t>
            </a:r>
            <a:endParaRPr sz="950">
              <a:solidFill>
                <a:schemeClr val="dk1"/>
              </a:solidFill>
              <a:latin typeface="Calibri"/>
              <a:ea typeface="Calibri"/>
              <a:cs typeface="Calibri"/>
              <a:sym typeface="Calibri"/>
            </a:endParaRPr>
          </a:p>
        </p:txBody>
      </p:sp>
      <p:sp>
        <p:nvSpPr>
          <p:cNvPr id="348" name="Google Shape;348;p17"/>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lang="en-US" sz="2800">
                <a:solidFill>
                  <a:srgbClr val="0F2347"/>
                </a:solidFill>
                <a:latin typeface="Cormorant Garamond"/>
                <a:ea typeface="Cormorant Garamond"/>
                <a:cs typeface="Cormorant Garamond"/>
                <a:sym typeface="Cormorant Garamond"/>
              </a:rPr>
              <a:t>Re-total before you place again</a:t>
            </a:r>
            <a:endParaRPr sz="2800">
              <a:solidFill>
                <a:schemeClr val="dk1"/>
              </a:solidFill>
              <a:latin typeface="Calibri"/>
              <a:ea typeface="Calibri"/>
              <a:cs typeface="Calibri"/>
              <a:sym typeface="Calibri"/>
            </a:endParaRPr>
          </a:p>
        </p:txBody>
      </p:sp>
      <p:sp>
        <p:nvSpPr>
          <p:cNvPr id="349" name="Google Shape;349;p17"/>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New numbers. A fresh placement, not a review of the first one.</a:t>
            </a:r>
            <a:endParaRPr sz="1150">
              <a:solidFill>
                <a:schemeClr val="dk1"/>
              </a:solidFill>
              <a:latin typeface="Calibri"/>
              <a:ea typeface="Calibri"/>
              <a:cs typeface="Calibri"/>
              <a:sym typeface="Calibri"/>
            </a:endParaRPr>
          </a:p>
        </p:txBody>
      </p:sp>
      <p:sp>
        <p:nvSpPr>
          <p:cNvPr id="350" name="Google Shape;350;p17"/>
          <p:cNvSpPr/>
          <p:nvPr/>
        </p:nvSpPr>
        <p:spPr>
          <a:xfrm>
            <a:off x="566928" y="1920240"/>
            <a:ext cx="3931920" cy="109728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1" name="Google Shape;351;p17"/>
          <p:cNvSpPr/>
          <p:nvPr/>
        </p:nvSpPr>
        <p:spPr>
          <a:xfrm>
            <a:off x="841248" y="2084832"/>
            <a:ext cx="3383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Montserrat"/>
              <a:buNone/>
            </a:pPr>
            <a:r>
              <a:rPr b="1" lang="en-US" sz="900">
                <a:solidFill>
                  <a:srgbClr val="C9A84C"/>
                </a:solidFill>
                <a:latin typeface="Montserrat"/>
                <a:ea typeface="Montserrat"/>
                <a:cs typeface="Montserrat"/>
                <a:sym typeface="Montserrat"/>
              </a:rPr>
              <a:t>DENSITY, CORRECTED</a:t>
            </a:r>
            <a:endParaRPr sz="900">
              <a:solidFill>
                <a:schemeClr val="dk1"/>
              </a:solidFill>
              <a:latin typeface="Calibri"/>
              <a:ea typeface="Calibri"/>
              <a:cs typeface="Calibri"/>
              <a:sym typeface="Calibri"/>
            </a:endParaRPr>
          </a:p>
        </p:txBody>
      </p:sp>
      <p:sp>
        <p:nvSpPr>
          <p:cNvPr id="352" name="Google Shape;352;p17"/>
          <p:cNvSpPr/>
          <p:nvPr/>
        </p:nvSpPr>
        <p:spPr>
          <a:xfrm>
            <a:off x="841248" y="2359152"/>
            <a:ext cx="33832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2900"/>
              <a:buFont typeface="Cormorant Garamond"/>
              <a:buNone/>
            </a:pPr>
            <a:r>
              <a:rPr b="1" lang="en-US" sz="2900">
                <a:solidFill>
                  <a:srgbClr val="F5F0E8"/>
                </a:solidFill>
                <a:latin typeface="Cormorant Garamond"/>
                <a:ea typeface="Cormorant Garamond"/>
                <a:cs typeface="Cormorant Garamond"/>
                <a:sym typeface="Cormorant Garamond"/>
              </a:rPr>
              <a:t>________  / 30</a:t>
            </a:r>
            <a:endParaRPr sz="2900">
              <a:solidFill>
                <a:schemeClr val="dk1"/>
              </a:solidFill>
              <a:latin typeface="Calibri"/>
              <a:ea typeface="Calibri"/>
              <a:cs typeface="Calibri"/>
              <a:sym typeface="Calibri"/>
            </a:endParaRPr>
          </a:p>
        </p:txBody>
      </p:sp>
      <p:sp>
        <p:nvSpPr>
          <p:cNvPr id="353" name="Google Shape;353;p17"/>
          <p:cNvSpPr/>
          <p:nvPr/>
        </p:nvSpPr>
        <p:spPr>
          <a:xfrm>
            <a:off x="4690872" y="1920240"/>
            <a:ext cx="3886200" cy="109728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p17"/>
          <p:cNvSpPr/>
          <p:nvPr/>
        </p:nvSpPr>
        <p:spPr>
          <a:xfrm>
            <a:off x="4965192" y="2084832"/>
            <a:ext cx="3383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Montserrat"/>
              <a:buNone/>
            </a:pPr>
            <a:r>
              <a:rPr b="1" lang="en-US" sz="900">
                <a:solidFill>
                  <a:srgbClr val="C9A84C"/>
                </a:solidFill>
                <a:latin typeface="Montserrat"/>
                <a:ea typeface="Montserrat"/>
                <a:cs typeface="Montserrat"/>
                <a:sym typeface="Montserrat"/>
              </a:rPr>
              <a:t>OPTIONALITY, CORRECTED</a:t>
            </a:r>
            <a:endParaRPr sz="900">
              <a:solidFill>
                <a:schemeClr val="dk1"/>
              </a:solidFill>
              <a:latin typeface="Calibri"/>
              <a:ea typeface="Calibri"/>
              <a:cs typeface="Calibri"/>
              <a:sym typeface="Calibri"/>
            </a:endParaRPr>
          </a:p>
        </p:txBody>
      </p:sp>
      <p:sp>
        <p:nvSpPr>
          <p:cNvPr id="355" name="Google Shape;355;p17"/>
          <p:cNvSpPr/>
          <p:nvPr/>
        </p:nvSpPr>
        <p:spPr>
          <a:xfrm>
            <a:off x="4965192" y="2359152"/>
            <a:ext cx="33832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2900"/>
              <a:buFont typeface="Cormorant Garamond"/>
              <a:buNone/>
            </a:pPr>
            <a:r>
              <a:rPr b="1" lang="en-US" sz="2900">
                <a:solidFill>
                  <a:srgbClr val="F5F0E8"/>
                </a:solidFill>
                <a:latin typeface="Cormorant Garamond"/>
                <a:ea typeface="Cormorant Garamond"/>
                <a:cs typeface="Cormorant Garamond"/>
                <a:sym typeface="Cormorant Garamond"/>
              </a:rPr>
              <a:t>________  / 30</a:t>
            </a:r>
            <a:endParaRPr sz="2900">
              <a:solidFill>
                <a:schemeClr val="dk1"/>
              </a:solidFill>
              <a:latin typeface="Calibri"/>
              <a:ea typeface="Calibri"/>
              <a:cs typeface="Calibri"/>
              <a:sym typeface="Calibri"/>
            </a:endParaRPr>
          </a:p>
        </p:txBody>
      </p:sp>
      <p:sp>
        <p:nvSpPr>
          <p:cNvPr id="356" name="Google Shape;356;p17"/>
          <p:cNvSpPr/>
          <p:nvPr/>
        </p:nvSpPr>
        <p:spPr>
          <a:xfrm>
            <a:off x="566928" y="3200400"/>
            <a:ext cx="8010144"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1440E"/>
              </a:buClr>
              <a:buSzPts val="1200"/>
              <a:buFont typeface="DM Sans"/>
              <a:buNone/>
            </a:pPr>
            <a:r>
              <a:rPr b="1" lang="en-US" sz="1200">
                <a:solidFill>
                  <a:srgbClr val="C1440E"/>
                </a:solidFill>
                <a:latin typeface="DM Sans"/>
                <a:ea typeface="DM Sans"/>
                <a:cs typeface="DM Sans"/>
                <a:sym typeface="DM Sans"/>
              </a:rPr>
              <a:t>19 to 30 high  ·  6 to 18 low  ·  17 to 21 is the boundary band, and it overrides both</a:t>
            </a:r>
            <a:endParaRPr sz="1200">
              <a:solidFill>
                <a:schemeClr val="dk1"/>
              </a:solidFill>
              <a:latin typeface="Calibri"/>
              <a:ea typeface="Calibri"/>
              <a:cs typeface="Calibri"/>
              <a:sym typeface="Calibri"/>
            </a:endParaRPr>
          </a:p>
        </p:txBody>
      </p:sp>
      <p:sp>
        <p:nvSpPr>
          <p:cNvPr id="357" name="Google Shape;357;p17"/>
          <p:cNvSpPr/>
          <p:nvPr/>
        </p:nvSpPr>
        <p:spPr>
          <a:xfrm>
            <a:off x="566928" y="3602736"/>
            <a:ext cx="8010144" cy="548640"/>
          </a:xfrm>
          <a:prstGeom prst="rect">
            <a:avLst/>
          </a:prstGeom>
          <a:noFill/>
          <a:ln>
            <a:noFill/>
          </a:ln>
        </p:spPr>
        <p:txBody>
          <a:bodyPr anchorCtr="0" anchor="ctr" bIns="0" lIns="0" spcFirstLastPara="1" rIns="0" wrap="square" tIns="0">
            <a:noAutofit/>
          </a:bodyPr>
          <a:lstStyle/>
          <a:p>
            <a:pPr indent="0" lvl="0" marL="0" marR="0" rtl="0" algn="ctr">
              <a:lnSpc>
                <a:spcPct val="138000"/>
              </a:lnSpc>
              <a:spcBef>
                <a:spcPts val="0"/>
              </a:spcBef>
              <a:spcAft>
                <a:spcPts val="0"/>
              </a:spcAft>
              <a:buClr>
                <a:srgbClr val="5A6B84"/>
              </a:buClr>
              <a:buSzPts val="1150"/>
              <a:buFont typeface="DM Sans"/>
              <a:buNone/>
            </a:pPr>
            <a:r>
              <a:rPr lang="en-US" sz="1150">
                <a:solidFill>
                  <a:srgbClr val="5A6B84"/>
                </a:solidFill>
                <a:latin typeface="DM Sans"/>
                <a:ea typeface="DM Sans"/>
                <a:cs typeface="DM Sans"/>
                <a:sym typeface="DM Sans"/>
              </a:rPr>
              <a:t>Total the axis using the numbers exactly as you wrote them. A question-marked score counts as its number. Rate your confidence in the corrected placement from 1 to 5.</a:t>
            </a:r>
            <a:endParaRPr sz="1150">
              <a:solidFill>
                <a:schemeClr val="dk1"/>
              </a:solidFill>
              <a:latin typeface="Calibri"/>
              <a:ea typeface="Calibri"/>
              <a:cs typeface="Calibri"/>
              <a:sym typeface="Calibri"/>
            </a:endParaRPr>
          </a:p>
        </p:txBody>
      </p:sp>
      <p:sp>
        <p:nvSpPr>
          <p:cNvPr id="358" name="Google Shape;358;p17"/>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359" name="Google Shape;359;p17"/>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17</a:t>
            </a:r>
            <a:endParaRPr sz="7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64" name="Shape 364"/>
        <p:cNvGrpSpPr/>
        <p:nvPr/>
      </p:nvGrpSpPr>
      <p:grpSpPr>
        <a:xfrm>
          <a:off x="0" y="0"/>
          <a:ext cx="0" cy="0"/>
          <a:chOff x="0" y="0"/>
          <a:chExt cx="0" cy="0"/>
        </a:xfrm>
      </p:grpSpPr>
      <p:sp>
        <p:nvSpPr>
          <p:cNvPr id="365" name="Google Shape;365;p18"/>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CORRECTED READ</a:t>
            </a:r>
            <a:endParaRPr sz="950">
              <a:solidFill>
                <a:schemeClr val="dk1"/>
              </a:solidFill>
              <a:latin typeface="Calibri"/>
              <a:ea typeface="Calibri"/>
              <a:cs typeface="Calibri"/>
              <a:sym typeface="Calibri"/>
            </a:endParaRPr>
          </a:p>
        </p:txBody>
      </p:sp>
      <p:sp>
        <p:nvSpPr>
          <p:cNvPr id="366" name="Google Shape;366;p18"/>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lang="en-US" sz="2600">
                <a:solidFill>
                  <a:srgbClr val="0F2347"/>
                </a:solidFill>
                <a:latin typeface="Cormorant Garamond"/>
                <a:ea typeface="Cormorant Garamond"/>
                <a:cs typeface="Cormorant Garamond"/>
                <a:sym typeface="Cormorant Garamond"/>
              </a:rPr>
              <a:t>When the evidence remains uncertain</a:t>
            </a:r>
            <a:endParaRPr sz="2600">
              <a:solidFill>
                <a:schemeClr val="dk1"/>
              </a:solidFill>
              <a:latin typeface="Calibri"/>
              <a:ea typeface="Calibri"/>
              <a:cs typeface="Calibri"/>
              <a:sym typeface="Calibri"/>
            </a:endParaRPr>
          </a:p>
        </p:txBody>
      </p:sp>
      <p:sp>
        <p:nvSpPr>
          <p:cNvPr id="367" name="Google Shape;367;p18"/>
          <p:cNvSpPr/>
          <p:nvPr/>
        </p:nvSpPr>
        <p:spPr>
          <a:xfrm>
            <a:off x="566928" y="1335024"/>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The sensitivity check. An operational convention, not a statistical confidence interval.</a:t>
            </a:r>
            <a:endParaRPr sz="1150">
              <a:solidFill>
                <a:schemeClr val="dk1"/>
              </a:solidFill>
              <a:latin typeface="Calibri"/>
              <a:ea typeface="Calibri"/>
              <a:cs typeface="Calibri"/>
              <a:sym typeface="Calibri"/>
            </a:endParaRPr>
          </a:p>
        </p:txBody>
      </p:sp>
      <p:sp>
        <p:nvSpPr>
          <p:cNvPr id="368" name="Google Shape;368;p18"/>
          <p:cNvSpPr/>
          <p:nvPr/>
        </p:nvSpPr>
        <p:spPr>
          <a:xfrm>
            <a:off x="566928" y="1719072"/>
            <a:ext cx="676656" cy="438912"/>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18"/>
          <p:cNvSpPr/>
          <p:nvPr/>
        </p:nvSpPr>
        <p:spPr>
          <a:xfrm>
            <a:off x="566928" y="1719072"/>
            <a:ext cx="676656"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347"/>
              </a:buClr>
              <a:buSzPts val="900"/>
              <a:buFont typeface="Montserrat"/>
              <a:buNone/>
            </a:pPr>
            <a:r>
              <a:rPr b="1" lang="en-US" sz="900">
                <a:solidFill>
                  <a:srgbClr val="0F2347"/>
                </a:solidFill>
                <a:latin typeface="Montserrat"/>
                <a:ea typeface="Montserrat"/>
                <a:cs typeface="Montserrat"/>
                <a:sym typeface="Montserrat"/>
              </a:rPr>
              <a:t>NONE</a:t>
            </a:r>
            <a:endParaRPr sz="900">
              <a:solidFill>
                <a:schemeClr val="dk1"/>
              </a:solidFill>
              <a:latin typeface="Calibri"/>
              <a:ea typeface="Calibri"/>
              <a:cs typeface="Calibri"/>
              <a:sym typeface="Calibri"/>
            </a:endParaRPr>
          </a:p>
        </p:txBody>
      </p:sp>
      <p:sp>
        <p:nvSpPr>
          <p:cNvPr id="370" name="Google Shape;370;p18"/>
          <p:cNvSpPr/>
          <p:nvPr/>
        </p:nvSpPr>
        <p:spPr>
          <a:xfrm>
            <a:off x="1408176" y="1700784"/>
            <a:ext cx="716889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50"/>
              <a:buFont typeface="DM Sans"/>
              <a:buNone/>
            </a:pPr>
            <a:r>
              <a:rPr b="1" lang="en-US" sz="1150">
                <a:solidFill>
                  <a:srgbClr val="0F2347"/>
                </a:solidFill>
                <a:latin typeface="DM Sans"/>
                <a:ea typeface="DM Sans"/>
                <a:cs typeface="DM Sans"/>
                <a:sym typeface="DM Sans"/>
              </a:rPr>
              <a:t>Use the corrected total normally.</a:t>
            </a:r>
            <a:endParaRPr sz="1150">
              <a:solidFill>
                <a:schemeClr val="dk1"/>
              </a:solidFill>
              <a:latin typeface="Calibri"/>
              <a:ea typeface="Calibri"/>
              <a:cs typeface="Calibri"/>
              <a:sym typeface="Calibri"/>
            </a:endParaRPr>
          </a:p>
        </p:txBody>
      </p:sp>
      <p:sp>
        <p:nvSpPr>
          <p:cNvPr id="371" name="Google Shape;371;p18"/>
          <p:cNvSpPr/>
          <p:nvPr/>
        </p:nvSpPr>
        <p:spPr>
          <a:xfrm>
            <a:off x="1408176" y="1938528"/>
            <a:ext cx="716889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20"/>
              <a:buFont typeface="DM Sans"/>
              <a:buNone/>
            </a:pPr>
            <a:r>
              <a:rPr lang="en-US" sz="1020">
                <a:solidFill>
                  <a:srgbClr val="5A6B84"/>
                </a:solidFill>
                <a:latin typeface="DM Sans"/>
                <a:ea typeface="DM Sans"/>
                <a:cs typeface="DM Sans"/>
                <a:sym typeface="DM Sans"/>
              </a:rPr>
              <a:t>No sensitivity range is required.</a:t>
            </a:r>
            <a:endParaRPr sz="1020">
              <a:solidFill>
                <a:schemeClr val="dk1"/>
              </a:solidFill>
              <a:latin typeface="Calibri"/>
              <a:ea typeface="Calibri"/>
              <a:cs typeface="Calibri"/>
              <a:sym typeface="Calibri"/>
            </a:endParaRPr>
          </a:p>
        </p:txBody>
      </p:sp>
      <p:sp>
        <p:nvSpPr>
          <p:cNvPr id="372" name="Google Shape;372;p18"/>
          <p:cNvSpPr/>
          <p:nvPr/>
        </p:nvSpPr>
        <p:spPr>
          <a:xfrm>
            <a:off x="566928" y="2286000"/>
            <a:ext cx="676656" cy="786384"/>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3" name="Google Shape;373;p18"/>
          <p:cNvSpPr/>
          <p:nvPr/>
        </p:nvSpPr>
        <p:spPr>
          <a:xfrm>
            <a:off x="566928" y="2286000"/>
            <a:ext cx="676656" cy="7863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A84C"/>
              </a:buClr>
              <a:buSzPts val="900"/>
              <a:buFont typeface="Montserrat"/>
              <a:buNone/>
            </a:pPr>
            <a:r>
              <a:rPr b="1" lang="en-US" sz="900">
                <a:solidFill>
                  <a:srgbClr val="C9A84C"/>
                </a:solidFill>
                <a:latin typeface="Montserrat"/>
                <a:ea typeface="Montserrat"/>
                <a:cs typeface="Montserrat"/>
                <a:sym typeface="Montserrat"/>
              </a:rPr>
              <a:t>1 OR 2</a:t>
            </a:r>
            <a:endParaRPr sz="900">
              <a:solidFill>
                <a:schemeClr val="dk1"/>
              </a:solidFill>
              <a:latin typeface="Calibri"/>
              <a:ea typeface="Calibri"/>
              <a:cs typeface="Calibri"/>
              <a:sym typeface="Calibri"/>
            </a:endParaRPr>
          </a:p>
        </p:txBody>
      </p:sp>
      <p:sp>
        <p:nvSpPr>
          <p:cNvPr id="374" name="Google Shape;374;p18"/>
          <p:cNvSpPr/>
          <p:nvPr/>
        </p:nvSpPr>
        <p:spPr>
          <a:xfrm>
            <a:off x="1408176" y="2286000"/>
            <a:ext cx="7168896" cy="786384"/>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5" name="Google Shape;375;p18"/>
          <p:cNvSpPr/>
          <p:nvPr/>
        </p:nvSpPr>
        <p:spPr>
          <a:xfrm>
            <a:off x="1609344" y="2395728"/>
            <a:ext cx="67665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39"/>
              <a:buFont typeface="Montserrat"/>
              <a:buNone/>
            </a:pPr>
            <a:r>
              <a:rPr b="1" lang="en-US" sz="840">
                <a:solidFill>
                  <a:srgbClr val="0F2347"/>
                </a:solidFill>
                <a:latin typeface="Montserrat"/>
                <a:ea typeface="Montserrat"/>
                <a:cs typeface="Montserrat"/>
                <a:sym typeface="Montserrat"/>
              </a:rPr>
              <a:t>PROVISIONAL.  RUN THE NEIGHBORING-SCORE SENSITIVITY CHECK.</a:t>
            </a:r>
            <a:endParaRPr sz="840">
              <a:solidFill>
                <a:schemeClr val="dk1"/>
              </a:solidFill>
              <a:latin typeface="Calibri"/>
              <a:ea typeface="Calibri"/>
              <a:cs typeface="Calibri"/>
              <a:sym typeface="Calibri"/>
            </a:endParaRPr>
          </a:p>
        </p:txBody>
      </p:sp>
      <p:sp>
        <p:nvSpPr>
          <p:cNvPr id="376" name="Google Shape;376;p18"/>
          <p:cNvSpPr/>
          <p:nvPr/>
        </p:nvSpPr>
        <p:spPr>
          <a:xfrm>
            <a:off x="1609344" y="2724912"/>
            <a:ext cx="82296" cy="8229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7" name="Google Shape;377;p18"/>
          <p:cNvSpPr/>
          <p:nvPr/>
        </p:nvSpPr>
        <p:spPr>
          <a:xfrm>
            <a:off x="1810512" y="2651760"/>
            <a:ext cx="656539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50"/>
              <a:buFont typeface="DM Sans"/>
              <a:buNone/>
            </a:pPr>
            <a:r>
              <a:rPr lang="en-US" sz="1050">
                <a:solidFill>
                  <a:srgbClr val="0F2347"/>
                </a:solidFill>
                <a:latin typeface="DM Sans"/>
                <a:ea typeface="DM Sans"/>
                <a:cs typeface="DM Sans"/>
                <a:sym typeface="DM Sans"/>
              </a:rPr>
              <a:t>If the range touches 17 to 21, hold the axis as boundary.</a:t>
            </a:r>
            <a:endParaRPr sz="1050">
              <a:solidFill>
                <a:schemeClr val="dk1"/>
              </a:solidFill>
              <a:latin typeface="Calibri"/>
              <a:ea typeface="Calibri"/>
              <a:cs typeface="Calibri"/>
              <a:sym typeface="Calibri"/>
            </a:endParaRPr>
          </a:p>
        </p:txBody>
      </p:sp>
      <p:sp>
        <p:nvSpPr>
          <p:cNvPr id="378" name="Google Shape;378;p18"/>
          <p:cNvSpPr/>
          <p:nvPr/>
        </p:nvSpPr>
        <p:spPr>
          <a:xfrm>
            <a:off x="566928" y="3822191"/>
            <a:ext cx="801014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50"/>
              <a:buFont typeface="DM Sans"/>
              <a:buNone/>
            </a:pPr>
            <a:r>
              <a:rPr b="1" lang="en-US" sz="1050">
                <a:solidFill>
                  <a:srgbClr val="0F2347"/>
                </a:solidFill>
                <a:latin typeface="DM Sans"/>
                <a:ea typeface="DM Sans"/>
                <a:cs typeface="DM Sans"/>
                <a:sym typeface="DM Sans"/>
              </a:rPr>
              <a:t>17 TO 21 IS THE BOUNDARY BAND. A boundary reading overrides the normal high and low split.</a:t>
            </a:r>
            <a:endParaRPr sz="1050">
              <a:solidFill>
                <a:schemeClr val="dk1"/>
              </a:solidFill>
              <a:latin typeface="Calibri"/>
              <a:ea typeface="Calibri"/>
              <a:cs typeface="Calibri"/>
              <a:sym typeface="Calibri"/>
            </a:endParaRPr>
          </a:p>
        </p:txBody>
      </p:sp>
      <p:sp>
        <p:nvSpPr>
          <p:cNvPr id="379" name="Google Shape;379;p18"/>
          <p:cNvSpPr/>
          <p:nvPr/>
        </p:nvSpPr>
        <p:spPr>
          <a:xfrm>
            <a:off x="566928" y="3218688"/>
            <a:ext cx="676656" cy="457200"/>
          </a:xfrm>
          <a:prstGeom prst="rect">
            <a:avLst/>
          </a:prstGeom>
          <a:solidFill>
            <a:srgbClr val="C1440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0" name="Google Shape;380;p18"/>
          <p:cNvSpPr/>
          <p:nvPr/>
        </p:nvSpPr>
        <p:spPr>
          <a:xfrm>
            <a:off x="566928" y="3218688"/>
            <a:ext cx="67665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00"/>
              <a:buFont typeface="Montserrat"/>
              <a:buNone/>
            </a:pPr>
            <a:r>
              <a:rPr b="1" lang="en-US" sz="900">
                <a:solidFill>
                  <a:srgbClr val="F5F0E8"/>
                </a:solidFill>
                <a:latin typeface="Montserrat"/>
                <a:ea typeface="Montserrat"/>
                <a:cs typeface="Montserrat"/>
                <a:sym typeface="Montserrat"/>
              </a:rPr>
              <a:t>3+</a:t>
            </a:r>
            <a:endParaRPr sz="900">
              <a:solidFill>
                <a:schemeClr val="dk1"/>
              </a:solidFill>
              <a:latin typeface="Calibri"/>
              <a:ea typeface="Calibri"/>
              <a:cs typeface="Calibri"/>
              <a:sym typeface="Calibri"/>
            </a:endParaRPr>
          </a:p>
        </p:txBody>
      </p:sp>
      <p:sp>
        <p:nvSpPr>
          <p:cNvPr id="381" name="Google Shape;381;p18"/>
          <p:cNvSpPr/>
          <p:nvPr/>
        </p:nvSpPr>
        <p:spPr>
          <a:xfrm>
            <a:off x="1408176" y="3218688"/>
            <a:ext cx="7168896" cy="4572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18"/>
          <p:cNvSpPr/>
          <p:nvPr/>
        </p:nvSpPr>
        <p:spPr>
          <a:xfrm>
            <a:off x="1609344" y="3218688"/>
            <a:ext cx="6766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100"/>
              <a:buFont typeface="DM Sans"/>
              <a:buNone/>
            </a:pPr>
            <a:r>
              <a:rPr b="1" lang="en-US" sz="1100">
                <a:solidFill>
                  <a:srgbClr val="F5F0E8"/>
                </a:solidFill>
                <a:latin typeface="DM Sans"/>
                <a:ea typeface="DM Sans"/>
                <a:cs typeface="DM Sans"/>
                <a:sym typeface="DM Sans"/>
              </a:rPr>
              <a:t>INCOMPLETE. Do not place on that axis today. Incomplete is a legitimate reading, not a failure.</a:t>
            </a:r>
            <a:endParaRPr sz="1100">
              <a:solidFill>
                <a:schemeClr val="dk1"/>
              </a:solidFill>
              <a:latin typeface="Calibri"/>
              <a:ea typeface="Calibri"/>
              <a:cs typeface="Calibri"/>
              <a:sym typeface="Calibri"/>
            </a:endParaRPr>
          </a:p>
        </p:txBody>
      </p:sp>
      <p:sp>
        <p:nvSpPr>
          <p:cNvPr id="383" name="Google Shape;383;p18"/>
          <p:cNvSpPr/>
          <p:nvPr/>
        </p:nvSpPr>
        <p:spPr>
          <a:xfrm>
            <a:off x="566928" y="4187952"/>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0208"/>
              </a:lnSpc>
              <a:spcBef>
                <a:spcPts val="0"/>
              </a:spcBef>
              <a:spcAft>
                <a:spcPts val="0"/>
              </a:spcAft>
              <a:buClr>
                <a:srgbClr val="C1440E"/>
              </a:buClr>
              <a:buSzPts val="960"/>
              <a:buFont typeface="DM Sans"/>
              <a:buNone/>
            </a:pPr>
            <a:r>
              <a:rPr b="1" lang="en-US" sz="960">
                <a:solidFill>
                  <a:srgbClr val="C1440E"/>
                </a:solidFill>
                <a:latin typeface="DM Sans"/>
                <a:ea typeface="DM Sans"/>
                <a:cs typeface="DM Sans"/>
                <a:sym typeface="DM Sans"/>
              </a:rPr>
              <a:t>ONE axis in the band: read the two adjacent states the other axis selects.</a:t>
            </a:r>
            <a:endParaRPr sz="960">
              <a:solidFill>
                <a:schemeClr val="dk1"/>
              </a:solidFill>
              <a:latin typeface="Calibri"/>
              <a:ea typeface="Calibri"/>
              <a:cs typeface="Calibri"/>
              <a:sym typeface="Calibri"/>
            </a:endParaRPr>
          </a:p>
          <a:p>
            <a:pPr indent="0" lvl="0" marL="0" marR="0" rtl="0" algn="l">
              <a:lnSpc>
                <a:spcPct val="130208"/>
              </a:lnSpc>
              <a:spcBef>
                <a:spcPts val="0"/>
              </a:spcBef>
              <a:spcAft>
                <a:spcPts val="0"/>
              </a:spcAft>
              <a:buClr>
                <a:srgbClr val="C1440E"/>
              </a:buClr>
              <a:buSzPts val="960"/>
              <a:buFont typeface="DM Sans"/>
              <a:buNone/>
            </a:pPr>
            <a:r>
              <a:rPr b="1" lang="en-US" sz="960">
                <a:solidFill>
                  <a:srgbClr val="C1440E"/>
                </a:solidFill>
                <a:latin typeface="DM Sans"/>
                <a:ea typeface="DM Sans"/>
                <a:cs typeface="DM Sans"/>
                <a:sym typeface="DM Sans"/>
              </a:rPr>
              <a:t>BOTH axes in the band: record Boundary and assign no single state.</a:t>
            </a:r>
            <a:endParaRPr sz="960">
              <a:solidFill>
                <a:schemeClr val="dk1"/>
              </a:solidFill>
              <a:latin typeface="Calibri"/>
              <a:ea typeface="Calibri"/>
              <a:cs typeface="Calibri"/>
              <a:sym typeface="Calibri"/>
            </a:endParaRPr>
          </a:p>
        </p:txBody>
      </p:sp>
      <p:sp>
        <p:nvSpPr>
          <p:cNvPr id="384" name="Google Shape;384;p18"/>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385" name="Google Shape;385;p18"/>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18</a:t>
            </a:r>
            <a:endParaRPr sz="7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90" name="Shape 390"/>
        <p:cNvGrpSpPr/>
        <p:nvPr/>
      </p:nvGrpSpPr>
      <p:grpSpPr>
        <a:xfrm>
          <a:off x="0" y="0"/>
          <a:ext cx="0" cy="0"/>
          <a:chOff x="0" y="0"/>
          <a:chExt cx="0" cy="0"/>
        </a:xfrm>
      </p:grpSpPr>
      <p:sp>
        <p:nvSpPr>
          <p:cNvPr id="391" name="Google Shape;391;p19"/>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CORRECTED READ</a:t>
            </a:r>
            <a:endParaRPr sz="950">
              <a:solidFill>
                <a:schemeClr val="dk1"/>
              </a:solidFill>
              <a:latin typeface="Calibri"/>
              <a:ea typeface="Calibri"/>
              <a:cs typeface="Calibri"/>
              <a:sym typeface="Calibri"/>
            </a:endParaRPr>
          </a:p>
        </p:txBody>
      </p:sp>
      <p:sp>
        <p:nvSpPr>
          <p:cNvPr id="392" name="Google Shape;392;p19"/>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lang="en-US" sz="3000">
                <a:solidFill>
                  <a:srgbClr val="0F2347"/>
                </a:solidFill>
                <a:latin typeface="Cormorant Garamond"/>
                <a:ea typeface="Cormorant Garamond"/>
                <a:cs typeface="Cormorant Garamond"/>
                <a:sym typeface="Cormorant Garamond"/>
              </a:rPr>
              <a:t>Your corrected position</a:t>
            </a:r>
            <a:endParaRPr sz="3000">
              <a:solidFill>
                <a:schemeClr val="dk1"/>
              </a:solidFill>
              <a:latin typeface="Calibri"/>
              <a:ea typeface="Calibri"/>
              <a:cs typeface="Calibri"/>
              <a:sym typeface="Calibri"/>
            </a:endParaRPr>
          </a:p>
        </p:txBody>
      </p:sp>
      <p:sp>
        <p:nvSpPr>
          <p:cNvPr id="393" name="Google Shape;393;p19"/>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Privately placed, provisionally held.</a:t>
            </a:r>
            <a:endParaRPr sz="1150">
              <a:solidFill>
                <a:schemeClr val="dk1"/>
              </a:solidFill>
              <a:latin typeface="Calibri"/>
              <a:ea typeface="Calibri"/>
              <a:cs typeface="Calibri"/>
              <a:sym typeface="Calibri"/>
            </a:endParaRPr>
          </a:p>
        </p:txBody>
      </p:sp>
      <p:sp>
        <p:nvSpPr>
          <p:cNvPr id="394" name="Google Shape;394;p19"/>
          <p:cNvSpPr/>
          <p:nvPr/>
        </p:nvSpPr>
        <p:spPr>
          <a:xfrm>
            <a:off x="566928" y="1920240"/>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5" name="Google Shape;395;p19"/>
          <p:cNvSpPr/>
          <p:nvPr/>
        </p:nvSpPr>
        <p:spPr>
          <a:xfrm>
            <a:off x="566928" y="192024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1</a:t>
            </a:r>
            <a:endParaRPr sz="950">
              <a:solidFill>
                <a:schemeClr val="dk1"/>
              </a:solidFill>
              <a:latin typeface="Calibri"/>
              <a:ea typeface="Calibri"/>
              <a:cs typeface="Calibri"/>
              <a:sym typeface="Calibri"/>
            </a:endParaRPr>
          </a:p>
        </p:txBody>
      </p:sp>
      <p:sp>
        <p:nvSpPr>
          <p:cNvPr id="396" name="Google Shape;396;p19"/>
          <p:cNvSpPr/>
          <p:nvPr/>
        </p:nvSpPr>
        <p:spPr>
          <a:xfrm>
            <a:off x="1005840" y="1892808"/>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00"/>
              <a:buFont typeface="DM Sans"/>
              <a:buNone/>
            </a:pPr>
            <a:r>
              <a:rPr b="1" lang="en-US" sz="1300">
                <a:solidFill>
                  <a:srgbClr val="0F2347"/>
                </a:solidFill>
                <a:latin typeface="DM Sans"/>
                <a:ea typeface="DM Sans"/>
                <a:cs typeface="DM Sans"/>
                <a:sym typeface="DM Sans"/>
              </a:rPr>
              <a:t>Place your corrected square</a:t>
            </a:r>
            <a:endParaRPr sz="1300">
              <a:solidFill>
                <a:schemeClr val="dk1"/>
              </a:solidFill>
              <a:latin typeface="Calibri"/>
              <a:ea typeface="Calibri"/>
              <a:cs typeface="Calibri"/>
              <a:sym typeface="Calibri"/>
            </a:endParaRPr>
          </a:p>
        </p:txBody>
      </p:sp>
      <p:sp>
        <p:nvSpPr>
          <p:cNvPr id="397" name="Google Shape;397;p19"/>
          <p:cNvSpPr/>
          <p:nvPr/>
        </p:nvSpPr>
        <p:spPr>
          <a:xfrm>
            <a:off x="1005840" y="2148840"/>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Or mark boundary, or mark the axis incomplete. All three are legitimate readings.</a:t>
            </a:r>
            <a:endParaRPr sz="1100">
              <a:solidFill>
                <a:schemeClr val="dk1"/>
              </a:solidFill>
              <a:latin typeface="Calibri"/>
              <a:ea typeface="Calibri"/>
              <a:cs typeface="Calibri"/>
              <a:sym typeface="Calibri"/>
            </a:endParaRPr>
          </a:p>
        </p:txBody>
      </p:sp>
      <p:sp>
        <p:nvSpPr>
          <p:cNvPr id="398" name="Google Shape;398;p19"/>
          <p:cNvSpPr/>
          <p:nvPr/>
        </p:nvSpPr>
        <p:spPr>
          <a:xfrm>
            <a:off x="566928" y="2578608"/>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19"/>
          <p:cNvSpPr/>
          <p:nvPr/>
        </p:nvSpPr>
        <p:spPr>
          <a:xfrm>
            <a:off x="566928" y="257860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2</a:t>
            </a:r>
            <a:endParaRPr sz="950">
              <a:solidFill>
                <a:schemeClr val="dk1"/>
              </a:solidFill>
              <a:latin typeface="Calibri"/>
              <a:ea typeface="Calibri"/>
              <a:cs typeface="Calibri"/>
              <a:sym typeface="Calibri"/>
            </a:endParaRPr>
          </a:p>
        </p:txBody>
      </p:sp>
      <p:sp>
        <p:nvSpPr>
          <p:cNvPr id="400" name="Google Shape;400;p19"/>
          <p:cNvSpPr/>
          <p:nvPr/>
        </p:nvSpPr>
        <p:spPr>
          <a:xfrm>
            <a:off x="1005840" y="2551176"/>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00"/>
              <a:buFont typeface="DM Sans"/>
              <a:buNone/>
            </a:pPr>
            <a:r>
              <a:rPr b="1" lang="en-US" sz="1300">
                <a:solidFill>
                  <a:srgbClr val="0F2347"/>
                </a:solidFill>
                <a:latin typeface="DM Sans"/>
                <a:ea typeface="DM Sans"/>
                <a:cs typeface="DM Sans"/>
                <a:sym typeface="DM Sans"/>
              </a:rPr>
              <a:t>Rate your confidence from 1 to 5</a:t>
            </a:r>
            <a:endParaRPr sz="1300">
              <a:solidFill>
                <a:schemeClr val="dk1"/>
              </a:solidFill>
              <a:latin typeface="Calibri"/>
              <a:ea typeface="Calibri"/>
              <a:cs typeface="Calibri"/>
              <a:sym typeface="Calibri"/>
            </a:endParaRPr>
          </a:p>
        </p:txBody>
      </p:sp>
      <p:sp>
        <p:nvSpPr>
          <p:cNvPr id="401" name="Google Shape;401;p19"/>
          <p:cNvSpPr/>
          <p:nvPr/>
        </p:nvSpPr>
        <p:spPr>
          <a:xfrm>
            <a:off x="1005840" y="2807208"/>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Compare it with the confidence number from your first placement on workbook page 3. The comparison is private.</a:t>
            </a:r>
            <a:endParaRPr sz="1100">
              <a:solidFill>
                <a:schemeClr val="dk1"/>
              </a:solidFill>
              <a:latin typeface="Calibri"/>
              <a:ea typeface="Calibri"/>
              <a:cs typeface="Calibri"/>
              <a:sym typeface="Calibri"/>
            </a:endParaRPr>
          </a:p>
        </p:txBody>
      </p:sp>
      <p:sp>
        <p:nvSpPr>
          <p:cNvPr id="402" name="Google Shape;402;p19"/>
          <p:cNvSpPr/>
          <p:nvPr/>
        </p:nvSpPr>
        <p:spPr>
          <a:xfrm>
            <a:off x="566928" y="323697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19"/>
          <p:cNvSpPr/>
          <p:nvPr/>
        </p:nvSpPr>
        <p:spPr>
          <a:xfrm>
            <a:off x="566928" y="323697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3</a:t>
            </a:r>
            <a:endParaRPr sz="950">
              <a:solidFill>
                <a:schemeClr val="dk1"/>
              </a:solidFill>
              <a:latin typeface="Calibri"/>
              <a:ea typeface="Calibri"/>
              <a:cs typeface="Calibri"/>
              <a:sym typeface="Calibri"/>
            </a:endParaRPr>
          </a:p>
        </p:txBody>
      </p:sp>
      <p:sp>
        <p:nvSpPr>
          <p:cNvPr id="404" name="Google Shape;404;p19"/>
          <p:cNvSpPr/>
          <p:nvPr/>
        </p:nvSpPr>
        <p:spPr>
          <a:xfrm>
            <a:off x="1005840" y="3209544"/>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00"/>
              <a:buFont typeface="DM Sans"/>
              <a:buNone/>
            </a:pPr>
            <a:r>
              <a:rPr b="1" lang="en-US" sz="1300">
                <a:solidFill>
                  <a:srgbClr val="0F2347"/>
                </a:solidFill>
                <a:latin typeface="DM Sans"/>
                <a:ea typeface="DM Sans"/>
                <a:cs typeface="DM Sans"/>
                <a:sym typeface="DM Sans"/>
              </a:rPr>
              <a:t>Keep both readings visible</a:t>
            </a:r>
            <a:endParaRPr sz="1300">
              <a:solidFill>
                <a:schemeClr val="dk1"/>
              </a:solidFill>
              <a:latin typeface="Calibri"/>
              <a:ea typeface="Calibri"/>
              <a:cs typeface="Calibri"/>
              <a:sym typeface="Calibri"/>
            </a:endParaRPr>
          </a:p>
        </p:txBody>
      </p:sp>
      <p:sp>
        <p:nvSpPr>
          <p:cNvPr id="405" name="Google Shape;405;p19"/>
          <p:cNvSpPr/>
          <p:nvPr/>
        </p:nvSpPr>
        <p:spPr>
          <a:xfrm>
            <a:off x="1005840" y="3465576"/>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The first number and the corrected number sit side by side. The distance between them is the finding.</a:t>
            </a:r>
            <a:endParaRPr sz="1100">
              <a:solidFill>
                <a:schemeClr val="dk1"/>
              </a:solidFill>
              <a:latin typeface="Calibri"/>
              <a:ea typeface="Calibri"/>
              <a:cs typeface="Calibri"/>
              <a:sym typeface="Calibri"/>
            </a:endParaRPr>
          </a:p>
        </p:txBody>
      </p:sp>
      <p:sp>
        <p:nvSpPr>
          <p:cNvPr id="406" name="Google Shape;406;p19"/>
          <p:cNvSpPr/>
          <p:nvPr/>
        </p:nvSpPr>
        <p:spPr>
          <a:xfrm>
            <a:off x="566928" y="3968496"/>
            <a:ext cx="8010144" cy="54864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7" name="Google Shape;407;p19"/>
          <p:cNvSpPr/>
          <p:nvPr/>
        </p:nvSpPr>
        <p:spPr>
          <a:xfrm>
            <a:off x="804672" y="3968496"/>
            <a:ext cx="7534656"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600"/>
              <a:buFont typeface="Cormorant Garamond"/>
              <a:buNone/>
            </a:pPr>
            <a:r>
              <a:rPr b="1" lang="en-US" sz="1600">
                <a:solidFill>
                  <a:srgbClr val="F5F0E8"/>
                </a:solidFill>
                <a:latin typeface="Cormorant Garamond"/>
                <a:ea typeface="Cormorant Garamond"/>
                <a:cs typeface="Cormorant Garamond"/>
                <a:sym typeface="Cormorant Garamond"/>
              </a:rPr>
              <a:t>A position you can defend with evidence is worth more than a position you feel confident about.</a:t>
            </a:r>
            <a:endParaRPr sz="1600">
              <a:solidFill>
                <a:schemeClr val="dk1"/>
              </a:solidFill>
              <a:latin typeface="Calibri"/>
              <a:ea typeface="Calibri"/>
              <a:cs typeface="Calibri"/>
              <a:sym typeface="Calibri"/>
            </a:endParaRPr>
          </a:p>
        </p:txBody>
      </p:sp>
      <p:sp>
        <p:nvSpPr>
          <p:cNvPr id="408" name="Google Shape;408;p19"/>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409" name="Google Shape;409;p19"/>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19</a:t>
            </a:r>
            <a:endParaRPr sz="7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14" name="Shape 414"/>
        <p:cNvGrpSpPr/>
        <p:nvPr/>
      </p:nvGrpSpPr>
      <p:grpSpPr>
        <a:xfrm>
          <a:off x="0" y="0"/>
          <a:ext cx="0" cy="0"/>
          <a:chOff x="0" y="0"/>
          <a:chExt cx="0" cy="0"/>
        </a:xfrm>
      </p:grpSpPr>
      <p:sp>
        <p:nvSpPr>
          <p:cNvPr id="415" name="Google Shape;415;p2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STATE COSTS</a:t>
            </a:r>
            <a:endParaRPr sz="950">
              <a:solidFill>
                <a:schemeClr val="dk1"/>
              </a:solidFill>
              <a:latin typeface="Calibri"/>
              <a:ea typeface="Calibri"/>
              <a:cs typeface="Calibri"/>
              <a:sym typeface="Calibri"/>
            </a:endParaRPr>
          </a:p>
        </p:txBody>
      </p:sp>
      <p:sp>
        <p:nvSpPr>
          <p:cNvPr id="416" name="Google Shape;416;p20"/>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lang="en-US" sz="3000">
                <a:solidFill>
                  <a:srgbClr val="0F2347"/>
                </a:solidFill>
                <a:latin typeface="Cormorant Garamond"/>
                <a:ea typeface="Cormorant Garamond"/>
                <a:cs typeface="Cormorant Garamond"/>
                <a:sym typeface="Cormorant Garamond"/>
              </a:rPr>
              <a:t>What each state costs</a:t>
            </a:r>
            <a:endParaRPr sz="3000">
              <a:solidFill>
                <a:schemeClr val="dk1"/>
              </a:solidFill>
              <a:latin typeface="Calibri"/>
              <a:ea typeface="Calibri"/>
              <a:cs typeface="Calibri"/>
              <a:sym typeface="Calibri"/>
            </a:endParaRPr>
          </a:p>
        </p:txBody>
      </p:sp>
      <p:sp>
        <p:nvSpPr>
          <p:cNvPr id="417" name="Google Shape;417;p20"/>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Four states. One immediate cost to notice in each.</a:t>
            </a:r>
            <a:endParaRPr sz="1150">
              <a:solidFill>
                <a:schemeClr val="dk1"/>
              </a:solidFill>
              <a:latin typeface="Calibri"/>
              <a:ea typeface="Calibri"/>
              <a:cs typeface="Calibri"/>
              <a:sym typeface="Calibri"/>
            </a:endParaRPr>
          </a:p>
        </p:txBody>
      </p:sp>
      <p:sp>
        <p:nvSpPr>
          <p:cNvPr id="418" name="Google Shape;418;p20"/>
          <p:cNvSpPr/>
          <p:nvPr/>
        </p:nvSpPr>
        <p:spPr>
          <a:xfrm>
            <a:off x="566928" y="1883664"/>
            <a:ext cx="2148840"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20"/>
          <p:cNvSpPr/>
          <p:nvPr/>
        </p:nvSpPr>
        <p:spPr>
          <a:xfrm>
            <a:off x="749808" y="1883664"/>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1000"/>
              <a:buFont typeface="Montserrat"/>
              <a:buNone/>
            </a:pPr>
            <a:r>
              <a:rPr b="1" lang="en-US" sz="1000">
                <a:solidFill>
                  <a:srgbClr val="0F2347"/>
                </a:solidFill>
                <a:latin typeface="Montserrat"/>
                <a:ea typeface="Montserrat"/>
                <a:cs typeface="Montserrat"/>
                <a:sym typeface="Montserrat"/>
              </a:rPr>
              <a:t>STAGNANT</a:t>
            </a:r>
            <a:endParaRPr sz="1000">
              <a:solidFill>
                <a:schemeClr val="dk1"/>
              </a:solidFill>
              <a:latin typeface="Calibri"/>
              <a:ea typeface="Calibri"/>
              <a:cs typeface="Calibri"/>
              <a:sym typeface="Calibri"/>
            </a:endParaRPr>
          </a:p>
        </p:txBody>
      </p:sp>
      <p:sp>
        <p:nvSpPr>
          <p:cNvPr id="420" name="Google Shape;420;p20"/>
          <p:cNvSpPr/>
          <p:nvPr/>
        </p:nvSpPr>
        <p:spPr>
          <a:xfrm>
            <a:off x="2944368" y="1883664"/>
            <a:ext cx="563270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Neither axis is accruing.</a:t>
            </a:r>
            <a:endParaRPr sz="1250">
              <a:solidFill>
                <a:schemeClr val="dk1"/>
              </a:solidFill>
              <a:latin typeface="Calibri"/>
              <a:ea typeface="Calibri"/>
              <a:cs typeface="Calibri"/>
              <a:sym typeface="Calibri"/>
            </a:endParaRPr>
          </a:p>
        </p:txBody>
      </p:sp>
      <p:sp>
        <p:nvSpPr>
          <p:cNvPr id="421" name="Google Shape;421;p20"/>
          <p:cNvSpPr/>
          <p:nvPr/>
        </p:nvSpPr>
        <p:spPr>
          <a:xfrm>
            <a:off x="566928" y="2450592"/>
            <a:ext cx="2148840"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20"/>
          <p:cNvSpPr/>
          <p:nvPr/>
        </p:nvSpPr>
        <p:spPr>
          <a:xfrm>
            <a:off x="749808" y="2450592"/>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00"/>
              <a:buFont typeface="Montserrat"/>
              <a:buNone/>
            </a:pPr>
            <a:r>
              <a:rPr b="1" lang="en-US" sz="1000">
                <a:solidFill>
                  <a:srgbClr val="0F2347"/>
                </a:solidFill>
                <a:latin typeface="Montserrat"/>
                <a:ea typeface="Montserrat"/>
                <a:cs typeface="Montserrat"/>
                <a:sym typeface="Montserrat"/>
              </a:rPr>
              <a:t>DEPTH TRAP</a:t>
            </a:r>
            <a:endParaRPr sz="1000">
              <a:solidFill>
                <a:schemeClr val="dk1"/>
              </a:solidFill>
              <a:latin typeface="Calibri"/>
              <a:ea typeface="Calibri"/>
              <a:cs typeface="Calibri"/>
              <a:sym typeface="Calibri"/>
            </a:endParaRPr>
          </a:p>
        </p:txBody>
      </p:sp>
      <p:sp>
        <p:nvSpPr>
          <p:cNvPr id="423" name="Google Shape;423;p20"/>
          <p:cNvSpPr/>
          <p:nvPr/>
        </p:nvSpPr>
        <p:spPr>
          <a:xfrm>
            <a:off x="2944368" y="2450592"/>
            <a:ext cx="563270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Value is deep but context-bound.</a:t>
            </a:r>
            <a:endParaRPr sz="1250">
              <a:solidFill>
                <a:schemeClr val="dk1"/>
              </a:solidFill>
              <a:latin typeface="Calibri"/>
              <a:ea typeface="Calibri"/>
              <a:cs typeface="Calibri"/>
              <a:sym typeface="Calibri"/>
            </a:endParaRPr>
          </a:p>
        </p:txBody>
      </p:sp>
      <p:sp>
        <p:nvSpPr>
          <p:cNvPr id="424" name="Google Shape;424;p20"/>
          <p:cNvSpPr/>
          <p:nvPr/>
        </p:nvSpPr>
        <p:spPr>
          <a:xfrm>
            <a:off x="566928" y="3017520"/>
            <a:ext cx="2148840"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5" name="Google Shape;425;p20"/>
          <p:cNvSpPr/>
          <p:nvPr/>
        </p:nvSpPr>
        <p:spPr>
          <a:xfrm>
            <a:off x="749808" y="3017520"/>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1000"/>
              <a:buFont typeface="Montserrat"/>
              <a:buNone/>
            </a:pPr>
            <a:r>
              <a:rPr b="1" lang="en-US" sz="1000">
                <a:solidFill>
                  <a:srgbClr val="0F2347"/>
                </a:solidFill>
                <a:latin typeface="Montserrat"/>
                <a:ea typeface="Montserrat"/>
                <a:cs typeface="Montserrat"/>
                <a:sym typeface="Montserrat"/>
              </a:rPr>
              <a:t>FRAGILE</a:t>
            </a:r>
            <a:endParaRPr sz="1000">
              <a:solidFill>
                <a:schemeClr val="dk1"/>
              </a:solidFill>
              <a:latin typeface="Calibri"/>
              <a:ea typeface="Calibri"/>
              <a:cs typeface="Calibri"/>
              <a:sym typeface="Calibri"/>
            </a:endParaRPr>
          </a:p>
        </p:txBody>
      </p:sp>
      <p:sp>
        <p:nvSpPr>
          <p:cNvPr id="426" name="Google Shape;426;p20"/>
          <p:cNvSpPr/>
          <p:nvPr/>
        </p:nvSpPr>
        <p:spPr>
          <a:xfrm>
            <a:off x="2944368" y="3017520"/>
            <a:ext cx="563270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What travels today is no longer being renewed.</a:t>
            </a:r>
            <a:endParaRPr sz="1250">
              <a:solidFill>
                <a:schemeClr val="dk1"/>
              </a:solidFill>
              <a:latin typeface="Calibri"/>
              <a:ea typeface="Calibri"/>
              <a:cs typeface="Calibri"/>
              <a:sym typeface="Calibri"/>
            </a:endParaRPr>
          </a:p>
        </p:txBody>
      </p:sp>
      <p:sp>
        <p:nvSpPr>
          <p:cNvPr id="427" name="Google Shape;427;p20"/>
          <p:cNvSpPr/>
          <p:nvPr/>
        </p:nvSpPr>
        <p:spPr>
          <a:xfrm>
            <a:off x="566928" y="3584448"/>
            <a:ext cx="2148840" cy="4572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 name="Google Shape;428;p20"/>
          <p:cNvSpPr/>
          <p:nvPr/>
        </p:nvSpPr>
        <p:spPr>
          <a:xfrm>
            <a:off x="749808" y="3584448"/>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00"/>
              <a:buFont typeface="Montserrat"/>
              <a:buNone/>
            </a:pPr>
            <a:r>
              <a:rPr b="1" lang="en-US" sz="1000">
                <a:solidFill>
                  <a:srgbClr val="C9A84C"/>
                </a:solidFill>
                <a:latin typeface="Montserrat"/>
                <a:ea typeface="Montserrat"/>
                <a:cs typeface="Montserrat"/>
                <a:sym typeface="Montserrat"/>
              </a:rPr>
              <a:t>COMPOUNDING</a:t>
            </a:r>
            <a:endParaRPr sz="1000">
              <a:solidFill>
                <a:schemeClr val="dk1"/>
              </a:solidFill>
              <a:latin typeface="Calibri"/>
              <a:ea typeface="Calibri"/>
              <a:cs typeface="Calibri"/>
              <a:sym typeface="Calibri"/>
            </a:endParaRPr>
          </a:p>
        </p:txBody>
      </p:sp>
      <p:sp>
        <p:nvSpPr>
          <p:cNvPr id="429" name="Google Shape;429;p20"/>
          <p:cNvSpPr/>
          <p:nvPr/>
        </p:nvSpPr>
        <p:spPr>
          <a:xfrm>
            <a:off x="2944368" y="3584448"/>
            <a:ext cx="563270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A strong current position still requires renewal.</a:t>
            </a:r>
            <a:endParaRPr sz="1250">
              <a:solidFill>
                <a:schemeClr val="dk1"/>
              </a:solidFill>
              <a:latin typeface="Calibri"/>
              <a:ea typeface="Calibri"/>
              <a:cs typeface="Calibri"/>
              <a:sym typeface="Calibri"/>
            </a:endParaRPr>
          </a:p>
        </p:txBody>
      </p:sp>
      <p:sp>
        <p:nvSpPr>
          <p:cNvPr id="430" name="Google Shape;430;p20"/>
          <p:cNvSpPr/>
          <p:nvPr/>
        </p:nvSpPr>
        <p:spPr>
          <a:xfrm>
            <a:off x="566928" y="4224528"/>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2075"/>
              </a:lnSpc>
              <a:spcBef>
                <a:spcPts val="0"/>
              </a:spcBef>
              <a:spcAft>
                <a:spcPts val="0"/>
              </a:spcAft>
              <a:buClr>
                <a:srgbClr val="5A6B84"/>
              </a:buClr>
              <a:buSzPts val="1060"/>
              <a:buFont typeface="DM Sans"/>
              <a:buNone/>
            </a:pPr>
            <a:r>
              <a:rPr i="1" lang="en-US" sz="1060">
                <a:solidFill>
                  <a:srgbClr val="5A6B84"/>
                </a:solidFill>
                <a:latin typeface="DM Sans"/>
                <a:ea typeface="DM Sans"/>
                <a:cs typeface="DM Sans"/>
                <a:sym typeface="DM Sans"/>
              </a:rPr>
              <a:t>That is the reading this assessment gives you today, and it is complete. Working a square in depth, against a named destination, and rerunning it as conditions change is what continued work adds.</a:t>
            </a:r>
            <a:endParaRPr sz="1060">
              <a:solidFill>
                <a:schemeClr val="dk1"/>
              </a:solidFill>
              <a:latin typeface="Calibri"/>
              <a:ea typeface="Calibri"/>
              <a:cs typeface="Calibri"/>
              <a:sym typeface="Calibri"/>
            </a:endParaRPr>
          </a:p>
        </p:txBody>
      </p:sp>
      <p:sp>
        <p:nvSpPr>
          <p:cNvPr id="431" name="Google Shape;431;p20"/>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432" name="Google Shape;432;p20"/>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20</a:t>
            </a:r>
            <a:endParaRPr sz="7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60" name="Shape 460"/>
        <p:cNvGrpSpPr/>
        <p:nvPr/>
      </p:nvGrpSpPr>
      <p:grpSpPr>
        <a:xfrm>
          <a:off x="0" y="0"/>
          <a:ext cx="0" cy="0"/>
          <a:chOff x="0" y="0"/>
          <a:chExt cx="0" cy="0"/>
        </a:xfrm>
      </p:grpSpPr>
      <p:sp>
        <p:nvSpPr>
          <p:cNvPr id="461" name="Google Shape;461;p21"/>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MOVE CATEGORIES</a:t>
            </a:r>
            <a:endParaRPr sz="950">
              <a:solidFill>
                <a:schemeClr val="dk1"/>
              </a:solidFill>
              <a:latin typeface="Calibri"/>
              <a:ea typeface="Calibri"/>
              <a:cs typeface="Calibri"/>
              <a:sym typeface="Calibri"/>
            </a:endParaRPr>
          </a:p>
        </p:txBody>
      </p:sp>
      <p:sp>
        <p:nvSpPr>
          <p:cNvPr id="462" name="Google Shape;462;p21"/>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lang="en-US" sz="3000">
                <a:solidFill>
                  <a:srgbClr val="0F2347"/>
                </a:solidFill>
                <a:latin typeface="Cormorant Garamond"/>
                <a:ea typeface="Cormorant Garamond"/>
                <a:cs typeface="Cormorant Garamond"/>
                <a:sym typeface="Cormorant Garamond"/>
              </a:rPr>
              <a:t>Seven categories of move</a:t>
            </a:r>
            <a:endParaRPr sz="3000">
              <a:solidFill>
                <a:schemeClr val="dk1"/>
              </a:solidFill>
              <a:latin typeface="Calibri"/>
              <a:ea typeface="Calibri"/>
              <a:cs typeface="Calibri"/>
              <a:sym typeface="Calibri"/>
            </a:endParaRPr>
          </a:p>
        </p:txBody>
      </p:sp>
      <p:sp>
        <p:nvSpPr>
          <p:cNvPr id="463" name="Google Shape;463;p21"/>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Direction, not a plan. Your evidence helps you choose which category to test.</a:t>
            </a:r>
            <a:endParaRPr sz="1150">
              <a:solidFill>
                <a:schemeClr val="dk1"/>
              </a:solidFill>
              <a:latin typeface="Calibri"/>
              <a:ea typeface="Calibri"/>
              <a:cs typeface="Calibri"/>
              <a:sym typeface="Calibri"/>
            </a:endParaRPr>
          </a:p>
        </p:txBody>
      </p:sp>
      <p:sp>
        <p:nvSpPr>
          <p:cNvPr id="464" name="Google Shape;464;p21"/>
          <p:cNvSpPr/>
          <p:nvPr/>
        </p:nvSpPr>
        <p:spPr>
          <a:xfrm>
            <a:off x="566928" y="177393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5" name="Google Shape;465;p21"/>
          <p:cNvSpPr/>
          <p:nvPr/>
        </p:nvSpPr>
        <p:spPr>
          <a:xfrm>
            <a:off x="566928" y="177393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1</a:t>
            </a:r>
            <a:endParaRPr sz="950">
              <a:solidFill>
                <a:schemeClr val="dk1"/>
              </a:solidFill>
              <a:latin typeface="Calibri"/>
              <a:ea typeface="Calibri"/>
              <a:cs typeface="Calibri"/>
              <a:sym typeface="Calibri"/>
            </a:endParaRPr>
          </a:p>
        </p:txBody>
      </p:sp>
      <p:sp>
        <p:nvSpPr>
          <p:cNvPr id="466" name="Google Shape;466;p21"/>
          <p:cNvSpPr/>
          <p:nvPr/>
        </p:nvSpPr>
        <p:spPr>
          <a:xfrm>
            <a:off x="987552" y="1755648"/>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60"/>
              <a:buFont typeface="DM Sans"/>
              <a:buNone/>
            </a:pPr>
            <a:r>
              <a:rPr b="1" lang="en-US" sz="1160">
                <a:solidFill>
                  <a:srgbClr val="0F2347"/>
                </a:solidFill>
                <a:latin typeface="DM Sans"/>
                <a:ea typeface="DM Sans"/>
                <a:cs typeface="DM Sans"/>
                <a:sym typeface="DM Sans"/>
              </a:rPr>
              <a:t>Remain and deepen</a:t>
            </a:r>
            <a:endParaRPr sz="1160">
              <a:solidFill>
                <a:schemeClr val="dk1"/>
              </a:solidFill>
              <a:latin typeface="Calibri"/>
              <a:ea typeface="Calibri"/>
              <a:cs typeface="Calibri"/>
              <a:sym typeface="Calibri"/>
            </a:endParaRPr>
          </a:p>
        </p:txBody>
      </p:sp>
      <p:sp>
        <p:nvSpPr>
          <p:cNvPr id="467" name="Google Shape;467;p21"/>
          <p:cNvSpPr/>
          <p:nvPr/>
        </p:nvSpPr>
        <p:spPr>
          <a:xfrm>
            <a:off x="3566160" y="1755648"/>
            <a:ext cx="501091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60"/>
              <a:buFont typeface="DM Sans"/>
              <a:buNone/>
            </a:pPr>
            <a:r>
              <a:rPr lang="en-US" sz="1060">
                <a:solidFill>
                  <a:srgbClr val="5A6B84"/>
                </a:solidFill>
                <a:latin typeface="DM Sans"/>
                <a:ea typeface="DM Sans"/>
                <a:cs typeface="DM Sans"/>
                <a:sym typeface="DM Sans"/>
              </a:rPr>
              <a:t>The formation conditions are real and worth protecting.</a:t>
            </a:r>
            <a:endParaRPr sz="1060">
              <a:solidFill>
                <a:schemeClr val="dk1"/>
              </a:solidFill>
              <a:latin typeface="Calibri"/>
              <a:ea typeface="Calibri"/>
              <a:cs typeface="Calibri"/>
              <a:sym typeface="Calibri"/>
            </a:endParaRPr>
          </a:p>
        </p:txBody>
      </p:sp>
      <p:sp>
        <p:nvSpPr>
          <p:cNvPr id="468" name="Google Shape;468;p21"/>
          <p:cNvSpPr/>
          <p:nvPr/>
        </p:nvSpPr>
        <p:spPr>
          <a:xfrm>
            <a:off x="566928" y="213969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9" name="Google Shape;469;p21"/>
          <p:cNvSpPr/>
          <p:nvPr/>
        </p:nvSpPr>
        <p:spPr>
          <a:xfrm>
            <a:off x="566928" y="213969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2</a:t>
            </a:r>
            <a:endParaRPr sz="950">
              <a:solidFill>
                <a:schemeClr val="dk1"/>
              </a:solidFill>
              <a:latin typeface="Calibri"/>
              <a:ea typeface="Calibri"/>
              <a:cs typeface="Calibri"/>
              <a:sym typeface="Calibri"/>
            </a:endParaRPr>
          </a:p>
        </p:txBody>
      </p:sp>
      <p:sp>
        <p:nvSpPr>
          <p:cNvPr id="470" name="Google Shape;470;p21"/>
          <p:cNvSpPr/>
          <p:nvPr/>
        </p:nvSpPr>
        <p:spPr>
          <a:xfrm>
            <a:off x="987552" y="2121408"/>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60"/>
              <a:buFont typeface="DM Sans"/>
              <a:buNone/>
            </a:pPr>
            <a:r>
              <a:rPr b="1" lang="en-US" sz="1160">
                <a:solidFill>
                  <a:srgbClr val="0F2347"/>
                </a:solidFill>
                <a:latin typeface="DM Sans"/>
                <a:ea typeface="DM Sans"/>
                <a:cs typeface="DM Sans"/>
                <a:sym typeface="DM Sans"/>
              </a:rPr>
              <a:t>Translate what is built</a:t>
            </a:r>
            <a:endParaRPr sz="1160">
              <a:solidFill>
                <a:schemeClr val="dk1"/>
              </a:solidFill>
              <a:latin typeface="Calibri"/>
              <a:ea typeface="Calibri"/>
              <a:cs typeface="Calibri"/>
              <a:sym typeface="Calibri"/>
            </a:endParaRPr>
          </a:p>
        </p:txBody>
      </p:sp>
      <p:sp>
        <p:nvSpPr>
          <p:cNvPr id="471" name="Google Shape;471;p21"/>
          <p:cNvSpPr/>
          <p:nvPr/>
        </p:nvSpPr>
        <p:spPr>
          <a:xfrm>
            <a:off x="3566160" y="2121408"/>
            <a:ext cx="501091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60"/>
              <a:buFont typeface="DM Sans"/>
              <a:buNone/>
            </a:pPr>
            <a:r>
              <a:rPr lang="en-US" sz="1060">
                <a:solidFill>
                  <a:srgbClr val="5A6B84"/>
                </a:solidFill>
                <a:latin typeface="DM Sans"/>
                <a:ea typeface="DM Sans"/>
                <a:cs typeface="DM Sans"/>
                <a:sym typeface="DM Sans"/>
              </a:rPr>
              <a:t>The capability exists. The evidence for it is not yet legible outside.</a:t>
            </a:r>
            <a:endParaRPr sz="1060">
              <a:solidFill>
                <a:schemeClr val="dk1"/>
              </a:solidFill>
              <a:latin typeface="Calibri"/>
              <a:ea typeface="Calibri"/>
              <a:cs typeface="Calibri"/>
              <a:sym typeface="Calibri"/>
            </a:endParaRPr>
          </a:p>
        </p:txBody>
      </p:sp>
      <p:sp>
        <p:nvSpPr>
          <p:cNvPr id="472" name="Google Shape;472;p21"/>
          <p:cNvSpPr/>
          <p:nvPr/>
        </p:nvSpPr>
        <p:spPr>
          <a:xfrm>
            <a:off x="566928" y="250545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3" name="Google Shape;473;p21"/>
          <p:cNvSpPr/>
          <p:nvPr/>
        </p:nvSpPr>
        <p:spPr>
          <a:xfrm>
            <a:off x="566928" y="250545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3</a:t>
            </a:r>
            <a:endParaRPr sz="950">
              <a:solidFill>
                <a:schemeClr val="dk1"/>
              </a:solidFill>
              <a:latin typeface="Calibri"/>
              <a:ea typeface="Calibri"/>
              <a:cs typeface="Calibri"/>
              <a:sym typeface="Calibri"/>
            </a:endParaRPr>
          </a:p>
        </p:txBody>
      </p:sp>
      <p:sp>
        <p:nvSpPr>
          <p:cNvPr id="474" name="Google Shape;474;p21"/>
          <p:cNvSpPr/>
          <p:nvPr/>
        </p:nvSpPr>
        <p:spPr>
          <a:xfrm>
            <a:off x="987552" y="2487168"/>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60"/>
              <a:buFont typeface="DM Sans"/>
              <a:buNone/>
            </a:pPr>
            <a:r>
              <a:rPr b="1" lang="en-US" sz="1160">
                <a:solidFill>
                  <a:srgbClr val="0F2347"/>
                </a:solidFill>
                <a:latin typeface="DM Sans"/>
                <a:ea typeface="DM Sans"/>
                <a:cs typeface="DM Sans"/>
                <a:sym typeface="DM Sans"/>
              </a:rPr>
              <a:t>Widen exposure</a:t>
            </a:r>
            <a:endParaRPr sz="1160">
              <a:solidFill>
                <a:schemeClr val="dk1"/>
              </a:solidFill>
              <a:latin typeface="Calibri"/>
              <a:ea typeface="Calibri"/>
              <a:cs typeface="Calibri"/>
              <a:sym typeface="Calibri"/>
            </a:endParaRPr>
          </a:p>
        </p:txBody>
      </p:sp>
      <p:sp>
        <p:nvSpPr>
          <p:cNvPr id="475" name="Google Shape;475;p21"/>
          <p:cNvSpPr/>
          <p:nvPr/>
        </p:nvSpPr>
        <p:spPr>
          <a:xfrm>
            <a:off x="3566160" y="2487168"/>
            <a:ext cx="501091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60"/>
              <a:buFont typeface="DM Sans"/>
              <a:buNone/>
            </a:pPr>
            <a:r>
              <a:rPr lang="en-US" sz="1060">
                <a:solidFill>
                  <a:srgbClr val="5A6B84"/>
                </a:solidFill>
                <a:latin typeface="DM Sans"/>
                <a:ea typeface="DM Sans"/>
                <a:cs typeface="DM Sans"/>
                <a:sym typeface="DM Sans"/>
              </a:rPr>
              <a:t>Reach people who can evaluate or use it. Visibility is not evidence.</a:t>
            </a:r>
            <a:endParaRPr sz="1060">
              <a:solidFill>
                <a:schemeClr val="dk1"/>
              </a:solidFill>
              <a:latin typeface="Calibri"/>
              <a:ea typeface="Calibri"/>
              <a:cs typeface="Calibri"/>
              <a:sym typeface="Calibri"/>
            </a:endParaRPr>
          </a:p>
        </p:txBody>
      </p:sp>
      <p:sp>
        <p:nvSpPr>
          <p:cNvPr id="476" name="Google Shape;476;p21"/>
          <p:cNvSpPr/>
          <p:nvPr/>
        </p:nvSpPr>
        <p:spPr>
          <a:xfrm>
            <a:off x="566928" y="287121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7" name="Google Shape;477;p21"/>
          <p:cNvSpPr/>
          <p:nvPr/>
        </p:nvSpPr>
        <p:spPr>
          <a:xfrm>
            <a:off x="566928" y="287121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4</a:t>
            </a:r>
            <a:endParaRPr sz="950">
              <a:solidFill>
                <a:schemeClr val="dk1"/>
              </a:solidFill>
              <a:latin typeface="Calibri"/>
              <a:ea typeface="Calibri"/>
              <a:cs typeface="Calibri"/>
              <a:sym typeface="Calibri"/>
            </a:endParaRPr>
          </a:p>
        </p:txBody>
      </p:sp>
      <p:sp>
        <p:nvSpPr>
          <p:cNvPr id="478" name="Google Shape;478;p21"/>
          <p:cNvSpPr/>
          <p:nvPr/>
        </p:nvSpPr>
        <p:spPr>
          <a:xfrm>
            <a:off x="987552" y="2852928"/>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60"/>
              <a:buFont typeface="DM Sans"/>
              <a:buNone/>
            </a:pPr>
            <a:r>
              <a:rPr b="1" lang="en-US" sz="1160">
                <a:solidFill>
                  <a:srgbClr val="0F2347"/>
                </a:solidFill>
                <a:latin typeface="DM Sans"/>
                <a:ea typeface="DM Sans"/>
                <a:cs typeface="DM Sans"/>
                <a:sym typeface="DM Sans"/>
              </a:rPr>
              <a:t>Test portability</a:t>
            </a:r>
            <a:endParaRPr sz="1160">
              <a:solidFill>
                <a:schemeClr val="dk1"/>
              </a:solidFill>
              <a:latin typeface="Calibri"/>
              <a:ea typeface="Calibri"/>
              <a:cs typeface="Calibri"/>
              <a:sym typeface="Calibri"/>
            </a:endParaRPr>
          </a:p>
        </p:txBody>
      </p:sp>
      <p:sp>
        <p:nvSpPr>
          <p:cNvPr id="479" name="Google Shape;479;p21"/>
          <p:cNvSpPr/>
          <p:nvPr/>
        </p:nvSpPr>
        <p:spPr>
          <a:xfrm>
            <a:off x="3566160" y="2852928"/>
            <a:ext cx="501091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60"/>
              <a:buFont typeface="DM Sans"/>
              <a:buNone/>
            </a:pPr>
            <a:r>
              <a:rPr lang="en-US" sz="1060">
                <a:solidFill>
                  <a:srgbClr val="5A6B84"/>
                </a:solidFill>
                <a:latin typeface="DM Sans"/>
                <a:ea typeface="DM Sans"/>
                <a:cs typeface="DM Sans"/>
                <a:sym typeface="DM Sans"/>
              </a:rPr>
              <a:t>Find out what travels before you need it to.</a:t>
            </a:r>
            <a:endParaRPr sz="1060">
              <a:solidFill>
                <a:schemeClr val="dk1"/>
              </a:solidFill>
              <a:latin typeface="Calibri"/>
              <a:ea typeface="Calibri"/>
              <a:cs typeface="Calibri"/>
              <a:sym typeface="Calibri"/>
            </a:endParaRPr>
          </a:p>
        </p:txBody>
      </p:sp>
      <p:sp>
        <p:nvSpPr>
          <p:cNvPr id="480" name="Google Shape;480;p21"/>
          <p:cNvSpPr/>
          <p:nvPr/>
        </p:nvSpPr>
        <p:spPr>
          <a:xfrm>
            <a:off x="566928" y="323697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1" name="Google Shape;481;p21"/>
          <p:cNvSpPr/>
          <p:nvPr/>
        </p:nvSpPr>
        <p:spPr>
          <a:xfrm>
            <a:off x="566928" y="323697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5</a:t>
            </a:r>
            <a:endParaRPr sz="950">
              <a:solidFill>
                <a:schemeClr val="dk1"/>
              </a:solidFill>
              <a:latin typeface="Calibri"/>
              <a:ea typeface="Calibri"/>
              <a:cs typeface="Calibri"/>
              <a:sym typeface="Calibri"/>
            </a:endParaRPr>
          </a:p>
        </p:txBody>
      </p:sp>
      <p:sp>
        <p:nvSpPr>
          <p:cNvPr id="482" name="Google Shape;482;p21"/>
          <p:cNvSpPr/>
          <p:nvPr/>
        </p:nvSpPr>
        <p:spPr>
          <a:xfrm>
            <a:off x="987552" y="3218688"/>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60"/>
              <a:buFont typeface="DM Sans"/>
              <a:buNone/>
            </a:pPr>
            <a:r>
              <a:rPr b="1" lang="en-US" sz="1160">
                <a:solidFill>
                  <a:srgbClr val="0F2347"/>
                </a:solidFill>
                <a:latin typeface="DM Sans"/>
                <a:ea typeface="DM Sans"/>
                <a:cs typeface="DM Sans"/>
                <a:sym typeface="DM Sans"/>
              </a:rPr>
              <a:t>Repair formation conditions</a:t>
            </a:r>
            <a:endParaRPr sz="1160">
              <a:solidFill>
                <a:schemeClr val="dk1"/>
              </a:solidFill>
              <a:latin typeface="Calibri"/>
              <a:ea typeface="Calibri"/>
              <a:cs typeface="Calibri"/>
              <a:sym typeface="Calibri"/>
            </a:endParaRPr>
          </a:p>
        </p:txBody>
      </p:sp>
      <p:sp>
        <p:nvSpPr>
          <p:cNvPr id="483" name="Google Shape;483;p21"/>
          <p:cNvSpPr/>
          <p:nvPr/>
        </p:nvSpPr>
        <p:spPr>
          <a:xfrm>
            <a:off x="3566160" y="3218688"/>
            <a:ext cx="501091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60"/>
              <a:buFont typeface="DM Sans"/>
              <a:buNone/>
            </a:pPr>
            <a:r>
              <a:rPr lang="en-US" sz="1060">
                <a:solidFill>
                  <a:srgbClr val="5A6B84"/>
                </a:solidFill>
                <a:latin typeface="DM Sans"/>
                <a:ea typeface="DM Sans"/>
                <a:cs typeface="DM Sans"/>
                <a:sym typeface="DM Sans"/>
              </a:rPr>
              <a:t>Test whether changing the work or conditions could repair the problem.</a:t>
            </a:r>
            <a:endParaRPr sz="1060">
              <a:solidFill>
                <a:schemeClr val="dk1"/>
              </a:solidFill>
              <a:latin typeface="Calibri"/>
              <a:ea typeface="Calibri"/>
              <a:cs typeface="Calibri"/>
              <a:sym typeface="Calibri"/>
            </a:endParaRPr>
          </a:p>
        </p:txBody>
      </p:sp>
      <p:sp>
        <p:nvSpPr>
          <p:cNvPr id="484" name="Google Shape;484;p21"/>
          <p:cNvSpPr/>
          <p:nvPr/>
        </p:nvSpPr>
        <p:spPr>
          <a:xfrm>
            <a:off x="566928" y="360273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5" name="Google Shape;485;p21"/>
          <p:cNvSpPr/>
          <p:nvPr/>
        </p:nvSpPr>
        <p:spPr>
          <a:xfrm>
            <a:off x="566928" y="360273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6</a:t>
            </a:r>
            <a:endParaRPr sz="950">
              <a:solidFill>
                <a:schemeClr val="dk1"/>
              </a:solidFill>
              <a:latin typeface="Calibri"/>
              <a:ea typeface="Calibri"/>
              <a:cs typeface="Calibri"/>
              <a:sym typeface="Calibri"/>
            </a:endParaRPr>
          </a:p>
        </p:txBody>
      </p:sp>
      <p:sp>
        <p:nvSpPr>
          <p:cNvPr id="486" name="Google Shape;486;p21"/>
          <p:cNvSpPr/>
          <p:nvPr/>
        </p:nvSpPr>
        <p:spPr>
          <a:xfrm>
            <a:off x="987552" y="3584448"/>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60"/>
              <a:buFont typeface="DM Sans"/>
              <a:buNone/>
            </a:pPr>
            <a:r>
              <a:rPr b="1" lang="en-US" sz="1160">
                <a:solidFill>
                  <a:srgbClr val="0F2347"/>
                </a:solidFill>
                <a:latin typeface="DM Sans"/>
                <a:ea typeface="DM Sans"/>
                <a:cs typeface="DM Sans"/>
                <a:sym typeface="DM Sans"/>
              </a:rPr>
              <a:t>Prepare for exit</a:t>
            </a:r>
            <a:endParaRPr sz="1160">
              <a:solidFill>
                <a:schemeClr val="dk1"/>
              </a:solidFill>
              <a:latin typeface="Calibri"/>
              <a:ea typeface="Calibri"/>
              <a:cs typeface="Calibri"/>
              <a:sym typeface="Calibri"/>
            </a:endParaRPr>
          </a:p>
        </p:txBody>
      </p:sp>
      <p:sp>
        <p:nvSpPr>
          <p:cNvPr id="487" name="Google Shape;487;p21"/>
          <p:cNvSpPr/>
          <p:nvPr/>
        </p:nvSpPr>
        <p:spPr>
          <a:xfrm>
            <a:off x="3566160" y="3584448"/>
            <a:ext cx="501091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60"/>
              <a:buFont typeface="DM Sans"/>
              <a:buNone/>
            </a:pPr>
            <a:r>
              <a:rPr lang="en-US" sz="1060">
                <a:solidFill>
                  <a:srgbClr val="5A6B84"/>
                </a:solidFill>
                <a:latin typeface="DM Sans"/>
                <a:ea typeface="DM Sans"/>
                <a:cs typeface="DM Sans"/>
                <a:sym typeface="DM Sans"/>
              </a:rPr>
              <a:t>Your evidence gives you reason to prepare in case the conditions do not repair.</a:t>
            </a:r>
            <a:endParaRPr sz="1060">
              <a:solidFill>
                <a:schemeClr val="dk1"/>
              </a:solidFill>
              <a:latin typeface="Calibri"/>
              <a:ea typeface="Calibri"/>
              <a:cs typeface="Calibri"/>
              <a:sym typeface="Calibri"/>
            </a:endParaRPr>
          </a:p>
        </p:txBody>
      </p:sp>
      <p:sp>
        <p:nvSpPr>
          <p:cNvPr id="488" name="Google Shape;488;p21"/>
          <p:cNvSpPr/>
          <p:nvPr/>
        </p:nvSpPr>
        <p:spPr>
          <a:xfrm>
            <a:off x="566928" y="396849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9" name="Google Shape;489;p21"/>
          <p:cNvSpPr/>
          <p:nvPr/>
        </p:nvSpPr>
        <p:spPr>
          <a:xfrm>
            <a:off x="566928" y="396849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7</a:t>
            </a:r>
            <a:endParaRPr sz="950">
              <a:solidFill>
                <a:schemeClr val="dk1"/>
              </a:solidFill>
              <a:latin typeface="Calibri"/>
              <a:ea typeface="Calibri"/>
              <a:cs typeface="Calibri"/>
              <a:sym typeface="Calibri"/>
            </a:endParaRPr>
          </a:p>
        </p:txBody>
      </p:sp>
      <p:sp>
        <p:nvSpPr>
          <p:cNvPr id="490" name="Google Shape;490;p21"/>
          <p:cNvSpPr/>
          <p:nvPr/>
        </p:nvSpPr>
        <p:spPr>
          <a:xfrm>
            <a:off x="987552" y="3950208"/>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60"/>
              <a:buFont typeface="DM Sans"/>
              <a:buNone/>
            </a:pPr>
            <a:r>
              <a:rPr b="1" lang="en-US" sz="1160">
                <a:solidFill>
                  <a:srgbClr val="0F2347"/>
                </a:solidFill>
                <a:latin typeface="DM Sans"/>
                <a:ea typeface="DM Sans"/>
                <a:cs typeface="DM Sans"/>
                <a:sym typeface="DM Sans"/>
              </a:rPr>
              <a:t>Seek an external perspective</a:t>
            </a:r>
            <a:endParaRPr sz="1160">
              <a:solidFill>
                <a:schemeClr val="dk1"/>
              </a:solidFill>
              <a:latin typeface="Calibri"/>
              <a:ea typeface="Calibri"/>
              <a:cs typeface="Calibri"/>
              <a:sym typeface="Calibri"/>
            </a:endParaRPr>
          </a:p>
        </p:txBody>
      </p:sp>
      <p:sp>
        <p:nvSpPr>
          <p:cNvPr id="491" name="Google Shape;491;p21"/>
          <p:cNvSpPr/>
          <p:nvPr/>
        </p:nvSpPr>
        <p:spPr>
          <a:xfrm>
            <a:off x="3566160" y="3950208"/>
            <a:ext cx="501091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60"/>
              <a:buFont typeface="DM Sans"/>
              <a:buNone/>
            </a:pPr>
            <a:r>
              <a:rPr lang="en-US" sz="1060">
                <a:solidFill>
                  <a:srgbClr val="5A6B84"/>
                </a:solidFill>
                <a:latin typeface="DM Sans"/>
                <a:ea typeface="DM Sans"/>
                <a:cs typeface="DM Sans"/>
                <a:sym typeface="DM Sans"/>
              </a:rPr>
              <a:t>High stakes, incomplete evidence, or a boundary position.</a:t>
            </a:r>
            <a:endParaRPr sz="1060">
              <a:solidFill>
                <a:schemeClr val="dk1"/>
              </a:solidFill>
              <a:latin typeface="Calibri"/>
              <a:ea typeface="Calibri"/>
              <a:cs typeface="Calibri"/>
              <a:sym typeface="Calibri"/>
            </a:endParaRPr>
          </a:p>
        </p:txBody>
      </p:sp>
      <p:sp>
        <p:nvSpPr>
          <p:cNvPr id="492" name="Google Shape;492;p21"/>
          <p:cNvSpPr/>
          <p:nvPr/>
        </p:nvSpPr>
        <p:spPr>
          <a:xfrm>
            <a:off x="566928" y="4443984"/>
            <a:ext cx="801014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1440E"/>
              </a:buClr>
              <a:buSzPts val="1100"/>
              <a:buFont typeface="DM Sans"/>
              <a:buNone/>
            </a:pPr>
            <a:r>
              <a:rPr b="1" lang="en-US" sz="1100">
                <a:solidFill>
                  <a:srgbClr val="C1440E"/>
                </a:solidFill>
                <a:latin typeface="DM Sans"/>
                <a:ea typeface="DM Sans"/>
                <a:cs typeface="DM Sans"/>
                <a:sym typeface="DM Sans"/>
              </a:rPr>
              <a:t>No square prescribes a category. Your evidence and constraints still apply.</a:t>
            </a:r>
            <a:endParaRPr sz="1100">
              <a:solidFill>
                <a:schemeClr val="dk1"/>
              </a:solidFill>
              <a:latin typeface="Calibri"/>
              <a:ea typeface="Calibri"/>
              <a:cs typeface="Calibri"/>
              <a:sym typeface="Calibri"/>
            </a:endParaRPr>
          </a:p>
        </p:txBody>
      </p:sp>
      <p:sp>
        <p:nvSpPr>
          <p:cNvPr id="493" name="Google Shape;493;p21"/>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494" name="Google Shape;494;p21"/>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21</a:t>
            </a:r>
            <a:endParaRPr sz="7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99" name="Shape 499"/>
        <p:cNvGrpSpPr/>
        <p:nvPr/>
      </p:nvGrpSpPr>
      <p:grpSpPr>
        <a:xfrm>
          <a:off x="0" y="0"/>
          <a:ext cx="0" cy="0"/>
          <a:chOff x="0" y="0"/>
          <a:chExt cx="0" cy="0"/>
        </a:xfrm>
      </p:grpSpPr>
      <p:sp>
        <p:nvSpPr>
          <p:cNvPr id="500" name="Google Shape;500;p2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THE ARTIFACT</a:t>
            </a:r>
            <a:endParaRPr sz="950">
              <a:solidFill>
                <a:schemeClr val="dk1"/>
              </a:solidFill>
              <a:latin typeface="Calibri"/>
              <a:ea typeface="Calibri"/>
              <a:cs typeface="Calibri"/>
              <a:sym typeface="Calibri"/>
            </a:endParaRPr>
          </a:p>
        </p:txBody>
      </p:sp>
      <p:sp>
        <p:nvSpPr>
          <p:cNvPr id="501" name="Google Shape;501;p22"/>
          <p:cNvSpPr/>
          <p:nvPr/>
        </p:nvSpPr>
        <p:spPr>
          <a:xfrm>
            <a:off x="566928" y="603504"/>
            <a:ext cx="8010144" cy="585216"/>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200"/>
              <a:buFont typeface="Cormorant Garamond"/>
              <a:buNone/>
            </a:pPr>
            <a:r>
              <a:rPr b="1" lang="en-US" sz="3200">
                <a:solidFill>
                  <a:srgbClr val="0F2347"/>
                </a:solidFill>
                <a:latin typeface="Cormorant Garamond"/>
                <a:ea typeface="Cormorant Garamond"/>
                <a:cs typeface="Cormorant Garamond"/>
                <a:sym typeface="Cormorant Garamond"/>
              </a:rPr>
              <a:t>The Next-Move Note</a:t>
            </a:r>
            <a:endParaRPr sz="3200">
              <a:solidFill>
                <a:schemeClr val="dk1"/>
              </a:solidFill>
              <a:latin typeface="Calibri"/>
              <a:ea typeface="Calibri"/>
              <a:cs typeface="Calibri"/>
              <a:sym typeface="Calibri"/>
            </a:endParaRPr>
          </a:p>
        </p:txBody>
      </p:sp>
      <p:sp>
        <p:nvSpPr>
          <p:cNvPr id="502" name="Google Shape;502;p22"/>
          <p:cNvSpPr/>
          <p:nvPr/>
        </p:nvSpPr>
        <p:spPr>
          <a:xfrm>
            <a:off x="566928" y="1207008"/>
            <a:ext cx="801014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Three lines. Yours, private, and enough to act on.</a:t>
            </a:r>
            <a:endParaRPr sz="1150">
              <a:solidFill>
                <a:schemeClr val="dk1"/>
              </a:solidFill>
              <a:latin typeface="Calibri"/>
              <a:ea typeface="Calibri"/>
              <a:cs typeface="Calibri"/>
              <a:sym typeface="Calibri"/>
            </a:endParaRPr>
          </a:p>
        </p:txBody>
      </p:sp>
      <p:sp>
        <p:nvSpPr>
          <p:cNvPr id="503" name="Google Shape;503;p22"/>
          <p:cNvSpPr/>
          <p:nvPr/>
        </p:nvSpPr>
        <p:spPr>
          <a:xfrm>
            <a:off x="566928" y="1847088"/>
            <a:ext cx="8010144" cy="65836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4" name="Google Shape;504;p22"/>
          <p:cNvSpPr/>
          <p:nvPr/>
        </p:nvSpPr>
        <p:spPr>
          <a:xfrm>
            <a:off x="566928" y="1847088"/>
            <a:ext cx="41148" cy="65836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5" name="Google Shape;505;p22"/>
          <p:cNvSpPr/>
          <p:nvPr/>
        </p:nvSpPr>
        <p:spPr>
          <a:xfrm>
            <a:off x="786384" y="1920240"/>
            <a:ext cx="7571232"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20"/>
              <a:buFont typeface="Montserrat"/>
              <a:buNone/>
            </a:pPr>
            <a:r>
              <a:rPr b="1" lang="en-US" sz="820">
                <a:solidFill>
                  <a:srgbClr val="0F2347"/>
                </a:solidFill>
                <a:latin typeface="Montserrat"/>
                <a:ea typeface="Montserrat"/>
                <a:cs typeface="Montserrat"/>
                <a:sym typeface="Montserrat"/>
              </a:rPr>
              <a:t>MY CURRENT READ</a:t>
            </a:r>
            <a:endParaRPr sz="820">
              <a:solidFill>
                <a:schemeClr val="dk1"/>
              </a:solidFill>
              <a:latin typeface="Calibri"/>
              <a:ea typeface="Calibri"/>
              <a:cs typeface="Calibri"/>
              <a:sym typeface="Calibri"/>
            </a:endParaRPr>
          </a:p>
        </p:txBody>
      </p:sp>
      <p:sp>
        <p:nvSpPr>
          <p:cNvPr id="506" name="Google Shape;506;p22"/>
          <p:cNvSpPr/>
          <p:nvPr/>
        </p:nvSpPr>
        <p:spPr>
          <a:xfrm>
            <a:off x="786384" y="2121408"/>
            <a:ext cx="4937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40"/>
              <a:buFont typeface="DM Sans"/>
              <a:buNone/>
            </a:pPr>
            <a:r>
              <a:rPr lang="en-US" sz="1140">
                <a:solidFill>
                  <a:srgbClr val="0F2347"/>
                </a:solidFill>
                <a:latin typeface="DM Sans"/>
                <a:ea typeface="DM Sans"/>
                <a:cs typeface="DM Sans"/>
                <a:sym typeface="DM Sans"/>
              </a:rPr>
              <a:t>My position appears to be:</a:t>
            </a:r>
            <a:endParaRPr sz="1140">
              <a:solidFill>
                <a:schemeClr val="dk1"/>
              </a:solidFill>
              <a:latin typeface="Calibri"/>
              <a:ea typeface="Calibri"/>
              <a:cs typeface="Calibri"/>
              <a:sym typeface="Calibri"/>
            </a:endParaRPr>
          </a:p>
        </p:txBody>
      </p:sp>
      <p:sp>
        <p:nvSpPr>
          <p:cNvPr id="507" name="Google Shape;507;p22"/>
          <p:cNvSpPr/>
          <p:nvPr/>
        </p:nvSpPr>
        <p:spPr>
          <a:xfrm>
            <a:off x="786384" y="2322576"/>
            <a:ext cx="4937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880"/>
              <a:buFont typeface="DM Sans"/>
              <a:buNone/>
            </a:pPr>
            <a:r>
              <a:rPr i="1" lang="en-US" sz="880">
                <a:solidFill>
                  <a:srgbClr val="5A6B84"/>
                </a:solidFill>
                <a:latin typeface="DM Sans"/>
                <a:ea typeface="DM Sans"/>
                <a:cs typeface="DM Sans"/>
                <a:sym typeface="DM Sans"/>
              </a:rPr>
              <a:t>State  /  boundary  /  incomplete</a:t>
            </a:r>
            <a:endParaRPr sz="880">
              <a:solidFill>
                <a:schemeClr val="dk1"/>
              </a:solidFill>
              <a:latin typeface="Calibri"/>
              <a:ea typeface="Calibri"/>
              <a:cs typeface="Calibri"/>
              <a:sym typeface="Calibri"/>
            </a:endParaRPr>
          </a:p>
        </p:txBody>
      </p:sp>
      <p:sp>
        <p:nvSpPr>
          <p:cNvPr id="508" name="Google Shape;508;p22"/>
          <p:cNvSpPr/>
          <p:nvPr/>
        </p:nvSpPr>
        <p:spPr>
          <a:xfrm>
            <a:off x="5577840" y="2121408"/>
            <a:ext cx="299923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300"/>
              <a:buFont typeface="DM Sans"/>
              <a:buNone/>
            </a:pPr>
            <a:r>
              <a:rPr lang="en-US" sz="1300">
                <a:solidFill>
                  <a:srgbClr val="5A6B84"/>
                </a:solidFill>
                <a:latin typeface="DM Sans"/>
                <a:ea typeface="DM Sans"/>
                <a:cs typeface="DM Sans"/>
                <a:sym typeface="DM Sans"/>
              </a:rPr>
              <a:t>____________________</a:t>
            </a:r>
            <a:endParaRPr sz="1300">
              <a:solidFill>
                <a:schemeClr val="dk1"/>
              </a:solidFill>
              <a:latin typeface="Calibri"/>
              <a:ea typeface="Calibri"/>
              <a:cs typeface="Calibri"/>
              <a:sym typeface="Calibri"/>
            </a:endParaRPr>
          </a:p>
        </p:txBody>
      </p:sp>
      <p:sp>
        <p:nvSpPr>
          <p:cNvPr id="509" name="Google Shape;509;p22"/>
          <p:cNvSpPr/>
          <p:nvPr/>
        </p:nvSpPr>
        <p:spPr>
          <a:xfrm>
            <a:off x="566928" y="2596896"/>
            <a:ext cx="8010144" cy="65836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0" name="Google Shape;510;p22"/>
          <p:cNvSpPr/>
          <p:nvPr/>
        </p:nvSpPr>
        <p:spPr>
          <a:xfrm>
            <a:off x="566928" y="2596896"/>
            <a:ext cx="41148" cy="65836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1" name="Google Shape;511;p22"/>
          <p:cNvSpPr/>
          <p:nvPr/>
        </p:nvSpPr>
        <p:spPr>
          <a:xfrm>
            <a:off x="786384" y="2670048"/>
            <a:ext cx="7571232"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20"/>
              <a:buFont typeface="Montserrat"/>
              <a:buNone/>
            </a:pPr>
            <a:r>
              <a:rPr b="1" lang="en-US" sz="820">
                <a:solidFill>
                  <a:srgbClr val="0F2347"/>
                </a:solidFill>
                <a:latin typeface="Montserrat"/>
                <a:ea typeface="Montserrat"/>
                <a:cs typeface="Montserrat"/>
                <a:sym typeface="Montserrat"/>
              </a:rPr>
              <a:t>WHAT I NEED TO TEST</a:t>
            </a:r>
            <a:endParaRPr sz="820">
              <a:solidFill>
                <a:schemeClr val="dk1"/>
              </a:solidFill>
              <a:latin typeface="Calibri"/>
              <a:ea typeface="Calibri"/>
              <a:cs typeface="Calibri"/>
              <a:sym typeface="Calibri"/>
            </a:endParaRPr>
          </a:p>
        </p:txBody>
      </p:sp>
      <p:sp>
        <p:nvSpPr>
          <p:cNvPr id="512" name="Google Shape;512;p22"/>
          <p:cNvSpPr/>
          <p:nvPr/>
        </p:nvSpPr>
        <p:spPr>
          <a:xfrm>
            <a:off x="786384" y="2871216"/>
            <a:ext cx="4937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40"/>
              <a:buFont typeface="DM Sans"/>
              <a:buNone/>
            </a:pPr>
            <a:r>
              <a:rPr lang="en-US" sz="1140">
                <a:solidFill>
                  <a:srgbClr val="0F2347"/>
                </a:solidFill>
                <a:latin typeface="DM Sans"/>
                <a:ea typeface="DM Sans"/>
                <a:cs typeface="DM Sans"/>
                <a:sym typeface="DM Sans"/>
              </a:rPr>
              <a:t>The category of move my evidence supports testing is:</a:t>
            </a:r>
            <a:endParaRPr sz="1140">
              <a:solidFill>
                <a:schemeClr val="dk1"/>
              </a:solidFill>
              <a:latin typeface="Calibri"/>
              <a:ea typeface="Calibri"/>
              <a:cs typeface="Calibri"/>
              <a:sym typeface="Calibri"/>
            </a:endParaRPr>
          </a:p>
        </p:txBody>
      </p:sp>
      <p:sp>
        <p:nvSpPr>
          <p:cNvPr id="513" name="Google Shape;513;p22"/>
          <p:cNvSpPr/>
          <p:nvPr/>
        </p:nvSpPr>
        <p:spPr>
          <a:xfrm>
            <a:off x="786384" y="3072384"/>
            <a:ext cx="4937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880"/>
              <a:buFont typeface="DM Sans"/>
              <a:buNone/>
            </a:pPr>
            <a:r>
              <a:rPr i="1" lang="en-US" sz="880">
                <a:solidFill>
                  <a:srgbClr val="5A6B84"/>
                </a:solidFill>
                <a:latin typeface="DM Sans"/>
                <a:ea typeface="DM Sans"/>
                <a:cs typeface="DM Sans"/>
                <a:sym typeface="DM Sans"/>
              </a:rPr>
              <a:t>One of the seven categories.</a:t>
            </a:r>
            <a:endParaRPr sz="880">
              <a:solidFill>
                <a:schemeClr val="dk1"/>
              </a:solidFill>
              <a:latin typeface="Calibri"/>
              <a:ea typeface="Calibri"/>
              <a:cs typeface="Calibri"/>
              <a:sym typeface="Calibri"/>
            </a:endParaRPr>
          </a:p>
        </p:txBody>
      </p:sp>
      <p:sp>
        <p:nvSpPr>
          <p:cNvPr id="514" name="Google Shape;514;p22"/>
          <p:cNvSpPr/>
          <p:nvPr/>
        </p:nvSpPr>
        <p:spPr>
          <a:xfrm>
            <a:off x="5577840" y="2871216"/>
            <a:ext cx="299923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300"/>
              <a:buFont typeface="DM Sans"/>
              <a:buNone/>
            </a:pPr>
            <a:r>
              <a:rPr lang="en-US" sz="1300">
                <a:solidFill>
                  <a:srgbClr val="5A6B84"/>
                </a:solidFill>
                <a:latin typeface="DM Sans"/>
                <a:ea typeface="DM Sans"/>
                <a:cs typeface="DM Sans"/>
                <a:sym typeface="DM Sans"/>
              </a:rPr>
              <a:t>____________________</a:t>
            </a:r>
            <a:endParaRPr sz="1300">
              <a:solidFill>
                <a:schemeClr val="dk1"/>
              </a:solidFill>
              <a:latin typeface="Calibri"/>
              <a:ea typeface="Calibri"/>
              <a:cs typeface="Calibri"/>
              <a:sym typeface="Calibri"/>
            </a:endParaRPr>
          </a:p>
        </p:txBody>
      </p:sp>
      <p:sp>
        <p:nvSpPr>
          <p:cNvPr id="515" name="Google Shape;515;p22"/>
          <p:cNvSpPr/>
          <p:nvPr/>
        </p:nvSpPr>
        <p:spPr>
          <a:xfrm>
            <a:off x="566928" y="3346704"/>
            <a:ext cx="8010144" cy="65836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6" name="Google Shape;516;p22"/>
          <p:cNvSpPr/>
          <p:nvPr/>
        </p:nvSpPr>
        <p:spPr>
          <a:xfrm>
            <a:off x="566928" y="3346704"/>
            <a:ext cx="41148" cy="65836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7" name="Google Shape;517;p22"/>
          <p:cNvSpPr/>
          <p:nvPr/>
        </p:nvSpPr>
        <p:spPr>
          <a:xfrm>
            <a:off x="786384" y="3419856"/>
            <a:ext cx="7571232"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20"/>
              <a:buFont typeface="Montserrat"/>
              <a:buNone/>
            </a:pPr>
            <a:r>
              <a:rPr b="1" lang="en-US" sz="820">
                <a:solidFill>
                  <a:srgbClr val="0F2347"/>
                </a:solidFill>
                <a:latin typeface="Montserrat"/>
                <a:ea typeface="Montserrat"/>
                <a:cs typeface="Montserrat"/>
                <a:sym typeface="Montserrat"/>
              </a:rPr>
              <a:t>WHAT HAPPENS NEXT</a:t>
            </a:r>
            <a:endParaRPr sz="820">
              <a:solidFill>
                <a:schemeClr val="dk1"/>
              </a:solidFill>
              <a:latin typeface="Calibri"/>
              <a:ea typeface="Calibri"/>
              <a:cs typeface="Calibri"/>
              <a:sym typeface="Calibri"/>
            </a:endParaRPr>
          </a:p>
        </p:txBody>
      </p:sp>
      <p:sp>
        <p:nvSpPr>
          <p:cNvPr id="518" name="Google Shape;518;p22"/>
          <p:cNvSpPr/>
          <p:nvPr/>
        </p:nvSpPr>
        <p:spPr>
          <a:xfrm>
            <a:off x="786384" y="3621024"/>
            <a:ext cx="4937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40"/>
              <a:buFont typeface="DM Sans"/>
              <a:buNone/>
            </a:pPr>
            <a:r>
              <a:rPr lang="en-US" sz="1140">
                <a:solidFill>
                  <a:srgbClr val="0F2347"/>
                </a:solidFill>
                <a:latin typeface="DM Sans"/>
                <a:ea typeface="DM Sans"/>
                <a:cs typeface="DM Sans"/>
                <a:sym typeface="DM Sans"/>
              </a:rPr>
              <a:t>The next action, conversation or piece of evidence is:</a:t>
            </a:r>
            <a:endParaRPr sz="1140">
              <a:solidFill>
                <a:schemeClr val="dk1"/>
              </a:solidFill>
              <a:latin typeface="Calibri"/>
              <a:ea typeface="Calibri"/>
              <a:cs typeface="Calibri"/>
              <a:sym typeface="Calibri"/>
            </a:endParaRPr>
          </a:p>
        </p:txBody>
      </p:sp>
      <p:sp>
        <p:nvSpPr>
          <p:cNvPr id="519" name="Google Shape;519;p22"/>
          <p:cNvSpPr/>
          <p:nvPr/>
        </p:nvSpPr>
        <p:spPr>
          <a:xfrm>
            <a:off x="786384" y="3822192"/>
            <a:ext cx="4937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880"/>
              <a:buFont typeface="DM Sans"/>
              <a:buNone/>
            </a:pPr>
            <a:r>
              <a:rPr i="1" lang="en-US" sz="880">
                <a:solidFill>
                  <a:srgbClr val="5A6B84"/>
                </a:solidFill>
                <a:latin typeface="DM Sans"/>
                <a:ea typeface="DM Sans"/>
                <a:cs typeface="DM Sans"/>
                <a:sym typeface="DM Sans"/>
              </a:rPr>
              <a:t>One thing. Something you could begin this month.</a:t>
            </a:r>
            <a:endParaRPr sz="880">
              <a:solidFill>
                <a:schemeClr val="dk1"/>
              </a:solidFill>
              <a:latin typeface="Calibri"/>
              <a:ea typeface="Calibri"/>
              <a:cs typeface="Calibri"/>
              <a:sym typeface="Calibri"/>
            </a:endParaRPr>
          </a:p>
        </p:txBody>
      </p:sp>
      <p:sp>
        <p:nvSpPr>
          <p:cNvPr id="520" name="Google Shape;520;p22"/>
          <p:cNvSpPr/>
          <p:nvPr/>
        </p:nvSpPr>
        <p:spPr>
          <a:xfrm>
            <a:off x="5577840" y="3621024"/>
            <a:ext cx="299923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300"/>
              <a:buFont typeface="DM Sans"/>
              <a:buNone/>
            </a:pPr>
            <a:r>
              <a:rPr lang="en-US" sz="1300">
                <a:solidFill>
                  <a:srgbClr val="5A6B84"/>
                </a:solidFill>
                <a:latin typeface="DM Sans"/>
                <a:ea typeface="DM Sans"/>
                <a:cs typeface="DM Sans"/>
                <a:sym typeface="DM Sans"/>
              </a:rPr>
              <a:t>____________________</a:t>
            </a:r>
            <a:endParaRPr sz="1300">
              <a:solidFill>
                <a:schemeClr val="dk1"/>
              </a:solidFill>
              <a:latin typeface="Calibri"/>
              <a:ea typeface="Calibri"/>
              <a:cs typeface="Calibri"/>
              <a:sym typeface="Calibri"/>
            </a:endParaRPr>
          </a:p>
        </p:txBody>
      </p:sp>
      <p:sp>
        <p:nvSpPr>
          <p:cNvPr id="521" name="Google Shape;521;p22"/>
          <p:cNvSpPr/>
          <p:nvPr/>
        </p:nvSpPr>
        <p:spPr>
          <a:xfrm>
            <a:off x="566928" y="4151376"/>
            <a:ext cx="8010144" cy="4572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2" name="Google Shape;522;p22"/>
          <p:cNvSpPr/>
          <p:nvPr/>
        </p:nvSpPr>
        <p:spPr>
          <a:xfrm>
            <a:off x="804672" y="4151376"/>
            <a:ext cx="753465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550"/>
              <a:buFont typeface="Cormorant Garamond"/>
              <a:buNone/>
            </a:pPr>
            <a:r>
              <a:rPr b="1" lang="en-US" sz="1550">
                <a:solidFill>
                  <a:srgbClr val="F5F0E8"/>
                </a:solidFill>
                <a:latin typeface="Cormorant Garamond"/>
                <a:ea typeface="Cormorant Garamond"/>
                <a:cs typeface="Cormorant Garamond"/>
                <a:sym typeface="Cormorant Garamond"/>
              </a:rPr>
              <a:t>This is a note, not a decision. It records what your evidence supports testing next.</a:t>
            </a:r>
            <a:endParaRPr sz="1550">
              <a:solidFill>
                <a:schemeClr val="dk1"/>
              </a:solidFill>
              <a:latin typeface="Calibri"/>
              <a:ea typeface="Calibri"/>
              <a:cs typeface="Calibri"/>
              <a:sym typeface="Calibri"/>
            </a:endParaRPr>
          </a:p>
        </p:txBody>
      </p:sp>
      <p:sp>
        <p:nvSpPr>
          <p:cNvPr id="523" name="Google Shape;523;p2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524" name="Google Shape;524;p22"/>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22</a:t>
            </a:r>
            <a:endParaRPr sz="700">
              <a:solidFill>
                <a:schemeClr val="dk1"/>
              </a:solidFill>
              <a:latin typeface="Calibri"/>
              <a:ea typeface="Calibri"/>
              <a:cs typeface="Calibri"/>
              <a:sym typeface="Calibri"/>
            </a:endParaRPr>
          </a:p>
        </p:txBody>
      </p:sp>
      <p:sp>
        <p:nvSpPr>
          <p:cNvPr id="525" name="Google Shape;525;p22"/>
          <p:cNvSpPr/>
          <p:nvPr/>
        </p:nvSpPr>
        <p:spPr>
          <a:xfrm>
            <a:off x="566928" y="1481328"/>
            <a:ext cx="8010144" cy="27432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6" name="Google Shape;526;p22"/>
          <p:cNvSpPr/>
          <p:nvPr/>
        </p:nvSpPr>
        <p:spPr>
          <a:xfrm>
            <a:off x="566928" y="1481328"/>
            <a:ext cx="36576" cy="27432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7" name="Google Shape;527;p22"/>
          <p:cNvSpPr/>
          <p:nvPr/>
        </p:nvSpPr>
        <p:spPr>
          <a:xfrm>
            <a:off x="786384" y="1517904"/>
            <a:ext cx="7571231"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50"/>
              <a:buFont typeface="DM Sans"/>
              <a:buNone/>
            </a:pPr>
            <a:r>
              <a:rPr b="1" lang="en-US" sz="1150">
                <a:solidFill>
                  <a:srgbClr val="0F2347"/>
                </a:solidFill>
                <a:latin typeface="DM Sans"/>
                <a:ea typeface="DM Sans"/>
                <a:cs typeface="DM Sans"/>
                <a:sym typeface="DM Sans"/>
              </a:rPr>
              <a:t>What travels?      What does not?      What can I prove?      What must I relearn?</a:t>
            </a:r>
            <a:endParaRPr sz="114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32" name="Shape 532"/>
        <p:cNvGrpSpPr/>
        <p:nvPr/>
      </p:nvGrpSpPr>
      <p:grpSpPr>
        <a:xfrm>
          <a:off x="0" y="0"/>
          <a:ext cx="0" cy="0"/>
          <a:chOff x="0" y="0"/>
          <a:chExt cx="0" cy="0"/>
        </a:xfrm>
      </p:grpSpPr>
      <p:sp>
        <p:nvSpPr>
          <p:cNvPr id="533" name="Google Shape;533;p23"/>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WHERE TO GO FROM HERE</a:t>
            </a:r>
            <a:endParaRPr sz="950">
              <a:solidFill>
                <a:schemeClr val="dk1"/>
              </a:solidFill>
              <a:latin typeface="Calibri"/>
              <a:ea typeface="Calibri"/>
              <a:cs typeface="Calibri"/>
              <a:sym typeface="Calibri"/>
            </a:endParaRPr>
          </a:p>
        </p:txBody>
      </p:sp>
      <p:sp>
        <p:nvSpPr>
          <p:cNvPr id="534" name="Google Shape;534;p23"/>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700"/>
              <a:buFont typeface="Cormorant Garamond"/>
              <a:buNone/>
            </a:pPr>
            <a:r>
              <a:rPr b="1" lang="en-US" sz="2700">
                <a:solidFill>
                  <a:srgbClr val="0F2347"/>
                </a:solidFill>
                <a:latin typeface="Cormorant Garamond"/>
                <a:ea typeface="Cormorant Garamond"/>
                <a:cs typeface="Cormorant Garamond"/>
                <a:sym typeface="Cormorant Garamond"/>
              </a:rPr>
              <a:t>Choose How You Want to Continue the Read</a:t>
            </a:r>
            <a:endParaRPr sz="2700">
              <a:solidFill>
                <a:schemeClr val="dk1"/>
              </a:solidFill>
              <a:latin typeface="Calibri"/>
              <a:ea typeface="Calibri"/>
              <a:cs typeface="Calibri"/>
              <a:sym typeface="Calibri"/>
            </a:endParaRPr>
          </a:p>
        </p:txBody>
      </p:sp>
      <p:sp>
        <p:nvSpPr>
          <p:cNvPr id="535" name="Google Shape;535;p23"/>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Your read is complete. What you need next depends on what is still unresolved.</a:t>
            </a:r>
            <a:endParaRPr sz="1150">
              <a:solidFill>
                <a:schemeClr val="dk1"/>
              </a:solidFill>
              <a:latin typeface="Calibri"/>
              <a:ea typeface="Calibri"/>
              <a:cs typeface="Calibri"/>
              <a:sym typeface="Calibri"/>
            </a:endParaRPr>
          </a:p>
        </p:txBody>
      </p:sp>
      <p:sp>
        <p:nvSpPr>
          <p:cNvPr id="536" name="Google Shape;536;p23"/>
          <p:cNvSpPr/>
          <p:nvPr/>
        </p:nvSpPr>
        <p:spPr>
          <a:xfrm>
            <a:off x="566928" y="2011680"/>
            <a:ext cx="8010144" cy="76809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7" name="Google Shape;537;p23"/>
          <p:cNvSpPr/>
          <p:nvPr/>
        </p:nvSpPr>
        <p:spPr>
          <a:xfrm>
            <a:off x="749808" y="215798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8" name="Google Shape;538;p23"/>
          <p:cNvSpPr/>
          <p:nvPr/>
        </p:nvSpPr>
        <p:spPr>
          <a:xfrm>
            <a:off x="749808" y="215798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1</a:t>
            </a:r>
            <a:endParaRPr sz="1000">
              <a:solidFill>
                <a:schemeClr val="dk1"/>
              </a:solidFill>
              <a:latin typeface="Calibri"/>
              <a:ea typeface="Calibri"/>
              <a:cs typeface="Calibri"/>
              <a:sym typeface="Calibri"/>
            </a:endParaRPr>
          </a:p>
        </p:txBody>
      </p:sp>
      <p:sp>
        <p:nvSpPr>
          <p:cNvPr id="539" name="Google Shape;539;p23"/>
          <p:cNvSpPr/>
          <p:nvPr/>
        </p:nvSpPr>
        <p:spPr>
          <a:xfrm>
            <a:off x="1188720" y="2084832"/>
            <a:ext cx="718718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50"/>
              <a:buFont typeface="DM Sans"/>
              <a:buNone/>
            </a:pPr>
            <a:r>
              <a:rPr b="1" lang="en-US" sz="1350">
                <a:solidFill>
                  <a:srgbClr val="0F2347"/>
                </a:solidFill>
                <a:latin typeface="DM Sans"/>
                <a:ea typeface="DM Sans"/>
                <a:cs typeface="DM Sans"/>
                <a:sym typeface="DM Sans"/>
              </a:rPr>
              <a:t>I have enough for now.</a:t>
            </a:r>
            <a:endParaRPr sz="1350">
              <a:solidFill>
                <a:schemeClr val="dk1"/>
              </a:solidFill>
              <a:latin typeface="Calibri"/>
              <a:ea typeface="Calibri"/>
              <a:cs typeface="Calibri"/>
              <a:sym typeface="Calibri"/>
            </a:endParaRPr>
          </a:p>
        </p:txBody>
      </p:sp>
      <p:sp>
        <p:nvSpPr>
          <p:cNvPr id="540" name="Google Shape;540;p23"/>
          <p:cNvSpPr/>
          <p:nvPr/>
        </p:nvSpPr>
        <p:spPr>
          <a:xfrm>
            <a:off x="1188720" y="2322576"/>
            <a:ext cx="718718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1440E"/>
              </a:buClr>
              <a:buSzPts val="1120"/>
              <a:buFont typeface="DM Sans"/>
              <a:buNone/>
            </a:pPr>
            <a:r>
              <a:rPr lang="en-US" sz="1120">
                <a:solidFill>
                  <a:srgbClr val="C1440E"/>
                </a:solidFill>
                <a:latin typeface="DM Sans"/>
                <a:ea typeface="DM Sans"/>
                <a:cs typeface="DM Sans"/>
                <a:sym typeface="DM Sans"/>
              </a:rPr>
              <a:t>Take your Next-Move Note and act on it.</a:t>
            </a:r>
            <a:endParaRPr sz="1120">
              <a:solidFill>
                <a:schemeClr val="dk1"/>
              </a:solidFill>
              <a:latin typeface="Calibri"/>
              <a:ea typeface="Calibri"/>
              <a:cs typeface="Calibri"/>
              <a:sym typeface="Calibri"/>
            </a:endParaRPr>
          </a:p>
        </p:txBody>
      </p:sp>
      <p:sp>
        <p:nvSpPr>
          <p:cNvPr id="541" name="Google Shape;541;p23"/>
          <p:cNvSpPr/>
          <p:nvPr/>
        </p:nvSpPr>
        <p:spPr>
          <a:xfrm>
            <a:off x="1188720" y="2532888"/>
            <a:ext cx="718718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00"/>
              <a:buFont typeface="DM Sans"/>
              <a:buNone/>
            </a:pPr>
            <a:r>
              <a:rPr lang="en-US" sz="1000">
                <a:solidFill>
                  <a:srgbClr val="5A6B84"/>
                </a:solidFill>
                <a:latin typeface="DM Sans"/>
                <a:ea typeface="DM Sans"/>
                <a:cs typeface="DM Sans"/>
                <a:sym typeface="DM Sans"/>
              </a:rPr>
              <a:t>Nothing further is required. The session was built to be complete on its own.</a:t>
            </a:r>
            <a:endParaRPr sz="1000">
              <a:solidFill>
                <a:schemeClr val="dk1"/>
              </a:solidFill>
              <a:latin typeface="Calibri"/>
              <a:ea typeface="Calibri"/>
              <a:cs typeface="Calibri"/>
              <a:sym typeface="Calibri"/>
            </a:endParaRPr>
          </a:p>
        </p:txBody>
      </p:sp>
      <p:sp>
        <p:nvSpPr>
          <p:cNvPr id="542" name="Google Shape;542;p23"/>
          <p:cNvSpPr/>
          <p:nvPr/>
        </p:nvSpPr>
        <p:spPr>
          <a:xfrm>
            <a:off x="566928" y="2871216"/>
            <a:ext cx="8010144" cy="76809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3" name="Google Shape;543;p23"/>
          <p:cNvSpPr/>
          <p:nvPr/>
        </p:nvSpPr>
        <p:spPr>
          <a:xfrm>
            <a:off x="749808" y="30175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4" name="Google Shape;544;p23"/>
          <p:cNvSpPr/>
          <p:nvPr/>
        </p:nvSpPr>
        <p:spPr>
          <a:xfrm>
            <a:off x="749808" y="301752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2</a:t>
            </a:r>
            <a:endParaRPr sz="1000">
              <a:solidFill>
                <a:schemeClr val="dk1"/>
              </a:solidFill>
              <a:latin typeface="Calibri"/>
              <a:ea typeface="Calibri"/>
              <a:cs typeface="Calibri"/>
              <a:sym typeface="Calibri"/>
            </a:endParaRPr>
          </a:p>
        </p:txBody>
      </p:sp>
      <p:sp>
        <p:nvSpPr>
          <p:cNvPr id="545" name="Google Shape;545;p23"/>
          <p:cNvSpPr/>
          <p:nvPr/>
        </p:nvSpPr>
        <p:spPr>
          <a:xfrm>
            <a:off x="1188720" y="2944368"/>
            <a:ext cx="718718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50"/>
              <a:buFont typeface="DM Sans"/>
              <a:buNone/>
            </a:pPr>
            <a:r>
              <a:rPr b="1" lang="en-US" sz="1350">
                <a:solidFill>
                  <a:srgbClr val="0F2347"/>
                </a:solidFill>
                <a:latin typeface="DM Sans"/>
                <a:ea typeface="DM Sans"/>
                <a:cs typeface="DM Sans"/>
                <a:sym typeface="DM Sans"/>
              </a:rPr>
              <a:t>I want to keep working privately.</a:t>
            </a:r>
            <a:endParaRPr sz="1350">
              <a:solidFill>
                <a:schemeClr val="dk1"/>
              </a:solidFill>
              <a:latin typeface="Calibri"/>
              <a:ea typeface="Calibri"/>
              <a:cs typeface="Calibri"/>
              <a:sym typeface="Calibri"/>
            </a:endParaRPr>
          </a:p>
        </p:txBody>
      </p:sp>
      <p:sp>
        <p:nvSpPr>
          <p:cNvPr id="546" name="Google Shape;546;p23"/>
          <p:cNvSpPr/>
          <p:nvPr/>
        </p:nvSpPr>
        <p:spPr>
          <a:xfrm>
            <a:off x="1188720" y="3182112"/>
            <a:ext cx="718718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1440E"/>
              </a:buClr>
              <a:buSzPts val="1120"/>
              <a:buFont typeface="DM Sans"/>
              <a:buNone/>
            </a:pPr>
            <a:r>
              <a:rPr lang="en-US" sz="1120">
                <a:solidFill>
                  <a:srgbClr val="C1440E"/>
                </a:solidFill>
                <a:latin typeface="DM Sans"/>
                <a:ea typeface="DM Sans"/>
                <a:cs typeface="DM Sans"/>
                <a:sym typeface="DM Sans"/>
              </a:rPr>
              <a:t>Continue with the Capability Formation Field Kit.</a:t>
            </a:r>
            <a:endParaRPr sz="1120">
              <a:solidFill>
                <a:schemeClr val="dk1"/>
              </a:solidFill>
              <a:latin typeface="Calibri"/>
              <a:ea typeface="Calibri"/>
              <a:cs typeface="Calibri"/>
              <a:sym typeface="Calibri"/>
            </a:endParaRPr>
          </a:p>
        </p:txBody>
      </p:sp>
      <p:sp>
        <p:nvSpPr>
          <p:cNvPr id="547" name="Google Shape;547;p23"/>
          <p:cNvSpPr/>
          <p:nvPr/>
        </p:nvSpPr>
        <p:spPr>
          <a:xfrm>
            <a:off x="1188720" y="3392424"/>
            <a:ext cx="718718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00"/>
              <a:buFont typeface="DM Sans"/>
              <a:buNone/>
            </a:pPr>
            <a:r>
              <a:rPr lang="en-US" sz="1000">
                <a:solidFill>
                  <a:srgbClr val="5A6B84"/>
                </a:solidFill>
                <a:latin typeface="DM Sans"/>
                <a:ea typeface="DM Sans"/>
                <a:cs typeface="DM Sans"/>
                <a:sym typeface="DM Sans"/>
              </a:rPr>
              <a:t>You understand your reading and want a structured system you can return to on your own.</a:t>
            </a:r>
            <a:endParaRPr sz="1000">
              <a:solidFill>
                <a:schemeClr val="dk1"/>
              </a:solidFill>
              <a:latin typeface="Calibri"/>
              <a:ea typeface="Calibri"/>
              <a:cs typeface="Calibri"/>
              <a:sym typeface="Calibri"/>
            </a:endParaRPr>
          </a:p>
        </p:txBody>
      </p:sp>
      <p:sp>
        <p:nvSpPr>
          <p:cNvPr id="548" name="Google Shape;548;p23"/>
          <p:cNvSpPr/>
          <p:nvPr/>
        </p:nvSpPr>
        <p:spPr>
          <a:xfrm>
            <a:off x="566928" y="3986784"/>
            <a:ext cx="801014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347"/>
              </a:buClr>
              <a:buSzPts val="1500"/>
              <a:buFont typeface="Cormorant Garamond"/>
              <a:buNone/>
            </a:pPr>
            <a:r>
              <a:rPr b="1" i="1" lang="en-US" sz="1500">
                <a:solidFill>
                  <a:srgbClr val="0F2347"/>
                </a:solidFill>
                <a:latin typeface="Cormorant Garamond"/>
                <a:ea typeface="Cormorant Garamond"/>
                <a:cs typeface="Cormorant Garamond"/>
                <a:sym typeface="Cormorant Garamond"/>
              </a:rPr>
              <a:t>Different unresolved needs require different levels of support.</a:t>
            </a:r>
            <a:endParaRPr sz="1500">
              <a:solidFill>
                <a:schemeClr val="dk1"/>
              </a:solidFill>
              <a:latin typeface="Calibri"/>
              <a:ea typeface="Calibri"/>
              <a:cs typeface="Calibri"/>
              <a:sym typeface="Calibri"/>
            </a:endParaRPr>
          </a:p>
        </p:txBody>
      </p:sp>
      <p:sp>
        <p:nvSpPr>
          <p:cNvPr id="549" name="Google Shape;549;p23"/>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550" name="Google Shape;550;p23"/>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23</a:t>
            </a:r>
            <a:endParaRPr sz="7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55" name="Shape 555"/>
        <p:cNvGrpSpPr/>
        <p:nvPr/>
      </p:nvGrpSpPr>
      <p:grpSpPr>
        <a:xfrm>
          <a:off x="0" y="0"/>
          <a:ext cx="0" cy="0"/>
          <a:chOff x="0" y="0"/>
          <a:chExt cx="0" cy="0"/>
        </a:xfrm>
      </p:grpSpPr>
      <p:sp>
        <p:nvSpPr>
          <p:cNvPr id="556" name="Google Shape;556;p24"/>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KEEP WORKING PRIVATELY</a:t>
            </a:r>
            <a:endParaRPr sz="950">
              <a:solidFill>
                <a:schemeClr val="dk1"/>
              </a:solidFill>
              <a:latin typeface="Calibri"/>
              <a:ea typeface="Calibri"/>
              <a:cs typeface="Calibri"/>
              <a:sym typeface="Calibri"/>
            </a:endParaRPr>
          </a:p>
        </p:txBody>
      </p:sp>
      <p:sp>
        <p:nvSpPr>
          <p:cNvPr id="557" name="Google Shape;557;p24"/>
          <p:cNvSpPr/>
          <p:nvPr/>
        </p:nvSpPr>
        <p:spPr>
          <a:xfrm>
            <a:off x="566928" y="603504"/>
            <a:ext cx="8010144" cy="9144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050"/>
              <a:buFont typeface="Cormorant Garamond"/>
              <a:buNone/>
            </a:pPr>
            <a:r>
              <a:rPr b="1" lang="en-US" sz="2050">
                <a:solidFill>
                  <a:srgbClr val="0F2347"/>
                </a:solidFill>
                <a:latin typeface="Cormorant Garamond"/>
                <a:ea typeface="Cormorant Garamond"/>
                <a:cs typeface="Cormorant Garamond"/>
                <a:sym typeface="Cormorant Garamond"/>
              </a:rPr>
              <a:t>This session gives you a guided reading.</a:t>
            </a:r>
            <a:endParaRPr sz="2050">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0F2347"/>
              </a:buClr>
              <a:buSzPts val="2050"/>
              <a:buFont typeface="Cormorant Garamond"/>
              <a:buNone/>
            </a:pPr>
            <a:r>
              <a:rPr b="1" lang="en-US" sz="2050">
                <a:solidFill>
                  <a:srgbClr val="0F2347"/>
                </a:solidFill>
                <a:latin typeface="Cormorant Garamond"/>
                <a:ea typeface="Cormorant Garamond"/>
                <a:cs typeface="Cormorant Garamond"/>
                <a:sym typeface="Cormorant Garamond"/>
              </a:rPr>
              <a:t>The Field Kit gives you a system you can return to.</a:t>
            </a:r>
            <a:endParaRPr sz="2050">
              <a:solidFill>
                <a:schemeClr val="dk1"/>
              </a:solidFill>
              <a:latin typeface="Calibri"/>
              <a:ea typeface="Calibri"/>
              <a:cs typeface="Calibri"/>
              <a:sym typeface="Calibri"/>
            </a:endParaRPr>
          </a:p>
        </p:txBody>
      </p:sp>
      <p:sp>
        <p:nvSpPr>
          <p:cNvPr id="558" name="Google Shape;558;p24"/>
          <p:cNvSpPr/>
          <p:nvPr/>
        </p:nvSpPr>
        <p:spPr>
          <a:xfrm>
            <a:off x="566928" y="1755648"/>
            <a:ext cx="3712464" cy="22860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9" name="Google Shape;559;p24"/>
          <p:cNvSpPr/>
          <p:nvPr/>
        </p:nvSpPr>
        <p:spPr>
          <a:xfrm>
            <a:off x="804672" y="1901952"/>
            <a:ext cx="32004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820"/>
              <a:buFont typeface="Montserrat"/>
              <a:buNone/>
            </a:pPr>
            <a:r>
              <a:rPr b="1" lang="en-US" sz="820">
                <a:solidFill>
                  <a:srgbClr val="5A6B84"/>
                </a:solidFill>
                <a:latin typeface="Montserrat"/>
                <a:ea typeface="Montserrat"/>
                <a:cs typeface="Montserrat"/>
                <a:sym typeface="Montserrat"/>
              </a:rPr>
              <a:t>TODAY'S GUIDED READ</a:t>
            </a:r>
            <a:endParaRPr sz="820">
              <a:solidFill>
                <a:schemeClr val="dk1"/>
              </a:solidFill>
              <a:latin typeface="Calibri"/>
              <a:ea typeface="Calibri"/>
              <a:cs typeface="Calibri"/>
              <a:sym typeface="Calibri"/>
            </a:endParaRPr>
          </a:p>
        </p:txBody>
      </p:sp>
      <p:sp>
        <p:nvSpPr>
          <p:cNvPr id="560" name="Google Shape;560;p24"/>
          <p:cNvSpPr/>
          <p:nvPr/>
        </p:nvSpPr>
        <p:spPr>
          <a:xfrm>
            <a:off x="804672" y="228600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1" name="Google Shape;561;p24"/>
          <p:cNvSpPr/>
          <p:nvPr/>
        </p:nvSpPr>
        <p:spPr>
          <a:xfrm>
            <a:off x="987552" y="2231136"/>
            <a:ext cx="3054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An initial and evidence-backed reading</a:t>
            </a:r>
            <a:endParaRPr sz="980">
              <a:solidFill>
                <a:schemeClr val="dk1"/>
              </a:solidFill>
              <a:latin typeface="Calibri"/>
              <a:ea typeface="Calibri"/>
              <a:cs typeface="Calibri"/>
              <a:sym typeface="Calibri"/>
            </a:endParaRPr>
          </a:p>
        </p:txBody>
      </p:sp>
      <p:sp>
        <p:nvSpPr>
          <p:cNvPr id="562" name="Google Shape;562;p24"/>
          <p:cNvSpPr/>
          <p:nvPr/>
        </p:nvSpPr>
        <p:spPr>
          <a:xfrm>
            <a:off x="804672" y="256032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3" name="Google Shape;563;p24"/>
          <p:cNvSpPr/>
          <p:nvPr/>
        </p:nvSpPr>
        <p:spPr>
          <a:xfrm>
            <a:off x="987552" y="2505456"/>
            <a:ext cx="3054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A provisional position</a:t>
            </a:r>
            <a:endParaRPr sz="980">
              <a:solidFill>
                <a:schemeClr val="dk1"/>
              </a:solidFill>
              <a:latin typeface="Calibri"/>
              <a:ea typeface="Calibri"/>
              <a:cs typeface="Calibri"/>
              <a:sym typeface="Calibri"/>
            </a:endParaRPr>
          </a:p>
        </p:txBody>
      </p:sp>
      <p:sp>
        <p:nvSpPr>
          <p:cNvPr id="564" name="Google Shape;564;p24"/>
          <p:cNvSpPr/>
          <p:nvPr/>
        </p:nvSpPr>
        <p:spPr>
          <a:xfrm>
            <a:off x="804672" y="283464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5" name="Google Shape;565;p24"/>
          <p:cNvSpPr/>
          <p:nvPr/>
        </p:nvSpPr>
        <p:spPr>
          <a:xfrm>
            <a:off x="987552" y="2779776"/>
            <a:ext cx="3054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One move category to test</a:t>
            </a:r>
            <a:endParaRPr sz="980">
              <a:solidFill>
                <a:schemeClr val="dk1"/>
              </a:solidFill>
              <a:latin typeface="Calibri"/>
              <a:ea typeface="Calibri"/>
              <a:cs typeface="Calibri"/>
              <a:sym typeface="Calibri"/>
            </a:endParaRPr>
          </a:p>
        </p:txBody>
      </p:sp>
      <p:sp>
        <p:nvSpPr>
          <p:cNvPr id="566" name="Google Shape;566;p24"/>
          <p:cNvSpPr/>
          <p:nvPr/>
        </p:nvSpPr>
        <p:spPr>
          <a:xfrm>
            <a:off x="804672" y="310896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7" name="Google Shape;567;p24"/>
          <p:cNvSpPr/>
          <p:nvPr/>
        </p:nvSpPr>
        <p:spPr>
          <a:xfrm>
            <a:off x="987552" y="3054096"/>
            <a:ext cx="3054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A written Next-Move Note</a:t>
            </a:r>
            <a:endParaRPr sz="980">
              <a:solidFill>
                <a:schemeClr val="dk1"/>
              </a:solidFill>
              <a:latin typeface="Calibri"/>
              <a:ea typeface="Calibri"/>
              <a:cs typeface="Calibri"/>
              <a:sym typeface="Calibri"/>
            </a:endParaRPr>
          </a:p>
        </p:txBody>
      </p:sp>
      <p:sp>
        <p:nvSpPr>
          <p:cNvPr id="568" name="Google Shape;568;p24"/>
          <p:cNvSpPr/>
          <p:nvPr/>
        </p:nvSpPr>
        <p:spPr>
          <a:xfrm>
            <a:off x="804672" y="3602736"/>
            <a:ext cx="32004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60"/>
              <a:buFont typeface="DM Sans"/>
              <a:buNone/>
            </a:pPr>
            <a:r>
              <a:rPr i="1" lang="en-US" sz="960">
                <a:solidFill>
                  <a:srgbClr val="5A6B84"/>
                </a:solidFill>
                <a:latin typeface="DM Sans"/>
                <a:ea typeface="DM Sans"/>
                <a:cs typeface="DM Sans"/>
                <a:sym typeface="DM Sans"/>
              </a:rPr>
              <a:t>Complete on its own.</a:t>
            </a:r>
            <a:endParaRPr sz="960">
              <a:solidFill>
                <a:schemeClr val="dk1"/>
              </a:solidFill>
              <a:latin typeface="Calibri"/>
              <a:ea typeface="Calibri"/>
              <a:cs typeface="Calibri"/>
              <a:sym typeface="Calibri"/>
            </a:endParaRPr>
          </a:p>
        </p:txBody>
      </p:sp>
      <p:sp>
        <p:nvSpPr>
          <p:cNvPr id="569" name="Google Shape;569;p24"/>
          <p:cNvSpPr/>
          <p:nvPr/>
        </p:nvSpPr>
        <p:spPr>
          <a:xfrm>
            <a:off x="4443984" y="1755648"/>
            <a:ext cx="4133088" cy="22860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0" name="Google Shape;570;p24"/>
          <p:cNvSpPr/>
          <p:nvPr/>
        </p:nvSpPr>
        <p:spPr>
          <a:xfrm>
            <a:off x="4681728" y="1901952"/>
            <a:ext cx="3108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820"/>
              <a:buFont typeface="Montserrat"/>
              <a:buNone/>
            </a:pPr>
            <a:r>
              <a:rPr b="1" lang="en-US" sz="820">
                <a:solidFill>
                  <a:srgbClr val="C9A84C"/>
                </a:solidFill>
                <a:latin typeface="Montserrat"/>
                <a:ea typeface="Montserrat"/>
                <a:cs typeface="Montserrat"/>
                <a:sym typeface="Montserrat"/>
              </a:rPr>
              <a:t>CAPABILITY FORMATION FIELD KIT</a:t>
            </a:r>
            <a:endParaRPr sz="820">
              <a:solidFill>
                <a:schemeClr val="dk1"/>
              </a:solidFill>
              <a:latin typeface="Calibri"/>
              <a:ea typeface="Calibri"/>
              <a:cs typeface="Calibri"/>
              <a:sym typeface="Calibri"/>
            </a:endParaRPr>
          </a:p>
        </p:txBody>
      </p:sp>
      <p:sp>
        <p:nvSpPr>
          <p:cNvPr id="571" name="Google Shape;571;p24"/>
          <p:cNvSpPr/>
          <p:nvPr/>
        </p:nvSpPr>
        <p:spPr>
          <a:xfrm>
            <a:off x="4681728" y="228600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2" name="Google Shape;572;p24"/>
          <p:cNvSpPr/>
          <p:nvPr/>
        </p:nvSpPr>
        <p:spPr>
          <a:xfrm>
            <a:off x="4864608" y="2231136"/>
            <a:ext cx="2834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Fuller state-cost work</a:t>
            </a:r>
            <a:endParaRPr sz="980">
              <a:solidFill>
                <a:schemeClr val="dk1"/>
              </a:solidFill>
              <a:latin typeface="Calibri"/>
              <a:ea typeface="Calibri"/>
              <a:cs typeface="Calibri"/>
              <a:sym typeface="Calibri"/>
            </a:endParaRPr>
          </a:p>
        </p:txBody>
      </p:sp>
      <p:sp>
        <p:nvSpPr>
          <p:cNvPr id="573" name="Google Shape;573;p24"/>
          <p:cNvSpPr/>
          <p:nvPr/>
        </p:nvSpPr>
        <p:spPr>
          <a:xfrm>
            <a:off x="4681728" y="256032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4" name="Google Shape;574;p24"/>
          <p:cNvSpPr/>
          <p:nvPr/>
        </p:nvSpPr>
        <p:spPr>
          <a:xfrm>
            <a:off x="4864608" y="2505456"/>
            <a:ext cx="2834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A repeatable private evidence process</a:t>
            </a:r>
            <a:endParaRPr sz="980">
              <a:solidFill>
                <a:schemeClr val="dk1"/>
              </a:solidFill>
              <a:latin typeface="Calibri"/>
              <a:ea typeface="Calibri"/>
              <a:cs typeface="Calibri"/>
              <a:sym typeface="Calibri"/>
            </a:endParaRPr>
          </a:p>
        </p:txBody>
      </p:sp>
      <p:sp>
        <p:nvSpPr>
          <p:cNvPr id="575" name="Google Shape;575;p24"/>
          <p:cNvSpPr/>
          <p:nvPr/>
        </p:nvSpPr>
        <p:spPr>
          <a:xfrm>
            <a:off x="4681728" y="283464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6" name="Google Shape;576;p24"/>
          <p:cNvSpPr/>
          <p:nvPr/>
        </p:nvSpPr>
        <p:spPr>
          <a:xfrm>
            <a:off x="4864608" y="2779776"/>
            <a:ext cx="2834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Structured rescoring as conditions change</a:t>
            </a:r>
            <a:endParaRPr sz="980">
              <a:solidFill>
                <a:schemeClr val="dk1"/>
              </a:solidFill>
              <a:latin typeface="Calibri"/>
              <a:ea typeface="Calibri"/>
              <a:cs typeface="Calibri"/>
              <a:sym typeface="Calibri"/>
            </a:endParaRPr>
          </a:p>
        </p:txBody>
      </p:sp>
      <p:sp>
        <p:nvSpPr>
          <p:cNvPr id="577" name="Google Shape;577;p24"/>
          <p:cNvSpPr/>
          <p:nvPr/>
        </p:nvSpPr>
        <p:spPr>
          <a:xfrm>
            <a:off x="4681728" y="310896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8" name="Google Shape;578;p24"/>
          <p:cNvSpPr/>
          <p:nvPr/>
        </p:nvSpPr>
        <p:spPr>
          <a:xfrm>
            <a:off x="4864608" y="3054096"/>
            <a:ext cx="2834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A system you own and return to</a:t>
            </a:r>
            <a:endParaRPr sz="980">
              <a:solidFill>
                <a:schemeClr val="dk1"/>
              </a:solidFill>
              <a:latin typeface="Calibri"/>
              <a:ea typeface="Calibri"/>
              <a:cs typeface="Calibri"/>
              <a:sym typeface="Calibri"/>
            </a:endParaRPr>
          </a:p>
        </p:txBody>
      </p:sp>
      <p:pic>
        <p:nvPicPr>
          <p:cNvPr descr="preencoded.png" id="579" name="Google Shape;579;p24"/>
          <p:cNvPicPr preferRelativeResize="0"/>
          <p:nvPr/>
        </p:nvPicPr>
        <p:blipFill rotWithShape="1">
          <a:blip r:embed="rId3">
            <a:alphaModFix/>
          </a:blip>
          <a:srcRect b="0" l="0" r="0" t="0"/>
          <a:stretch/>
        </p:blipFill>
        <p:spPr>
          <a:xfrm>
            <a:off x="7827264" y="1883664"/>
            <a:ext cx="658368" cy="852221"/>
          </a:xfrm>
          <a:prstGeom prst="rect">
            <a:avLst/>
          </a:prstGeom>
          <a:noFill/>
          <a:ln>
            <a:noFill/>
          </a:ln>
        </p:spPr>
      </p:pic>
      <p:pic>
        <p:nvPicPr>
          <p:cNvPr descr="preencoded.png" id="580" name="Google Shape;580;p24">
            <a:hlinkClick r:id="rId4"/>
          </p:cNvPr>
          <p:cNvPicPr preferRelativeResize="0"/>
          <p:nvPr/>
        </p:nvPicPr>
        <p:blipFill rotWithShape="1">
          <a:blip r:embed="rId5">
            <a:alphaModFix/>
          </a:blip>
          <a:srcRect b="0" l="0" r="0" t="0"/>
          <a:stretch/>
        </p:blipFill>
        <p:spPr>
          <a:xfrm>
            <a:off x="7818120" y="3035808"/>
            <a:ext cx="676656" cy="676656"/>
          </a:xfrm>
          <a:prstGeom prst="rect">
            <a:avLst/>
          </a:prstGeom>
          <a:noFill/>
          <a:ln>
            <a:noFill/>
          </a:ln>
        </p:spPr>
      </p:pic>
      <p:sp>
        <p:nvSpPr>
          <p:cNvPr id="581" name="Google Shape;581;p24">
            <a:hlinkClick r:id="rId6"/>
          </p:cNvPr>
          <p:cNvSpPr/>
          <p:nvPr/>
        </p:nvSpPr>
        <p:spPr>
          <a:xfrm>
            <a:off x="4681728" y="3364992"/>
            <a:ext cx="2743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1050"/>
              <a:buFont typeface="Montserrat"/>
              <a:buNone/>
            </a:pPr>
            <a:r>
              <a:rPr b="1" lang="en-US" sz="1050" u="sng">
                <a:solidFill>
                  <a:srgbClr val="C9A84C"/>
                </a:solidFill>
                <a:latin typeface="Montserrat"/>
                <a:ea typeface="Montserrat"/>
                <a:cs typeface="Montserrat"/>
                <a:sym typeface="Montserrat"/>
                <a:hlinkClick r:id="rId7">
                  <a:extLst>
                    <a:ext uri="{A12FA001-AC4F-418D-AE19-62706E023703}">
                      <ahyp:hlinkClr val="tx"/>
                    </a:ext>
                  </a:extLst>
                </a:hlinkClick>
              </a:rPr>
              <a:t>EXPLORE THE FIELD KIT</a:t>
            </a:r>
            <a:endParaRPr sz="1050">
              <a:solidFill>
                <a:schemeClr val="dk1"/>
              </a:solidFill>
              <a:latin typeface="Calibri"/>
              <a:ea typeface="Calibri"/>
              <a:cs typeface="Calibri"/>
              <a:sym typeface="Calibri"/>
            </a:endParaRPr>
          </a:p>
        </p:txBody>
      </p:sp>
      <p:sp>
        <p:nvSpPr>
          <p:cNvPr id="582" name="Google Shape;582;p24">
            <a:hlinkClick r:id="rId8"/>
          </p:cNvPr>
          <p:cNvSpPr/>
          <p:nvPr/>
        </p:nvSpPr>
        <p:spPr>
          <a:xfrm>
            <a:off x="4681728" y="3639312"/>
            <a:ext cx="2743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100"/>
              <a:buFont typeface="DM Sans"/>
              <a:buNone/>
            </a:pPr>
            <a:r>
              <a:rPr lang="en-US" sz="1100" u="sng">
                <a:solidFill>
                  <a:srgbClr val="F5F0E8"/>
                </a:solidFill>
                <a:latin typeface="DM Sans"/>
                <a:ea typeface="DM Sans"/>
                <a:cs typeface="DM Sans"/>
                <a:sym typeface="DM Sans"/>
                <a:hlinkClick r:id="rId9">
                  <a:extLst>
                    <a:ext uri="{A12FA001-AC4F-418D-AE19-62706E023703}">
                      <ahyp:hlinkClr val="tx"/>
                    </a:ext>
                  </a:extLst>
                </a:hlinkClick>
              </a:rPr>
              <a:t>temidayoafonja.com/fieldkit</a:t>
            </a:r>
            <a:endParaRPr sz="1100">
              <a:solidFill>
                <a:schemeClr val="dk1"/>
              </a:solidFill>
              <a:latin typeface="Calibri"/>
              <a:ea typeface="Calibri"/>
              <a:cs typeface="Calibri"/>
              <a:sym typeface="Calibri"/>
            </a:endParaRPr>
          </a:p>
        </p:txBody>
      </p:sp>
      <p:sp>
        <p:nvSpPr>
          <p:cNvPr id="583" name="Google Shape;583;p24"/>
          <p:cNvSpPr/>
          <p:nvPr/>
        </p:nvSpPr>
        <p:spPr>
          <a:xfrm>
            <a:off x="566928" y="4187952"/>
            <a:ext cx="8010144"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4"/>
              </a:buClr>
              <a:buSzPts val="1100"/>
              <a:buFont typeface="DM Sans"/>
              <a:buNone/>
            </a:pPr>
            <a:r>
              <a:rPr i="1" lang="en-US" sz="1100">
                <a:solidFill>
                  <a:srgbClr val="5A6B84"/>
                </a:solidFill>
                <a:latin typeface="DM Sans"/>
                <a:ea typeface="DM Sans"/>
                <a:cs typeface="DM Sans"/>
                <a:sym typeface="DM Sans"/>
              </a:rPr>
              <a:t>Use the Field Kit when you want to keep reading the position without needing another live session.</a:t>
            </a:r>
            <a:endParaRPr sz="1100">
              <a:solidFill>
                <a:schemeClr val="dk1"/>
              </a:solidFill>
              <a:latin typeface="Calibri"/>
              <a:ea typeface="Calibri"/>
              <a:cs typeface="Calibri"/>
              <a:sym typeface="Calibri"/>
            </a:endParaRPr>
          </a:p>
        </p:txBody>
      </p:sp>
      <p:sp>
        <p:nvSpPr>
          <p:cNvPr id="584" name="Google Shape;584;p24"/>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585" name="Google Shape;585;p24"/>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24</a:t>
            </a:r>
            <a:endParaRPr sz="7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590" name="Shape 590"/>
        <p:cNvGrpSpPr/>
        <p:nvPr/>
      </p:nvGrpSpPr>
      <p:grpSpPr>
        <a:xfrm>
          <a:off x="0" y="0"/>
          <a:ext cx="0" cy="0"/>
          <a:chOff x="0" y="0"/>
          <a:chExt cx="0" cy="0"/>
        </a:xfrm>
      </p:grpSpPr>
      <p:sp>
        <p:nvSpPr>
          <p:cNvPr id="591" name="Google Shape;591;p25"/>
          <p:cNvSpPr/>
          <p:nvPr/>
        </p:nvSpPr>
        <p:spPr>
          <a:xfrm>
            <a:off x="566928" y="822960"/>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Montserrat"/>
              <a:buNone/>
            </a:pPr>
            <a:r>
              <a:rPr b="1" lang="en-US" sz="900">
                <a:solidFill>
                  <a:srgbClr val="C9A84C"/>
                </a:solidFill>
                <a:latin typeface="Montserrat"/>
                <a:ea typeface="Montserrat"/>
                <a:cs typeface="Montserrat"/>
                <a:sym typeface="Montserrat"/>
              </a:rPr>
              <a:t>BEFORE YOU GO</a:t>
            </a:r>
            <a:endParaRPr sz="900">
              <a:solidFill>
                <a:schemeClr val="dk1"/>
              </a:solidFill>
              <a:latin typeface="Calibri"/>
              <a:ea typeface="Calibri"/>
              <a:cs typeface="Calibri"/>
              <a:sym typeface="Calibri"/>
            </a:endParaRPr>
          </a:p>
        </p:txBody>
      </p:sp>
      <p:sp>
        <p:nvSpPr>
          <p:cNvPr id="592" name="Google Shape;592;p25"/>
          <p:cNvSpPr/>
          <p:nvPr/>
        </p:nvSpPr>
        <p:spPr>
          <a:xfrm>
            <a:off x="566928" y="1188720"/>
            <a:ext cx="8010144" cy="1188720"/>
          </a:xfrm>
          <a:prstGeom prst="rect">
            <a:avLst/>
          </a:prstGeom>
          <a:noFill/>
          <a:ln>
            <a:noFill/>
          </a:ln>
        </p:spPr>
        <p:txBody>
          <a:bodyPr anchorCtr="0" anchor="ctr" bIns="0" lIns="0" spcFirstLastPara="1" rIns="0" wrap="square" tIns="0">
            <a:noAutofit/>
          </a:bodyPr>
          <a:lstStyle/>
          <a:p>
            <a:pPr indent="0" lvl="0" marL="0" marR="0" rtl="0" algn="l">
              <a:lnSpc>
                <a:spcPct val="122580"/>
              </a:lnSpc>
              <a:spcBef>
                <a:spcPts val="0"/>
              </a:spcBef>
              <a:spcAft>
                <a:spcPts val="0"/>
              </a:spcAft>
              <a:buClr>
                <a:srgbClr val="F5F0E8"/>
              </a:buClr>
              <a:buSzPts val="3100"/>
              <a:buFont typeface="Cormorant Garamond"/>
              <a:buNone/>
            </a:pPr>
            <a:r>
              <a:rPr b="1" lang="en-US" sz="3100">
                <a:solidFill>
                  <a:srgbClr val="F5F0E8"/>
                </a:solidFill>
                <a:latin typeface="Cormorant Garamond"/>
                <a:ea typeface="Cormorant Garamond"/>
                <a:cs typeface="Cormorant Garamond"/>
                <a:sym typeface="Cormorant Garamond"/>
              </a:rPr>
              <a:t>You came in asking stay or leave.</a:t>
            </a:r>
            <a:endParaRPr sz="3100">
              <a:solidFill>
                <a:schemeClr val="dk1"/>
              </a:solidFill>
              <a:latin typeface="Calibri"/>
              <a:ea typeface="Calibri"/>
              <a:cs typeface="Calibri"/>
              <a:sym typeface="Calibri"/>
            </a:endParaRPr>
          </a:p>
          <a:p>
            <a:pPr indent="0" lvl="0" marL="0" marR="0" rtl="0" algn="l">
              <a:lnSpc>
                <a:spcPct val="122580"/>
              </a:lnSpc>
              <a:spcBef>
                <a:spcPts val="0"/>
              </a:spcBef>
              <a:spcAft>
                <a:spcPts val="0"/>
              </a:spcAft>
              <a:buClr>
                <a:srgbClr val="F5F0E8"/>
              </a:buClr>
              <a:buSzPts val="3100"/>
              <a:buFont typeface="Cormorant Garamond"/>
              <a:buNone/>
            </a:pPr>
            <a:r>
              <a:rPr b="1" lang="en-US" sz="3100">
                <a:solidFill>
                  <a:srgbClr val="F5F0E8"/>
                </a:solidFill>
                <a:latin typeface="Cormorant Garamond"/>
                <a:ea typeface="Cormorant Garamond"/>
                <a:cs typeface="Cormorant Garamond"/>
                <a:sym typeface="Cormorant Garamond"/>
              </a:rPr>
              <a:t>You leave with a clearer read.</a:t>
            </a:r>
            <a:endParaRPr sz="3100">
              <a:solidFill>
                <a:schemeClr val="dk1"/>
              </a:solidFill>
              <a:latin typeface="Calibri"/>
              <a:ea typeface="Calibri"/>
              <a:cs typeface="Calibri"/>
              <a:sym typeface="Calibri"/>
            </a:endParaRPr>
          </a:p>
        </p:txBody>
      </p:sp>
      <p:sp>
        <p:nvSpPr>
          <p:cNvPr id="593" name="Google Shape;593;p25"/>
          <p:cNvSpPr/>
          <p:nvPr/>
        </p:nvSpPr>
        <p:spPr>
          <a:xfrm>
            <a:off x="566928" y="2523744"/>
            <a:ext cx="2651760" cy="20117"/>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4" name="Google Shape;594;p25"/>
          <p:cNvSpPr/>
          <p:nvPr/>
        </p:nvSpPr>
        <p:spPr>
          <a:xfrm>
            <a:off x="566928" y="2761488"/>
            <a:ext cx="6309360" cy="1097280"/>
          </a:xfrm>
          <a:prstGeom prst="rect">
            <a:avLst/>
          </a:prstGeom>
          <a:noFill/>
          <a:ln>
            <a:noFill/>
          </a:ln>
        </p:spPr>
        <p:txBody>
          <a:bodyPr anchorCtr="0" anchor="ctr" bIns="0" lIns="0" spcFirstLastPara="1" rIns="0" wrap="square" tIns="0">
            <a:noAutofit/>
          </a:bodyPr>
          <a:lstStyle/>
          <a:p>
            <a:pPr indent="0" lvl="0" marL="0" marR="0" rtl="0" algn="l">
              <a:lnSpc>
                <a:spcPct val="146153"/>
              </a:lnSpc>
              <a:spcBef>
                <a:spcPts val="0"/>
              </a:spcBef>
              <a:spcAft>
                <a:spcPts val="0"/>
              </a:spcAft>
              <a:buClr>
                <a:srgbClr val="B8C5D9"/>
              </a:buClr>
              <a:buSzPts val="1300"/>
              <a:buFont typeface="DM Sans"/>
              <a:buNone/>
            </a:pPr>
            <a:r>
              <a:rPr lang="en-US" sz="1300">
                <a:solidFill>
                  <a:srgbClr val="B8C5D9"/>
                </a:solidFill>
                <a:latin typeface="DM Sans"/>
                <a:ea typeface="DM Sans"/>
                <a:cs typeface="DM Sans"/>
                <a:sym typeface="DM Sans"/>
              </a:rPr>
              <a:t>I have not made that decision for you, and I should not. What you have is a clearer read of what this work is building, what may travel, where the evidence is thin, and what deserves testing next. Put a date ninety days from now on your note, then come back and see what changed.</a:t>
            </a:r>
            <a:endParaRPr sz="1300">
              <a:solidFill>
                <a:schemeClr val="dk1"/>
              </a:solidFill>
              <a:latin typeface="Calibri"/>
              <a:ea typeface="Calibri"/>
              <a:cs typeface="Calibri"/>
              <a:sym typeface="Calibri"/>
            </a:endParaRPr>
          </a:p>
        </p:txBody>
      </p:sp>
      <p:sp>
        <p:nvSpPr>
          <p:cNvPr id="595" name="Google Shape;595;p25"/>
          <p:cNvSpPr/>
          <p:nvPr/>
        </p:nvSpPr>
        <p:spPr>
          <a:xfrm>
            <a:off x="566928" y="4261104"/>
            <a:ext cx="801014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860"/>
              <a:buFont typeface="Montserrat"/>
              <a:buNone/>
            </a:pPr>
            <a:r>
              <a:rPr b="1" lang="en-US" sz="860">
                <a:solidFill>
                  <a:srgbClr val="B8C5D9"/>
                </a:solidFill>
                <a:latin typeface="Montserrat"/>
                <a:ea typeface="Montserrat"/>
                <a:cs typeface="Montserrat"/>
                <a:sym typeface="Montserrat"/>
              </a:rPr>
              <a:t>Capability Formation  ·  Temidayo Afonja  ·  The Density Group</a:t>
            </a:r>
            <a:endParaRPr sz="860">
              <a:solidFill>
                <a:schemeClr val="dk1"/>
              </a:solidFill>
              <a:latin typeface="Calibri"/>
              <a:ea typeface="Calibri"/>
              <a:cs typeface="Calibri"/>
              <a:sym typeface="Calibri"/>
            </a:endParaRPr>
          </a:p>
        </p:txBody>
      </p:sp>
      <p:sp>
        <p:nvSpPr>
          <p:cNvPr id="596" name="Google Shape;596;p25"/>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700"/>
              <a:buFont typeface="Montserrat"/>
              <a:buNone/>
            </a:pPr>
            <a:r>
              <a:rPr b="1" lang="en-US" sz="700">
                <a:solidFill>
                  <a:srgbClr val="B8C5D9"/>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597" name="Google Shape;597;p25"/>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C5D9"/>
              </a:buClr>
              <a:buSzPts val="700"/>
              <a:buFont typeface="Montserrat"/>
              <a:buNone/>
            </a:pPr>
            <a:r>
              <a:rPr b="1" lang="en-US" sz="700">
                <a:solidFill>
                  <a:srgbClr val="B8C5D9"/>
                </a:solidFill>
                <a:latin typeface="Montserrat"/>
                <a:ea typeface="Montserrat"/>
                <a:cs typeface="Montserrat"/>
                <a:sym typeface="Montserrat"/>
              </a:rPr>
              <a:t>25</a:t>
            </a:r>
            <a:endParaRPr sz="7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02" name="Shape 602"/>
        <p:cNvGrpSpPr/>
        <p:nvPr/>
      </p:nvGrpSpPr>
      <p:grpSpPr>
        <a:xfrm>
          <a:off x="0" y="0"/>
          <a:ext cx="0" cy="0"/>
          <a:chOff x="0" y="0"/>
          <a:chExt cx="0" cy="0"/>
        </a:xfrm>
      </p:grpSpPr>
      <p:sp>
        <p:nvSpPr>
          <p:cNvPr id="603" name="Google Shape;603;p26"/>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1440E"/>
              </a:buClr>
              <a:buSzPts val="950"/>
              <a:buFont typeface="Montserrat"/>
              <a:buNone/>
            </a:pPr>
            <a:r>
              <a:rPr b="1" lang="en-US" sz="950">
                <a:solidFill>
                  <a:srgbClr val="C1440E"/>
                </a:solidFill>
                <a:latin typeface="Montserrat"/>
                <a:ea typeface="Montserrat"/>
                <a:cs typeface="Montserrat"/>
                <a:sym typeface="Montserrat"/>
              </a:rPr>
              <a:t>LIVE ONLY  ·  RECORDING OFF  ·  10 MINUTES</a:t>
            </a:r>
            <a:endParaRPr sz="950">
              <a:solidFill>
                <a:schemeClr val="dk1"/>
              </a:solidFill>
              <a:latin typeface="Calibri"/>
              <a:ea typeface="Calibri"/>
              <a:cs typeface="Calibri"/>
              <a:sym typeface="Calibri"/>
            </a:endParaRPr>
          </a:p>
        </p:txBody>
      </p:sp>
      <p:sp>
        <p:nvSpPr>
          <p:cNvPr id="604" name="Google Shape;604;p26"/>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200"/>
              <a:buFont typeface="Cormorant Garamond"/>
              <a:buNone/>
            </a:pPr>
            <a:r>
              <a:rPr b="1" lang="en-US" sz="3200">
                <a:solidFill>
                  <a:srgbClr val="0F2347"/>
                </a:solidFill>
                <a:latin typeface="Cormorant Garamond"/>
                <a:ea typeface="Cormorant Garamond"/>
                <a:cs typeface="Cormorant Garamond"/>
                <a:sym typeface="Cormorant Garamond"/>
              </a:rPr>
              <a:t>Questions &amp; Applications</a:t>
            </a:r>
            <a:endParaRPr sz="3200">
              <a:solidFill>
                <a:schemeClr val="dk1"/>
              </a:solidFill>
              <a:latin typeface="Calibri"/>
              <a:ea typeface="Calibri"/>
              <a:cs typeface="Calibri"/>
              <a:sym typeface="Calibri"/>
            </a:endParaRPr>
          </a:p>
        </p:txBody>
      </p:sp>
      <p:sp>
        <p:nvSpPr>
          <p:cNvPr id="605" name="Google Shape;605;p26"/>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Ten minutes. The recording has stopped.</a:t>
            </a:r>
            <a:endParaRPr sz="1150">
              <a:solidFill>
                <a:schemeClr val="dk1"/>
              </a:solidFill>
              <a:latin typeface="Calibri"/>
              <a:ea typeface="Calibri"/>
              <a:cs typeface="Calibri"/>
              <a:sym typeface="Calibri"/>
            </a:endParaRPr>
          </a:p>
        </p:txBody>
      </p:sp>
      <p:sp>
        <p:nvSpPr>
          <p:cNvPr id="606" name="Google Shape;606;p26"/>
          <p:cNvSpPr/>
          <p:nvPr/>
        </p:nvSpPr>
        <p:spPr>
          <a:xfrm>
            <a:off x="566928" y="1773936"/>
            <a:ext cx="8010144" cy="54864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7" name="Google Shape;607;p26"/>
          <p:cNvSpPr/>
          <p:nvPr/>
        </p:nvSpPr>
        <p:spPr>
          <a:xfrm>
            <a:off x="804672" y="1773936"/>
            <a:ext cx="7534656"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500"/>
              <a:buFont typeface="Cormorant Garamond"/>
              <a:buNone/>
            </a:pPr>
            <a:r>
              <a:rPr b="1" lang="en-US" sz="1500">
                <a:solidFill>
                  <a:srgbClr val="F5F0E8"/>
                </a:solidFill>
                <a:latin typeface="Cormorant Garamond"/>
                <a:ea typeface="Cormorant Garamond"/>
                <a:cs typeface="Cormorant Garamond"/>
                <a:sym typeface="Cormorant Garamond"/>
              </a:rPr>
              <a:t>“I can help you clarify what your evidence supports. I cannot make the employment decision for you.”</a:t>
            </a:r>
            <a:endParaRPr sz="1500">
              <a:solidFill>
                <a:schemeClr val="dk1"/>
              </a:solidFill>
              <a:latin typeface="Calibri"/>
              <a:ea typeface="Calibri"/>
              <a:cs typeface="Calibri"/>
              <a:sym typeface="Calibri"/>
            </a:endParaRPr>
          </a:p>
        </p:txBody>
      </p:sp>
      <p:sp>
        <p:nvSpPr>
          <p:cNvPr id="608" name="Google Shape;608;p26"/>
          <p:cNvSpPr/>
          <p:nvPr/>
        </p:nvSpPr>
        <p:spPr>
          <a:xfrm>
            <a:off x="566928" y="2487168"/>
            <a:ext cx="3886200" cy="159105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9" name="Google Shape;609;p26"/>
          <p:cNvSpPr/>
          <p:nvPr/>
        </p:nvSpPr>
        <p:spPr>
          <a:xfrm>
            <a:off x="786384" y="2633472"/>
            <a:ext cx="34747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20"/>
              <a:buFont typeface="Montserrat"/>
              <a:buNone/>
            </a:pPr>
            <a:r>
              <a:rPr b="1" lang="en-US" sz="820">
                <a:solidFill>
                  <a:srgbClr val="0F2347"/>
                </a:solidFill>
                <a:latin typeface="Montserrat"/>
                <a:ea typeface="Montserrat"/>
                <a:cs typeface="Montserrat"/>
                <a:sym typeface="Montserrat"/>
              </a:rPr>
              <a:t>WELCOME</a:t>
            </a:r>
            <a:endParaRPr sz="820">
              <a:solidFill>
                <a:schemeClr val="dk1"/>
              </a:solidFill>
              <a:latin typeface="Calibri"/>
              <a:ea typeface="Calibri"/>
              <a:cs typeface="Calibri"/>
              <a:sym typeface="Calibri"/>
            </a:endParaRPr>
          </a:p>
        </p:txBody>
      </p:sp>
      <p:sp>
        <p:nvSpPr>
          <p:cNvPr id="610" name="Google Shape;610;p26"/>
          <p:cNvSpPr/>
          <p:nvPr/>
        </p:nvSpPr>
        <p:spPr>
          <a:xfrm>
            <a:off x="786384" y="2871216"/>
            <a:ext cx="3474720" cy="1097280"/>
          </a:xfrm>
          <a:prstGeom prst="rect">
            <a:avLst/>
          </a:prstGeom>
          <a:noFill/>
          <a:ln>
            <a:noFill/>
          </a:ln>
        </p:spPr>
        <p:txBody>
          <a:bodyPr anchorCtr="0" anchor="ctr" bIns="0" lIns="0" spcFirstLastPara="1" rIns="0" wrap="square" tIns="0">
            <a:noAutofit/>
          </a:bodyPr>
          <a:lstStyle/>
          <a:p>
            <a:pPr indent="0" lvl="0" marL="0" marR="0" rtl="0" algn="l">
              <a:lnSpc>
                <a:spcPct val="134615"/>
              </a:lnSpc>
              <a:spcBef>
                <a:spcPts val="0"/>
              </a:spcBef>
              <a:spcAft>
                <a:spcPts val="0"/>
              </a:spcAft>
              <a:buClr>
                <a:srgbClr val="0F2347"/>
              </a:buClr>
              <a:buSzPts val="1040"/>
              <a:buFont typeface="DM Sans"/>
              <a:buNone/>
            </a:pPr>
            <a:r>
              <a:rPr lang="en-US" sz="1040">
                <a:solidFill>
                  <a:srgbClr val="0F2347"/>
                </a:solidFill>
                <a:latin typeface="DM Sans"/>
                <a:ea typeface="DM Sans"/>
                <a:cs typeface="DM Sans"/>
                <a:sym typeface="DM Sans"/>
              </a:rPr>
              <a:t>Statement interpretation  ·  the evidence protocol  ·  boundary and incomplete readings  ·  move-category distinctions  ·  what to investigate next</a:t>
            </a:r>
            <a:endParaRPr sz="1040">
              <a:solidFill>
                <a:schemeClr val="dk1"/>
              </a:solidFill>
              <a:latin typeface="Calibri"/>
              <a:ea typeface="Calibri"/>
              <a:cs typeface="Calibri"/>
              <a:sym typeface="Calibri"/>
            </a:endParaRPr>
          </a:p>
        </p:txBody>
      </p:sp>
      <p:sp>
        <p:nvSpPr>
          <p:cNvPr id="611" name="Google Shape;611;p26"/>
          <p:cNvSpPr/>
          <p:nvPr/>
        </p:nvSpPr>
        <p:spPr>
          <a:xfrm>
            <a:off x="4690872" y="2487168"/>
            <a:ext cx="3886200" cy="1591056"/>
          </a:xfrm>
          <a:prstGeom prst="rect">
            <a:avLst/>
          </a:prstGeom>
          <a:solidFill>
            <a:srgbClr val="C1440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2" name="Google Shape;612;p26"/>
          <p:cNvSpPr/>
          <p:nvPr/>
        </p:nvSpPr>
        <p:spPr>
          <a:xfrm>
            <a:off x="4910328" y="2633472"/>
            <a:ext cx="34747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820"/>
              <a:buFont typeface="Montserrat"/>
              <a:buNone/>
            </a:pPr>
            <a:r>
              <a:rPr b="1" lang="en-US" sz="820">
                <a:solidFill>
                  <a:srgbClr val="F5F0E8"/>
                </a:solidFill>
                <a:latin typeface="Montserrat"/>
                <a:ea typeface="Montserrat"/>
                <a:cs typeface="Montserrat"/>
                <a:sym typeface="Montserrat"/>
              </a:rPr>
              <a:t>OUTSIDE THE BOUNDARY</a:t>
            </a:r>
            <a:endParaRPr sz="820">
              <a:solidFill>
                <a:schemeClr val="dk1"/>
              </a:solidFill>
              <a:latin typeface="Calibri"/>
              <a:ea typeface="Calibri"/>
              <a:cs typeface="Calibri"/>
              <a:sym typeface="Calibri"/>
            </a:endParaRPr>
          </a:p>
        </p:txBody>
      </p:sp>
      <p:sp>
        <p:nvSpPr>
          <p:cNvPr id="613" name="Google Shape;613;p26"/>
          <p:cNvSpPr/>
          <p:nvPr/>
        </p:nvSpPr>
        <p:spPr>
          <a:xfrm>
            <a:off x="4910328" y="2871216"/>
            <a:ext cx="3474720" cy="1097280"/>
          </a:xfrm>
          <a:prstGeom prst="rect">
            <a:avLst/>
          </a:prstGeom>
          <a:noFill/>
          <a:ln>
            <a:noFill/>
          </a:ln>
        </p:spPr>
        <p:txBody>
          <a:bodyPr anchorCtr="0" anchor="ctr" bIns="0" lIns="0" spcFirstLastPara="1" rIns="0" wrap="square" tIns="0">
            <a:noAutofit/>
          </a:bodyPr>
          <a:lstStyle/>
          <a:p>
            <a:pPr indent="0" lvl="0" marL="0" marR="0" rtl="0" algn="l">
              <a:lnSpc>
                <a:spcPct val="134615"/>
              </a:lnSpc>
              <a:spcBef>
                <a:spcPts val="0"/>
              </a:spcBef>
              <a:spcAft>
                <a:spcPts val="0"/>
              </a:spcAft>
              <a:buClr>
                <a:srgbClr val="F5F0E8"/>
              </a:buClr>
              <a:buSzPts val="1040"/>
              <a:buFont typeface="DM Sans"/>
              <a:buNone/>
            </a:pPr>
            <a:r>
              <a:rPr lang="en-US" sz="1040">
                <a:solidFill>
                  <a:srgbClr val="F5F0E8"/>
                </a:solidFill>
                <a:latin typeface="DM Sans"/>
                <a:ea typeface="DM Sans"/>
                <a:cs typeface="DM Sans"/>
                <a:sym typeface="DM Sans"/>
              </a:rPr>
              <a:t>Telling someone to stay or leave  ·  predicting layoffs  ·  legal, medical, financial, immigration or tax questions  ·  diagnosing an employer  ·  asking for scores, states or employer names</a:t>
            </a:r>
            <a:endParaRPr sz="1040">
              <a:solidFill>
                <a:schemeClr val="dk1"/>
              </a:solidFill>
              <a:latin typeface="Calibri"/>
              <a:ea typeface="Calibri"/>
              <a:cs typeface="Calibri"/>
              <a:sym typeface="Calibri"/>
            </a:endParaRPr>
          </a:p>
        </p:txBody>
      </p:sp>
      <p:sp>
        <p:nvSpPr>
          <p:cNvPr id="614" name="Google Shape;614;p26"/>
          <p:cNvSpPr/>
          <p:nvPr/>
        </p:nvSpPr>
        <p:spPr>
          <a:xfrm>
            <a:off x="566928" y="4224528"/>
            <a:ext cx="801014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347"/>
              </a:buClr>
              <a:buSzPts val="1150"/>
              <a:buFont typeface="DM Sans"/>
              <a:buNone/>
            </a:pPr>
            <a:r>
              <a:rPr b="1" lang="en-US" sz="1150">
                <a:solidFill>
                  <a:srgbClr val="0F2347"/>
                </a:solidFill>
                <a:latin typeface="DM Sans"/>
                <a:ea typeface="DM Sans"/>
                <a:cs typeface="DM Sans"/>
                <a:sym typeface="DM Sans"/>
              </a:rPr>
              <a:t>Close at 60:00.</a:t>
            </a:r>
            <a:endParaRPr sz="1150">
              <a:solidFill>
                <a:schemeClr val="dk1"/>
              </a:solidFill>
              <a:latin typeface="Calibri"/>
              <a:ea typeface="Calibri"/>
              <a:cs typeface="Calibri"/>
              <a:sym typeface="Calibri"/>
            </a:endParaRPr>
          </a:p>
        </p:txBody>
      </p:sp>
      <p:sp>
        <p:nvSpPr>
          <p:cNvPr id="615" name="Google Shape;615;p26"/>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616" name="Google Shape;616;p26"/>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26</a:t>
            </a:r>
            <a:endParaRPr sz="7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21" name="Shape 621"/>
        <p:cNvGrpSpPr/>
        <p:nvPr/>
      </p:nvGrpSpPr>
      <p:grpSpPr>
        <a:xfrm>
          <a:off x="0" y="0"/>
          <a:ext cx="0" cy="0"/>
          <a:chOff x="0" y="0"/>
          <a:chExt cx="0" cy="0"/>
        </a:xfrm>
      </p:grpSpPr>
      <p:sp>
        <p:nvSpPr>
          <p:cNvPr id="622" name="Google Shape;622;p27"/>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50"/>
              <a:buFont typeface="Montserrat"/>
              <a:buNone/>
            </a:pPr>
            <a:r>
              <a:rPr b="1" lang="en-US" sz="950">
                <a:solidFill>
                  <a:srgbClr val="5A6B84"/>
                </a:solidFill>
                <a:latin typeface="Montserrat"/>
                <a:ea typeface="Montserrat"/>
                <a:cs typeface="Montserrat"/>
                <a:sym typeface="Montserrat"/>
              </a:rPr>
              <a:t>APPENDIX  ·  NOT PART OF THE RECORDED CORE</a:t>
            </a:r>
            <a:endParaRPr sz="950">
              <a:solidFill>
                <a:schemeClr val="dk1"/>
              </a:solidFill>
              <a:latin typeface="Calibri"/>
              <a:ea typeface="Calibri"/>
              <a:cs typeface="Calibri"/>
              <a:sym typeface="Calibri"/>
            </a:endParaRPr>
          </a:p>
        </p:txBody>
      </p:sp>
      <p:sp>
        <p:nvSpPr>
          <p:cNvPr id="623" name="Google Shape;623;p27"/>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lang="en-US" sz="2600">
                <a:solidFill>
                  <a:srgbClr val="0F2347"/>
                </a:solidFill>
                <a:latin typeface="Cormorant Garamond"/>
                <a:ea typeface="Cormorant Garamond"/>
                <a:cs typeface="Cormorant Garamond"/>
                <a:sym typeface="Cormorant Garamond"/>
              </a:rPr>
              <a:t>Position Exposure Signals</a:t>
            </a:r>
            <a:endParaRPr sz="2600">
              <a:solidFill>
                <a:schemeClr val="dk1"/>
              </a:solidFill>
              <a:latin typeface="Calibri"/>
              <a:ea typeface="Calibri"/>
              <a:cs typeface="Calibri"/>
              <a:sym typeface="Calibri"/>
            </a:endParaRPr>
          </a:p>
        </p:txBody>
      </p:sp>
      <p:sp>
        <p:nvSpPr>
          <p:cNvPr id="624" name="Google Shape;624;p27"/>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Questions to investigate, not predictions.</a:t>
            </a:r>
            <a:endParaRPr sz="1150">
              <a:solidFill>
                <a:schemeClr val="dk1"/>
              </a:solidFill>
              <a:latin typeface="Calibri"/>
              <a:ea typeface="Calibri"/>
              <a:cs typeface="Calibri"/>
              <a:sym typeface="Calibri"/>
            </a:endParaRPr>
          </a:p>
        </p:txBody>
      </p:sp>
      <p:sp>
        <p:nvSpPr>
          <p:cNvPr id="625" name="Google Shape;625;p27"/>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6" name="Google Shape;626;p27"/>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Your current role</a:t>
            </a:r>
            <a:endParaRPr sz="1250">
              <a:solidFill>
                <a:schemeClr val="dk1"/>
              </a:solidFill>
              <a:latin typeface="Calibri"/>
              <a:ea typeface="Calibri"/>
              <a:cs typeface="Calibri"/>
              <a:sym typeface="Calibri"/>
            </a:endParaRPr>
          </a:p>
        </p:txBody>
      </p:sp>
      <p:sp>
        <p:nvSpPr>
          <p:cNvPr id="627" name="Google Shape;627;p27"/>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Is the mandate being absorbed, narrowed, duplicated or repeatedly redefined?</a:t>
            </a:r>
            <a:endParaRPr sz="1100">
              <a:solidFill>
                <a:schemeClr val="dk1"/>
              </a:solidFill>
              <a:latin typeface="Calibri"/>
              <a:ea typeface="Calibri"/>
              <a:cs typeface="Calibri"/>
              <a:sym typeface="Calibri"/>
            </a:endParaRPr>
          </a:p>
        </p:txBody>
      </p:sp>
      <p:sp>
        <p:nvSpPr>
          <p:cNvPr id="628" name="Google Shape;628;p27"/>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9" name="Google Shape;629;p27"/>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A role you are considering</a:t>
            </a:r>
            <a:endParaRPr sz="1250">
              <a:solidFill>
                <a:schemeClr val="dk1"/>
              </a:solidFill>
              <a:latin typeface="Calibri"/>
              <a:ea typeface="Calibri"/>
              <a:cs typeface="Calibri"/>
              <a:sym typeface="Calibri"/>
            </a:endParaRPr>
          </a:p>
        </p:txBody>
      </p:sp>
      <p:sp>
        <p:nvSpPr>
          <p:cNvPr id="630" name="Google Shape;630;p27"/>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Does the position exist because of a strategy, or because of one sponsor?</a:t>
            </a:r>
            <a:endParaRPr sz="1100">
              <a:solidFill>
                <a:schemeClr val="dk1"/>
              </a:solidFill>
              <a:latin typeface="Calibri"/>
              <a:ea typeface="Calibri"/>
              <a:cs typeface="Calibri"/>
              <a:sym typeface="Calibri"/>
            </a:endParaRPr>
          </a:p>
        </p:txBody>
      </p:sp>
      <p:sp>
        <p:nvSpPr>
          <p:cNvPr id="631" name="Google Shape;631;p27"/>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2" name="Google Shape;632;p27"/>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Either</a:t>
            </a:r>
            <a:endParaRPr sz="1250">
              <a:solidFill>
                <a:schemeClr val="dk1"/>
              </a:solidFill>
              <a:latin typeface="Calibri"/>
              <a:ea typeface="Calibri"/>
              <a:cs typeface="Calibri"/>
              <a:sym typeface="Calibri"/>
            </a:endParaRPr>
          </a:p>
        </p:txBody>
      </p:sp>
      <p:sp>
        <p:nvSpPr>
          <p:cNvPr id="633" name="Google Shape;633;p27"/>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Who outside your manager would notice if the function disappeared?</a:t>
            </a:r>
            <a:endParaRPr sz="1100">
              <a:solidFill>
                <a:schemeClr val="dk1"/>
              </a:solidFill>
              <a:latin typeface="Calibri"/>
              <a:ea typeface="Calibri"/>
              <a:cs typeface="Calibri"/>
              <a:sym typeface="Calibri"/>
            </a:endParaRPr>
          </a:p>
        </p:txBody>
      </p:sp>
      <p:sp>
        <p:nvSpPr>
          <p:cNvPr id="634" name="Google Shape;634;p27"/>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39" name="Shape 639"/>
        <p:cNvGrpSpPr/>
        <p:nvPr/>
      </p:nvGrpSpPr>
      <p:grpSpPr>
        <a:xfrm>
          <a:off x="0" y="0"/>
          <a:ext cx="0" cy="0"/>
          <a:chOff x="0" y="0"/>
          <a:chExt cx="0" cy="0"/>
        </a:xfrm>
      </p:grpSpPr>
      <p:sp>
        <p:nvSpPr>
          <p:cNvPr id="640" name="Google Shape;640;p28"/>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50"/>
              <a:buFont typeface="Montserrat"/>
              <a:buNone/>
            </a:pPr>
            <a:r>
              <a:rPr b="1" lang="en-US" sz="950">
                <a:solidFill>
                  <a:srgbClr val="5A6B84"/>
                </a:solidFill>
                <a:latin typeface="Montserrat"/>
                <a:ea typeface="Montserrat"/>
                <a:cs typeface="Montserrat"/>
                <a:sym typeface="Montserrat"/>
              </a:rPr>
              <a:t>APPENDIX  ·  NOT PART OF THE RECORDED CORE</a:t>
            </a:r>
            <a:endParaRPr sz="950">
              <a:solidFill>
                <a:schemeClr val="dk1"/>
              </a:solidFill>
              <a:latin typeface="Calibri"/>
              <a:ea typeface="Calibri"/>
              <a:cs typeface="Calibri"/>
              <a:sym typeface="Calibri"/>
            </a:endParaRPr>
          </a:p>
        </p:txBody>
      </p:sp>
      <p:sp>
        <p:nvSpPr>
          <p:cNvPr id="641" name="Google Shape;641;p28"/>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lang="en-US" sz="2600">
                <a:solidFill>
                  <a:srgbClr val="0F2347"/>
                </a:solidFill>
                <a:latin typeface="Cormorant Garamond"/>
                <a:ea typeface="Cormorant Garamond"/>
                <a:cs typeface="Cormorant Garamond"/>
                <a:sym typeface="Cormorant Garamond"/>
              </a:rPr>
              <a:t>AI and Compounding</a:t>
            </a:r>
            <a:endParaRPr sz="2600">
              <a:solidFill>
                <a:schemeClr val="dk1"/>
              </a:solidFill>
              <a:latin typeface="Calibri"/>
              <a:ea typeface="Calibri"/>
              <a:cs typeface="Calibri"/>
              <a:sym typeface="Calibri"/>
            </a:endParaRPr>
          </a:p>
        </p:txBody>
      </p:sp>
      <p:sp>
        <p:nvSpPr>
          <p:cNvPr id="642" name="Google Shape;642;p28"/>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An application of the two axes. Not a technology session.</a:t>
            </a:r>
            <a:endParaRPr sz="1150">
              <a:solidFill>
                <a:schemeClr val="dk1"/>
              </a:solidFill>
              <a:latin typeface="Calibri"/>
              <a:ea typeface="Calibri"/>
              <a:cs typeface="Calibri"/>
              <a:sym typeface="Calibri"/>
            </a:endParaRPr>
          </a:p>
        </p:txBody>
      </p:sp>
      <p:sp>
        <p:nvSpPr>
          <p:cNvPr id="643" name="Google Shape;643;p28"/>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4" name="Google Shape;644;p28"/>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The reading does not change</a:t>
            </a:r>
            <a:endParaRPr sz="1250">
              <a:solidFill>
                <a:schemeClr val="dk1"/>
              </a:solidFill>
              <a:latin typeface="Calibri"/>
              <a:ea typeface="Calibri"/>
              <a:cs typeface="Calibri"/>
              <a:sym typeface="Calibri"/>
            </a:endParaRPr>
          </a:p>
        </p:txBody>
      </p:sp>
      <p:sp>
        <p:nvSpPr>
          <p:cNvPr id="645" name="Google Shape;645;p28"/>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Where AI makes routine output easier to reproduce, your position depends more heavily on judgment, learning velocity, and capability that travels across unfamiliar problems.</a:t>
            </a:r>
            <a:endParaRPr sz="1100">
              <a:solidFill>
                <a:schemeClr val="dk1"/>
              </a:solidFill>
              <a:latin typeface="Calibri"/>
              <a:ea typeface="Calibri"/>
              <a:cs typeface="Calibri"/>
              <a:sym typeface="Calibri"/>
            </a:endParaRPr>
          </a:p>
        </p:txBody>
      </p:sp>
      <p:sp>
        <p:nvSpPr>
          <p:cNvPr id="646" name="Google Shape;646;p28"/>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7" name="Google Shape;647;p28"/>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Density and Optionality do not become less important</a:t>
            </a:r>
            <a:endParaRPr sz="1250">
              <a:solidFill>
                <a:schemeClr val="dk1"/>
              </a:solidFill>
              <a:latin typeface="Calibri"/>
              <a:ea typeface="Calibri"/>
              <a:cs typeface="Calibri"/>
              <a:sym typeface="Calibri"/>
            </a:endParaRPr>
          </a:p>
        </p:txBody>
      </p:sp>
      <p:sp>
        <p:nvSpPr>
          <p:cNvPr id="648" name="Google Shape;648;p28"/>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They become more consequential.</a:t>
            </a:r>
            <a:endParaRPr sz="1100">
              <a:solidFill>
                <a:schemeClr val="dk1"/>
              </a:solidFill>
              <a:latin typeface="Calibri"/>
              <a:ea typeface="Calibri"/>
              <a:cs typeface="Calibri"/>
              <a:sym typeface="Calibri"/>
            </a:endParaRPr>
          </a:p>
        </p:txBody>
      </p:sp>
      <p:sp>
        <p:nvSpPr>
          <p:cNvPr id="649" name="Google Shape;649;p28"/>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0" name="Google Shape;650;p28"/>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What this is not</a:t>
            </a:r>
            <a:endParaRPr sz="1250">
              <a:solidFill>
                <a:schemeClr val="dk1"/>
              </a:solidFill>
              <a:latin typeface="Calibri"/>
              <a:ea typeface="Calibri"/>
              <a:cs typeface="Calibri"/>
              <a:sym typeface="Calibri"/>
            </a:endParaRPr>
          </a:p>
        </p:txBody>
      </p:sp>
      <p:sp>
        <p:nvSpPr>
          <p:cNvPr id="651" name="Google Shape;651;p28"/>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Not a prediction about jobs, tools or timelines. No tool names.</a:t>
            </a:r>
            <a:endParaRPr sz="1100">
              <a:solidFill>
                <a:schemeClr val="dk1"/>
              </a:solidFill>
              <a:latin typeface="Calibri"/>
              <a:ea typeface="Calibri"/>
              <a:cs typeface="Calibri"/>
              <a:sym typeface="Calibri"/>
            </a:endParaRPr>
          </a:p>
        </p:txBody>
      </p:sp>
      <p:sp>
        <p:nvSpPr>
          <p:cNvPr id="652" name="Google Shape;652;p28"/>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57" name="Shape 657"/>
        <p:cNvGrpSpPr/>
        <p:nvPr/>
      </p:nvGrpSpPr>
      <p:grpSpPr>
        <a:xfrm>
          <a:off x="0" y="0"/>
          <a:ext cx="0" cy="0"/>
          <a:chOff x="0" y="0"/>
          <a:chExt cx="0" cy="0"/>
        </a:xfrm>
      </p:grpSpPr>
      <p:sp>
        <p:nvSpPr>
          <p:cNvPr id="658" name="Google Shape;658;p29"/>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50"/>
              <a:buFont typeface="Montserrat"/>
              <a:buNone/>
            </a:pPr>
            <a:r>
              <a:rPr b="1" lang="en-US" sz="950">
                <a:solidFill>
                  <a:srgbClr val="5A6B84"/>
                </a:solidFill>
                <a:latin typeface="Montserrat"/>
                <a:ea typeface="Montserrat"/>
                <a:cs typeface="Montserrat"/>
                <a:sym typeface="Montserrat"/>
              </a:rPr>
              <a:t>APPENDIX  ·  NOT PART OF THE RECORDED CORE</a:t>
            </a:r>
            <a:endParaRPr sz="950">
              <a:solidFill>
                <a:schemeClr val="dk1"/>
              </a:solidFill>
              <a:latin typeface="Calibri"/>
              <a:ea typeface="Calibri"/>
              <a:cs typeface="Calibri"/>
              <a:sym typeface="Calibri"/>
            </a:endParaRPr>
          </a:p>
        </p:txBody>
      </p:sp>
      <p:sp>
        <p:nvSpPr>
          <p:cNvPr id="659" name="Google Shape;659;p29"/>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lang="en-US" sz="2600">
                <a:solidFill>
                  <a:srgbClr val="0F2347"/>
                </a:solidFill>
                <a:latin typeface="Cormorant Garamond"/>
                <a:ea typeface="Cormorant Garamond"/>
                <a:cs typeface="Cormorant Garamond"/>
                <a:sym typeface="Cormorant Garamond"/>
              </a:rPr>
              <a:t>What translation actually means</a:t>
            </a:r>
            <a:endParaRPr sz="2600">
              <a:solidFill>
                <a:schemeClr val="dk1"/>
              </a:solidFill>
              <a:latin typeface="Calibri"/>
              <a:ea typeface="Calibri"/>
              <a:cs typeface="Calibri"/>
              <a:sym typeface="Calibri"/>
            </a:endParaRPr>
          </a:p>
        </p:txBody>
      </p:sp>
      <p:sp>
        <p:nvSpPr>
          <p:cNvPr id="660" name="Google Shape;660;p29"/>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An application of the second move category.</a:t>
            </a:r>
            <a:endParaRPr sz="1150">
              <a:solidFill>
                <a:schemeClr val="dk1"/>
              </a:solidFill>
              <a:latin typeface="Calibri"/>
              <a:ea typeface="Calibri"/>
              <a:cs typeface="Calibri"/>
              <a:sym typeface="Calibri"/>
            </a:endParaRPr>
          </a:p>
        </p:txBody>
      </p:sp>
      <p:sp>
        <p:nvSpPr>
          <p:cNvPr id="661" name="Google Shape;661;p29"/>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2" name="Google Shape;662;p29"/>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Legibility is not bragging</a:t>
            </a:r>
            <a:endParaRPr sz="1250">
              <a:solidFill>
                <a:schemeClr val="dk1"/>
              </a:solidFill>
              <a:latin typeface="Calibri"/>
              <a:ea typeface="Calibri"/>
              <a:cs typeface="Calibri"/>
              <a:sym typeface="Calibri"/>
            </a:endParaRPr>
          </a:p>
        </p:txBody>
      </p:sp>
      <p:sp>
        <p:nvSpPr>
          <p:cNvPr id="663" name="Google Shape;663;p29"/>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It is evidence translated into language another context can understand.</a:t>
            </a:r>
            <a:endParaRPr sz="1100">
              <a:solidFill>
                <a:schemeClr val="dk1"/>
              </a:solidFill>
              <a:latin typeface="Calibri"/>
              <a:ea typeface="Calibri"/>
              <a:cs typeface="Calibri"/>
              <a:sym typeface="Calibri"/>
            </a:endParaRPr>
          </a:p>
        </p:txBody>
      </p:sp>
      <p:sp>
        <p:nvSpPr>
          <p:cNvPr id="664" name="Google Shape;664;p29"/>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5" name="Google Shape;665;p29"/>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The pattern</a:t>
            </a:r>
            <a:endParaRPr sz="1250">
              <a:solidFill>
                <a:schemeClr val="dk1"/>
              </a:solidFill>
              <a:latin typeface="Calibri"/>
              <a:ea typeface="Calibri"/>
              <a:cs typeface="Calibri"/>
              <a:sym typeface="Calibri"/>
            </a:endParaRPr>
          </a:p>
        </p:txBody>
      </p:sp>
      <p:sp>
        <p:nvSpPr>
          <p:cNvPr id="666" name="Google Shape;666;p29"/>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Name the problem, the constraint, what you did, and what changed — without internal vocabulary.</a:t>
            </a:r>
            <a:endParaRPr sz="1100">
              <a:solidFill>
                <a:schemeClr val="dk1"/>
              </a:solidFill>
              <a:latin typeface="Calibri"/>
              <a:ea typeface="Calibri"/>
              <a:cs typeface="Calibri"/>
              <a:sym typeface="Calibri"/>
            </a:endParaRPr>
          </a:p>
        </p:txBody>
      </p:sp>
      <p:sp>
        <p:nvSpPr>
          <p:cNvPr id="667" name="Google Shape;667;p29"/>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8" name="Google Shape;668;p29"/>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Why it matters</a:t>
            </a:r>
            <a:endParaRPr sz="1250">
              <a:solidFill>
                <a:schemeClr val="dk1"/>
              </a:solidFill>
              <a:latin typeface="Calibri"/>
              <a:ea typeface="Calibri"/>
              <a:cs typeface="Calibri"/>
              <a:sym typeface="Calibri"/>
            </a:endParaRPr>
          </a:p>
        </p:txBody>
      </p:sp>
      <p:sp>
        <p:nvSpPr>
          <p:cNvPr id="669" name="Google Shape;669;p29"/>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A low Optionality score may reflect context-bound capability, weak translation, limited exposure, or a combination. It is not a verdict on ability or worth.</a:t>
            </a:r>
            <a:endParaRPr sz="1100">
              <a:solidFill>
                <a:schemeClr val="dk1"/>
              </a:solidFill>
              <a:latin typeface="Calibri"/>
              <a:ea typeface="Calibri"/>
              <a:cs typeface="Calibri"/>
              <a:sym typeface="Calibri"/>
            </a:endParaRPr>
          </a:p>
        </p:txBody>
      </p:sp>
      <p:sp>
        <p:nvSpPr>
          <p:cNvPr id="670" name="Google Shape;670;p29"/>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75" name="Shape 675"/>
        <p:cNvGrpSpPr/>
        <p:nvPr/>
      </p:nvGrpSpPr>
      <p:grpSpPr>
        <a:xfrm>
          <a:off x="0" y="0"/>
          <a:ext cx="0" cy="0"/>
          <a:chOff x="0" y="0"/>
          <a:chExt cx="0" cy="0"/>
        </a:xfrm>
      </p:grpSpPr>
      <p:sp>
        <p:nvSpPr>
          <p:cNvPr id="676" name="Google Shape;676;p3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50"/>
              <a:buFont typeface="Montserrat"/>
              <a:buNone/>
            </a:pPr>
            <a:r>
              <a:rPr b="1" lang="en-US" sz="950">
                <a:solidFill>
                  <a:srgbClr val="5A6B84"/>
                </a:solidFill>
                <a:latin typeface="Montserrat"/>
                <a:ea typeface="Montserrat"/>
                <a:cs typeface="Montserrat"/>
                <a:sym typeface="Montserrat"/>
              </a:rPr>
              <a:t>APPENDIX  ·  NOT PART OF THE RECORDED CORE</a:t>
            </a:r>
            <a:endParaRPr sz="950">
              <a:solidFill>
                <a:schemeClr val="dk1"/>
              </a:solidFill>
              <a:latin typeface="Calibri"/>
              <a:ea typeface="Calibri"/>
              <a:cs typeface="Calibri"/>
              <a:sym typeface="Calibri"/>
            </a:endParaRPr>
          </a:p>
        </p:txBody>
      </p:sp>
      <p:sp>
        <p:nvSpPr>
          <p:cNvPr id="677" name="Google Shape;677;p30"/>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lang="en-US" sz="2600">
                <a:solidFill>
                  <a:srgbClr val="0F2347"/>
                </a:solidFill>
                <a:latin typeface="Cormorant Garamond"/>
                <a:ea typeface="Cormorant Garamond"/>
                <a:cs typeface="Cormorant Garamond"/>
                <a:sym typeface="Cormorant Garamond"/>
              </a:rPr>
              <a:t>Promotion and formation</a:t>
            </a:r>
            <a:endParaRPr sz="2600">
              <a:solidFill>
                <a:schemeClr val="dk1"/>
              </a:solidFill>
              <a:latin typeface="Calibri"/>
              <a:ea typeface="Calibri"/>
              <a:cs typeface="Calibri"/>
              <a:sym typeface="Calibri"/>
            </a:endParaRPr>
          </a:p>
        </p:txBody>
      </p:sp>
      <p:sp>
        <p:nvSpPr>
          <p:cNvPr id="678" name="Google Shape;678;p30"/>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The same misreading, in the place it is hardest to see.</a:t>
            </a:r>
            <a:endParaRPr sz="1150">
              <a:solidFill>
                <a:schemeClr val="dk1"/>
              </a:solidFill>
              <a:latin typeface="Calibri"/>
              <a:ea typeface="Calibri"/>
              <a:cs typeface="Calibri"/>
              <a:sym typeface="Calibri"/>
            </a:endParaRPr>
          </a:p>
        </p:txBody>
      </p:sp>
      <p:sp>
        <p:nvSpPr>
          <p:cNvPr id="679" name="Google Shape;679;p30"/>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0" name="Google Shape;680;p30"/>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The tension</a:t>
            </a:r>
            <a:endParaRPr sz="1250">
              <a:solidFill>
                <a:schemeClr val="dk1"/>
              </a:solidFill>
              <a:latin typeface="Calibri"/>
              <a:ea typeface="Calibri"/>
              <a:cs typeface="Calibri"/>
              <a:sym typeface="Calibri"/>
            </a:endParaRPr>
          </a:p>
        </p:txBody>
      </p:sp>
      <p:sp>
        <p:nvSpPr>
          <p:cNvPr id="681" name="Google Shape;681;p30"/>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A promotion can increase responsibility, visibility and dependence while reducing formation.</a:t>
            </a:r>
            <a:endParaRPr sz="1100">
              <a:solidFill>
                <a:schemeClr val="dk1"/>
              </a:solidFill>
              <a:latin typeface="Calibri"/>
              <a:ea typeface="Calibri"/>
              <a:cs typeface="Calibri"/>
              <a:sym typeface="Calibri"/>
            </a:endParaRPr>
          </a:p>
        </p:txBody>
      </p:sp>
      <p:sp>
        <p:nvSpPr>
          <p:cNvPr id="682" name="Google Shape;682;p30"/>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3" name="Google Shape;683;p30"/>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The pattern</a:t>
            </a:r>
            <a:endParaRPr sz="1250">
              <a:solidFill>
                <a:schemeClr val="dk1"/>
              </a:solidFill>
              <a:latin typeface="Calibri"/>
              <a:ea typeface="Calibri"/>
              <a:cs typeface="Calibri"/>
              <a:sym typeface="Calibri"/>
            </a:endParaRPr>
          </a:p>
        </p:txBody>
      </p:sp>
      <p:sp>
        <p:nvSpPr>
          <p:cNvPr id="684" name="Google Shape;684;p30"/>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A high performer moves into approvals, representation and familiar judgment — more scope, fewer unfamiliar problems.</a:t>
            </a:r>
            <a:endParaRPr sz="1100">
              <a:solidFill>
                <a:schemeClr val="dk1"/>
              </a:solidFill>
              <a:latin typeface="Calibri"/>
              <a:ea typeface="Calibri"/>
              <a:cs typeface="Calibri"/>
              <a:sym typeface="Calibri"/>
            </a:endParaRPr>
          </a:p>
        </p:txBody>
      </p:sp>
      <p:sp>
        <p:nvSpPr>
          <p:cNvPr id="685" name="Google Shape;685;p30"/>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6" name="Google Shape;686;p30"/>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The test</a:t>
            </a:r>
            <a:endParaRPr sz="1250">
              <a:solidFill>
                <a:schemeClr val="dk1"/>
              </a:solidFill>
              <a:latin typeface="Calibri"/>
              <a:ea typeface="Calibri"/>
              <a:cs typeface="Calibri"/>
              <a:sym typeface="Calibri"/>
            </a:endParaRPr>
          </a:p>
        </p:txBody>
      </p:sp>
      <p:sp>
        <p:nvSpPr>
          <p:cNvPr id="687" name="Google Shape;687;p30"/>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What capability do you have now that you did not have before your responsibilities increased?</a:t>
            </a:r>
            <a:endParaRPr sz="1100">
              <a:solidFill>
                <a:schemeClr val="dk1"/>
              </a:solidFill>
              <a:latin typeface="Calibri"/>
              <a:ea typeface="Calibri"/>
              <a:cs typeface="Calibri"/>
              <a:sym typeface="Calibri"/>
            </a:endParaRPr>
          </a:p>
        </p:txBody>
      </p:sp>
      <p:sp>
        <p:nvSpPr>
          <p:cNvPr id="688" name="Google Shape;688;p30"/>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F2347"/>
        </a:solidFill>
      </p:bgPr>
    </p:bg>
    <p:spTree>
      <p:nvGrpSpPr>
        <p:cNvPr id="693" name="Shape 693"/>
        <p:cNvGrpSpPr/>
        <p:nvPr/>
      </p:nvGrpSpPr>
      <p:grpSpPr>
        <a:xfrm>
          <a:off x="0" y="0"/>
          <a:ext cx="0" cy="0"/>
          <a:chOff x="0" y="0"/>
          <a:chExt cx="0" cy="0"/>
        </a:xfrm>
      </p:grpSpPr>
      <p:sp>
        <p:nvSpPr>
          <p:cNvPr id="694" name="Google Shape;694;p31"/>
          <p:cNvSpPr/>
          <p:nvPr/>
        </p:nvSpPr>
        <p:spPr>
          <a:xfrm>
            <a:off x="566928" y="658368"/>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Montserrat"/>
              <a:buNone/>
            </a:pPr>
            <a:r>
              <a:rPr b="1" lang="en-US" sz="900">
                <a:solidFill>
                  <a:srgbClr val="C9A84C"/>
                </a:solidFill>
                <a:latin typeface="Montserrat"/>
                <a:ea typeface="Montserrat"/>
                <a:cs typeface="Montserrat"/>
                <a:sym typeface="Montserrat"/>
              </a:rPr>
              <a:t>INSTITUTIONAL DELIVERY CLOSE  ·  OPTIONAL</a:t>
            </a:r>
            <a:endParaRPr sz="900">
              <a:solidFill>
                <a:schemeClr val="dk1"/>
              </a:solidFill>
              <a:latin typeface="Calibri"/>
              <a:ea typeface="Calibri"/>
              <a:cs typeface="Calibri"/>
              <a:sym typeface="Calibri"/>
            </a:endParaRPr>
          </a:p>
        </p:txBody>
      </p:sp>
      <p:sp>
        <p:nvSpPr>
          <p:cNvPr id="695" name="Google Shape;695;p31"/>
          <p:cNvSpPr/>
          <p:nvPr/>
        </p:nvSpPr>
        <p:spPr>
          <a:xfrm>
            <a:off x="566928" y="1225296"/>
            <a:ext cx="801014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2900"/>
              <a:buFont typeface="Cormorant Garamond"/>
              <a:buNone/>
            </a:pPr>
            <a:r>
              <a:rPr b="1" lang="en-US" sz="2900">
                <a:solidFill>
                  <a:srgbClr val="F5F0E8"/>
                </a:solidFill>
                <a:latin typeface="Cormorant Garamond"/>
                <a:ea typeface="Cormorant Garamond"/>
                <a:cs typeface="Cormorant Garamond"/>
                <a:sym typeface="Cormorant Garamond"/>
              </a:rPr>
              <a:t>What has the journey built in you?</a:t>
            </a:r>
            <a:endParaRPr sz="2900">
              <a:solidFill>
                <a:schemeClr val="dk1"/>
              </a:solidFill>
              <a:latin typeface="Calibri"/>
              <a:ea typeface="Calibri"/>
              <a:cs typeface="Calibri"/>
              <a:sym typeface="Calibri"/>
            </a:endParaRPr>
          </a:p>
        </p:txBody>
      </p:sp>
      <p:sp>
        <p:nvSpPr>
          <p:cNvPr id="696" name="Google Shape;696;p31"/>
          <p:cNvSpPr/>
          <p:nvPr/>
        </p:nvSpPr>
        <p:spPr>
          <a:xfrm>
            <a:off x="566928" y="1883664"/>
            <a:ext cx="801014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2900"/>
              <a:buFont typeface="Cormorant Garamond"/>
              <a:buNone/>
            </a:pPr>
            <a:r>
              <a:rPr b="1" lang="en-US" sz="2900">
                <a:solidFill>
                  <a:srgbClr val="F5F0E8"/>
                </a:solidFill>
                <a:latin typeface="Cormorant Garamond"/>
                <a:ea typeface="Cormorant Garamond"/>
                <a:cs typeface="Cormorant Garamond"/>
                <a:sym typeface="Cormorant Garamond"/>
              </a:rPr>
              <a:t>What remains useful when the context changes?</a:t>
            </a:r>
            <a:endParaRPr sz="2900">
              <a:solidFill>
                <a:schemeClr val="dk1"/>
              </a:solidFill>
              <a:latin typeface="Calibri"/>
              <a:ea typeface="Calibri"/>
              <a:cs typeface="Calibri"/>
              <a:sym typeface="Calibri"/>
            </a:endParaRPr>
          </a:p>
        </p:txBody>
      </p:sp>
      <p:sp>
        <p:nvSpPr>
          <p:cNvPr id="697" name="Google Shape;697;p31"/>
          <p:cNvSpPr/>
          <p:nvPr/>
        </p:nvSpPr>
        <p:spPr>
          <a:xfrm>
            <a:off x="566928" y="2542032"/>
            <a:ext cx="801014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2900"/>
              <a:buFont typeface="Cormorant Garamond"/>
              <a:buNone/>
            </a:pPr>
            <a:r>
              <a:rPr b="1" lang="en-US" sz="2900">
                <a:solidFill>
                  <a:srgbClr val="F5F0E8"/>
                </a:solidFill>
                <a:latin typeface="Cormorant Garamond"/>
                <a:ea typeface="Cormorant Garamond"/>
                <a:cs typeface="Cormorant Garamond"/>
                <a:sym typeface="Cormorant Garamond"/>
              </a:rPr>
              <a:t>What can you do somewhere else?</a:t>
            </a:r>
            <a:endParaRPr sz="2900">
              <a:solidFill>
                <a:schemeClr val="dk1"/>
              </a:solidFill>
              <a:latin typeface="Calibri"/>
              <a:ea typeface="Calibri"/>
              <a:cs typeface="Calibri"/>
              <a:sym typeface="Calibri"/>
            </a:endParaRPr>
          </a:p>
        </p:txBody>
      </p:sp>
      <p:sp>
        <p:nvSpPr>
          <p:cNvPr id="698" name="Google Shape;698;p31"/>
          <p:cNvSpPr/>
          <p:nvPr/>
        </p:nvSpPr>
        <p:spPr>
          <a:xfrm>
            <a:off x="566928" y="3401568"/>
            <a:ext cx="2651760" cy="20117"/>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9" name="Google Shape;699;p31"/>
          <p:cNvSpPr/>
          <p:nvPr/>
        </p:nvSpPr>
        <p:spPr>
          <a:xfrm>
            <a:off x="566928" y="3657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1000"/>
              <a:buFont typeface="Montserrat"/>
              <a:buNone/>
            </a:pPr>
            <a:r>
              <a:rPr b="1" lang="en-US" sz="1000">
                <a:solidFill>
                  <a:srgbClr val="B8C5D9"/>
                </a:solidFill>
                <a:latin typeface="Montserrat"/>
                <a:ea typeface="Montserrat"/>
                <a:cs typeface="Montserrat"/>
                <a:sym typeface="Montserrat"/>
              </a:rPr>
              <a:t>Capability Formation  ·  Temidayo Afonja  ·  The Density Group</a:t>
            </a:r>
            <a:endParaRPr sz="1000">
              <a:solidFill>
                <a:schemeClr val="dk1"/>
              </a:solidFill>
              <a:latin typeface="Calibri"/>
              <a:ea typeface="Calibri"/>
              <a:cs typeface="Calibri"/>
              <a:sym typeface="Calibri"/>
            </a:endParaRPr>
          </a:p>
        </p:txBody>
      </p:sp>
      <p:sp>
        <p:nvSpPr>
          <p:cNvPr id="700" name="Google Shape;700;p31"/>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705" name="Shape 705"/>
        <p:cNvGrpSpPr/>
        <p:nvPr/>
      </p:nvGrpSpPr>
      <p:grpSpPr>
        <a:xfrm>
          <a:off x="0" y="0"/>
          <a:ext cx="0" cy="0"/>
          <a:chOff x="0" y="0"/>
          <a:chExt cx="0" cy="0"/>
        </a:xfrm>
      </p:grpSpPr>
      <p:sp>
        <p:nvSpPr>
          <p:cNvPr id="706" name="Google Shape;706;p3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50"/>
              <a:buFont typeface="Montserrat"/>
              <a:buNone/>
            </a:pPr>
            <a:r>
              <a:rPr b="1" lang="en-US" sz="950">
                <a:solidFill>
                  <a:srgbClr val="5A6B84"/>
                </a:solidFill>
                <a:latin typeface="Montserrat"/>
                <a:ea typeface="Montserrat"/>
                <a:cs typeface="Montserrat"/>
                <a:sym typeface="Montserrat"/>
              </a:rPr>
              <a:t>APPENDIX  ·  OPTIONAL  ·  NOT PART OF THE TIMED CORE</a:t>
            </a:r>
            <a:endParaRPr sz="950">
              <a:solidFill>
                <a:schemeClr val="dk1"/>
              </a:solidFill>
              <a:latin typeface="Calibri"/>
              <a:ea typeface="Calibri"/>
              <a:cs typeface="Calibri"/>
              <a:sym typeface="Calibri"/>
            </a:endParaRPr>
          </a:p>
        </p:txBody>
      </p:sp>
      <p:sp>
        <p:nvSpPr>
          <p:cNvPr id="707" name="Google Shape;707;p32"/>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lang="en-US" sz="2600">
                <a:solidFill>
                  <a:srgbClr val="0F2347"/>
                </a:solidFill>
                <a:latin typeface="Cormorant Garamond"/>
                <a:ea typeface="Cormorant Garamond"/>
                <a:cs typeface="Cormorant Garamond"/>
                <a:sym typeface="Cormorant Garamond"/>
              </a:rPr>
              <a:t>What moved when you tested your first read</a:t>
            </a:r>
            <a:endParaRPr sz="2600">
              <a:solidFill>
                <a:schemeClr val="dk1"/>
              </a:solidFill>
              <a:latin typeface="Calibri"/>
              <a:ea typeface="Calibri"/>
              <a:cs typeface="Calibri"/>
              <a:sym typeface="Calibri"/>
            </a:endParaRPr>
          </a:p>
        </p:txBody>
      </p:sp>
      <p:sp>
        <p:nvSpPr>
          <p:cNvPr id="708" name="Google Shape;708;p32"/>
          <p:cNvSpPr/>
          <p:nvPr/>
        </p:nvSpPr>
        <p:spPr>
          <a:xfrm>
            <a:off x="566928" y="1335024"/>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One anonymous response. No score, state, employer, or identifying information is requested.</a:t>
            </a:r>
            <a:endParaRPr sz="1150">
              <a:solidFill>
                <a:schemeClr val="dk1"/>
              </a:solidFill>
              <a:latin typeface="Calibri"/>
              <a:ea typeface="Calibri"/>
              <a:cs typeface="Calibri"/>
              <a:sym typeface="Calibri"/>
            </a:endParaRPr>
          </a:p>
        </p:txBody>
      </p:sp>
      <p:sp>
        <p:nvSpPr>
          <p:cNvPr id="709" name="Google Shape;709;p32"/>
          <p:cNvSpPr/>
          <p:nvPr/>
        </p:nvSpPr>
        <p:spPr>
          <a:xfrm>
            <a:off x="566928" y="1810512"/>
            <a:ext cx="8010144"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0" name="Google Shape;710;p32"/>
          <p:cNvSpPr/>
          <p:nvPr/>
        </p:nvSpPr>
        <p:spPr>
          <a:xfrm>
            <a:off x="804672" y="1810512"/>
            <a:ext cx="7534656"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After testing your first read against evidence, which is closest?</a:t>
            </a:r>
            <a:endParaRPr sz="1250">
              <a:solidFill>
                <a:schemeClr val="dk1"/>
              </a:solidFill>
              <a:latin typeface="Calibri"/>
              <a:ea typeface="Calibri"/>
              <a:cs typeface="Calibri"/>
              <a:sym typeface="Calibri"/>
            </a:endParaRPr>
          </a:p>
        </p:txBody>
      </p:sp>
      <p:sp>
        <p:nvSpPr>
          <p:cNvPr id="711" name="Google Shape;711;p32"/>
          <p:cNvSpPr/>
          <p:nvPr/>
        </p:nvSpPr>
        <p:spPr>
          <a:xfrm>
            <a:off x="566928" y="2432304"/>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2" name="Google Shape;712;p32"/>
          <p:cNvSpPr/>
          <p:nvPr/>
        </p:nvSpPr>
        <p:spPr>
          <a:xfrm>
            <a:off x="877824" y="2377440"/>
            <a:ext cx="769924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My totals moved meaningfully</a:t>
            </a:r>
            <a:endParaRPr sz="1250">
              <a:solidFill>
                <a:schemeClr val="dk1"/>
              </a:solidFill>
              <a:latin typeface="Calibri"/>
              <a:ea typeface="Calibri"/>
              <a:cs typeface="Calibri"/>
              <a:sym typeface="Calibri"/>
            </a:endParaRPr>
          </a:p>
        </p:txBody>
      </p:sp>
      <p:sp>
        <p:nvSpPr>
          <p:cNvPr id="713" name="Google Shape;713;p32"/>
          <p:cNvSpPr/>
          <p:nvPr/>
        </p:nvSpPr>
        <p:spPr>
          <a:xfrm>
            <a:off x="566928" y="2871216"/>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4" name="Google Shape;714;p32"/>
          <p:cNvSpPr/>
          <p:nvPr/>
        </p:nvSpPr>
        <p:spPr>
          <a:xfrm>
            <a:off x="877824" y="2816352"/>
            <a:ext cx="769924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My provisional position moved</a:t>
            </a:r>
            <a:endParaRPr sz="1250">
              <a:solidFill>
                <a:schemeClr val="dk1"/>
              </a:solidFill>
              <a:latin typeface="Calibri"/>
              <a:ea typeface="Calibri"/>
              <a:cs typeface="Calibri"/>
              <a:sym typeface="Calibri"/>
            </a:endParaRPr>
          </a:p>
        </p:txBody>
      </p:sp>
      <p:sp>
        <p:nvSpPr>
          <p:cNvPr id="715" name="Google Shape;715;p32"/>
          <p:cNvSpPr/>
          <p:nvPr/>
        </p:nvSpPr>
        <p:spPr>
          <a:xfrm>
            <a:off x="566928" y="3310128"/>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6" name="Google Shape;716;p32"/>
          <p:cNvSpPr/>
          <p:nvPr/>
        </p:nvSpPr>
        <p:spPr>
          <a:xfrm>
            <a:off x="877824" y="3255264"/>
            <a:ext cx="769924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My position stayed similar, but I trust the reading more</a:t>
            </a:r>
            <a:endParaRPr sz="1250">
              <a:solidFill>
                <a:schemeClr val="dk1"/>
              </a:solidFill>
              <a:latin typeface="Calibri"/>
              <a:ea typeface="Calibri"/>
              <a:cs typeface="Calibri"/>
              <a:sym typeface="Calibri"/>
            </a:endParaRPr>
          </a:p>
        </p:txBody>
      </p:sp>
      <p:sp>
        <p:nvSpPr>
          <p:cNvPr id="717" name="Google Shape;717;p32"/>
          <p:cNvSpPr/>
          <p:nvPr/>
        </p:nvSpPr>
        <p:spPr>
          <a:xfrm>
            <a:off x="566928" y="3749040"/>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8" name="Google Shape;718;p32"/>
          <p:cNvSpPr/>
          <p:nvPr/>
        </p:nvSpPr>
        <p:spPr>
          <a:xfrm>
            <a:off x="877824" y="3694176"/>
            <a:ext cx="769924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My evidence is still incomplete</a:t>
            </a:r>
            <a:endParaRPr sz="1250">
              <a:solidFill>
                <a:schemeClr val="dk1"/>
              </a:solidFill>
              <a:latin typeface="Calibri"/>
              <a:ea typeface="Calibri"/>
              <a:cs typeface="Calibri"/>
              <a:sym typeface="Calibri"/>
            </a:endParaRPr>
          </a:p>
        </p:txBody>
      </p:sp>
      <p:sp>
        <p:nvSpPr>
          <p:cNvPr id="719" name="Google Shape;719;p32"/>
          <p:cNvSpPr/>
          <p:nvPr/>
        </p:nvSpPr>
        <p:spPr>
          <a:xfrm>
            <a:off x="566928" y="4261104"/>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00"/>
              <a:buFont typeface="DM Sans"/>
              <a:buNone/>
            </a:pPr>
            <a:r>
              <a:rPr i="1" lang="en-US" sz="1100">
                <a:solidFill>
                  <a:srgbClr val="5A6B84"/>
                </a:solidFill>
                <a:latin typeface="DM Sans"/>
                <a:ea typeface="DM Sans"/>
                <a:cs typeface="DM Sans"/>
                <a:sym typeface="DM Sans"/>
              </a:rPr>
              <a:t>Every one of these is a legitimate outcome. Incomplete evidence is information, not failure.</a:t>
            </a:r>
            <a:endParaRPr sz="1100">
              <a:solidFill>
                <a:schemeClr val="dk1"/>
              </a:solidFill>
              <a:latin typeface="Calibri"/>
              <a:ea typeface="Calibri"/>
              <a:cs typeface="Calibri"/>
              <a:sym typeface="Calibri"/>
            </a:endParaRPr>
          </a:p>
        </p:txBody>
      </p:sp>
      <p:sp>
        <p:nvSpPr>
          <p:cNvPr id="720" name="Google Shape;720;p3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F2347"/>
        </a:solidFill>
      </p:bgPr>
    </p:bg>
    <p:spTree>
      <p:nvGrpSpPr>
        <p:cNvPr id="725" name="Shape 725"/>
        <p:cNvGrpSpPr/>
        <p:nvPr/>
      </p:nvGrpSpPr>
      <p:grpSpPr>
        <a:xfrm>
          <a:off x="0" y="0"/>
          <a:ext cx="0" cy="0"/>
          <a:chOff x="0" y="0"/>
          <a:chExt cx="0" cy="0"/>
        </a:xfrm>
      </p:grpSpPr>
      <p:sp>
        <p:nvSpPr>
          <p:cNvPr id="726" name="Google Shape;726;p33"/>
          <p:cNvSpPr/>
          <p:nvPr/>
        </p:nvSpPr>
        <p:spPr>
          <a:xfrm>
            <a:off x="566928" y="914400"/>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Montserrat"/>
              <a:buNone/>
            </a:pPr>
            <a:r>
              <a:rPr b="1" lang="en-US" sz="900">
                <a:solidFill>
                  <a:srgbClr val="C9A84C"/>
                </a:solidFill>
                <a:latin typeface="Montserrat"/>
                <a:ea typeface="Montserrat"/>
                <a:cs typeface="Montserrat"/>
                <a:sym typeface="Montserrat"/>
              </a:rPr>
              <a:t>A CAPABILITY FORMATION EXPERIENCE</a:t>
            </a:r>
            <a:endParaRPr sz="900">
              <a:solidFill>
                <a:schemeClr val="dk1"/>
              </a:solidFill>
              <a:latin typeface="Calibri"/>
              <a:ea typeface="Calibri"/>
              <a:cs typeface="Calibri"/>
              <a:sym typeface="Calibri"/>
            </a:endParaRPr>
          </a:p>
        </p:txBody>
      </p:sp>
      <p:sp>
        <p:nvSpPr>
          <p:cNvPr id="727" name="Google Shape;727;p33"/>
          <p:cNvSpPr/>
          <p:nvPr/>
        </p:nvSpPr>
        <p:spPr>
          <a:xfrm>
            <a:off x="566928" y="1316736"/>
            <a:ext cx="8010144"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3200"/>
              <a:buFont typeface="Cormorant Garamond"/>
              <a:buNone/>
            </a:pPr>
            <a:r>
              <a:rPr b="1" lang="en-US" sz="3200">
                <a:solidFill>
                  <a:srgbClr val="F5F0E8"/>
                </a:solidFill>
                <a:latin typeface="Cormorant Garamond"/>
                <a:ea typeface="Cormorant Garamond"/>
                <a:cs typeface="Cormorant Garamond"/>
                <a:sym typeface="Cormorant Garamond"/>
              </a:rPr>
              <a:t>Stay or Leave?</a:t>
            </a:r>
            <a:endParaRPr sz="3200">
              <a:solidFill>
                <a:schemeClr val="dk1"/>
              </a:solidFill>
              <a:latin typeface="Calibri"/>
              <a:ea typeface="Calibri"/>
              <a:cs typeface="Calibri"/>
              <a:sym typeface="Calibri"/>
            </a:endParaRPr>
          </a:p>
        </p:txBody>
      </p:sp>
      <p:sp>
        <p:nvSpPr>
          <p:cNvPr id="728" name="Google Shape;728;p33"/>
          <p:cNvSpPr/>
          <p:nvPr/>
        </p:nvSpPr>
        <p:spPr>
          <a:xfrm>
            <a:off x="566928" y="210312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1400"/>
              <a:buFont typeface="DM Sans"/>
              <a:buNone/>
            </a:pPr>
            <a:r>
              <a:rPr lang="en-US" sz="1400">
                <a:solidFill>
                  <a:srgbClr val="B8C5D9"/>
                </a:solidFill>
                <a:latin typeface="DM Sans"/>
                <a:ea typeface="DM Sans"/>
                <a:cs typeface="DM Sans"/>
                <a:sym typeface="DM Sans"/>
              </a:rPr>
              <a:t>Live Career Growth Assessment  ·  The Capability Position Read</a:t>
            </a:r>
            <a:endParaRPr sz="1400">
              <a:solidFill>
                <a:schemeClr val="dk1"/>
              </a:solidFill>
              <a:latin typeface="Calibri"/>
              <a:ea typeface="Calibri"/>
              <a:cs typeface="Calibri"/>
              <a:sym typeface="Calibri"/>
            </a:endParaRPr>
          </a:p>
        </p:txBody>
      </p:sp>
      <p:sp>
        <p:nvSpPr>
          <p:cNvPr id="729" name="Google Shape;729;p33"/>
          <p:cNvSpPr/>
          <p:nvPr/>
        </p:nvSpPr>
        <p:spPr>
          <a:xfrm>
            <a:off x="566928" y="2615184"/>
            <a:ext cx="2651760" cy="20117"/>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0" name="Google Shape;730;p33"/>
          <p:cNvSpPr/>
          <p:nvPr/>
        </p:nvSpPr>
        <p:spPr>
          <a:xfrm>
            <a:off x="566928" y="2852928"/>
            <a:ext cx="801014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400"/>
              <a:buFont typeface="Cormorant Garamond"/>
              <a:buNone/>
            </a:pPr>
            <a:r>
              <a:rPr b="1" lang="en-US" sz="2400">
                <a:solidFill>
                  <a:srgbClr val="C9A84C"/>
                </a:solidFill>
                <a:latin typeface="Cormorant Garamond"/>
                <a:ea typeface="Cormorant Garamond"/>
                <a:cs typeface="Cormorant Garamond"/>
                <a:sym typeface="Cormorant Garamond"/>
              </a:rPr>
              <a:t>Wednesday, September 23, 2026</a:t>
            </a:r>
            <a:endParaRPr sz="2400">
              <a:solidFill>
                <a:schemeClr val="dk1"/>
              </a:solidFill>
              <a:latin typeface="Calibri"/>
              <a:ea typeface="Calibri"/>
              <a:cs typeface="Calibri"/>
              <a:sym typeface="Calibri"/>
            </a:endParaRPr>
          </a:p>
        </p:txBody>
      </p:sp>
      <p:sp>
        <p:nvSpPr>
          <p:cNvPr id="731" name="Google Shape;731;p33"/>
          <p:cNvSpPr/>
          <p:nvPr/>
        </p:nvSpPr>
        <p:spPr>
          <a:xfrm>
            <a:off x="566928" y="329184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1300"/>
              <a:buFont typeface="DM Sans"/>
              <a:buNone/>
            </a:pPr>
            <a:r>
              <a:rPr lang="en-US" sz="1300">
                <a:solidFill>
                  <a:srgbClr val="B8C5D9"/>
                </a:solidFill>
                <a:latin typeface="DM Sans"/>
                <a:ea typeface="DM Sans"/>
                <a:cs typeface="DM Sans"/>
                <a:sym typeface="DM Sans"/>
              </a:rPr>
              <a:t>6:00–7:00 PM Central Time  ·  Free  ·  60 minutes  ·  We begin shortly</a:t>
            </a:r>
            <a:endParaRPr sz="1300">
              <a:solidFill>
                <a:schemeClr val="dk1"/>
              </a:solidFill>
              <a:latin typeface="Calibri"/>
              <a:ea typeface="Calibri"/>
              <a:cs typeface="Calibri"/>
              <a:sym typeface="Calibri"/>
            </a:endParaRPr>
          </a:p>
        </p:txBody>
      </p:sp>
      <p:sp>
        <p:nvSpPr>
          <p:cNvPr id="732" name="Google Shape;732;p33"/>
          <p:cNvSpPr/>
          <p:nvPr/>
        </p:nvSpPr>
        <p:spPr>
          <a:xfrm>
            <a:off x="566928" y="3657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1150"/>
              <a:buFont typeface="DM Sans"/>
              <a:buNone/>
            </a:pPr>
            <a:r>
              <a:rPr i="1" lang="en-US" sz="1150">
                <a:solidFill>
                  <a:srgbClr val="B8C5D9"/>
                </a:solidFill>
                <a:latin typeface="DM Sans"/>
                <a:ea typeface="DM Sans"/>
                <a:cs typeface="DM Sans"/>
                <a:sym typeface="DM Sans"/>
              </a:rPr>
              <a:t>Have the workbook open. Nothing is submitted or collected at any point.</a:t>
            </a:r>
            <a:endParaRPr sz="115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2026-08-30T18:07:34Z</dcterms:created>
  <dc:creator>Temidayo Afonja</dc:creator>
</cp:coreProperties>
</file>