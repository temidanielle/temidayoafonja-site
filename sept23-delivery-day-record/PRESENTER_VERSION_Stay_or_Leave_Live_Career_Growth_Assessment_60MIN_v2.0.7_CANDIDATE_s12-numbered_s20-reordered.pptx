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5143500" cy="9144000"/>
  <p:embeddedFontLst>
    <p:embeddedFont>
      <p:font typeface="Cormorant Garamond"/>
      <p:regular r:id="rId39"/>
      <p:bold r:id="rId40"/>
      <p:italic r:id="rId41"/>
      <p:boldItalic r:id="rId42"/>
    </p:embeddedFont>
    <p:embeddedFont>
      <p:font typeface="Montserrat"/>
      <p:regular r:id="rId43"/>
      <p:bold r:id="rId44"/>
      <p:italic r:id="rId45"/>
      <p:boldItalic r:id="rId46"/>
    </p:embeddedFont>
    <p:embeddedFont>
      <p:font typeface="DM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AMAQtVqM+80vD4hfHyeKlEoWT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font" Target="fonts/CormorantGaramond-regular.fntdata"/><Relationship Id="rId40" Type="http://schemas.openxmlformats.org/officeDocument/2006/relationships/font" Target="fonts/CormorantGaramond-bold.fntdata"/><Relationship Id="rId41" Type="http://schemas.openxmlformats.org/officeDocument/2006/relationships/font" Target="fonts/CormorantGaramond-italic.fntdata"/><Relationship Id="rId42" Type="http://schemas.openxmlformats.org/officeDocument/2006/relationships/font" Target="fonts/CormorantGaramond-boldItalic.fntdata"/><Relationship Id="rId43" Type="http://schemas.openxmlformats.org/officeDocument/2006/relationships/font" Target="fonts/Montserrat-regular.fntdata"/><Relationship Id="rId44" Type="http://schemas.openxmlformats.org/officeDocument/2006/relationships/font" Target="fonts/Montserrat-bold.fntdata"/><Relationship Id="rId45" Type="http://schemas.openxmlformats.org/officeDocument/2006/relationships/font" Target="fonts/Montserrat-italic.fntdata"/><Relationship Id="rId46" Type="http://schemas.openxmlformats.org/officeDocument/2006/relationships/font" Target="fonts/Montserrat-boldItalic.fntdata"/><Relationship Id="rId47" Type="http://schemas.openxmlformats.org/officeDocument/2006/relationships/font" Target="fonts/DMSans-regular.fntdata"/><Relationship Id="rId48" Type="http://schemas.openxmlformats.org/officeDocument/2006/relationships/font" Target="fonts/DMSans-bold.fntdata"/><Relationship Id="rId49" Type="http://schemas.openxmlformats.org/officeDocument/2006/relationships/font" Target="fonts/DMSans-italic.fntdata"/><Relationship Id="rId50" Type="http://schemas.openxmlformats.org/officeDocument/2006/relationships/font" Target="fonts/DMSans-boldItalic.fntdata"/><Relationship Id="rId5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0:00-0:30. THIRTY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no date on this slide by design.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0:30-1:20. FIFTY SECONDS. The reframe is the first fifteen. The rest is the story below.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SPOKEN WARRANT - SAY IT, DO NOT SKIP IT. Approximately thirty to forty-five seconds, and no longer: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land the point in one line: I did not start from zero, and I did not carry everything either.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ADD TO THE STORY. No dates, no employers, no metrics, no reactions, no reason for the move, no outcome, and nothing further about what transferred. This is warrant, not biography. If you find yourself explaining the move, you have already gone too long.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answer the stay/leave question. Say plainly that the session reads the position underneath it.</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THIS IS THE RECORDING AND PRIVACY DISCLOSURE. It must be delivered inside the first five minutes. Deliver it here, at minute 1:20.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1:20-2:00. FORTY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deliver the disclosure, name the boundary, point at the workbook, move. Forty seconds total. Do not let this become a preamble.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IT ONCE, CALMLY, AND DO NOT EXPAND IT INTO A DISCLAIMER: "The teaching portion is recorded so people can revisit the method. Your scores and your private workbook stay yours. The live Q&amp;A at the end is not part of the evergreen replay."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WORKBOOK: page 1 carries the same boundary and privacy language. Tell the room the workbook is open in full from the start. Nothing is released in stages.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Participant microphones are muted by default for the whole recorded core.</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2:00-3:30.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ask the question on the slide first and let it sit for a beat. Only then give it the name. The room recognizes the question before it learns the word.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is the work still asking more of your judgment than it used to? That is what Density reads. It is about your conditions, not your effort, which is why a role can be demanding and important and still stop forming you.</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one correction that matters, that busy is not the same as forming, and stop. The full teaching treatment is downstream, not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take questions on the definition now. Say they will make more sense once people have scored.</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3:30-5:00.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same shape as the last slide. Ask the question, let it sit, then name it. The story on slide 2 was the warrant for this slide, so you can refer back to it in a phrase rather than retelling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would what you are building still be useful somewhere else, and could you make it legible to someone outside your organization using evidence rather than your title? That is Optionality.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Next slide begins the private scoring. Tell the room to have the workbook open at page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endParaRPr/>
          </a:p>
        </p:txBody>
      </p:sp>
      <p:sp>
        <p:nvSpPr>
          <p:cNvPr id="82" name="Google Shape;8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5:00-6:40.</a:t>
            </a:r>
            <a:br>
              <a:rPr lang="en-US"/>
            </a:br>
            <a:br>
              <a:rPr lang="en-US"/>
            </a:br>
            <a:r>
              <a:rPr lang="en-US"/>
              <a:t>FACILITATION: One hundred seconds. Read each statement once, then stay silent while people score. Do not fill the silence.</a:t>
            </a:r>
            <a:br>
              <a:rPr lang="en-US"/>
            </a:br>
            <a:br>
              <a:rPr lang="en-US"/>
            </a:br>
            <a:r>
              <a:rPr lang="en-US"/>
              <a:t>WHAT TO SAY: score each statement 1 to 5 against the last ninety days only. No evidence line yet — that is deliberate, and you will see why.</a:t>
            </a:r>
            <a:endParaRPr/>
          </a:p>
        </p:txBody>
      </p:sp>
      <p:sp>
        <p:nvSpPr>
          <p:cNvPr id="96" name="Google Shape;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6:40-8:10.</a:t>
            </a:r>
            <a:br>
              <a:rPr lang="en-US"/>
            </a:br>
            <a:br>
              <a:rPr lang="en-US"/>
            </a:br>
            <a:r>
              <a:rPr lang="en-US"/>
              <a:t>FACILITATION: Ninety seconds. Same rhythm. Do not signal that the scores are expected to change — that reveal has to be earned by the evidence pass.</a:t>
            </a:r>
            <a:br>
              <a:rPr lang="en-US"/>
            </a:br>
            <a:br>
              <a:rPr lang="en-US"/>
            </a:br>
            <a:r>
              <a:rPr lang="en-US"/>
              <a:t>WHAT TO SAY: score each statement 1 to 5 against the last ninety days only. No evidence line yet — that is deliberate, and you will see why.</a:t>
            </a:r>
            <a:endParaRPr/>
          </a:p>
        </p:txBody>
      </p:sp>
      <p:sp>
        <p:nvSpPr>
          <p:cNvPr id="119" name="Google Shape;1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8:10-8:40.</a:t>
            </a:r>
            <a:br>
              <a:rPr lang="en-US"/>
            </a:br>
            <a:br>
              <a:rPr lang="en-US"/>
            </a:br>
            <a:r>
              <a:rPr lang="en-US"/>
              <a:t>FACILITATION: Thirty seconds. Total and hold. Do not explain the states yet.</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142" name="Google Shape;14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8:40-10:10.</a:t>
            </a:r>
            <a:br>
              <a:rPr lang="en-US"/>
            </a:br>
            <a:br>
              <a:rPr lang="en-US"/>
            </a:br>
            <a:r>
              <a:rPr lang="en-US"/>
              <a:t>FACILITATION: Ninety seconds.</a:t>
            </a:r>
            <a:br>
              <a:rPr lang="en-US"/>
            </a:br>
            <a:br>
              <a:rPr lang="en-US"/>
            </a:br>
            <a:r>
              <a:rPr lang="en-US"/>
              <a:t>WHAT TO SAY: score each statement 1 to 5 against the last ninety days only. No evidence line yet — that is deliberate, and you will see why.</a:t>
            </a:r>
            <a:endParaRPr/>
          </a:p>
        </p:txBody>
      </p:sp>
      <p:sp>
        <p:nvSpPr>
          <p:cNvPr id="158" name="Google Shape;1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10:10-11:40.</a:t>
            </a:r>
            <a:br>
              <a:rPr lang="en-US"/>
            </a:br>
            <a:br>
              <a:rPr lang="en-US"/>
            </a:br>
            <a:r>
              <a:rPr lang="en-US"/>
              <a:t>FACILITATION: Ninety seconds. This is the last block of the first pass.</a:t>
            </a:r>
            <a:br>
              <a:rPr lang="en-US"/>
            </a:br>
            <a:br>
              <a:rPr lang="en-US"/>
            </a:br>
            <a:r>
              <a:rPr lang="en-US"/>
              <a:t>WHAT TO SAY: score each statement 1 to 5 against the last ninety days only. No evidence line yet — that is deliberate, and you will see why.</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11:40-12:00.</a:t>
            </a:r>
            <a:br>
              <a:rPr lang="en-US"/>
            </a:br>
            <a:br>
              <a:rPr lang="en-US"/>
            </a:br>
            <a:r>
              <a:rPr lang="en-US"/>
              <a:t>FACILITATION: Twenty seconds. You now hold two numbers. The pair is the point of today.</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204" name="Google Shape;2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a:t>
            </a:r>
            <a:br>
              <a:rPr lang="en-US"/>
            </a:br>
            <a:br>
              <a:rPr lang="en-US"/>
            </a:br>
            <a:r>
              <a:rPr lang="en-US"/>
              <a:t>TIMING: 12:00-13:00. SIXTY SECONDS.</a:t>
            </a:r>
            <a:br>
              <a:rPr lang="en-US"/>
            </a:br>
            <a:br>
              <a:rPr lang="en-US"/>
            </a:br>
            <a:r>
              <a:rPr lang="en-US"/>
              <a:t>FACILITATION: name each square once. Do not teach the state costs here — that block is at 35:00. Do not ask which square anyone is in.</a:t>
            </a:r>
            <a:br>
              <a:rPr lang="en-US"/>
            </a:b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Lowest: Stagnant.</a:t>
            </a:r>
            <a:r>
              <a:rPr lang="en-US" sz="1100">
                <a:latin typeface="Arial"/>
                <a:ea typeface="Arial"/>
                <a:cs typeface="Arial"/>
                <a:sym typeface="Arial"/>
              </a:rPr>
              <a:t> Bottom-left, both axes low. "The work stopped asking more of you" plus no portability. Nothing is accruing in either direction.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Depth Trap.</a:t>
            </a:r>
            <a:r>
              <a:rPr lang="en-US" sz="1100">
                <a:latin typeface="Arial"/>
                <a:ea typeface="Arial"/>
                <a:cs typeface="Arial"/>
                <a:sym typeface="Arial"/>
              </a:rPr>
              <a:t> Top-left. High Density, low Optionality. Reads as second-lowest but clearly above Stagnant, because something real is still being built — it just doesn't travel.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Fragile.</a:t>
            </a:r>
            <a:r>
              <a:rPr lang="en-US" sz="1100">
                <a:latin typeface="Arial"/>
                <a:ea typeface="Arial"/>
                <a:cs typeface="Arial"/>
                <a:sym typeface="Arial"/>
              </a:rPr>
              <a:t> Bottom-right. Low Density, high Optionality. What you have moves, but nothing new is being added underneath it.</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Highest: Compounding.</a:t>
            </a:r>
            <a:r>
              <a:rPr lang="en-US" sz="1100">
                <a:latin typeface="Arial"/>
                <a:ea typeface="Arial"/>
                <a:cs typeface="Arial"/>
                <a:sym typeface="Arial"/>
              </a:rPr>
              <a:t> Top-right, both high, and the only square you inverted to navy.</a:t>
            </a:r>
            <a:br>
              <a:rPr lang="en-US"/>
            </a:br>
            <a:r>
              <a:rPr lang="en-US"/>
              <a:t>Compounding is set apart because it is the one square where both axes are high. It is a structural fact about the matrix, not a ranking, and not a square to aim for. Say "state is not identity" out loud on the next slide.</a:t>
            </a:r>
            <a:endParaRPr/>
          </a:p>
        </p:txBody>
      </p:sp>
      <p:sp>
        <p:nvSpPr>
          <p:cNvPr id="220" name="Google Shape;2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13:00-14:00. SIXTY SECONDS.</a:t>
            </a:r>
            <a:br>
              <a:rPr lang="en-US"/>
            </a:br>
            <a:br>
              <a:rPr lang="en-US"/>
            </a:br>
            <a:r>
              <a:rPr lang="en-US"/>
              <a:t>FACILITATION: everyone proceeds on the clock. There is no readiness poll, no staged release and no waiting for the room — this has to work with a large audience.</a:t>
            </a:r>
            <a:br>
              <a:rPr lang="en-US"/>
            </a:br>
            <a:br>
              <a:rPr lang="en-US"/>
            </a:br>
            <a:r>
              <a:rPr lang="en-US"/>
              <a:t>Say "state is not identity" here, plainly, and say that boundary is a legitimate reading rather than a failure to decide.</a:t>
            </a:r>
            <a:br>
              <a:rPr lang="en-US"/>
            </a:br>
            <a:br>
              <a:rPr lang="en-US"/>
            </a:br>
            <a:r>
              <a:rPr lang="en-US"/>
              <a:t>Do not ask for a show of hands on states. Do not invite anyone to name their square, their employer or their situation.</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14:00-16:00. TWO MINUTES.</a:t>
            </a:r>
            <a:br>
              <a:rPr lang="en-US"/>
            </a:br>
            <a:br>
              <a:rPr lang="en-US"/>
            </a:br>
            <a:r>
              <a:rPr lang="en-US"/>
              <a:t>FACILITATION: the protocol is symmetric — that is the whole point. Low scores need evidence too, or the exercise becomes self-criticism.</a:t>
            </a:r>
            <a:br>
              <a:rPr lang="en-US"/>
            </a:br>
            <a:br>
              <a:rPr lang="en-US"/>
            </a:br>
            <a:r>
              <a:rPr lang="en-US"/>
              <a:t>The ? is not a softer 3. A 3 is a real reading of a mixed pattern. A ? means you could not support any number. One question mark only, and it stays inside the 1 to 5 scale: the workbook will not accept 0?, 6?, two question marks, or a question mark on its own.</a:t>
            </a:r>
            <a:br>
              <a:rPr lang="en-US"/>
            </a:br>
            <a:br>
              <a:rPr lang="en-US"/>
            </a:br>
            <a:r>
              <a:rPr lang="en-US"/>
              <a:t>Give permission for the ? BEFORE the rescore starts, or people round down to look rigorous and reproduce the artefact the rule exists to prevent.</a:t>
            </a:r>
            <a:endParaRPr/>
          </a:p>
        </p:txBody>
      </p:sp>
      <p:sp>
        <p:nvSpPr>
          <p:cNvPr id="269" name="Google Shape;2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16:00-19:00. THREE MINUTES. Sixty seconds each.</a:t>
            </a:r>
            <a:br>
              <a:rPr lang="en-US"/>
            </a:br>
            <a:br>
              <a:rPr lang="en-US"/>
            </a:br>
            <a:r>
              <a:rPr lang="en-US"/>
              <a:t>FACILITATION: one minute per misreading, in order, then stop. Do not take questions here — hold them for minute 50.</a:t>
            </a:r>
            <a:br>
              <a:rPr lang="en-US"/>
            </a:br>
            <a:br>
              <a:rPr lang="en-US"/>
            </a:br>
            <a:r>
              <a:rPr lang="en-US"/>
              <a:t>This slide replaces three separate calibration slides. Do not expand it back out and do not add a fourth misreading.</a:t>
            </a:r>
            <a:br>
              <a:rPr lang="en-US"/>
            </a:br>
            <a:br>
              <a:rPr lang="en-US"/>
            </a:br>
            <a:r>
              <a:rPr lang="en-US"/>
              <a:t>ONE: this occurs when someone scores the work they are about to do rather than the work that actually occurred inside the evidence window. Do not describe it as common, typical or most frequent — this session has no measurement that supports a prevalence claim.</a:t>
            </a:r>
            <a:br>
              <a:rPr lang="en-US"/>
            </a:br>
            <a:br>
              <a:rPr lang="en-US"/>
            </a:br>
            <a:r>
              <a:rPr lang="en-US"/>
              <a:t>TWO: careful with tone. It can describe someone genuinely excellent at the work. Being needed is good; assuming it forms you is the misread.</a:t>
            </a:r>
            <a:br>
              <a:rPr lang="en-US"/>
            </a:br>
            <a:br>
              <a:rPr lang="en-US"/>
            </a:br>
            <a:r>
              <a:rPr lang="en-US"/>
              <a:t>THREE: say the panel as written. Do not rank the causes and do not imply one is more common than another.</a:t>
            </a:r>
            <a:br>
              <a:rPr lang="en-US"/>
            </a:br>
            <a:br>
              <a:rPr lang="en-US"/>
            </a:br>
            <a:r>
              <a:rPr lang="en-US"/>
              <a:t>Land the third one and move straight into the rescore. Do not take questions here — hold them for minute 50.</a:t>
            </a:r>
            <a:endParaRPr/>
          </a:p>
        </p:txBody>
      </p:sp>
      <p:sp>
        <p:nvSpPr>
          <p:cNvPr id="294" name="Google Shape;2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PAGES 5 AND 6.</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19:00-31:00. TWELVE MINUTES. PROTECTED AND NON-NEGOTIABLE.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instruction once, then hold this slide and stay quiet. One short orientation cue at the midpoint, then the two warnings.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RECOVER LOST TIME HERE. This block is the evidentiary centre of the session and the thing that makes it an assessment rather than a talk. If you are behind at minute 19, take the time from the 45:00-48:00 continuation sequence or the 48:00-50:00 buffer, never from this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slide holds for the full twelve minutes. Do not advance and do not fill the silence.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ONE MIDPOINT CUE AT ABOUT 25:00. This is facilitator presence, not teaching. Say it once, quietly, then return to silence: "If you are around statement six, you are on pace. Keep the evidence phrases short." Do not add anything to it, do not answer a question in it, and do not restate the protocol.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two-minute warning at 29:00 and a thirty-second warning at 30:30. Keep your own microphone quiet the rest of the time.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Short evidence phrases, not essays. Twelve statements in twelve minutes is sixty seconds each.</a:t>
            </a:r>
            <a:endParaRPr/>
          </a:p>
        </p:txBody>
      </p:sp>
      <p:sp>
        <p:nvSpPr>
          <p:cNvPr id="320" name="Google Shape;32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PAGES 5 AND 6.</a:t>
            </a:r>
            <a:br>
              <a:rPr lang="en-US"/>
            </a:br>
            <a:br>
              <a:rPr lang="en-US"/>
            </a:br>
            <a:r>
              <a:rPr lang="en-US"/>
              <a:t>TIMING: 31:00-32:30. NINETY SECONDS.</a:t>
            </a:r>
            <a:br>
              <a:rPr lang="en-US"/>
            </a:br>
            <a:br>
              <a:rPr lang="en-US"/>
            </a:br>
            <a:r>
              <a:rPr lang="en-US"/>
              <a:t>FACILITATION: insist on the re-total. People try to eyeball whether the square changed. The number has to be recomputed.</a:t>
            </a:r>
            <a:br>
              <a:rPr lang="en-US"/>
            </a:br>
            <a:br>
              <a:rPr lang="en-US"/>
            </a:br>
            <a:r>
              <a:rPr lang="en-US"/>
              <a:t>A marked score counts as its number when totalling — 3? totals as 3. The question mark changes what happens NEXT, on the sensitivity slide, not the arithmetic here.</a:t>
            </a:r>
            <a:br>
              <a:rPr lang="en-US"/>
            </a:br>
            <a:br>
              <a:rPr lang="en-US"/>
            </a:br>
            <a:r>
              <a:rPr lang="en-US"/>
              <a:t>Boundary band: a corrected total of 17 to 21 overrides the ordinary high/low split. Say it again here.</a:t>
            </a:r>
            <a:endParaRPr/>
          </a:p>
        </p:txBody>
      </p:sp>
      <p:sp>
        <p:nvSpPr>
          <p:cNvPr id="345" name="Google Shape;3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32:30-34:00.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thirty seconds per tier. Teach all three even though most of the room will only need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SLIDE IS NOW THE SUMMARY, NOT THE SPECIFICATION. The full procedure is on workbook page 4 and is repeated below. Read the three tiers off the slide and let the workbook carry the mechanics.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 all three tiers explicitly. A participant with no marked items can sit through the procedure believing they must run it. Say plainly that they do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NONE: no range required. 1 OR 2: the axis is provisional, run the check. 3 OR MORE: the axis is incomplete and you do not place on it today.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DUAL-AXIS BOUNDARY RULE, said plainly: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exactly ONE axis is inside 17 to 21, read the two adjacent states that the OTHER axis selects. A boundary Density with high Optionality reads across Compounding and Fragile.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BOTH axes are inside 17 to 21, record Boundary and assign no single state at all.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out loud: this is an operational convention, not a statistical confidence interval, and it carries no margin of error. Boundary and incomplete are legitimate outcomes.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METHOD UNCHANGED IN v2.0.6. Only the slide face was simplified. The tiers, the band, the bounded neighbouring scores and the dual-axis rule are exactly what v2.0.5 carried.</a:t>
            </a:r>
            <a:endParaRPr/>
          </a:p>
        </p:txBody>
      </p:sp>
      <p:sp>
        <p:nvSpPr>
          <p:cNvPr id="363" name="Google Shape;36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34:00-35:00.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give the instruction, then let them place. Do not narrate over the writing.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plainly that boundary and incomplete are real readings, not failures.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poll this session permits is the optional anonymous arrival poll, which runs BEFORE the recording starts while the dated holding slide is up. It is specified in the SOP. It never runs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invite anyone to name their square, their confidence number, their employer or their circumstances.</a:t>
            </a:r>
            <a:endParaRPr/>
          </a:p>
        </p:txBody>
      </p:sp>
      <p:sp>
        <p:nvSpPr>
          <p:cNvPr id="389" name="Google Shape;38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35:00-38:00. THREE MINUTES. Forty-five seconds per state.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one pass, four states, no favourites. Keep your eye on the clock, this block overruns easily.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each state its essential reading and stop. Do NOT teach the heaviest square for this room and do NOT deepen a state based on audience distribution. Those are Intensive Edition mechanics and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running behind, this is NOT the block to cut. Take it from 45:00-48:00.</a:t>
            </a:r>
            <a:endParaRPr/>
          </a:p>
        </p:txBody>
      </p:sp>
      <p:sp>
        <p:nvSpPr>
          <p:cNvPr id="413" name="Google Shape;41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38:00-41:00. THREE MINUTES. About twenty-five seconds each.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category and its line, move to the next. Resist elaborating.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each category and its one-line reading. Do not work examples,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 for exit is preparation, not a recommendation to resign. Say it that way.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bottom line as written: no square prescribes a category. Someone in Depth Trap is not instructed to translate; someone in Fragile is not instructed to exit.</a:t>
            </a:r>
            <a:endParaRPr/>
          </a:p>
        </p:txBody>
      </p:sp>
      <p:sp>
        <p:nvSpPr>
          <p:cNvPr id="459" name="Google Shape;4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41:00-45:00. FOUR MINUTES. This is a real writing period, protect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four portability questions once, read the three prompts once, then stop talking for the rest of the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FOUR-QUESTION PORTABILITY AUDIT IS ON THIS SLIDE AND IS SPOKEN ONCE, HERE. It is the interpretive frame for the note, not a new exercise: there is nothing to score and nothing to hand in. Read them and move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travels? What does not? What can I prove? What must I relearn?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the three prompts once, then stop talking and let people write. Four minutes feels long from the front and short from the seat.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it the Next-Move Decision. That is the Intensive Edition's artifact and it is a different, longer instrument.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ask anyone to read theirs aloud, and do not invite anyone to share a move category, an employer or a situation.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sixty-second warning at 44:00.</a:t>
            </a:r>
            <a:endParaRPr/>
          </a:p>
        </p:txBody>
      </p:sp>
      <p:sp>
        <p:nvSpPr>
          <p:cNvPr id="498" name="Google Shape;49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45:00-46:00. SIXTY SECONDS. The continuation sequence is the first place to take time from if you are behind.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two routes in order, land route one, then move. Do not linger and do not add examples.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ROUTE 1 IS NOT A THROWAWAY. Say it first and say it plainly. The credibility of the next slide depends on genuinely releasing the people who have enough.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"Some of you now have enough to act. Good, you do not need anything else from me today. Some of you want a structured system you can keep working with privately. Different needs, different routes."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the Proof is not on this slide either, and that is deliberate. It answers a different problem and belongs in follow-up, not in the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PRICING ON THIS SLIDE. Do not say "if you want to buy", "I have two offers" or "special opportunity".</a:t>
            </a:r>
            <a:endParaRPr/>
          </a:p>
        </p:txBody>
      </p:sp>
      <p:sp>
        <p:nvSpPr>
          <p:cNvPr id="531" name="Google Shape;53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46:00-47:00.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name what today already gave them, then name what the Field Kit adds. Sixty seconds. If you are behind, this is the first slide to shorten.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Say so. This session delivers a full guided reading. The Field Kit is not the rest of it. It is a private system they can own, revisit and rerun as conditions change.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the Field Kit the complete version of the session, the full assessment, required, included, a bundle, or more worksheets.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IMMEDIATELY BEFORE DELIVERY, VERIFY THE CURRENT PUBLIC PRICE AND PURCHASE ROUTE. If both remain current, post the purchase link and current price in the live chat. The permanent replay slide remains price-free.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PREBUILT CHAT MESSAGE: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Continue privately with the Capability Formation Field Kit: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https://temidayoafonja.com/fieldkit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PRICE APPEARS ON THIS SLIDE FACE BY DESIGN. No discount, no attendee price, no coupon, no bundle, no crossed-out price, no urgency.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former paid group workshop is retired from active public sale and is NOT the current public next step. Do not mention it.</a:t>
            </a:r>
            <a:endParaRPr/>
          </a:p>
        </p:txBody>
      </p:sp>
      <p:sp>
        <p:nvSpPr>
          <p:cNvPr id="554" name="Google Shape;55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RECORDING OFF.</a:t>
            </a:r>
            <a:endParaRPr/>
          </a:p>
        </p:txBody>
      </p:sp>
      <p:sp>
        <p:nvSpPr>
          <p:cNvPr id="589" name="Google Shape;58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50:00-60:00. TEN MINUTES. HARD STOP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at 60:00 and thank the room.</a:t>
            </a:r>
            <a:endParaRPr/>
          </a:p>
        </p:txBody>
      </p:sp>
      <p:sp>
        <p:nvSpPr>
          <p:cNvPr id="601" name="Google Shape;60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Not part of the recorded core.</a:t>
            </a:r>
            <a:br>
              <a:rPr lang="en-US"/>
            </a:br>
            <a:br>
              <a:rPr lang="en-US"/>
            </a:br>
            <a:r>
              <a:rPr lang="en-US"/>
              <a:t>Use during Q&amp;A if someone asks how to read organisational signals. These are questions to investigate, never predictions about a specific employer.</a:t>
            </a:r>
            <a:endParaRPr/>
          </a:p>
        </p:txBody>
      </p:sp>
      <p:sp>
        <p:nvSpPr>
          <p:cNvPr id="620" name="Google Shape;62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Moved out of the timed core deliberately.</a:t>
            </a:r>
            <a:br>
              <a:rPr lang="en-US"/>
            </a:br>
            <a:br>
              <a:rPr lang="en-US"/>
            </a:br>
            <a:r>
              <a:rPr lang="en-US"/>
              <a:t>If asked: one application, sixty seconds, no tool names, no job-loss predictions, no industry forecasts.</a:t>
            </a:r>
            <a:endParaRPr/>
          </a:p>
        </p:txBody>
      </p:sp>
      <p:sp>
        <p:nvSpPr>
          <p:cNvPr id="638" name="Google Shape;63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APPENDIX — live-only. Useful when someone scores low on statement 8 and reads it as a verdict on ability.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endParaRPr/>
          </a:p>
        </p:txBody>
      </p:sp>
      <p:sp>
        <p:nvSpPr>
          <p:cNvPr id="656" name="Google Shape;65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This is the sharpest version of misreading two and a useful answer in Q&amp;A.</a:t>
            </a:r>
            <a:br>
              <a:rPr lang="en-US"/>
            </a:br>
            <a:br>
              <a:rPr lang="en-US"/>
            </a:br>
            <a:r>
              <a:rPr lang="en-US"/>
              <a:t>Not a diagnosis of anyone's specific promotion.</a:t>
            </a:r>
            <a:endParaRPr/>
          </a:p>
        </p:txBody>
      </p:sp>
      <p:sp>
        <p:nvSpPr>
          <p:cNvPr id="674" name="Google Shape;67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OPTIONAL INSTITUTIONAL CLOSE — use INSTEAD of the continuation slides 23 and 24 when delivering for a university, alumni association, professional body or employee group.</a:t>
            </a:r>
            <a:br>
              <a:rPr lang="en-US"/>
            </a:br>
            <a:br>
              <a:rPr lang="en-US"/>
            </a:br>
            <a:r>
              <a:rPr lang="en-US"/>
              <a:t>No pricing. No Field Kit or private-read pitch. No product CTA of any kind.</a:t>
            </a:r>
            <a:br>
              <a:rPr lang="en-US"/>
            </a:br>
            <a:br>
              <a:rPr lang="en-US"/>
            </a:br>
            <a:r>
              <a:rPr lang="en-US"/>
              <a:t>This lets the same core deck serve institutional outreach without building a second presentation.</a:t>
            </a:r>
            <a:endParaRPr/>
          </a:p>
        </p:txBody>
      </p:sp>
      <p:sp>
        <p:nvSpPr>
          <p:cNvPr id="692" name="Google Shape;69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704" name="Google Shape;70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24" name="Google Shape;72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566928" y="457200"/>
            <a:ext cx="6035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566928" y="1170432"/>
            <a:ext cx="5943600" cy="73152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18" name="Google Shape;18;p1"/>
          <p:cNvSpPr/>
          <p:nvPr/>
        </p:nvSpPr>
        <p:spPr>
          <a:xfrm>
            <a:off x="566928" y="2011680"/>
            <a:ext cx="5943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19" name="Google Shape;19;p1"/>
          <p:cNvSpPr/>
          <p:nvPr/>
        </p:nvSpPr>
        <p:spPr>
          <a:xfrm>
            <a:off x="566928" y="267004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66928" y="2852928"/>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000"/>
              <a:buFont typeface="Cormorant Garamond"/>
              <a:buNone/>
            </a:pPr>
            <a:r>
              <a:rPr b="1" lang="en-US" sz="2000">
                <a:solidFill>
                  <a:srgbClr val="F5F0E8"/>
                </a:solidFill>
                <a:latin typeface="Cormorant Garamond"/>
                <a:ea typeface="Cormorant Garamond"/>
                <a:cs typeface="Cormorant Garamond"/>
                <a:sym typeface="Cormorant Garamond"/>
              </a:rPr>
              <a:t>The Capability Position Read</a:t>
            </a:r>
            <a:endParaRPr sz="2000">
              <a:solidFill>
                <a:schemeClr val="dk1"/>
              </a:solidFill>
              <a:latin typeface="Calibri"/>
              <a:ea typeface="Calibri"/>
              <a:cs typeface="Calibri"/>
              <a:sym typeface="Calibri"/>
            </a:endParaRPr>
          </a:p>
        </p:txBody>
      </p:sp>
      <p:sp>
        <p:nvSpPr>
          <p:cNvPr id="21" name="Google Shape;21;p1"/>
          <p:cNvSpPr/>
          <p:nvPr/>
        </p:nvSpPr>
        <p:spPr>
          <a:xfrm>
            <a:off x="566928" y="321868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250"/>
              <a:buFont typeface="DM Sans"/>
              <a:buNone/>
            </a:pPr>
            <a:r>
              <a:rPr i="1" lang="en-US" sz="1250">
                <a:solidFill>
                  <a:srgbClr val="C9A84C"/>
                </a:solidFill>
                <a:latin typeface="DM Sans"/>
                <a:ea typeface="DM Sans"/>
                <a:cs typeface="DM Sans"/>
                <a:sym typeface="DM Sans"/>
              </a:rPr>
              <a:t>Read the Position Before You Make the Move</a:t>
            </a:r>
            <a:endParaRPr sz="1250">
              <a:solidFill>
                <a:schemeClr val="dk1"/>
              </a:solidFill>
              <a:latin typeface="Calibri"/>
              <a:ea typeface="Calibri"/>
              <a:cs typeface="Calibri"/>
              <a:sym typeface="Calibri"/>
            </a:endParaRPr>
          </a:p>
        </p:txBody>
      </p:sp>
      <p:sp>
        <p:nvSpPr>
          <p:cNvPr id="22" name="Google Shape;22;p1"/>
          <p:cNvSpPr/>
          <p:nvPr/>
        </p:nvSpPr>
        <p:spPr>
          <a:xfrm>
            <a:off x="566928" y="3675888"/>
            <a:ext cx="5943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950"/>
              <a:buFont typeface="Montserrat"/>
              <a:buNone/>
            </a:pPr>
            <a:r>
              <a:rPr b="1" lang="en-US" sz="950">
                <a:solidFill>
                  <a:srgbClr val="B8C5D9"/>
                </a:solidFill>
                <a:latin typeface="Montserrat"/>
                <a:ea typeface="Montserrat"/>
                <a:cs typeface="Montserrat"/>
                <a:sym typeface="Montserrat"/>
              </a:rPr>
              <a:t>FREE GUIDED ASSESSMENT  ·  60 MINUTES</a:t>
            </a:r>
            <a:endParaRPr sz="950">
              <a:solidFill>
                <a:schemeClr val="dk1"/>
              </a:solidFill>
              <a:latin typeface="Calibri"/>
              <a:ea typeface="Calibri"/>
              <a:cs typeface="Calibri"/>
              <a:sym typeface="Calibri"/>
            </a:endParaRPr>
          </a:p>
        </p:txBody>
      </p:sp>
      <p:pic>
        <p:nvPicPr>
          <p:cNvPr descr="preencoded.png" id="23" name="Google Shape;23;p1"/>
          <p:cNvPicPr preferRelativeResize="0"/>
          <p:nvPr/>
        </p:nvPicPr>
        <p:blipFill rotWithShape="1">
          <a:blip r:embed="rId3">
            <a:alphaModFix/>
          </a:blip>
          <a:srcRect b="0" l="0" r="0" t="0"/>
          <a:stretch/>
        </p:blipFill>
        <p:spPr>
          <a:xfrm>
            <a:off x="6903720" y="1572768"/>
            <a:ext cx="1691640" cy="1691640"/>
          </a:xfrm>
          <a:prstGeom prst="rect">
            <a:avLst/>
          </a:prstGeom>
          <a:noFill/>
          <a:ln>
            <a:noFill/>
          </a:ln>
        </p:spPr>
      </p:pic>
      <p:sp>
        <p:nvSpPr>
          <p:cNvPr id="24" name="Google Shape;24;p1"/>
          <p:cNvSpPr/>
          <p:nvPr/>
        </p:nvSpPr>
        <p:spPr>
          <a:xfrm>
            <a:off x="6537960" y="3346704"/>
            <a:ext cx="24231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Temidayo Afonja</a:t>
            </a:r>
            <a:endParaRPr sz="1500">
              <a:solidFill>
                <a:schemeClr val="dk1"/>
              </a:solidFill>
              <a:latin typeface="Calibri"/>
              <a:ea typeface="Calibri"/>
              <a:cs typeface="Calibri"/>
              <a:sym typeface="Calibri"/>
            </a:endParaRPr>
          </a:p>
        </p:txBody>
      </p:sp>
      <p:sp>
        <p:nvSpPr>
          <p:cNvPr id="25" name="Google Shape;25;p1"/>
          <p:cNvSpPr/>
          <p:nvPr/>
        </p:nvSpPr>
        <p:spPr>
          <a:xfrm>
            <a:off x="6446520" y="3602736"/>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Founder, The Density Group</a:t>
            </a:r>
            <a:endParaRPr sz="860">
              <a:solidFill>
                <a:schemeClr val="dk1"/>
              </a:solidFill>
              <a:latin typeface="Calibri"/>
              <a:ea typeface="Calibri"/>
              <a:cs typeface="Calibri"/>
              <a:sym typeface="Calibri"/>
            </a:endParaRPr>
          </a:p>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Author, The Capability Audit</a:t>
            </a:r>
            <a:endParaRPr sz="860">
              <a:solidFill>
                <a:schemeClr val="dk1"/>
              </a:solidFill>
              <a:latin typeface="Calibri"/>
              <a:ea typeface="Calibri"/>
              <a:cs typeface="Calibri"/>
              <a:sym typeface="Calibri"/>
            </a:endParaRPr>
          </a:p>
        </p:txBody>
      </p:sp>
      <p:sp>
        <p:nvSpPr>
          <p:cNvPr id="26" name="Google Shape;26;p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7" name="Google Shape;27;p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a:t>
            </a:r>
            <a:endParaRPr sz="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 name="Shape 32"/>
        <p:cNvGrpSpPr/>
        <p:nvPr/>
      </p:nvGrpSpPr>
      <p:grpSpPr>
        <a:xfrm>
          <a:off x="0" y="0"/>
          <a:ext cx="0" cy="0"/>
          <a:chOff x="0" y="0"/>
          <a:chExt cx="0" cy="0"/>
        </a:xfrm>
      </p:grpSpPr>
      <p:sp>
        <p:nvSpPr>
          <p:cNvPr id="33" name="Google Shape;33;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REFRAME</a:t>
            </a:r>
            <a:endParaRPr sz="950">
              <a:solidFill>
                <a:schemeClr val="dk1"/>
              </a:solidFill>
              <a:latin typeface="Calibri"/>
              <a:ea typeface="Calibri"/>
              <a:cs typeface="Calibri"/>
              <a:sym typeface="Calibri"/>
            </a:endParaRPr>
          </a:p>
        </p:txBody>
      </p:sp>
      <p:sp>
        <p:nvSpPr>
          <p:cNvPr id="34" name="Google Shape;34;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The question underneath the question</a:t>
            </a:r>
            <a:endParaRPr sz="2800">
              <a:solidFill>
                <a:schemeClr val="dk1"/>
              </a:solidFill>
              <a:latin typeface="Calibri"/>
              <a:ea typeface="Calibri"/>
              <a:cs typeface="Calibri"/>
              <a:sym typeface="Calibri"/>
            </a:endParaRPr>
          </a:p>
        </p:txBody>
      </p:sp>
      <p:sp>
        <p:nvSpPr>
          <p:cNvPr id="35" name="Google Shape;35;p2"/>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 fair question, and a reading that sits upstream of it.</a:t>
            </a:r>
            <a:endParaRPr sz="1150">
              <a:solidFill>
                <a:schemeClr val="dk1"/>
              </a:solidFill>
              <a:latin typeface="Calibri"/>
              <a:ea typeface="Calibri"/>
              <a:cs typeface="Calibri"/>
              <a:sym typeface="Calibri"/>
            </a:endParaRPr>
          </a:p>
        </p:txBody>
      </p:sp>
      <p:sp>
        <p:nvSpPr>
          <p:cNvPr id="36" name="Google Shape;36;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WHAT YOU CAME IN ASKING</a:t>
            </a:r>
            <a:endParaRPr sz="820">
              <a:solidFill>
                <a:schemeClr val="dk1"/>
              </a:solidFill>
              <a:latin typeface="Calibri"/>
              <a:ea typeface="Calibri"/>
              <a:cs typeface="Calibri"/>
              <a:sym typeface="Calibri"/>
            </a:endParaRPr>
          </a:p>
        </p:txBody>
      </p:sp>
      <p:sp>
        <p:nvSpPr>
          <p:cNvPr id="38" name="Google Shape;38;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“Should I stay in this role,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or should I go?”</a:t>
            </a:r>
            <a:endParaRPr sz="1800">
              <a:solidFill>
                <a:schemeClr val="dk1"/>
              </a:solidFill>
              <a:latin typeface="Calibri"/>
              <a:ea typeface="Calibri"/>
              <a:cs typeface="Calibri"/>
              <a:sym typeface="Calibri"/>
            </a:endParaRPr>
          </a:p>
        </p:txBody>
      </p:sp>
      <p:sp>
        <p:nvSpPr>
          <p:cNvPr id="39" name="Google Shape;39;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WHAT YOU NEED TO READ FIRST</a:t>
            </a:r>
            <a:endParaRPr sz="820">
              <a:solidFill>
                <a:schemeClr val="dk1"/>
              </a:solidFill>
              <a:latin typeface="Calibri"/>
              <a:ea typeface="Calibri"/>
              <a:cs typeface="Calibri"/>
              <a:sym typeface="Calibri"/>
            </a:endParaRPr>
          </a:p>
        </p:txBody>
      </p:sp>
      <p:sp>
        <p:nvSpPr>
          <p:cNvPr id="41" name="Google Shape;41;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“Is this work still building me, and what would still travel if the context changed?”</a:t>
            </a:r>
            <a:endParaRPr sz="1500">
              <a:solidFill>
                <a:schemeClr val="dk1"/>
              </a:solidFill>
              <a:latin typeface="Calibri"/>
              <a:ea typeface="Calibri"/>
              <a:cs typeface="Calibri"/>
              <a:sym typeface="Calibri"/>
            </a:endParaRPr>
          </a:p>
        </p:txBody>
      </p:sp>
      <p:sp>
        <p:nvSpPr>
          <p:cNvPr id="42" name="Google Shape;42;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first question is yours alone. The second sits upstream of it, and this session can read it more rigorously.</a:t>
            </a:r>
            <a:endParaRPr sz="1250">
              <a:solidFill>
                <a:schemeClr val="dk1"/>
              </a:solidFill>
              <a:latin typeface="Calibri"/>
              <a:ea typeface="Calibri"/>
              <a:cs typeface="Calibri"/>
              <a:sym typeface="Calibri"/>
            </a:endParaRPr>
          </a:p>
        </p:txBody>
      </p:sp>
      <p:sp>
        <p:nvSpPr>
          <p:cNvPr id="43" name="Google Shape;43;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4" name="Google Shape;44;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a:t>
            </a:r>
            <a:endParaRPr sz="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BOUNDARY</a:t>
            </a:r>
            <a:endParaRPr sz="950">
              <a:solidFill>
                <a:schemeClr val="dk1"/>
              </a:solidFill>
              <a:latin typeface="Calibri"/>
              <a:ea typeface="Calibri"/>
              <a:cs typeface="Calibri"/>
              <a:sym typeface="Calibri"/>
            </a:endParaRPr>
          </a:p>
        </p:txBody>
      </p:sp>
      <p:sp>
        <p:nvSpPr>
          <p:cNvPr id="51" name="Google Shape;51;p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What this read will and will not do</a:t>
            </a:r>
            <a:endParaRPr sz="2700">
              <a:solidFill>
                <a:schemeClr val="dk1"/>
              </a:solidFill>
              <a:latin typeface="Calibri"/>
              <a:ea typeface="Calibri"/>
              <a:cs typeface="Calibri"/>
              <a:sym typeface="Calibri"/>
            </a:endParaRPr>
          </a:p>
        </p:txBody>
      </p:sp>
      <p:sp>
        <p:nvSpPr>
          <p:cNvPr id="52" name="Google Shape;52;p3"/>
          <p:cNvSpPr/>
          <p:nvPr/>
        </p:nvSpPr>
        <p:spPr>
          <a:xfrm>
            <a:off x="566928" y="1371600"/>
            <a:ext cx="8010144" cy="47548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3"/>
          <p:cNvSpPr/>
          <p:nvPr/>
        </p:nvSpPr>
        <p:spPr>
          <a:xfrm>
            <a:off x="804672" y="1371600"/>
            <a:ext cx="7534656"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700"/>
              <a:buFont typeface="Cormorant Garamond"/>
              <a:buNone/>
            </a:pPr>
            <a:r>
              <a:rPr b="1" lang="en-US" sz="1700">
                <a:solidFill>
                  <a:srgbClr val="F5F0E8"/>
                </a:solidFill>
                <a:latin typeface="Cormorant Garamond"/>
                <a:ea typeface="Cormorant Garamond"/>
                <a:cs typeface="Cormorant Garamond"/>
                <a:sym typeface="Cormorant Garamond"/>
              </a:rPr>
              <a:t>This read will not tell you to stay or leave.</a:t>
            </a:r>
            <a:endParaRPr sz="1700">
              <a:solidFill>
                <a:schemeClr val="dk1"/>
              </a:solidFill>
              <a:latin typeface="Calibri"/>
              <a:ea typeface="Calibri"/>
              <a:cs typeface="Calibri"/>
              <a:sym typeface="Calibri"/>
            </a:endParaRPr>
          </a:p>
        </p:txBody>
      </p:sp>
      <p:sp>
        <p:nvSpPr>
          <p:cNvPr id="54" name="Google Shape;54;p3"/>
          <p:cNvSpPr/>
          <p:nvPr/>
        </p:nvSpPr>
        <p:spPr>
          <a:xfrm>
            <a:off x="566928" y="2011680"/>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a:t>
            </a:r>
            <a:endParaRPr sz="840">
              <a:solidFill>
                <a:schemeClr val="dk1"/>
              </a:solidFill>
              <a:latin typeface="Calibri"/>
              <a:ea typeface="Calibri"/>
              <a:cs typeface="Calibri"/>
              <a:sym typeface="Calibri"/>
            </a:endParaRPr>
          </a:p>
        </p:txBody>
      </p:sp>
      <p:sp>
        <p:nvSpPr>
          <p:cNvPr id="55" name="Google Shape;55;p3"/>
          <p:cNvSpPr/>
          <p:nvPr/>
        </p:nvSpPr>
        <p:spPr>
          <a:xfrm>
            <a:off x="2304288" y="1975104"/>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Give you a defensible reading of your current position and one category of move your evidence supports testing.</a:t>
            </a:r>
            <a:endParaRPr sz="1140">
              <a:solidFill>
                <a:schemeClr val="dk1"/>
              </a:solidFill>
              <a:latin typeface="Calibri"/>
              <a:ea typeface="Calibri"/>
              <a:cs typeface="Calibri"/>
              <a:sym typeface="Calibri"/>
            </a:endParaRPr>
          </a:p>
        </p:txBody>
      </p:sp>
      <p:sp>
        <p:nvSpPr>
          <p:cNvPr id="56" name="Google Shape;56;p3"/>
          <p:cNvSpPr/>
          <p:nvPr/>
        </p:nvSpPr>
        <p:spPr>
          <a:xfrm>
            <a:off x="566928" y="2615184"/>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 NOT</a:t>
            </a:r>
            <a:endParaRPr sz="840">
              <a:solidFill>
                <a:schemeClr val="dk1"/>
              </a:solidFill>
              <a:latin typeface="Calibri"/>
              <a:ea typeface="Calibri"/>
              <a:cs typeface="Calibri"/>
              <a:sym typeface="Calibri"/>
            </a:endParaRPr>
          </a:p>
        </p:txBody>
      </p:sp>
      <p:sp>
        <p:nvSpPr>
          <p:cNvPr id="57" name="Google Shape;57;p3"/>
          <p:cNvSpPr/>
          <p:nvPr/>
        </p:nvSpPr>
        <p:spPr>
          <a:xfrm>
            <a:off x="2304288" y="2578608"/>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Predict layoffs, diagnose your employer, or make an employment decision for you.</a:t>
            </a:r>
            <a:endParaRPr sz="1140">
              <a:solidFill>
                <a:schemeClr val="dk1"/>
              </a:solidFill>
              <a:latin typeface="Calibri"/>
              <a:ea typeface="Calibri"/>
              <a:cs typeface="Calibri"/>
              <a:sym typeface="Calibri"/>
            </a:endParaRPr>
          </a:p>
        </p:txBody>
      </p:sp>
      <p:sp>
        <p:nvSpPr>
          <p:cNvPr id="58" name="Google Shape;58;p3"/>
          <p:cNvSpPr/>
          <p:nvPr/>
        </p:nvSpPr>
        <p:spPr>
          <a:xfrm>
            <a:off x="566928" y="3218688"/>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YOUR SCORES</a:t>
            </a:r>
            <a:endParaRPr sz="840">
              <a:solidFill>
                <a:schemeClr val="dk1"/>
              </a:solidFill>
              <a:latin typeface="Calibri"/>
              <a:ea typeface="Calibri"/>
              <a:cs typeface="Calibri"/>
              <a:sym typeface="Calibri"/>
            </a:endParaRPr>
          </a:p>
        </p:txBody>
      </p:sp>
      <p:sp>
        <p:nvSpPr>
          <p:cNvPr id="59" name="Google Shape;59;p3"/>
          <p:cNvSpPr/>
          <p:nvPr/>
        </p:nvSpPr>
        <p:spPr>
          <a:xfrm>
            <a:off x="2304288" y="3182112"/>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Stay private. Nothing is submitted, collected or shared at any point.</a:t>
            </a:r>
            <a:endParaRPr sz="1140">
              <a:solidFill>
                <a:schemeClr val="dk1"/>
              </a:solidFill>
              <a:latin typeface="Calibri"/>
              <a:ea typeface="Calibri"/>
              <a:cs typeface="Calibri"/>
              <a:sym typeface="Calibri"/>
            </a:endParaRPr>
          </a:p>
        </p:txBody>
      </p:sp>
      <p:sp>
        <p:nvSpPr>
          <p:cNvPr id="60" name="Google Shape;60;p3"/>
          <p:cNvSpPr/>
          <p:nvPr/>
        </p:nvSpPr>
        <p:spPr>
          <a:xfrm>
            <a:off x="566928" y="3822192"/>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THE RECORDING</a:t>
            </a:r>
            <a:endParaRPr sz="840">
              <a:solidFill>
                <a:schemeClr val="dk1"/>
              </a:solidFill>
              <a:latin typeface="Calibri"/>
              <a:ea typeface="Calibri"/>
              <a:cs typeface="Calibri"/>
              <a:sym typeface="Calibri"/>
            </a:endParaRPr>
          </a:p>
        </p:txBody>
      </p:sp>
      <p:sp>
        <p:nvSpPr>
          <p:cNvPr id="61" name="Google Shape;61;p3"/>
          <p:cNvSpPr/>
          <p:nvPr/>
        </p:nvSpPr>
        <p:spPr>
          <a:xfrm>
            <a:off x="2304288" y="3785616"/>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teaching runs to minute 50 and is recorded. The last ten minutes are live questions and are not recorded.</a:t>
            </a:r>
            <a:endParaRPr sz="1140">
              <a:solidFill>
                <a:schemeClr val="dk1"/>
              </a:solidFill>
              <a:latin typeface="Calibri"/>
              <a:ea typeface="Calibri"/>
              <a:cs typeface="Calibri"/>
              <a:sym typeface="Calibri"/>
            </a:endParaRPr>
          </a:p>
        </p:txBody>
      </p:sp>
      <p:sp>
        <p:nvSpPr>
          <p:cNvPr id="62" name="Google Shape;62;p3"/>
          <p:cNvSpPr/>
          <p:nvPr/>
        </p:nvSpPr>
        <p:spPr>
          <a:xfrm>
            <a:off x="566928" y="449884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39"/>
              <a:buFont typeface="DM Sans"/>
              <a:buNone/>
            </a:pPr>
            <a:r>
              <a:rPr i="1" lang="en-US" sz="940">
                <a:solidFill>
                  <a:srgbClr val="5A6B84"/>
                </a:solidFill>
                <a:latin typeface="DM Sans"/>
                <a:ea typeface="DM Sans"/>
                <a:cs typeface="DM Sans"/>
                <a:sym typeface="DM Sans"/>
              </a:rPr>
              <a:t>This is not legal, medical, financial, immigration or mental-health advice.</a:t>
            </a:r>
            <a:endParaRPr sz="940">
              <a:solidFill>
                <a:schemeClr val="dk1"/>
              </a:solidFill>
              <a:latin typeface="Calibri"/>
              <a:ea typeface="Calibri"/>
              <a:cs typeface="Calibri"/>
              <a:sym typeface="Calibri"/>
            </a:endParaRPr>
          </a:p>
        </p:txBody>
      </p:sp>
      <p:sp>
        <p:nvSpPr>
          <p:cNvPr id="63" name="Google Shape;63;p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4" name="Google Shape;64;p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3</a:t>
            </a:r>
            <a:endParaRPr sz="7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9" name="Shape 69"/>
        <p:cNvGrpSpPr/>
        <p:nvPr/>
      </p:nvGrpSpPr>
      <p:grpSpPr>
        <a:xfrm>
          <a:off x="0" y="0"/>
          <a:ext cx="0" cy="0"/>
          <a:chOff x="0" y="0"/>
          <a:chExt cx="0" cy="0"/>
        </a:xfrm>
      </p:grpSpPr>
      <p:sp>
        <p:nvSpPr>
          <p:cNvPr id="70" name="Google Shape;70;p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ONE </a:t>
            </a:r>
            <a:endParaRPr sz="950">
              <a:solidFill>
                <a:schemeClr val="dk1"/>
              </a:solidFill>
              <a:latin typeface="Calibri"/>
              <a:ea typeface="Calibri"/>
              <a:cs typeface="Calibri"/>
              <a:sym typeface="Calibri"/>
            </a:endParaRPr>
          </a:p>
        </p:txBody>
      </p:sp>
      <p:sp>
        <p:nvSpPr>
          <p:cNvPr id="71" name="Google Shape;71;p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Is the work still building you?</a:t>
            </a:r>
            <a:endParaRPr sz="3400">
              <a:solidFill>
                <a:schemeClr val="dk1"/>
              </a:solidFill>
              <a:latin typeface="Calibri"/>
              <a:ea typeface="Calibri"/>
              <a:cs typeface="Calibri"/>
              <a:sym typeface="Calibri"/>
            </a:endParaRPr>
          </a:p>
        </p:txBody>
      </p:sp>
      <p:sp>
        <p:nvSpPr>
          <p:cNvPr id="72" name="Google Shape;72;p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Density.</a:t>
            </a:r>
            <a:endParaRPr sz="1150">
              <a:solidFill>
                <a:schemeClr val="dk1"/>
              </a:solidFill>
              <a:latin typeface="Calibri"/>
              <a:ea typeface="Calibri"/>
              <a:cs typeface="Calibri"/>
              <a:sym typeface="Calibri"/>
            </a:endParaRPr>
          </a:p>
        </p:txBody>
      </p:sp>
      <p:sp>
        <p:nvSpPr>
          <p:cNvPr id="73" name="Google Shape;73;p4"/>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Density reads whether this environment is still forming you. It reads your conditions, not your effort. A role can be demanding, important and exhausting and still stop building you.</a:t>
            </a:r>
            <a:endParaRPr sz="1400">
              <a:solidFill>
                <a:schemeClr val="dk1"/>
              </a:solidFill>
              <a:latin typeface="Calibri"/>
              <a:ea typeface="Calibri"/>
              <a:cs typeface="Calibri"/>
              <a:sym typeface="Calibri"/>
            </a:endParaRPr>
          </a:p>
        </p:txBody>
      </p:sp>
      <p:sp>
        <p:nvSpPr>
          <p:cNvPr id="74" name="Google Shape;74;p4"/>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sz="1200">
              <a:solidFill>
                <a:schemeClr val="dk1"/>
              </a:solidFill>
              <a:latin typeface="Calibri"/>
              <a:ea typeface="Calibri"/>
              <a:cs typeface="Calibri"/>
              <a:sym typeface="Calibri"/>
            </a:endParaRPr>
          </a:p>
        </p:txBody>
      </p:sp>
      <p:sp>
        <p:nvSpPr>
          <p:cNvPr id="76" name="Google Shape;76;p4"/>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You will score them in a moment.</a:t>
            </a:r>
            <a:endParaRPr sz="1150">
              <a:solidFill>
                <a:schemeClr val="dk1"/>
              </a:solidFill>
              <a:latin typeface="Calibri"/>
              <a:ea typeface="Calibri"/>
              <a:cs typeface="Calibri"/>
              <a:sym typeface="Calibri"/>
            </a:endParaRPr>
          </a:p>
        </p:txBody>
      </p:sp>
      <p:sp>
        <p:nvSpPr>
          <p:cNvPr id="77" name="Google Shape;77;p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78" name="Google Shape;78;p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4</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3" name="Shape 83"/>
        <p:cNvGrpSpPr/>
        <p:nvPr/>
      </p:nvGrpSpPr>
      <p:grpSpPr>
        <a:xfrm>
          <a:off x="0" y="0"/>
          <a:ext cx="0" cy="0"/>
          <a:chOff x="0" y="0"/>
          <a:chExt cx="0" cy="0"/>
        </a:xfrm>
      </p:grpSpPr>
      <p:sp>
        <p:nvSpPr>
          <p:cNvPr id="84" name="Google Shape;84;p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TWO</a:t>
            </a:r>
            <a:endParaRPr sz="950">
              <a:solidFill>
                <a:schemeClr val="dk1"/>
              </a:solidFill>
              <a:latin typeface="Calibri"/>
              <a:ea typeface="Calibri"/>
              <a:cs typeface="Calibri"/>
              <a:sym typeface="Calibri"/>
            </a:endParaRPr>
          </a:p>
        </p:txBody>
      </p:sp>
      <p:sp>
        <p:nvSpPr>
          <p:cNvPr id="85" name="Google Shape;85;p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Will what you build still travel?</a:t>
            </a:r>
            <a:endParaRPr sz="3400">
              <a:solidFill>
                <a:schemeClr val="dk1"/>
              </a:solidFill>
              <a:latin typeface="Calibri"/>
              <a:ea typeface="Calibri"/>
              <a:cs typeface="Calibri"/>
              <a:sym typeface="Calibri"/>
            </a:endParaRPr>
          </a:p>
        </p:txBody>
      </p:sp>
      <p:sp>
        <p:nvSpPr>
          <p:cNvPr id="86" name="Google Shape;86;p5"/>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Optionality.</a:t>
            </a:r>
            <a:endParaRPr sz="1150">
              <a:solidFill>
                <a:schemeClr val="dk1"/>
              </a:solidFill>
              <a:latin typeface="Calibri"/>
              <a:ea typeface="Calibri"/>
              <a:cs typeface="Calibri"/>
              <a:sym typeface="Calibri"/>
            </a:endParaRPr>
          </a:p>
        </p:txBody>
      </p:sp>
      <p:sp>
        <p:nvSpPr>
          <p:cNvPr id="87" name="Google Shape;87;p5"/>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Optionality reads whether what this work is building stays useful beyond your current context, and whether you could make it legible to someone outside your organization using evidence rather than your title.</a:t>
            </a:r>
            <a:endParaRPr sz="1400">
              <a:solidFill>
                <a:schemeClr val="dk1"/>
              </a:solidFill>
              <a:latin typeface="Calibri"/>
              <a:ea typeface="Calibri"/>
              <a:cs typeface="Calibri"/>
              <a:sym typeface="Calibri"/>
            </a:endParaRPr>
          </a:p>
        </p:txBody>
      </p:sp>
      <p:sp>
        <p:nvSpPr>
          <p:cNvPr id="88" name="Google Shape;88;p5"/>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sz="1200">
              <a:solidFill>
                <a:schemeClr val="dk1"/>
              </a:solidFill>
              <a:latin typeface="Calibri"/>
              <a:ea typeface="Calibri"/>
              <a:cs typeface="Calibri"/>
              <a:sym typeface="Calibri"/>
            </a:endParaRPr>
          </a:p>
        </p:txBody>
      </p:sp>
      <p:sp>
        <p:nvSpPr>
          <p:cNvPr id="90" name="Google Shape;90;p5"/>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Same scale, same window.</a:t>
            </a:r>
            <a:endParaRPr sz="1150">
              <a:solidFill>
                <a:schemeClr val="dk1"/>
              </a:solidFill>
              <a:latin typeface="Calibri"/>
              <a:ea typeface="Calibri"/>
              <a:cs typeface="Calibri"/>
              <a:sym typeface="Calibri"/>
            </a:endParaRPr>
          </a:p>
        </p:txBody>
      </p:sp>
      <p:sp>
        <p:nvSpPr>
          <p:cNvPr id="91" name="Google Shape;91;p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92" name="Google Shape;92;p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5</a:t>
            </a:r>
            <a:endParaRPr sz="7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 name="Shape 97"/>
        <p:cNvGrpSpPr/>
        <p:nvPr/>
      </p:nvGrpSpPr>
      <p:grpSpPr>
        <a:xfrm>
          <a:off x="0" y="0"/>
          <a:ext cx="0" cy="0"/>
          <a:chOff x="0" y="0"/>
          <a:chExt cx="0" cy="0"/>
        </a:xfrm>
      </p:grpSpPr>
      <p:sp>
        <p:nvSpPr>
          <p:cNvPr id="98" name="Google Shape;98;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99" name="Google Shape;99;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 to 3</a:t>
            </a:r>
            <a:endParaRPr sz="2400">
              <a:solidFill>
                <a:schemeClr val="dk1"/>
              </a:solidFill>
              <a:latin typeface="Calibri"/>
              <a:ea typeface="Calibri"/>
              <a:cs typeface="Calibri"/>
              <a:sym typeface="Calibri"/>
            </a:endParaRPr>
          </a:p>
        </p:txBody>
      </p:sp>
      <p:sp>
        <p:nvSpPr>
          <p:cNvPr id="100" name="Google Shape;100;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Live, silent. 1 strongly disagree to 5 strongly agree.</a:t>
            </a:r>
            <a:endParaRPr sz="1150">
              <a:solidFill>
                <a:schemeClr val="dk1"/>
              </a:solidFill>
              <a:latin typeface="Calibri"/>
              <a:ea typeface="Calibri"/>
              <a:cs typeface="Calibri"/>
              <a:sym typeface="Calibri"/>
            </a:endParaRPr>
          </a:p>
        </p:txBody>
      </p:sp>
      <p:sp>
        <p:nvSpPr>
          <p:cNvPr id="101" name="Google Shape;101;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103" name="Google Shape;103;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In the last ninety days I have been handed a problem I did not already know how to solve.</a:t>
            </a:r>
            <a:endParaRPr sz="1250">
              <a:solidFill>
                <a:schemeClr val="dk1"/>
              </a:solidFill>
              <a:latin typeface="Calibri"/>
              <a:ea typeface="Calibri"/>
              <a:cs typeface="Calibri"/>
              <a:sym typeface="Calibri"/>
            </a:endParaRPr>
          </a:p>
        </p:txBody>
      </p:sp>
      <p:sp>
        <p:nvSpPr>
          <p:cNvPr id="104" name="Google Shape;104;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5" name="Google Shape;105;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107" name="Google Shape;107;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work close enough to people who are better than me that I can watch how they think.</a:t>
            </a:r>
            <a:endParaRPr sz="1250">
              <a:solidFill>
                <a:schemeClr val="dk1"/>
              </a:solidFill>
              <a:latin typeface="Calibri"/>
              <a:ea typeface="Calibri"/>
              <a:cs typeface="Calibri"/>
              <a:sym typeface="Calibri"/>
            </a:endParaRPr>
          </a:p>
        </p:txBody>
      </p:sp>
      <p:sp>
        <p:nvSpPr>
          <p:cNvPr id="108" name="Google Shape;108;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9" name="Google Shape;109;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3</a:t>
            </a:r>
            <a:endParaRPr sz="1000">
              <a:solidFill>
                <a:schemeClr val="dk1"/>
              </a:solidFill>
              <a:latin typeface="Calibri"/>
              <a:ea typeface="Calibri"/>
              <a:cs typeface="Calibri"/>
              <a:sym typeface="Calibri"/>
            </a:endParaRPr>
          </a:p>
        </p:txBody>
      </p:sp>
      <p:sp>
        <p:nvSpPr>
          <p:cNvPr id="111" name="Google Shape;111;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work is reviewed by someone who can tell the difference between good and adequate, and who says so directly.</a:t>
            </a:r>
            <a:endParaRPr sz="1250">
              <a:solidFill>
                <a:schemeClr val="dk1"/>
              </a:solidFill>
              <a:latin typeface="Calibri"/>
              <a:ea typeface="Calibri"/>
              <a:cs typeface="Calibri"/>
              <a:sym typeface="Calibri"/>
            </a:endParaRPr>
          </a:p>
        </p:txBody>
      </p:sp>
      <p:sp>
        <p:nvSpPr>
          <p:cNvPr id="112" name="Google Shape;112;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13" name="Google Shape;113;p6"/>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14" name="Google Shape;114;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15" name="Google Shape;115;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6</a:t>
            </a:r>
            <a:endParaRPr sz="7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22" name="Google Shape;122;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4 to 6</a:t>
            </a:r>
            <a:endParaRPr sz="2400">
              <a:solidFill>
                <a:schemeClr val="dk1"/>
              </a:solidFill>
              <a:latin typeface="Calibri"/>
              <a:ea typeface="Calibri"/>
              <a:cs typeface="Calibri"/>
              <a:sym typeface="Calibri"/>
            </a:endParaRPr>
          </a:p>
        </p:txBody>
      </p:sp>
      <p:sp>
        <p:nvSpPr>
          <p:cNvPr id="123" name="Google Shape;123;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continued. Same window, same instruction.</a:t>
            </a:r>
            <a:endParaRPr sz="1150">
              <a:solidFill>
                <a:schemeClr val="dk1"/>
              </a:solidFill>
              <a:latin typeface="Calibri"/>
              <a:ea typeface="Calibri"/>
              <a:cs typeface="Calibri"/>
              <a:sym typeface="Calibri"/>
            </a:endParaRPr>
          </a:p>
        </p:txBody>
      </p:sp>
      <p:sp>
        <p:nvSpPr>
          <p:cNvPr id="124" name="Google Shape;124;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4</a:t>
            </a:r>
            <a:endParaRPr sz="1000">
              <a:solidFill>
                <a:schemeClr val="dk1"/>
              </a:solidFill>
              <a:latin typeface="Calibri"/>
              <a:ea typeface="Calibri"/>
              <a:cs typeface="Calibri"/>
              <a:sym typeface="Calibri"/>
            </a:endParaRPr>
          </a:p>
        </p:txBody>
      </p:sp>
      <p:sp>
        <p:nvSpPr>
          <p:cNvPr id="126" name="Google Shape;126;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feedback I receive changes what I do next, not just how I feel.</a:t>
            </a:r>
            <a:endParaRPr sz="1250">
              <a:solidFill>
                <a:schemeClr val="dk1"/>
              </a:solidFill>
              <a:latin typeface="Calibri"/>
              <a:ea typeface="Calibri"/>
              <a:cs typeface="Calibri"/>
              <a:sym typeface="Calibri"/>
            </a:endParaRPr>
          </a:p>
        </p:txBody>
      </p:sp>
      <p:sp>
        <p:nvSpPr>
          <p:cNvPr id="127" name="Google Shape;127;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28" name="Google Shape;128;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5</a:t>
            </a:r>
            <a:endParaRPr sz="1000">
              <a:solidFill>
                <a:schemeClr val="dk1"/>
              </a:solidFill>
              <a:latin typeface="Calibri"/>
              <a:ea typeface="Calibri"/>
              <a:cs typeface="Calibri"/>
              <a:sym typeface="Calibri"/>
            </a:endParaRPr>
          </a:p>
        </p:txBody>
      </p:sp>
      <p:sp>
        <p:nvSpPr>
          <p:cNvPr id="130" name="Google Shape;130;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regularly operate at the edge of my competence rather than the comfortable center of it.</a:t>
            </a:r>
            <a:endParaRPr sz="1250">
              <a:solidFill>
                <a:schemeClr val="dk1"/>
              </a:solidFill>
              <a:latin typeface="Calibri"/>
              <a:ea typeface="Calibri"/>
              <a:cs typeface="Calibri"/>
              <a:sym typeface="Calibri"/>
            </a:endParaRPr>
          </a:p>
        </p:txBody>
      </p:sp>
      <p:sp>
        <p:nvSpPr>
          <p:cNvPr id="131" name="Google Shape;131;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2" name="Google Shape;132;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6</a:t>
            </a:r>
            <a:endParaRPr sz="1000">
              <a:solidFill>
                <a:schemeClr val="dk1"/>
              </a:solidFill>
              <a:latin typeface="Calibri"/>
              <a:ea typeface="Calibri"/>
              <a:cs typeface="Calibri"/>
              <a:sym typeface="Calibri"/>
            </a:endParaRPr>
          </a:p>
        </p:txBody>
      </p:sp>
      <p:sp>
        <p:nvSpPr>
          <p:cNvPr id="134" name="Google Shape;134;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Looking back six months, the work I do now would have been genuinely hard for me then.</a:t>
            </a:r>
            <a:endParaRPr sz="1250">
              <a:solidFill>
                <a:schemeClr val="dk1"/>
              </a:solidFill>
              <a:latin typeface="Calibri"/>
              <a:ea typeface="Calibri"/>
              <a:cs typeface="Calibri"/>
              <a:sym typeface="Calibri"/>
            </a:endParaRPr>
          </a:p>
        </p:txBody>
      </p:sp>
      <p:sp>
        <p:nvSpPr>
          <p:cNvPr id="135" name="Google Shape;135;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6" name="Google Shape;136;p7"/>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37" name="Google Shape;137;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38" name="Google Shape;138;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7</a:t>
            </a:r>
            <a:endParaRPr sz="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45" name="Google Shape;145;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Density reading</a:t>
            </a:r>
            <a:endParaRPr sz="2800">
              <a:solidFill>
                <a:schemeClr val="dk1"/>
              </a:solidFill>
              <a:latin typeface="Calibri"/>
              <a:ea typeface="Calibri"/>
              <a:cs typeface="Calibri"/>
              <a:sym typeface="Calibri"/>
            </a:endParaRPr>
          </a:p>
        </p:txBody>
      </p:sp>
      <p:sp>
        <p:nvSpPr>
          <p:cNvPr id="146" name="Google Shape;146;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1 to 6.</a:t>
            </a:r>
            <a:endParaRPr sz="1150">
              <a:solidFill>
                <a:schemeClr val="dk1"/>
              </a:solidFill>
              <a:latin typeface="Calibri"/>
              <a:ea typeface="Calibri"/>
              <a:cs typeface="Calibri"/>
              <a:sym typeface="Calibri"/>
            </a:endParaRPr>
          </a:p>
        </p:txBody>
      </p:sp>
      <p:sp>
        <p:nvSpPr>
          <p:cNvPr id="147" name="Google Shape;147;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DENSITY TOTAL</a:t>
            </a:r>
            <a:endParaRPr sz="950">
              <a:solidFill>
                <a:schemeClr val="dk1"/>
              </a:solidFill>
              <a:latin typeface="Calibri"/>
              <a:ea typeface="Calibri"/>
              <a:cs typeface="Calibri"/>
              <a:sym typeface="Calibri"/>
            </a:endParaRPr>
          </a:p>
        </p:txBody>
      </p:sp>
      <p:sp>
        <p:nvSpPr>
          <p:cNvPr id="149" name="Google Shape;149;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150" name="Google Shape;150;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151" name="Google Shape;151;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152" name="Google Shape;152;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153" name="Google Shape;153;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54" name="Google Shape;154;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8</a:t>
            </a:r>
            <a:endParaRPr sz="7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9" name="Shape 159"/>
        <p:cNvGrpSpPr/>
        <p:nvPr/>
      </p:nvGrpSpPr>
      <p:grpSpPr>
        <a:xfrm>
          <a:off x="0" y="0"/>
          <a:ext cx="0" cy="0"/>
          <a:chOff x="0" y="0"/>
          <a:chExt cx="0" cy="0"/>
        </a:xfrm>
      </p:grpSpPr>
      <p:sp>
        <p:nvSpPr>
          <p:cNvPr id="160" name="Google Shape;160;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61" name="Google Shape;161;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7 to 9</a:t>
            </a:r>
            <a:endParaRPr sz="2400">
              <a:solidFill>
                <a:schemeClr val="dk1"/>
              </a:solidFill>
              <a:latin typeface="Calibri"/>
              <a:ea typeface="Calibri"/>
              <a:cs typeface="Calibri"/>
              <a:sym typeface="Calibri"/>
            </a:endParaRPr>
          </a:p>
        </p:txBody>
      </p:sp>
      <p:sp>
        <p:nvSpPr>
          <p:cNvPr id="162" name="Google Shape;162;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Same scale, same window.</a:t>
            </a:r>
            <a:endParaRPr sz="1150">
              <a:solidFill>
                <a:schemeClr val="dk1"/>
              </a:solidFill>
              <a:latin typeface="Calibri"/>
              <a:ea typeface="Calibri"/>
              <a:cs typeface="Calibri"/>
              <a:sym typeface="Calibri"/>
            </a:endParaRPr>
          </a:p>
        </p:txBody>
      </p:sp>
      <p:sp>
        <p:nvSpPr>
          <p:cNvPr id="163" name="Google Shape;163;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7</a:t>
            </a:r>
            <a:endParaRPr sz="1000">
              <a:solidFill>
                <a:schemeClr val="dk1"/>
              </a:solidFill>
              <a:latin typeface="Calibri"/>
              <a:ea typeface="Calibri"/>
              <a:cs typeface="Calibri"/>
              <a:sym typeface="Calibri"/>
            </a:endParaRPr>
          </a:p>
        </p:txBody>
      </p:sp>
      <p:sp>
        <p:nvSpPr>
          <p:cNvPr id="165" name="Google Shape;165;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capability I am building would be valued by an employer in a different industry.</a:t>
            </a:r>
            <a:endParaRPr sz="1250">
              <a:solidFill>
                <a:schemeClr val="dk1"/>
              </a:solidFill>
              <a:latin typeface="Calibri"/>
              <a:ea typeface="Calibri"/>
              <a:cs typeface="Calibri"/>
              <a:sym typeface="Calibri"/>
            </a:endParaRPr>
          </a:p>
        </p:txBody>
      </p:sp>
      <p:sp>
        <p:nvSpPr>
          <p:cNvPr id="166" name="Google Shape;166;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67" name="Google Shape;167;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8</a:t>
            </a:r>
            <a:endParaRPr sz="1000">
              <a:solidFill>
                <a:schemeClr val="dk1"/>
              </a:solidFill>
              <a:latin typeface="Calibri"/>
              <a:ea typeface="Calibri"/>
              <a:cs typeface="Calibri"/>
              <a:sym typeface="Calibri"/>
            </a:endParaRPr>
          </a:p>
        </p:txBody>
      </p:sp>
      <p:sp>
        <p:nvSpPr>
          <p:cNvPr id="169" name="Google Shape;169;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can describe what I do in terms of outcomes, not just my company’s internal language.</a:t>
            </a:r>
            <a:endParaRPr sz="1250">
              <a:solidFill>
                <a:schemeClr val="dk1"/>
              </a:solidFill>
              <a:latin typeface="Calibri"/>
              <a:ea typeface="Calibri"/>
              <a:cs typeface="Calibri"/>
              <a:sym typeface="Calibri"/>
            </a:endParaRPr>
          </a:p>
        </p:txBody>
      </p:sp>
      <p:sp>
        <p:nvSpPr>
          <p:cNvPr id="170" name="Google Shape;170;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1" name="Google Shape;171;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9</a:t>
            </a:r>
            <a:endParaRPr sz="1000">
              <a:solidFill>
                <a:schemeClr val="dk1"/>
              </a:solidFill>
              <a:latin typeface="Calibri"/>
              <a:ea typeface="Calibri"/>
              <a:cs typeface="Calibri"/>
              <a:sym typeface="Calibri"/>
            </a:endParaRPr>
          </a:p>
        </p:txBody>
      </p:sp>
      <p:sp>
        <p:nvSpPr>
          <p:cNvPr id="173" name="Google Shape;173;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If my role disappeared tomorrow, the capability I built would still be mine to carry.</a:t>
            </a:r>
            <a:endParaRPr sz="1250">
              <a:solidFill>
                <a:schemeClr val="dk1"/>
              </a:solidFill>
              <a:latin typeface="Calibri"/>
              <a:ea typeface="Calibri"/>
              <a:cs typeface="Calibri"/>
              <a:sym typeface="Calibri"/>
            </a:endParaRPr>
          </a:p>
        </p:txBody>
      </p:sp>
      <p:sp>
        <p:nvSpPr>
          <p:cNvPr id="174" name="Google Shape;174;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5" name="Google Shape;175;p9"/>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76" name="Google Shape;17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77" name="Google Shape;17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9</a:t>
            </a:r>
            <a:endParaRPr sz="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2" name="Shape 182"/>
        <p:cNvGrpSpPr/>
        <p:nvPr/>
      </p:nvGrpSpPr>
      <p:grpSpPr>
        <a:xfrm>
          <a:off x="0" y="0"/>
          <a:ext cx="0" cy="0"/>
          <a:chOff x="0" y="0"/>
          <a:chExt cx="0" cy="0"/>
        </a:xfrm>
      </p:grpSpPr>
      <p:sp>
        <p:nvSpPr>
          <p:cNvPr id="183" name="Google Shape;18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84" name="Google Shape;18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10 to 12</a:t>
            </a:r>
            <a:endParaRPr sz="2400">
              <a:solidFill>
                <a:schemeClr val="dk1"/>
              </a:solidFill>
              <a:latin typeface="Calibri"/>
              <a:ea typeface="Calibri"/>
              <a:cs typeface="Calibri"/>
              <a:sym typeface="Calibri"/>
            </a:endParaRPr>
          </a:p>
        </p:txBody>
      </p:sp>
      <p:sp>
        <p:nvSpPr>
          <p:cNvPr id="185" name="Google Shape;18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continued. Last block of the first pass.</a:t>
            </a:r>
            <a:endParaRPr sz="1150">
              <a:solidFill>
                <a:schemeClr val="dk1"/>
              </a:solidFill>
              <a:latin typeface="Calibri"/>
              <a:ea typeface="Calibri"/>
              <a:cs typeface="Calibri"/>
              <a:sym typeface="Calibri"/>
            </a:endParaRPr>
          </a:p>
        </p:txBody>
      </p:sp>
      <p:sp>
        <p:nvSpPr>
          <p:cNvPr id="186" name="Google Shape;18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10</a:t>
            </a:r>
            <a:endParaRPr sz="1000">
              <a:solidFill>
                <a:schemeClr val="dk1"/>
              </a:solidFill>
              <a:latin typeface="Calibri"/>
              <a:ea typeface="Calibri"/>
              <a:cs typeface="Calibri"/>
              <a:sym typeface="Calibri"/>
            </a:endParaRPr>
          </a:p>
        </p:txBody>
      </p:sp>
      <p:sp>
        <p:nvSpPr>
          <p:cNvPr id="188" name="Google Shape;18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People with the power to hire or advance me, inside or outside my company, can already see what I am good at.</a:t>
            </a:r>
            <a:endParaRPr sz="1250">
              <a:solidFill>
                <a:schemeClr val="dk1"/>
              </a:solidFill>
              <a:latin typeface="Calibri"/>
              <a:ea typeface="Calibri"/>
              <a:cs typeface="Calibri"/>
              <a:sym typeface="Calibri"/>
            </a:endParaRPr>
          </a:p>
        </p:txBody>
      </p:sp>
      <p:sp>
        <p:nvSpPr>
          <p:cNvPr id="189" name="Google Shape;18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0" name="Google Shape;19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11</a:t>
            </a:r>
            <a:endParaRPr sz="1000">
              <a:solidFill>
                <a:schemeClr val="dk1"/>
              </a:solidFill>
              <a:latin typeface="Calibri"/>
              <a:ea typeface="Calibri"/>
              <a:cs typeface="Calibri"/>
              <a:sym typeface="Calibri"/>
            </a:endParaRPr>
          </a:p>
        </p:txBody>
      </p:sp>
      <p:sp>
        <p:nvSpPr>
          <p:cNvPr id="192" name="Google Shape;19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I am learning is a transferable capability rather than a company-specific procedure.</a:t>
            </a:r>
            <a:endParaRPr sz="1250">
              <a:solidFill>
                <a:schemeClr val="dk1"/>
              </a:solidFill>
              <a:latin typeface="Calibri"/>
              <a:ea typeface="Calibri"/>
              <a:cs typeface="Calibri"/>
              <a:sym typeface="Calibri"/>
            </a:endParaRPr>
          </a:p>
        </p:txBody>
      </p:sp>
      <p:sp>
        <p:nvSpPr>
          <p:cNvPr id="193" name="Google Shape;19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4" name="Google Shape;19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12</a:t>
            </a:r>
            <a:endParaRPr sz="1000">
              <a:solidFill>
                <a:schemeClr val="dk1"/>
              </a:solidFill>
              <a:latin typeface="Calibri"/>
              <a:ea typeface="Calibri"/>
              <a:cs typeface="Calibri"/>
              <a:sym typeface="Calibri"/>
            </a:endParaRPr>
          </a:p>
        </p:txBody>
      </p:sp>
      <p:sp>
        <p:nvSpPr>
          <p:cNvPr id="196" name="Google Shape;19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could rebuild a strong position somewhere else within a year.</a:t>
            </a:r>
            <a:endParaRPr sz="1250">
              <a:solidFill>
                <a:schemeClr val="dk1"/>
              </a:solidFill>
              <a:latin typeface="Calibri"/>
              <a:ea typeface="Calibri"/>
              <a:cs typeface="Calibri"/>
              <a:sym typeface="Calibri"/>
            </a:endParaRPr>
          </a:p>
        </p:txBody>
      </p:sp>
      <p:sp>
        <p:nvSpPr>
          <p:cNvPr id="197" name="Google Shape;19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8" name="Google Shape;198;p10"/>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99" name="Google Shape;199;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00" name="Google Shape;200;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10</a:t>
            </a:r>
            <a:endParaRPr sz="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5" name="Shape 205"/>
        <p:cNvGrpSpPr/>
        <p:nvPr/>
      </p:nvGrpSpPr>
      <p:grpSpPr>
        <a:xfrm>
          <a:off x="0" y="0"/>
          <a:ext cx="0" cy="0"/>
          <a:chOff x="0" y="0"/>
          <a:chExt cx="0" cy="0"/>
        </a:xfrm>
      </p:grpSpPr>
      <p:sp>
        <p:nvSpPr>
          <p:cNvPr id="206" name="Google Shape;206;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207" name="Google Shape;207;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Optionality reading</a:t>
            </a:r>
            <a:endParaRPr sz="2800">
              <a:solidFill>
                <a:schemeClr val="dk1"/>
              </a:solidFill>
              <a:latin typeface="Calibri"/>
              <a:ea typeface="Calibri"/>
              <a:cs typeface="Calibri"/>
              <a:sym typeface="Calibri"/>
            </a:endParaRPr>
          </a:p>
        </p:txBody>
      </p:sp>
      <p:sp>
        <p:nvSpPr>
          <p:cNvPr id="208" name="Google Shape;208;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7 to 12.</a:t>
            </a:r>
            <a:endParaRPr sz="1150">
              <a:solidFill>
                <a:schemeClr val="dk1"/>
              </a:solidFill>
              <a:latin typeface="Calibri"/>
              <a:ea typeface="Calibri"/>
              <a:cs typeface="Calibri"/>
              <a:sym typeface="Calibri"/>
            </a:endParaRPr>
          </a:p>
        </p:txBody>
      </p:sp>
      <p:sp>
        <p:nvSpPr>
          <p:cNvPr id="209" name="Google Shape;209;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OPTIONALITY TOTAL</a:t>
            </a:r>
            <a:endParaRPr sz="950">
              <a:solidFill>
                <a:schemeClr val="dk1"/>
              </a:solidFill>
              <a:latin typeface="Calibri"/>
              <a:ea typeface="Calibri"/>
              <a:cs typeface="Calibri"/>
              <a:sym typeface="Calibri"/>
            </a:endParaRPr>
          </a:p>
        </p:txBody>
      </p:sp>
      <p:sp>
        <p:nvSpPr>
          <p:cNvPr id="211" name="Google Shape;211;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212" name="Google Shape;212;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213" name="Google Shape;213;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214" name="Google Shape;214;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215" name="Google Shape;215;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16" name="Google Shape;216;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11</a:t>
            </a:r>
            <a:endParaRPr sz="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1" name="Shape 221"/>
        <p:cNvGrpSpPr/>
        <p:nvPr/>
      </p:nvGrpSpPr>
      <p:grpSpPr>
        <a:xfrm>
          <a:off x="0" y="0"/>
          <a:ext cx="0" cy="0"/>
          <a:chOff x="0" y="0"/>
          <a:chExt cx="0" cy="0"/>
        </a:xfrm>
      </p:grpSpPr>
      <p:sp>
        <p:nvSpPr>
          <p:cNvPr id="222" name="Google Shape;222;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MATRIX</a:t>
            </a:r>
            <a:endParaRPr sz="950">
              <a:solidFill>
                <a:schemeClr val="dk1"/>
              </a:solidFill>
              <a:latin typeface="Calibri"/>
              <a:ea typeface="Calibri"/>
              <a:cs typeface="Calibri"/>
              <a:sym typeface="Calibri"/>
            </a:endParaRPr>
          </a:p>
        </p:txBody>
      </p:sp>
      <p:sp>
        <p:nvSpPr>
          <p:cNvPr id="223" name="Google Shape;223;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four states</a:t>
            </a:r>
            <a:endParaRPr sz="3000">
              <a:solidFill>
                <a:schemeClr val="dk1"/>
              </a:solidFill>
              <a:latin typeface="Calibri"/>
              <a:ea typeface="Calibri"/>
              <a:cs typeface="Calibri"/>
              <a:sym typeface="Calibri"/>
            </a:endParaRPr>
          </a:p>
        </p:txBody>
      </p:sp>
      <p:sp>
        <p:nvSpPr>
          <p:cNvPr id="224" name="Google Shape;224;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crossed with Optionality. Your state helps you see a form of exposure your job title cannot.</a:t>
            </a:r>
            <a:endParaRPr sz="1150">
              <a:solidFill>
                <a:schemeClr val="dk1"/>
              </a:solidFill>
              <a:latin typeface="Calibri"/>
              <a:ea typeface="Calibri"/>
              <a:cs typeface="Calibri"/>
              <a:sym typeface="Calibri"/>
            </a:endParaRPr>
          </a:p>
        </p:txBody>
      </p:sp>
      <p:sp>
        <p:nvSpPr>
          <p:cNvPr id="225" name="Google Shape;225;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2   </a:t>
            </a:r>
            <a:r>
              <a:rPr b="1" lang="en-US" sz="1000">
                <a:solidFill>
                  <a:srgbClr val="0F2347"/>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227" name="Google Shape;227;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Deep expertise fused to one context.</a:t>
            </a:r>
            <a:endParaRPr sz="1100">
              <a:solidFill>
                <a:schemeClr val="dk1"/>
              </a:solidFill>
              <a:latin typeface="Calibri"/>
              <a:ea typeface="Calibri"/>
              <a:cs typeface="Calibri"/>
              <a:sym typeface="Calibri"/>
            </a:endParaRPr>
          </a:p>
        </p:txBody>
      </p:sp>
      <p:sp>
        <p:nvSpPr>
          <p:cNvPr id="228" name="Google Shape;228;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B8C5D9"/>
                </a:solidFill>
                <a:latin typeface="Montserrat"/>
                <a:ea typeface="Montserrat"/>
                <a:cs typeface="Montserrat"/>
                <a:sym typeface="Montserrat"/>
              </a:rPr>
              <a:t>4   </a:t>
            </a:r>
            <a:r>
              <a:rPr b="1" lang="en-US" sz="1000">
                <a:solidFill>
                  <a:srgbClr val="C9A84C"/>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230" name="Google Shape;230;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lang="en-US" sz="1100">
                <a:solidFill>
                  <a:srgbClr val="B8C5D9"/>
                </a:solidFill>
                <a:latin typeface="DM Sans"/>
                <a:ea typeface="DM Sans"/>
                <a:cs typeface="DM Sans"/>
                <a:sym typeface="DM Sans"/>
              </a:rPr>
              <a:t>Deep capability that travels.</a:t>
            </a:r>
            <a:endParaRPr sz="1100">
              <a:solidFill>
                <a:schemeClr val="dk1"/>
              </a:solidFill>
              <a:latin typeface="Calibri"/>
              <a:ea typeface="Calibri"/>
              <a:cs typeface="Calibri"/>
              <a:sym typeface="Calibri"/>
            </a:endParaRPr>
          </a:p>
        </p:txBody>
      </p:sp>
      <p:sp>
        <p:nvSpPr>
          <p:cNvPr id="231" name="Google Shape;231;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1   </a:t>
            </a:r>
            <a:r>
              <a:rPr b="1" lang="en-US" sz="1000">
                <a:solidFill>
                  <a:srgbClr val="0F2347"/>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233" name="Google Shape;233;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work stopped asking more of you.</a:t>
            </a:r>
            <a:endParaRPr sz="1100">
              <a:solidFill>
                <a:schemeClr val="dk1"/>
              </a:solidFill>
              <a:latin typeface="Calibri"/>
              <a:ea typeface="Calibri"/>
              <a:cs typeface="Calibri"/>
              <a:sym typeface="Calibri"/>
            </a:endParaRPr>
          </a:p>
        </p:txBody>
      </p:sp>
      <p:sp>
        <p:nvSpPr>
          <p:cNvPr id="234" name="Google Shape;234;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3   </a:t>
            </a: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236" name="Google Shape;236;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Options on paper, not enough depth beneath.</a:t>
            </a:r>
            <a:endParaRPr sz="1100">
              <a:solidFill>
                <a:schemeClr val="dk1"/>
              </a:solidFill>
              <a:latin typeface="Calibri"/>
              <a:ea typeface="Calibri"/>
              <a:cs typeface="Calibri"/>
              <a:sym typeface="Calibri"/>
            </a:endParaRPr>
          </a:p>
        </p:txBody>
      </p:sp>
      <p:sp>
        <p:nvSpPr>
          <p:cNvPr id="237" name="Google Shape;237;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HIGH</a:t>
            </a:r>
            <a:endParaRPr sz="740">
              <a:solidFill>
                <a:schemeClr val="dk1"/>
              </a:solidFill>
              <a:latin typeface="Calibri"/>
              <a:ea typeface="Calibri"/>
              <a:cs typeface="Calibri"/>
              <a:sym typeface="Calibri"/>
            </a:endParaRPr>
          </a:p>
        </p:txBody>
      </p:sp>
      <p:sp>
        <p:nvSpPr>
          <p:cNvPr id="238" name="Google Shape;238;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LOW</a:t>
            </a:r>
            <a:endParaRPr sz="740">
              <a:solidFill>
                <a:schemeClr val="dk1"/>
              </a:solidFill>
              <a:latin typeface="Calibri"/>
              <a:ea typeface="Calibri"/>
              <a:cs typeface="Calibri"/>
              <a:sym typeface="Calibri"/>
            </a:endParaRPr>
          </a:p>
        </p:txBody>
      </p:sp>
      <p:sp>
        <p:nvSpPr>
          <p:cNvPr id="239" name="Google Shape;239;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60"/>
              <a:buFont typeface="Montserrat"/>
              <a:buNone/>
            </a:pPr>
            <a:r>
              <a:rPr b="1" lang="en-US" sz="760">
                <a:solidFill>
                  <a:srgbClr val="5A6B84"/>
                </a:solidFill>
                <a:latin typeface="Montserrat"/>
                <a:ea typeface="Montserrat"/>
                <a:cs typeface="Montserrat"/>
                <a:sym typeface="Montserrat"/>
              </a:rPr>
              <a:t>OPTIONALITY:  LOW AT LEFT   →   HIGH AT RIGHT</a:t>
            </a:r>
            <a:endParaRPr sz="760">
              <a:solidFill>
                <a:schemeClr val="dk1"/>
              </a:solidFill>
              <a:latin typeface="Calibri"/>
              <a:ea typeface="Calibri"/>
              <a:cs typeface="Calibri"/>
              <a:sym typeface="Calibri"/>
            </a:endParaRPr>
          </a:p>
        </p:txBody>
      </p:sp>
      <p:sp>
        <p:nvSpPr>
          <p:cNvPr id="240" name="Google Shape;240;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41" name="Google Shape;241;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12</a:t>
            </a:r>
            <a:endParaRPr sz="700">
              <a:solidFill>
                <a:schemeClr val="dk1"/>
              </a:solidFill>
              <a:latin typeface="Calibri"/>
              <a:ea typeface="Calibri"/>
              <a:cs typeface="Calibri"/>
              <a:sym typeface="Calibri"/>
            </a:endParaRPr>
          </a:p>
        </p:txBody>
      </p:sp>
      <p:sp>
        <p:nvSpPr>
          <p:cNvPr id="242" name="Clarifier;242;p12"/>
          <p:cNvSpPr/>
          <p:nvPr/>
        </p:nvSpPr>
        <p:spPr>
          <a:xfrm>
            <a:off x="1353312"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950">
                <a:solidFill>
                  <a:srgbClr val="5A6B84"/>
                </a:solidFill>
                <a:latin typeface="DM Sans"/>
                <a:ea typeface="DM Sans"/>
                <a:cs typeface="DM Sans"/>
                <a:sym typeface="DM Sans"/>
              </a:rPr>
              <a:t>Neither axis is moving.</a:t>
            </a:r>
            <a:endParaRPr sz="1100">
              <a:solidFill>
                <a:schemeClr val="dk1"/>
              </a:solidFill>
              <a:latin typeface="Calibri"/>
              <a:ea typeface="Calibri"/>
              <a:cs typeface="Calibri"/>
              <a:sym typeface="Calibri"/>
            </a:endParaRPr>
          </a:p>
        </p:txBody>
      </p:sp>
      <p:sp>
        <p:nvSpPr>
          <p:cNvPr id="243" name="Clarifier;243;p12"/>
          <p:cNvSpPr/>
          <p:nvPr/>
        </p:nvSpPr>
        <p:spPr>
          <a:xfrm>
            <a:off x="5074920"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950">
                <a:solidFill>
                  <a:srgbClr val="5A6B84"/>
                </a:solidFill>
                <a:latin typeface="DM Sans"/>
                <a:ea typeface="DM Sans"/>
                <a:cs typeface="DM Sans"/>
                <a:sym typeface="DM Sans"/>
              </a:rPr>
              <a:t>What you built travels. It is just not being added to.</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6" name="Shape 246"/>
        <p:cNvGrpSpPr/>
        <p:nvPr/>
      </p:nvGrpSpPr>
      <p:grpSpPr>
        <a:xfrm>
          <a:off x="0" y="0"/>
          <a:ext cx="0" cy="0"/>
          <a:chOff x="0" y="0"/>
          <a:chExt cx="0" cy="0"/>
        </a:xfrm>
      </p:grpSpPr>
      <p:sp>
        <p:nvSpPr>
          <p:cNvPr id="247" name="Google Shape;247;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FIRST PLACEMENT</a:t>
            </a:r>
            <a:endParaRPr sz="950">
              <a:solidFill>
                <a:schemeClr val="dk1"/>
              </a:solidFill>
              <a:latin typeface="Calibri"/>
              <a:ea typeface="Calibri"/>
              <a:cs typeface="Calibri"/>
              <a:sym typeface="Calibri"/>
            </a:endParaRPr>
          </a:p>
        </p:txBody>
      </p:sp>
      <p:sp>
        <p:nvSpPr>
          <p:cNvPr id="248" name="Google Shape;248;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Place yourself. Privately, and provisionally.</a:t>
            </a:r>
            <a:endParaRPr sz="2600">
              <a:solidFill>
                <a:schemeClr val="dk1"/>
              </a:solidFill>
              <a:latin typeface="Calibri"/>
              <a:ea typeface="Calibri"/>
              <a:cs typeface="Calibri"/>
              <a:sym typeface="Calibri"/>
            </a:endParaRPr>
          </a:p>
        </p:txBody>
      </p:sp>
      <p:sp>
        <p:nvSpPr>
          <p:cNvPr id="249" name="Google Shape;249;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Cross your two numbers, then rate your confidence in the placement from 1 to 5.</a:t>
            </a:r>
            <a:endParaRPr sz="1150">
              <a:solidFill>
                <a:schemeClr val="dk1"/>
              </a:solidFill>
              <a:latin typeface="Calibri"/>
              <a:ea typeface="Calibri"/>
              <a:cs typeface="Calibri"/>
              <a:sym typeface="Calibri"/>
            </a:endParaRPr>
          </a:p>
        </p:txBody>
      </p:sp>
      <p:sp>
        <p:nvSpPr>
          <p:cNvPr id="250" name="Google Shape;250;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252" name="Google Shape;252;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Cross Density and Optionality</a:t>
            </a:r>
            <a:endParaRPr sz="1300">
              <a:solidFill>
                <a:schemeClr val="dk1"/>
              </a:solidFill>
              <a:latin typeface="Calibri"/>
              <a:ea typeface="Calibri"/>
              <a:cs typeface="Calibri"/>
              <a:sym typeface="Calibri"/>
            </a:endParaRPr>
          </a:p>
        </p:txBody>
      </p:sp>
      <p:sp>
        <p:nvSpPr>
          <p:cNvPr id="253" name="Google Shape;253;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Two totals, one square. If either total sits inside 17 to 21, mark it boundary instead of picking a square.</a:t>
            </a:r>
            <a:endParaRPr sz="1100">
              <a:solidFill>
                <a:schemeClr val="dk1"/>
              </a:solidFill>
              <a:latin typeface="Calibri"/>
              <a:ea typeface="Calibri"/>
              <a:cs typeface="Calibri"/>
              <a:sym typeface="Calibri"/>
            </a:endParaRPr>
          </a:p>
        </p:txBody>
      </p:sp>
      <p:sp>
        <p:nvSpPr>
          <p:cNvPr id="254" name="Google Shape;254;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256" name="Google Shape;256;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257" name="Google Shape;257;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Write the number privately. You will compare it against your confidence after the evidence pass.</a:t>
            </a:r>
            <a:endParaRPr sz="1100">
              <a:solidFill>
                <a:schemeClr val="dk1"/>
              </a:solidFill>
              <a:latin typeface="Calibri"/>
              <a:ea typeface="Calibri"/>
              <a:cs typeface="Calibri"/>
              <a:sym typeface="Calibri"/>
            </a:endParaRPr>
          </a:p>
        </p:txBody>
      </p:sp>
      <p:sp>
        <p:nvSpPr>
          <p:cNvPr id="258" name="Google Shape;258;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260" name="Google Shape;260;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Hold it lightly</a:t>
            </a:r>
            <a:endParaRPr sz="1300">
              <a:solidFill>
                <a:schemeClr val="dk1"/>
              </a:solidFill>
              <a:latin typeface="Calibri"/>
              <a:ea typeface="Calibri"/>
              <a:cs typeface="Calibri"/>
              <a:sym typeface="Calibri"/>
            </a:endParaRPr>
          </a:p>
        </p:txBody>
      </p:sp>
      <p:sp>
        <p:nvSpPr>
          <p:cNvPr id="261" name="Google Shape;261;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This is a first read, not a finding. State is not identity — it reads conditions in a ninety-day window, and it moves.</a:t>
            </a:r>
            <a:endParaRPr sz="1100">
              <a:solidFill>
                <a:schemeClr val="dk1"/>
              </a:solidFill>
              <a:latin typeface="Calibri"/>
              <a:ea typeface="Calibri"/>
              <a:cs typeface="Calibri"/>
              <a:sym typeface="Calibri"/>
            </a:endParaRPr>
          </a:p>
        </p:txBody>
      </p:sp>
      <p:sp>
        <p:nvSpPr>
          <p:cNvPr id="262" name="Google Shape;262;p13"/>
          <p:cNvSpPr/>
          <p:nvPr/>
        </p:nvSpPr>
        <p:spPr>
          <a:xfrm>
            <a:off x="566928" y="4005072"/>
            <a:ext cx="8010144" cy="51206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3"/>
          <p:cNvSpPr/>
          <p:nvPr/>
        </p:nvSpPr>
        <p:spPr>
          <a:xfrm>
            <a:off x="804672" y="400507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No one is asked to share a square. Nothing is collected.</a:t>
            </a:r>
            <a:endParaRPr sz="1150">
              <a:solidFill>
                <a:schemeClr val="dk1"/>
              </a:solidFill>
              <a:latin typeface="Calibri"/>
              <a:ea typeface="Calibri"/>
              <a:cs typeface="Calibri"/>
              <a:sym typeface="Calibri"/>
            </a:endParaRPr>
          </a:p>
        </p:txBody>
      </p:sp>
      <p:sp>
        <p:nvSpPr>
          <p:cNvPr id="264" name="Google Shape;264;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65" name="Google Shape;265;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13</a:t>
            </a:r>
            <a:endParaRPr sz="7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0" name="Shape 270"/>
        <p:cNvGrpSpPr/>
        <p:nvPr/>
      </p:nvGrpSpPr>
      <p:grpSpPr>
        <a:xfrm>
          <a:off x="0" y="0"/>
          <a:ext cx="0" cy="0"/>
          <a:chOff x="0" y="0"/>
          <a:chExt cx="0" cy="0"/>
        </a:xfrm>
      </p:grpSpPr>
      <p:sp>
        <p:nvSpPr>
          <p:cNvPr id="271" name="Google Shape;271;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STANDARD</a:t>
            </a:r>
            <a:endParaRPr sz="950">
              <a:solidFill>
                <a:schemeClr val="dk1"/>
              </a:solidFill>
              <a:latin typeface="Calibri"/>
              <a:ea typeface="Calibri"/>
              <a:cs typeface="Calibri"/>
              <a:sym typeface="Calibri"/>
            </a:endParaRPr>
          </a:p>
        </p:txBody>
      </p:sp>
      <p:sp>
        <p:nvSpPr>
          <p:cNvPr id="272" name="Google Shape;272;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evidence protocol</a:t>
            </a:r>
            <a:endParaRPr sz="3000">
              <a:solidFill>
                <a:schemeClr val="dk1"/>
              </a:solidFill>
              <a:latin typeface="Calibri"/>
              <a:ea typeface="Calibri"/>
              <a:cs typeface="Calibri"/>
              <a:sym typeface="Calibri"/>
            </a:endParaRPr>
          </a:p>
        </p:txBody>
      </p:sp>
      <p:sp>
        <p:nvSpPr>
          <p:cNvPr id="273" name="Google Shape;273;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is what your second reading has to survive.</a:t>
            </a:r>
            <a:endParaRPr sz="1150">
              <a:solidFill>
                <a:schemeClr val="dk1"/>
              </a:solidFill>
              <a:latin typeface="Calibri"/>
              <a:ea typeface="Calibri"/>
              <a:cs typeface="Calibri"/>
              <a:sym typeface="Calibri"/>
            </a:endParaRPr>
          </a:p>
        </p:txBody>
      </p:sp>
      <p:sp>
        <p:nvSpPr>
          <p:cNvPr id="274" name="Google Shape;274;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sz="1600">
              <a:solidFill>
                <a:schemeClr val="dk1"/>
              </a:solidFill>
              <a:latin typeface="Calibri"/>
              <a:ea typeface="Calibri"/>
              <a:cs typeface="Calibri"/>
              <a:sym typeface="Calibri"/>
            </a:endParaRPr>
          </a:p>
        </p:txBody>
      </p:sp>
      <p:sp>
        <p:nvSpPr>
          <p:cNvPr id="276" name="Google Shape;276;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4 OR 5</a:t>
            </a:r>
            <a:endParaRPr sz="900">
              <a:solidFill>
                <a:schemeClr val="dk1"/>
              </a:solidFill>
              <a:latin typeface="Calibri"/>
              <a:ea typeface="Calibri"/>
              <a:cs typeface="Calibri"/>
              <a:sym typeface="Calibri"/>
            </a:endParaRPr>
          </a:p>
        </p:txBody>
      </p:sp>
      <p:sp>
        <p:nvSpPr>
          <p:cNvPr id="278" name="Google Shape;278;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At least one clear positive instance from within the window.</a:t>
            </a:r>
            <a:endParaRPr sz="1100">
              <a:solidFill>
                <a:schemeClr val="dk1"/>
              </a:solidFill>
              <a:latin typeface="Calibri"/>
              <a:ea typeface="Calibri"/>
              <a:cs typeface="Calibri"/>
              <a:sym typeface="Calibri"/>
            </a:endParaRPr>
          </a:p>
        </p:txBody>
      </p:sp>
      <p:sp>
        <p:nvSpPr>
          <p:cNvPr id="279" name="Google Shape;279;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3</a:t>
            </a:r>
            <a:endParaRPr sz="900">
              <a:solidFill>
                <a:schemeClr val="dk1"/>
              </a:solidFill>
              <a:latin typeface="Calibri"/>
              <a:ea typeface="Calibri"/>
              <a:cs typeface="Calibri"/>
              <a:sym typeface="Calibri"/>
            </a:endParaRPr>
          </a:p>
        </p:txBody>
      </p:sp>
      <p:sp>
        <p:nvSpPr>
          <p:cNvPr id="281" name="Google Shape;281;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The mixed or inconsistent pattern. A 3 is a reading, not an absence of one.</a:t>
            </a:r>
            <a:endParaRPr sz="1100">
              <a:solidFill>
                <a:schemeClr val="dk1"/>
              </a:solidFill>
              <a:latin typeface="Calibri"/>
              <a:ea typeface="Calibri"/>
              <a:cs typeface="Calibri"/>
              <a:sym typeface="Calibri"/>
            </a:endParaRPr>
          </a:p>
        </p:txBody>
      </p:sp>
      <p:sp>
        <p:nvSpPr>
          <p:cNvPr id="282" name="Google Shape;282;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1 OR 2</a:t>
            </a:r>
            <a:endParaRPr sz="900">
              <a:solidFill>
                <a:schemeClr val="dk1"/>
              </a:solidFill>
              <a:latin typeface="Calibri"/>
              <a:ea typeface="Calibri"/>
              <a:cs typeface="Calibri"/>
              <a:sym typeface="Calibri"/>
            </a:endParaRPr>
          </a:p>
        </p:txBody>
      </p:sp>
      <p:sp>
        <p:nvSpPr>
          <p:cNvPr id="284" name="Google Shape;284;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What repeatedly happened instead, a counterexample, or no qualifying instance in the window.</a:t>
            </a:r>
            <a:endParaRPr sz="1100">
              <a:solidFill>
                <a:schemeClr val="dk1"/>
              </a:solidFill>
              <a:latin typeface="Calibri"/>
              <a:ea typeface="Calibri"/>
              <a:cs typeface="Calibri"/>
              <a:sym typeface="Calibri"/>
            </a:endParaRPr>
          </a:p>
        </p:txBody>
      </p:sp>
      <p:sp>
        <p:nvSpPr>
          <p:cNvPr id="285" name="Google Shape;285;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A  ?</a:t>
            </a:r>
            <a:endParaRPr sz="900">
              <a:solidFill>
                <a:schemeClr val="dk1"/>
              </a:solidFill>
              <a:latin typeface="Calibri"/>
              <a:ea typeface="Calibri"/>
              <a:cs typeface="Calibri"/>
              <a:sym typeface="Calibri"/>
            </a:endParaRPr>
          </a:p>
        </p:txBody>
      </p:sp>
      <p:sp>
        <p:nvSpPr>
          <p:cNvPr id="287" name="Google Shape;287;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Cannot support it either way? Write your most defensible number and add one question mark: 3?, 4?, 2?</a:t>
            </a:r>
            <a:endParaRPr sz="1100">
              <a:solidFill>
                <a:schemeClr val="dk1"/>
              </a:solidFill>
              <a:latin typeface="Calibri"/>
              <a:ea typeface="Calibri"/>
              <a:cs typeface="Calibri"/>
              <a:sym typeface="Calibri"/>
            </a:endParaRPr>
          </a:p>
        </p:txBody>
      </p:sp>
      <p:sp>
        <p:nvSpPr>
          <p:cNvPr id="288" name="Google Shape;288;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A 3 means mixed. A question mark means unsupported.</a:t>
            </a:r>
            <a:endParaRPr sz="1150">
              <a:solidFill>
                <a:schemeClr val="dk1"/>
              </a:solidFill>
              <a:latin typeface="Calibri"/>
              <a:ea typeface="Calibri"/>
              <a:cs typeface="Calibri"/>
              <a:sym typeface="Calibri"/>
            </a:endParaRPr>
          </a:p>
        </p:txBody>
      </p:sp>
      <p:sp>
        <p:nvSpPr>
          <p:cNvPr id="289" name="Google Shape;289;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90" name="Google Shape;290;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14</a:t>
            </a:r>
            <a:endParaRPr sz="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5" name="Shape 295"/>
        <p:cNvGrpSpPr/>
        <p:nvPr/>
      </p:nvGrpSpPr>
      <p:grpSpPr>
        <a:xfrm>
          <a:off x="0" y="0"/>
          <a:ext cx="0" cy="0"/>
          <a:chOff x="0" y="0"/>
          <a:chExt cx="0" cy="0"/>
        </a:xfrm>
      </p:grpSpPr>
      <p:sp>
        <p:nvSpPr>
          <p:cNvPr id="296" name="Google Shape;296;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CALIBRATION</a:t>
            </a:r>
            <a:endParaRPr sz="950">
              <a:solidFill>
                <a:schemeClr val="dk1"/>
              </a:solidFill>
              <a:latin typeface="Calibri"/>
              <a:ea typeface="Calibri"/>
              <a:cs typeface="Calibri"/>
              <a:sym typeface="Calibri"/>
            </a:endParaRPr>
          </a:p>
        </p:txBody>
      </p:sp>
      <p:sp>
        <p:nvSpPr>
          <p:cNvPr id="297" name="Google Shape;297;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Three ways a self-score goes wrong</a:t>
            </a:r>
            <a:endParaRPr sz="2800">
              <a:solidFill>
                <a:schemeClr val="dk1"/>
              </a:solidFill>
              <a:latin typeface="Calibri"/>
              <a:ea typeface="Calibri"/>
              <a:cs typeface="Calibri"/>
              <a:sym typeface="Calibri"/>
            </a:endParaRPr>
          </a:p>
        </p:txBody>
      </p:sp>
      <p:sp>
        <p:nvSpPr>
          <p:cNvPr id="298" name="Google Shape;298;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Run all three against your first numbers before you rescore.</a:t>
            </a:r>
            <a:endParaRPr sz="1150">
              <a:solidFill>
                <a:schemeClr val="dk1"/>
              </a:solidFill>
              <a:latin typeface="Calibri"/>
              <a:ea typeface="Calibri"/>
              <a:cs typeface="Calibri"/>
              <a:sym typeface="Calibri"/>
            </a:endParaRPr>
          </a:p>
        </p:txBody>
      </p:sp>
      <p:sp>
        <p:nvSpPr>
          <p:cNvPr id="299" name="Google Shape;299;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1.  SCORING THE INTENDED LIFE</a:t>
            </a:r>
            <a:endParaRPr sz="860">
              <a:solidFill>
                <a:schemeClr val="dk1"/>
              </a:solidFill>
              <a:latin typeface="Calibri"/>
              <a:ea typeface="Calibri"/>
              <a:cs typeface="Calibri"/>
              <a:sym typeface="Calibri"/>
            </a:endParaRPr>
          </a:p>
        </p:txBody>
      </p:sp>
      <p:sp>
        <p:nvSpPr>
          <p:cNvPr id="302" name="Google Shape;302;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“My rotation was approved last month. Statement 1 gets a 4.”</a:t>
            </a:r>
            <a:endParaRPr sz="1040">
              <a:solidFill>
                <a:schemeClr val="dk1"/>
              </a:solidFill>
              <a:latin typeface="Calibri"/>
              <a:ea typeface="Calibri"/>
              <a:cs typeface="Calibri"/>
              <a:sym typeface="Calibri"/>
            </a:endParaRPr>
          </a:p>
        </p:txBody>
      </p:sp>
      <p:sp>
        <p:nvSpPr>
          <p:cNvPr id="303" name="Google Shape;303;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The window is the last ninety days of work that happened — not work that was approved, promised or planned.</a:t>
            </a:r>
            <a:endParaRPr sz="1060">
              <a:solidFill>
                <a:schemeClr val="dk1"/>
              </a:solidFill>
              <a:latin typeface="Calibri"/>
              <a:ea typeface="Calibri"/>
              <a:cs typeface="Calibri"/>
              <a:sym typeface="Calibri"/>
            </a:endParaRPr>
          </a:p>
        </p:txBody>
      </p:sp>
      <p:sp>
        <p:nvSpPr>
          <p:cNvPr id="304" name="Google Shape;304;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2.  CONFUSING VALUED WITH FORMED</a:t>
            </a:r>
            <a:endParaRPr sz="860">
              <a:solidFill>
                <a:schemeClr val="dk1"/>
              </a:solidFill>
              <a:latin typeface="Calibri"/>
              <a:ea typeface="Calibri"/>
              <a:cs typeface="Calibri"/>
              <a:sym typeface="Calibri"/>
            </a:endParaRPr>
          </a:p>
        </p:txBody>
      </p:sp>
      <p:sp>
        <p:nvSpPr>
          <p:cNvPr id="307" name="Google Shape;307;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VPs ask for my read before anything ships. Statement 3 gets a 5.”</a:t>
            </a:r>
            <a:endParaRPr sz="1040">
              <a:solidFill>
                <a:schemeClr val="dk1"/>
              </a:solidFill>
              <a:latin typeface="Calibri"/>
              <a:ea typeface="Calibri"/>
              <a:cs typeface="Calibri"/>
              <a:sym typeface="Calibri"/>
            </a:endParaRPr>
          </a:p>
        </p:txBody>
      </p:sp>
      <p:sp>
        <p:nvSpPr>
          <p:cNvPr id="308" name="Google Shape;308;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Being relied on is real. It is not the same as being developed.</a:t>
            </a:r>
            <a:endParaRPr sz="1060">
              <a:solidFill>
                <a:schemeClr val="dk1"/>
              </a:solidFill>
              <a:latin typeface="Calibri"/>
              <a:ea typeface="Calibri"/>
              <a:cs typeface="Calibri"/>
              <a:sym typeface="Calibri"/>
            </a:endParaRPr>
          </a:p>
        </p:txBody>
      </p:sp>
      <p:sp>
        <p:nvSpPr>
          <p:cNvPr id="309" name="Google Shape;309;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3.  READING LOW OPTIONALITY AS A VERDICT</a:t>
            </a:r>
            <a:endParaRPr sz="860">
              <a:solidFill>
                <a:schemeClr val="dk1"/>
              </a:solidFill>
              <a:latin typeface="Calibri"/>
              <a:ea typeface="Calibri"/>
              <a:cs typeface="Calibri"/>
              <a:sym typeface="Calibri"/>
            </a:endParaRPr>
          </a:p>
        </p:txBody>
      </p:sp>
      <p:sp>
        <p:nvSpPr>
          <p:cNvPr id="312" name="Google Shape;312;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“Statement 10 is a 2 because I am not senior enough.”</a:t>
            </a:r>
            <a:endParaRPr sz="1040">
              <a:solidFill>
                <a:schemeClr val="dk1"/>
              </a:solidFill>
              <a:latin typeface="Calibri"/>
              <a:ea typeface="Calibri"/>
              <a:cs typeface="Calibri"/>
              <a:sym typeface="Calibri"/>
            </a:endParaRPr>
          </a:p>
        </p:txBody>
      </p:sp>
      <p:sp>
        <p:nvSpPr>
          <p:cNvPr id="313" name="Google Shape;313;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sz="1060">
              <a:solidFill>
                <a:schemeClr val="dk1"/>
              </a:solidFill>
              <a:latin typeface="Calibri"/>
              <a:ea typeface="Calibri"/>
              <a:cs typeface="Calibri"/>
              <a:sym typeface="Calibri"/>
            </a:endParaRPr>
          </a:p>
        </p:txBody>
      </p:sp>
      <p:sp>
        <p:nvSpPr>
          <p:cNvPr id="314" name="Google Shape;314;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is the set. Run them, then rescore.</a:t>
            </a:r>
            <a:endParaRPr sz="1040">
              <a:solidFill>
                <a:schemeClr val="dk1"/>
              </a:solidFill>
              <a:latin typeface="Calibri"/>
              <a:ea typeface="Calibri"/>
              <a:cs typeface="Calibri"/>
              <a:sym typeface="Calibri"/>
            </a:endParaRPr>
          </a:p>
        </p:txBody>
      </p:sp>
      <p:sp>
        <p:nvSpPr>
          <p:cNvPr id="315" name="Google Shape;315;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16" name="Google Shape;316;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15</a:t>
            </a:r>
            <a:endParaRPr sz="7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1" name="Shape 321"/>
        <p:cNvGrpSpPr/>
        <p:nvPr/>
      </p:nvGrpSpPr>
      <p:grpSpPr>
        <a:xfrm>
          <a:off x="0" y="0"/>
          <a:ext cx="0" cy="0"/>
          <a:chOff x="0" y="0"/>
          <a:chExt cx="0" cy="0"/>
        </a:xfrm>
      </p:grpSpPr>
      <p:sp>
        <p:nvSpPr>
          <p:cNvPr id="322" name="Google Shape;322;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EVIDENCE-BACKED READ</a:t>
            </a:r>
            <a:endParaRPr sz="950">
              <a:solidFill>
                <a:schemeClr val="dk1"/>
              </a:solidFill>
              <a:latin typeface="Calibri"/>
              <a:ea typeface="Calibri"/>
              <a:cs typeface="Calibri"/>
              <a:sym typeface="Calibri"/>
            </a:endParaRPr>
          </a:p>
        </p:txBody>
      </p:sp>
      <p:sp>
        <p:nvSpPr>
          <p:cNvPr id="323" name="Google Shape;323;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Score all twelve again</a:t>
            </a:r>
            <a:endParaRPr sz="3000">
              <a:solidFill>
                <a:schemeClr val="dk1"/>
              </a:solidFill>
              <a:latin typeface="Calibri"/>
              <a:ea typeface="Calibri"/>
              <a:cs typeface="Calibri"/>
              <a:sym typeface="Calibri"/>
            </a:endParaRPr>
          </a:p>
        </p:txBody>
      </p:sp>
      <p:sp>
        <p:nvSpPr>
          <p:cNvPr id="324" name="Google Shape;324;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Evidence in both directions. Do not change your first number.</a:t>
            </a:r>
            <a:endParaRPr sz="1150">
              <a:solidFill>
                <a:schemeClr val="dk1"/>
              </a:solidFill>
              <a:latin typeface="Calibri"/>
              <a:ea typeface="Calibri"/>
              <a:cs typeface="Calibri"/>
              <a:sym typeface="Calibri"/>
            </a:endParaRPr>
          </a:p>
        </p:txBody>
      </p:sp>
      <p:sp>
        <p:nvSpPr>
          <p:cNvPr id="325" name="Google Shape;325;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39"/>
              <a:buFont typeface="Montserrat"/>
              <a:buNone/>
            </a:pPr>
            <a:r>
              <a:rPr b="1" lang="en-US" sz="840">
                <a:solidFill>
                  <a:srgbClr val="C9A84C"/>
                </a:solidFill>
                <a:latin typeface="Montserrat"/>
                <a:ea typeface="Montserrat"/>
                <a:cs typeface="Montserrat"/>
                <a:sym typeface="Montserrat"/>
              </a:rPr>
              <a:t>THE PROTOCOL, IN SHORT</a:t>
            </a:r>
            <a:endParaRPr sz="840">
              <a:solidFill>
                <a:schemeClr val="dk1"/>
              </a:solidFill>
              <a:latin typeface="Calibri"/>
              <a:ea typeface="Calibri"/>
              <a:cs typeface="Calibri"/>
              <a:sym typeface="Calibri"/>
            </a:endParaRPr>
          </a:p>
        </p:txBody>
      </p:sp>
      <p:sp>
        <p:nvSpPr>
          <p:cNvPr id="327" name="Google Shape;327;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4 or 5</a:t>
            </a:r>
            <a:endParaRPr sz="950">
              <a:solidFill>
                <a:schemeClr val="dk1"/>
              </a:solidFill>
              <a:latin typeface="Calibri"/>
              <a:ea typeface="Calibri"/>
              <a:cs typeface="Calibri"/>
              <a:sym typeface="Calibri"/>
            </a:endParaRPr>
          </a:p>
        </p:txBody>
      </p:sp>
      <p:sp>
        <p:nvSpPr>
          <p:cNvPr id="328" name="Google Shape;328;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one clear positive instance</a:t>
            </a:r>
            <a:endParaRPr sz="1000">
              <a:solidFill>
                <a:schemeClr val="dk1"/>
              </a:solidFill>
              <a:latin typeface="Calibri"/>
              <a:ea typeface="Calibri"/>
              <a:cs typeface="Calibri"/>
              <a:sym typeface="Calibri"/>
            </a:endParaRPr>
          </a:p>
        </p:txBody>
      </p:sp>
      <p:sp>
        <p:nvSpPr>
          <p:cNvPr id="329" name="Google Shape;329;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330" name="Google Shape;330;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the mixed or inconsistent pattern</a:t>
            </a:r>
            <a:endParaRPr sz="1000">
              <a:solidFill>
                <a:schemeClr val="dk1"/>
              </a:solidFill>
              <a:latin typeface="Calibri"/>
              <a:ea typeface="Calibri"/>
              <a:cs typeface="Calibri"/>
              <a:sym typeface="Calibri"/>
            </a:endParaRPr>
          </a:p>
        </p:txBody>
      </p:sp>
      <p:sp>
        <p:nvSpPr>
          <p:cNvPr id="331" name="Google Shape;331;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1 or 2</a:t>
            </a:r>
            <a:endParaRPr sz="950">
              <a:solidFill>
                <a:schemeClr val="dk1"/>
              </a:solidFill>
              <a:latin typeface="Calibri"/>
              <a:ea typeface="Calibri"/>
              <a:cs typeface="Calibri"/>
              <a:sym typeface="Calibri"/>
            </a:endParaRPr>
          </a:p>
        </p:txBody>
      </p:sp>
      <p:sp>
        <p:nvSpPr>
          <p:cNvPr id="332" name="Google Shape;332;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what happened instead, or no qualifying instance</a:t>
            </a:r>
            <a:endParaRPr sz="1000">
              <a:solidFill>
                <a:schemeClr val="dk1"/>
              </a:solidFill>
              <a:latin typeface="Calibri"/>
              <a:ea typeface="Calibri"/>
              <a:cs typeface="Calibri"/>
              <a:sym typeface="Calibri"/>
            </a:endParaRPr>
          </a:p>
        </p:txBody>
      </p:sp>
      <p:sp>
        <p:nvSpPr>
          <p:cNvPr id="333" name="Google Shape;333;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a:t>
            </a:r>
            <a:endParaRPr sz="950">
              <a:solidFill>
                <a:schemeClr val="dk1"/>
              </a:solidFill>
              <a:latin typeface="Calibri"/>
              <a:ea typeface="Calibri"/>
              <a:cs typeface="Calibri"/>
              <a:sym typeface="Calibri"/>
            </a:endParaRPr>
          </a:p>
        </p:txBody>
      </p:sp>
      <p:sp>
        <p:nvSpPr>
          <p:cNvPr id="334" name="Google Shape;334;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most defensible number, marked once: 3?, 4?, 2?</a:t>
            </a:r>
            <a:endParaRPr sz="1000">
              <a:solidFill>
                <a:schemeClr val="dk1"/>
              </a:solidFill>
              <a:latin typeface="Calibri"/>
              <a:ea typeface="Calibri"/>
              <a:cs typeface="Calibri"/>
              <a:sym typeface="Calibri"/>
            </a:endParaRPr>
          </a:p>
        </p:txBody>
      </p:sp>
      <p:sp>
        <p:nvSpPr>
          <p:cNvPr id="335" name="Google Shape;335;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Density   1 · 2 · 3 · 4 · 5 · 6</a:t>
            </a:r>
            <a:endParaRPr sz="1100">
              <a:solidFill>
                <a:schemeClr val="dk1"/>
              </a:solidFill>
              <a:latin typeface="Calibri"/>
              <a:ea typeface="Calibri"/>
              <a:cs typeface="Calibri"/>
              <a:sym typeface="Calibri"/>
            </a:endParaRPr>
          </a:p>
        </p:txBody>
      </p:sp>
      <p:sp>
        <p:nvSpPr>
          <p:cNvPr id="336" name="Google Shape;336;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Optionality   7 · 8 · 9 · 10 · 11 · 12</a:t>
            </a:r>
            <a:endParaRPr sz="1100">
              <a:solidFill>
                <a:schemeClr val="dk1"/>
              </a:solidFill>
              <a:latin typeface="Calibri"/>
              <a:ea typeface="Calibri"/>
              <a:cs typeface="Calibri"/>
              <a:sym typeface="Calibri"/>
            </a:endParaRPr>
          </a:p>
        </p:txBody>
      </p:sp>
      <p:sp>
        <p:nvSpPr>
          <p:cNvPr id="337" name="Google Shape;337;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lang="en-US" sz="1150">
                <a:solidFill>
                  <a:srgbClr val="0F2347"/>
                </a:solidFill>
                <a:latin typeface="DM Sans"/>
                <a:ea typeface="DM Sans"/>
                <a:cs typeface="DM Sans"/>
                <a:sym typeface="DM Sans"/>
              </a:rPr>
              <a:t>Write the corrected number and a short evidence phrase under it. Your first number stays where it is. Phrases, not essays — twelve minutes for twelve statements.</a:t>
            </a:r>
            <a:endParaRPr sz="1150">
              <a:solidFill>
                <a:schemeClr val="dk1"/>
              </a:solidFill>
              <a:latin typeface="Calibri"/>
              <a:ea typeface="Calibri"/>
              <a:cs typeface="Calibri"/>
              <a:sym typeface="Calibri"/>
            </a:endParaRPr>
          </a:p>
        </p:txBody>
      </p:sp>
      <p:sp>
        <p:nvSpPr>
          <p:cNvPr id="339" name="Google Shape;339;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040"/>
              <a:buFont typeface="DM Sans"/>
              <a:buNone/>
            </a:pPr>
            <a:r>
              <a:rPr b="1" lang="en-US" sz="1040">
                <a:solidFill>
                  <a:srgbClr val="C1440E"/>
                </a:solidFill>
                <a:latin typeface="DM Sans"/>
                <a:ea typeface="DM Sans"/>
                <a:cs typeface="DM Sans"/>
                <a:sym typeface="DM Sans"/>
              </a:rPr>
              <a:t>Workbook pages 5 and 6.</a:t>
            </a:r>
            <a:endParaRPr sz="1040">
              <a:solidFill>
                <a:schemeClr val="dk1"/>
              </a:solidFill>
              <a:latin typeface="Calibri"/>
              <a:ea typeface="Calibri"/>
              <a:cs typeface="Calibri"/>
              <a:sym typeface="Calibri"/>
            </a:endParaRPr>
          </a:p>
        </p:txBody>
      </p:sp>
      <p:sp>
        <p:nvSpPr>
          <p:cNvPr id="340" name="Google Shape;340;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41" name="Google Shape;341;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16</a:t>
            </a:r>
            <a:endParaRPr sz="7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6" name="Shape 346"/>
        <p:cNvGrpSpPr/>
        <p:nvPr/>
      </p:nvGrpSpPr>
      <p:grpSpPr>
        <a:xfrm>
          <a:off x="0" y="0"/>
          <a:ext cx="0" cy="0"/>
          <a:chOff x="0" y="0"/>
          <a:chExt cx="0" cy="0"/>
        </a:xfrm>
      </p:grpSpPr>
      <p:sp>
        <p:nvSpPr>
          <p:cNvPr id="347" name="Google Shape;347;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48" name="Google Shape;348;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Re-total before you place again</a:t>
            </a:r>
            <a:endParaRPr sz="2800">
              <a:solidFill>
                <a:schemeClr val="dk1"/>
              </a:solidFill>
              <a:latin typeface="Calibri"/>
              <a:ea typeface="Calibri"/>
              <a:cs typeface="Calibri"/>
              <a:sym typeface="Calibri"/>
            </a:endParaRPr>
          </a:p>
        </p:txBody>
      </p:sp>
      <p:sp>
        <p:nvSpPr>
          <p:cNvPr id="349" name="Google Shape;349;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New numbers. A fresh placement, not a review of the first one.</a:t>
            </a:r>
            <a:endParaRPr sz="1150">
              <a:solidFill>
                <a:schemeClr val="dk1"/>
              </a:solidFill>
              <a:latin typeface="Calibri"/>
              <a:ea typeface="Calibri"/>
              <a:cs typeface="Calibri"/>
              <a:sym typeface="Calibri"/>
            </a:endParaRPr>
          </a:p>
        </p:txBody>
      </p:sp>
      <p:sp>
        <p:nvSpPr>
          <p:cNvPr id="350" name="Google Shape;350;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DENSITY, CORRECTED</a:t>
            </a:r>
            <a:endParaRPr sz="900">
              <a:solidFill>
                <a:schemeClr val="dk1"/>
              </a:solidFill>
              <a:latin typeface="Calibri"/>
              <a:ea typeface="Calibri"/>
              <a:cs typeface="Calibri"/>
              <a:sym typeface="Calibri"/>
            </a:endParaRPr>
          </a:p>
        </p:txBody>
      </p:sp>
      <p:sp>
        <p:nvSpPr>
          <p:cNvPr id="352" name="Google Shape;352;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3" name="Google Shape;353;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OPTIONALITY, CORRECTED</a:t>
            </a:r>
            <a:endParaRPr sz="900">
              <a:solidFill>
                <a:schemeClr val="dk1"/>
              </a:solidFill>
              <a:latin typeface="Calibri"/>
              <a:ea typeface="Calibri"/>
              <a:cs typeface="Calibri"/>
              <a:sym typeface="Calibri"/>
            </a:endParaRPr>
          </a:p>
        </p:txBody>
      </p:sp>
      <p:sp>
        <p:nvSpPr>
          <p:cNvPr id="355" name="Google Shape;355;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6" name="Google Shape;356;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1440E"/>
              </a:buClr>
              <a:buSzPts val="1200"/>
              <a:buFont typeface="DM Sans"/>
              <a:buNone/>
            </a:pPr>
            <a:r>
              <a:rPr b="1" lang="en-US" sz="1200">
                <a:solidFill>
                  <a:srgbClr val="C1440E"/>
                </a:solidFill>
                <a:latin typeface="DM Sans"/>
                <a:ea typeface="DM Sans"/>
                <a:cs typeface="DM Sans"/>
                <a:sym typeface="DM Sans"/>
              </a:rPr>
              <a:t>19 to 30 high  ·  6 to 18 low  ·  17 to 21 is the boundary band, and it overrides both</a:t>
            </a:r>
            <a:endParaRPr sz="1200">
              <a:solidFill>
                <a:schemeClr val="dk1"/>
              </a:solidFill>
              <a:latin typeface="Calibri"/>
              <a:ea typeface="Calibri"/>
              <a:cs typeface="Calibri"/>
              <a:sym typeface="Calibri"/>
            </a:endParaRPr>
          </a:p>
        </p:txBody>
      </p:sp>
      <p:sp>
        <p:nvSpPr>
          <p:cNvPr id="357" name="Google Shape;357;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lang="en-US" sz="1150">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sz="1150">
              <a:solidFill>
                <a:schemeClr val="dk1"/>
              </a:solidFill>
              <a:latin typeface="Calibri"/>
              <a:ea typeface="Calibri"/>
              <a:cs typeface="Calibri"/>
              <a:sym typeface="Calibri"/>
            </a:endParaRPr>
          </a:p>
        </p:txBody>
      </p:sp>
      <p:sp>
        <p:nvSpPr>
          <p:cNvPr id="358" name="Google Shape;358;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59" name="Google Shape;359;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17</a:t>
            </a:r>
            <a:endParaRPr sz="7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64" name="Shape 364"/>
        <p:cNvGrpSpPr/>
        <p:nvPr/>
      </p:nvGrpSpPr>
      <p:grpSpPr>
        <a:xfrm>
          <a:off x="0" y="0"/>
          <a:ext cx="0" cy="0"/>
          <a:chOff x="0" y="0"/>
          <a:chExt cx="0" cy="0"/>
        </a:xfrm>
      </p:grpSpPr>
      <p:sp>
        <p:nvSpPr>
          <p:cNvPr id="365" name="Google Shape;365;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66" name="Google Shape;366;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When the evidence remains uncertain</a:t>
            </a:r>
            <a:endParaRPr sz="2600">
              <a:solidFill>
                <a:schemeClr val="dk1"/>
              </a:solidFill>
              <a:latin typeface="Calibri"/>
              <a:ea typeface="Calibri"/>
              <a:cs typeface="Calibri"/>
              <a:sym typeface="Calibri"/>
            </a:endParaRPr>
          </a:p>
        </p:txBody>
      </p:sp>
      <p:sp>
        <p:nvSpPr>
          <p:cNvPr id="367" name="Google Shape;367;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sensitivity check. An operational convention, not a statistical confidence interval.</a:t>
            </a:r>
            <a:endParaRPr sz="1150">
              <a:solidFill>
                <a:schemeClr val="dk1"/>
              </a:solidFill>
              <a:latin typeface="Calibri"/>
              <a:ea typeface="Calibri"/>
              <a:cs typeface="Calibri"/>
              <a:sym typeface="Calibri"/>
            </a:endParaRPr>
          </a:p>
        </p:txBody>
      </p:sp>
      <p:sp>
        <p:nvSpPr>
          <p:cNvPr id="368" name="Google Shape;368;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NONE</a:t>
            </a:r>
            <a:endParaRPr sz="900">
              <a:solidFill>
                <a:schemeClr val="dk1"/>
              </a:solidFill>
              <a:latin typeface="Calibri"/>
              <a:ea typeface="Calibri"/>
              <a:cs typeface="Calibri"/>
              <a:sym typeface="Calibri"/>
            </a:endParaRPr>
          </a:p>
        </p:txBody>
      </p:sp>
      <p:sp>
        <p:nvSpPr>
          <p:cNvPr id="370" name="Google Shape;370;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Use the corrected total normally.</a:t>
            </a:r>
            <a:endParaRPr sz="1150">
              <a:solidFill>
                <a:schemeClr val="dk1"/>
              </a:solidFill>
              <a:latin typeface="Calibri"/>
              <a:ea typeface="Calibri"/>
              <a:cs typeface="Calibri"/>
              <a:sym typeface="Calibri"/>
            </a:endParaRPr>
          </a:p>
        </p:txBody>
      </p:sp>
      <p:sp>
        <p:nvSpPr>
          <p:cNvPr id="371" name="Google Shape;371;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20"/>
              <a:buFont typeface="DM Sans"/>
              <a:buNone/>
            </a:pPr>
            <a:r>
              <a:rPr lang="en-US" sz="1020">
                <a:solidFill>
                  <a:srgbClr val="5A6B84"/>
                </a:solidFill>
                <a:latin typeface="DM Sans"/>
                <a:ea typeface="DM Sans"/>
                <a:cs typeface="DM Sans"/>
                <a:sym typeface="DM Sans"/>
              </a:rPr>
              <a:t>No sensitivity range is required.</a:t>
            </a:r>
            <a:endParaRPr sz="1020">
              <a:solidFill>
                <a:schemeClr val="dk1"/>
              </a:solidFill>
              <a:latin typeface="Calibri"/>
              <a:ea typeface="Calibri"/>
              <a:cs typeface="Calibri"/>
              <a:sym typeface="Calibri"/>
            </a:endParaRPr>
          </a:p>
        </p:txBody>
      </p:sp>
      <p:sp>
        <p:nvSpPr>
          <p:cNvPr id="372" name="Google Shape;372;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1 OR 2</a:t>
            </a:r>
            <a:endParaRPr sz="900">
              <a:solidFill>
                <a:schemeClr val="dk1"/>
              </a:solidFill>
              <a:latin typeface="Calibri"/>
              <a:ea typeface="Calibri"/>
              <a:cs typeface="Calibri"/>
              <a:sym typeface="Calibri"/>
            </a:endParaRPr>
          </a:p>
        </p:txBody>
      </p:sp>
      <p:sp>
        <p:nvSpPr>
          <p:cNvPr id="374" name="Google Shape;374;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PROVISIONAL.  RUN THE NEIGHBORING-SCORE SENSITIVITY CHECK.</a:t>
            </a:r>
            <a:endParaRPr sz="840">
              <a:solidFill>
                <a:schemeClr val="dk1"/>
              </a:solidFill>
              <a:latin typeface="Calibri"/>
              <a:ea typeface="Calibri"/>
              <a:cs typeface="Calibri"/>
              <a:sym typeface="Calibri"/>
            </a:endParaRPr>
          </a:p>
        </p:txBody>
      </p:sp>
      <p:sp>
        <p:nvSpPr>
          <p:cNvPr id="376" name="Google Shape;376;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lang="en-US" sz="1050">
                <a:solidFill>
                  <a:srgbClr val="0F2347"/>
                </a:solidFill>
                <a:latin typeface="DM Sans"/>
                <a:ea typeface="DM Sans"/>
                <a:cs typeface="DM Sans"/>
                <a:sym typeface="DM Sans"/>
              </a:rPr>
              <a:t>If the range touches 17 to 21, hold the axis as boundary.</a:t>
            </a:r>
            <a:endParaRPr sz="1050">
              <a:solidFill>
                <a:schemeClr val="dk1"/>
              </a:solidFill>
              <a:latin typeface="Calibri"/>
              <a:ea typeface="Calibri"/>
              <a:cs typeface="Calibri"/>
              <a:sym typeface="Calibri"/>
            </a:endParaRPr>
          </a:p>
        </p:txBody>
      </p:sp>
      <p:sp>
        <p:nvSpPr>
          <p:cNvPr id="378" name="Google Shape;378;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b="1" lang="en-US" sz="1050">
                <a:solidFill>
                  <a:srgbClr val="0F2347"/>
                </a:solidFill>
                <a:latin typeface="DM Sans"/>
                <a:ea typeface="DM Sans"/>
                <a:cs typeface="DM Sans"/>
                <a:sym typeface="DM Sans"/>
              </a:rPr>
              <a:t>17 TO 21 IS THE BOUNDARY BAND. A boundary reading overrides the normal high and low split.</a:t>
            </a:r>
            <a:endParaRPr sz="1050">
              <a:solidFill>
                <a:schemeClr val="dk1"/>
              </a:solidFill>
              <a:latin typeface="Calibri"/>
              <a:ea typeface="Calibri"/>
              <a:cs typeface="Calibri"/>
              <a:sym typeface="Calibri"/>
            </a:endParaRPr>
          </a:p>
        </p:txBody>
      </p:sp>
      <p:sp>
        <p:nvSpPr>
          <p:cNvPr id="379" name="Google Shape;379;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3+</a:t>
            </a:r>
            <a:endParaRPr sz="900">
              <a:solidFill>
                <a:schemeClr val="dk1"/>
              </a:solidFill>
              <a:latin typeface="Calibri"/>
              <a:ea typeface="Calibri"/>
              <a:cs typeface="Calibri"/>
              <a:sym typeface="Calibri"/>
            </a:endParaRPr>
          </a:p>
        </p:txBody>
      </p:sp>
      <p:sp>
        <p:nvSpPr>
          <p:cNvPr id="381" name="Google Shape;381;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INCOMPLETE. Do not place on that axis today. Incomplete is a legitimate reading, not a failure.</a:t>
            </a:r>
            <a:endParaRPr sz="1100">
              <a:solidFill>
                <a:schemeClr val="dk1"/>
              </a:solidFill>
              <a:latin typeface="Calibri"/>
              <a:ea typeface="Calibri"/>
              <a:cs typeface="Calibri"/>
              <a:sym typeface="Calibri"/>
            </a:endParaRPr>
          </a:p>
        </p:txBody>
      </p:sp>
      <p:sp>
        <p:nvSpPr>
          <p:cNvPr id="383" name="Google Shape;383;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ONE axis in the band: read the two adjacent states the other axis selects.</a:t>
            </a:r>
            <a:endParaRPr sz="960">
              <a:solidFill>
                <a:schemeClr val="dk1"/>
              </a:solidFill>
              <a:latin typeface="Calibri"/>
              <a:ea typeface="Calibri"/>
              <a:cs typeface="Calibri"/>
              <a:sym typeface="Calibri"/>
            </a:endParaRPr>
          </a:p>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BOTH axes in the band: record Boundary and assign no single state.</a:t>
            </a:r>
            <a:endParaRPr sz="960">
              <a:solidFill>
                <a:schemeClr val="dk1"/>
              </a:solidFill>
              <a:latin typeface="Calibri"/>
              <a:ea typeface="Calibri"/>
              <a:cs typeface="Calibri"/>
              <a:sym typeface="Calibri"/>
            </a:endParaRPr>
          </a:p>
        </p:txBody>
      </p:sp>
      <p:sp>
        <p:nvSpPr>
          <p:cNvPr id="384" name="Google Shape;384;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85" name="Google Shape;385;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18</a:t>
            </a:r>
            <a:endParaRPr sz="7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0" name="Shape 390"/>
        <p:cNvGrpSpPr/>
        <p:nvPr/>
      </p:nvGrpSpPr>
      <p:grpSpPr>
        <a:xfrm>
          <a:off x="0" y="0"/>
          <a:ext cx="0" cy="0"/>
          <a:chOff x="0" y="0"/>
          <a:chExt cx="0" cy="0"/>
        </a:xfrm>
      </p:grpSpPr>
      <p:sp>
        <p:nvSpPr>
          <p:cNvPr id="391" name="Google Shape;391;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92" name="Google Shape;392;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Your corrected position</a:t>
            </a:r>
            <a:endParaRPr sz="3000">
              <a:solidFill>
                <a:schemeClr val="dk1"/>
              </a:solidFill>
              <a:latin typeface="Calibri"/>
              <a:ea typeface="Calibri"/>
              <a:cs typeface="Calibri"/>
              <a:sym typeface="Calibri"/>
            </a:endParaRPr>
          </a:p>
        </p:txBody>
      </p:sp>
      <p:sp>
        <p:nvSpPr>
          <p:cNvPr id="393" name="Google Shape;393;p1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Privately placed, provisionally held.</a:t>
            </a:r>
            <a:endParaRPr sz="1150">
              <a:solidFill>
                <a:schemeClr val="dk1"/>
              </a:solidFill>
              <a:latin typeface="Calibri"/>
              <a:ea typeface="Calibri"/>
              <a:cs typeface="Calibri"/>
              <a:sym typeface="Calibri"/>
            </a:endParaRPr>
          </a:p>
        </p:txBody>
      </p:sp>
      <p:sp>
        <p:nvSpPr>
          <p:cNvPr id="394" name="Google Shape;394;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396" name="Google Shape;396;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Place your corrected square</a:t>
            </a:r>
            <a:endParaRPr sz="1300">
              <a:solidFill>
                <a:schemeClr val="dk1"/>
              </a:solidFill>
              <a:latin typeface="Calibri"/>
              <a:ea typeface="Calibri"/>
              <a:cs typeface="Calibri"/>
              <a:sym typeface="Calibri"/>
            </a:endParaRPr>
          </a:p>
        </p:txBody>
      </p:sp>
      <p:sp>
        <p:nvSpPr>
          <p:cNvPr id="397" name="Google Shape;397;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Or mark boundary, or mark the axis incomplete. All three are legitimate readings.</a:t>
            </a:r>
            <a:endParaRPr sz="1100">
              <a:solidFill>
                <a:schemeClr val="dk1"/>
              </a:solidFill>
              <a:latin typeface="Calibri"/>
              <a:ea typeface="Calibri"/>
              <a:cs typeface="Calibri"/>
              <a:sym typeface="Calibri"/>
            </a:endParaRPr>
          </a:p>
        </p:txBody>
      </p:sp>
      <p:sp>
        <p:nvSpPr>
          <p:cNvPr id="398" name="Google Shape;398;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00" name="Google Shape;400;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401" name="Google Shape;401;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Compare it with the confidence number from your first placement on workbook page 3. The comparison is private.</a:t>
            </a:r>
            <a:endParaRPr sz="1100">
              <a:solidFill>
                <a:schemeClr val="dk1"/>
              </a:solidFill>
              <a:latin typeface="Calibri"/>
              <a:ea typeface="Calibri"/>
              <a:cs typeface="Calibri"/>
              <a:sym typeface="Calibri"/>
            </a:endParaRPr>
          </a:p>
        </p:txBody>
      </p:sp>
      <p:sp>
        <p:nvSpPr>
          <p:cNvPr id="402" name="Google Shape;402;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04" name="Google Shape;404;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Keep both readings visible</a:t>
            </a:r>
            <a:endParaRPr sz="1300">
              <a:solidFill>
                <a:schemeClr val="dk1"/>
              </a:solidFill>
              <a:latin typeface="Calibri"/>
              <a:ea typeface="Calibri"/>
              <a:cs typeface="Calibri"/>
              <a:sym typeface="Calibri"/>
            </a:endParaRPr>
          </a:p>
        </p:txBody>
      </p:sp>
      <p:sp>
        <p:nvSpPr>
          <p:cNvPr id="405" name="Google Shape;405;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first number and the corrected number sit side by side. The distance between them is the finding.</a:t>
            </a:r>
            <a:endParaRPr sz="1100">
              <a:solidFill>
                <a:schemeClr val="dk1"/>
              </a:solidFill>
              <a:latin typeface="Calibri"/>
              <a:ea typeface="Calibri"/>
              <a:cs typeface="Calibri"/>
              <a:sym typeface="Calibri"/>
            </a:endParaRPr>
          </a:p>
        </p:txBody>
      </p:sp>
      <p:sp>
        <p:nvSpPr>
          <p:cNvPr id="406" name="Google Shape;406;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sz="1600">
              <a:solidFill>
                <a:schemeClr val="dk1"/>
              </a:solidFill>
              <a:latin typeface="Calibri"/>
              <a:ea typeface="Calibri"/>
              <a:cs typeface="Calibri"/>
              <a:sym typeface="Calibri"/>
            </a:endParaRPr>
          </a:p>
        </p:txBody>
      </p:sp>
      <p:sp>
        <p:nvSpPr>
          <p:cNvPr id="408" name="Google Shape;408;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09" name="Google Shape;409;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19</a:t>
            </a:r>
            <a:endParaRPr sz="7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4" name="Shape 414"/>
        <p:cNvGrpSpPr/>
        <p:nvPr/>
      </p:nvGrpSpPr>
      <p:grpSpPr>
        <a:xfrm>
          <a:off x="0" y="0"/>
          <a:ext cx="0" cy="0"/>
          <a:chOff x="0" y="0"/>
          <a:chExt cx="0" cy="0"/>
        </a:xfrm>
      </p:grpSpPr>
      <p:sp>
        <p:nvSpPr>
          <p:cNvPr id="415" name="Google Shape;415;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STATE COSTS</a:t>
            </a:r>
            <a:endParaRPr sz="950">
              <a:solidFill>
                <a:schemeClr val="dk1"/>
              </a:solidFill>
              <a:latin typeface="Calibri"/>
              <a:ea typeface="Calibri"/>
              <a:cs typeface="Calibri"/>
              <a:sym typeface="Calibri"/>
            </a:endParaRPr>
          </a:p>
        </p:txBody>
      </p:sp>
      <p:sp>
        <p:nvSpPr>
          <p:cNvPr id="416" name="Google Shape;416;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What each state costs</a:t>
            </a:r>
            <a:endParaRPr sz="3000">
              <a:solidFill>
                <a:schemeClr val="dk1"/>
              </a:solidFill>
              <a:latin typeface="Calibri"/>
              <a:ea typeface="Calibri"/>
              <a:cs typeface="Calibri"/>
              <a:sym typeface="Calibri"/>
            </a:endParaRPr>
          </a:p>
        </p:txBody>
      </p:sp>
      <p:sp>
        <p:nvSpPr>
          <p:cNvPr id="417" name="Google Shape;417;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Four states. One immediate cost to notice in each.</a:t>
            </a:r>
            <a:endParaRPr sz="1150">
              <a:solidFill>
                <a:schemeClr val="dk1"/>
              </a:solidFill>
              <a:latin typeface="Calibri"/>
              <a:ea typeface="Calibri"/>
              <a:cs typeface="Calibri"/>
              <a:sym typeface="Calibri"/>
            </a:endParaRPr>
          </a:p>
        </p:txBody>
      </p:sp>
      <p:sp>
        <p:nvSpPr>
          <p:cNvPr id="418" name="Google Shape;418;p20"/>
          <p:cNvSpPr/>
          <p:nvPr/>
        </p:nvSpPr>
        <p:spPr>
          <a:xfrm>
            <a:off x="566928" y="1883664"/>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0F2347"/>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420" name="Google Shape;420;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Neither axis is accruing.</a:t>
            </a:r>
            <a:endParaRPr sz="1250">
              <a:solidFill>
                <a:schemeClr val="dk1"/>
              </a:solidFill>
              <a:latin typeface="Calibri"/>
              <a:ea typeface="Calibri"/>
              <a:cs typeface="Calibri"/>
              <a:sym typeface="Calibri"/>
            </a:endParaRPr>
          </a:p>
        </p:txBody>
      </p:sp>
      <p:sp>
        <p:nvSpPr>
          <p:cNvPr id="421" name="Google Shape;421;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423" name="Google Shape;423;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Value is deep but context-bound.</a:t>
            </a:r>
            <a:endParaRPr sz="1250">
              <a:solidFill>
                <a:schemeClr val="dk1"/>
              </a:solidFill>
              <a:latin typeface="Calibri"/>
              <a:ea typeface="Calibri"/>
              <a:cs typeface="Calibri"/>
              <a:sym typeface="Calibri"/>
            </a:endParaRPr>
          </a:p>
        </p:txBody>
      </p:sp>
      <p:sp>
        <p:nvSpPr>
          <p:cNvPr id="424" name="Google Shape;424;p20"/>
          <p:cNvSpPr/>
          <p:nvPr/>
        </p:nvSpPr>
        <p:spPr>
          <a:xfrm>
            <a:off x="566928" y="3017520"/>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426" name="Google Shape;426;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travels today is no longer being renewed.</a:t>
            </a:r>
            <a:endParaRPr sz="1250">
              <a:solidFill>
                <a:schemeClr val="dk1"/>
              </a:solidFill>
              <a:latin typeface="Calibri"/>
              <a:ea typeface="Calibri"/>
              <a:cs typeface="Calibri"/>
              <a:sym typeface="Calibri"/>
            </a:endParaRPr>
          </a:p>
        </p:txBody>
      </p:sp>
      <p:sp>
        <p:nvSpPr>
          <p:cNvPr id="427" name="Google Shape;427;p20"/>
          <p:cNvSpPr/>
          <p:nvPr/>
        </p:nvSpPr>
        <p:spPr>
          <a:xfrm>
            <a:off x="566928" y="3584448"/>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429" name="Google Shape;429;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A strong current position still requires renewal.</a:t>
            </a:r>
            <a:endParaRPr sz="1250">
              <a:solidFill>
                <a:schemeClr val="dk1"/>
              </a:solidFill>
              <a:latin typeface="Calibri"/>
              <a:ea typeface="Calibri"/>
              <a:cs typeface="Calibri"/>
              <a:sym typeface="Calibri"/>
            </a:endParaRPr>
          </a:p>
        </p:txBody>
      </p:sp>
      <p:sp>
        <p:nvSpPr>
          <p:cNvPr id="430" name="Google Shape;430;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sz="1060">
              <a:solidFill>
                <a:schemeClr val="dk1"/>
              </a:solidFill>
              <a:latin typeface="Calibri"/>
              <a:ea typeface="Calibri"/>
              <a:cs typeface="Calibri"/>
              <a:sym typeface="Calibri"/>
            </a:endParaRPr>
          </a:p>
        </p:txBody>
      </p:sp>
      <p:sp>
        <p:nvSpPr>
          <p:cNvPr id="431" name="Google Shape;431;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32" name="Google Shape;432;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sz="7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60" name="Shape 460"/>
        <p:cNvGrpSpPr/>
        <p:nvPr/>
      </p:nvGrpSpPr>
      <p:grpSpPr>
        <a:xfrm>
          <a:off x="0" y="0"/>
          <a:ext cx="0" cy="0"/>
          <a:chOff x="0" y="0"/>
          <a:chExt cx="0" cy="0"/>
        </a:xfrm>
      </p:grpSpPr>
      <p:sp>
        <p:nvSpPr>
          <p:cNvPr id="461" name="Google Shape;461;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MOVE CATEGORIES</a:t>
            </a:r>
            <a:endParaRPr sz="950">
              <a:solidFill>
                <a:schemeClr val="dk1"/>
              </a:solidFill>
              <a:latin typeface="Calibri"/>
              <a:ea typeface="Calibri"/>
              <a:cs typeface="Calibri"/>
              <a:sym typeface="Calibri"/>
            </a:endParaRPr>
          </a:p>
        </p:txBody>
      </p:sp>
      <p:sp>
        <p:nvSpPr>
          <p:cNvPr id="462" name="Google Shape;462;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Seven categories of move</a:t>
            </a:r>
            <a:endParaRPr sz="3000">
              <a:solidFill>
                <a:schemeClr val="dk1"/>
              </a:solidFill>
              <a:latin typeface="Calibri"/>
              <a:ea typeface="Calibri"/>
              <a:cs typeface="Calibri"/>
              <a:sym typeface="Calibri"/>
            </a:endParaRPr>
          </a:p>
        </p:txBody>
      </p:sp>
      <p:sp>
        <p:nvSpPr>
          <p:cNvPr id="463" name="Google Shape;463;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Direction, not a plan. Your evidence helps you choose which category to test.</a:t>
            </a:r>
            <a:endParaRPr sz="1150">
              <a:solidFill>
                <a:schemeClr val="dk1"/>
              </a:solidFill>
              <a:latin typeface="Calibri"/>
              <a:ea typeface="Calibri"/>
              <a:cs typeface="Calibri"/>
              <a:sym typeface="Calibri"/>
            </a:endParaRPr>
          </a:p>
        </p:txBody>
      </p:sp>
      <p:sp>
        <p:nvSpPr>
          <p:cNvPr id="464" name="Google Shape;464;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466" name="Google Shape;466;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Remain and deepen</a:t>
            </a:r>
            <a:endParaRPr sz="1160">
              <a:solidFill>
                <a:schemeClr val="dk1"/>
              </a:solidFill>
              <a:latin typeface="Calibri"/>
              <a:ea typeface="Calibri"/>
              <a:cs typeface="Calibri"/>
              <a:sym typeface="Calibri"/>
            </a:endParaRPr>
          </a:p>
        </p:txBody>
      </p:sp>
      <p:sp>
        <p:nvSpPr>
          <p:cNvPr id="467" name="Google Shape;467;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formation conditions are real and worth protecting.</a:t>
            </a:r>
            <a:endParaRPr sz="1060">
              <a:solidFill>
                <a:schemeClr val="dk1"/>
              </a:solidFill>
              <a:latin typeface="Calibri"/>
              <a:ea typeface="Calibri"/>
              <a:cs typeface="Calibri"/>
              <a:sym typeface="Calibri"/>
            </a:endParaRPr>
          </a:p>
        </p:txBody>
      </p:sp>
      <p:sp>
        <p:nvSpPr>
          <p:cNvPr id="468" name="Google Shape;468;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70" name="Google Shape;470;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Translate what is built</a:t>
            </a:r>
            <a:endParaRPr sz="1160">
              <a:solidFill>
                <a:schemeClr val="dk1"/>
              </a:solidFill>
              <a:latin typeface="Calibri"/>
              <a:ea typeface="Calibri"/>
              <a:cs typeface="Calibri"/>
              <a:sym typeface="Calibri"/>
            </a:endParaRPr>
          </a:p>
        </p:txBody>
      </p:sp>
      <p:sp>
        <p:nvSpPr>
          <p:cNvPr id="471" name="Google Shape;471;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capability exists. The evidence for it is not yet legible outside.</a:t>
            </a:r>
            <a:endParaRPr sz="1060">
              <a:solidFill>
                <a:schemeClr val="dk1"/>
              </a:solidFill>
              <a:latin typeface="Calibri"/>
              <a:ea typeface="Calibri"/>
              <a:cs typeface="Calibri"/>
              <a:sym typeface="Calibri"/>
            </a:endParaRPr>
          </a:p>
        </p:txBody>
      </p:sp>
      <p:sp>
        <p:nvSpPr>
          <p:cNvPr id="472" name="Google Shape;472;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74" name="Google Shape;474;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Widen exposure</a:t>
            </a:r>
            <a:endParaRPr sz="1160">
              <a:solidFill>
                <a:schemeClr val="dk1"/>
              </a:solidFill>
              <a:latin typeface="Calibri"/>
              <a:ea typeface="Calibri"/>
              <a:cs typeface="Calibri"/>
              <a:sym typeface="Calibri"/>
            </a:endParaRPr>
          </a:p>
        </p:txBody>
      </p:sp>
      <p:sp>
        <p:nvSpPr>
          <p:cNvPr id="475" name="Google Shape;475;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Reach people who can evaluate or use it. Visibility is not evidence.</a:t>
            </a:r>
            <a:endParaRPr sz="1060">
              <a:solidFill>
                <a:schemeClr val="dk1"/>
              </a:solidFill>
              <a:latin typeface="Calibri"/>
              <a:ea typeface="Calibri"/>
              <a:cs typeface="Calibri"/>
              <a:sym typeface="Calibri"/>
            </a:endParaRPr>
          </a:p>
        </p:txBody>
      </p:sp>
      <p:sp>
        <p:nvSpPr>
          <p:cNvPr id="476" name="Google Shape;476;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4</a:t>
            </a:r>
            <a:endParaRPr sz="950">
              <a:solidFill>
                <a:schemeClr val="dk1"/>
              </a:solidFill>
              <a:latin typeface="Calibri"/>
              <a:ea typeface="Calibri"/>
              <a:cs typeface="Calibri"/>
              <a:sym typeface="Calibri"/>
            </a:endParaRPr>
          </a:p>
        </p:txBody>
      </p:sp>
      <p:sp>
        <p:nvSpPr>
          <p:cNvPr id="478" name="Google Shape;478;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Test portability</a:t>
            </a:r>
            <a:endParaRPr sz="1160">
              <a:solidFill>
                <a:schemeClr val="dk1"/>
              </a:solidFill>
              <a:latin typeface="Calibri"/>
              <a:ea typeface="Calibri"/>
              <a:cs typeface="Calibri"/>
              <a:sym typeface="Calibri"/>
            </a:endParaRPr>
          </a:p>
        </p:txBody>
      </p:sp>
      <p:sp>
        <p:nvSpPr>
          <p:cNvPr id="479" name="Google Shape;479;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Find out what travels before you need it to.</a:t>
            </a:r>
            <a:endParaRPr sz="1060">
              <a:solidFill>
                <a:schemeClr val="dk1"/>
              </a:solidFill>
              <a:latin typeface="Calibri"/>
              <a:ea typeface="Calibri"/>
              <a:cs typeface="Calibri"/>
              <a:sym typeface="Calibri"/>
            </a:endParaRPr>
          </a:p>
        </p:txBody>
      </p:sp>
      <p:sp>
        <p:nvSpPr>
          <p:cNvPr id="480" name="Google Shape;480;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5</a:t>
            </a:r>
            <a:endParaRPr sz="950">
              <a:solidFill>
                <a:schemeClr val="dk1"/>
              </a:solidFill>
              <a:latin typeface="Calibri"/>
              <a:ea typeface="Calibri"/>
              <a:cs typeface="Calibri"/>
              <a:sym typeface="Calibri"/>
            </a:endParaRPr>
          </a:p>
        </p:txBody>
      </p:sp>
      <p:sp>
        <p:nvSpPr>
          <p:cNvPr id="482" name="Google Shape;482;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Repair formation conditions</a:t>
            </a:r>
            <a:endParaRPr sz="1160">
              <a:solidFill>
                <a:schemeClr val="dk1"/>
              </a:solidFill>
              <a:latin typeface="Calibri"/>
              <a:ea typeface="Calibri"/>
              <a:cs typeface="Calibri"/>
              <a:sym typeface="Calibri"/>
            </a:endParaRPr>
          </a:p>
        </p:txBody>
      </p:sp>
      <p:sp>
        <p:nvSpPr>
          <p:cNvPr id="483" name="Google Shape;483;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Test whether changing the work or conditions could repair the problem.</a:t>
            </a:r>
            <a:endParaRPr sz="1060">
              <a:solidFill>
                <a:schemeClr val="dk1"/>
              </a:solidFill>
              <a:latin typeface="Calibri"/>
              <a:ea typeface="Calibri"/>
              <a:cs typeface="Calibri"/>
              <a:sym typeface="Calibri"/>
            </a:endParaRPr>
          </a:p>
        </p:txBody>
      </p:sp>
      <p:sp>
        <p:nvSpPr>
          <p:cNvPr id="484" name="Google Shape;484;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6</a:t>
            </a:r>
            <a:endParaRPr sz="950">
              <a:solidFill>
                <a:schemeClr val="dk1"/>
              </a:solidFill>
              <a:latin typeface="Calibri"/>
              <a:ea typeface="Calibri"/>
              <a:cs typeface="Calibri"/>
              <a:sym typeface="Calibri"/>
            </a:endParaRPr>
          </a:p>
        </p:txBody>
      </p:sp>
      <p:sp>
        <p:nvSpPr>
          <p:cNvPr id="486" name="Google Shape;486;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Prepare for exit</a:t>
            </a:r>
            <a:endParaRPr sz="1160">
              <a:solidFill>
                <a:schemeClr val="dk1"/>
              </a:solidFill>
              <a:latin typeface="Calibri"/>
              <a:ea typeface="Calibri"/>
              <a:cs typeface="Calibri"/>
              <a:sym typeface="Calibri"/>
            </a:endParaRPr>
          </a:p>
        </p:txBody>
      </p:sp>
      <p:sp>
        <p:nvSpPr>
          <p:cNvPr id="487" name="Google Shape;487;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Your evidence gives you reason to prepare in case the conditions do not repair.</a:t>
            </a:r>
            <a:endParaRPr sz="1060">
              <a:solidFill>
                <a:schemeClr val="dk1"/>
              </a:solidFill>
              <a:latin typeface="Calibri"/>
              <a:ea typeface="Calibri"/>
              <a:cs typeface="Calibri"/>
              <a:sym typeface="Calibri"/>
            </a:endParaRPr>
          </a:p>
        </p:txBody>
      </p:sp>
      <p:sp>
        <p:nvSpPr>
          <p:cNvPr id="488" name="Google Shape;488;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7</a:t>
            </a:r>
            <a:endParaRPr sz="950">
              <a:solidFill>
                <a:schemeClr val="dk1"/>
              </a:solidFill>
              <a:latin typeface="Calibri"/>
              <a:ea typeface="Calibri"/>
              <a:cs typeface="Calibri"/>
              <a:sym typeface="Calibri"/>
            </a:endParaRPr>
          </a:p>
        </p:txBody>
      </p:sp>
      <p:sp>
        <p:nvSpPr>
          <p:cNvPr id="490" name="Google Shape;490;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Seek an external perspective</a:t>
            </a:r>
            <a:endParaRPr sz="1160">
              <a:solidFill>
                <a:schemeClr val="dk1"/>
              </a:solidFill>
              <a:latin typeface="Calibri"/>
              <a:ea typeface="Calibri"/>
              <a:cs typeface="Calibri"/>
              <a:sym typeface="Calibri"/>
            </a:endParaRPr>
          </a:p>
        </p:txBody>
      </p:sp>
      <p:sp>
        <p:nvSpPr>
          <p:cNvPr id="491" name="Google Shape;491;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High stakes, incomplete evidence, or a boundary position.</a:t>
            </a:r>
            <a:endParaRPr sz="1060">
              <a:solidFill>
                <a:schemeClr val="dk1"/>
              </a:solidFill>
              <a:latin typeface="Calibri"/>
              <a:ea typeface="Calibri"/>
              <a:cs typeface="Calibri"/>
              <a:sym typeface="Calibri"/>
            </a:endParaRPr>
          </a:p>
        </p:txBody>
      </p:sp>
      <p:sp>
        <p:nvSpPr>
          <p:cNvPr id="492" name="Google Shape;492;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00"/>
              <a:buFont typeface="DM Sans"/>
              <a:buNone/>
            </a:pPr>
            <a:r>
              <a:rPr b="1" lang="en-US" sz="1100">
                <a:solidFill>
                  <a:srgbClr val="C1440E"/>
                </a:solidFill>
                <a:latin typeface="DM Sans"/>
                <a:ea typeface="DM Sans"/>
                <a:cs typeface="DM Sans"/>
                <a:sym typeface="DM Sans"/>
              </a:rPr>
              <a:t>No square prescribes a category. Your evidence and constraints still apply.</a:t>
            </a:r>
            <a:endParaRPr sz="1100">
              <a:solidFill>
                <a:schemeClr val="dk1"/>
              </a:solidFill>
              <a:latin typeface="Calibri"/>
              <a:ea typeface="Calibri"/>
              <a:cs typeface="Calibri"/>
              <a:sym typeface="Calibri"/>
            </a:endParaRPr>
          </a:p>
        </p:txBody>
      </p:sp>
      <p:sp>
        <p:nvSpPr>
          <p:cNvPr id="493" name="Google Shape;493;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94" name="Google Shape;494;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sz="7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9" name="Shape 499"/>
        <p:cNvGrpSpPr/>
        <p:nvPr/>
      </p:nvGrpSpPr>
      <p:grpSpPr>
        <a:xfrm>
          <a:off x="0" y="0"/>
          <a:ext cx="0" cy="0"/>
          <a:chOff x="0" y="0"/>
          <a:chExt cx="0" cy="0"/>
        </a:xfrm>
      </p:grpSpPr>
      <p:sp>
        <p:nvSpPr>
          <p:cNvPr id="500" name="Google Shape;500;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ARTIFACT</a:t>
            </a:r>
            <a:endParaRPr sz="950">
              <a:solidFill>
                <a:schemeClr val="dk1"/>
              </a:solidFill>
              <a:latin typeface="Calibri"/>
              <a:ea typeface="Calibri"/>
              <a:cs typeface="Calibri"/>
              <a:sym typeface="Calibri"/>
            </a:endParaRPr>
          </a:p>
        </p:txBody>
      </p:sp>
      <p:sp>
        <p:nvSpPr>
          <p:cNvPr id="501" name="Google Shape;501;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The Next-Move Note</a:t>
            </a:r>
            <a:endParaRPr sz="3200">
              <a:solidFill>
                <a:schemeClr val="dk1"/>
              </a:solidFill>
              <a:latin typeface="Calibri"/>
              <a:ea typeface="Calibri"/>
              <a:cs typeface="Calibri"/>
              <a:sym typeface="Calibri"/>
            </a:endParaRPr>
          </a:p>
        </p:txBody>
      </p:sp>
      <p:sp>
        <p:nvSpPr>
          <p:cNvPr id="502" name="Google Shape;502;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Three lines. Yours, private, and enough to act on.</a:t>
            </a:r>
            <a:endParaRPr sz="1150">
              <a:solidFill>
                <a:schemeClr val="dk1"/>
              </a:solidFill>
              <a:latin typeface="Calibri"/>
              <a:ea typeface="Calibri"/>
              <a:cs typeface="Calibri"/>
              <a:sym typeface="Calibri"/>
            </a:endParaRPr>
          </a:p>
        </p:txBody>
      </p:sp>
      <p:sp>
        <p:nvSpPr>
          <p:cNvPr id="503" name="Google Shape;503;p22"/>
          <p:cNvSpPr/>
          <p:nvPr/>
        </p:nvSpPr>
        <p:spPr>
          <a:xfrm>
            <a:off x="566928" y="1847088"/>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2"/>
          <p:cNvSpPr/>
          <p:nvPr/>
        </p:nvSpPr>
        <p:spPr>
          <a:xfrm>
            <a:off x="566928" y="1847088"/>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2"/>
          <p:cNvSpPr/>
          <p:nvPr/>
        </p:nvSpPr>
        <p:spPr>
          <a:xfrm>
            <a:off x="786384" y="1920240"/>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MY CURRENT READ</a:t>
            </a:r>
            <a:endParaRPr sz="820">
              <a:solidFill>
                <a:schemeClr val="dk1"/>
              </a:solidFill>
              <a:latin typeface="Calibri"/>
              <a:ea typeface="Calibri"/>
              <a:cs typeface="Calibri"/>
              <a:sym typeface="Calibri"/>
            </a:endParaRPr>
          </a:p>
        </p:txBody>
      </p:sp>
      <p:sp>
        <p:nvSpPr>
          <p:cNvPr id="506" name="Google Shape;506;p22"/>
          <p:cNvSpPr/>
          <p:nvPr/>
        </p:nvSpPr>
        <p:spPr>
          <a:xfrm>
            <a:off x="786384" y="2121408"/>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My position appears to be:</a:t>
            </a:r>
            <a:endParaRPr sz="1140">
              <a:solidFill>
                <a:schemeClr val="dk1"/>
              </a:solidFill>
              <a:latin typeface="Calibri"/>
              <a:ea typeface="Calibri"/>
              <a:cs typeface="Calibri"/>
              <a:sym typeface="Calibri"/>
            </a:endParaRPr>
          </a:p>
        </p:txBody>
      </p:sp>
      <p:sp>
        <p:nvSpPr>
          <p:cNvPr id="507" name="Google Shape;507;p22"/>
          <p:cNvSpPr/>
          <p:nvPr/>
        </p:nvSpPr>
        <p:spPr>
          <a:xfrm>
            <a:off x="786384" y="2322576"/>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State  /  boundary  /  incomplete</a:t>
            </a:r>
            <a:endParaRPr sz="880">
              <a:solidFill>
                <a:schemeClr val="dk1"/>
              </a:solidFill>
              <a:latin typeface="Calibri"/>
              <a:ea typeface="Calibri"/>
              <a:cs typeface="Calibri"/>
              <a:sym typeface="Calibri"/>
            </a:endParaRPr>
          </a:p>
        </p:txBody>
      </p:sp>
      <p:sp>
        <p:nvSpPr>
          <p:cNvPr id="508" name="Google Shape;508;p22"/>
          <p:cNvSpPr/>
          <p:nvPr/>
        </p:nvSpPr>
        <p:spPr>
          <a:xfrm>
            <a:off x="5577840" y="2121408"/>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09" name="Google Shape;509;p22"/>
          <p:cNvSpPr/>
          <p:nvPr/>
        </p:nvSpPr>
        <p:spPr>
          <a:xfrm>
            <a:off x="566928" y="259689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2"/>
          <p:cNvSpPr/>
          <p:nvPr/>
        </p:nvSpPr>
        <p:spPr>
          <a:xfrm>
            <a:off x="566928" y="2596896"/>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2"/>
          <p:cNvSpPr/>
          <p:nvPr/>
        </p:nvSpPr>
        <p:spPr>
          <a:xfrm>
            <a:off x="786384" y="2670048"/>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I NEED TO TEST</a:t>
            </a:r>
            <a:endParaRPr sz="820">
              <a:solidFill>
                <a:schemeClr val="dk1"/>
              </a:solidFill>
              <a:latin typeface="Calibri"/>
              <a:ea typeface="Calibri"/>
              <a:cs typeface="Calibri"/>
              <a:sym typeface="Calibri"/>
            </a:endParaRPr>
          </a:p>
        </p:txBody>
      </p:sp>
      <p:sp>
        <p:nvSpPr>
          <p:cNvPr id="512" name="Google Shape;512;p22"/>
          <p:cNvSpPr/>
          <p:nvPr/>
        </p:nvSpPr>
        <p:spPr>
          <a:xfrm>
            <a:off x="786384" y="2871216"/>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category of move my evidence supports testing is:</a:t>
            </a:r>
            <a:endParaRPr sz="1140">
              <a:solidFill>
                <a:schemeClr val="dk1"/>
              </a:solidFill>
              <a:latin typeface="Calibri"/>
              <a:ea typeface="Calibri"/>
              <a:cs typeface="Calibri"/>
              <a:sym typeface="Calibri"/>
            </a:endParaRPr>
          </a:p>
        </p:txBody>
      </p:sp>
      <p:sp>
        <p:nvSpPr>
          <p:cNvPr id="513" name="Google Shape;513;p22"/>
          <p:cNvSpPr/>
          <p:nvPr/>
        </p:nvSpPr>
        <p:spPr>
          <a:xfrm>
            <a:off x="786384" y="3072384"/>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of the seven categories.</a:t>
            </a:r>
            <a:endParaRPr sz="880">
              <a:solidFill>
                <a:schemeClr val="dk1"/>
              </a:solidFill>
              <a:latin typeface="Calibri"/>
              <a:ea typeface="Calibri"/>
              <a:cs typeface="Calibri"/>
              <a:sym typeface="Calibri"/>
            </a:endParaRPr>
          </a:p>
        </p:txBody>
      </p:sp>
      <p:sp>
        <p:nvSpPr>
          <p:cNvPr id="514" name="Google Shape;514;p22"/>
          <p:cNvSpPr/>
          <p:nvPr/>
        </p:nvSpPr>
        <p:spPr>
          <a:xfrm>
            <a:off x="5577840" y="2871216"/>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15" name="Google Shape;515;p22"/>
          <p:cNvSpPr/>
          <p:nvPr/>
        </p:nvSpPr>
        <p:spPr>
          <a:xfrm>
            <a:off x="566928" y="3346704"/>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2"/>
          <p:cNvSpPr/>
          <p:nvPr/>
        </p:nvSpPr>
        <p:spPr>
          <a:xfrm>
            <a:off x="566928" y="3346704"/>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2"/>
          <p:cNvSpPr/>
          <p:nvPr/>
        </p:nvSpPr>
        <p:spPr>
          <a:xfrm>
            <a:off x="786384" y="3419856"/>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HAPPENS NEXT</a:t>
            </a:r>
            <a:endParaRPr sz="820">
              <a:solidFill>
                <a:schemeClr val="dk1"/>
              </a:solidFill>
              <a:latin typeface="Calibri"/>
              <a:ea typeface="Calibri"/>
              <a:cs typeface="Calibri"/>
              <a:sym typeface="Calibri"/>
            </a:endParaRPr>
          </a:p>
        </p:txBody>
      </p:sp>
      <p:sp>
        <p:nvSpPr>
          <p:cNvPr id="518" name="Google Shape;518;p22"/>
          <p:cNvSpPr/>
          <p:nvPr/>
        </p:nvSpPr>
        <p:spPr>
          <a:xfrm>
            <a:off x="786384" y="3621024"/>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next action, conversation or piece of evidence is:</a:t>
            </a:r>
            <a:endParaRPr sz="1140">
              <a:solidFill>
                <a:schemeClr val="dk1"/>
              </a:solidFill>
              <a:latin typeface="Calibri"/>
              <a:ea typeface="Calibri"/>
              <a:cs typeface="Calibri"/>
              <a:sym typeface="Calibri"/>
            </a:endParaRPr>
          </a:p>
        </p:txBody>
      </p:sp>
      <p:sp>
        <p:nvSpPr>
          <p:cNvPr id="519" name="Google Shape;519;p22"/>
          <p:cNvSpPr/>
          <p:nvPr/>
        </p:nvSpPr>
        <p:spPr>
          <a:xfrm>
            <a:off x="786384" y="3822192"/>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thing. Something you could begin this month.</a:t>
            </a:r>
            <a:endParaRPr sz="880">
              <a:solidFill>
                <a:schemeClr val="dk1"/>
              </a:solidFill>
              <a:latin typeface="Calibri"/>
              <a:ea typeface="Calibri"/>
              <a:cs typeface="Calibri"/>
              <a:sym typeface="Calibri"/>
            </a:endParaRPr>
          </a:p>
        </p:txBody>
      </p:sp>
      <p:sp>
        <p:nvSpPr>
          <p:cNvPr id="520" name="Google Shape;520;p22"/>
          <p:cNvSpPr/>
          <p:nvPr/>
        </p:nvSpPr>
        <p:spPr>
          <a:xfrm>
            <a:off x="5577840" y="3621024"/>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21" name="Google Shape;521;p22"/>
          <p:cNvSpPr/>
          <p:nvPr/>
        </p:nvSpPr>
        <p:spPr>
          <a:xfrm>
            <a:off x="566928" y="415137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2"/>
          <p:cNvSpPr/>
          <p:nvPr/>
        </p:nvSpPr>
        <p:spPr>
          <a:xfrm>
            <a:off x="804672" y="4151376"/>
            <a:ext cx="7534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50"/>
              <a:buFont typeface="Cormorant Garamond"/>
              <a:buNone/>
            </a:pPr>
            <a:r>
              <a:rPr b="1" lang="en-US" sz="1550">
                <a:solidFill>
                  <a:srgbClr val="F5F0E8"/>
                </a:solidFill>
                <a:latin typeface="Cormorant Garamond"/>
                <a:ea typeface="Cormorant Garamond"/>
                <a:cs typeface="Cormorant Garamond"/>
                <a:sym typeface="Cormorant Garamond"/>
              </a:rPr>
              <a:t>This is a note, not a decision. It records what your evidence supports testing next.</a:t>
            </a:r>
            <a:endParaRPr sz="1550">
              <a:solidFill>
                <a:schemeClr val="dk1"/>
              </a:solidFill>
              <a:latin typeface="Calibri"/>
              <a:ea typeface="Calibri"/>
              <a:cs typeface="Calibri"/>
              <a:sym typeface="Calibri"/>
            </a:endParaRPr>
          </a:p>
        </p:txBody>
      </p:sp>
      <p:sp>
        <p:nvSpPr>
          <p:cNvPr id="523" name="Google Shape;523;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24" name="Google Shape;524;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sz="700">
              <a:solidFill>
                <a:schemeClr val="dk1"/>
              </a:solidFill>
              <a:latin typeface="Calibri"/>
              <a:ea typeface="Calibri"/>
              <a:cs typeface="Calibri"/>
              <a:sym typeface="Calibri"/>
            </a:endParaRPr>
          </a:p>
        </p:txBody>
      </p:sp>
      <p:sp>
        <p:nvSpPr>
          <p:cNvPr id="525" name="Google Shape;525;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What travels?      What does not?      What can I prove?      What must I relearn?</a:t>
            </a:r>
            <a:endParaRPr sz="114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32" name="Shape 532"/>
        <p:cNvGrpSpPr/>
        <p:nvPr/>
      </p:nvGrpSpPr>
      <p:grpSpPr>
        <a:xfrm>
          <a:off x="0" y="0"/>
          <a:ext cx="0" cy="0"/>
          <a:chOff x="0" y="0"/>
          <a:chExt cx="0" cy="0"/>
        </a:xfrm>
      </p:grpSpPr>
      <p:sp>
        <p:nvSpPr>
          <p:cNvPr id="533" name="Google Shape;533;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WHERE TO GO FROM HERE</a:t>
            </a:r>
            <a:endParaRPr sz="950">
              <a:solidFill>
                <a:schemeClr val="dk1"/>
              </a:solidFill>
              <a:latin typeface="Calibri"/>
              <a:ea typeface="Calibri"/>
              <a:cs typeface="Calibri"/>
              <a:sym typeface="Calibri"/>
            </a:endParaRPr>
          </a:p>
        </p:txBody>
      </p:sp>
      <p:sp>
        <p:nvSpPr>
          <p:cNvPr id="534" name="Google Shape;534;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Choose How You Want to Continue the Read</a:t>
            </a:r>
            <a:endParaRPr sz="2700">
              <a:solidFill>
                <a:schemeClr val="dk1"/>
              </a:solidFill>
              <a:latin typeface="Calibri"/>
              <a:ea typeface="Calibri"/>
              <a:cs typeface="Calibri"/>
              <a:sym typeface="Calibri"/>
            </a:endParaRPr>
          </a:p>
        </p:txBody>
      </p:sp>
      <p:sp>
        <p:nvSpPr>
          <p:cNvPr id="535" name="Google Shape;535;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Your read is complete. What you need next depends on what is still unresolved.</a:t>
            </a:r>
            <a:endParaRPr sz="1150">
              <a:solidFill>
                <a:schemeClr val="dk1"/>
              </a:solidFill>
              <a:latin typeface="Calibri"/>
              <a:ea typeface="Calibri"/>
              <a:cs typeface="Calibri"/>
              <a:sym typeface="Calibri"/>
            </a:endParaRPr>
          </a:p>
        </p:txBody>
      </p:sp>
      <p:sp>
        <p:nvSpPr>
          <p:cNvPr id="536" name="Google Shape;536;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539" name="Google Shape;539;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have enough for now.</a:t>
            </a:r>
            <a:endParaRPr sz="1350">
              <a:solidFill>
                <a:schemeClr val="dk1"/>
              </a:solidFill>
              <a:latin typeface="Calibri"/>
              <a:ea typeface="Calibri"/>
              <a:cs typeface="Calibri"/>
              <a:sym typeface="Calibri"/>
            </a:endParaRPr>
          </a:p>
        </p:txBody>
      </p:sp>
      <p:sp>
        <p:nvSpPr>
          <p:cNvPr id="540" name="Google Shape;540;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Take your Next-Move Note and act on it.</a:t>
            </a:r>
            <a:endParaRPr sz="1120">
              <a:solidFill>
                <a:schemeClr val="dk1"/>
              </a:solidFill>
              <a:latin typeface="Calibri"/>
              <a:ea typeface="Calibri"/>
              <a:cs typeface="Calibri"/>
              <a:sym typeface="Calibri"/>
            </a:endParaRPr>
          </a:p>
        </p:txBody>
      </p:sp>
      <p:sp>
        <p:nvSpPr>
          <p:cNvPr id="541" name="Google Shape;541;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Nothing further is required. The session was built to be complete on its own.</a:t>
            </a:r>
            <a:endParaRPr sz="1000">
              <a:solidFill>
                <a:schemeClr val="dk1"/>
              </a:solidFill>
              <a:latin typeface="Calibri"/>
              <a:ea typeface="Calibri"/>
              <a:cs typeface="Calibri"/>
              <a:sym typeface="Calibri"/>
            </a:endParaRPr>
          </a:p>
        </p:txBody>
      </p:sp>
      <p:sp>
        <p:nvSpPr>
          <p:cNvPr id="542" name="Google Shape;542;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545" name="Google Shape;545;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want to keep working privately.</a:t>
            </a:r>
            <a:endParaRPr sz="1350">
              <a:solidFill>
                <a:schemeClr val="dk1"/>
              </a:solidFill>
              <a:latin typeface="Calibri"/>
              <a:ea typeface="Calibri"/>
              <a:cs typeface="Calibri"/>
              <a:sym typeface="Calibri"/>
            </a:endParaRPr>
          </a:p>
        </p:txBody>
      </p:sp>
      <p:sp>
        <p:nvSpPr>
          <p:cNvPr id="546" name="Google Shape;546;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Continue with the Capability Formation Field Kit.</a:t>
            </a:r>
            <a:endParaRPr sz="1120">
              <a:solidFill>
                <a:schemeClr val="dk1"/>
              </a:solidFill>
              <a:latin typeface="Calibri"/>
              <a:ea typeface="Calibri"/>
              <a:cs typeface="Calibri"/>
              <a:sym typeface="Calibri"/>
            </a:endParaRPr>
          </a:p>
        </p:txBody>
      </p:sp>
      <p:sp>
        <p:nvSpPr>
          <p:cNvPr id="547" name="Google Shape;547;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You understand your reading and want a structured system you can return to on your own.</a:t>
            </a:r>
            <a:endParaRPr sz="1000">
              <a:solidFill>
                <a:schemeClr val="dk1"/>
              </a:solidFill>
              <a:latin typeface="Calibri"/>
              <a:ea typeface="Calibri"/>
              <a:cs typeface="Calibri"/>
              <a:sym typeface="Calibri"/>
            </a:endParaRPr>
          </a:p>
        </p:txBody>
      </p:sp>
      <p:sp>
        <p:nvSpPr>
          <p:cNvPr id="548" name="Google Shape;548;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500"/>
              <a:buFont typeface="Cormorant Garamond"/>
              <a:buNone/>
            </a:pPr>
            <a:r>
              <a:rPr b="1" i="1" lang="en-US" sz="1500">
                <a:solidFill>
                  <a:srgbClr val="0F2347"/>
                </a:solidFill>
                <a:latin typeface="Cormorant Garamond"/>
                <a:ea typeface="Cormorant Garamond"/>
                <a:cs typeface="Cormorant Garamond"/>
                <a:sym typeface="Cormorant Garamond"/>
              </a:rPr>
              <a:t>Different unresolved needs require different levels of support.</a:t>
            </a:r>
            <a:endParaRPr sz="1500">
              <a:solidFill>
                <a:schemeClr val="dk1"/>
              </a:solidFill>
              <a:latin typeface="Calibri"/>
              <a:ea typeface="Calibri"/>
              <a:cs typeface="Calibri"/>
              <a:sym typeface="Calibri"/>
            </a:endParaRPr>
          </a:p>
        </p:txBody>
      </p:sp>
      <p:sp>
        <p:nvSpPr>
          <p:cNvPr id="549" name="Google Shape;549;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50" name="Google Shape;550;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sz="7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5" name="Shape 555"/>
        <p:cNvGrpSpPr/>
        <p:nvPr/>
      </p:nvGrpSpPr>
      <p:grpSpPr>
        <a:xfrm>
          <a:off x="0" y="0"/>
          <a:ext cx="0" cy="0"/>
          <a:chOff x="0" y="0"/>
          <a:chExt cx="0" cy="0"/>
        </a:xfrm>
      </p:grpSpPr>
      <p:sp>
        <p:nvSpPr>
          <p:cNvPr id="556" name="Google Shape;556;p2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57" name="Google Shape;557;p24"/>
          <p:cNvSpPr/>
          <p:nvPr/>
        </p:nvSpPr>
        <p:spPr>
          <a:xfrm>
            <a:off x="566928" y="603504"/>
            <a:ext cx="8010144"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58" name="Google Shape;558;p24"/>
          <p:cNvSpPr/>
          <p:nvPr/>
        </p:nvSpPr>
        <p:spPr>
          <a:xfrm>
            <a:off x="566928" y="1755648"/>
            <a:ext cx="3712464"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24"/>
          <p:cNvSpPr/>
          <p:nvPr/>
        </p:nvSpPr>
        <p:spPr>
          <a:xfrm>
            <a:off x="804672" y="1901952"/>
            <a:ext cx="3200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TODAY'S GUIDED READ</a:t>
            </a:r>
            <a:endParaRPr sz="820">
              <a:solidFill>
                <a:schemeClr val="dk1"/>
              </a:solidFill>
              <a:latin typeface="Calibri"/>
              <a:ea typeface="Calibri"/>
              <a:cs typeface="Calibri"/>
              <a:sym typeface="Calibri"/>
            </a:endParaRPr>
          </a:p>
        </p:txBody>
      </p:sp>
      <p:sp>
        <p:nvSpPr>
          <p:cNvPr id="560" name="Google Shape;560;p24"/>
          <p:cNvSpPr/>
          <p:nvPr/>
        </p:nvSpPr>
        <p:spPr>
          <a:xfrm>
            <a:off x="804672"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24"/>
          <p:cNvSpPr/>
          <p:nvPr/>
        </p:nvSpPr>
        <p:spPr>
          <a:xfrm>
            <a:off x="987552" y="223113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evidence-backed reading</a:t>
            </a:r>
            <a:endParaRPr sz="980">
              <a:solidFill>
                <a:schemeClr val="dk1"/>
              </a:solidFill>
              <a:latin typeface="Calibri"/>
              <a:ea typeface="Calibri"/>
              <a:cs typeface="Calibri"/>
              <a:sym typeface="Calibri"/>
            </a:endParaRPr>
          </a:p>
        </p:txBody>
      </p:sp>
      <p:sp>
        <p:nvSpPr>
          <p:cNvPr id="562" name="Google Shape;562;p24"/>
          <p:cNvSpPr/>
          <p:nvPr/>
        </p:nvSpPr>
        <p:spPr>
          <a:xfrm>
            <a:off x="804672"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24"/>
          <p:cNvSpPr/>
          <p:nvPr/>
        </p:nvSpPr>
        <p:spPr>
          <a:xfrm>
            <a:off x="987552" y="250545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64" name="Google Shape;564;p24"/>
          <p:cNvSpPr/>
          <p:nvPr/>
        </p:nvSpPr>
        <p:spPr>
          <a:xfrm>
            <a:off x="804672"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4"/>
          <p:cNvSpPr/>
          <p:nvPr/>
        </p:nvSpPr>
        <p:spPr>
          <a:xfrm>
            <a:off x="987552" y="277977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66" name="Google Shape;566;p24"/>
          <p:cNvSpPr/>
          <p:nvPr/>
        </p:nvSpPr>
        <p:spPr>
          <a:xfrm>
            <a:off x="804672"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24"/>
          <p:cNvSpPr/>
          <p:nvPr/>
        </p:nvSpPr>
        <p:spPr>
          <a:xfrm>
            <a:off x="987552" y="305409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68" name="Google Shape;568;p24"/>
          <p:cNvSpPr/>
          <p:nvPr/>
        </p:nvSpPr>
        <p:spPr>
          <a:xfrm>
            <a:off x="804672" y="3602736"/>
            <a:ext cx="3200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69" name="Google Shape;569;p24"/>
          <p:cNvSpPr/>
          <p:nvPr/>
        </p:nvSpPr>
        <p:spPr>
          <a:xfrm>
            <a:off x="4443984" y="1755648"/>
            <a:ext cx="4133088"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24"/>
          <p:cNvSpPr/>
          <p:nvPr/>
        </p:nvSpPr>
        <p:spPr>
          <a:xfrm>
            <a:off x="4681728" y="1901952"/>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CAPABILITY FORMATION FIELD KIT</a:t>
            </a:r>
            <a:endParaRPr sz="820">
              <a:solidFill>
                <a:schemeClr val="dk1"/>
              </a:solidFill>
              <a:latin typeface="Calibri"/>
              <a:ea typeface="Calibri"/>
              <a:cs typeface="Calibri"/>
              <a:sym typeface="Calibri"/>
            </a:endParaRPr>
          </a:p>
        </p:txBody>
      </p:sp>
      <p:sp>
        <p:nvSpPr>
          <p:cNvPr id="571" name="Google Shape;571;p24"/>
          <p:cNvSpPr/>
          <p:nvPr/>
        </p:nvSpPr>
        <p:spPr>
          <a:xfrm>
            <a:off x="4681728"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24"/>
          <p:cNvSpPr/>
          <p:nvPr/>
        </p:nvSpPr>
        <p:spPr>
          <a:xfrm>
            <a:off x="4864608" y="223113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73" name="Google Shape;573;p24"/>
          <p:cNvSpPr/>
          <p:nvPr/>
        </p:nvSpPr>
        <p:spPr>
          <a:xfrm>
            <a:off x="4681728"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24"/>
          <p:cNvSpPr/>
          <p:nvPr/>
        </p:nvSpPr>
        <p:spPr>
          <a:xfrm>
            <a:off x="4864608" y="250545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75" name="Google Shape;575;p24"/>
          <p:cNvSpPr/>
          <p:nvPr/>
        </p:nvSpPr>
        <p:spPr>
          <a:xfrm>
            <a:off x="4681728"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24"/>
          <p:cNvSpPr/>
          <p:nvPr/>
        </p:nvSpPr>
        <p:spPr>
          <a:xfrm>
            <a:off x="4864608" y="277977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77" name="Google Shape;577;p24"/>
          <p:cNvSpPr/>
          <p:nvPr/>
        </p:nvSpPr>
        <p:spPr>
          <a:xfrm>
            <a:off x="4681728"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24"/>
          <p:cNvSpPr/>
          <p:nvPr/>
        </p:nvSpPr>
        <p:spPr>
          <a:xfrm>
            <a:off x="4864608" y="305409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579" name="Google Shape;579;p24"/>
          <p:cNvPicPr preferRelativeResize="0"/>
          <p:nvPr/>
        </p:nvPicPr>
        <p:blipFill rotWithShape="1">
          <a:blip r:embed="rId3">
            <a:alphaModFix/>
          </a:blip>
          <a:srcRect b="0" l="0" r="0" t="0"/>
          <a:stretch/>
        </p:blipFill>
        <p:spPr>
          <a:xfrm>
            <a:off x="7827264" y="1883664"/>
            <a:ext cx="658368" cy="852221"/>
          </a:xfrm>
          <a:prstGeom prst="rect">
            <a:avLst/>
          </a:prstGeom>
          <a:noFill/>
          <a:ln>
            <a:noFill/>
          </a:ln>
        </p:spPr>
      </p:pic>
      <p:pic>
        <p:nvPicPr>
          <p:cNvPr descr="preencoded.png" id="580" name="Google Shape;580;p2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581" name="Google Shape;581;p24">
            <a:hlinkClick r:id="rId6"/>
          </p:cNvPr>
          <p:cNvSpPr/>
          <p:nvPr/>
        </p:nvSpPr>
        <p:spPr>
          <a:xfrm>
            <a:off x="4681728" y="336499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582" name="Google Shape;582;p24">
            <a:hlinkClick r:id="rId8"/>
          </p:cNvPr>
          <p:cNvSpPr/>
          <p:nvPr/>
        </p:nvSpPr>
        <p:spPr>
          <a:xfrm>
            <a:off x="4681728" y="363931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583" name="Google Shape;583;p24"/>
          <p:cNvSpPr/>
          <p:nvPr/>
        </p:nvSpPr>
        <p:spPr>
          <a:xfrm>
            <a:off x="566928" y="4187952"/>
            <a:ext cx="801014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584" name="Google Shape;584;p2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85" name="Google Shape;585;p2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sz="7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590" name="Shape 590"/>
        <p:cNvGrpSpPr/>
        <p:nvPr/>
      </p:nvGrpSpPr>
      <p:grpSpPr>
        <a:xfrm>
          <a:off x="0" y="0"/>
          <a:ext cx="0" cy="0"/>
          <a:chOff x="0" y="0"/>
          <a:chExt cx="0" cy="0"/>
        </a:xfrm>
      </p:grpSpPr>
      <p:sp>
        <p:nvSpPr>
          <p:cNvPr id="591" name="Google Shape;591;p25"/>
          <p:cNvSpPr/>
          <p:nvPr/>
        </p:nvSpPr>
        <p:spPr>
          <a:xfrm>
            <a:off x="566928" y="82296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592" name="Google Shape;592;p25"/>
          <p:cNvSpPr/>
          <p:nvPr/>
        </p:nvSpPr>
        <p:spPr>
          <a:xfrm>
            <a:off x="566928" y="1188720"/>
            <a:ext cx="8010144" cy="118872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593" name="Google Shape;593;p25"/>
          <p:cNvSpPr/>
          <p:nvPr/>
        </p:nvSpPr>
        <p:spPr>
          <a:xfrm>
            <a:off x="566928" y="252374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25"/>
          <p:cNvSpPr/>
          <p:nvPr/>
        </p:nvSpPr>
        <p:spPr>
          <a:xfrm>
            <a:off x="566928" y="2761488"/>
            <a:ext cx="6309360" cy="109728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300">
              <a:solidFill>
                <a:schemeClr val="dk1"/>
              </a:solidFill>
              <a:latin typeface="Calibri"/>
              <a:ea typeface="Calibri"/>
              <a:cs typeface="Calibri"/>
              <a:sym typeface="Calibri"/>
            </a:endParaRPr>
          </a:p>
        </p:txBody>
      </p:sp>
      <p:sp>
        <p:nvSpPr>
          <p:cNvPr id="595" name="Google Shape;595;p25"/>
          <p:cNvSpPr/>
          <p:nvPr/>
        </p:nvSpPr>
        <p:spPr>
          <a:xfrm>
            <a:off x="566928" y="426110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860"/>
              <a:buFont typeface="Montserrat"/>
              <a:buNone/>
            </a:pPr>
            <a:r>
              <a:rPr b="1" lang="en-US" sz="860">
                <a:solidFill>
                  <a:srgbClr val="B8C5D9"/>
                </a:solidFill>
                <a:latin typeface="Montserrat"/>
                <a:ea typeface="Montserrat"/>
                <a:cs typeface="Montserrat"/>
                <a:sym typeface="Montserrat"/>
              </a:rPr>
              <a:t>Capability Formation  ·  Temidayo Afonja  ·  The Density Group</a:t>
            </a:r>
            <a:endParaRPr sz="860">
              <a:solidFill>
                <a:schemeClr val="dk1"/>
              </a:solidFill>
              <a:latin typeface="Calibri"/>
              <a:ea typeface="Calibri"/>
              <a:cs typeface="Calibri"/>
              <a:sym typeface="Calibri"/>
            </a:endParaRPr>
          </a:p>
        </p:txBody>
      </p:sp>
      <p:sp>
        <p:nvSpPr>
          <p:cNvPr id="596" name="Google Shape;596;p2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97" name="Google Shape;597;p2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25</a:t>
            </a:r>
            <a:endParaRPr sz="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02" name="Shape 602"/>
        <p:cNvGrpSpPr/>
        <p:nvPr/>
      </p:nvGrpSpPr>
      <p:grpSpPr>
        <a:xfrm>
          <a:off x="0" y="0"/>
          <a:ext cx="0" cy="0"/>
          <a:chOff x="0" y="0"/>
          <a:chExt cx="0" cy="0"/>
        </a:xfrm>
      </p:grpSpPr>
      <p:sp>
        <p:nvSpPr>
          <p:cNvPr id="603" name="Google Shape;603;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950"/>
              <a:buFont typeface="Montserrat"/>
              <a:buNone/>
            </a:pPr>
            <a:r>
              <a:rPr b="1" lang="en-US" sz="950">
                <a:solidFill>
                  <a:srgbClr val="C1440E"/>
                </a:solidFill>
                <a:latin typeface="Montserrat"/>
                <a:ea typeface="Montserrat"/>
                <a:cs typeface="Montserrat"/>
                <a:sym typeface="Montserrat"/>
              </a:rPr>
              <a:t>LIVE ONLY  ·  RECORDING OFF  ·  10 MINUTES</a:t>
            </a:r>
            <a:endParaRPr sz="950">
              <a:solidFill>
                <a:schemeClr val="dk1"/>
              </a:solidFill>
              <a:latin typeface="Calibri"/>
              <a:ea typeface="Calibri"/>
              <a:cs typeface="Calibri"/>
              <a:sym typeface="Calibri"/>
            </a:endParaRPr>
          </a:p>
        </p:txBody>
      </p:sp>
      <p:sp>
        <p:nvSpPr>
          <p:cNvPr id="604" name="Google Shape;604;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Questions &amp; Applications</a:t>
            </a:r>
            <a:endParaRPr sz="3200">
              <a:solidFill>
                <a:schemeClr val="dk1"/>
              </a:solidFill>
              <a:latin typeface="Calibri"/>
              <a:ea typeface="Calibri"/>
              <a:cs typeface="Calibri"/>
              <a:sym typeface="Calibri"/>
            </a:endParaRPr>
          </a:p>
        </p:txBody>
      </p:sp>
      <p:sp>
        <p:nvSpPr>
          <p:cNvPr id="605" name="Google Shape;605;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Ten minutes. The recording has stopped.</a:t>
            </a:r>
            <a:endParaRPr sz="1150">
              <a:solidFill>
                <a:schemeClr val="dk1"/>
              </a:solidFill>
              <a:latin typeface="Calibri"/>
              <a:ea typeface="Calibri"/>
              <a:cs typeface="Calibri"/>
              <a:sym typeface="Calibri"/>
            </a:endParaRPr>
          </a:p>
        </p:txBody>
      </p:sp>
      <p:sp>
        <p:nvSpPr>
          <p:cNvPr id="606" name="Google Shape;606;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sz="1500">
              <a:solidFill>
                <a:schemeClr val="dk1"/>
              </a:solidFill>
              <a:latin typeface="Calibri"/>
              <a:ea typeface="Calibri"/>
              <a:cs typeface="Calibri"/>
              <a:sym typeface="Calibri"/>
            </a:endParaRPr>
          </a:p>
        </p:txBody>
      </p:sp>
      <p:sp>
        <p:nvSpPr>
          <p:cNvPr id="608" name="Google Shape;608;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WELCOME</a:t>
            </a:r>
            <a:endParaRPr sz="820">
              <a:solidFill>
                <a:schemeClr val="dk1"/>
              </a:solidFill>
              <a:latin typeface="Calibri"/>
              <a:ea typeface="Calibri"/>
              <a:cs typeface="Calibri"/>
              <a:sym typeface="Calibri"/>
            </a:endParaRPr>
          </a:p>
        </p:txBody>
      </p:sp>
      <p:sp>
        <p:nvSpPr>
          <p:cNvPr id="610" name="Google Shape;610;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lang="en-US" sz="1040">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sz="1040">
              <a:solidFill>
                <a:schemeClr val="dk1"/>
              </a:solidFill>
              <a:latin typeface="Calibri"/>
              <a:ea typeface="Calibri"/>
              <a:cs typeface="Calibri"/>
              <a:sym typeface="Calibri"/>
            </a:endParaRPr>
          </a:p>
        </p:txBody>
      </p:sp>
      <p:sp>
        <p:nvSpPr>
          <p:cNvPr id="611" name="Google Shape;611;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820"/>
              <a:buFont typeface="Montserrat"/>
              <a:buNone/>
            </a:pPr>
            <a:r>
              <a:rPr b="1" lang="en-US" sz="820">
                <a:solidFill>
                  <a:srgbClr val="F5F0E8"/>
                </a:solidFill>
                <a:latin typeface="Montserrat"/>
                <a:ea typeface="Montserrat"/>
                <a:cs typeface="Montserrat"/>
                <a:sym typeface="Montserrat"/>
              </a:rPr>
              <a:t>OUTSIDE THE BOUNDARY</a:t>
            </a:r>
            <a:endParaRPr sz="820">
              <a:solidFill>
                <a:schemeClr val="dk1"/>
              </a:solidFill>
              <a:latin typeface="Calibri"/>
              <a:ea typeface="Calibri"/>
              <a:cs typeface="Calibri"/>
              <a:sym typeface="Calibri"/>
            </a:endParaRPr>
          </a:p>
        </p:txBody>
      </p:sp>
      <p:sp>
        <p:nvSpPr>
          <p:cNvPr id="613" name="Google Shape;613;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lang="en-US" sz="1040">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sz="1040">
              <a:solidFill>
                <a:schemeClr val="dk1"/>
              </a:solidFill>
              <a:latin typeface="Calibri"/>
              <a:ea typeface="Calibri"/>
              <a:cs typeface="Calibri"/>
              <a:sym typeface="Calibri"/>
            </a:endParaRPr>
          </a:p>
        </p:txBody>
      </p:sp>
      <p:sp>
        <p:nvSpPr>
          <p:cNvPr id="614" name="Google Shape;614;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Close at 60:00.</a:t>
            </a:r>
            <a:endParaRPr sz="1150">
              <a:solidFill>
                <a:schemeClr val="dk1"/>
              </a:solidFill>
              <a:latin typeface="Calibri"/>
              <a:ea typeface="Calibri"/>
              <a:cs typeface="Calibri"/>
              <a:sym typeface="Calibri"/>
            </a:endParaRPr>
          </a:p>
        </p:txBody>
      </p:sp>
      <p:sp>
        <p:nvSpPr>
          <p:cNvPr id="615" name="Google Shape;615;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16" name="Google Shape;616;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26</a:t>
            </a:r>
            <a:endParaRPr sz="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1" name="Shape 621"/>
        <p:cNvGrpSpPr/>
        <p:nvPr/>
      </p:nvGrpSpPr>
      <p:grpSpPr>
        <a:xfrm>
          <a:off x="0" y="0"/>
          <a:ext cx="0" cy="0"/>
          <a:chOff x="0" y="0"/>
          <a:chExt cx="0" cy="0"/>
        </a:xfrm>
      </p:grpSpPr>
      <p:sp>
        <p:nvSpPr>
          <p:cNvPr id="622" name="Google Shape;622;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23" name="Google Shape;623;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Position Exposure Signals</a:t>
            </a:r>
            <a:endParaRPr sz="2600">
              <a:solidFill>
                <a:schemeClr val="dk1"/>
              </a:solidFill>
              <a:latin typeface="Calibri"/>
              <a:ea typeface="Calibri"/>
              <a:cs typeface="Calibri"/>
              <a:sym typeface="Calibri"/>
            </a:endParaRPr>
          </a:p>
        </p:txBody>
      </p:sp>
      <p:sp>
        <p:nvSpPr>
          <p:cNvPr id="624" name="Google Shape;624;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Questions to investigate, not predictions.</a:t>
            </a:r>
            <a:endParaRPr sz="1150">
              <a:solidFill>
                <a:schemeClr val="dk1"/>
              </a:solidFill>
              <a:latin typeface="Calibri"/>
              <a:ea typeface="Calibri"/>
              <a:cs typeface="Calibri"/>
              <a:sym typeface="Calibri"/>
            </a:endParaRPr>
          </a:p>
        </p:txBody>
      </p:sp>
      <p:sp>
        <p:nvSpPr>
          <p:cNvPr id="625" name="Google Shape;625;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Your current role</a:t>
            </a:r>
            <a:endParaRPr sz="1250">
              <a:solidFill>
                <a:schemeClr val="dk1"/>
              </a:solidFill>
              <a:latin typeface="Calibri"/>
              <a:ea typeface="Calibri"/>
              <a:cs typeface="Calibri"/>
              <a:sym typeface="Calibri"/>
            </a:endParaRPr>
          </a:p>
        </p:txBody>
      </p:sp>
      <p:sp>
        <p:nvSpPr>
          <p:cNvPr id="627" name="Google Shape;627;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Is the mandate being absorbed, narrowed, duplicated or repeatedly redefined?</a:t>
            </a:r>
            <a:endParaRPr sz="1100">
              <a:solidFill>
                <a:schemeClr val="dk1"/>
              </a:solidFill>
              <a:latin typeface="Calibri"/>
              <a:ea typeface="Calibri"/>
              <a:cs typeface="Calibri"/>
              <a:sym typeface="Calibri"/>
            </a:endParaRPr>
          </a:p>
        </p:txBody>
      </p:sp>
      <p:sp>
        <p:nvSpPr>
          <p:cNvPr id="628" name="Google Shape;628;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 role you are considering</a:t>
            </a:r>
            <a:endParaRPr sz="1250">
              <a:solidFill>
                <a:schemeClr val="dk1"/>
              </a:solidFill>
              <a:latin typeface="Calibri"/>
              <a:ea typeface="Calibri"/>
              <a:cs typeface="Calibri"/>
              <a:sym typeface="Calibri"/>
            </a:endParaRPr>
          </a:p>
        </p:txBody>
      </p:sp>
      <p:sp>
        <p:nvSpPr>
          <p:cNvPr id="630" name="Google Shape;630;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Does the position exist because of a strategy, or because of one sponsor?</a:t>
            </a:r>
            <a:endParaRPr sz="1100">
              <a:solidFill>
                <a:schemeClr val="dk1"/>
              </a:solidFill>
              <a:latin typeface="Calibri"/>
              <a:ea typeface="Calibri"/>
              <a:cs typeface="Calibri"/>
              <a:sym typeface="Calibri"/>
            </a:endParaRPr>
          </a:p>
        </p:txBody>
      </p:sp>
      <p:sp>
        <p:nvSpPr>
          <p:cNvPr id="631" name="Google Shape;631;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Either</a:t>
            </a:r>
            <a:endParaRPr sz="1250">
              <a:solidFill>
                <a:schemeClr val="dk1"/>
              </a:solidFill>
              <a:latin typeface="Calibri"/>
              <a:ea typeface="Calibri"/>
              <a:cs typeface="Calibri"/>
              <a:sym typeface="Calibri"/>
            </a:endParaRPr>
          </a:p>
        </p:txBody>
      </p:sp>
      <p:sp>
        <p:nvSpPr>
          <p:cNvPr id="633" name="Google Shape;633;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Who outside your manager would notice if the function disappeared?</a:t>
            </a:r>
            <a:endParaRPr sz="1100">
              <a:solidFill>
                <a:schemeClr val="dk1"/>
              </a:solidFill>
              <a:latin typeface="Calibri"/>
              <a:ea typeface="Calibri"/>
              <a:cs typeface="Calibri"/>
              <a:sym typeface="Calibri"/>
            </a:endParaRPr>
          </a:p>
        </p:txBody>
      </p:sp>
      <p:sp>
        <p:nvSpPr>
          <p:cNvPr id="634" name="Google Shape;634;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39" name="Shape 639"/>
        <p:cNvGrpSpPr/>
        <p:nvPr/>
      </p:nvGrpSpPr>
      <p:grpSpPr>
        <a:xfrm>
          <a:off x="0" y="0"/>
          <a:ext cx="0" cy="0"/>
          <a:chOff x="0" y="0"/>
          <a:chExt cx="0" cy="0"/>
        </a:xfrm>
      </p:grpSpPr>
      <p:sp>
        <p:nvSpPr>
          <p:cNvPr id="640" name="Google Shape;640;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41" name="Google Shape;641;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AI and Compounding</a:t>
            </a:r>
            <a:endParaRPr sz="2600">
              <a:solidFill>
                <a:schemeClr val="dk1"/>
              </a:solidFill>
              <a:latin typeface="Calibri"/>
              <a:ea typeface="Calibri"/>
              <a:cs typeface="Calibri"/>
              <a:sym typeface="Calibri"/>
            </a:endParaRPr>
          </a:p>
        </p:txBody>
      </p:sp>
      <p:sp>
        <p:nvSpPr>
          <p:cNvPr id="642" name="Google Shape;642;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two axes. Not a technology session.</a:t>
            </a:r>
            <a:endParaRPr sz="1150">
              <a:solidFill>
                <a:schemeClr val="dk1"/>
              </a:solidFill>
              <a:latin typeface="Calibri"/>
              <a:ea typeface="Calibri"/>
              <a:cs typeface="Calibri"/>
              <a:sym typeface="Calibri"/>
            </a:endParaRPr>
          </a:p>
        </p:txBody>
      </p:sp>
      <p:sp>
        <p:nvSpPr>
          <p:cNvPr id="643" name="Google Shape;643;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reading does not change</a:t>
            </a:r>
            <a:endParaRPr sz="1250">
              <a:solidFill>
                <a:schemeClr val="dk1"/>
              </a:solidFill>
              <a:latin typeface="Calibri"/>
              <a:ea typeface="Calibri"/>
              <a:cs typeface="Calibri"/>
              <a:sym typeface="Calibri"/>
            </a:endParaRPr>
          </a:p>
        </p:txBody>
      </p:sp>
      <p:sp>
        <p:nvSpPr>
          <p:cNvPr id="645" name="Google Shape;645;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sz="1100">
              <a:solidFill>
                <a:schemeClr val="dk1"/>
              </a:solidFill>
              <a:latin typeface="Calibri"/>
              <a:ea typeface="Calibri"/>
              <a:cs typeface="Calibri"/>
              <a:sym typeface="Calibri"/>
            </a:endParaRPr>
          </a:p>
        </p:txBody>
      </p:sp>
      <p:sp>
        <p:nvSpPr>
          <p:cNvPr id="646" name="Google Shape;646;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Density and Optionality do not become less important</a:t>
            </a:r>
            <a:endParaRPr sz="1250">
              <a:solidFill>
                <a:schemeClr val="dk1"/>
              </a:solidFill>
              <a:latin typeface="Calibri"/>
              <a:ea typeface="Calibri"/>
              <a:cs typeface="Calibri"/>
              <a:sym typeface="Calibri"/>
            </a:endParaRPr>
          </a:p>
        </p:txBody>
      </p:sp>
      <p:sp>
        <p:nvSpPr>
          <p:cNvPr id="648" name="Google Shape;648;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They become more consequential.</a:t>
            </a:r>
            <a:endParaRPr sz="1100">
              <a:solidFill>
                <a:schemeClr val="dk1"/>
              </a:solidFill>
              <a:latin typeface="Calibri"/>
              <a:ea typeface="Calibri"/>
              <a:cs typeface="Calibri"/>
              <a:sym typeface="Calibri"/>
            </a:endParaRPr>
          </a:p>
        </p:txBody>
      </p:sp>
      <p:sp>
        <p:nvSpPr>
          <p:cNvPr id="649" name="Google Shape;649;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What this is not</a:t>
            </a:r>
            <a:endParaRPr sz="1250">
              <a:solidFill>
                <a:schemeClr val="dk1"/>
              </a:solidFill>
              <a:latin typeface="Calibri"/>
              <a:ea typeface="Calibri"/>
              <a:cs typeface="Calibri"/>
              <a:sym typeface="Calibri"/>
            </a:endParaRPr>
          </a:p>
        </p:txBody>
      </p:sp>
      <p:sp>
        <p:nvSpPr>
          <p:cNvPr id="651" name="Google Shape;651;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Not a prediction about jobs, tools or timelines. No tool names.</a:t>
            </a:r>
            <a:endParaRPr sz="1100">
              <a:solidFill>
                <a:schemeClr val="dk1"/>
              </a:solidFill>
              <a:latin typeface="Calibri"/>
              <a:ea typeface="Calibri"/>
              <a:cs typeface="Calibri"/>
              <a:sym typeface="Calibri"/>
            </a:endParaRPr>
          </a:p>
        </p:txBody>
      </p:sp>
      <p:sp>
        <p:nvSpPr>
          <p:cNvPr id="652" name="Google Shape;652;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59" name="Google Shape;659;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translation actually means</a:t>
            </a:r>
            <a:endParaRPr sz="2600">
              <a:solidFill>
                <a:schemeClr val="dk1"/>
              </a:solidFill>
              <a:latin typeface="Calibri"/>
              <a:ea typeface="Calibri"/>
              <a:cs typeface="Calibri"/>
              <a:sym typeface="Calibri"/>
            </a:endParaRPr>
          </a:p>
        </p:txBody>
      </p:sp>
      <p:sp>
        <p:nvSpPr>
          <p:cNvPr id="660" name="Google Shape;660;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second move category.</a:t>
            </a:r>
            <a:endParaRPr sz="1150">
              <a:solidFill>
                <a:schemeClr val="dk1"/>
              </a:solidFill>
              <a:latin typeface="Calibri"/>
              <a:ea typeface="Calibri"/>
              <a:cs typeface="Calibri"/>
              <a:sym typeface="Calibri"/>
            </a:endParaRPr>
          </a:p>
        </p:txBody>
      </p:sp>
      <p:sp>
        <p:nvSpPr>
          <p:cNvPr id="661" name="Google Shape;661;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Legibility is not bragging</a:t>
            </a:r>
            <a:endParaRPr sz="1250">
              <a:solidFill>
                <a:schemeClr val="dk1"/>
              </a:solidFill>
              <a:latin typeface="Calibri"/>
              <a:ea typeface="Calibri"/>
              <a:cs typeface="Calibri"/>
              <a:sym typeface="Calibri"/>
            </a:endParaRPr>
          </a:p>
        </p:txBody>
      </p:sp>
      <p:sp>
        <p:nvSpPr>
          <p:cNvPr id="663" name="Google Shape;663;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It is evidence translated into language another context can understand.</a:t>
            </a:r>
            <a:endParaRPr sz="1100">
              <a:solidFill>
                <a:schemeClr val="dk1"/>
              </a:solidFill>
              <a:latin typeface="Calibri"/>
              <a:ea typeface="Calibri"/>
              <a:cs typeface="Calibri"/>
              <a:sym typeface="Calibri"/>
            </a:endParaRPr>
          </a:p>
        </p:txBody>
      </p:sp>
      <p:sp>
        <p:nvSpPr>
          <p:cNvPr id="664" name="Google Shape;664;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66" name="Google Shape;666;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Name the problem, the constraint, what you did, and what changed — without internal vocabulary.</a:t>
            </a:r>
            <a:endParaRPr sz="1100">
              <a:solidFill>
                <a:schemeClr val="dk1"/>
              </a:solidFill>
              <a:latin typeface="Calibri"/>
              <a:ea typeface="Calibri"/>
              <a:cs typeface="Calibri"/>
              <a:sym typeface="Calibri"/>
            </a:endParaRPr>
          </a:p>
        </p:txBody>
      </p:sp>
      <p:sp>
        <p:nvSpPr>
          <p:cNvPr id="667" name="Google Shape;667;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Why it matters</a:t>
            </a:r>
            <a:endParaRPr sz="1250">
              <a:solidFill>
                <a:schemeClr val="dk1"/>
              </a:solidFill>
              <a:latin typeface="Calibri"/>
              <a:ea typeface="Calibri"/>
              <a:cs typeface="Calibri"/>
              <a:sym typeface="Calibri"/>
            </a:endParaRPr>
          </a:p>
        </p:txBody>
      </p:sp>
      <p:sp>
        <p:nvSpPr>
          <p:cNvPr id="669" name="Google Shape;669;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sz="1100">
              <a:solidFill>
                <a:schemeClr val="dk1"/>
              </a:solidFill>
              <a:latin typeface="Calibri"/>
              <a:ea typeface="Calibri"/>
              <a:cs typeface="Calibri"/>
              <a:sym typeface="Calibri"/>
            </a:endParaRPr>
          </a:p>
        </p:txBody>
      </p:sp>
      <p:sp>
        <p:nvSpPr>
          <p:cNvPr id="670" name="Google Shape;670;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77" name="Google Shape;677;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Promotion and formation</a:t>
            </a:r>
            <a:endParaRPr sz="2600">
              <a:solidFill>
                <a:schemeClr val="dk1"/>
              </a:solidFill>
              <a:latin typeface="Calibri"/>
              <a:ea typeface="Calibri"/>
              <a:cs typeface="Calibri"/>
              <a:sym typeface="Calibri"/>
            </a:endParaRPr>
          </a:p>
        </p:txBody>
      </p:sp>
      <p:sp>
        <p:nvSpPr>
          <p:cNvPr id="678" name="Google Shape;678;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same misreading, in the place it is hardest to see.</a:t>
            </a:r>
            <a:endParaRPr sz="1150">
              <a:solidFill>
                <a:schemeClr val="dk1"/>
              </a:solidFill>
              <a:latin typeface="Calibri"/>
              <a:ea typeface="Calibri"/>
              <a:cs typeface="Calibri"/>
              <a:sym typeface="Calibri"/>
            </a:endParaRPr>
          </a:p>
        </p:txBody>
      </p:sp>
      <p:sp>
        <p:nvSpPr>
          <p:cNvPr id="679" name="Google Shape;679;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tension</a:t>
            </a:r>
            <a:endParaRPr sz="1250">
              <a:solidFill>
                <a:schemeClr val="dk1"/>
              </a:solidFill>
              <a:latin typeface="Calibri"/>
              <a:ea typeface="Calibri"/>
              <a:cs typeface="Calibri"/>
              <a:sym typeface="Calibri"/>
            </a:endParaRPr>
          </a:p>
        </p:txBody>
      </p:sp>
      <p:sp>
        <p:nvSpPr>
          <p:cNvPr id="681" name="Google Shape;681;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promotion can increase responsibility, visibility and dependence while reducing formation.</a:t>
            </a:r>
            <a:endParaRPr sz="1100">
              <a:solidFill>
                <a:schemeClr val="dk1"/>
              </a:solidFill>
              <a:latin typeface="Calibri"/>
              <a:ea typeface="Calibri"/>
              <a:cs typeface="Calibri"/>
              <a:sym typeface="Calibri"/>
            </a:endParaRPr>
          </a:p>
        </p:txBody>
      </p:sp>
      <p:sp>
        <p:nvSpPr>
          <p:cNvPr id="682" name="Google Shape;682;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84" name="Google Shape;684;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high performer moves into approvals, representation and familiar judgment — more scope, fewer unfamiliar problems.</a:t>
            </a:r>
            <a:endParaRPr sz="1100">
              <a:solidFill>
                <a:schemeClr val="dk1"/>
              </a:solidFill>
              <a:latin typeface="Calibri"/>
              <a:ea typeface="Calibri"/>
              <a:cs typeface="Calibri"/>
              <a:sym typeface="Calibri"/>
            </a:endParaRPr>
          </a:p>
        </p:txBody>
      </p:sp>
      <p:sp>
        <p:nvSpPr>
          <p:cNvPr id="685" name="Google Shape;685;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test</a:t>
            </a:r>
            <a:endParaRPr sz="1250">
              <a:solidFill>
                <a:schemeClr val="dk1"/>
              </a:solidFill>
              <a:latin typeface="Calibri"/>
              <a:ea typeface="Calibri"/>
              <a:cs typeface="Calibri"/>
              <a:sym typeface="Calibri"/>
            </a:endParaRPr>
          </a:p>
        </p:txBody>
      </p:sp>
      <p:sp>
        <p:nvSpPr>
          <p:cNvPr id="687" name="Google Shape;687;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What capability do you have now that you did not have before your responsibilities increased?</a:t>
            </a:r>
            <a:endParaRPr sz="1100">
              <a:solidFill>
                <a:schemeClr val="dk1"/>
              </a:solidFill>
              <a:latin typeface="Calibri"/>
              <a:ea typeface="Calibri"/>
              <a:cs typeface="Calibri"/>
              <a:sym typeface="Calibri"/>
            </a:endParaRPr>
          </a:p>
        </p:txBody>
      </p:sp>
      <p:sp>
        <p:nvSpPr>
          <p:cNvPr id="688" name="Google Shape;688;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693" name="Shape 693"/>
        <p:cNvGrpSpPr/>
        <p:nvPr/>
      </p:nvGrpSpPr>
      <p:grpSpPr>
        <a:xfrm>
          <a:off x="0" y="0"/>
          <a:ext cx="0" cy="0"/>
          <a:chOff x="0" y="0"/>
          <a:chExt cx="0" cy="0"/>
        </a:xfrm>
      </p:grpSpPr>
      <p:sp>
        <p:nvSpPr>
          <p:cNvPr id="694" name="Google Shape;694;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INSTITUTIONAL DELIVERY CLOSE  ·  OPTIONAL</a:t>
            </a:r>
            <a:endParaRPr sz="900">
              <a:solidFill>
                <a:schemeClr val="dk1"/>
              </a:solidFill>
              <a:latin typeface="Calibri"/>
              <a:ea typeface="Calibri"/>
              <a:cs typeface="Calibri"/>
              <a:sym typeface="Calibri"/>
            </a:endParaRPr>
          </a:p>
        </p:txBody>
      </p:sp>
      <p:sp>
        <p:nvSpPr>
          <p:cNvPr id="695" name="Google Shape;695;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has the journey built in you?</a:t>
            </a:r>
            <a:endParaRPr sz="2900">
              <a:solidFill>
                <a:schemeClr val="dk1"/>
              </a:solidFill>
              <a:latin typeface="Calibri"/>
              <a:ea typeface="Calibri"/>
              <a:cs typeface="Calibri"/>
              <a:sym typeface="Calibri"/>
            </a:endParaRPr>
          </a:p>
        </p:txBody>
      </p:sp>
      <p:sp>
        <p:nvSpPr>
          <p:cNvPr id="696" name="Google Shape;696;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remains useful when the context changes?</a:t>
            </a:r>
            <a:endParaRPr sz="2900">
              <a:solidFill>
                <a:schemeClr val="dk1"/>
              </a:solidFill>
              <a:latin typeface="Calibri"/>
              <a:ea typeface="Calibri"/>
              <a:cs typeface="Calibri"/>
              <a:sym typeface="Calibri"/>
            </a:endParaRPr>
          </a:p>
        </p:txBody>
      </p:sp>
      <p:sp>
        <p:nvSpPr>
          <p:cNvPr id="697" name="Google Shape;697;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can you do somewhere else?</a:t>
            </a:r>
            <a:endParaRPr sz="2900">
              <a:solidFill>
                <a:schemeClr val="dk1"/>
              </a:solidFill>
              <a:latin typeface="Calibri"/>
              <a:ea typeface="Calibri"/>
              <a:cs typeface="Calibri"/>
              <a:sym typeface="Calibri"/>
            </a:endParaRPr>
          </a:p>
        </p:txBody>
      </p:sp>
      <p:sp>
        <p:nvSpPr>
          <p:cNvPr id="698" name="Google Shape;698;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000"/>
              <a:buFont typeface="Montserrat"/>
              <a:buNone/>
            </a:pPr>
            <a:r>
              <a:rPr b="1" lang="en-US" sz="1000">
                <a:solidFill>
                  <a:srgbClr val="B8C5D9"/>
                </a:solidFill>
                <a:latin typeface="Montserrat"/>
                <a:ea typeface="Montserrat"/>
                <a:cs typeface="Montserrat"/>
                <a:sym typeface="Montserrat"/>
              </a:rPr>
              <a:t>Capability Formation  ·  Temidayo Afonja  ·  The Density Group</a:t>
            </a:r>
            <a:endParaRPr sz="1000">
              <a:solidFill>
                <a:schemeClr val="dk1"/>
              </a:solidFill>
              <a:latin typeface="Calibri"/>
              <a:ea typeface="Calibri"/>
              <a:cs typeface="Calibri"/>
              <a:sym typeface="Calibri"/>
            </a:endParaRPr>
          </a:p>
        </p:txBody>
      </p:sp>
      <p:sp>
        <p:nvSpPr>
          <p:cNvPr id="700" name="Google Shape;700;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05" name="Shape 705"/>
        <p:cNvGrpSpPr/>
        <p:nvPr/>
      </p:nvGrpSpPr>
      <p:grpSpPr>
        <a:xfrm>
          <a:off x="0" y="0"/>
          <a:ext cx="0" cy="0"/>
          <a:chOff x="0" y="0"/>
          <a:chExt cx="0" cy="0"/>
        </a:xfrm>
      </p:grpSpPr>
      <p:sp>
        <p:nvSpPr>
          <p:cNvPr id="706" name="Google Shape;706;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OPTIONAL  ·  NOT PART OF THE TIMED CORE</a:t>
            </a:r>
            <a:endParaRPr sz="950">
              <a:solidFill>
                <a:schemeClr val="dk1"/>
              </a:solidFill>
              <a:latin typeface="Calibri"/>
              <a:ea typeface="Calibri"/>
              <a:cs typeface="Calibri"/>
              <a:sym typeface="Calibri"/>
            </a:endParaRPr>
          </a:p>
        </p:txBody>
      </p:sp>
      <p:sp>
        <p:nvSpPr>
          <p:cNvPr id="707" name="Google Shape;707;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moved when you tested your first read</a:t>
            </a:r>
            <a:endParaRPr sz="2600">
              <a:solidFill>
                <a:schemeClr val="dk1"/>
              </a:solidFill>
              <a:latin typeface="Calibri"/>
              <a:ea typeface="Calibri"/>
              <a:cs typeface="Calibri"/>
              <a:sym typeface="Calibri"/>
            </a:endParaRPr>
          </a:p>
        </p:txBody>
      </p:sp>
      <p:sp>
        <p:nvSpPr>
          <p:cNvPr id="708" name="Google Shape;708;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One anonymous response. No score, state, employer, or identifying information is requested.</a:t>
            </a:r>
            <a:endParaRPr sz="1150">
              <a:solidFill>
                <a:schemeClr val="dk1"/>
              </a:solidFill>
              <a:latin typeface="Calibri"/>
              <a:ea typeface="Calibri"/>
              <a:cs typeface="Calibri"/>
              <a:sym typeface="Calibri"/>
            </a:endParaRPr>
          </a:p>
        </p:txBody>
      </p:sp>
      <p:sp>
        <p:nvSpPr>
          <p:cNvPr id="709" name="Google Shape;709;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After testing your first read against evidence, which is closest?</a:t>
            </a:r>
            <a:endParaRPr sz="1250">
              <a:solidFill>
                <a:schemeClr val="dk1"/>
              </a:solidFill>
              <a:latin typeface="Calibri"/>
              <a:ea typeface="Calibri"/>
              <a:cs typeface="Calibri"/>
              <a:sym typeface="Calibri"/>
            </a:endParaRPr>
          </a:p>
        </p:txBody>
      </p:sp>
      <p:sp>
        <p:nvSpPr>
          <p:cNvPr id="711" name="Google Shape;711;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totals moved meaningfully</a:t>
            </a:r>
            <a:endParaRPr sz="1250">
              <a:solidFill>
                <a:schemeClr val="dk1"/>
              </a:solidFill>
              <a:latin typeface="Calibri"/>
              <a:ea typeface="Calibri"/>
              <a:cs typeface="Calibri"/>
              <a:sym typeface="Calibri"/>
            </a:endParaRPr>
          </a:p>
        </p:txBody>
      </p:sp>
      <p:sp>
        <p:nvSpPr>
          <p:cNvPr id="713" name="Google Shape;713;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provisional position moved</a:t>
            </a:r>
            <a:endParaRPr sz="1250">
              <a:solidFill>
                <a:schemeClr val="dk1"/>
              </a:solidFill>
              <a:latin typeface="Calibri"/>
              <a:ea typeface="Calibri"/>
              <a:cs typeface="Calibri"/>
              <a:sym typeface="Calibri"/>
            </a:endParaRPr>
          </a:p>
        </p:txBody>
      </p:sp>
      <p:sp>
        <p:nvSpPr>
          <p:cNvPr id="715" name="Google Shape;715;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position stayed similar, but I trust the reading more</a:t>
            </a:r>
            <a:endParaRPr sz="1250">
              <a:solidFill>
                <a:schemeClr val="dk1"/>
              </a:solidFill>
              <a:latin typeface="Calibri"/>
              <a:ea typeface="Calibri"/>
              <a:cs typeface="Calibri"/>
              <a:sym typeface="Calibri"/>
            </a:endParaRPr>
          </a:p>
        </p:txBody>
      </p:sp>
      <p:sp>
        <p:nvSpPr>
          <p:cNvPr id="717" name="Google Shape;717;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evidence is still incomplete</a:t>
            </a:r>
            <a:endParaRPr sz="1250">
              <a:solidFill>
                <a:schemeClr val="dk1"/>
              </a:solidFill>
              <a:latin typeface="Calibri"/>
              <a:ea typeface="Calibri"/>
              <a:cs typeface="Calibri"/>
              <a:sym typeface="Calibri"/>
            </a:endParaRPr>
          </a:p>
        </p:txBody>
      </p:sp>
      <p:sp>
        <p:nvSpPr>
          <p:cNvPr id="719" name="Google Shape;719;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Every one of these is a legitimate outcome. Incomplete evidence is information, not failure.</a:t>
            </a:r>
            <a:endParaRPr sz="1100">
              <a:solidFill>
                <a:schemeClr val="dk1"/>
              </a:solidFill>
              <a:latin typeface="Calibri"/>
              <a:ea typeface="Calibri"/>
              <a:cs typeface="Calibri"/>
              <a:sym typeface="Calibri"/>
            </a:endParaRPr>
          </a:p>
        </p:txBody>
      </p:sp>
      <p:sp>
        <p:nvSpPr>
          <p:cNvPr id="720" name="Google Shape;720;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5" name="Shape 725"/>
        <p:cNvGrpSpPr/>
        <p:nvPr/>
      </p:nvGrpSpPr>
      <p:grpSpPr>
        <a:xfrm>
          <a:off x="0" y="0"/>
          <a:ext cx="0" cy="0"/>
          <a:chOff x="0" y="0"/>
          <a:chExt cx="0" cy="0"/>
        </a:xfrm>
      </p:grpSpPr>
      <p:sp>
        <p:nvSpPr>
          <p:cNvPr id="726" name="Google Shape;726;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A CAPABILITY FORMATION EXPERIENCE</a:t>
            </a:r>
            <a:endParaRPr sz="900">
              <a:solidFill>
                <a:schemeClr val="dk1"/>
              </a:solidFill>
              <a:latin typeface="Calibri"/>
              <a:ea typeface="Calibri"/>
              <a:cs typeface="Calibri"/>
              <a:sym typeface="Calibri"/>
            </a:endParaRPr>
          </a:p>
        </p:txBody>
      </p:sp>
      <p:sp>
        <p:nvSpPr>
          <p:cNvPr id="727" name="Google Shape;727;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Stay or Leave?</a:t>
            </a:r>
            <a:endParaRPr sz="3200">
              <a:solidFill>
                <a:schemeClr val="dk1"/>
              </a:solidFill>
              <a:latin typeface="Calibri"/>
              <a:ea typeface="Calibri"/>
              <a:cs typeface="Calibri"/>
              <a:sym typeface="Calibri"/>
            </a:endParaRPr>
          </a:p>
        </p:txBody>
      </p:sp>
      <p:sp>
        <p:nvSpPr>
          <p:cNvPr id="728" name="Google Shape;728;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400"/>
              <a:buFont typeface="DM Sans"/>
              <a:buNone/>
            </a:pPr>
            <a:r>
              <a:rPr lang="en-US" sz="1400">
                <a:solidFill>
                  <a:srgbClr val="B8C5D9"/>
                </a:solidFill>
                <a:latin typeface="DM Sans"/>
                <a:ea typeface="DM Sans"/>
                <a:cs typeface="DM Sans"/>
                <a:sym typeface="DM Sans"/>
              </a:rPr>
              <a:t>Live Career Growth Assessment  ·  The Capability Position Read</a:t>
            </a:r>
            <a:endParaRPr sz="1400">
              <a:solidFill>
                <a:schemeClr val="dk1"/>
              </a:solidFill>
              <a:latin typeface="Calibri"/>
              <a:ea typeface="Calibri"/>
              <a:cs typeface="Calibri"/>
              <a:sym typeface="Calibri"/>
            </a:endParaRPr>
          </a:p>
        </p:txBody>
      </p:sp>
      <p:sp>
        <p:nvSpPr>
          <p:cNvPr id="729" name="Google Shape;729;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400"/>
              <a:buFont typeface="Cormorant Garamond"/>
              <a:buNone/>
            </a:pPr>
            <a:r>
              <a:rPr b="1" lang="en-US" sz="2400">
                <a:solidFill>
                  <a:srgbClr val="C9A84C"/>
                </a:solidFill>
                <a:latin typeface="Cormorant Garamond"/>
                <a:ea typeface="Cormorant Garamond"/>
                <a:cs typeface="Cormorant Garamond"/>
                <a:sym typeface="Cormorant Garamond"/>
              </a:rPr>
              <a:t>Wednesday, September 23, 2026</a:t>
            </a:r>
            <a:endParaRPr sz="2400">
              <a:solidFill>
                <a:schemeClr val="dk1"/>
              </a:solidFill>
              <a:latin typeface="Calibri"/>
              <a:ea typeface="Calibri"/>
              <a:cs typeface="Calibri"/>
              <a:sym typeface="Calibri"/>
            </a:endParaRPr>
          </a:p>
        </p:txBody>
      </p:sp>
      <p:sp>
        <p:nvSpPr>
          <p:cNvPr id="731" name="Google Shape;731;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6:00–7:00 PM Central Time  ·  Free  ·  60 minutes  ·  We begin shortly</a:t>
            </a:r>
            <a:endParaRPr sz="1300">
              <a:solidFill>
                <a:schemeClr val="dk1"/>
              </a:solidFill>
              <a:latin typeface="Calibri"/>
              <a:ea typeface="Calibri"/>
              <a:cs typeface="Calibri"/>
              <a:sym typeface="Calibri"/>
            </a:endParaRPr>
          </a:p>
        </p:txBody>
      </p:sp>
      <p:sp>
        <p:nvSpPr>
          <p:cNvPr id="732" name="Google Shape;732;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150"/>
              <a:buFont typeface="DM Sans"/>
              <a:buNone/>
            </a:pPr>
            <a:r>
              <a:rPr i="1" lang="en-US" sz="1150">
                <a:solidFill>
                  <a:srgbClr val="B8C5D9"/>
                </a:solidFill>
                <a:latin typeface="DM Sans"/>
                <a:ea typeface="DM Sans"/>
                <a:cs typeface="DM Sans"/>
                <a:sym typeface="DM Sans"/>
              </a:rPr>
              <a:t>Have the workbook open. Nothing is submitted or collected at any point.</a:t>
            </a:r>
            <a:endParaRPr sz="11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