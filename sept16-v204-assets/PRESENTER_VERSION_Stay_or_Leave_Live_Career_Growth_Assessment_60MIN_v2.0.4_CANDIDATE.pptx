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RECORDING ON THIS SLIDE. This is the first evergreen teaching slide. The dated holding slide is shown BEFORE recording begins and is never recorded.
TIMING: 0:00-0:40. FORTY SECONDS.
FACILITATION: welcome, name the session, name the method, state the duration. Biography is capped at TWO SENTENCES — the 60-minute build has no room for the longer introduction. If you feel the pull to say more about yourself, that is the time the evidence block needs.
WHAT TO SAY: "This is a live guided assessment. In the next fifty minutes you will read your own position twice — once from memory, once against evidence — and leave with a note about what your evidence supports testing next. The last ten minutes are live questions and are not recorded."
EVERGREEN-SAFE: no date on this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0:40-1:20. FORTY SECONDS.
FACILITATION: read both boxes, land the bottom line, move. Do not tell a story here. The separate vantage and "why this exists" slides are cut; this slide now carries the whole framing.
Do not answer the stay/leave question. Say plainly that the session reads the position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THIS IS THE RECORDING AND PRIVACY DISCLOSURE. It must be delivered inside the first five minutes — deliver it here, at minute 1:20.
TIMING: 1:20-2:00. FORTY SECONDS.
FACILITATION: deliver the disclosure, name the boundary, point at the workbook, move. Forty seconds total — do not let this become a preamble.
SAY IT ONCE, CALMLY, AND DO NOT EXPAND IT INTO A DISCLAIMER: "The teaching portion is recorded so people can revisit the method. Your scores and your private workbook stay yours. The live Q&amp;A at the end is not part of the evergreen replay."
WORKBOOK: page 1 carries the same boundary and privacy language. Tell the room the workbook is open in full from the start — nothing is released in stages.
Participant microphones are muted by default for the whole recorded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2:00-3:30. NINETY SECONDS.
FACILITATION: define it, give the one correction that matters — conditions, not effort — and stop. The full teaching treatment is downstream, not here.
Do not take questions on the definition now. Say they will make more sense once people have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3:30-5:00. NINETY SECONDS.
FACILITATION: define it, then say the not-a-verdict line as written. Do not rank the causes and do not imply one is more common than another — this session has no measurement that supports a prevalence claim.
Next slide begins the private scoring. Tell the room to have the workbook open at page 2.
OPTIONAL SPOKEN PROOF — use if it lands naturally, and do not add a slide for it:
When I moved from audit into cybersecurity, I did not start from zero. Evidence, controls and risk travelled with me. Cybersecurity language, privacy frameworks and technical context did not. That is the distinction this reading is trying to help us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19:00-31:00. TWELVE MINUTES. PROTECTED AND NON-NEGOTIABLE.
FACILITATION: read the instruction once, then hold this slide and stay silent for twelve minutes. Warnings at 29:00 and 30:30. Nothing else.
NEVER RECOVER LOST TIME HERE. This block is the evidentiary centre of the session and the thing that makes it an assessment rather than a talk. If you are behind at minute 19, take the time from the 45:00-48:00 continuation sequence or the 48:00-50:00 buffer — never from this block.
This slide holds for the full twelve minutes. Do not advance, do not narrate over it, and do not fill the silence.
Give a two-minute warning at 29:00 and a thirty-second warning at 30:30. Keep your own microphone quiet the rest of the time.
Short evidence phrases, not essays. Twelve statements in twelve minutes is sixty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32:30-34:00. NINETY SECONDS.
FACILITATION: thirty seconds per tier. Teach all three even though most of the room will only need one.
Teach all three tiers explicitly. A participant with no marked items can sit through the procedure believing they must run it. Say plainly that they do not.
NONE: no range required. 1 OR 2: the axis is provisional, run the check. 3 OR MORE: the axis is incomplete and you do not place on it today.
The 1-5 bound and the incomplete rule are both part of the convention and are easily dropped when the method is repeated from memory.
THE DUAL-AXIS BOUNDARY RULE, said plainly:
— If exactly ONE axis is inside 17 to 21, read the two adjacent states that the OTHER axis selects. A boundary Density with high Optionality reads across Compounding and Fragile.
— If BOTH axes are inside 17 to 21, record Boundary and assign no single state at all.
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
Say the boundary out loud: this is an operational convention, not a statistical confidence interval, and it carries no margin of error. Boundary and incomplete are legitimate outcomes.
NOTE ON WORDING: an earlier version tested the range against 19 as well as against the band. That was redundant. The sensitivity range is contiguous, so any range spanning 19 necessarily contains 18 and 19, both inside the band. The band test alone is sufficient and the rule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7.
TIMING: 34:00-35:00. SIXTY SECONDS.
FACILITATION: give the instruction, then let them place. Do not narrate over the writing.
State plainly that boundary and incomplete are real readings, not failures.
Do NOT run the Intensive Edition's poll architecture. No staged reveal, no room-level state distribution, no anonymous count. The optional "what moved" interaction is in the appendix and is OUT of the timed core — do not bring it back in.
Do not invite anyone to name their square, their confidence number, their employer or their circumstances.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35:00-38:00. THREE MINUTES. Forty-five seconds per state.
FACILITATION: one pass, four states, no favourites. Keep your eye on the clock — this block overruns easily.
Give each state its essential reading and stop. Do NOT teach the heaviest square for this room and do NOT deepen a state based on audience distribution — those are Intensive Edition mechanics and there is no room for them in sixty minutes.
If you are running behind, this is NOT the block to cut. Take it from 45:00-48:00.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8.
TIMING: 38:00-41:00. THREE MINUTES. About twenty-five seconds each.
FACILITATION: read the category and its line, move to the next. Resist elaborating.
Read each category and its one-line reading. Do not work examples — there is no room for them in sixty minutes.
Say the bottom line as written: no square prescribes a category. Someone in Depth Trap is not instructed to translate; someone in Fragile is not instructed to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TIMING: 41:00-45:00. FOUR MINUTES. This is a real writing period — protect it.
FACILITATION: read the three prompts once, then stop talking for the rest of the block.
Read the three prompts once, then stop talking and let people write. Four minutes feels long from the front and short from the seat.
Do not call it the Next-Move Decision. That is the Intensive Edition's artifact and it is a different, longer instrument.
Do not ask anyone to read theirs aloud, and do not invite anyone to share a move category, an employer or a situation.
Give a sixty-second warning at 44:00.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45:00-46:00. SIXTY SECONDS. The whole continuation sequence is three minutes and it is the first place to take time from if you are behind.
FACILITATION: read the two routes in order, land route one, then move. Do not linger and do not add examples.
ROUTE 1 IS NOT A THROWAWAY. Say it first and say it plainly. The credibility of the next slide depends on genuinely releasing the people who have enough.
WHAT TO SAY: "Some of you now have enough to act. Good — you do not need anything else from me today. Some of you want a structured system you can keep working with privately. Different needs, different routes."
NO PRICING ON THIS SLIDE. Do not say "if you want to buy", "I have two offers" or "special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46:00-47:00. SIXTY SECONDS.
FACILITATION: name what today already gave them, then name what the Field Kit adds. Sixty seconds. If you are behind, this is the first slide to shorten.
TODAY IS COMPLETE. Say so. This session delivers a full guided reading. The Field Kit is not the rest of it — it is a private system they can own, revisit and rerun as conditions change.
Do not call the Field Kit the complete version of the session, the full assessment, required, included, a bundle, or more worksheets.
THE PRIVATE CAPABILITY POSITION READ IS NOT OFFERED IN THIS DELIVERY. It was route 3 on slide 23 until v2.0.4 and has been removed because its materials, booking flow and fulfillment are not operational. Do not mention it here, on slide 23, or in Q&amp;A. If someone asks directly, say it is not open yet and point them to the Field Kit or to nothing at all.
IMMEDIATELY BEFORE DELIVERY, VERIFY THE CURRENT PUBLIC PRICE AND PURCHASE ROUTE. If both remain current, post the purchase link and current price in the live chat. The permanent replay slide remains price-free.
PREBUILT CHAT MESSAGE:
Continue privately with the Capability Formation Field Kit:
https://temidayoafonja.com/fieldkit
Visible branded route on the slide face: temidayoafonja.com/fieldkit. The CTA, the URL and the QR all resolve to that page, which is the stable evergreen destination — a recorded replay outlives any storefront link. The live page remains the source of truth for current pricing.
NO PRICE APPEARS ON THIS SLIDE FACE BY DESIGN. No discount, no attendee price, no coupon, no bundle, no crossed-out price, no urgency.
The former paid group workshop is retired from active public sale and is NOT the current public next step. Do not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(rescore date line).
TIMING: 47:00-50:00. The close is delivered 47:00-48:00; 48:00-50:00 is FACILITATION BUFFER and this slide holds.
If you are on time, use the buffer to restate the rescore date instruction and let the room finish writing. If you are behind, the buffer is where you absorb it.
EVERGREEN-SAFE CLOSE. Do NOT say "tonight", "this cohort", "September 16", or "before enrollment closes". This has to work for someone watching the replay months from now.
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
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
Then say out loud that the recording has stopped, and only then advance.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CONFIRM ON SCREEN THAT IT HAS STOPPED BEFORE TAKING THE FIRST QUESTION.
TIMING: 50:00-60:00. TEN MINUTES. HARD STOP AT 60:00.
FACILITATION: confirm on screen that recording has stopped, say so aloud, then take the first question. Watch the clock and close at 60:00.
This block is never distributed. It is excluded from the evergreen replay under every distribution model, including a registration-gated one. Participant questions can contain employer names, personal circumstances and third-party names — that is exactly why it sits outside the recorded core.
Q&amp;A MAY clarify the method, the evidence protocol, boundary and incomplete readings, and move-category distinctions.
Q&amp;A MUST NOT become individual stay/leave coaching. Do not tell anyone to resign or stay. Do not predict layoffs. Do not give legal, medical, financial, immigration or mental-health advice. Do not ask for scores, states or employer names.
If a question is really a request for a personal decision, name the boundary once and stop there. DO NOT OFFER THE PRIVATE CAPABILITY POSITION READ — it is not operational for this delivery and is not on the continuation slide. You may point to the Field Kit if it genuinely fits the question, or to nothing at all. Neither is required.
Appendix material may be used here if a question calls for it.
Close at 60:00 and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
Paste the workbook link in chat while this slide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temidayoafonja.com/fieldkit" TargetMode="External"/><Relationship Id="rId4" Type="http://schemas.openxmlformats.org/officeDocument/2006/relationships/hyperlink" Target="https://temidayoafonja.com/fieldkit" TargetMode="External"/><Relationship Id="rId5" Type="http://schemas.openxmlformats.org/officeDocument/2006/relationships/hyperlink" Target="https://temidayoafonja.com/fieldkit" TargetMode="External"/><Relationship Id="rId1" Type="http://schemas.openxmlformats.org/officeDocument/2006/relationships/image" Target="../media/image-24-1.png"/><Relationship Id="rId2" Type="http://schemas.openxmlformats.org/officeDocument/2006/relationships/image" Target="../media/image-24-2.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170432"/>
            <a:ext cx="5943600" cy="73152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Stay or Leave?</a:t>
            </a:r>
            <a:endParaRPr lang="en-US" sz="3800" dirty="0"/>
          </a:p>
        </p:txBody>
      </p:sp>
      <p:sp>
        <p:nvSpPr>
          <p:cNvPr id="4" name="Text 2"/>
          <p:cNvSpPr/>
          <p:nvPr/>
        </p:nvSpPr>
        <p:spPr>
          <a:xfrm>
            <a:off x="566928" y="2011680"/>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GUIDED ASSESSMENT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286000"/>
            <a:ext cx="3474720" cy="914400"/>
          </a:xfrm>
          <a:prstGeom prst="rect">
            <a:avLst/>
          </a:prstGeom>
          <a:noFill/>
          <a:ln/>
        </p:spPr>
        <p:txBody>
          <a:bodyPr wrap="square" lIns="0" tIns="0" rIns="0" bIns="0" rtlCol="0" anchor="ctr"/>
          <a:lstStyle/>
          <a:p>
            <a:pPr indent="0" marL="0">
              <a:lnSpc>
                <a:spcPts val="2000"/>
              </a:lnSpc>
              <a:buNone/>
            </a:pPr>
            <a:r>
              <a:rPr lang="en-US" sz="1500" b="1" dirty="0">
                <a:solidFill>
                  <a:srgbClr val="F5F0E8"/>
                </a:solidFill>
                <a:latin typeface="Cormorant Garamond" pitchFamily="34" charset="0"/>
                <a:ea typeface="Cormorant Garamond" pitchFamily="34" charset="-122"/>
                <a:cs typeface="Cormorant Garamond" pitchFamily="34" charset="-120"/>
              </a:rPr>
              <a:t>“Is this work still building me, and what would still travel if the context changed?”</a:t>
            </a:r>
            <a:endParaRPr lang="en-US" sz="15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is whether the environment is still building capability in you. It is a property of your conditions, not your effort. A role can be exhausting and form nothing.</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Density is not motivation, hours, pressure or effort. It is whether the work is still teaching you something you could not do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Career portability. Whether what you built travels.</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is whether the capability you are building would be recognised and valued somewhere other than here. It is about translation and exposure as much as ability.</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helps you see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19072"/>
            <a:ext cx="8010144" cy="859536"/>
          </a:xfrm>
          <a:prstGeom prst="rect">
            <a:avLst/>
          </a:prstGeom>
          <a:solidFill>
            <a:srgbClr val="E9EDF3"/>
          </a:solidFill>
          <a:ln/>
        </p:spPr>
      </p:sp>
      <p:sp>
        <p:nvSpPr>
          <p:cNvPr id="6" name="Shape 4"/>
          <p:cNvSpPr/>
          <p:nvPr/>
        </p:nvSpPr>
        <p:spPr>
          <a:xfrm>
            <a:off x="566928" y="1719072"/>
            <a:ext cx="41148" cy="859536"/>
          </a:xfrm>
          <a:prstGeom prst="rect">
            <a:avLst/>
          </a:prstGeom>
          <a:solidFill>
            <a:srgbClr val="C9A84C"/>
          </a:solidFill>
          <a:ln/>
        </p:spPr>
      </p:sp>
      <p:sp>
        <p:nvSpPr>
          <p:cNvPr id="7" name="Text 5"/>
          <p:cNvSpPr/>
          <p:nvPr/>
        </p:nvSpPr>
        <p:spPr>
          <a:xfrm>
            <a:off x="804672" y="17830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19933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037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24328"/>
            <a:ext cx="8010144" cy="859536"/>
          </a:xfrm>
          <a:prstGeom prst="rect">
            <a:avLst/>
          </a:prstGeom>
          <a:solidFill>
            <a:srgbClr val="E9EDF3"/>
          </a:solidFill>
          <a:ln/>
        </p:spPr>
      </p:sp>
      <p:sp>
        <p:nvSpPr>
          <p:cNvPr id="11" name="Shape 9"/>
          <p:cNvSpPr/>
          <p:nvPr/>
        </p:nvSpPr>
        <p:spPr>
          <a:xfrm>
            <a:off x="566928" y="2624328"/>
            <a:ext cx="41148" cy="859536"/>
          </a:xfrm>
          <a:prstGeom prst="rect">
            <a:avLst/>
          </a:prstGeom>
          <a:solidFill>
            <a:srgbClr val="C9A84C"/>
          </a:solidFill>
          <a:ln/>
        </p:spPr>
      </p:sp>
      <p:sp>
        <p:nvSpPr>
          <p:cNvPr id="12" name="Text 10"/>
          <p:cNvSpPr/>
          <p:nvPr/>
        </p:nvSpPr>
        <p:spPr>
          <a:xfrm>
            <a:off x="804672" y="268833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89864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0896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29584"/>
            <a:ext cx="8010144" cy="859536"/>
          </a:xfrm>
          <a:prstGeom prst="rect">
            <a:avLst/>
          </a:prstGeom>
          <a:solidFill>
            <a:srgbClr val="E9EDF3"/>
          </a:solidFill>
          <a:ln/>
        </p:spPr>
      </p:sp>
      <p:sp>
        <p:nvSpPr>
          <p:cNvPr id="16" name="Shape 14"/>
          <p:cNvSpPr/>
          <p:nvPr/>
        </p:nvSpPr>
        <p:spPr>
          <a:xfrm>
            <a:off x="566928" y="3529584"/>
            <a:ext cx="41148" cy="859536"/>
          </a:xfrm>
          <a:prstGeom prst="rect">
            <a:avLst/>
          </a:prstGeom>
          <a:solidFill>
            <a:srgbClr val="C9A84C"/>
          </a:solidFill>
          <a:ln/>
        </p:spPr>
      </p:sp>
      <p:sp>
        <p:nvSpPr>
          <p:cNvPr id="17" name="Text 15"/>
          <p:cNvSpPr/>
          <p:nvPr/>
        </p:nvSpPr>
        <p:spPr>
          <a:xfrm>
            <a:off x="804672" y="3593592"/>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03904"/>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14216"/>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boundary band.</a:t>
            </a:r>
            <a:endParaRPr lang="en-US" sz="1020" dirty="0"/>
          </a:p>
        </p:txBody>
      </p:sp>
      <p:sp>
        <p:nvSpPr>
          <p:cNvPr id="9" name="Shape 7"/>
          <p:cNvSpPr/>
          <p:nvPr/>
        </p:nvSpPr>
        <p:spPr>
          <a:xfrm>
            <a:off x="566928" y="2286000"/>
            <a:ext cx="676656" cy="1371600"/>
          </a:xfrm>
          <a:prstGeom prst="rect">
            <a:avLst/>
          </a:prstGeom>
          <a:solidFill>
            <a:srgbClr val="0F2347"/>
          </a:solidFill>
          <a:ln/>
        </p:spPr>
      </p:sp>
      <p:sp>
        <p:nvSpPr>
          <p:cNvPr id="10" name="Text 8"/>
          <p:cNvSpPr/>
          <p:nvPr/>
        </p:nvSpPr>
        <p:spPr>
          <a:xfrm>
            <a:off x="566928" y="2286000"/>
            <a:ext cx="676656" cy="1371600"/>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371600"/>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688336"/>
            <a:ext cx="82296" cy="82296"/>
          </a:xfrm>
          <a:prstGeom prst="rect">
            <a:avLst/>
          </a:prstGeom>
          <a:solidFill>
            <a:srgbClr val="C9A84C"/>
          </a:solidFill>
          <a:ln/>
        </p:spPr>
      </p:sp>
      <p:sp>
        <p:nvSpPr>
          <p:cNvPr id="14" name="Text 12"/>
          <p:cNvSpPr/>
          <p:nvPr/>
        </p:nvSpPr>
        <p:spPr>
          <a:xfrm>
            <a:off x="1810512" y="2615184"/>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44368"/>
            <a:ext cx="82296" cy="82296"/>
          </a:xfrm>
          <a:prstGeom prst="rect">
            <a:avLst/>
          </a:prstGeom>
          <a:solidFill>
            <a:srgbClr val="C9A84C"/>
          </a:solidFill>
          <a:ln/>
        </p:spPr>
      </p:sp>
      <p:sp>
        <p:nvSpPr>
          <p:cNvPr id="16" name="Text 14"/>
          <p:cNvSpPr/>
          <p:nvPr/>
        </p:nvSpPr>
        <p:spPr>
          <a:xfrm>
            <a:off x="1810512" y="2871216"/>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00400"/>
            <a:ext cx="82296" cy="82296"/>
          </a:xfrm>
          <a:prstGeom prst="rect">
            <a:avLst/>
          </a:prstGeom>
          <a:solidFill>
            <a:srgbClr val="C9A84C"/>
          </a:solidFill>
          <a:ln/>
        </p:spPr>
      </p:sp>
      <p:sp>
        <p:nvSpPr>
          <p:cNvPr id="18" name="Text 16"/>
          <p:cNvSpPr/>
          <p:nvPr/>
        </p:nvSpPr>
        <p:spPr>
          <a:xfrm>
            <a:off x="1810512" y="3127248"/>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456432"/>
            <a:ext cx="82296" cy="82296"/>
          </a:xfrm>
          <a:prstGeom prst="rect">
            <a:avLst/>
          </a:prstGeom>
          <a:solidFill>
            <a:srgbClr val="C9A84C"/>
          </a:solidFill>
          <a:ln/>
        </p:spPr>
      </p:sp>
      <p:sp>
        <p:nvSpPr>
          <p:cNvPr id="20" name="Text 18"/>
          <p:cNvSpPr/>
          <p:nvPr/>
        </p:nvSpPr>
        <p:spPr>
          <a:xfrm>
            <a:off x="1810512" y="33832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sensitivity range includes any total from 17 to 21, do not force a state. Hold the axis as boundary.</a:t>
            </a:r>
            <a:endParaRPr lang="en-US" sz="1050" dirty="0"/>
          </a:p>
        </p:txBody>
      </p:sp>
      <p:sp>
        <p:nvSpPr>
          <p:cNvPr id="21" name="Shape 19"/>
          <p:cNvSpPr/>
          <p:nvPr/>
        </p:nvSpPr>
        <p:spPr>
          <a:xfrm>
            <a:off x="566928" y="3749040"/>
            <a:ext cx="676656" cy="457200"/>
          </a:xfrm>
          <a:prstGeom prst="rect">
            <a:avLst/>
          </a:prstGeom>
          <a:solidFill>
            <a:srgbClr val="C1440E"/>
          </a:solidFill>
          <a:ln/>
        </p:spPr>
      </p:sp>
      <p:sp>
        <p:nvSpPr>
          <p:cNvPr id="22" name="Text 20"/>
          <p:cNvSpPr/>
          <p:nvPr/>
        </p:nvSpPr>
        <p:spPr>
          <a:xfrm>
            <a:off x="566928" y="3749040"/>
            <a:ext cx="676656" cy="457200"/>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749040"/>
            <a:ext cx="7168896" cy="457200"/>
          </a:xfrm>
          <a:prstGeom prst="rect">
            <a:avLst/>
          </a:prstGeom>
          <a:solidFill>
            <a:srgbClr val="0F2347"/>
          </a:solidFill>
          <a:ln/>
        </p:spPr>
      </p:sp>
      <p:sp>
        <p:nvSpPr>
          <p:cNvPr id="24" name="Text 22"/>
          <p:cNvSpPr/>
          <p:nvPr/>
        </p:nvSpPr>
        <p:spPr>
          <a:xfrm>
            <a:off x="1609344" y="3749040"/>
            <a:ext cx="6766560" cy="457200"/>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297680"/>
            <a:ext cx="8010144" cy="365760"/>
          </a:xfrm>
          <a:prstGeom prst="rect">
            <a:avLst/>
          </a:prstGeom>
          <a:noFill/>
          <a:ln/>
        </p:spPr>
        <p:txBody>
          <a:bodyPr wrap="square" lIns="0" tIns="0" rIns="0" bIns="0" rtlCol="0" anchor="ctr"/>
          <a:lstStyle/>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ONE axis in the 17–21 band: read the two adjacent states the OTHER axis selects.</a:t>
            </a:r>
            <a:endParaRPr lang="en-US" sz="960" dirty="0"/>
          </a:p>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BOTH axes in the band: record Boundary and assign no single state.</a:t>
            </a:r>
            <a:endParaRPr lang="en-US" sz="96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with the confidence number from your first placement on workbook page 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states. One immediate cost to notice in each.</a:t>
            </a:r>
            <a:endParaRPr lang="en-US" sz="1150" dirty="0"/>
          </a:p>
        </p:txBody>
      </p:sp>
      <p:sp>
        <p:nvSpPr>
          <p:cNvPr id="5" name="Shape 3"/>
          <p:cNvSpPr/>
          <p:nvPr/>
        </p:nvSpPr>
        <p:spPr>
          <a:xfrm>
            <a:off x="566928" y="1883664"/>
            <a:ext cx="2148840" cy="457200"/>
          </a:xfrm>
          <a:prstGeom prst="rect">
            <a:avLst/>
          </a:prstGeom>
          <a:solidFill>
            <a:srgbClr val="0F2347"/>
          </a:solidFill>
          <a:ln/>
        </p:spPr>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The fuller cost of your own square, including the hidden cost, the cost of waiting, and the false reassurance that keeps you there, belongs in deeper follow-on work.</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566160" y="17556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566160" y="21214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05456"/>
            <a:ext cx="274320" cy="274320"/>
          </a:xfrm>
          <a:prstGeom prst="rect">
            <a:avLst/>
          </a:prstGeom>
          <a:solidFill>
            <a:srgbClr val="0F2347"/>
          </a:solidFill>
          <a:ln/>
        </p:spPr>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566160" y="248716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71216"/>
            <a:ext cx="274320" cy="274320"/>
          </a:xfrm>
          <a:prstGeom prst="rect">
            <a:avLst/>
          </a:prstGeom>
          <a:solidFill>
            <a:srgbClr val="0F2347"/>
          </a:solidFill>
          <a:ln/>
        </p:spPr>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566160" y="285292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566160" y="321868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02736"/>
            <a:ext cx="274320" cy="274320"/>
          </a:xfrm>
          <a:prstGeom prst="rect">
            <a:avLst/>
          </a:prstGeom>
          <a:solidFill>
            <a:srgbClr val="0F2347"/>
          </a:solidFill>
          <a:ln/>
        </p:spPr>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566160" y="35844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566160" y="39502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47088"/>
            <a:ext cx="8010144" cy="658368"/>
          </a:xfrm>
          <a:prstGeom prst="rect">
            <a:avLst/>
          </a:prstGeom>
          <a:solidFill>
            <a:srgbClr val="E9EDF3"/>
          </a:solidFill>
          <a:ln/>
        </p:spPr>
      </p:sp>
      <p:sp>
        <p:nvSpPr>
          <p:cNvPr id="6" name="Shape 4"/>
          <p:cNvSpPr/>
          <p:nvPr/>
        </p:nvSpPr>
        <p:spPr>
          <a:xfrm>
            <a:off x="566928" y="1847088"/>
            <a:ext cx="41148" cy="658368"/>
          </a:xfrm>
          <a:prstGeom prst="rect">
            <a:avLst/>
          </a:prstGeom>
          <a:solidFill>
            <a:srgbClr val="C9A84C"/>
          </a:solidFill>
          <a:ln/>
        </p:spPr>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sp>
      <p:sp>
        <p:nvSpPr>
          <p:cNvPr id="12" name="Shape 10"/>
          <p:cNvSpPr/>
          <p:nvPr/>
        </p:nvSpPr>
        <p:spPr>
          <a:xfrm>
            <a:off x="566928" y="2596896"/>
            <a:ext cx="41148" cy="658368"/>
          </a:xfrm>
          <a:prstGeom prst="rect">
            <a:avLst/>
          </a:prstGeom>
          <a:solidFill>
            <a:srgbClr val="C9A84C"/>
          </a:solidFill>
          <a:ln/>
        </p:spPr>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sp>
      <p:sp>
        <p:nvSpPr>
          <p:cNvPr id="18" name="Shape 16"/>
          <p:cNvSpPr/>
          <p:nvPr/>
        </p:nvSpPr>
        <p:spPr>
          <a:xfrm>
            <a:off x="566928" y="3346704"/>
            <a:ext cx="41148" cy="658368"/>
          </a:xfrm>
          <a:prstGeom prst="rect">
            <a:avLst/>
          </a:prstGeom>
          <a:solidFill>
            <a:srgbClr val="C9A84C"/>
          </a:solidFill>
          <a:ln/>
        </p:spPr>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2011680"/>
            <a:ext cx="8010144" cy="768096"/>
          </a:xfrm>
          <a:prstGeom prst="rect">
            <a:avLst/>
          </a:prstGeom>
          <a:solidFill>
            <a:srgbClr val="E9EDF3"/>
          </a:solidFill>
          <a:ln/>
        </p:spPr>
      </p:sp>
      <p:sp>
        <p:nvSpPr>
          <p:cNvPr id="6" name="Shape 4"/>
          <p:cNvSpPr/>
          <p:nvPr/>
        </p:nvSpPr>
        <p:spPr>
          <a:xfrm>
            <a:off x="749808" y="2157984"/>
            <a:ext cx="292608" cy="292608"/>
          </a:xfrm>
          <a:prstGeom prst="rect">
            <a:avLst/>
          </a:prstGeom>
          <a:solidFill>
            <a:srgbClr val="0F2347"/>
          </a:solidFill>
          <a:ln/>
        </p:spPr>
      </p:sp>
      <p:sp>
        <p:nvSpPr>
          <p:cNvPr id="7" name="Text 5"/>
          <p:cNvSpPr/>
          <p:nvPr/>
        </p:nvSpPr>
        <p:spPr>
          <a:xfrm>
            <a:off x="749808" y="215798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2084832"/>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322576"/>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532888"/>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871216"/>
            <a:ext cx="8010144" cy="768096"/>
          </a:xfrm>
          <a:prstGeom prst="rect">
            <a:avLst/>
          </a:prstGeom>
          <a:solidFill>
            <a:srgbClr val="E9EDF3"/>
          </a:solidFill>
          <a:ln/>
        </p:spPr>
      </p:sp>
      <p:sp>
        <p:nvSpPr>
          <p:cNvPr id="12" name="Shape 10"/>
          <p:cNvSpPr/>
          <p:nvPr/>
        </p:nvSpPr>
        <p:spPr>
          <a:xfrm>
            <a:off x="749808" y="3017520"/>
            <a:ext cx="292608" cy="292608"/>
          </a:xfrm>
          <a:prstGeom prst="rect">
            <a:avLst/>
          </a:prstGeom>
          <a:solidFill>
            <a:srgbClr val="0F2347"/>
          </a:solidFill>
          <a:ln/>
        </p:spPr>
      </p:sp>
      <p:sp>
        <p:nvSpPr>
          <p:cNvPr id="13" name="Text 11"/>
          <p:cNvSpPr/>
          <p:nvPr/>
        </p:nvSpPr>
        <p:spPr>
          <a:xfrm>
            <a:off x="749808" y="30175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944368"/>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3182112"/>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392424"/>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Text 15"/>
          <p:cNvSpPr/>
          <p:nvPr/>
        </p:nvSpPr>
        <p:spPr>
          <a:xfrm>
            <a:off x="566928" y="39867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KEEP WORKING PRIVATELY</a:t>
            </a:r>
            <a:endParaRPr lang="en-US" sz="950" dirty="0"/>
          </a:p>
        </p:txBody>
      </p:sp>
      <p:sp>
        <p:nvSpPr>
          <p:cNvPr id="3" name="Text 1"/>
          <p:cNvSpPr/>
          <p:nvPr/>
        </p:nvSpPr>
        <p:spPr>
          <a:xfrm>
            <a:off x="566928" y="603504"/>
            <a:ext cx="8010144" cy="914400"/>
          </a:xfrm>
          <a:prstGeom prst="rect">
            <a:avLst/>
          </a:prstGeom>
          <a:noFill/>
          <a:ln/>
        </p:spPr>
        <p:txBody>
          <a:bodyPr wrap="square" lIns="0" tIns="0" rIns="0" bIns="0" rtlCol="0" anchor="ctr"/>
          <a:lstStyle/>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This session gives you a guided reading.</a:t>
            </a:r>
            <a:endParaRPr lang="en-US" sz="2050" dirty="0"/>
          </a:p>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The Field Kit gives you a system you can return to.</a:t>
            </a:r>
            <a:endParaRPr lang="en-US" sz="2050" dirty="0"/>
          </a:p>
        </p:txBody>
      </p:sp>
      <p:sp>
        <p:nvSpPr>
          <p:cNvPr id="4" name="Shape 2"/>
          <p:cNvSpPr/>
          <p:nvPr/>
        </p:nvSpPr>
        <p:spPr>
          <a:xfrm>
            <a:off x="566928" y="1755648"/>
            <a:ext cx="3712464" cy="2286000"/>
          </a:xfrm>
          <a:prstGeom prst="rect">
            <a:avLst/>
          </a:prstGeom>
          <a:solidFill>
            <a:srgbClr val="E9EDF3"/>
          </a:solidFill>
          <a:ln/>
        </p:spPr>
      </p:sp>
      <p:sp>
        <p:nvSpPr>
          <p:cNvPr id="5" name="Text 3"/>
          <p:cNvSpPr/>
          <p:nvPr/>
        </p:nvSpPr>
        <p:spPr>
          <a:xfrm>
            <a:off x="804672" y="1901952"/>
            <a:ext cx="320040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TODAY'S GUIDED READ</a:t>
            </a:r>
            <a:endParaRPr lang="en-US" sz="820" dirty="0"/>
          </a:p>
        </p:txBody>
      </p:sp>
      <p:sp>
        <p:nvSpPr>
          <p:cNvPr id="6" name="Shape 4"/>
          <p:cNvSpPr/>
          <p:nvPr/>
        </p:nvSpPr>
        <p:spPr>
          <a:xfrm>
            <a:off x="804672" y="2286000"/>
            <a:ext cx="64008" cy="64008"/>
          </a:xfrm>
          <a:prstGeom prst="rect">
            <a:avLst/>
          </a:prstGeom>
          <a:solidFill>
            <a:srgbClr val="C9A84C"/>
          </a:solidFill>
          <a:ln/>
        </p:spPr>
      </p:sp>
      <p:sp>
        <p:nvSpPr>
          <p:cNvPr id="7" name="Text 5"/>
          <p:cNvSpPr/>
          <p:nvPr/>
        </p:nvSpPr>
        <p:spPr>
          <a:xfrm>
            <a:off x="987552" y="223113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An initial and evidence-backed reading</a:t>
            </a:r>
            <a:endParaRPr lang="en-US" sz="980" dirty="0"/>
          </a:p>
        </p:txBody>
      </p:sp>
      <p:sp>
        <p:nvSpPr>
          <p:cNvPr id="8" name="Shape 6"/>
          <p:cNvSpPr/>
          <p:nvPr/>
        </p:nvSpPr>
        <p:spPr>
          <a:xfrm>
            <a:off x="804672" y="2560320"/>
            <a:ext cx="64008" cy="64008"/>
          </a:xfrm>
          <a:prstGeom prst="rect">
            <a:avLst/>
          </a:prstGeom>
          <a:solidFill>
            <a:srgbClr val="C9A84C"/>
          </a:solidFill>
          <a:ln/>
        </p:spPr>
      </p:sp>
      <p:sp>
        <p:nvSpPr>
          <p:cNvPr id="9" name="Text 7"/>
          <p:cNvSpPr/>
          <p:nvPr/>
        </p:nvSpPr>
        <p:spPr>
          <a:xfrm>
            <a:off x="987552" y="250545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provisional position</a:t>
            </a:r>
            <a:endParaRPr lang="en-US" sz="980" dirty="0"/>
          </a:p>
        </p:txBody>
      </p:sp>
      <p:sp>
        <p:nvSpPr>
          <p:cNvPr id="10" name="Shape 8"/>
          <p:cNvSpPr/>
          <p:nvPr/>
        </p:nvSpPr>
        <p:spPr>
          <a:xfrm>
            <a:off x="804672" y="2834640"/>
            <a:ext cx="64008" cy="64008"/>
          </a:xfrm>
          <a:prstGeom prst="rect">
            <a:avLst/>
          </a:prstGeom>
          <a:solidFill>
            <a:srgbClr val="C9A84C"/>
          </a:solidFill>
          <a:ln/>
        </p:spPr>
      </p:sp>
      <p:sp>
        <p:nvSpPr>
          <p:cNvPr id="11" name="Text 9"/>
          <p:cNvSpPr/>
          <p:nvPr/>
        </p:nvSpPr>
        <p:spPr>
          <a:xfrm>
            <a:off x="987552" y="277977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One move category to test</a:t>
            </a:r>
            <a:endParaRPr lang="en-US" sz="980" dirty="0"/>
          </a:p>
        </p:txBody>
      </p:sp>
      <p:sp>
        <p:nvSpPr>
          <p:cNvPr id="12" name="Shape 10"/>
          <p:cNvSpPr/>
          <p:nvPr/>
        </p:nvSpPr>
        <p:spPr>
          <a:xfrm>
            <a:off x="804672" y="3108960"/>
            <a:ext cx="64008" cy="64008"/>
          </a:xfrm>
          <a:prstGeom prst="rect">
            <a:avLst/>
          </a:prstGeom>
          <a:solidFill>
            <a:srgbClr val="C9A84C"/>
          </a:solidFill>
          <a:ln/>
        </p:spPr>
      </p:sp>
      <p:sp>
        <p:nvSpPr>
          <p:cNvPr id="13" name="Text 11"/>
          <p:cNvSpPr/>
          <p:nvPr/>
        </p:nvSpPr>
        <p:spPr>
          <a:xfrm>
            <a:off x="987552" y="305409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written Next-Move Note</a:t>
            </a:r>
            <a:endParaRPr lang="en-US" sz="980" dirty="0"/>
          </a:p>
        </p:txBody>
      </p:sp>
      <p:sp>
        <p:nvSpPr>
          <p:cNvPr id="14" name="Text 12"/>
          <p:cNvSpPr/>
          <p:nvPr/>
        </p:nvSpPr>
        <p:spPr>
          <a:xfrm>
            <a:off x="804672" y="3602736"/>
            <a:ext cx="3200400" cy="201168"/>
          </a:xfrm>
          <a:prstGeom prst="rect">
            <a:avLst/>
          </a:prstGeom>
          <a:noFill/>
          <a:ln/>
        </p:spPr>
        <p:txBody>
          <a:bodyPr wrap="square" lIns="0" tIns="0" rIns="0" bIns="0" rtlCol="0" anchor="ctr"/>
          <a:lstStyle/>
          <a:p>
            <a:pPr indent="0" marL="0">
              <a:buNone/>
            </a:pPr>
            <a:r>
              <a:rPr lang="en-US" sz="960" i="1" dirty="0">
                <a:solidFill>
                  <a:srgbClr val="5A6B84"/>
                </a:solidFill>
                <a:latin typeface="DM Sans" pitchFamily="34" charset="0"/>
                <a:ea typeface="DM Sans" pitchFamily="34" charset="-122"/>
                <a:cs typeface="DM Sans" pitchFamily="34" charset="-120"/>
              </a:rPr>
              <a:t>Complete on its own.</a:t>
            </a:r>
            <a:endParaRPr lang="en-US" sz="960" dirty="0"/>
          </a:p>
        </p:txBody>
      </p:sp>
      <p:sp>
        <p:nvSpPr>
          <p:cNvPr id="15" name="Shape 13"/>
          <p:cNvSpPr/>
          <p:nvPr/>
        </p:nvSpPr>
        <p:spPr>
          <a:xfrm>
            <a:off x="4443984" y="1755648"/>
            <a:ext cx="4133088" cy="2286000"/>
          </a:xfrm>
          <a:prstGeom prst="rect">
            <a:avLst/>
          </a:prstGeom>
          <a:solidFill>
            <a:srgbClr val="0F2347"/>
          </a:solidFill>
          <a:ln/>
        </p:spPr>
      </p:sp>
      <p:sp>
        <p:nvSpPr>
          <p:cNvPr id="16" name="Text 14"/>
          <p:cNvSpPr/>
          <p:nvPr/>
        </p:nvSpPr>
        <p:spPr>
          <a:xfrm>
            <a:off x="4681728" y="1901952"/>
            <a:ext cx="310896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CAPABILITY FORMATION FIELD KIT</a:t>
            </a:r>
            <a:endParaRPr lang="en-US" sz="820" dirty="0"/>
          </a:p>
        </p:txBody>
      </p:sp>
      <p:sp>
        <p:nvSpPr>
          <p:cNvPr id="17" name="Shape 15"/>
          <p:cNvSpPr/>
          <p:nvPr/>
        </p:nvSpPr>
        <p:spPr>
          <a:xfrm>
            <a:off x="4681728" y="2286000"/>
            <a:ext cx="64008" cy="64008"/>
          </a:xfrm>
          <a:prstGeom prst="rect">
            <a:avLst/>
          </a:prstGeom>
          <a:solidFill>
            <a:srgbClr val="C9A84C"/>
          </a:solidFill>
          <a:ln/>
        </p:spPr>
      </p:sp>
      <p:sp>
        <p:nvSpPr>
          <p:cNvPr id="18" name="Text 16"/>
          <p:cNvSpPr/>
          <p:nvPr/>
        </p:nvSpPr>
        <p:spPr>
          <a:xfrm>
            <a:off x="4864608" y="223113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Fuller state-cost work</a:t>
            </a:r>
            <a:endParaRPr lang="en-US" sz="980" dirty="0"/>
          </a:p>
        </p:txBody>
      </p:sp>
      <p:sp>
        <p:nvSpPr>
          <p:cNvPr id="19" name="Shape 17"/>
          <p:cNvSpPr/>
          <p:nvPr/>
        </p:nvSpPr>
        <p:spPr>
          <a:xfrm>
            <a:off x="4681728" y="2560320"/>
            <a:ext cx="64008" cy="64008"/>
          </a:xfrm>
          <a:prstGeom prst="rect">
            <a:avLst/>
          </a:prstGeom>
          <a:solidFill>
            <a:srgbClr val="C9A84C"/>
          </a:solidFill>
          <a:ln/>
        </p:spPr>
      </p:sp>
      <p:sp>
        <p:nvSpPr>
          <p:cNvPr id="20" name="Text 18"/>
          <p:cNvSpPr/>
          <p:nvPr/>
        </p:nvSpPr>
        <p:spPr>
          <a:xfrm>
            <a:off x="4864608" y="250545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repeatable private evidence process</a:t>
            </a:r>
            <a:endParaRPr lang="en-US" sz="980" dirty="0"/>
          </a:p>
        </p:txBody>
      </p:sp>
      <p:sp>
        <p:nvSpPr>
          <p:cNvPr id="21" name="Shape 19"/>
          <p:cNvSpPr/>
          <p:nvPr/>
        </p:nvSpPr>
        <p:spPr>
          <a:xfrm>
            <a:off x="4681728" y="2834640"/>
            <a:ext cx="64008" cy="64008"/>
          </a:xfrm>
          <a:prstGeom prst="rect">
            <a:avLst/>
          </a:prstGeom>
          <a:solidFill>
            <a:srgbClr val="C9A84C"/>
          </a:solidFill>
          <a:ln/>
        </p:spPr>
      </p:sp>
      <p:sp>
        <p:nvSpPr>
          <p:cNvPr id="22" name="Text 20"/>
          <p:cNvSpPr/>
          <p:nvPr/>
        </p:nvSpPr>
        <p:spPr>
          <a:xfrm>
            <a:off x="4864608" y="277977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Structured rescoring as conditions change</a:t>
            </a:r>
            <a:endParaRPr lang="en-US" sz="980" dirty="0"/>
          </a:p>
        </p:txBody>
      </p:sp>
      <p:sp>
        <p:nvSpPr>
          <p:cNvPr id="23" name="Shape 21"/>
          <p:cNvSpPr/>
          <p:nvPr/>
        </p:nvSpPr>
        <p:spPr>
          <a:xfrm>
            <a:off x="4681728" y="3108960"/>
            <a:ext cx="64008" cy="64008"/>
          </a:xfrm>
          <a:prstGeom prst="rect">
            <a:avLst/>
          </a:prstGeom>
          <a:solidFill>
            <a:srgbClr val="C9A84C"/>
          </a:solidFill>
          <a:ln/>
        </p:spPr>
      </p:sp>
      <p:sp>
        <p:nvSpPr>
          <p:cNvPr id="24" name="Text 22"/>
          <p:cNvSpPr/>
          <p:nvPr/>
        </p:nvSpPr>
        <p:spPr>
          <a:xfrm>
            <a:off x="4864608" y="305409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system you own and return to</a:t>
            </a:r>
            <a:endParaRPr lang="en-US" sz="980" dirty="0"/>
          </a:p>
        </p:txBody>
      </p:sp>
      <p:pic>
        <p:nvPicPr>
          <p:cNvPr id="25" name="Image 0" descr="preencoded.png">    </p:cNvPr>
          <p:cNvPicPr>
            <a:picLocks noChangeAspect="1"/>
          </p:cNvPicPr>
          <p:nvPr/>
        </p:nvPicPr>
        <p:blipFill>
          <a:blip r:embed="rId1"/>
          <a:stretch>
            <a:fillRect/>
          </a:stretch>
        </p:blipFill>
        <p:spPr>
          <a:xfrm>
            <a:off x="7827264" y="1883664"/>
            <a:ext cx="658368" cy="852221"/>
          </a:xfrm>
          <a:prstGeom prst="rect">
            <a:avLst/>
          </a:prstGeom>
        </p:spPr>
      </p:pic>
      <p:pic>
        <p:nvPicPr>
          <p:cNvPr id="26" name="Image 1" descr="preencoded.png">
            <a:hlinkClick r:id="rId3" tooltip=""/>
          </p:cNvPr>
          <p:cNvPicPr>
            <a:picLocks noChangeAspect="1"/>
          </p:cNvPicPr>
          <p:nvPr/>
        </p:nvPicPr>
        <p:blipFill>
          <a:blip r:embed="rId2"/>
          <a:stretch>
            <a:fillRect/>
          </a:stretch>
        </p:blipFill>
        <p:spPr>
          <a:xfrm>
            <a:off x="7818120" y="3035808"/>
            <a:ext cx="676656" cy="676656"/>
          </a:xfrm>
          <a:prstGeom prst="rect">
            <a:avLst/>
          </a:prstGeom>
        </p:spPr>
      </p:pic>
      <p:sp>
        <p:nvSpPr>
          <p:cNvPr id="27" name="Text 23">
            <a:hlinkClick r:id="rId4" tooltip=""/>
          </p:cNvPr>
          <p:cNvSpPr/>
          <p:nvPr/>
        </p:nvSpPr>
        <p:spPr>
          <a:xfrm>
            <a:off x="4681728" y="3364992"/>
            <a:ext cx="2743200" cy="219456"/>
          </a:xfrm>
          <a:prstGeom prst="rect">
            <a:avLst/>
          </a:prstGeom>
          <a:noFill/>
          <a:ln/>
        </p:spPr>
        <p:txBody>
          <a:bodyPr wrap="square" lIns="0" tIns="0" rIns="0" bIns="0" rtlCol="0" anchor="ctr"/>
          <a:lstStyle/>
          <a:p>
            <a:pPr indent="0" marL="0">
              <a:buNone/>
            </a:pPr>
            <a:r>
              <a:rPr lang="en-US" sz="1050" b="1" u="sng" spc="140" kern="0" dirty="0">
                <a:solidFill>
                  <a:srgbClr val="C9A84C"/>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EXPLORE THE FIELD KIT</a:t>
            </a:r>
            <a:endParaRPr lang="en-US" sz="1050" dirty="0"/>
          </a:p>
        </p:txBody>
      </p:sp>
      <p:sp>
        <p:nvSpPr>
          <p:cNvPr id="28" name="Text 24">
            <a:hlinkClick r:id="rId5" tooltip=""/>
          </p:cNvPr>
          <p:cNvSpPr/>
          <p:nvPr/>
        </p:nvSpPr>
        <p:spPr>
          <a:xfrm>
            <a:off x="4681728" y="3639312"/>
            <a:ext cx="2743200" cy="219456"/>
          </a:xfrm>
          <a:prstGeom prst="rect">
            <a:avLst/>
          </a:prstGeom>
          <a:noFill/>
          <a:ln/>
        </p:spPr>
        <p:txBody>
          <a:bodyPr wrap="square" lIns="0" tIns="0" rIns="0" bIns="0" rtlCol="0" anchor="ctr"/>
          <a:lstStyle/>
          <a:p>
            <a:pPr indent="0" marL="0">
              <a:buNone/>
            </a:pPr>
            <a:r>
              <a:rPr lang="en-US" sz="1100" u="sng" dirty="0">
                <a:solidFill>
                  <a:srgbClr val="F5F0E8"/>
                </a:solidFill>
                <a:latin typeface="DM Sans" pitchFamily="34" charset="0"/>
                <a:ea typeface="DM Sans" pitchFamily="34" charset="-122"/>
                <a:cs typeface="DM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temidayoafonja.com/fieldkit</a:t>
            </a:r>
            <a:endParaRPr lang="en-US" sz="1100" dirty="0"/>
          </a:p>
        </p:txBody>
      </p:sp>
      <p:sp>
        <p:nvSpPr>
          <p:cNvPr id="29" name="Text 25"/>
          <p:cNvSpPr/>
          <p:nvPr/>
        </p:nvSpPr>
        <p:spPr>
          <a:xfrm>
            <a:off x="566928" y="4187952"/>
            <a:ext cx="8010144" cy="310896"/>
          </a:xfrm>
          <a:prstGeom prst="rect">
            <a:avLst/>
          </a:prstGeom>
          <a:noFill/>
          <a:ln/>
        </p:spPr>
        <p:txBody>
          <a:bodyPr wrap="square" lIns="0" tIns="0" rIns="0" bIns="0" rtlCol="0" anchor="ctr"/>
          <a:lstStyle/>
          <a:p>
            <a:pPr algn="ctr" indent="0" marL="0">
              <a:buNone/>
            </a:pPr>
            <a:r>
              <a:rPr lang="en-US" sz="1100" i="1" dirty="0">
                <a:solidFill>
                  <a:srgbClr val="5A6B84"/>
                </a:solidFill>
                <a:latin typeface="DM Sans" pitchFamily="34" charset="0"/>
                <a:ea typeface="DM Sans" pitchFamily="34" charset="-122"/>
                <a:cs typeface="DM Sans" pitchFamily="34" charset="-120"/>
              </a:rPr>
              <a:t>Use the Field Kit when you want to keep reading the position without needing another live session.</a:t>
            </a:r>
            <a:endParaRPr lang="en-US" sz="1100" dirty="0"/>
          </a:p>
        </p:txBody>
      </p:sp>
      <p:sp>
        <p:nvSpPr>
          <p:cNvPr id="31" name="Text 2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2" name="Text 2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tension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promotion can increase responsibility, visibility and dependence while reducing formation.</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Stay or Leave?</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 or Leave? Live Career Growth Assessment</dc:title>
  <dc:subject>PptxGenJS Presentation</dc:subject>
  <dc:creator>Temidayo Afonja</dc:creator>
  <cp:lastModifiedBy>Temidayo Afonja</cp:lastModifiedBy>
  <cp:revision>1</cp:revision>
  <dcterms:created xsi:type="dcterms:W3CDTF">2026-08-30T18:07:34Z</dcterms:created>
  <dcterms:modified xsi:type="dcterms:W3CDTF">2026-08-30T18:07:34Z</dcterms:modified>
</cp:coreProperties>
</file>