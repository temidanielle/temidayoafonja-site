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1" r:id="rId11"/>
    <p:sldId id="272" r:id="rId22"/>
    <p:sldId id="262" r:id="rId12"/>
    <p:sldId id="263" r:id="rId13"/>
    <p:sldId id="264" r:id="rId14"/>
    <p:sldId id="265" r:id="rId15"/>
    <p:sldId id="266" r:id="rId16"/>
    <p:sldId id="271" r:id="rId21"/>
    <p:sldId id="267" r:id="rId17"/>
    <p:sldId id="268" r:id="rId18"/>
    <p:sldId id="269" r:id="rId19"/>
    <p:sldId id="270" r:id="rId20"/>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2.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0:00-1:00</a:t>
            </a:r>
          </a:p>
          <a:p>
            <a:r>
              <a:t>WHAT TO SAY: Welcome. This is a 45-minute recognition lesson, not a diagnostic. You are here because something about your current work may deserve a more careful reading.</a:t>
            </a:r>
          </a:p>
          <a:p>
            <a:r>
              <a:t>WHAT NOT TO SAY: Do not promise a personalized answer. Do not mention pricing. Do not begin with the full framework.</a:t>
            </a:r>
          </a:p>
          <a:p>
            <a:r>
              <a:t>PARTICIPANT ACTION: None yet. Settling in.</a:t>
            </a:r>
          </a:p>
          <a:p>
            <a:r>
              <a:t>LIKELY MISUNDERSTANDING: Some may expect a scored assessment today. The boundary is stated plainly within the first five minutes — see slide 3.</a:t>
            </a:r>
          </a:p>
          <a:p>
            <a:r>
              <a:t>TRANSITION LINE: Before we get into it, let me tell you why I built this session.</a:t>
            </a: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68070e0c7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g3f68070e0c7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1:00-3:00.</a:t>
            </a:r>
          </a:p>
          <a:p/>
          <a:p>
            <a:r>
              <a:t>WHAT TO SAY: two sentences of biography, then the question. The point of the list of fields is not breadth for its own sake — it is that the same person kept having to work out what carried over.</a:t>
            </a:r>
          </a:p>
          <a:p/>
          <a:p>
            <a:r>
              <a:t>WORKED EXAMPLE — use if it lands naturally, do not force it:</a:t>
            </a:r>
          </a:p>
          <a:p>
            <a:r>
              <a:t>I entered privacy as a Senior Consultant. I did not start at entry level, but I did have a learning curve. Audit had already taught me evidence, controls and risk. Cybersecurity language, frameworks and context had to be learned. That distinction between what travels and what must be relearned is part of what we are doing today.</a:t>
            </a:r>
          </a:p>
          <a:p/>
          <a:p>
            <a:r>
              <a:t>WHAT NOT TO SAY: do not describe yourself as industry agnostic. Do not list employers or clients. Do not turn this into a credentials slide.</a:t>
            </a:r>
          </a:p>
          <a:p/>
          <a:p>
            <a:r>
              <a:t>PARTICIPANT ACTION: listening.</a:t>
            </a:r>
          </a:p>
        </p:txBody>
      </p:sp>
      <p:sp>
        <p:nvSpPr>
          <p:cNvPr id="101" name="Google Shape;101;g3f68070e0c7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3:00-4:30.</a:t>
            </a:r>
          </a:p>
          <a:p/>
          <a:p>
            <a:r>
              <a:t>WHAT TO SAY: name the three outcomes, then read the boundary panel out loud once. Setting the limit early is what lets the rest of the session stay specific without anyone expecting a verdict.</a:t>
            </a:r>
          </a:p>
          <a:p/>
          <a:p>
            <a:r>
              <a:t>WHAT NOT TO SAY: do not promise a decision, a score or a state. Do not describe today as a diagnostic.</a:t>
            </a:r>
          </a:p>
          <a:p/>
          <a:p>
            <a:r>
              <a:t>PARTICIPANT ACTION: listening. The poll is next.</a:t>
            </a:r>
          </a:p>
        </p:txBody>
      </p:sp>
      <p:sp>
        <p:nvSpPr>
          <p:cNvPr id="119" name="Google Shape;11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4:30-6:00</a:t>
            </a:r>
          </a:p>
          <a:p>
            <a:r>
              <a:t>WHAT TO SAY: Put the poll in chat or use Maven/Zoom polling. Ask people to choose the nearest reason, not explain.</a:t>
            </a:r>
          </a:p>
          <a:p>
            <a:r>
              <a:t>WHAT NOT TO SAY: Do not analyze individual answers aloud.</a:t>
            </a:r>
          </a:p>
          <a:p>
            <a:r>
              <a:t>PARTICIPANT ACTION: Selects one option via chat or poll widget.</a:t>
            </a:r>
          </a:p>
          <a:p>
            <a:r>
              <a:t>LIKELY MISUNDERSTANDING: A participant may try to explain their situation in detail; thank them briefly and move on without engaging the specifics.</a:t>
            </a:r>
          </a:p>
          <a:p>
            <a:r>
              <a:t>TRANSITION LINE: Whatever brought you here, the same distinction sits underneath all six answers. Strong performance and continued career growth are not always telling you the same thing.</a:t>
            </a:r>
          </a:p>
          <a:p>
            <a:r>
              <a:t>THEN ADVANCE DIRECTLY TO SLIDE 5: "A Role Can Reward You Long After It Stops Building You."</a:t>
            </a:r>
          </a:p>
        </p:txBody>
      </p:sp>
      <p:sp>
        <p:nvSpPr>
          <p:cNvPr id="129" name="Google Shape;129;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6:00-7:30</a:t>
            </a:r>
          </a:p>
          <a:p>
            <a:r>
              <a:t>WHAT TO SAY: This is the central line of the entire lesson. Read the four bullets steadily, then let "Performance matters. It is not the whole picture." land before moving on.</a:t>
            </a:r>
          </a:p>
          <a:p>
            <a:r>
              <a:t>WHAT NOT TO SAY: Do not imply performance does not matter. It does. It is simply a different signal than formation.</a:t>
            </a:r>
          </a:p>
          <a:p>
            <a:r>
              <a:t>PARTICIPANT ACTION: None. This is the pivot point into the three signs.</a:t>
            </a:r>
          </a:p>
          <a:p>
            <a:r>
              <a:t>LIKELY MISUNDERSTANDING: Someone may hear "performance does not matter." Correct plainly if it comes up: performance matters, it is just not the complete reading.</a:t>
            </a:r>
          </a:p>
          <a:p>
            <a:r>
              <a:t>TRANSITION LINE: Here are three specific ways capable people miss that distinction in their own work.</a:t>
            </a:r>
          </a:p>
          <a:p/>
          <a:p>
            <a:r>
              <a:t>WHO THIS IS FOR — say once, in your own words, without naming anyone:</a:t>
            </a:r>
          </a:p>
          <a:p>
            <a:r>
              <a:t>I recently spoke with a Director in tech who had lived through two reorganizations. They still had a job. That was exactly why the question was hard. They wanted to understand where they stood before another organizational change made the decision for them.</a:t>
            </a:r>
          </a:p>
          <a:p/>
          <a:p>
            <a:r>
              <a:t>Do not identify the person or the employer. The purpose is to signal that this is a lesson for experienced professionals, not entry-level career coaching.</a:t>
            </a:r>
          </a:p>
        </p:txBody>
      </p:sp>
      <p:sp>
        <p:nvSpPr>
          <p:cNvPr id="173" name="Google Shape;173;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9:00-14:00</a:t>
            </a:r>
          </a:p>
          <a:p>
            <a:r>
              <a:t>WHAT TO SAY: High performers often use strong performance as proof that growth is happening. Separate delivery from formation. Read the test question slowly, then give 30-45 seconds for the quick check.</a:t>
            </a:r>
          </a:p>
          <a:p>
            <a:r>
              <a:t>EXAMPLE: A person can lead the same decision forum more smoothly each quarter without meeting a problem they do not already know how to solve.</a:t>
            </a:r>
          </a:p>
          <a:p>
            <a:r>
              <a:t>WHAT NOT TO SAY: Do not imply high performance is fake. It is real. It is simply a different signal.</a:t>
            </a:r>
          </a:p>
          <a:p>
            <a:r>
              <a:t>PARTICIPANT ACTION: Answers the quick check in chat, poll, or privately in writing — one word only.</a:t>
            </a:r>
          </a:p>
          <a:p>
            <a:r>
              <a:t>LIKELY MISUNDERSTANDING: Someone may say their work "feels" like growth because it is demanding. Demanding is not the same as unfamiliar. Redirect gently if it comes up.</a:t>
            </a:r>
          </a:p>
          <a:p>
            <a:r>
              <a:t>TRANSITION LINE: That is the first sign. Here is a second one that hides in plain sight because it feels like the opposite of a warning.</a:t>
            </a:r>
          </a:p>
        </p:txBody>
      </p:sp>
      <p:sp>
        <p:nvSpPr>
          <p:cNvPr id="191" name="Google Shape;191;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14:00-19:00</a:t>
            </a:r>
          </a:p>
          <a:p>
            <a:r>
              <a:t>WHAT TO SAY: Dependence is not bad. It is simply not the same as portability. A person can become essential to a system while their external story becomes harder to explain. Read the test question, then give the room 30-45 seconds for the quick check.</a:t>
            </a:r>
          </a:p>
          <a:p>
            <a:r>
              <a:t>WHAT NOT TO SAY: Do not call indispensability a trap. It can be earned and valuable. The risk is misreading it as automatically portable.</a:t>
            </a:r>
          </a:p>
          <a:p>
            <a:r>
              <a:t>PARTICIPANT ACTION: Answers the quick check in chat, poll, or privately in writing.</a:t>
            </a:r>
          </a:p>
          <a:p>
            <a:r>
              <a:t>LIKELY MISUNDERSTANDING: Someone may hear this as "being needed is bad." Correct plainly: being needed is good; assuming it travels is the misread.</a:t>
            </a:r>
          </a:p>
          <a:p>
            <a:r>
              <a:t>TRANSITION LINE: The third sign is the one that hides inside what looks like career progress.</a:t>
            </a:r>
          </a:p>
        </p:txBody>
      </p:sp>
      <p:sp>
        <p:nvSpPr>
          <p:cNvPr id="208" name="Google Shape;20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19:00-24:00</a:t>
            </a:r>
          </a:p>
          <a:p>
            <a:r>
              <a:t>WHAT TO SAY: Promotions can build capability. They can also move a person into approvals, representation, and familiar judgment. The point is to read the work, not the title. Give the room 30-45 seconds for the quick check after the test question.</a:t>
            </a:r>
          </a:p>
          <a:p>
            <a:r>
              <a:t>WHAT NOT TO SAY: This is not a diagnosis of anyone's specific promotion. It is a pattern worth noticing.</a:t>
            </a:r>
          </a:p>
          <a:p>
            <a:r>
              <a:t>PARTICIPANT ACTION: Answers the quick check in chat, poll, or privately in writing.</a:t>
            </a:r>
          </a:p>
          <a:p>
            <a:r>
              <a:t>LIKELY MISUNDERSTANDING: Someone may hear this as an argument against accepting promotions. It is not. It is an argument against assuming title growth is automatically capability growth.</a:t>
            </a:r>
          </a:p>
          <a:p>
            <a:r>
              <a:t>TRANSITION LINE: You've now tested three signs against your own last 90 days. Let's put that evidence somewhere you can keep it.</a:t>
            </a:r>
          </a:p>
        </p:txBody>
      </p:sp>
      <p:sp>
        <p:nvSpPr>
          <p:cNvPr id="225" name="Google Shape;22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24:00-29:00</a:t>
            </a:r>
          </a:p>
          <a:p>
            <a:r>
              <a:t>WHAT TO SAY: Five quiet minutes. Use a notebook, your notes app, or the Career Stall Check if you already have it open. No one will be called on.</a:t>
            </a:r>
          </a:p>
          <a:p>
            <a:r>
              <a:t>WHAT NOT TO SAY: Do not say this is the full assessment. Do not collect answers. Do not offer to review anyone's answers during Q&amp;A. Do not score them.</a:t>
            </a:r>
          </a:p>
          <a:p>
            <a:r>
              <a:t>PARTICIPANT ACTION: Answers the four prompts on this slide privately, in whatever they have on hand. The branded Career Stall Check can be sent afterward as an optional clean leave-behind. Nobody needs another file open in order to participate successfully.</a:t>
            </a:r>
          </a:p>
          <a:p>
            <a:r>
              <a:t>LIKELY MISUNDERSTANDING: Someone may ask if this produces a score or placement. It does not — redirect calmly: "That is what the full Position Read does. This is recognition."</a:t>
            </a:r>
          </a:p>
          <a:p>
            <a:r>
              <a:t>TRANSITION LINE: Before we go further, one caution about what a recognition exercise is and is not.</a:t>
            </a:r>
          </a:p>
        </p:txBody>
      </p:sp>
      <p:sp>
        <p:nvSpPr>
          <p:cNvPr id="242" name="Google Shape;24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29:00-31:30</a:t>
            </a:r>
          </a:p>
          <a:p>
            <a:r>
              <a:t>WHAT TO SAY: Do not let the exercise become a verdict. Familiarity is a signal, not a diagnosis. Then deliver the one AI sentence on the slide, once, without expanding into a tools discussion.</a:t>
            </a:r>
          </a:p>
          <a:p>
            <a:r>
              <a:t>WHAT NOT TO SAY: No tool names. No prompting advice. No job-loss predictions. No industry forecasts. This is a single sentence, not a new section.</a:t>
            </a:r>
          </a:p>
          <a:p>
            <a:r>
              <a:t>PARTICIPANT ACTION: None. This is a settling beat before the bridge.</a:t>
            </a:r>
          </a:p>
          <a:p>
            <a:r>
              <a:t>LIKELY MISUNDERSTANDING: Someone may ask what AI tool to use. Decline: "That's outside today's scope — this is about the reading, not the tools."</a:t>
            </a:r>
          </a:p>
          <a:p>
            <a:r>
              <a:t>TRANSITION LINE: Before we look at what the full read adds, be clear about what it costs to act on recognition alone.</a:t>
            </a:r>
          </a:p>
        </p:txBody>
      </p:sp>
      <p:sp>
        <p:nvSpPr>
          <p:cNvPr id="268" name="Google Shape;26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68070e0c7_0_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g3f68070e0c7_0_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32:30-33:30</a:t>
            </a:r>
          </a:p>
          <a:p/>
          <a:p>
            <a:r>
              <a:t>WHAT TO SAY: Today gave you recognition: one pattern, one recent example and one question worth investigating. September 16 is where we do the fuller evidence-backed read and identify which direction is worth testing. Today is complete on its own. The September 16 session simply takes the next step.</a:t>
            </a:r>
          </a:p>
          <a:p/>
          <a:p>
            <a:r>
              <a:t>THE FACTS TO STATE: September 16 is FREE, runs 60 minutes, and starts at 6:00 PM CT. They are on the slide face; say them once and move on.</a:t>
            </a:r>
          </a:p>
          <a:p/>
          <a:p>
            <a:r>
              <a:t>WHAT NOT TO SAY: do not describe today as incomplete or as a teaser. Today is a complete recognition lesson. Do not add scarcity. Do not mention any paid group workshop — it is retired from active public sale. Do not introduce Density, Optionality, Career States or any other framework term this session has not taught.</a:t>
            </a:r>
          </a:p>
          <a:p/>
          <a:p>
            <a:r>
              <a:t>PARTICIPANT ACTION: listening.</a:t>
            </a:r>
          </a:p>
        </p:txBody>
      </p:sp>
      <p:sp>
        <p:nvSpPr>
          <p:cNvPr id="281" name="Google Shape;281;g3f68070e0c7_0_6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33:30-35:00 — ninety seconds only. At minute 35 advance to the Q&amp;A slide. This must not take time from the ten-minute Q&amp;A block.</a:t>
            </a:r>
          </a:p>
          <a:p/>
          <a:p>
            <a:r>
              <a:t>WHAT TO SAY: two ways to continue, and neither is required. The free session on September 16 is the primary route — sixty minutes, guided, complete on its own. The Field Kit is for people who would rather work privately and rerun the reading as conditions change.</a:t>
            </a:r>
          </a:p>
          <a:p/>
          <a:p>
            <a:r>
              <a:t>FIELD KIT, IF ASKED: $150. A 24-page fillable evidence-led assessment, worked from evidence in the last 90 days, designed to be rerun quarterly.</a:t>
            </a:r>
          </a:p>
          <a:p/>
          <a:p>
            <a:r>
              <a:t>WHAT NOT TO SAY: do not describe the Field Kit as the full version of either lesson, as required, as included, or as more worksheets. Do not mention the retired paid group workshop, scarcity or a participant cap.</a:t>
            </a:r>
          </a:p>
          <a:p/>
          <a:p>
            <a:r>
              <a:t>PRE-DELIVERY CHECK: the live pages are the source of truth. Immediately before delivery, confirm the Field Kit price and route still read as they do on this slide. If either has changed, say the verified current figure aloud and post it in chat rather than reading the slide.</a:t>
            </a:r>
          </a:p>
          <a:p/>
          <a:p>
            <a:r>
              <a:t>PREBUILT CHAT MESSAGE — PRIMARY:</a:t>
            </a:r>
          </a:p>
          <a:p>
            <a:r>
              <a:t>Join the free September 16 session:</a:t>
            </a:r>
          </a:p>
          <a:p>
            <a:r>
              <a:t>https://maven.com/p/8b3c40/stay-or-leave-live-career-growth-assessment</a:t>
            </a:r>
          </a:p>
          <a:p/>
          <a:p>
            <a:r>
              <a:t>PREBUILT CHAT MESSAGE — SECONDARY:</a:t>
            </a:r>
          </a:p>
          <a:p>
            <a:r>
              <a:t>Prefer to continue privately? Explore the Capability Formation Field Kit:</a:t>
            </a:r>
          </a:p>
          <a:p>
            <a:r>
              <a:t>https://temidayoafonja.com/fieldkit</a:t>
            </a:r>
          </a:p>
          <a:p/>
          <a:p>
            <a:r>
              <a:t>Both QR codes on this slide resolve to those two links.</a:t>
            </a:r>
          </a:p>
        </p:txBody>
      </p:sp>
      <p:sp>
        <p:nvSpPr>
          <p:cNvPr id="298" name="Google Shape;29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THIS SLIDE IS NOW LIVE — it is the dedicated Q&amp;A slide, shown from minute 35 through minute 45. Advance to it immediately after the ninety-second continuation invitation ends. This is the v3.3 structural fix: the continuation invitation no longer stays on screen through Q&amp;A.</a:t>
            </a:r>
          </a:p>
          <a:p/>
          <a:p>
            <a:r>
              <a:t>TIMING: 35:00-45:00 — ten minutes for questions. Keep answers short. Answer the principle, not the person's career decision.</a:t>
            </a:r>
          </a:p>
          <a:p/>
          <a:p>
            <a:r>
              <a:t>CLOSING CTA — read once, then take questions:</a:t>
            </a:r>
          </a:p>
          <a:p>
            <a:r>
              <a:t>Two ways to continue, and neither is required. The free guided read is on September 16. The Field Kit is the private alternative.</a:t>
            </a:r>
          </a:p>
          <a:p/>
          <a:p>
            <a:r>
              <a:t>PREBUILT CHAT MESSAGE — PRIMARY:</a:t>
            </a:r>
          </a:p>
          <a:p>
            <a:r>
              <a:t>Join the free September 16 session:</a:t>
            </a:r>
          </a:p>
          <a:p>
            <a:r>
              <a:t>https://maven.com/p/8b3c40/stay-or-leave-live-career-growth-assessment</a:t>
            </a:r>
          </a:p>
          <a:p/>
          <a:p>
            <a:r>
              <a:t>PREBUILT CHAT MESSAGE — SECONDARY:</a:t>
            </a:r>
          </a:p>
          <a:p>
            <a:r>
              <a:t>Prefer to continue privately? Explore the Capability Formation Field Kit:</a:t>
            </a:r>
          </a:p>
          <a:p>
            <a:r>
              <a:t>https://temidayoafonja.com/fieldkit</a:t>
            </a:r>
          </a:p>
          <a:p/>
          <a:p>
            <a:r>
              <a:t>Do not mention the retired paid group workshop, its former price, its former participant cap, or its former date. Do not post the retired newsletter CTA on this slide.</a:t>
            </a:r>
          </a:p>
          <a:p/>
          <a:p>
            <a:r>
              <a:t>TIMING IS UNCHANGED: 35:00-45:00, ten minutes for questions.</a:t>
            </a:r>
          </a:p>
        </p:txBody>
      </p:sp>
      <p:sp>
        <p:nvSpPr>
          <p:cNvPr id="317" name="Google Shape;317;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not part of the timed 45-minute session. Use only if the room has extra time. This slide is hidden, exactly as it was in v3.3.8, so it does not appear in the exported PDF; to use it as a take-away, unhide it and re-export, or send it on its own.</a:t>
            </a:r>
          </a:p>
          <a:p/>
          <a:p>
            <a:r>
              <a:t>WHAT TO SAY: keep it short even here. This is an application of today's reading, not a technology talk. The three items are the same three signs read against a changing task.</a:t>
            </a:r>
          </a:p>
          <a:p/>
          <a:p>
            <a:r>
              <a:t>WHAT NOT TO SAY: no tool names, no prompting advice, no job-loss predictions, no industry forecasts. Do not use the words Density or Optionality — they are taught in the September 16 session and this room has not been given them.</a:t>
            </a:r>
          </a:p>
          <a:p/>
          <a:p>
            <a:r>
              <a:t>PARTICIPANT ACTION: none — reference material, not a live teaching beat.</a:t>
            </a:r>
          </a:p>
        </p:txBody>
      </p:sp>
      <p:sp>
        <p:nvSpPr>
          <p:cNvPr id="341" name="Google Shape;341;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265"/>
        <p:cNvGrpSpPr/>
        <p:nvPr/>
      </p:nvGrpSpPr>
      <p:grpSpPr>
        <a:xfrm>
          <a:off x="0" y="0"/>
          <a:ext cx="0" cy="0"/>
          <a:chOff x="0" y="0"/>
          <a:chExt cx="0" cy="0"/>
        </a:xfrm>
      </p:grpSpPr>
      <p:sp>
        <p:nvSpPr>
          <p:cNvPr id="966" name="Google Shape;26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7" name="Google Shape;26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31:30-32:30</a:t>
            </a:r>
          </a:p>
          <a:p>
            <a:r>
              <a:t>CORE SCRIPT: "One familiar signal is not a verdict. Leaving too quickly may mean giving up things that matter before testing whether another context inside the organization could solve the problem. Staying too long may narrow learning and future options if the role keeps relying on what you already know. The point today is not to tell you to stay or leave. It is to use evidence to decide what deserves testing next."</a:t>
            </a:r>
          </a:p>
          <a:p>
            <a:r>
              <a:t>PRESENTER GUARDRAIL: Both sides are conditional. People are making career decisions inside real constraints including pay, benefits, family, caregiving, flexibility, timing and the market. Do not imply that leaving is the braver choice or that staying automatically damages someone's career.</a:t>
            </a:r>
          </a:p>
          <a:p>
            <a:r>
              <a:t>WHAT NOT TO SAY: Do not add the date, the price or the registration link here; the full invitation lands two slides later. Do not narrate both cards twice — let the room read them, then land the band.</a:t>
            </a:r>
          </a:p>
          <a:p>
            <a:r>
              <a:t>PARTICIPANT ACTION: None. Listening.</a:t>
            </a:r>
          </a:p>
          <a:p>
            <a:r>
              <a:t>LIKELY MISUNDERSTANDING: Someone may hear this as advice to stay put. It is not. Both columns describe a possible cost, and neither is a recommendation.</a:t>
            </a:r>
          </a:p>
          <a:p>
            <a:r>
              <a:t>TRANSITION LINE: So what would it actually take to read the position more carefully? Here is what today gave you, and what the September 16 guided read adds.</a:t>
            </a:r>
          </a:p>
        </p:txBody>
      </p:sp>
      <p:sp>
        <p:nvSpPr>
          <p:cNvPr id="968" name="Google Shape;26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TIMING: 7:30-9:00 — ninety seconds. This is the positioning beat; it is not a teaching module and it does not need an example for every row.</a:t>
            </a:r>
          </a:p>
          <a:p/>
          <a:p>
            <a:r>
              <a:t>WHAT TO SAY: a pivot is not all-or-nothing. Some things travel with you and some have to be relearned in the new context. Read two or three items from each column, not all thirteen. Land the closing line deliberately: starting as a learner is not the same as starting from zero.</a:t>
            </a:r>
          </a:p>
          <a:p/>
          <a:p>
            <a:r>
              <a:t>WHAT NOT TO SAY: do not call this industry agnostic. Do not promise that any specific pivot will work, and do not rank the items or imply the left column is worth more than the right. Do not assess anyone's portability live — that is the September 16 reading, not this room.</a:t>
            </a:r>
          </a:p>
          <a:p/>
          <a:p>
            <a:r>
              <a:t>PARTICIPANT ACTION: listening. Some people will start privately sorting their own work into the two columns; that is the intended effect.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maven.com/p/8b3c40/stay-or-leave-live-career-growth-assessment" TargetMode="External"/><Relationship Id="rId4" Type="http://schemas.openxmlformats.org/officeDocument/2006/relationships/image" Target="../media/image2.png"/><Relationship Id="rId5" Type="http://schemas.openxmlformats.org/officeDocument/2006/relationships/hyperlink" Target="https://temidayoafonja.com/fieldkit" TargetMode="External"/><Relationship Id="rId6"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 name="Shape 84"/>
        <p:cNvGrpSpPr/>
        <p:nvPr/>
      </p:nvGrpSpPr>
      <p:grpSpPr>
        <a:xfrm>
          <a:off x="0" y="0"/>
          <a:ext cx="0" cy="0"/>
          <a:chOff x="0" y="0"/>
          <a:chExt cx="0" cy="0"/>
        </a:xfrm>
      </p:grpSpPr>
      <p:sp>
        <p:nvSpPr>
          <p:cNvPr id="85" name="Google Shape;85;p13"/>
          <p:cNvSpPr txBox="1"/>
          <p:nvPr/>
        </p:nvSpPr>
        <p:spPr>
          <a:xfrm>
            <a:off x="658368" y="548640"/>
            <a:ext cx="86868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C9A84C"/>
                </a:solidFill>
                <a:latin typeface="Arial"/>
                <a:ea typeface="Arial"/>
                <a:cs typeface="Arial"/>
                <a:sym typeface="Arial"/>
              </a:rPr>
              <a:t>FREE LIGHTNING LESSON   ·   45 MINUTES</a:t>
            </a:r>
            <a:endParaRPr b="0" i="0" sz="1600" u="none" cap="none" strike="noStrike">
              <a:solidFill>
                <a:srgbClr val="000000"/>
              </a:solidFill>
              <a:latin typeface="Arial"/>
              <a:ea typeface="Arial"/>
              <a:cs typeface="Arial"/>
              <a:sym typeface="Arial"/>
            </a:endParaRPr>
          </a:p>
        </p:txBody>
      </p:sp>
      <p:sp>
        <p:nvSpPr>
          <p:cNvPr id="86" name="Google Shape;86;p13"/>
          <p:cNvSpPr/>
          <p:nvPr/>
        </p:nvSpPr>
        <p:spPr>
          <a:xfrm>
            <a:off x="10378440" y="91440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p:nvPr/>
        </p:nvSpPr>
        <p:spPr>
          <a:xfrm>
            <a:off x="11109960" y="914400"/>
            <a:ext cx="658368" cy="658368"/>
          </a:xfrm>
          <a:prstGeom prst="rect">
            <a:avLst/>
          </a:prstGeom>
          <a:solidFill>
            <a:srgbClr val="C1440E"/>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p:nvPr/>
        </p:nvSpPr>
        <p:spPr>
          <a:xfrm>
            <a:off x="1037844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3"/>
          <p:cNvSpPr/>
          <p:nvPr/>
        </p:nvSpPr>
        <p:spPr>
          <a:xfrm>
            <a:off x="1110996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3"/>
          <p:cNvSpPr txBox="1"/>
          <p:nvPr/>
        </p:nvSpPr>
        <p:spPr>
          <a:xfrm>
            <a:off x="658368" y="1508760"/>
            <a:ext cx="8961120" cy="12344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How to Tell If Your</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Career Is Stalling</a:t>
            </a:r>
            <a:endParaRPr b="0" i="0" sz="1400" u="none" cap="none" strike="noStrike">
              <a:solidFill>
                <a:srgbClr val="000000"/>
              </a:solidFill>
              <a:latin typeface="Arial"/>
              <a:ea typeface="Arial"/>
              <a:cs typeface="Arial"/>
              <a:sym typeface="Arial"/>
            </a:endParaRPr>
          </a:p>
        </p:txBody>
      </p:sp>
      <p:sp>
        <p:nvSpPr>
          <p:cNvPr id="91" name="Google Shape;91;p13"/>
          <p:cNvSpPr txBox="1"/>
          <p:nvPr/>
        </p:nvSpPr>
        <p:spPr>
          <a:xfrm>
            <a:off x="676656" y="3657600"/>
            <a:ext cx="886968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F5F0E8"/>
                </a:solidFill>
                <a:latin typeface="Arial"/>
                <a:ea typeface="Arial"/>
                <a:cs typeface="Arial"/>
                <a:sym typeface="Arial"/>
              </a:rPr>
              <a:t>Three signs your role may have stopped building your skills and future options, even while you are performing well.</a:t>
            </a:r>
            <a:endParaRPr b="0" i="0" sz="1400" u="none" cap="none" strike="noStrike">
              <a:solidFill>
                <a:srgbClr val="000000"/>
              </a:solidFill>
              <a:latin typeface="Arial"/>
              <a:ea typeface="Arial"/>
              <a:cs typeface="Arial"/>
              <a:sym typeface="Arial"/>
            </a:endParaRPr>
          </a:p>
        </p:txBody>
      </p:sp>
      <p:sp>
        <p:nvSpPr>
          <p:cNvPr id="92" name="Google Shape;92;p13"/>
          <p:cNvSpPr/>
          <p:nvPr/>
        </p:nvSpPr>
        <p:spPr>
          <a:xfrm>
            <a:off x="676656" y="4480560"/>
            <a:ext cx="47548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3"/>
          <p:cNvSpPr txBox="1"/>
          <p:nvPr/>
        </p:nvSpPr>
        <p:spPr>
          <a:xfrm>
            <a:off x="676656" y="4754880"/>
            <a:ext cx="822960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000" u="none" cap="none" strike="noStrike">
                <a:solidFill>
                  <a:srgbClr val="C9A84C"/>
                </a:solidFill>
                <a:latin typeface="Arial"/>
                <a:ea typeface="Arial"/>
                <a:cs typeface="Arial"/>
                <a:sym typeface="Arial"/>
              </a:rPr>
              <a:t>A CAPABILITY FORMATION LIGHTNING LESSON</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676656" y="5120640"/>
            <a:ext cx="4206240" cy="34747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400"/>
              <a:buFont typeface="Arial"/>
              <a:buNone/>
            </a:pPr>
            <a:r>
              <a:rPr b="1" i="0" lang="en-US" sz="2400" u="none" cap="none" strike="noStrike">
                <a:solidFill>
                  <a:srgbClr val="F5F0E8"/>
                </a:solidFill>
                <a:latin typeface="Georgia"/>
                <a:ea typeface="Georgia"/>
                <a:cs typeface="Georgia"/>
                <a:sym typeface="Georgia"/>
              </a:rPr>
              <a:t>Temidayo Afonja</a:t>
            </a:r>
            <a:endParaRPr b="0" i="0" sz="1400" u="none" cap="none" strike="noStrike">
              <a:solidFill>
                <a:srgbClr val="000000"/>
              </a:solidFill>
              <a:latin typeface="Arial"/>
              <a:ea typeface="Arial"/>
              <a:cs typeface="Arial"/>
              <a:sym typeface="Arial"/>
            </a:endParaRPr>
          </a:p>
        </p:txBody>
      </p:sp>
      <p:sp>
        <p:nvSpPr>
          <p:cNvPr id="95" name="Google Shape;95;p13"/>
          <p:cNvSpPr txBox="1"/>
          <p:nvPr/>
        </p:nvSpPr>
        <p:spPr>
          <a:xfrm>
            <a:off x="676656" y="5568696"/>
            <a:ext cx="6583680" cy="21945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F5F0E8"/>
                </a:solidFill>
                <a:latin typeface="Arial"/>
                <a:ea typeface="Arial"/>
                <a:cs typeface="Arial"/>
                <a:sym typeface="Arial"/>
              </a:rPr>
              <a:t>Founder, The Density Group  ·  Author, The Capability Audit.</a:t>
            </a:r>
            <a:endParaRPr b="0" i="0" sz="1400" u="none" cap="none" strike="noStrike">
              <a:solidFill>
                <a:srgbClr val="000000"/>
              </a:solidFill>
              <a:latin typeface="Arial"/>
              <a:ea typeface="Arial"/>
              <a:cs typeface="Arial"/>
              <a:sym typeface="Arial"/>
            </a:endParaRPr>
          </a:p>
        </p:txBody>
      </p:sp>
      <p:sp>
        <p:nvSpPr>
          <p:cNvPr id="96" name="Google Shape;96;p1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2" name="Shape 102"/>
        <p:cNvGrpSpPr/>
        <p:nvPr/>
      </p:nvGrpSpPr>
      <p:grpSpPr>
        <a:xfrm>
          <a:off x="0" y="0"/>
          <a:ext cx="0" cy="0"/>
          <a:chOff x="0" y="0"/>
          <a:chExt cx="0" cy="0"/>
        </a:xfrm>
      </p:grpSpPr>
      <p:pic>
        <p:nvPicPr>
          <p:cNvPr descr="temi-photo.jpg" id="111" name="Google Shape;111;p14"/>
          <p:cNvPicPr preferRelativeResize="0"/>
          <p:nvPr/>
        </p:nvPicPr>
        <p:blipFill rotWithShape="1">
          <a:blip r:embed="rId3">
            <a:alphaModFix/>
          </a:blip>
          <a:srcRect b="0" l="0" r="0" t="0"/>
          <a:stretch/>
        </p:blipFill>
        <p:spPr>
          <a:xfrm>
            <a:off x="8165454" y="1991007"/>
            <a:ext cx="3520440" cy="3520440"/>
          </a:xfrm>
          <a:prstGeom prst="rect">
            <a:avLst/>
          </a:prstGeom>
          <a:noFill/>
          <a:ln>
            <a:noFill/>
          </a:ln>
        </p:spPr>
      </p:pic>
      <p:sp>
        <p:nvSpPr>
          <p:cNvPr id="112" name="TextBox 111"/>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WELCOME</a:t>
            </a:r>
          </a:p>
        </p:txBody>
      </p:sp>
      <p:sp>
        <p:nvSpPr>
          <p:cNvPr id="113" name="TextBox 112"/>
          <p:cNvSpPr txBox="1"/>
          <p:nvPr/>
        </p:nvSpPr>
        <p:spPr>
          <a:xfrm>
            <a:off x="658368" y="914400"/>
            <a:ext cx="6675120" cy="493776"/>
          </a:xfrm>
          <a:prstGeom prst="rect">
            <a:avLst/>
          </a:prstGeom>
          <a:noFill/>
        </p:spPr>
        <p:txBody>
          <a:bodyPr wrap="square" lIns="0" rIns="0" tIns="0" bIns="0">
            <a:spAutoFit/>
          </a:bodyPr>
          <a:lstStyle/>
          <a:p>
            <a:pPr algn="l"/>
            <a:r>
              <a:rPr sz="3200" b="1">
                <a:solidFill>
                  <a:srgbClr val="0F2347"/>
                </a:solidFill>
                <a:latin typeface="Georgia"/>
              </a:rPr>
              <a:t>Why I Built This Lesson</a:t>
            </a:r>
          </a:p>
        </p:txBody>
      </p:sp>
      <p:sp>
        <p:nvSpPr>
          <p:cNvPr id="114" name="Rectangle 113"/>
          <p:cNvSpPr/>
          <p:nvPr/>
        </p:nvSpPr>
        <p:spPr>
          <a:xfrm>
            <a:off x="676656" y="1600200"/>
            <a:ext cx="2377440" cy="18288"/>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58368" y="1810512"/>
            <a:ext cx="6492240" cy="841248"/>
          </a:xfrm>
          <a:prstGeom prst="rect">
            <a:avLst/>
          </a:prstGeom>
          <a:noFill/>
        </p:spPr>
        <p:txBody>
          <a:bodyPr wrap="square" lIns="0" rIns="0" tIns="0" bIns="0">
            <a:spAutoFit/>
          </a:bodyPr>
          <a:lstStyle/>
          <a:p>
            <a:pPr algn="l">
              <a:lnSpc>
                <a:spcPts val="2100"/>
              </a:lnSpc>
              <a:spcAft>
                <a:spcPts val="0"/>
              </a:spcAft>
            </a:pPr>
            <a:r>
              <a:rPr sz="1600" b="1">
                <a:solidFill>
                  <a:srgbClr val="0F2347"/>
                </a:solidFill>
                <a:latin typeface="Georgia"/>
              </a:rPr>
              <a:t>Temidayo Afonja — Career Portability Advisor.</a:t>
            </a:r>
          </a:p>
          <a:p>
            <a:pPr algn="l">
              <a:lnSpc>
                <a:spcPts val="2100"/>
              </a:lnSpc>
              <a:spcAft>
                <a:spcPts val="0"/>
              </a:spcAft>
            </a:pPr>
            <a:r>
              <a:rPr sz="1600" b="1">
                <a:solidFill>
                  <a:srgbClr val="0F2347"/>
                </a:solidFill>
                <a:latin typeface="Georgia"/>
              </a:rPr>
              <a:t>Founder, The Density Group.</a:t>
            </a:r>
          </a:p>
          <a:p>
            <a:pPr algn="l">
              <a:lnSpc>
                <a:spcPts val="2100"/>
              </a:lnSpc>
              <a:spcAft>
                <a:spcPts val="0"/>
              </a:spcAft>
            </a:pPr>
            <a:r>
              <a:rPr sz="1600" b="1">
                <a:solidFill>
                  <a:srgbClr val="0F2347"/>
                </a:solidFill>
                <a:latin typeface="Georgia"/>
              </a:rPr>
              <a:t>Author, The Capability Audit.</a:t>
            </a:r>
          </a:p>
        </p:txBody>
      </p:sp>
      <p:sp>
        <p:nvSpPr>
          <p:cNvPr id="116" name="TextBox 115"/>
          <p:cNvSpPr txBox="1"/>
          <p:nvPr/>
        </p:nvSpPr>
        <p:spPr>
          <a:xfrm>
            <a:off x="658368" y="2761488"/>
            <a:ext cx="6565392" cy="841248"/>
          </a:xfrm>
          <a:prstGeom prst="rect">
            <a:avLst/>
          </a:prstGeom>
          <a:noFill/>
        </p:spPr>
        <p:txBody>
          <a:bodyPr wrap="square" lIns="0" rIns="0" tIns="0" bIns="0">
            <a:spAutoFit/>
          </a:bodyPr>
          <a:lstStyle/>
          <a:p>
            <a:pPr algn="l">
              <a:lnSpc>
                <a:spcPts val="1700"/>
              </a:lnSpc>
              <a:spcAft>
                <a:spcPts val="900"/>
              </a:spcAft>
            </a:pPr>
            <a:r>
              <a:rPr sz="1300" b="1">
                <a:solidFill>
                  <a:srgbClr val="0F2347"/>
                </a:solidFill>
                <a:latin typeface="Arial"/>
              </a:rPr>
              <a:t>My career has moved through accounting and audit, cybersecurity, people strategy, employee experience and enterprise transformation, across multiple industries and sectors.</a:t>
            </a:r>
          </a:p>
          <a:p>
            <a:pPr algn="l">
              <a:lnSpc>
                <a:spcPts val="1700"/>
              </a:lnSpc>
              <a:spcAft>
                <a:spcPts val="0"/>
              </a:spcAft>
            </a:pPr>
            <a:r>
              <a:rPr sz="1300" b="1">
                <a:solidFill>
                  <a:srgbClr val="0F2347"/>
                </a:solidFill>
                <a:latin typeface="Arial"/>
              </a:rPr>
              <a:t>That journey made me interested in a different career question:</a:t>
            </a:r>
          </a:p>
        </p:txBody>
      </p:sp>
      <p:sp>
        <p:nvSpPr>
          <p:cNvPr id="117" name="TextBox 116"/>
          <p:cNvSpPr txBox="1"/>
          <p:nvPr/>
        </p:nvSpPr>
        <p:spPr>
          <a:xfrm>
            <a:off x="658368" y="3712463"/>
            <a:ext cx="7223760" cy="548640"/>
          </a:xfrm>
          <a:prstGeom prst="rect">
            <a:avLst/>
          </a:prstGeom>
          <a:noFill/>
        </p:spPr>
        <p:txBody>
          <a:bodyPr wrap="square" lIns="0" rIns="0" tIns="0" bIns="0">
            <a:spAutoFit/>
          </a:bodyPr>
          <a:lstStyle/>
          <a:p>
            <a:pPr algn="l">
              <a:lnSpc>
                <a:spcPts val="2300"/>
              </a:lnSpc>
            </a:pPr>
            <a:r>
              <a:rPr sz="1800" b="1">
                <a:solidFill>
                  <a:srgbClr val="0F2347"/>
                </a:solidFill>
                <a:latin typeface="Georgia"/>
              </a:rPr>
              <a:t>What remains useful when the context changes?</a:t>
            </a:r>
          </a:p>
        </p:txBody>
      </p:sp>
      <p:sp>
        <p:nvSpPr>
          <p:cNvPr id="118" name="TextBox 117"/>
          <p:cNvSpPr txBox="1"/>
          <p:nvPr/>
        </p:nvSpPr>
        <p:spPr>
          <a:xfrm>
            <a:off x="658368" y="4352544"/>
            <a:ext cx="6492240" cy="237744"/>
          </a:xfrm>
          <a:prstGeom prst="rect">
            <a:avLst/>
          </a:prstGeom>
          <a:noFill/>
        </p:spPr>
        <p:txBody>
          <a:bodyPr wrap="square" lIns="0" rIns="0" tIns="0" bIns="0">
            <a:spAutoFit/>
          </a:bodyPr>
          <a:lstStyle/>
          <a:p>
            <a:pPr algn="l"/>
            <a:r>
              <a:rPr sz="1300" b="1">
                <a:solidFill>
                  <a:srgbClr val="0F2347"/>
                </a:solidFill>
                <a:latin typeface="Arial"/>
              </a:rPr>
              <a:t>In 2026, the question became personal.</a:t>
            </a:r>
          </a:p>
        </p:txBody>
      </p:sp>
      <p:sp>
        <p:nvSpPr>
          <p:cNvPr id="119" name="Rectangle 118"/>
          <p:cNvSpPr/>
          <p:nvPr/>
        </p:nvSpPr>
        <p:spPr>
          <a:xfrm>
            <a:off x="658368" y="4754880"/>
            <a:ext cx="6492240" cy="105156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14400" y="4965192"/>
            <a:ext cx="5989320" cy="621792"/>
          </a:xfrm>
          <a:prstGeom prst="rect">
            <a:avLst/>
          </a:prstGeom>
          <a:noFill/>
        </p:spPr>
        <p:txBody>
          <a:bodyPr wrap="square" lIns="0" rIns="0" tIns="0" bIns="0">
            <a:spAutoFit/>
          </a:bodyPr>
          <a:lstStyle/>
          <a:p>
            <a:pPr algn="l">
              <a:lnSpc>
                <a:spcPts val="2300"/>
              </a:lnSpc>
            </a:pPr>
            <a:r>
              <a:rPr sz="1800" b="1">
                <a:solidFill>
                  <a:srgbClr val="F5F0E8"/>
                </a:solidFill>
                <a:latin typeface="Georgia"/>
              </a:rPr>
              <a:t>“Can a career begin to stall while the person is still performing well?”</a:t>
            </a:r>
          </a:p>
        </p:txBody>
      </p:sp>
      <p:sp>
        <p:nvSpPr>
          <p:cNvPr id="121" name="TextBox 120"/>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22" name="TextBox 121"/>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TextBox 120"/>
          <p:cNvSpPr txBox="1"/>
          <p:nvPr/>
        </p:nvSpPr>
        <p:spPr>
          <a:xfrm>
            <a:off x="658368" y="548640"/>
            <a:ext cx="7772400" cy="246888"/>
          </a:xfrm>
          <a:prstGeom prst="rect">
            <a:avLst/>
          </a:prstGeom>
          <a:noFill/>
        </p:spPr>
        <p:txBody>
          <a:bodyPr wrap="square" lIns="0" rIns="0" tIns="0" bIns="0">
            <a:spAutoFit/>
          </a:bodyPr>
          <a:lstStyle/>
          <a:p>
            <a:pPr algn="l"/>
            <a:r>
              <a:rPr sz="1600" b="1">
                <a:solidFill>
                  <a:srgbClr val="C1440E"/>
                </a:solidFill>
                <a:latin typeface="Arial"/>
              </a:rPr>
              <a:t>WHAT YOU’LL LEAVE WITH</a:t>
            </a:r>
          </a:p>
        </p:txBody>
      </p:sp>
      <p:sp>
        <p:nvSpPr>
          <p:cNvPr id="122" name="TextBox 121"/>
          <p:cNvSpPr txBox="1"/>
          <p:nvPr/>
        </p:nvSpPr>
        <p:spPr>
          <a:xfrm>
            <a:off x="658368" y="1051560"/>
            <a:ext cx="10241280" cy="685800"/>
          </a:xfrm>
          <a:prstGeom prst="rect">
            <a:avLst/>
          </a:prstGeom>
          <a:noFill/>
        </p:spPr>
        <p:txBody>
          <a:bodyPr wrap="square" lIns="0" rIns="0" tIns="0" bIns="0">
            <a:spAutoFit/>
          </a:bodyPr>
          <a:lstStyle/>
          <a:p>
            <a:pPr algn="l"/>
            <a:r>
              <a:rPr sz="3200" b="1">
                <a:solidFill>
                  <a:srgbClr val="0F2347"/>
                </a:solidFill>
                <a:latin typeface="Georgia"/>
              </a:rPr>
              <a:t>What Today Will Help You Do</a:t>
            </a:r>
          </a:p>
        </p:txBody>
      </p:sp>
      <p:sp>
        <p:nvSpPr>
          <p:cNvPr id="123" name="Rectangle 122"/>
          <p:cNvSpPr/>
          <p:nvPr/>
        </p:nvSpPr>
        <p:spPr>
          <a:xfrm>
            <a:off x="676656" y="1874519"/>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713232" y="237744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13232" y="2441448"/>
            <a:ext cx="320040" cy="182880"/>
          </a:xfrm>
          <a:prstGeom prst="rect">
            <a:avLst/>
          </a:prstGeom>
          <a:noFill/>
        </p:spPr>
        <p:txBody>
          <a:bodyPr wrap="square" lIns="0" rIns="0" tIns="0" bIns="0">
            <a:spAutoFit/>
          </a:bodyPr>
          <a:lstStyle/>
          <a:p>
            <a:pPr algn="ctr"/>
            <a:r>
              <a:rPr sz="1500" b="1">
                <a:solidFill>
                  <a:srgbClr val="FFFFFF"/>
                </a:solidFill>
                <a:latin typeface="Arial"/>
              </a:rPr>
              <a:t>1</a:t>
            </a:r>
          </a:p>
        </p:txBody>
      </p:sp>
      <p:sp>
        <p:nvSpPr>
          <p:cNvPr id="126" name="TextBox 125"/>
          <p:cNvSpPr txBox="1"/>
          <p:nvPr/>
        </p:nvSpPr>
        <p:spPr>
          <a:xfrm>
            <a:off x="1261872" y="2359152"/>
            <a:ext cx="5989320" cy="320040"/>
          </a:xfrm>
          <a:prstGeom prst="rect">
            <a:avLst/>
          </a:prstGeom>
          <a:noFill/>
        </p:spPr>
        <p:txBody>
          <a:bodyPr wrap="square" lIns="0" rIns="0" tIns="0" bIns="0">
            <a:spAutoFit/>
          </a:bodyPr>
          <a:lstStyle/>
          <a:p>
            <a:pPr algn="l"/>
            <a:r>
              <a:rPr sz="1800" b="1">
                <a:solidFill>
                  <a:srgbClr val="0F2347"/>
                </a:solidFill>
                <a:latin typeface="Georgia"/>
              </a:rPr>
              <a:t>SPOT THE PATTERN</a:t>
            </a:r>
          </a:p>
        </p:txBody>
      </p:sp>
      <p:sp>
        <p:nvSpPr>
          <p:cNvPr id="127" name="TextBox 126"/>
          <p:cNvSpPr txBox="1"/>
          <p:nvPr/>
        </p:nvSpPr>
        <p:spPr>
          <a:xfrm>
            <a:off x="1261872" y="272491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Recognize which of three career-stall patterns may deserve attention.</a:t>
            </a:r>
          </a:p>
        </p:txBody>
      </p:sp>
      <p:sp>
        <p:nvSpPr>
          <p:cNvPr id="128" name="Rectangle 127"/>
          <p:cNvSpPr/>
          <p:nvPr/>
        </p:nvSpPr>
        <p:spPr>
          <a:xfrm>
            <a:off x="713232" y="356616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13232" y="3630168"/>
            <a:ext cx="320040" cy="182880"/>
          </a:xfrm>
          <a:prstGeom prst="rect">
            <a:avLst/>
          </a:prstGeom>
          <a:noFill/>
        </p:spPr>
        <p:txBody>
          <a:bodyPr wrap="square" lIns="0" rIns="0" tIns="0" bIns="0">
            <a:spAutoFit/>
          </a:bodyPr>
          <a:lstStyle/>
          <a:p>
            <a:pPr algn="ctr"/>
            <a:r>
              <a:rPr sz="1500" b="1">
                <a:solidFill>
                  <a:srgbClr val="FFFFFF"/>
                </a:solidFill>
                <a:latin typeface="Arial"/>
              </a:rPr>
              <a:t>2</a:t>
            </a:r>
          </a:p>
        </p:txBody>
      </p:sp>
      <p:sp>
        <p:nvSpPr>
          <p:cNvPr id="130" name="TextBox 129"/>
          <p:cNvSpPr txBox="1"/>
          <p:nvPr/>
        </p:nvSpPr>
        <p:spPr>
          <a:xfrm>
            <a:off x="1261872" y="3547872"/>
            <a:ext cx="5989320" cy="320040"/>
          </a:xfrm>
          <a:prstGeom prst="rect">
            <a:avLst/>
          </a:prstGeom>
          <a:noFill/>
        </p:spPr>
        <p:txBody>
          <a:bodyPr wrap="square" lIns="0" rIns="0" tIns="0" bIns="0">
            <a:spAutoFit/>
          </a:bodyPr>
          <a:lstStyle/>
          <a:p>
            <a:pPr algn="l"/>
            <a:r>
              <a:rPr sz="1800" b="1">
                <a:solidFill>
                  <a:srgbClr val="0F2347"/>
                </a:solidFill>
                <a:latin typeface="Georgia"/>
              </a:rPr>
              <a:t>TEST IT AGAINST RECENT WORK</a:t>
            </a:r>
          </a:p>
        </p:txBody>
      </p:sp>
      <p:sp>
        <p:nvSpPr>
          <p:cNvPr id="131" name="TextBox 130"/>
          <p:cNvSpPr txBox="1"/>
          <p:nvPr/>
        </p:nvSpPr>
        <p:spPr>
          <a:xfrm>
            <a:off x="1261872" y="391363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Use one example from the last 90 days rather than a title, promise or feeling.</a:t>
            </a:r>
          </a:p>
        </p:txBody>
      </p:sp>
      <p:sp>
        <p:nvSpPr>
          <p:cNvPr id="132" name="Rectangle 131"/>
          <p:cNvSpPr/>
          <p:nvPr/>
        </p:nvSpPr>
        <p:spPr>
          <a:xfrm>
            <a:off x="713232" y="475488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13232" y="4818888"/>
            <a:ext cx="320040" cy="182880"/>
          </a:xfrm>
          <a:prstGeom prst="rect">
            <a:avLst/>
          </a:prstGeom>
          <a:noFill/>
        </p:spPr>
        <p:txBody>
          <a:bodyPr wrap="square" lIns="0" rIns="0" tIns="0" bIns="0">
            <a:spAutoFit/>
          </a:bodyPr>
          <a:lstStyle/>
          <a:p>
            <a:pPr algn="ctr"/>
            <a:r>
              <a:rPr sz="1500" b="1">
                <a:solidFill>
                  <a:srgbClr val="FFFFFF"/>
                </a:solidFill>
                <a:latin typeface="Arial"/>
              </a:rPr>
              <a:t>3</a:t>
            </a:r>
          </a:p>
        </p:txBody>
      </p:sp>
      <p:sp>
        <p:nvSpPr>
          <p:cNvPr id="134" name="TextBox 133"/>
          <p:cNvSpPr txBox="1"/>
          <p:nvPr/>
        </p:nvSpPr>
        <p:spPr>
          <a:xfrm>
            <a:off x="1261872" y="4736592"/>
            <a:ext cx="5989320" cy="320040"/>
          </a:xfrm>
          <a:prstGeom prst="rect">
            <a:avLst/>
          </a:prstGeom>
          <a:noFill/>
        </p:spPr>
        <p:txBody>
          <a:bodyPr wrap="square" lIns="0" rIns="0" tIns="0" bIns="0">
            <a:spAutoFit/>
          </a:bodyPr>
          <a:lstStyle/>
          <a:p>
            <a:pPr algn="l"/>
            <a:r>
              <a:rPr sz="1800" b="1">
                <a:solidFill>
                  <a:srgbClr val="0F2347"/>
                </a:solidFill>
                <a:latin typeface="Georgia"/>
              </a:rPr>
              <a:t>NAME THE NEXT QUESTION</a:t>
            </a:r>
          </a:p>
        </p:txBody>
      </p:sp>
      <p:sp>
        <p:nvSpPr>
          <p:cNvPr id="135" name="TextBox 134"/>
          <p:cNvSpPr txBox="1"/>
          <p:nvPr/>
        </p:nvSpPr>
        <p:spPr>
          <a:xfrm>
            <a:off x="1261872" y="510235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Identify what deserves closer examination before a bigger move.</a:t>
            </a:r>
          </a:p>
        </p:txBody>
      </p:sp>
      <p:sp>
        <p:nvSpPr>
          <p:cNvPr id="136" name="Rectangle 135"/>
          <p:cNvSpPr/>
          <p:nvPr/>
        </p:nvSpPr>
        <p:spPr>
          <a:xfrm>
            <a:off x="7699248" y="2304288"/>
            <a:ext cx="3822191"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973568" y="2578608"/>
            <a:ext cx="3291840" cy="237744"/>
          </a:xfrm>
          <a:prstGeom prst="rect">
            <a:avLst/>
          </a:prstGeom>
          <a:noFill/>
        </p:spPr>
        <p:txBody>
          <a:bodyPr wrap="square" lIns="0" rIns="0" tIns="0" bIns="0">
            <a:spAutoFit/>
          </a:bodyPr>
          <a:lstStyle/>
          <a:p>
            <a:pPr algn="l"/>
            <a:r>
              <a:rPr sz="1300" b="1">
                <a:solidFill>
                  <a:srgbClr val="C1440E"/>
                </a:solidFill>
                <a:latin typeface="Arial"/>
              </a:rPr>
              <a:t>TODAY WILL NOT:</a:t>
            </a:r>
          </a:p>
        </p:txBody>
      </p:sp>
      <p:sp>
        <p:nvSpPr>
          <p:cNvPr id="138" name="TextBox 137"/>
          <p:cNvSpPr txBox="1"/>
          <p:nvPr/>
        </p:nvSpPr>
        <p:spPr>
          <a:xfrm>
            <a:off x="7973568" y="3017520"/>
            <a:ext cx="3273552" cy="2103120"/>
          </a:xfrm>
          <a:prstGeom prst="rect">
            <a:avLst/>
          </a:prstGeom>
          <a:noFill/>
        </p:spPr>
        <p:txBody>
          <a:bodyPr wrap="square" lIns="0" rIns="0" tIns="0" bIns="0">
            <a:spAutoFit/>
          </a:bodyPr>
          <a:lstStyle/>
          <a:p>
            <a:pPr algn="l">
              <a:lnSpc>
                <a:spcPts val="2000"/>
              </a:lnSpc>
              <a:spcAft>
                <a:spcPts val="2200"/>
              </a:spcAft>
            </a:pPr>
            <a:r>
              <a:rPr sz="1500" b="1">
                <a:solidFill>
                  <a:srgbClr val="0F2347"/>
                </a:solidFill>
                <a:latin typeface="Georgia"/>
              </a:rPr>
              <a:t>tell you whether to stay or leave</a:t>
            </a:r>
          </a:p>
          <a:p>
            <a:pPr algn="l">
              <a:lnSpc>
                <a:spcPts val="2000"/>
              </a:lnSpc>
              <a:spcAft>
                <a:spcPts val="2200"/>
              </a:spcAft>
            </a:pPr>
            <a:r>
              <a:rPr sz="1500" b="1">
                <a:solidFill>
                  <a:srgbClr val="0F2347"/>
                </a:solidFill>
                <a:latin typeface="Georgia"/>
              </a:rPr>
              <a:t>place you in a Career State</a:t>
            </a:r>
          </a:p>
          <a:p>
            <a:pPr algn="l">
              <a:lnSpc>
                <a:spcPts val="2000"/>
              </a:lnSpc>
              <a:spcAft>
                <a:spcPts val="2200"/>
              </a:spcAft>
            </a:pPr>
            <a:r>
              <a:rPr sz="1500" b="1">
                <a:solidFill>
                  <a:srgbClr val="0F2347"/>
                </a:solidFill>
                <a:latin typeface="Georgia"/>
              </a:rPr>
              <a:t>make a personalized employment decision</a:t>
            </a:r>
          </a:p>
        </p:txBody>
      </p:sp>
      <p:sp>
        <p:nvSpPr>
          <p:cNvPr id="139" name="TextBox 138"/>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40" name="TextBox 139"/>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30" name="Shape 130"/>
        <p:cNvGrpSpPr/>
        <p:nvPr/>
      </p:nvGrpSpPr>
      <p:grpSpPr>
        <a:xfrm>
          <a:off x="0" y="0"/>
          <a:ext cx="0" cy="0"/>
          <a:chOff x="0" y="0"/>
          <a:chExt cx="0" cy="0"/>
        </a:xfrm>
      </p:grpSpPr>
      <p:sp>
        <p:nvSpPr>
          <p:cNvPr id="131" name="Google Shape;131;p1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OPENING POLL</a:t>
            </a:r>
            <a:endParaRPr b="0" i="0" sz="1400" u="none" cap="none" strike="noStrike">
              <a:solidFill>
                <a:srgbClr val="000000"/>
              </a:solidFill>
              <a:latin typeface="Arial"/>
              <a:ea typeface="Arial"/>
              <a:cs typeface="Arial"/>
              <a:sym typeface="Arial"/>
            </a:endParaRPr>
          </a:p>
        </p:txBody>
      </p:sp>
      <p:sp>
        <p:nvSpPr>
          <p:cNvPr id="132" name="Google Shape;132;p16"/>
          <p:cNvSpPr txBox="1"/>
          <p:nvPr/>
        </p:nvSpPr>
        <p:spPr>
          <a:xfrm>
            <a:off x="658368" y="114300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What brought you here today?</a:t>
            </a:r>
            <a:endParaRPr b="0" i="0" sz="1400" u="none" cap="none" strike="noStrike">
              <a:solidFill>
                <a:srgbClr val="000000"/>
              </a:solidFill>
              <a:latin typeface="Arial"/>
              <a:ea typeface="Arial"/>
              <a:cs typeface="Arial"/>
              <a:sym typeface="Arial"/>
            </a:endParaRPr>
          </a:p>
        </p:txBody>
      </p:sp>
      <p:sp>
        <p:nvSpPr>
          <p:cNvPr id="133" name="Google Shape;133;p16"/>
          <p:cNvSpPr txBox="1"/>
          <p:nvPr/>
        </p:nvSpPr>
        <p:spPr>
          <a:xfrm>
            <a:off x="676656" y="1828800"/>
            <a:ext cx="8778300" cy="261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rgbClr val="152B4C"/>
                </a:solidFill>
                <a:latin typeface="Arial"/>
                <a:ea typeface="Arial"/>
                <a:cs typeface="Arial"/>
                <a:sym typeface="Arial"/>
              </a:rPr>
              <a:t>Choose the closest reason. </a:t>
            </a:r>
            <a:endParaRPr b="0" i="0" sz="1600" u="none" cap="none" strike="noStrike">
              <a:solidFill>
                <a:srgbClr val="000000"/>
              </a:solidFill>
              <a:latin typeface="Arial"/>
              <a:ea typeface="Arial"/>
              <a:cs typeface="Arial"/>
              <a:sym typeface="Arial"/>
            </a:endParaRPr>
          </a:p>
        </p:txBody>
      </p:sp>
      <p:sp>
        <p:nvSpPr>
          <p:cNvPr id="134" name="Google Shape;134;p16"/>
          <p:cNvSpPr/>
          <p:nvPr/>
        </p:nvSpPr>
        <p:spPr>
          <a:xfrm>
            <a:off x="86868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16"/>
          <p:cNvSpPr txBox="1"/>
          <p:nvPr/>
        </p:nvSpPr>
        <p:spPr>
          <a:xfrm>
            <a:off x="106984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Promotion or larger role</a:t>
            </a:r>
            <a:endParaRPr b="1" i="0" sz="1600" u="none" cap="none" strike="noStrike">
              <a:solidFill>
                <a:srgbClr val="000000"/>
              </a:solidFill>
              <a:latin typeface="Arial"/>
              <a:ea typeface="Arial"/>
              <a:cs typeface="Arial"/>
              <a:sym typeface="Arial"/>
            </a:endParaRPr>
          </a:p>
        </p:txBody>
      </p:sp>
      <p:sp>
        <p:nvSpPr>
          <p:cNvPr id="136" name="Google Shape;136;p16"/>
          <p:cNvSpPr/>
          <p:nvPr/>
        </p:nvSpPr>
        <p:spPr>
          <a:xfrm>
            <a:off x="608076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txBox="1"/>
          <p:nvPr/>
        </p:nvSpPr>
        <p:spPr>
          <a:xfrm>
            <a:off x="628192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Reorganization or role change</a:t>
            </a:r>
            <a:endParaRPr b="1" i="0" sz="1600" u="none" cap="none" strike="noStrike">
              <a:solidFill>
                <a:srgbClr val="000000"/>
              </a:solidFill>
              <a:latin typeface="Arial"/>
              <a:ea typeface="Arial"/>
              <a:cs typeface="Arial"/>
              <a:sym typeface="Arial"/>
            </a:endParaRPr>
          </a:p>
        </p:txBody>
      </p:sp>
      <p:sp>
        <p:nvSpPr>
          <p:cNvPr id="138" name="Google Shape;138;p16"/>
          <p:cNvSpPr/>
          <p:nvPr/>
        </p:nvSpPr>
        <p:spPr>
          <a:xfrm>
            <a:off x="86868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16"/>
          <p:cNvSpPr txBox="1"/>
          <p:nvPr/>
        </p:nvSpPr>
        <p:spPr>
          <a:xfrm>
            <a:off x="106984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Internal move decision</a:t>
            </a:r>
            <a:endParaRPr b="1" i="0" sz="1600" u="none" cap="none" strike="noStrike">
              <a:solidFill>
                <a:srgbClr val="000000"/>
              </a:solidFill>
              <a:latin typeface="Arial"/>
              <a:ea typeface="Arial"/>
              <a:cs typeface="Arial"/>
              <a:sym typeface="Arial"/>
            </a:endParaRPr>
          </a:p>
        </p:txBody>
      </p:sp>
      <p:sp>
        <p:nvSpPr>
          <p:cNvPr id="140" name="Google Shape;140;p16"/>
          <p:cNvSpPr/>
          <p:nvPr/>
        </p:nvSpPr>
        <p:spPr>
          <a:xfrm>
            <a:off x="608076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16"/>
          <p:cNvSpPr txBox="1"/>
          <p:nvPr/>
        </p:nvSpPr>
        <p:spPr>
          <a:xfrm>
            <a:off x="628192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Will my experience travel?</a:t>
            </a:r>
            <a:endParaRPr b="1" i="0" sz="1600" u="none" cap="none" strike="noStrike">
              <a:solidFill>
                <a:srgbClr val="000000"/>
              </a:solidFill>
              <a:latin typeface="Arial"/>
              <a:ea typeface="Arial"/>
              <a:cs typeface="Arial"/>
              <a:sym typeface="Arial"/>
            </a:endParaRPr>
          </a:p>
        </p:txBody>
      </p:sp>
      <p:sp>
        <p:nvSpPr>
          <p:cNvPr id="142" name="Google Shape;142;p16"/>
          <p:cNvSpPr/>
          <p:nvPr/>
        </p:nvSpPr>
        <p:spPr>
          <a:xfrm>
            <a:off x="86868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16"/>
          <p:cNvSpPr txBox="1"/>
          <p:nvPr/>
        </p:nvSpPr>
        <p:spPr>
          <a:xfrm>
            <a:off x="106984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My role feels static</a:t>
            </a:r>
            <a:endParaRPr b="1" i="0" sz="1600" u="none" cap="none" strike="noStrike">
              <a:solidFill>
                <a:srgbClr val="000000"/>
              </a:solidFill>
              <a:latin typeface="Arial"/>
              <a:ea typeface="Arial"/>
              <a:cs typeface="Arial"/>
              <a:sym typeface="Arial"/>
            </a:endParaRPr>
          </a:p>
        </p:txBody>
      </p:sp>
      <p:sp>
        <p:nvSpPr>
          <p:cNvPr id="144" name="Google Shape;144;p16"/>
          <p:cNvSpPr/>
          <p:nvPr/>
        </p:nvSpPr>
        <p:spPr>
          <a:xfrm>
            <a:off x="608076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628192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AI, layoffs or restructuring</a:t>
            </a:r>
            <a:endParaRPr b="1" i="0" sz="1600" u="none" cap="none" strike="noStrike">
              <a:solidFill>
                <a:srgbClr val="000000"/>
              </a:solidFill>
              <a:latin typeface="Arial"/>
              <a:ea typeface="Arial"/>
              <a:cs typeface="Arial"/>
              <a:sym typeface="Arial"/>
            </a:endParaRPr>
          </a:p>
        </p:txBody>
      </p:sp>
      <p:sp>
        <p:nvSpPr>
          <p:cNvPr id="146" name="Google Shape;146;p1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47" name="Google Shape;147;p1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74" name="Shape 174"/>
        <p:cNvGrpSpPr/>
        <p:nvPr/>
      </p:nvGrpSpPr>
      <p:grpSpPr>
        <a:xfrm>
          <a:off x="0" y="0"/>
          <a:ext cx="0" cy="0"/>
          <a:chOff x="0" y="0"/>
          <a:chExt cx="0" cy="0"/>
        </a:xfrm>
      </p:grpSpPr>
      <p:sp>
        <p:nvSpPr>
          <p:cNvPr id="175" name="Google Shape;175;p18"/>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chemeClr val="accent2"/>
                </a:solidFill>
                <a:latin typeface="Arial"/>
                <a:ea typeface="Arial"/>
                <a:cs typeface="Arial"/>
                <a:sym typeface="Arial"/>
              </a:rPr>
              <a:t>THE CENTRAL INSIGHT</a:t>
            </a:r>
            <a:endParaRPr b="0" i="0" sz="1600" u="none" cap="none" strike="noStrike">
              <a:solidFill>
                <a:schemeClr val="accent2"/>
              </a:solidFill>
              <a:latin typeface="Arial"/>
              <a:ea typeface="Arial"/>
              <a:cs typeface="Arial"/>
              <a:sym typeface="Arial"/>
            </a:endParaRPr>
          </a:p>
        </p:txBody>
      </p:sp>
      <p:sp>
        <p:nvSpPr>
          <p:cNvPr id="176" name="Google Shape;176;p18"/>
          <p:cNvSpPr txBox="1"/>
          <p:nvPr/>
        </p:nvSpPr>
        <p:spPr>
          <a:xfrm>
            <a:off x="658368" y="1097280"/>
            <a:ext cx="10424160" cy="12344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A Role Can Reward You Long After It Stops Building You</a:t>
            </a:r>
            <a:endParaRPr b="0" i="0" sz="1400" u="none" cap="none" strike="noStrike">
              <a:solidFill>
                <a:srgbClr val="000000"/>
              </a:solidFill>
              <a:latin typeface="Arial"/>
              <a:ea typeface="Arial"/>
              <a:cs typeface="Arial"/>
              <a:sym typeface="Arial"/>
            </a:endParaRPr>
          </a:p>
        </p:txBody>
      </p:sp>
      <p:sp>
        <p:nvSpPr>
          <p:cNvPr id="177" name="Google Shape;177;p18"/>
          <p:cNvSpPr/>
          <p:nvPr/>
        </p:nvSpPr>
        <p:spPr>
          <a:xfrm>
            <a:off x="676656" y="233172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18"/>
          <p:cNvSpPr txBox="1"/>
          <p:nvPr/>
        </p:nvSpPr>
        <p:spPr>
          <a:xfrm>
            <a:off x="749808" y="265176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Strong performance may tell you that you are delivering value.</a:t>
            </a:r>
            <a:endParaRPr b="0" i="0" sz="1400" u="none" cap="none" strike="noStrike">
              <a:solidFill>
                <a:srgbClr val="000000"/>
              </a:solidFill>
              <a:latin typeface="Arial"/>
              <a:ea typeface="Arial"/>
              <a:cs typeface="Arial"/>
              <a:sym typeface="Arial"/>
            </a:endParaRPr>
          </a:p>
        </p:txBody>
      </p:sp>
      <p:sp>
        <p:nvSpPr>
          <p:cNvPr id="179" name="Google Shape;179;p18"/>
          <p:cNvSpPr txBox="1"/>
          <p:nvPr/>
        </p:nvSpPr>
        <p:spPr>
          <a:xfrm>
            <a:off x="749808" y="315468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It does not, by itself, tell you whether the work is still:</a:t>
            </a:r>
            <a:endParaRPr b="0" i="0" sz="1400" u="none" cap="none" strike="noStrike">
              <a:solidFill>
                <a:srgbClr val="000000"/>
              </a:solidFill>
              <a:latin typeface="Arial"/>
              <a:ea typeface="Arial"/>
              <a:cs typeface="Arial"/>
              <a:sym typeface="Arial"/>
            </a:endParaRPr>
          </a:p>
        </p:txBody>
      </p:sp>
      <p:sp>
        <p:nvSpPr>
          <p:cNvPr id="180" name="Google Shape;180;p18"/>
          <p:cNvSpPr txBox="1"/>
          <p:nvPr/>
        </p:nvSpPr>
        <p:spPr>
          <a:xfrm>
            <a:off x="1034833" y="3657600"/>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Expanding your judgment</a:t>
            </a:r>
            <a:endParaRPr b="0" i="0" sz="1400" u="none" cap="none" strike="noStrike">
              <a:solidFill>
                <a:srgbClr val="F5F0E8"/>
              </a:solidFill>
              <a:latin typeface="Arial"/>
              <a:ea typeface="Arial"/>
              <a:cs typeface="Arial"/>
              <a:sym typeface="Arial"/>
            </a:endParaRPr>
          </a:p>
        </p:txBody>
      </p:sp>
      <p:sp>
        <p:nvSpPr>
          <p:cNvPr id="181" name="Google Shape;181;p18"/>
          <p:cNvSpPr txBox="1"/>
          <p:nvPr/>
        </p:nvSpPr>
        <p:spPr>
          <a:xfrm>
            <a:off x="1051560" y="4041648"/>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Exposing you to unfamiliar problems</a:t>
            </a:r>
            <a:endParaRPr b="0" i="0" sz="1400" u="none" cap="none" strike="noStrike">
              <a:solidFill>
                <a:srgbClr val="F5F0E8"/>
              </a:solidFill>
              <a:latin typeface="Arial"/>
              <a:ea typeface="Arial"/>
              <a:cs typeface="Arial"/>
              <a:sym typeface="Arial"/>
            </a:endParaRPr>
          </a:p>
        </p:txBody>
      </p:sp>
      <p:sp>
        <p:nvSpPr>
          <p:cNvPr id="182" name="Google Shape;182;p18"/>
          <p:cNvSpPr txBox="1"/>
          <p:nvPr/>
        </p:nvSpPr>
        <p:spPr>
          <a:xfrm>
            <a:off x="1051560" y="4425696"/>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Building capability that travels</a:t>
            </a:r>
            <a:endParaRPr b="0" i="0" sz="1400" u="none" cap="none" strike="noStrike">
              <a:solidFill>
                <a:srgbClr val="F5F0E8"/>
              </a:solidFill>
              <a:latin typeface="Arial"/>
              <a:ea typeface="Arial"/>
              <a:cs typeface="Arial"/>
              <a:sym typeface="Arial"/>
            </a:endParaRPr>
          </a:p>
        </p:txBody>
      </p:sp>
      <p:sp>
        <p:nvSpPr>
          <p:cNvPr id="183" name="Google Shape;183;p18"/>
          <p:cNvSpPr txBox="1"/>
          <p:nvPr/>
        </p:nvSpPr>
        <p:spPr>
          <a:xfrm>
            <a:off x="1051560" y="4809744"/>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Increasing your future options</a:t>
            </a:r>
            <a:endParaRPr b="0" i="0" sz="1400" u="none" cap="none" strike="noStrike">
              <a:solidFill>
                <a:srgbClr val="F5F0E8"/>
              </a:solidFill>
              <a:latin typeface="Arial"/>
              <a:ea typeface="Arial"/>
              <a:cs typeface="Arial"/>
              <a:sym typeface="Arial"/>
            </a:endParaRPr>
          </a:p>
        </p:txBody>
      </p:sp>
      <p:sp>
        <p:nvSpPr>
          <p:cNvPr id="184" name="Google Shape;184;p18"/>
          <p:cNvSpPr/>
          <p:nvPr/>
        </p:nvSpPr>
        <p:spPr>
          <a:xfrm>
            <a:off x="676656" y="5481493"/>
            <a:ext cx="3840600" cy="2280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18"/>
          <p:cNvSpPr txBox="1"/>
          <p:nvPr/>
        </p:nvSpPr>
        <p:spPr>
          <a:xfrm>
            <a:off x="749808" y="5664372"/>
            <a:ext cx="98754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00"/>
              <a:buFont typeface="Arial"/>
              <a:buNone/>
            </a:pPr>
            <a:r>
              <a:rPr b="1" i="1" lang="en-US" sz="1900" u="none" cap="none" strike="noStrike">
                <a:solidFill>
                  <a:srgbClr val="0F2347"/>
                </a:solidFill>
                <a:latin typeface="Georgia"/>
                <a:ea typeface="Georgia"/>
                <a:cs typeface="Georgia"/>
                <a:sym typeface="Georgia"/>
              </a:rPr>
              <a:t>Performance matters. It is not the whole picture.</a:t>
            </a:r>
            <a:endParaRPr b="0" i="0" sz="1400" u="none" cap="none" strike="noStrike">
              <a:solidFill>
                <a:srgbClr val="000000"/>
              </a:solidFill>
              <a:latin typeface="Arial"/>
              <a:ea typeface="Arial"/>
              <a:cs typeface="Arial"/>
              <a:sym typeface="Arial"/>
            </a:endParaRPr>
          </a:p>
        </p:txBody>
      </p:sp>
      <p:sp>
        <p:nvSpPr>
          <p:cNvPr id="186" name="Google Shape;186;p18"/>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87" name="Google Shape;187;p18"/>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CAREER PORTABILITY</a:t>
            </a:r>
          </a:p>
        </p:txBody>
      </p:sp>
      <p:sp>
        <p:nvSpPr>
          <p:cNvPr id="3" name="TextBox 2"/>
          <p:cNvSpPr txBox="1"/>
          <p:nvPr/>
        </p:nvSpPr>
        <p:spPr>
          <a:xfrm>
            <a:off x="658368" y="1051560"/>
            <a:ext cx="10241280" cy="685800"/>
          </a:xfrm>
          <a:prstGeom prst="rect">
            <a:avLst/>
          </a:prstGeom>
          <a:noFill/>
        </p:spPr>
        <p:txBody>
          <a:bodyPr wrap="square" lIns="0" rIns="0" tIns="0" bIns="0">
            <a:spAutoFit/>
          </a:bodyPr>
          <a:lstStyle/>
          <a:p>
            <a:pPr algn="l"/>
            <a:r>
              <a:rPr sz="3200" b="1">
                <a:solidFill>
                  <a:srgbClr val="0F2347"/>
                </a:solidFill>
                <a:latin typeface="Georgia"/>
              </a:rPr>
              <a:t>A pivot does not mean everything transfers.</a:t>
            </a:r>
          </a:p>
        </p:txBody>
      </p:sp>
      <p:sp>
        <p:nvSpPr>
          <p:cNvPr id="4" name="Rectangle 3"/>
          <p:cNvSpPr/>
          <p:nvPr/>
        </p:nvSpPr>
        <p:spPr>
          <a:xfrm>
            <a:off x="676656" y="1874519"/>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76656" y="2286000"/>
            <a:ext cx="5193792"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542032"/>
            <a:ext cx="4681728" cy="237744"/>
          </a:xfrm>
          <a:prstGeom prst="rect">
            <a:avLst/>
          </a:prstGeom>
          <a:noFill/>
        </p:spPr>
        <p:txBody>
          <a:bodyPr wrap="square" lIns="0" rIns="0" tIns="0" bIns="0">
            <a:spAutoFit/>
          </a:bodyPr>
          <a:lstStyle/>
          <a:p>
            <a:pPr algn="l"/>
            <a:r>
              <a:rPr sz="1300" b="1">
                <a:solidFill>
                  <a:srgbClr val="0F2347"/>
                </a:solidFill>
                <a:latin typeface="Arial"/>
              </a:rPr>
              <a:t>WHAT MAY TRAVEL</a:t>
            </a:r>
          </a:p>
        </p:txBody>
      </p:sp>
      <p:sp>
        <p:nvSpPr>
          <p:cNvPr id="7" name="TextBox 6"/>
          <p:cNvSpPr txBox="1"/>
          <p:nvPr/>
        </p:nvSpPr>
        <p:spPr>
          <a:xfrm>
            <a:off x="932688" y="2944368"/>
            <a:ext cx="4681728" cy="2194560"/>
          </a:xfrm>
          <a:prstGeom prst="rect">
            <a:avLst/>
          </a:prstGeom>
          <a:noFill/>
        </p:spPr>
        <p:txBody>
          <a:bodyPr wrap="square" lIns="0" rIns="0" tIns="0" bIns="0">
            <a:spAutoFit/>
          </a:bodyPr>
          <a:lstStyle/>
          <a:p>
            <a:pPr algn="l">
              <a:lnSpc>
                <a:spcPts val="1900"/>
              </a:lnSpc>
              <a:spcAft>
                <a:spcPts val="600"/>
              </a:spcAft>
            </a:pPr>
            <a:r>
              <a:rPr sz="1500" b="1">
                <a:solidFill>
                  <a:srgbClr val="0F2347"/>
                </a:solidFill>
                <a:latin typeface="Georgia"/>
              </a:rPr>
              <a:t>Judgment</a:t>
            </a:r>
          </a:p>
          <a:p>
            <a:pPr algn="l">
              <a:lnSpc>
                <a:spcPts val="1900"/>
              </a:lnSpc>
              <a:spcAft>
                <a:spcPts val="600"/>
              </a:spcAft>
            </a:pPr>
            <a:r>
              <a:rPr sz="1500" b="1">
                <a:solidFill>
                  <a:srgbClr val="0F2347"/>
                </a:solidFill>
                <a:latin typeface="Georgia"/>
              </a:rPr>
              <a:t>Problem framing</a:t>
            </a:r>
          </a:p>
          <a:p>
            <a:pPr algn="l">
              <a:lnSpc>
                <a:spcPts val="1900"/>
              </a:lnSpc>
              <a:spcAft>
                <a:spcPts val="600"/>
              </a:spcAft>
            </a:pPr>
            <a:r>
              <a:rPr sz="1500" b="1">
                <a:solidFill>
                  <a:srgbClr val="0F2347"/>
                </a:solidFill>
                <a:latin typeface="Georgia"/>
              </a:rPr>
              <a:t>Evidence</a:t>
            </a:r>
          </a:p>
          <a:p>
            <a:pPr algn="l">
              <a:lnSpc>
                <a:spcPts val="1900"/>
              </a:lnSpc>
              <a:spcAft>
                <a:spcPts val="600"/>
              </a:spcAft>
            </a:pPr>
            <a:r>
              <a:rPr sz="1500" b="1">
                <a:solidFill>
                  <a:srgbClr val="0F2347"/>
                </a:solidFill>
                <a:latin typeface="Georgia"/>
              </a:rPr>
              <a:t>Systems thinking</a:t>
            </a:r>
          </a:p>
          <a:p>
            <a:pPr algn="l">
              <a:lnSpc>
                <a:spcPts val="1900"/>
              </a:lnSpc>
              <a:spcAft>
                <a:spcPts val="600"/>
              </a:spcAft>
            </a:pPr>
            <a:r>
              <a:rPr sz="1500" b="1">
                <a:solidFill>
                  <a:srgbClr val="0F2347"/>
                </a:solidFill>
                <a:latin typeface="Georgia"/>
              </a:rPr>
              <a:t>Risk recognition</a:t>
            </a:r>
          </a:p>
          <a:p>
            <a:pPr algn="l">
              <a:lnSpc>
                <a:spcPts val="1900"/>
              </a:lnSpc>
              <a:spcAft>
                <a:spcPts val="600"/>
              </a:spcAft>
            </a:pPr>
            <a:r>
              <a:rPr sz="1500" b="1">
                <a:solidFill>
                  <a:srgbClr val="0F2347"/>
                </a:solidFill>
                <a:latin typeface="Georgia"/>
              </a:rPr>
              <a:t>Stakeholder trust</a:t>
            </a:r>
          </a:p>
          <a:p>
            <a:pPr algn="l">
              <a:lnSpc>
                <a:spcPts val="1900"/>
              </a:lnSpc>
              <a:spcAft>
                <a:spcPts val="600"/>
              </a:spcAft>
            </a:pPr>
            <a:r>
              <a:rPr sz="1500" b="1">
                <a:solidFill>
                  <a:srgbClr val="0F2347"/>
                </a:solidFill>
                <a:latin typeface="Georgia"/>
              </a:rPr>
              <a:t>Ways of solving unfamiliar problems</a:t>
            </a:r>
          </a:p>
        </p:txBody>
      </p:sp>
      <p:sp>
        <p:nvSpPr>
          <p:cNvPr id="8" name="Rectangle 7"/>
          <p:cNvSpPr/>
          <p:nvPr/>
        </p:nvSpPr>
        <p:spPr>
          <a:xfrm>
            <a:off x="6309360" y="2286000"/>
            <a:ext cx="5212080"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65392" y="2542032"/>
            <a:ext cx="4700016" cy="237744"/>
          </a:xfrm>
          <a:prstGeom prst="rect">
            <a:avLst/>
          </a:prstGeom>
          <a:noFill/>
        </p:spPr>
        <p:txBody>
          <a:bodyPr wrap="square" lIns="0" rIns="0" tIns="0" bIns="0">
            <a:spAutoFit/>
          </a:bodyPr>
          <a:lstStyle/>
          <a:p>
            <a:pPr algn="l"/>
            <a:r>
              <a:rPr sz="1300" b="1">
                <a:solidFill>
                  <a:srgbClr val="C1440E"/>
                </a:solidFill>
                <a:latin typeface="Arial"/>
              </a:rPr>
              <a:t>WHAT DOES NOT TRAVEL AUTOMATICALLY</a:t>
            </a:r>
          </a:p>
        </p:txBody>
      </p:sp>
      <p:sp>
        <p:nvSpPr>
          <p:cNvPr id="10" name="TextBox 9"/>
          <p:cNvSpPr txBox="1"/>
          <p:nvPr/>
        </p:nvSpPr>
        <p:spPr>
          <a:xfrm>
            <a:off x="6565392" y="2944368"/>
            <a:ext cx="4700016" cy="2194560"/>
          </a:xfrm>
          <a:prstGeom prst="rect">
            <a:avLst/>
          </a:prstGeom>
          <a:noFill/>
        </p:spPr>
        <p:txBody>
          <a:bodyPr wrap="square" lIns="0" rIns="0" tIns="0" bIns="0">
            <a:spAutoFit/>
          </a:bodyPr>
          <a:lstStyle/>
          <a:p>
            <a:pPr algn="l">
              <a:lnSpc>
                <a:spcPts val="1900"/>
              </a:lnSpc>
              <a:spcAft>
                <a:spcPts val="600"/>
              </a:spcAft>
            </a:pPr>
            <a:r>
              <a:rPr sz="1500" b="1">
                <a:solidFill>
                  <a:srgbClr val="0F2347"/>
                </a:solidFill>
                <a:latin typeface="Georgia"/>
              </a:rPr>
              <a:t>Industry language</a:t>
            </a:r>
          </a:p>
          <a:p>
            <a:pPr algn="l">
              <a:lnSpc>
                <a:spcPts val="1900"/>
              </a:lnSpc>
              <a:spcAft>
                <a:spcPts val="600"/>
              </a:spcAft>
            </a:pPr>
            <a:r>
              <a:rPr sz="1500" b="1">
                <a:solidFill>
                  <a:srgbClr val="0F2347"/>
                </a:solidFill>
                <a:latin typeface="Georgia"/>
              </a:rPr>
              <a:t>Regulation</a:t>
            </a:r>
          </a:p>
          <a:p>
            <a:pPr algn="l">
              <a:lnSpc>
                <a:spcPts val="1900"/>
              </a:lnSpc>
              <a:spcAft>
                <a:spcPts val="600"/>
              </a:spcAft>
            </a:pPr>
            <a:r>
              <a:rPr sz="1500" b="1">
                <a:solidFill>
                  <a:srgbClr val="0F2347"/>
                </a:solidFill>
                <a:latin typeface="Georgia"/>
              </a:rPr>
              <a:t>Technical frameworks</a:t>
            </a:r>
          </a:p>
          <a:p>
            <a:pPr algn="l">
              <a:lnSpc>
                <a:spcPts val="1900"/>
              </a:lnSpc>
              <a:spcAft>
                <a:spcPts val="600"/>
              </a:spcAft>
            </a:pPr>
            <a:r>
              <a:rPr sz="1500" b="1">
                <a:solidFill>
                  <a:srgbClr val="0F2347"/>
                </a:solidFill>
                <a:latin typeface="Georgia"/>
              </a:rPr>
              <a:t>Internal systems</a:t>
            </a:r>
          </a:p>
          <a:p>
            <a:pPr algn="l">
              <a:lnSpc>
                <a:spcPts val="1900"/>
              </a:lnSpc>
              <a:spcAft>
                <a:spcPts val="600"/>
              </a:spcAft>
            </a:pPr>
            <a:r>
              <a:rPr sz="1500" b="1">
                <a:solidFill>
                  <a:srgbClr val="0F2347"/>
                </a:solidFill>
                <a:latin typeface="Georgia"/>
              </a:rPr>
              <a:t>Relationships</a:t>
            </a:r>
          </a:p>
          <a:p>
            <a:pPr algn="l">
              <a:lnSpc>
                <a:spcPts val="1900"/>
              </a:lnSpc>
              <a:spcAft>
                <a:spcPts val="600"/>
              </a:spcAft>
            </a:pPr>
            <a:r>
              <a:rPr sz="1500" b="1">
                <a:solidFill>
                  <a:srgbClr val="0F2347"/>
                </a:solidFill>
                <a:latin typeface="Georgia"/>
              </a:rPr>
              <a:t>Operating context</a:t>
            </a:r>
          </a:p>
        </p:txBody>
      </p:sp>
      <p:sp>
        <p:nvSpPr>
          <p:cNvPr id="11" name="TextBox 10"/>
          <p:cNvSpPr txBox="1"/>
          <p:nvPr/>
        </p:nvSpPr>
        <p:spPr>
          <a:xfrm>
            <a:off x="676656" y="5596128"/>
            <a:ext cx="10844784" cy="329184"/>
          </a:xfrm>
          <a:prstGeom prst="rect">
            <a:avLst/>
          </a:prstGeom>
          <a:noFill/>
        </p:spPr>
        <p:txBody>
          <a:bodyPr wrap="square" lIns="0" rIns="0" tIns="0" bIns="0">
            <a:spAutoFit/>
          </a:bodyPr>
          <a:lstStyle/>
          <a:p>
            <a:pPr algn="l"/>
            <a:r>
              <a:rPr sz="2000" b="1">
                <a:solidFill>
                  <a:srgbClr val="0F2347"/>
                </a:solidFill>
                <a:latin typeface="Georgia"/>
              </a:rPr>
              <a:t>Starting as a learner is not the same as starting from zero.</a:t>
            </a:r>
          </a:p>
        </p:txBody>
      </p:sp>
      <p:sp>
        <p:nvSpPr>
          <p:cNvPr id="12" name="TextBox 11"/>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2" name="Shape 192"/>
        <p:cNvGrpSpPr/>
        <p:nvPr/>
      </p:nvGrpSpPr>
      <p:grpSpPr>
        <a:xfrm>
          <a:off x="0" y="0"/>
          <a:ext cx="0" cy="0"/>
          <a:chOff x="0" y="0"/>
          <a:chExt cx="0" cy="0"/>
        </a:xfrm>
      </p:grpSpPr>
      <p:sp>
        <p:nvSpPr>
          <p:cNvPr id="193" name="Google Shape;193;p19"/>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1</a:t>
            </a:r>
            <a:endParaRPr b="0" i="0" sz="1600" u="none" cap="none" strike="noStrike">
              <a:solidFill>
                <a:schemeClr val="accent2"/>
              </a:solidFill>
              <a:latin typeface="Arial"/>
              <a:ea typeface="Arial"/>
              <a:cs typeface="Arial"/>
              <a:sym typeface="Arial"/>
            </a:endParaRPr>
          </a:p>
        </p:txBody>
      </p:sp>
      <p:sp>
        <p:nvSpPr>
          <p:cNvPr id="194" name="Google Shape;194;p19"/>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Repeating,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Not Stretching</a:t>
            </a:r>
            <a:endParaRPr b="0" i="0" sz="1400" u="none" cap="none" strike="noStrike">
              <a:solidFill>
                <a:srgbClr val="000000"/>
              </a:solidFill>
              <a:latin typeface="Arial"/>
              <a:ea typeface="Arial"/>
              <a:cs typeface="Arial"/>
              <a:sym typeface="Arial"/>
            </a:endParaRPr>
          </a:p>
        </p:txBody>
      </p:sp>
      <p:sp>
        <p:nvSpPr>
          <p:cNvPr id="195" name="Google Shape;195;p19"/>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p19"/>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19"/>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You may be performing at a high level, but the work is no longer asking you to solve meaningfully unfamiliar problems.</a:t>
            </a:r>
            <a:endParaRPr b="0" i="0" sz="1400" u="none" cap="none" strike="noStrike">
              <a:solidFill>
                <a:srgbClr val="000000"/>
              </a:solidFill>
              <a:latin typeface="Arial"/>
              <a:ea typeface="Arial"/>
              <a:cs typeface="Arial"/>
              <a:sym typeface="Arial"/>
            </a:endParaRPr>
          </a:p>
        </p:txBody>
      </p:sp>
      <p:sp>
        <p:nvSpPr>
          <p:cNvPr id="198" name="Google Shape;198;p19"/>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1" i="0" sz="1800" u="none" cap="none" strike="noStrike">
              <a:solidFill>
                <a:srgbClr val="000000"/>
              </a:solidFill>
              <a:latin typeface="Arial"/>
              <a:ea typeface="Arial"/>
              <a:cs typeface="Arial"/>
              <a:sym typeface="Arial"/>
            </a:endParaRPr>
          </a:p>
        </p:txBody>
      </p:sp>
      <p:sp>
        <p:nvSpPr>
          <p:cNvPr id="199" name="Google Shape;199;p19"/>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What problem have you solved in the last 90 days that you genuinely did not already know how to solve?</a:t>
            </a:r>
            <a:endParaRPr b="1" i="0" sz="1800" u="none" cap="none" strike="noStrike">
              <a:solidFill>
                <a:srgbClr val="0F2347"/>
              </a:solidFill>
              <a:latin typeface="Arial"/>
              <a:ea typeface="Arial"/>
              <a:cs typeface="Arial"/>
              <a:sym typeface="Arial"/>
            </a:endParaRPr>
          </a:p>
        </p:txBody>
      </p:sp>
      <p:sp>
        <p:nvSpPr>
          <p:cNvPr id="200" name="Google Shape;200;p19"/>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19"/>
          <p:cNvSpPr txBox="1"/>
          <p:nvPr/>
        </p:nvSpPr>
        <p:spPr>
          <a:xfrm>
            <a:off x="1005847" y="4864600"/>
            <a:ext cx="44637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1" i="0" lang="en-US" sz="1300" u="none" cap="none" strike="noStrike">
                <a:solidFill>
                  <a:srgbClr val="C9A84C"/>
                </a:solidFill>
                <a:latin typeface="Arial"/>
                <a:ea typeface="Arial"/>
                <a:cs typeface="Arial"/>
                <a:sym typeface="Arial"/>
              </a:rPr>
              <a:t>QUICK CHECK -</a:t>
            </a:r>
            <a:r>
              <a:rPr b="0" i="0" lang="en-US" sz="1300" u="none" cap="none" strike="noStrike">
                <a:solidFill>
                  <a:srgbClr val="C9A84C"/>
                </a:solidFill>
                <a:latin typeface="Arial"/>
                <a:ea typeface="Arial"/>
                <a:cs typeface="Arial"/>
                <a:sym typeface="Arial"/>
              </a:rPr>
              <a:t> live in the chat or in your own note </a:t>
            </a:r>
            <a:endParaRPr b="0" i="0" sz="1700" u="none" cap="none" strike="noStrike">
              <a:solidFill>
                <a:srgbClr val="000000"/>
              </a:solidFill>
              <a:latin typeface="Arial"/>
              <a:ea typeface="Arial"/>
              <a:cs typeface="Arial"/>
              <a:sym typeface="Arial"/>
            </a:endParaRPr>
          </a:p>
        </p:txBody>
      </p:sp>
      <p:sp>
        <p:nvSpPr>
          <p:cNvPr id="202" name="Google Shape;202;p19"/>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1" lang="en-US" sz="1800" u="none" cap="none" strike="noStrike">
                <a:solidFill>
                  <a:srgbClr val="F5F0E8"/>
                </a:solidFill>
                <a:latin typeface="Arial"/>
                <a:ea typeface="Arial"/>
                <a:cs typeface="Arial"/>
                <a:sym typeface="Arial"/>
              </a:rPr>
              <a:t>In one word, is your recent work stretching, repeating, or unclear?</a:t>
            </a:r>
            <a:endParaRPr b="1" i="0" sz="1800" u="none" cap="none" strike="noStrike">
              <a:solidFill>
                <a:srgbClr val="000000"/>
              </a:solidFill>
              <a:latin typeface="Arial"/>
              <a:ea typeface="Arial"/>
              <a:cs typeface="Arial"/>
              <a:sym typeface="Arial"/>
            </a:endParaRPr>
          </a:p>
        </p:txBody>
      </p:sp>
      <p:sp>
        <p:nvSpPr>
          <p:cNvPr id="203" name="Google Shape;203;p19"/>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04" name="Google Shape;204;p19"/>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9" name="Shape 209"/>
        <p:cNvGrpSpPr/>
        <p:nvPr/>
      </p:nvGrpSpPr>
      <p:grpSpPr>
        <a:xfrm>
          <a:off x="0" y="0"/>
          <a:ext cx="0" cy="0"/>
          <a:chOff x="0" y="0"/>
          <a:chExt cx="0" cy="0"/>
        </a:xfrm>
      </p:grpSpPr>
      <p:sp>
        <p:nvSpPr>
          <p:cNvPr id="210" name="Google Shape;210;p20"/>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2</a:t>
            </a:r>
            <a:endParaRPr b="0" i="0" sz="1600" u="none" cap="none" strike="noStrike">
              <a:solidFill>
                <a:schemeClr val="accent2"/>
              </a:solidFill>
              <a:latin typeface="Arial"/>
              <a:ea typeface="Arial"/>
              <a:cs typeface="Arial"/>
              <a:sym typeface="Arial"/>
            </a:endParaRPr>
          </a:p>
        </p:txBody>
      </p:sp>
      <p:sp>
        <p:nvSpPr>
          <p:cNvPr id="211" name="Google Shape;211;p20"/>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Indispensable,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but Mainly Here</a:t>
            </a:r>
            <a:endParaRPr b="0" i="0" sz="1400" u="none" cap="none" strike="noStrike">
              <a:solidFill>
                <a:srgbClr val="000000"/>
              </a:solidFill>
              <a:latin typeface="Arial"/>
              <a:ea typeface="Arial"/>
              <a:cs typeface="Arial"/>
              <a:sym typeface="Arial"/>
            </a:endParaRPr>
          </a:p>
        </p:txBody>
      </p:sp>
      <p:sp>
        <p:nvSpPr>
          <p:cNvPr id="212" name="Google Shape;212;p20"/>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20"/>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20"/>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The organization relies on you, but your value may be increasingly tied to its systems, internal language, relationships, processes, or history.</a:t>
            </a:r>
            <a:endParaRPr b="0" i="0" sz="1400" u="none" cap="none" strike="noStrike">
              <a:solidFill>
                <a:srgbClr val="000000"/>
              </a:solidFill>
              <a:latin typeface="Arial"/>
              <a:ea typeface="Arial"/>
              <a:cs typeface="Arial"/>
              <a:sym typeface="Arial"/>
            </a:endParaRPr>
          </a:p>
        </p:txBody>
      </p:sp>
      <p:sp>
        <p:nvSpPr>
          <p:cNvPr id="215" name="Google Shape;215;p20"/>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16" name="Google Shape;216;p20"/>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Could someone outside your company explain your value without using your title or internal company language?</a:t>
            </a:r>
            <a:endParaRPr b="1" i="0" sz="1800" u="none" cap="none" strike="noStrike">
              <a:solidFill>
                <a:srgbClr val="0F2347"/>
              </a:solidFill>
              <a:latin typeface="Arial"/>
              <a:ea typeface="Arial"/>
              <a:cs typeface="Arial"/>
              <a:sym typeface="Arial"/>
            </a:endParaRPr>
          </a:p>
        </p:txBody>
      </p:sp>
      <p:sp>
        <p:nvSpPr>
          <p:cNvPr id="217" name="Google Shape;217;p20"/>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Calibri"/>
              <a:ea typeface="Calibri"/>
              <a:cs typeface="Calibri"/>
              <a:sym typeface="Calibri"/>
            </a:endParaRPr>
          </a:p>
        </p:txBody>
      </p:sp>
      <p:sp>
        <p:nvSpPr>
          <p:cNvPr id="218" name="Google Shape;218;p20"/>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19" name="Google Shape;219;p20"/>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fastest: internal dependence, external visibility, or both?</a:t>
            </a:r>
            <a:endParaRPr b="1" i="0" sz="1800" u="none" cap="none" strike="noStrike">
              <a:solidFill>
                <a:srgbClr val="000000"/>
              </a:solidFill>
              <a:latin typeface="Arial"/>
              <a:ea typeface="Arial"/>
              <a:cs typeface="Arial"/>
              <a:sym typeface="Arial"/>
            </a:endParaRPr>
          </a:p>
        </p:txBody>
      </p:sp>
      <p:sp>
        <p:nvSpPr>
          <p:cNvPr id="220" name="Google Shape;220;p20"/>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21" name="Google Shape;221;p20"/>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6" name="Shape 226"/>
        <p:cNvGrpSpPr/>
        <p:nvPr/>
      </p:nvGrpSpPr>
      <p:grpSpPr>
        <a:xfrm>
          <a:off x="0" y="0"/>
          <a:ext cx="0" cy="0"/>
          <a:chOff x="0" y="0"/>
          <a:chExt cx="0" cy="0"/>
        </a:xfrm>
      </p:grpSpPr>
      <p:sp>
        <p:nvSpPr>
          <p:cNvPr id="227" name="Google Shape;227;p21"/>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rgbClr val="C1440E"/>
                </a:solidFill>
                <a:latin typeface="Arial"/>
                <a:ea typeface="Arial"/>
                <a:cs typeface="Arial"/>
                <a:sym typeface="Arial"/>
              </a:rPr>
              <a:t>SIGN 3</a:t>
            </a:r>
            <a:endParaRPr b="0" i="0" sz="1600" u="none" cap="none" strike="noStrike">
              <a:solidFill>
                <a:srgbClr val="C1440E"/>
              </a:solidFill>
              <a:latin typeface="Arial"/>
              <a:ea typeface="Arial"/>
              <a:cs typeface="Arial"/>
              <a:sym typeface="Arial"/>
            </a:endParaRPr>
          </a:p>
        </p:txBody>
      </p:sp>
      <p:sp>
        <p:nvSpPr>
          <p:cNvPr id="228" name="Google Shape;228;p21"/>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Your Responsibility Is Growing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Faster Than Your Capability</a:t>
            </a:r>
            <a:endParaRPr b="0" i="0" sz="1400" u="none" cap="none" strike="noStrike">
              <a:solidFill>
                <a:srgbClr val="000000"/>
              </a:solidFill>
              <a:latin typeface="Arial"/>
              <a:ea typeface="Arial"/>
              <a:cs typeface="Arial"/>
              <a:sym typeface="Arial"/>
            </a:endParaRPr>
          </a:p>
        </p:txBody>
      </p:sp>
      <p:sp>
        <p:nvSpPr>
          <p:cNvPr id="229" name="Google Shape;229;p21"/>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p21"/>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highlight>
                <a:schemeClr val="accent6"/>
              </a:highlight>
              <a:latin typeface="Calibri"/>
              <a:ea typeface="Calibri"/>
              <a:cs typeface="Calibri"/>
              <a:sym typeface="Calibri"/>
            </a:endParaRPr>
          </a:p>
        </p:txBody>
      </p:sp>
      <p:sp>
        <p:nvSpPr>
          <p:cNvPr id="231" name="Google Shape;231;p21"/>
          <p:cNvSpPr txBox="1"/>
          <p:nvPr/>
        </p:nvSpPr>
        <p:spPr>
          <a:xfrm>
            <a:off x="950976" y="2862072"/>
            <a:ext cx="5029200" cy="1282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0" lang="en-US" sz="1700" u="none" cap="none" strike="noStrike">
                <a:solidFill>
                  <a:srgbClr val="0F2347"/>
                </a:solidFill>
                <a:latin typeface="Georgia"/>
                <a:ea typeface="Georgia"/>
                <a:cs typeface="Georgia"/>
                <a:sym typeface="Georgia"/>
              </a:rPr>
              <a:t>Your title, scope, and expectations may be increasing while the range of judgment, unfamiliar problems, or transferable capability being formed in you is narrowing.</a:t>
            </a:r>
            <a:endParaRPr b="0" i="0" sz="1700" u="none" cap="none" strike="noStrike">
              <a:solidFill>
                <a:srgbClr val="000000"/>
              </a:solidFill>
              <a:latin typeface="Arial"/>
              <a:ea typeface="Arial"/>
              <a:cs typeface="Arial"/>
              <a:sym typeface="Arial"/>
            </a:endParaRPr>
          </a:p>
        </p:txBody>
      </p:sp>
      <p:sp>
        <p:nvSpPr>
          <p:cNvPr id="232" name="Google Shape;232;p21"/>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33" name="Google Shape;233;p21"/>
          <p:cNvSpPr txBox="1"/>
          <p:nvPr/>
        </p:nvSpPr>
        <p:spPr>
          <a:xfrm>
            <a:off x="6446520" y="2926080"/>
            <a:ext cx="46635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1" lang="en-US" sz="1700" u="none" cap="none" strike="noStrike">
                <a:solidFill>
                  <a:srgbClr val="0F2347"/>
                </a:solidFill>
                <a:latin typeface="Georgia"/>
                <a:ea typeface="Georgia"/>
                <a:cs typeface="Georgia"/>
                <a:sym typeface="Georgia"/>
              </a:rPr>
              <a:t>What capability do you have now that you did not have before your responsibilities increased?</a:t>
            </a:r>
            <a:endParaRPr b="1" i="0" sz="1700" u="none" cap="none" strike="noStrike">
              <a:solidFill>
                <a:srgbClr val="000000"/>
              </a:solidFill>
              <a:latin typeface="Arial"/>
              <a:ea typeface="Arial"/>
              <a:cs typeface="Arial"/>
              <a:sym typeface="Arial"/>
            </a:endParaRPr>
          </a:p>
        </p:txBody>
      </p:sp>
      <p:sp>
        <p:nvSpPr>
          <p:cNvPr id="234" name="Google Shape;234;p21"/>
          <p:cNvSpPr/>
          <p:nvPr/>
        </p:nvSpPr>
        <p:spPr>
          <a:xfrm>
            <a:off x="749808" y="4709160"/>
            <a:ext cx="10332720" cy="7772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21"/>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36" name="Google Shape;236;p21"/>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faster: responsibility, learning, or visibility?</a:t>
            </a:r>
            <a:endParaRPr b="1" i="0" sz="1800" u="none" cap="none" strike="noStrike">
              <a:solidFill>
                <a:srgbClr val="000000"/>
              </a:solidFill>
              <a:latin typeface="Arial"/>
              <a:ea typeface="Arial"/>
              <a:cs typeface="Arial"/>
              <a:sym typeface="Arial"/>
            </a:endParaRPr>
          </a:p>
        </p:txBody>
      </p:sp>
      <p:sp>
        <p:nvSpPr>
          <p:cNvPr id="237" name="Google Shape;237;p21"/>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38" name="Google Shape;238;p21"/>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3" name="Shape 243"/>
        <p:cNvGrpSpPr/>
        <p:nvPr/>
      </p:nvGrpSpPr>
      <p:grpSpPr>
        <a:xfrm>
          <a:off x="0" y="0"/>
          <a:ext cx="0" cy="0"/>
          <a:chOff x="0" y="0"/>
          <a:chExt cx="0" cy="0"/>
        </a:xfrm>
      </p:grpSpPr>
      <p:sp>
        <p:nvSpPr>
          <p:cNvPr id="244" name="Google Shape;244;p22"/>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CAREER STALL CHECK</a:t>
            </a:r>
            <a:endParaRPr b="0" i="0" sz="1400" u="none" cap="none" strike="noStrike">
              <a:solidFill>
                <a:srgbClr val="000000"/>
              </a:solidFill>
              <a:latin typeface="Arial"/>
              <a:ea typeface="Arial"/>
              <a:cs typeface="Arial"/>
              <a:sym typeface="Arial"/>
            </a:endParaRPr>
          </a:p>
        </p:txBody>
      </p:sp>
      <p:sp>
        <p:nvSpPr>
          <p:cNvPr id="245" name="Google Shape;245;p22"/>
          <p:cNvSpPr txBox="1"/>
          <p:nvPr/>
        </p:nvSpPr>
        <p:spPr>
          <a:xfrm>
            <a:off x="658368" y="1097280"/>
            <a:ext cx="1005840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Five quiet minutes.</a:t>
            </a:r>
            <a:endParaRPr b="0" i="0" sz="1400" u="none" cap="none" strike="noStrike">
              <a:solidFill>
                <a:srgbClr val="000000"/>
              </a:solidFill>
              <a:latin typeface="Arial"/>
              <a:ea typeface="Arial"/>
              <a:cs typeface="Arial"/>
              <a:sym typeface="Arial"/>
            </a:endParaRPr>
          </a:p>
        </p:txBody>
      </p:sp>
      <p:sp>
        <p:nvSpPr>
          <p:cNvPr id="246" name="Google Shape;246;p22"/>
          <p:cNvSpPr txBox="1"/>
          <p:nvPr/>
        </p:nvSpPr>
        <p:spPr>
          <a:xfrm>
            <a:off x="676656" y="1828800"/>
            <a:ext cx="969264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rgbClr val="152B4C"/>
                </a:solidFill>
                <a:latin typeface="Arial"/>
                <a:ea typeface="Arial"/>
                <a:cs typeface="Arial"/>
                <a:sym typeface="Arial"/>
              </a:rPr>
              <a:t>Use a notebook, notes app, or the Career Stall Check if you already have it.</a:t>
            </a:r>
            <a:endParaRPr b="0" i="0" sz="1400" u="none" cap="none" strike="noStrike">
              <a:solidFill>
                <a:srgbClr val="000000"/>
              </a:solidFill>
              <a:latin typeface="Arial"/>
              <a:ea typeface="Arial"/>
              <a:cs typeface="Arial"/>
              <a:sym typeface="Arial"/>
            </a:endParaRPr>
          </a:p>
        </p:txBody>
      </p:sp>
      <p:sp>
        <p:nvSpPr>
          <p:cNvPr id="247" name="Google Shape;247;p22"/>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22"/>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49" name="Google Shape;249;p22"/>
          <p:cNvSpPr txBox="1"/>
          <p:nvPr/>
        </p:nvSpPr>
        <p:spPr>
          <a:xfrm>
            <a:off x="1261872" y="2386584"/>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Which sign is most present for me?</a:t>
            </a:r>
            <a:endParaRPr b="0" i="0" sz="1600" u="none" cap="none" strike="noStrike">
              <a:solidFill>
                <a:srgbClr val="000000"/>
              </a:solidFill>
              <a:latin typeface="Arial"/>
              <a:ea typeface="Arial"/>
              <a:cs typeface="Arial"/>
              <a:sym typeface="Arial"/>
            </a:endParaRPr>
          </a:p>
        </p:txBody>
      </p:sp>
      <p:sp>
        <p:nvSpPr>
          <p:cNvPr id="250" name="Google Shape;250;p22"/>
          <p:cNvSpPr txBox="1"/>
          <p:nvPr/>
        </p:nvSpPr>
        <p:spPr>
          <a:xfrm>
            <a:off x="1261872" y="2715768"/>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Repeating instead of stretching, indispensable but mainly here, or responsibility growing faster than capability.</a:t>
            </a:r>
            <a:endParaRPr b="0" i="0" sz="1300" u="none" cap="none" strike="noStrike">
              <a:solidFill>
                <a:srgbClr val="000000"/>
              </a:solidFill>
              <a:latin typeface="Arial"/>
              <a:ea typeface="Arial"/>
              <a:cs typeface="Arial"/>
              <a:sym typeface="Arial"/>
            </a:endParaRPr>
          </a:p>
        </p:txBody>
      </p:sp>
      <p:sp>
        <p:nvSpPr>
          <p:cNvPr id="251" name="Google Shape;251;p22"/>
          <p:cNvSpPr/>
          <p:nvPr/>
        </p:nvSpPr>
        <p:spPr>
          <a:xfrm>
            <a:off x="713232" y="331927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p22"/>
          <p:cNvSpPr txBox="1"/>
          <p:nvPr/>
        </p:nvSpPr>
        <p:spPr>
          <a:xfrm>
            <a:off x="777240" y="338785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253" name="Google Shape;253;p22"/>
          <p:cNvSpPr txBox="1"/>
          <p:nvPr/>
        </p:nvSpPr>
        <p:spPr>
          <a:xfrm>
            <a:off x="1261872" y="3282696"/>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one example from the last 90 days?</a:t>
            </a:r>
            <a:endParaRPr b="0" i="0" sz="1600" u="none" cap="none" strike="noStrike">
              <a:solidFill>
                <a:srgbClr val="000000"/>
              </a:solidFill>
              <a:latin typeface="Arial"/>
              <a:ea typeface="Arial"/>
              <a:cs typeface="Arial"/>
              <a:sym typeface="Arial"/>
            </a:endParaRPr>
          </a:p>
        </p:txBody>
      </p:sp>
      <p:sp>
        <p:nvSpPr>
          <p:cNvPr id="254" name="Google Shape;254;p22"/>
          <p:cNvSpPr txBox="1"/>
          <p:nvPr/>
        </p:nvSpPr>
        <p:spPr>
          <a:xfrm>
            <a:off x="1261872" y="3611879"/>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Use a lived example, not a plan, promise, title, or feeling.</a:t>
            </a:r>
            <a:endParaRPr b="0" i="0" sz="1300" u="none" cap="none" strike="noStrike">
              <a:solidFill>
                <a:srgbClr val="000000"/>
              </a:solidFill>
              <a:latin typeface="Arial"/>
              <a:ea typeface="Arial"/>
              <a:cs typeface="Arial"/>
              <a:sym typeface="Arial"/>
            </a:endParaRPr>
          </a:p>
        </p:txBody>
      </p:sp>
      <p:sp>
        <p:nvSpPr>
          <p:cNvPr id="255" name="Google Shape;255;p22"/>
          <p:cNvSpPr/>
          <p:nvPr/>
        </p:nvSpPr>
        <p:spPr>
          <a:xfrm>
            <a:off x="713232" y="4215383"/>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22"/>
          <p:cNvSpPr txBox="1"/>
          <p:nvPr/>
        </p:nvSpPr>
        <p:spPr>
          <a:xfrm>
            <a:off x="777240" y="4283963"/>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257" name="Google Shape;257;p22"/>
          <p:cNvSpPr txBox="1"/>
          <p:nvPr/>
        </p:nvSpPr>
        <p:spPr>
          <a:xfrm>
            <a:off x="1261872" y="4178807"/>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capability, learning, or future option may not be growing?</a:t>
            </a:r>
            <a:endParaRPr b="0" i="0" sz="1600" u="none" cap="none" strike="noStrike">
              <a:solidFill>
                <a:srgbClr val="000000"/>
              </a:solidFill>
              <a:latin typeface="Arial"/>
              <a:ea typeface="Arial"/>
              <a:cs typeface="Arial"/>
              <a:sym typeface="Arial"/>
            </a:endParaRPr>
          </a:p>
        </p:txBody>
      </p:sp>
      <p:sp>
        <p:nvSpPr>
          <p:cNvPr id="258" name="Google Shape;258;p22"/>
          <p:cNvSpPr txBox="1"/>
          <p:nvPr/>
        </p:nvSpPr>
        <p:spPr>
          <a:xfrm>
            <a:off x="1261872" y="4507992"/>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Name the specific thing, not a general sense that something is off.</a:t>
            </a:r>
            <a:endParaRPr b="0" i="0" sz="1300" u="none" cap="none" strike="noStrike">
              <a:solidFill>
                <a:srgbClr val="000000"/>
              </a:solidFill>
              <a:latin typeface="Arial"/>
              <a:ea typeface="Arial"/>
              <a:cs typeface="Arial"/>
              <a:sym typeface="Arial"/>
            </a:endParaRPr>
          </a:p>
        </p:txBody>
      </p:sp>
      <p:sp>
        <p:nvSpPr>
          <p:cNvPr id="259" name="Google Shape;259;p22"/>
          <p:cNvSpPr/>
          <p:nvPr/>
        </p:nvSpPr>
        <p:spPr>
          <a:xfrm>
            <a:off x="713232" y="5111496"/>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22"/>
          <p:cNvSpPr txBox="1"/>
          <p:nvPr/>
        </p:nvSpPr>
        <p:spPr>
          <a:xfrm>
            <a:off x="777240" y="5180076"/>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261" name="Google Shape;261;p22"/>
          <p:cNvSpPr txBox="1"/>
          <p:nvPr/>
        </p:nvSpPr>
        <p:spPr>
          <a:xfrm>
            <a:off x="1261872" y="5074920"/>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the next question I need to investigate?</a:t>
            </a:r>
            <a:endParaRPr b="0" i="0" sz="1600" u="none" cap="none" strike="noStrike">
              <a:solidFill>
                <a:srgbClr val="000000"/>
              </a:solidFill>
              <a:latin typeface="Arial"/>
              <a:ea typeface="Arial"/>
              <a:cs typeface="Arial"/>
              <a:sym typeface="Arial"/>
            </a:endParaRPr>
          </a:p>
        </p:txBody>
      </p:sp>
      <p:sp>
        <p:nvSpPr>
          <p:cNvPr id="262" name="Google Shape;262;p22"/>
          <p:cNvSpPr txBox="1"/>
          <p:nvPr/>
        </p:nvSpPr>
        <p:spPr>
          <a:xfrm>
            <a:off x="1261872" y="5404104"/>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The question you would need to read more carefully before making a bigger career decision.</a:t>
            </a:r>
            <a:endParaRPr b="0" i="0" sz="1300" u="none" cap="none" strike="noStrike">
              <a:solidFill>
                <a:srgbClr val="000000"/>
              </a:solidFill>
              <a:latin typeface="Arial"/>
              <a:ea typeface="Arial"/>
              <a:cs typeface="Arial"/>
              <a:sym typeface="Arial"/>
            </a:endParaRPr>
          </a:p>
        </p:txBody>
      </p:sp>
      <p:sp>
        <p:nvSpPr>
          <p:cNvPr id="263" name="Google Shape;263;p22"/>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64" name="Google Shape;264;p22"/>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69" name="Shape 269"/>
        <p:cNvGrpSpPr/>
        <p:nvPr/>
      </p:nvGrpSpPr>
      <p:grpSpPr>
        <a:xfrm>
          <a:off x="0" y="0"/>
          <a:ext cx="0" cy="0"/>
          <a:chOff x="0" y="0"/>
          <a:chExt cx="0" cy="0"/>
        </a:xfrm>
      </p:grpSpPr>
      <p:sp>
        <p:nvSpPr>
          <p:cNvPr id="270" name="Google Shape;270;p23"/>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INTERPRET WITHOUT DIAGNOSING</a:t>
            </a:r>
            <a:endParaRPr b="0" i="0" sz="1400" u="none" cap="none" strike="noStrike">
              <a:solidFill>
                <a:srgbClr val="000000"/>
              </a:solidFill>
              <a:latin typeface="Arial"/>
              <a:ea typeface="Arial"/>
              <a:cs typeface="Arial"/>
              <a:sym typeface="Arial"/>
            </a:endParaRPr>
          </a:p>
        </p:txBody>
      </p:sp>
      <p:sp>
        <p:nvSpPr>
          <p:cNvPr id="271" name="Google Shape;271;p23"/>
          <p:cNvSpPr txBox="1"/>
          <p:nvPr/>
        </p:nvSpPr>
        <p:spPr>
          <a:xfrm>
            <a:off x="658368" y="1078992"/>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A recognition exercise is not a result.</a:t>
            </a:r>
            <a:endParaRPr b="0" i="0" sz="1400" u="none" cap="none" strike="noStrike">
              <a:solidFill>
                <a:srgbClr val="000000"/>
              </a:solidFill>
              <a:latin typeface="Arial"/>
              <a:ea typeface="Arial"/>
              <a:cs typeface="Arial"/>
              <a:sym typeface="Arial"/>
            </a:endParaRPr>
          </a:p>
        </p:txBody>
      </p:sp>
      <p:sp>
        <p:nvSpPr>
          <p:cNvPr id="272" name="Google Shape;272;p23"/>
          <p:cNvSpPr/>
          <p:nvPr/>
        </p:nvSpPr>
        <p:spPr>
          <a:xfrm>
            <a:off x="676656" y="219456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23"/>
          <p:cNvSpPr txBox="1"/>
          <p:nvPr/>
        </p:nvSpPr>
        <p:spPr>
          <a:xfrm>
            <a:off x="658383" y="2676437"/>
            <a:ext cx="9784200" cy="1939500"/>
          </a:xfrm>
          <a:prstGeom prst="rect">
            <a:avLst/>
          </a:prstGeom>
          <a:noFill/>
          <a:ln>
            <a:noFill/>
          </a:ln>
        </p:spPr>
        <p:txBody>
          <a:bodyPr anchorCtr="0" anchor="t" bIns="0" lIns="0" spcFirstLastPara="1" rIns="0" wrap="square" tIns="0">
            <a:spAutoFit/>
          </a:bodyPr>
          <a:lstStyle/>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one sign felt familiar, that does not mean you should leave.</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none felt familiar, that does not mean your role is still building you.</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RECOGNITION TELLS YOU: </a:t>
            </a:r>
            <a:r>
              <a:rPr b="0" i="0" lang="en-US" sz="1800" u="none" cap="none" strike="noStrike">
                <a:solidFill>
                  <a:srgbClr val="152B4C"/>
                </a:solidFill>
                <a:latin typeface="Arial"/>
                <a:ea typeface="Arial"/>
                <a:cs typeface="Arial"/>
                <a:sym typeface="Arial"/>
              </a:rPr>
              <a:t>what may deserve examination.</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ASSESSMENT TELLS YOU: </a:t>
            </a:r>
            <a:r>
              <a:rPr b="0" i="0" lang="en-US" sz="1800" u="none" cap="none" strike="noStrike">
                <a:solidFill>
                  <a:srgbClr val="152B4C"/>
                </a:solidFill>
                <a:latin typeface="Arial"/>
                <a:ea typeface="Arial"/>
                <a:cs typeface="Arial"/>
                <a:sym typeface="Arial"/>
              </a:rPr>
              <a:t>what your evidence can support more defensibly.</a:t>
            </a:r>
            <a:endParaRPr b="0" i="0" sz="1800" u="none" cap="none" strike="noStrike">
              <a:solidFill>
                <a:srgbClr val="152B4C"/>
              </a:solidFill>
              <a:latin typeface="Arial"/>
              <a:ea typeface="Arial"/>
              <a:cs typeface="Arial"/>
              <a:sym typeface="Arial"/>
            </a:endParaRPr>
          </a:p>
        </p:txBody>
      </p:sp>
      <p:sp>
        <p:nvSpPr>
          <p:cNvPr id="274" name="Google Shape;274;p23"/>
          <p:cNvSpPr/>
          <p:nvPr/>
        </p:nvSpPr>
        <p:spPr>
          <a:xfrm>
            <a:off x="676656" y="507492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23"/>
          <p:cNvSpPr txBox="1"/>
          <p:nvPr/>
        </p:nvSpPr>
        <p:spPr>
          <a:xfrm>
            <a:off x="768096" y="5257800"/>
            <a:ext cx="9966900" cy="531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400"/>
              <a:buFont typeface="Arial"/>
              <a:buNone/>
            </a:pPr>
            <a:r>
              <a:rPr b="1" i="1" lang="en-US" sz="1500" u="none" cap="none" strike="noStrike">
                <a:solidFill>
                  <a:srgbClr val="152B4C"/>
                </a:solidFill>
                <a:latin typeface="Arial"/>
                <a:ea typeface="Arial"/>
                <a:cs typeface="Arial"/>
                <a:sym typeface="Arial"/>
              </a:rPr>
              <a:t>As routine output becomes easier to reproduce, the distinction between familiar performance and growing judgment becomes more consequential.</a:t>
            </a:r>
            <a:endParaRPr b="1" i="0" sz="1500" u="none" cap="none" strike="noStrike">
              <a:solidFill>
                <a:srgbClr val="000000"/>
              </a:solidFill>
              <a:latin typeface="Arial"/>
              <a:ea typeface="Arial"/>
              <a:cs typeface="Arial"/>
              <a:sym typeface="Arial"/>
            </a:endParaRPr>
          </a:p>
        </p:txBody>
      </p:sp>
      <p:sp>
        <p:nvSpPr>
          <p:cNvPr id="276" name="Google Shape;276;p2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77" name="Google Shape;277;p2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00" name="Shape 900"/>
        <p:cNvGrpSpPr/>
        <p:nvPr/>
      </p:nvGrpSpPr>
      <p:grpSpPr>
        <a:xfrm>
          <a:off x="0" y="0"/>
          <a:ext cx="0" cy="0"/>
          <a:chOff x="0" y="0"/>
          <a:chExt cx="0" cy="0"/>
        </a:xfrm>
      </p:grpSpPr>
      <p:sp>
        <p:nvSpPr>
          <p:cNvPr id="901" name="TextBox 900"/>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ACTING ON RECOGNITION ALONE</a:t>
            </a:r>
          </a:p>
        </p:txBody>
      </p:sp>
      <p:sp>
        <p:nvSpPr>
          <p:cNvPr id="902" name="TextBox 901"/>
          <p:cNvSpPr txBox="1"/>
          <p:nvPr/>
        </p:nvSpPr>
        <p:spPr>
          <a:xfrm>
            <a:off x="658368" y="1051560"/>
            <a:ext cx="10424160" cy="685800"/>
          </a:xfrm>
          <a:prstGeom prst="rect">
            <a:avLst/>
          </a:prstGeom>
          <a:noFill/>
        </p:spPr>
        <p:txBody>
          <a:bodyPr wrap="square" lIns="0" rIns="0" tIns="0" bIns="0">
            <a:spAutoFit/>
          </a:bodyPr>
          <a:lstStyle/>
          <a:p>
            <a:pPr algn="l"/>
            <a:r>
              <a:rPr sz="3200" b="1">
                <a:solidFill>
                  <a:srgbClr val="0F2347"/>
                </a:solidFill>
                <a:latin typeface="Georgia"/>
              </a:rPr>
              <a:t>The Risk of Acting on One Signal</a:t>
            </a:r>
          </a:p>
        </p:txBody>
      </p:sp>
      <p:sp>
        <p:nvSpPr>
          <p:cNvPr id="903" name="Rectangle 902"/>
          <p:cNvSpPr/>
          <p:nvPr/>
        </p:nvSpPr>
        <p:spPr>
          <a:xfrm>
            <a:off x="676656" y="1920240"/>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Rectangle 903"/>
          <p:cNvSpPr/>
          <p:nvPr/>
        </p:nvSpPr>
        <p:spPr>
          <a:xfrm>
            <a:off x="749808" y="2377440"/>
            <a:ext cx="5120640" cy="2212848"/>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TextBox 904"/>
          <p:cNvSpPr txBox="1"/>
          <p:nvPr/>
        </p:nvSpPr>
        <p:spPr>
          <a:xfrm>
            <a:off x="950976" y="2615184"/>
            <a:ext cx="4718304" cy="310896"/>
          </a:xfrm>
          <a:prstGeom prst="rect">
            <a:avLst/>
          </a:prstGeom>
          <a:noFill/>
        </p:spPr>
        <p:txBody>
          <a:bodyPr wrap="square" lIns="0" rIns="0" tIns="0" bIns="0">
            <a:spAutoFit/>
          </a:bodyPr>
          <a:lstStyle/>
          <a:p>
            <a:pPr algn="l"/>
            <a:r>
              <a:rPr sz="2000" b="1">
                <a:solidFill>
                  <a:srgbClr val="C9A84C"/>
                </a:solidFill>
                <a:latin typeface="Georgia"/>
              </a:rPr>
              <a:t>Leaving too quickly</a:t>
            </a:r>
          </a:p>
        </p:txBody>
      </p:sp>
      <p:sp>
        <p:nvSpPr>
          <p:cNvPr id="906" name="TextBox 905"/>
          <p:cNvSpPr txBox="1"/>
          <p:nvPr/>
        </p:nvSpPr>
        <p:spPr>
          <a:xfrm>
            <a:off x="950976" y="3054096"/>
            <a:ext cx="4718304" cy="1371600"/>
          </a:xfrm>
          <a:prstGeom prst="rect">
            <a:avLst/>
          </a:prstGeom>
          <a:noFill/>
        </p:spPr>
        <p:txBody>
          <a:bodyPr wrap="square" lIns="0" rIns="0" tIns="0" bIns="0">
            <a:spAutoFit/>
          </a:bodyPr>
          <a:lstStyle/>
          <a:p>
            <a:pPr algn="l">
              <a:lnSpc>
                <a:spcPts val="2100"/>
              </a:lnSpc>
            </a:pPr>
            <a:r>
              <a:rPr sz="1500" b="0">
                <a:solidFill>
                  <a:srgbClr val="0F2347"/>
                </a:solidFill>
                <a:latin typeface="Georgia"/>
              </a:rPr>
              <a:t>May mean giving up internal equity, relationships, flexibility, compensation or momentum before testing whether another context inside the organization could solve the problem.</a:t>
            </a:r>
          </a:p>
        </p:txBody>
      </p:sp>
      <p:sp>
        <p:nvSpPr>
          <p:cNvPr id="907" name="Rectangle 906"/>
          <p:cNvSpPr/>
          <p:nvPr/>
        </p:nvSpPr>
        <p:spPr>
          <a:xfrm>
            <a:off x="6318504" y="2377440"/>
            <a:ext cx="5120640" cy="2212848"/>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TextBox 907"/>
          <p:cNvSpPr txBox="1"/>
          <p:nvPr/>
        </p:nvSpPr>
        <p:spPr>
          <a:xfrm>
            <a:off x="6519672" y="2615184"/>
            <a:ext cx="4718304" cy="310896"/>
          </a:xfrm>
          <a:prstGeom prst="rect">
            <a:avLst/>
          </a:prstGeom>
          <a:noFill/>
        </p:spPr>
        <p:txBody>
          <a:bodyPr wrap="square" lIns="0" rIns="0" tIns="0" bIns="0">
            <a:spAutoFit/>
          </a:bodyPr>
          <a:lstStyle/>
          <a:p>
            <a:pPr algn="l"/>
            <a:r>
              <a:rPr sz="2000" b="1">
                <a:solidFill>
                  <a:srgbClr val="C9A84C"/>
                </a:solidFill>
                <a:latin typeface="Georgia"/>
              </a:rPr>
              <a:t>Staying too long</a:t>
            </a:r>
          </a:p>
        </p:txBody>
      </p:sp>
      <p:sp>
        <p:nvSpPr>
          <p:cNvPr id="909" name="TextBox 908"/>
          <p:cNvSpPr txBox="1"/>
          <p:nvPr/>
        </p:nvSpPr>
        <p:spPr>
          <a:xfrm>
            <a:off x="6519672" y="3054096"/>
            <a:ext cx="4718304" cy="1371600"/>
          </a:xfrm>
          <a:prstGeom prst="rect">
            <a:avLst/>
          </a:prstGeom>
          <a:noFill/>
        </p:spPr>
        <p:txBody>
          <a:bodyPr wrap="square" lIns="0" rIns="0" tIns="0" bIns="0">
            <a:spAutoFit/>
          </a:bodyPr>
          <a:lstStyle/>
          <a:p>
            <a:pPr algn="l">
              <a:lnSpc>
                <a:spcPts val="2100"/>
              </a:lnSpc>
            </a:pPr>
            <a:r>
              <a:rPr sz="1500" b="0">
                <a:solidFill>
                  <a:srgbClr val="0F2347"/>
                </a:solidFill>
                <a:latin typeface="Georgia"/>
              </a:rPr>
              <a:t>May narrow learning, external visibility and future options if the role continues relying on what you already know.</a:t>
            </a:r>
          </a:p>
        </p:txBody>
      </p:sp>
      <p:sp>
        <p:nvSpPr>
          <p:cNvPr id="910" name="Rectangle 909"/>
          <p:cNvSpPr/>
          <p:nvPr/>
        </p:nvSpPr>
        <p:spPr>
          <a:xfrm>
            <a:off x="749808" y="4892040"/>
            <a:ext cx="10689336" cy="109728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TextBox 910"/>
          <p:cNvSpPr txBox="1"/>
          <p:nvPr/>
        </p:nvSpPr>
        <p:spPr>
          <a:xfrm>
            <a:off x="749808" y="5138928"/>
            <a:ext cx="10689336" cy="365760"/>
          </a:xfrm>
          <a:prstGeom prst="rect">
            <a:avLst/>
          </a:prstGeom>
          <a:noFill/>
        </p:spPr>
        <p:txBody>
          <a:bodyPr wrap="square" lIns="0" rIns="0" tIns="0" bIns="0">
            <a:spAutoFit/>
          </a:bodyPr>
          <a:lstStyle/>
          <a:p>
            <a:pPr algn="ctr"/>
            <a:r>
              <a:rPr sz="2200" b="1">
                <a:solidFill>
                  <a:srgbClr val="C9A84C"/>
                </a:solidFill>
                <a:latin typeface="Georgia"/>
              </a:rPr>
              <a:t>Recognition tells you what to examine.</a:t>
            </a:r>
          </a:p>
        </p:txBody>
      </p:sp>
      <p:sp>
        <p:nvSpPr>
          <p:cNvPr id="912" name="TextBox 911"/>
          <p:cNvSpPr txBox="1"/>
          <p:nvPr/>
        </p:nvSpPr>
        <p:spPr>
          <a:xfrm>
            <a:off x="749808" y="5577840"/>
            <a:ext cx="10689336" cy="256032"/>
          </a:xfrm>
          <a:prstGeom prst="rect">
            <a:avLst/>
          </a:prstGeom>
          <a:noFill/>
        </p:spPr>
        <p:txBody>
          <a:bodyPr wrap="square" lIns="0" rIns="0" tIns="0" bIns="0">
            <a:spAutoFit/>
          </a:bodyPr>
          <a:lstStyle/>
          <a:p>
            <a:pPr algn="ctr"/>
            <a:r>
              <a:rPr sz="1350" b="0">
                <a:solidFill>
                  <a:srgbClr val="F5F0E8"/>
                </a:solidFill>
                <a:latin typeface="Arial"/>
              </a:rPr>
              <a:t>Evidence helps you decide what to test next.</a:t>
            </a:r>
          </a:p>
        </p:txBody>
      </p:sp>
      <p:sp>
        <p:nvSpPr>
          <p:cNvPr id="913" name="TextBox 912"/>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914" name="TextBox 913"/>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82" name="Shape 282"/>
        <p:cNvGrpSpPr/>
        <p:nvPr/>
      </p:nvGrpSpPr>
      <p:grpSpPr>
        <a:xfrm>
          <a:off x="0" y="0"/>
          <a:ext cx="0" cy="0"/>
          <a:chOff x="0" y="0"/>
          <a:chExt cx="0" cy="0"/>
        </a:xfrm>
      </p:grpSpPr>
      <p:sp>
        <p:nvSpPr>
          <p:cNvPr id="283" name="TextBox 282"/>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FROM RECOGNITION TO A GUIDED READ</a:t>
            </a:r>
          </a:p>
        </p:txBody>
      </p:sp>
      <p:sp>
        <p:nvSpPr>
          <p:cNvPr id="284" name="TextBox 283"/>
          <p:cNvSpPr txBox="1"/>
          <p:nvPr/>
        </p:nvSpPr>
        <p:spPr>
          <a:xfrm>
            <a:off x="658368" y="1170432"/>
            <a:ext cx="10607040" cy="1005840"/>
          </a:xfrm>
          <a:prstGeom prst="rect">
            <a:avLst/>
          </a:prstGeom>
          <a:noFill/>
        </p:spPr>
        <p:txBody>
          <a:bodyPr wrap="square" lIns="0" rIns="0" tIns="0" bIns="0">
            <a:spAutoFit/>
          </a:bodyPr>
          <a:lstStyle/>
          <a:p>
            <a:pPr algn="l">
              <a:lnSpc>
                <a:spcPts val="3600"/>
              </a:lnSpc>
            </a:pPr>
            <a:r>
              <a:rPr sz="2800" b="1">
                <a:solidFill>
                  <a:srgbClr val="0F2347"/>
                </a:solidFill>
                <a:latin typeface="Georgia"/>
              </a:rPr>
              <a:t>Today helped you spot the pattern.</a:t>
            </a:r>
          </a:p>
          <a:p>
            <a:pPr algn="l">
              <a:lnSpc>
                <a:spcPts val="3600"/>
              </a:lnSpc>
            </a:pPr>
            <a:r>
              <a:rPr sz="2800" b="1">
                <a:solidFill>
                  <a:srgbClr val="0F2347"/>
                </a:solidFill>
                <a:latin typeface="Georgia"/>
              </a:rPr>
              <a:t>September 16 helps you read the position.</a:t>
            </a:r>
          </a:p>
        </p:txBody>
      </p:sp>
      <p:sp>
        <p:nvSpPr>
          <p:cNvPr id="285" name="Rectangle 284"/>
          <p:cNvSpPr/>
          <p:nvPr/>
        </p:nvSpPr>
        <p:spPr>
          <a:xfrm>
            <a:off x="667512"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6355080"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905256" y="2688336"/>
            <a:ext cx="4663440" cy="256032"/>
          </a:xfrm>
          <a:prstGeom prst="rect">
            <a:avLst/>
          </a:prstGeom>
          <a:noFill/>
        </p:spPr>
        <p:txBody>
          <a:bodyPr wrap="square" lIns="0" rIns="0" tIns="0" bIns="0">
            <a:spAutoFit/>
          </a:bodyPr>
          <a:lstStyle/>
          <a:p>
            <a:pPr algn="l"/>
            <a:r>
              <a:rPr sz="1500" b="1">
                <a:solidFill>
                  <a:srgbClr val="C1440E"/>
                </a:solidFill>
                <a:latin typeface="Arial"/>
              </a:rPr>
              <a:t>TODAY: RECOGNITION</a:t>
            </a:r>
          </a:p>
        </p:txBody>
      </p:sp>
      <p:sp>
        <p:nvSpPr>
          <p:cNvPr id="288" name="TextBox 287"/>
          <p:cNvSpPr txBox="1"/>
          <p:nvPr/>
        </p:nvSpPr>
        <p:spPr>
          <a:xfrm>
            <a:off x="905256" y="3127248"/>
            <a:ext cx="4690872" cy="1920240"/>
          </a:xfrm>
          <a:prstGeom prst="rect">
            <a:avLst/>
          </a:prstGeom>
          <a:noFill/>
        </p:spPr>
        <p:txBody>
          <a:bodyPr wrap="square" lIns="0" rIns="0" tIns="0" bIns="0">
            <a:spAutoFit/>
          </a:bodyPr>
          <a:lstStyle/>
          <a:p>
            <a:pPr algn="l">
              <a:lnSpc>
                <a:spcPts val="2100"/>
              </a:lnSpc>
              <a:spcAft>
                <a:spcPts val="1400"/>
              </a:spcAft>
            </a:pPr>
            <a:r>
              <a:rPr sz="1600" b="1">
                <a:solidFill>
                  <a:srgbClr val="0F2347"/>
                </a:solidFill>
                <a:latin typeface="Georgia"/>
              </a:rPr>
              <a:t>Name one pattern you can see.</a:t>
            </a:r>
          </a:p>
          <a:p>
            <a:pPr algn="l">
              <a:lnSpc>
                <a:spcPts val="2100"/>
              </a:lnSpc>
              <a:spcAft>
                <a:spcPts val="1400"/>
              </a:spcAft>
            </a:pPr>
            <a:r>
              <a:rPr sz="1600" b="1">
                <a:solidFill>
                  <a:srgbClr val="0F2347"/>
                </a:solidFill>
                <a:latin typeface="Georgia"/>
              </a:rPr>
              <a:t>Point to one recent example.</a:t>
            </a:r>
          </a:p>
          <a:p>
            <a:pPr algn="l">
              <a:lnSpc>
                <a:spcPts val="2100"/>
              </a:lnSpc>
              <a:spcAft>
                <a:spcPts val="1400"/>
              </a:spcAft>
            </a:pPr>
            <a:r>
              <a:rPr sz="1600" b="1">
                <a:solidFill>
                  <a:srgbClr val="0F2347"/>
                </a:solidFill>
                <a:latin typeface="Georgia"/>
              </a:rPr>
              <a:t>Identify one question worth investigating.</a:t>
            </a:r>
          </a:p>
        </p:txBody>
      </p:sp>
      <p:sp>
        <p:nvSpPr>
          <p:cNvPr id="289" name="TextBox 288"/>
          <p:cNvSpPr txBox="1"/>
          <p:nvPr/>
        </p:nvSpPr>
        <p:spPr>
          <a:xfrm>
            <a:off x="6592824" y="2688336"/>
            <a:ext cx="4690872" cy="256032"/>
          </a:xfrm>
          <a:prstGeom prst="rect">
            <a:avLst/>
          </a:prstGeom>
          <a:noFill/>
        </p:spPr>
        <p:txBody>
          <a:bodyPr wrap="square" lIns="0" rIns="0" tIns="0" bIns="0">
            <a:spAutoFit/>
          </a:bodyPr>
          <a:lstStyle/>
          <a:p>
            <a:pPr algn="l"/>
            <a:r>
              <a:rPr sz="1500" b="1">
                <a:solidFill>
                  <a:srgbClr val="C9A84C"/>
                </a:solidFill>
                <a:latin typeface="Arial"/>
              </a:rPr>
              <a:t>SEPTEMBER 16: GUIDED READ</a:t>
            </a:r>
          </a:p>
        </p:txBody>
      </p:sp>
      <p:sp>
        <p:nvSpPr>
          <p:cNvPr id="290" name="TextBox 289"/>
          <p:cNvSpPr txBox="1"/>
          <p:nvPr/>
        </p:nvSpPr>
        <p:spPr>
          <a:xfrm>
            <a:off x="6592824" y="3127248"/>
            <a:ext cx="4709160" cy="1920240"/>
          </a:xfrm>
          <a:prstGeom prst="rect">
            <a:avLst/>
          </a:prstGeom>
          <a:noFill/>
        </p:spPr>
        <p:txBody>
          <a:bodyPr wrap="square" lIns="0" rIns="0" tIns="0" bIns="0">
            <a:spAutoFit/>
          </a:bodyPr>
          <a:lstStyle/>
          <a:p>
            <a:pPr algn="l">
              <a:lnSpc>
                <a:spcPts val="1800"/>
              </a:lnSpc>
              <a:spcAft>
                <a:spcPts val="900"/>
              </a:spcAft>
            </a:pPr>
            <a:r>
              <a:rPr sz="1400" b="1">
                <a:solidFill>
                  <a:srgbClr val="0F2347"/>
                </a:solidFill>
                <a:latin typeface="Georgia"/>
              </a:rPr>
              <a:t>Complete an initial and evidence-backed reading.</a:t>
            </a:r>
          </a:p>
          <a:p>
            <a:pPr algn="l">
              <a:lnSpc>
                <a:spcPts val="1800"/>
              </a:lnSpc>
              <a:spcAft>
                <a:spcPts val="900"/>
              </a:spcAft>
            </a:pPr>
            <a:r>
              <a:rPr sz="1400" b="1">
                <a:solidFill>
                  <a:srgbClr val="0F2347"/>
                </a:solidFill>
                <a:latin typeface="Georgia"/>
              </a:rPr>
              <a:t>Record a provisional position, boundary or incomplete reading.</a:t>
            </a:r>
          </a:p>
          <a:p>
            <a:pPr algn="l">
              <a:lnSpc>
                <a:spcPts val="1800"/>
              </a:lnSpc>
              <a:spcAft>
                <a:spcPts val="900"/>
              </a:spcAft>
            </a:pPr>
            <a:r>
              <a:rPr sz="1400" b="1">
                <a:solidFill>
                  <a:srgbClr val="0F2347"/>
                </a:solidFill>
                <a:latin typeface="Georgia"/>
              </a:rPr>
              <a:t>Choose one category of move worth testing.</a:t>
            </a:r>
          </a:p>
          <a:p>
            <a:pPr algn="l">
              <a:lnSpc>
                <a:spcPts val="1800"/>
              </a:lnSpc>
              <a:spcAft>
                <a:spcPts val="900"/>
              </a:spcAft>
            </a:pPr>
            <a:r>
              <a:rPr sz="1400" b="1">
                <a:solidFill>
                  <a:srgbClr val="0F2347"/>
                </a:solidFill>
                <a:latin typeface="Georgia"/>
              </a:rPr>
              <a:t>Write your Next-Move Note.</a:t>
            </a:r>
          </a:p>
        </p:txBody>
      </p:sp>
      <p:sp>
        <p:nvSpPr>
          <p:cNvPr id="291" name="TextBox 290"/>
          <p:cNvSpPr txBox="1"/>
          <p:nvPr/>
        </p:nvSpPr>
        <p:spPr>
          <a:xfrm>
            <a:off x="658368" y="5577840"/>
            <a:ext cx="10881360" cy="310896"/>
          </a:xfrm>
          <a:prstGeom prst="rect">
            <a:avLst/>
          </a:prstGeom>
          <a:noFill/>
        </p:spPr>
        <p:txBody>
          <a:bodyPr wrap="square" lIns="0" rIns="0" tIns="0" bIns="0">
            <a:spAutoFit/>
          </a:bodyPr>
          <a:lstStyle/>
          <a:p>
            <a:pPr algn="l"/>
            <a:r>
              <a:rPr sz="1500" b="1">
                <a:solidFill>
                  <a:srgbClr val="0F2347"/>
                </a:solidFill>
                <a:latin typeface="Georgia"/>
              </a:rPr>
              <a:t>September 2 opens the question. September 16 guides the read.</a:t>
            </a:r>
          </a:p>
        </p:txBody>
      </p:sp>
      <p:sp>
        <p:nvSpPr>
          <p:cNvPr id="292" name="TextBox 291"/>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293" name="TextBox 292"/>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13</a:t>
            </a:r>
          </a:p>
        </p:txBody>
      </p:sp>
      <p:sp>
        <p:nvSpPr>
          <p:cNvPr id="294" name="TextBox 293"/>
          <p:cNvSpPr txBox="1"/>
          <p:nvPr/>
        </p:nvSpPr>
        <p:spPr>
          <a:xfrm>
            <a:off x="6592824" y="4974336"/>
            <a:ext cx="4690872" cy="182880"/>
          </a:xfrm>
          <a:prstGeom prst="rect">
            <a:avLst/>
          </a:prstGeom>
          <a:noFill/>
        </p:spPr>
        <p:txBody>
          <a:bodyPr wrap="square" lIns="0" rIns="0" tIns="0" bIns="0">
            <a:spAutoFit/>
          </a:bodyPr>
          <a:lstStyle/>
          <a:p>
            <a:pPr algn="l"/>
            <a:r>
              <a:rPr sz="1050" b="1">
                <a:solidFill>
                  <a:srgbClr val="C1440E"/>
                </a:solidFill>
                <a:latin typeface="Arial"/>
              </a:rPr>
              <a:t>FREE  ·  60 MINUTES  ·  6:00 PM CT</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299" name="Shape 299"/>
        <p:cNvGrpSpPr/>
        <p:nvPr/>
      </p:nvGrpSpPr>
      <p:grpSpPr>
        <a:xfrm>
          <a:off x="0" y="0"/>
          <a:ext cx="0" cy="0"/>
          <a:chOff x="0" y="0"/>
          <a:chExt cx="0" cy="0"/>
        </a:xfrm>
      </p:grpSpPr>
      <p:sp>
        <p:nvSpPr>
          <p:cNvPr id="300" name="TextBox 299"/>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TWO WAYS TO CONTINUE</a:t>
            </a:r>
          </a:p>
        </p:txBody>
      </p:sp>
      <p:sp>
        <p:nvSpPr>
          <p:cNvPr id="301" name="TextBox 300"/>
          <p:cNvSpPr txBox="1"/>
          <p:nvPr/>
        </p:nvSpPr>
        <p:spPr>
          <a:xfrm>
            <a:off x="658368" y="1005840"/>
            <a:ext cx="10607040" cy="640080"/>
          </a:xfrm>
          <a:prstGeom prst="rect">
            <a:avLst/>
          </a:prstGeom>
          <a:noFill/>
        </p:spPr>
        <p:txBody>
          <a:bodyPr wrap="square" lIns="0" rIns="0" tIns="0" bIns="0">
            <a:spAutoFit/>
          </a:bodyPr>
          <a:lstStyle/>
          <a:p>
            <a:pPr algn="l"/>
            <a:r>
              <a:rPr sz="3400" b="1">
                <a:solidFill>
                  <a:srgbClr val="F5F0E8"/>
                </a:solidFill>
                <a:latin typeface="Georgia"/>
              </a:rPr>
              <a:t>Join me live, or continue privately.</a:t>
            </a:r>
          </a:p>
        </p:txBody>
      </p:sp>
      <p:sp>
        <p:nvSpPr>
          <p:cNvPr id="302" name="Rectangle 301"/>
          <p:cNvSpPr/>
          <p:nvPr/>
        </p:nvSpPr>
        <p:spPr>
          <a:xfrm>
            <a:off x="667512" y="1975104"/>
            <a:ext cx="5394960" cy="3749039"/>
          </a:xfrm>
          <a:prstGeom prst="rect">
            <a:avLst/>
          </a:prstGeom>
          <a:solidFill>
            <a:srgbClr val="F5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914400" y="2212848"/>
            <a:ext cx="4901184" cy="237744"/>
          </a:xfrm>
          <a:prstGeom prst="rect">
            <a:avLst/>
          </a:prstGeom>
          <a:noFill/>
        </p:spPr>
        <p:txBody>
          <a:bodyPr wrap="square" lIns="0" rIns="0" tIns="0" bIns="0">
            <a:spAutoFit/>
          </a:bodyPr>
          <a:lstStyle/>
          <a:p>
            <a:pPr algn="l"/>
            <a:r>
              <a:rPr sz="1300" b="1">
                <a:solidFill>
                  <a:srgbClr val="C1440E"/>
                </a:solidFill>
                <a:latin typeface="Arial"/>
              </a:rPr>
              <a:t>FREE LIVE SESSION</a:t>
            </a:r>
          </a:p>
        </p:txBody>
      </p:sp>
      <p:sp>
        <p:nvSpPr>
          <p:cNvPr id="304" name="TextBox 303"/>
          <p:cNvSpPr txBox="1"/>
          <p:nvPr/>
        </p:nvSpPr>
        <p:spPr>
          <a:xfrm>
            <a:off x="914400" y="2560320"/>
            <a:ext cx="4901184"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Stay or Leave?</a:t>
            </a:r>
          </a:p>
          <a:p>
            <a:pPr algn="l">
              <a:lnSpc>
                <a:spcPts val="2600"/>
              </a:lnSpc>
            </a:pPr>
            <a:r>
              <a:rPr sz="1700" b="1">
                <a:solidFill>
                  <a:srgbClr val="0F2347"/>
                </a:solidFill>
                <a:latin typeface="Georgia"/>
              </a:rPr>
              <a:t>Live Career Growth Assessment</a:t>
            </a:r>
          </a:p>
        </p:txBody>
      </p:sp>
      <p:sp>
        <p:nvSpPr>
          <p:cNvPr id="305" name="TextBox 304"/>
          <p:cNvSpPr txBox="1"/>
          <p:nvPr/>
        </p:nvSpPr>
        <p:spPr>
          <a:xfrm>
            <a:off x="914400" y="3529584"/>
            <a:ext cx="4901184" cy="237744"/>
          </a:xfrm>
          <a:prstGeom prst="rect">
            <a:avLst/>
          </a:prstGeom>
          <a:noFill/>
        </p:spPr>
        <p:txBody>
          <a:bodyPr wrap="square" lIns="0" rIns="0" tIns="0" bIns="0">
            <a:spAutoFit/>
          </a:bodyPr>
          <a:lstStyle/>
          <a:p>
            <a:pPr algn="l"/>
            <a:r>
              <a:rPr sz="1300" b="1">
                <a:solidFill>
                  <a:srgbClr val="0F2347"/>
                </a:solidFill>
                <a:latin typeface="Arial"/>
              </a:rPr>
              <a:t>Wednesday, September 16, 2026</a:t>
            </a:r>
          </a:p>
        </p:txBody>
      </p:sp>
      <p:sp>
        <p:nvSpPr>
          <p:cNvPr id="306" name="TextBox 305"/>
          <p:cNvSpPr txBox="1"/>
          <p:nvPr/>
        </p:nvSpPr>
        <p:spPr>
          <a:xfrm>
            <a:off x="914400" y="3803904"/>
            <a:ext cx="4901184" cy="237744"/>
          </a:xfrm>
          <a:prstGeom prst="rect">
            <a:avLst/>
          </a:prstGeom>
          <a:noFill/>
        </p:spPr>
        <p:txBody>
          <a:bodyPr wrap="square" lIns="0" rIns="0" tIns="0" bIns="0">
            <a:spAutoFit/>
          </a:bodyPr>
          <a:lstStyle/>
          <a:p>
            <a:pPr algn="l"/>
            <a:r>
              <a:rPr sz="1300" b="0">
                <a:solidFill>
                  <a:srgbClr val="0F2347"/>
                </a:solidFill>
                <a:latin typeface="Arial"/>
              </a:rPr>
              <a:t>6:00 PM CT  ·  60 minutes</a:t>
            </a:r>
          </a:p>
        </p:txBody>
      </p:sp>
      <p:sp>
        <p:nvSpPr>
          <p:cNvPr id="307" name="TextBox 306"/>
          <p:cNvSpPr txBox="1"/>
          <p:nvPr/>
        </p:nvSpPr>
        <p:spPr>
          <a:xfrm>
            <a:off x="914400" y="4169663"/>
            <a:ext cx="4901184" cy="274320"/>
          </a:xfrm>
          <a:prstGeom prst="rect">
            <a:avLst/>
          </a:prstGeom>
          <a:noFill/>
        </p:spPr>
        <p:txBody>
          <a:bodyPr wrap="square" lIns="0" rIns="0" tIns="0" bIns="0">
            <a:spAutoFit/>
          </a:bodyPr>
          <a:lstStyle/>
          <a:p>
            <a:pPr algn="l"/>
            <a:r>
              <a:rPr sz="1400" b="1">
                <a:solidFill>
                  <a:srgbClr val="0F2347"/>
                </a:solidFill>
                <a:latin typeface="Georgia"/>
              </a:rPr>
              <a:t>Complete the guided reading with me.</a:t>
            </a:r>
          </a:p>
        </p:txBody>
      </p:sp>
      <p:sp>
        <p:nvSpPr>
          <p:cNvPr id="308" name="Rectangle 307">
            <a:hlinkClick r:id="rId3"/>
          </p:cNvPr>
          <p:cNvSpPr/>
          <p:nvPr/>
        </p:nvSpPr>
        <p:spPr>
          <a:xfrm>
            <a:off x="914400" y="4626864"/>
            <a:ext cx="2926080" cy="438912"/>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914400" y="4754880"/>
            <a:ext cx="2926080" cy="201168"/>
          </a:xfrm>
          <a:prstGeom prst="rect">
            <a:avLst/>
          </a:prstGeom>
          <a:noFill/>
        </p:spPr>
        <p:txBody>
          <a:bodyPr wrap="square" lIns="0" rIns="0" tIns="0" bIns="0">
            <a:spAutoFit/>
          </a:bodyPr>
          <a:lstStyle/>
          <a:p>
            <a:pPr algn="ctr"/>
            <a:r>
              <a:rPr sz="1150" b="1">
                <a:solidFill>
                  <a:srgbClr val="F5F0E8"/>
                </a:solidFill>
                <a:latin typeface="Arial"/>
              </a:rPr>
              <a:t>REGISTER FREE</a:t>
            </a:r>
          </a:p>
        </p:txBody>
      </p:sp>
      <p:sp>
        <p:nvSpPr>
          <p:cNvPr id="310" name="TextBox 309"/>
          <p:cNvSpPr txBox="1"/>
          <p:nvPr/>
        </p:nvSpPr>
        <p:spPr>
          <a:xfrm>
            <a:off x="914400" y="5193792"/>
            <a:ext cx="3017520" cy="365760"/>
          </a:xfrm>
          <a:prstGeom prst="rect">
            <a:avLst/>
          </a:prstGeom>
          <a:noFill/>
        </p:spPr>
        <p:txBody>
          <a:bodyPr wrap="square" lIns="0" rIns="0" tIns="0" bIns="0">
            <a:spAutoFit/>
          </a:bodyPr>
          <a:lstStyle/>
          <a:p>
            <a:pPr algn="l">
              <a:lnSpc>
                <a:spcPts val="1000"/>
              </a:lnSpc>
            </a:pPr>
            <a:r>
              <a:rPr sz="760" b="0">
                <a:solidFill>
                  <a:srgbClr val="0F2347"/>
                </a:solidFill>
                <a:latin typeface="Arial"/>
              </a:rPr>
              <a:t>maven.com/p/8b3c40/
stay-or-leave-live-career-growth-assessment</a:t>
            </a:r>
          </a:p>
        </p:txBody>
      </p:sp>
      <p:pic>
        <p:nvPicPr>
          <p:cNvPr id="311" name="Picture 310" descr="qr_maven_sept16.png">
            <a:hlinkClick r:id="rId3"/>
          </p:cNvPr>
          <p:cNvPicPr>
            <a:picLocks noChangeAspect="1"/>
          </p:cNvPicPr>
          <p:nvPr/>
        </p:nvPicPr>
        <p:blipFill>
          <a:blip r:embed="rId4"/>
          <a:stretch>
            <a:fillRect/>
          </a:stretch>
        </p:blipFill>
        <p:spPr>
          <a:xfrm>
            <a:off x="4443984" y="4462272"/>
            <a:ext cx="1097280" cy="1097280"/>
          </a:xfrm>
          <a:prstGeom prst="rect">
            <a:avLst/>
          </a:prstGeom>
        </p:spPr>
      </p:pic>
      <p:sp>
        <p:nvSpPr>
          <p:cNvPr id="312" name="Rectangle 311"/>
          <p:cNvSpPr/>
          <p:nvPr/>
        </p:nvSpPr>
        <p:spPr>
          <a:xfrm>
            <a:off x="6153912" y="1975104"/>
            <a:ext cx="5367528" cy="3749039"/>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6400800" y="2212848"/>
            <a:ext cx="4873752" cy="237744"/>
          </a:xfrm>
          <a:prstGeom prst="rect">
            <a:avLst/>
          </a:prstGeom>
          <a:noFill/>
        </p:spPr>
        <p:txBody>
          <a:bodyPr wrap="square" lIns="0" rIns="0" tIns="0" bIns="0">
            <a:spAutoFit/>
          </a:bodyPr>
          <a:lstStyle/>
          <a:p>
            <a:pPr algn="l"/>
            <a:r>
              <a:rPr sz="1300" b="1">
                <a:solidFill>
                  <a:srgbClr val="C9A84C"/>
                </a:solidFill>
                <a:latin typeface="Arial"/>
              </a:rPr>
              <a:t>$150  ·  SELF-GUIDED  ·  RERUN QUARTERLY</a:t>
            </a:r>
          </a:p>
        </p:txBody>
      </p:sp>
      <p:sp>
        <p:nvSpPr>
          <p:cNvPr id="314" name="TextBox 313"/>
          <p:cNvSpPr txBox="1"/>
          <p:nvPr/>
        </p:nvSpPr>
        <p:spPr>
          <a:xfrm>
            <a:off x="6400800" y="2560320"/>
            <a:ext cx="4873752"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Capability Formation</a:t>
            </a:r>
          </a:p>
          <a:p>
            <a:pPr algn="l">
              <a:lnSpc>
                <a:spcPts val="2600"/>
              </a:lnSpc>
            </a:pPr>
            <a:r>
              <a:rPr sz="2100" b="1">
                <a:solidFill>
                  <a:srgbClr val="0F2347"/>
                </a:solidFill>
                <a:latin typeface="Georgia"/>
              </a:rPr>
              <a:t>Field Kit</a:t>
            </a:r>
          </a:p>
        </p:txBody>
      </p:sp>
      <p:sp>
        <p:nvSpPr>
          <p:cNvPr id="315" name="TextBox 314"/>
          <p:cNvSpPr txBox="1"/>
          <p:nvPr/>
        </p:nvSpPr>
        <p:spPr>
          <a:xfrm>
            <a:off x="6400800" y="3529584"/>
            <a:ext cx="4873752" cy="786384"/>
          </a:xfrm>
          <a:prstGeom prst="rect">
            <a:avLst/>
          </a:prstGeom>
          <a:noFill/>
        </p:spPr>
        <p:txBody>
          <a:bodyPr wrap="square" lIns="0" rIns="0" tIns="0" bIns="0">
            <a:spAutoFit/>
          </a:bodyPr>
          <a:lstStyle/>
          <a:p>
            <a:pPr algn="l">
              <a:lnSpc>
                <a:spcPts val="1900"/>
              </a:lnSpc>
            </a:pPr>
            <a:r>
              <a:rPr sz="1400" b="1">
                <a:solidFill>
                  <a:srgbClr val="0F2347"/>
                </a:solidFill>
                <a:latin typeface="Georgia"/>
              </a:rPr>
              <a:t>A private, repeatable evidence system you can own, revisit and rerun as conditions change.</a:t>
            </a:r>
          </a:p>
        </p:txBody>
      </p:sp>
      <p:sp>
        <p:nvSpPr>
          <p:cNvPr id="316" name="Rectangle 315">
            <a:hlinkClick r:id="rId5"/>
          </p:cNvPr>
          <p:cNvSpPr/>
          <p:nvPr/>
        </p:nvSpPr>
        <p:spPr>
          <a:xfrm>
            <a:off x="6400800" y="4626864"/>
            <a:ext cx="2926080" cy="438912"/>
          </a:xfrm>
          <a:prstGeom prst="rect">
            <a:avLst/>
          </a:prstGeom>
          <a:noFill/>
          <a:ln w="15875">
            <a:solidFill>
              <a:srgbClr val="0F2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6400800" y="4754880"/>
            <a:ext cx="2926080" cy="201168"/>
          </a:xfrm>
          <a:prstGeom prst="rect">
            <a:avLst/>
          </a:prstGeom>
          <a:noFill/>
        </p:spPr>
        <p:txBody>
          <a:bodyPr wrap="square" lIns="0" rIns="0" tIns="0" bIns="0">
            <a:spAutoFit/>
          </a:bodyPr>
          <a:lstStyle/>
          <a:p>
            <a:pPr algn="ctr"/>
            <a:r>
              <a:rPr sz="1150" b="1">
                <a:solidFill>
                  <a:srgbClr val="0F2347"/>
                </a:solidFill>
                <a:latin typeface="Arial"/>
              </a:rPr>
              <a:t>EXPLORE THE FIELD KIT</a:t>
            </a:r>
          </a:p>
        </p:txBody>
      </p:sp>
      <p:sp>
        <p:nvSpPr>
          <p:cNvPr id="318" name="TextBox 317"/>
          <p:cNvSpPr txBox="1"/>
          <p:nvPr/>
        </p:nvSpPr>
        <p:spPr>
          <a:xfrm>
            <a:off x="6400800" y="5193792"/>
            <a:ext cx="3017520" cy="219456"/>
          </a:xfrm>
          <a:prstGeom prst="rect">
            <a:avLst/>
          </a:prstGeom>
          <a:noFill/>
        </p:spPr>
        <p:txBody>
          <a:bodyPr wrap="square" lIns="0" rIns="0" tIns="0" bIns="0">
            <a:spAutoFit/>
          </a:bodyPr>
          <a:lstStyle/>
          <a:p>
            <a:pPr algn="l"/>
            <a:r>
              <a:rPr sz="1100" b="1">
                <a:solidFill>
                  <a:srgbClr val="0F2347"/>
                </a:solidFill>
                <a:latin typeface="Arial"/>
              </a:rPr>
              <a:t>temidayoafonja.com/fieldkit</a:t>
            </a:r>
          </a:p>
        </p:txBody>
      </p:sp>
      <p:pic>
        <p:nvPicPr>
          <p:cNvPr id="319" name="Picture 318" descr="qr_fieldkit.png">
            <a:hlinkClick r:id="rId5"/>
          </p:cNvPr>
          <p:cNvPicPr>
            <a:picLocks noChangeAspect="1"/>
          </p:cNvPicPr>
          <p:nvPr/>
        </p:nvPicPr>
        <p:blipFill>
          <a:blip r:embed="rId6"/>
          <a:stretch>
            <a:fillRect/>
          </a:stretch>
        </p:blipFill>
        <p:spPr>
          <a:xfrm>
            <a:off x="9966960" y="4462272"/>
            <a:ext cx="1097280" cy="1097280"/>
          </a:xfrm>
          <a:prstGeom prst="rect">
            <a:avLst/>
          </a:prstGeom>
        </p:spPr>
      </p:pic>
      <p:sp>
        <p:nvSpPr>
          <p:cNvPr id="320" name="TextBox 319"/>
          <p:cNvSpPr txBox="1"/>
          <p:nvPr/>
        </p:nvSpPr>
        <p:spPr>
          <a:xfrm>
            <a:off x="658368" y="5961888"/>
            <a:ext cx="10881360" cy="274320"/>
          </a:xfrm>
          <a:prstGeom prst="rect">
            <a:avLst/>
          </a:prstGeom>
          <a:noFill/>
        </p:spPr>
        <p:txBody>
          <a:bodyPr wrap="square" lIns="0" rIns="0" tIns="0" bIns="0">
            <a:spAutoFit/>
          </a:bodyPr>
          <a:lstStyle/>
          <a:p>
            <a:pPr algn="l"/>
            <a:r>
              <a:rPr sz="1200" b="1">
                <a:solidFill>
                  <a:srgbClr val="F5F0E8"/>
                </a:solidFill>
                <a:latin typeface="Georgia"/>
              </a:rPr>
              <a:t>Neither route is required. September 16 is free. The Field Kit is optional and private.</a:t>
            </a:r>
          </a:p>
        </p:txBody>
      </p:sp>
      <p:sp>
        <p:nvSpPr>
          <p:cNvPr id="321" name="TextBox 320"/>
          <p:cNvSpPr txBox="1"/>
          <p:nvPr/>
        </p:nvSpPr>
        <p:spPr>
          <a:xfrm>
            <a:off x="658368" y="6464808"/>
            <a:ext cx="4937760" cy="164592"/>
          </a:xfrm>
          <a:prstGeom prst="rect">
            <a:avLst/>
          </a:prstGeom>
          <a:noFill/>
        </p:spPr>
        <p:txBody>
          <a:bodyPr wrap="square" lIns="0" rIns="0" tIns="0" bIns="0">
            <a:spAutoFit/>
          </a:bodyPr>
          <a:lstStyle/>
          <a:p>
            <a:pPr algn="l"/>
            <a:r>
              <a:rPr sz="760" b="1">
                <a:solidFill>
                  <a:srgbClr val="F5F0E8"/>
                </a:solidFill>
                <a:latin typeface="Arial"/>
              </a:rPr>
              <a:t>TEMIDAYO AFONJA   |   TEMIDAYOAFONJA.COM</a:t>
            </a:r>
          </a:p>
        </p:txBody>
      </p:sp>
      <p:sp>
        <p:nvSpPr>
          <p:cNvPr id="322" name="TextBox 321"/>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F5F0E8"/>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18" name="Shape 318"/>
        <p:cNvGrpSpPr/>
        <p:nvPr/>
      </p:nvGrpSpPr>
      <p:grpSpPr>
        <a:xfrm>
          <a:off x="0" y="0"/>
          <a:ext cx="0" cy="0"/>
          <a:chOff x="0" y="0"/>
          <a:chExt cx="0" cy="0"/>
        </a:xfrm>
      </p:grpSpPr>
      <p:sp>
        <p:nvSpPr>
          <p:cNvPr id="319" name="Google Shape;319;p2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Questions &amp; Applications</a:t>
            </a:r>
            <a:endParaRPr b="0" i="0" sz="1400" u="none" cap="none" strike="noStrike">
              <a:solidFill>
                <a:srgbClr val="000000"/>
              </a:solidFill>
              <a:latin typeface="Arial"/>
              <a:ea typeface="Arial"/>
              <a:cs typeface="Arial"/>
              <a:sym typeface="Arial"/>
            </a:endParaRPr>
          </a:p>
        </p:txBody>
      </p:sp>
      <p:sp>
        <p:nvSpPr>
          <p:cNvPr id="320" name="Google Shape;320;p26"/>
          <p:cNvSpPr txBox="1"/>
          <p:nvPr/>
        </p:nvSpPr>
        <p:spPr>
          <a:xfrm>
            <a:off x="658368" y="109728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Ten minutes for questions.</a:t>
            </a:r>
            <a:endParaRPr b="0" i="0" sz="1400" u="none" cap="none" strike="noStrike">
              <a:solidFill>
                <a:srgbClr val="000000"/>
              </a:solidFill>
              <a:latin typeface="Arial"/>
              <a:ea typeface="Arial"/>
              <a:cs typeface="Arial"/>
              <a:sym typeface="Arial"/>
            </a:endParaRPr>
          </a:p>
        </p:txBody>
      </p:sp>
      <p:sp>
        <p:nvSpPr>
          <p:cNvPr id="321" name="Google Shape;321;p26"/>
          <p:cNvSpPr txBox="1"/>
          <p:nvPr/>
        </p:nvSpPr>
        <p:spPr>
          <a:xfrm>
            <a:off x="676656" y="1810512"/>
            <a:ext cx="950976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Questions about the ideas are welcome. Individual situations will not be scored or diagnosed in this room.</a:t>
            </a:r>
            <a:endParaRPr b="0" i="0" sz="1400" u="none" cap="none" strike="noStrike">
              <a:solidFill>
                <a:srgbClr val="000000"/>
              </a:solidFill>
              <a:latin typeface="Arial"/>
              <a:ea typeface="Arial"/>
              <a:cs typeface="Arial"/>
              <a:sym typeface="Arial"/>
            </a:endParaRPr>
          </a:p>
        </p:txBody>
      </p:sp>
      <p:sp>
        <p:nvSpPr>
          <p:cNvPr id="322" name="Google Shape;322;p26"/>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26"/>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24" name="Google Shape;324;p26"/>
          <p:cNvSpPr txBox="1"/>
          <p:nvPr/>
        </p:nvSpPr>
        <p:spPr>
          <a:xfrm>
            <a:off x="1261872" y="2386584"/>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Good questions to explore</a:t>
            </a:r>
            <a:endParaRPr b="0" i="0" sz="1400" u="none" cap="none" strike="noStrike">
              <a:solidFill>
                <a:srgbClr val="000000"/>
              </a:solidFill>
              <a:latin typeface="Arial"/>
              <a:ea typeface="Arial"/>
              <a:cs typeface="Arial"/>
              <a:sym typeface="Arial"/>
            </a:endParaRPr>
          </a:p>
        </p:txBody>
      </p:sp>
      <p:sp>
        <p:nvSpPr>
          <p:cNvPr id="325" name="Google Shape;325;p26"/>
          <p:cNvSpPr txBox="1"/>
          <p:nvPr/>
        </p:nvSpPr>
        <p:spPr>
          <a:xfrm>
            <a:off x="1261872" y="2715768"/>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How do I tell the difference between performance and formation? What does portability mean? What kind of evidence counts?</a:t>
            </a:r>
            <a:endParaRPr b="0" i="0" sz="1400" u="none" cap="none" strike="noStrike">
              <a:solidFill>
                <a:srgbClr val="000000"/>
              </a:solidFill>
              <a:latin typeface="Arial"/>
              <a:ea typeface="Arial"/>
              <a:cs typeface="Arial"/>
              <a:sym typeface="Arial"/>
            </a:endParaRPr>
          </a:p>
        </p:txBody>
      </p:sp>
      <p:sp>
        <p:nvSpPr>
          <p:cNvPr id="326" name="Google Shape;326;p26"/>
          <p:cNvSpPr/>
          <p:nvPr/>
        </p:nvSpPr>
        <p:spPr>
          <a:xfrm>
            <a:off x="713232" y="350215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26"/>
          <p:cNvSpPr txBox="1"/>
          <p:nvPr/>
        </p:nvSpPr>
        <p:spPr>
          <a:xfrm>
            <a:off x="777240" y="357073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328" name="Google Shape;328;p26"/>
          <p:cNvSpPr txBox="1"/>
          <p:nvPr/>
        </p:nvSpPr>
        <p:spPr>
          <a:xfrm>
            <a:off x="1261872" y="3465576"/>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Questions to redirect</a:t>
            </a:r>
            <a:endParaRPr b="0" i="0" sz="1400" u="none" cap="none" strike="noStrike">
              <a:solidFill>
                <a:srgbClr val="000000"/>
              </a:solidFill>
              <a:latin typeface="Arial"/>
              <a:ea typeface="Arial"/>
              <a:cs typeface="Arial"/>
              <a:sym typeface="Arial"/>
            </a:endParaRPr>
          </a:p>
        </p:txBody>
      </p:sp>
      <p:sp>
        <p:nvSpPr>
          <p:cNvPr id="329" name="Google Shape;329;p26"/>
          <p:cNvSpPr txBox="1"/>
          <p:nvPr/>
        </p:nvSpPr>
        <p:spPr>
          <a:xfrm>
            <a:off x="1261872" y="3794760"/>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Should I leave? What state am I in? What should I do about my manager? Can you score my situation?</a:t>
            </a:r>
            <a:endParaRPr b="0" i="0" sz="1400" u="none" cap="none" strike="noStrike">
              <a:solidFill>
                <a:srgbClr val="000000"/>
              </a:solidFill>
              <a:latin typeface="Arial"/>
              <a:ea typeface="Arial"/>
              <a:cs typeface="Arial"/>
              <a:sym typeface="Arial"/>
            </a:endParaRPr>
          </a:p>
        </p:txBody>
      </p:sp>
      <p:sp>
        <p:nvSpPr>
          <p:cNvPr id="330" name="Google Shape;330;p26"/>
          <p:cNvSpPr/>
          <p:nvPr/>
        </p:nvSpPr>
        <p:spPr>
          <a:xfrm>
            <a:off x="713232" y="4581144"/>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26"/>
          <p:cNvSpPr txBox="1"/>
          <p:nvPr/>
        </p:nvSpPr>
        <p:spPr>
          <a:xfrm>
            <a:off x="777240" y="4649724"/>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332" name="Google Shape;332;p26"/>
          <p:cNvSpPr txBox="1"/>
          <p:nvPr/>
        </p:nvSpPr>
        <p:spPr>
          <a:xfrm>
            <a:off x="1261872" y="4544568"/>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Boundary line</a:t>
            </a:r>
            <a:endParaRPr b="0" i="0" sz="1400" u="none" cap="none" strike="noStrike">
              <a:solidFill>
                <a:srgbClr val="000000"/>
              </a:solidFill>
              <a:latin typeface="Arial"/>
              <a:ea typeface="Arial"/>
              <a:cs typeface="Arial"/>
              <a:sym typeface="Arial"/>
            </a:endParaRPr>
          </a:p>
        </p:txBody>
      </p:sp>
      <p:sp>
        <p:nvSpPr>
          <p:cNvPr id="333" name="Google Shape;333;p26"/>
          <p:cNvSpPr txBox="1"/>
          <p:nvPr/>
        </p:nvSpPr>
        <p:spPr>
          <a:xfrm>
            <a:off x="1261872" y="4873752"/>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I can help you clarify what the pattern suggests examining. I cannot make the employment decision for you.</a:t>
            </a:r>
            <a:endParaRPr b="0" i="0" sz="1400" u="none" cap="none" strike="noStrike">
              <a:solidFill>
                <a:srgbClr val="000000"/>
              </a:solidFill>
              <a:latin typeface="Arial"/>
              <a:ea typeface="Arial"/>
              <a:cs typeface="Arial"/>
              <a:sym typeface="Arial"/>
            </a:endParaRPr>
          </a:p>
        </p:txBody>
      </p:sp>
      <p:sp>
        <p:nvSpPr>
          <p:cNvPr id="334" name="Google Shape;334;p26"/>
          <p:cNvSpPr/>
          <p:nvPr/>
        </p:nvSpPr>
        <p:spPr>
          <a:xfrm>
            <a:off x="658368" y="5989320"/>
            <a:ext cx="10881360" cy="502920"/>
          </a:xfrm>
          <a:prstGeom prst="rect">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26"/>
          <p:cNvSpPr txBox="1"/>
          <p:nvPr/>
        </p:nvSpPr>
        <p:spPr>
          <a:xfrm>
            <a:off x="868680" y="6126480"/>
            <a:ext cx="1042416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sz="1200" b="1">
                <a:solidFill>
                  <a:srgbClr val="C9A84C"/>
                </a:solidFill>
                <a:latin typeface="Arial"/>
              </a:rPr>
              <a:t>Continue live on September 16 or privately with the Field Kit  ·  Links in chat</a:t>
            </a:r>
            <a:endParaRPr b="0" i="0" sz="1400" u="none" cap="none" strike="noStrike">
              <a:solidFill>
                <a:srgbClr val="000000"/>
              </a:solidFill>
              <a:latin typeface="Arial"/>
              <a:ea typeface="Arial"/>
              <a:cs typeface="Arial"/>
              <a:sym typeface="Arial"/>
            </a:endParaRPr>
          </a:p>
        </p:txBody>
      </p:sp>
      <p:sp>
        <p:nvSpPr>
          <p:cNvPr id="336" name="Google Shape;336;p2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337" name="Google Shape;337;p2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342" name="Shape 342"/>
        <p:cNvGrpSpPr/>
        <p:nvPr/>
      </p:nvGrpSpPr>
      <p:grpSpPr>
        <a:xfrm>
          <a:off x="0" y="0"/>
          <a:ext cx="0" cy="0"/>
          <a:chOff x="0" y="0"/>
          <a:chExt cx="0" cy="0"/>
        </a:xfrm>
      </p:grpSpPr>
      <p:sp>
        <p:nvSpPr>
          <p:cNvPr id="343" name="TextBox 342"/>
          <p:cNvSpPr txBox="1"/>
          <p:nvPr/>
        </p:nvSpPr>
        <p:spPr>
          <a:xfrm>
            <a:off x="658368" y="548640"/>
            <a:ext cx="7772400" cy="201168"/>
          </a:xfrm>
          <a:prstGeom prst="rect">
            <a:avLst/>
          </a:prstGeom>
          <a:noFill/>
        </p:spPr>
        <p:txBody>
          <a:bodyPr wrap="square" lIns="0" rIns="0" tIns="0" bIns="0">
            <a:spAutoFit/>
          </a:bodyPr>
          <a:lstStyle/>
          <a:p>
            <a:pPr algn="l"/>
            <a:r>
              <a:rPr sz="900" b="1">
                <a:solidFill>
                  <a:srgbClr val="C1440E"/>
                </a:solidFill>
                <a:latin typeface="Arial"/>
              </a:rPr>
              <a:t>APPENDIX  ·  NOT PART OF THE 45-MINUTE SESSION</a:t>
            </a:r>
          </a:p>
        </p:txBody>
      </p:sp>
      <p:sp>
        <p:nvSpPr>
          <p:cNvPr id="344" name="TextBox 343"/>
          <p:cNvSpPr txBox="1"/>
          <p:nvPr/>
        </p:nvSpPr>
        <p:spPr>
          <a:xfrm>
            <a:off x="658368" y="1005840"/>
            <a:ext cx="10058400" cy="685800"/>
          </a:xfrm>
          <a:prstGeom prst="rect">
            <a:avLst/>
          </a:prstGeom>
          <a:noFill/>
        </p:spPr>
        <p:txBody>
          <a:bodyPr wrap="square" lIns="0" rIns="0" tIns="0" bIns="0">
            <a:spAutoFit/>
          </a:bodyPr>
          <a:lstStyle/>
          <a:p>
            <a:pPr algn="l"/>
            <a:r>
              <a:rPr sz="3000" b="1">
                <a:solidFill>
                  <a:srgbClr val="0F2347"/>
                </a:solidFill>
                <a:latin typeface="Georgia"/>
              </a:rPr>
              <a:t>What AI Changes About This Reading</a:t>
            </a:r>
          </a:p>
        </p:txBody>
      </p:sp>
      <p:sp>
        <p:nvSpPr>
          <p:cNvPr id="345" name="TextBox 344"/>
          <p:cNvSpPr txBox="1"/>
          <p:nvPr/>
        </p:nvSpPr>
        <p:spPr>
          <a:xfrm>
            <a:off x="676656" y="1755648"/>
            <a:ext cx="9509760" cy="274320"/>
          </a:xfrm>
          <a:prstGeom prst="rect">
            <a:avLst/>
          </a:prstGeom>
          <a:noFill/>
        </p:spPr>
        <p:txBody>
          <a:bodyPr wrap="square" lIns="0" rIns="0" tIns="0" bIns="0">
            <a:spAutoFit/>
          </a:bodyPr>
          <a:lstStyle/>
          <a:p>
            <a:pPr algn="l"/>
            <a:r>
              <a:rPr sz="1500" b="0">
                <a:solidFill>
                  <a:srgbClr val="152B4C"/>
                </a:solidFill>
                <a:latin typeface="Arial"/>
              </a:rPr>
              <a:t>An application of the reading, not a technology lesson.</a:t>
            </a:r>
          </a:p>
        </p:txBody>
      </p:sp>
      <p:sp>
        <p:nvSpPr>
          <p:cNvPr id="346" name="Rectangle 345"/>
          <p:cNvSpPr/>
          <p:nvPr/>
        </p:nvSpPr>
        <p:spPr>
          <a:xfrm>
            <a:off x="676656" y="2231136"/>
            <a:ext cx="393192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768096" y="2542032"/>
            <a:ext cx="10241280" cy="274320"/>
          </a:xfrm>
          <a:prstGeom prst="rect">
            <a:avLst/>
          </a:prstGeom>
          <a:noFill/>
        </p:spPr>
        <p:txBody>
          <a:bodyPr wrap="square" lIns="0" rIns="0" tIns="0" bIns="0">
            <a:spAutoFit/>
          </a:bodyPr>
          <a:lstStyle/>
          <a:p>
            <a:pPr algn="l">
              <a:lnSpc>
                <a:spcPts val="2100"/>
              </a:lnSpc>
            </a:pPr>
            <a:r>
              <a:rPr sz="1600" b="0">
                <a:solidFill>
                  <a:srgbClr val="152B4C"/>
                </a:solidFill>
                <a:latin typeface="Arial"/>
              </a:rPr>
              <a:t>As routine output becomes easier to reproduce, three things become more important:</a:t>
            </a:r>
          </a:p>
        </p:txBody>
      </p:sp>
      <p:sp>
        <p:nvSpPr>
          <p:cNvPr id="348" name="TextBox 347"/>
          <p:cNvSpPr txBox="1"/>
          <p:nvPr/>
        </p:nvSpPr>
        <p:spPr>
          <a:xfrm>
            <a:off x="1042415" y="2999232"/>
            <a:ext cx="9966960" cy="1188720"/>
          </a:xfrm>
          <a:prstGeom prst="rect">
            <a:avLst/>
          </a:prstGeom>
          <a:noFill/>
        </p:spPr>
        <p:txBody>
          <a:bodyPr wrap="square" lIns="0" rIns="0" tIns="0" bIns="0">
            <a:spAutoFit/>
          </a:bodyPr>
          <a:lstStyle/>
          <a:p>
            <a:pPr algn="l">
              <a:lnSpc>
                <a:spcPts val="2400"/>
              </a:lnSpc>
              <a:spcAft>
                <a:spcPts val="900"/>
              </a:spcAft>
            </a:pPr>
            <a:r>
              <a:rPr sz="1700" b="1">
                <a:solidFill>
                  <a:srgbClr val="0F2347"/>
                </a:solidFill>
                <a:latin typeface="Georgia"/>
              </a:rPr>
              <a:t>Judgment that can handle exceptions</a:t>
            </a:r>
          </a:p>
          <a:p>
            <a:pPr algn="l">
              <a:lnSpc>
                <a:spcPts val="2400"/>
              </a:lnSpc>
              <a:spcAft>
                <a:spcPts val="900"/>
              </a:spcAft>
            </a:pPr>
            <a:r>
              <a:rPr sz="1700" b="1">
                <a:solidFill>
                  <a:srgbClr val="0F2347"/>
                </a:solidFill>
                <a:latin typeface="Georgia"/>
              </a:rPr>
              <a:t>Learning velocity when the work changes</a:t>
            </a:r>
          </a:p>
          <a:p>
            <a:pPr algn="l">
              <a:lnSpc>
                <a:spcPts val="2400"/>
              </a:lnSpc>
              <a:spcAft>
                <a:spcPts val="900"/>
              </a:spcAft>
            </a:pPr>
            <a:r>
              <a:rPr sz="1700" b="1">
                <a:solidFill>
                  <a:srgbClr val="0F2347"/>
                </a:solidFill>
                <a:latin typeface="Georgia"/>
              </a:rPr>
              <a:t>Capability that remains useful across unfamiliar problems and contexts</a:t>
            </a:r>
          </a:p>
        </p:txBody>
      </p:sp>
      <p:sp>
        <p:nvSpPr>
          <p:cNvPr id="349" name="TextBox 348"/>
          <p:cNvSpPr txBox="1"/>
          <p:nvPr/>
        </p:nvSpPr>
        <p:spPr>
          <a:xfrm>
            <a:off x="768096" y="4370832"/>
            <a:ext cx="10241280" cy="548640"/>
          </a:xfrm>
          <a:prstGeom prst="rect">
            <a:avLst/>
          </a:prstGeom>
          <a:noFill/>
        </p:spPr>
        <p:txBody>
          <a:bodyPr wrap="square" lIns="0" rIns="0" tIns="0" bIns="0">
            <a:spAutoFit/>
          </a:bodyPr>
          <a:lstStyle/>
          <a:p>
            <a:pPr algn="l">
              <a:lnSpc>
                <a:spcPts val="2100"/>
              </a:lnSpc>
            </a:pPr>
            <a:r>
              <a:rPr sz="1600" b="0">
                <a:solidFill>
                  <a:srgbClr val="152B4C"/>
                </a:solidFill>
                <a:latin typeface="Arial"/>
              </a:rPr>
              <a:t>AI can change the task quickly.</a:t>
            </a:r>
          </a:p>
          <a:p>
            <a:pPr algn="l">
              <a:lnSpc>
                <a:spcPts val="2100"/>
              </a:lnSpc>
            </a:pPr>
            <a:r>
              <a:rPr sz="1600" b="0">
                <a:solidFill>
                  <a:srgbClr val="152B4C"/>
                </a:solidFill>
                <a:latin typeface="Arial"/>
              </a:rPr>
              <a:t>The harder question is whether your work is still building what you will need when the task changes.</a:t>
            </a:r>
          </a:p>
        </p:txBody>
      </p:sp>
      <p:sp>
        <p:nvSpPr>
          <p:cNvPr id="350" name="Rectangle 349"/>
          <p:cNvSpPr/>
          <p:nvPr/>
        </p:nvSpPr>
        <p:spPr>
          <a:xfrm>
            <a:off x="749808" y="5175504"/>
            <a:ext cx="10689336" cy="841248"/>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TextBox 350"/>
          <p:cNvSpPr txBox="1"/>
          <p:nvPr/>
        </p:nvSpPr>
        <p:spPr>
          <a:xfrm>
            <a:off x="749808" y="5358384"/>
            <a:ext cx="10689336" cy="475488"/>
          </a:xfrm>
          <a:prstGeom prst="rect">
            <a:avLst/>
          </a:prstGeom>
          <a:noFill/>
        </p:spPr>
        <p:txBody>
          <a:bodyPr wrap="square" lIns="0" rIns="0" tIns="0" bIns="0">
            <a:spAutoFit/>
          </a:bodyPr>
          <a:lstStyle/>
          <a:p>
            <a:pPr algn="ctr">
              <a:lnSpc>
                <a:spcPts val="2000"/>
              </a:lnSpc>
            </a:pPr>
            <a:r>
              <a:rPr sz="1500" b="1">
                <a:solidFill>
                  <a:srgbClr val="C9A84C"/>
                </a:solidFill>
                <a:latin typeface="Georgia"/>
              </a:rPr>
              <a:t>The question is no longer only: “What can AI do?”</a:t>
            </a:r>
          </a:p>
          <a:p>
            <a:pPr algn="ctr">
              <a:lnSpc>
                <a:spcPts val="2000"/>
              </a:lnSpc>
            </a:pPr>
            <a:r>
              <a:rPr sz="1500" b="1">
                <a:solidFill>
                  <a:srgbClr val="C9A84C"/>
                </a:solidFill>
                <a:latin typeface="Georgia"/>
              </a:rPr>
              <a:t>It is also: “What is this work still forming in me?”</a:t>
            </a:r>
          </a:p>
        </p:txBody>
      </p:sp>
      <p:sp>
        <p:nvSpPr>
          <p:cNvPr id="352" name="TextBox 351"/>
          <p:cNvSpPr txBox="1"/>
          <p:nvPr/>
        </p:nvSpPr>
        <p:spPr>
          <a:xfrm>
            <a:off x="768096" y="6144768"/>
            <a:ext cx="9875520" cy="219456"/>
          </a:xfrm>
          <a:prstGeom prst="rect">
            <a:avLst/>
          </a:prstGeom>
          <a:noFill/>
        </p:spPr>
        <p:txBody>
          <a:bodyPr wrap="square" lIns="0" rIns="0" tIns="0" bIns="0">
            <a:spAutoFit/>
          </a:bodyPr>
          <a:lstStyle/>
          <a:p>
            <a:pPr algn="l"/>
            <a:r>
              <a:rPr sz="1000" b="0">
                <a:solidFill>
                  <a:srgbClr val="152B4C"/>
                </a:solidFill>
                <a:latin typeface="Arial"/>
              </a:rPr>
              <a:t>Optional leave-behind slide. Present only if time and audience interest allow; not counted in the 45-minute core.</a:t>
            </a:r>
          </a:p>
        </p:txBody>
      </p:sp>
      <p:sp>
        <p:nvSpPr>
          <p:cNvPr id="353" name="TextBox 352"/>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354" name="TextBox 353"/>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16</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